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b79e2ff-f058-bef7-762a-115bfd345a1f}">
          <p14:sldIdLst>
            <p14:sldId id="256"/>
            <p14:sldId id="257"/>
            <p14:sldId id="258"/>
            <p14:sldId id="259"/>
          </p14:sldIdLst>
        </p14:section>
        <p14:section name="What is included" id="{ee27fcb0-7c01-6059-b528-140f6e43160a}">
          <p14:sldIdLst>
            <p14:sldId id="260"/>
            <p14:sldId id="261"/>
            <p14:sldId id="262"/>
            <p14:sldId id="263"/>
            <p14:sldId id="264"/>
          </p14:sldIdLst>
        </p14:section>
        <p14:section name="What is excluded" id="{7bac2c9d-210f-ae10-8b76-7fd80add231a}">
          <p14:sldIdLst>
            <p14:sldId id="265"/>
            <p14:sldId id="266"/>
            <p14:sldId id="267"/>
          </p14:sldIdLst>
        </p14:section>
        <p14:section name="How it is used" id="{e77e2466-abe0-443a-501d-7982e6504741}">
          <p14:sldIdLst>
            <p14:sldId id="268"/>
            <p14:sldId id="269"/>
          </p14:sldIdLst>
        </p14:section>
        <p14:section name="Data products" id="{796a34e1-4379-8c80-2b64-0f5a3e55583f}">
          <p14:sldIdLst>
            <p14:sldId id="270"/>
            <p14:sldId id="271"/>
            <p14:sldId id="272"/>
            <p14:sldId id="273"/>
          </p14:sldIdLst>
        </p14:section>
        <p14:section name="Next steps" id="{c2b183f4-7341-38cb-1cac-380c647417bc}">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Sheet1!$A$2:$A$9</c:f>
              <c:multiLvlStrCache>
                <c:ptCount val="8"/>
                <c:lvl>
                  <c:pt idx="0">
                    <c:v>Internal (firm-defined)</c:v>
                  </c:pt>
                  <c:pt idx="1">
                    <c:v>FINRA (CRD, Form BR)</c:v>
                  </c:pt>
                  <c:pt idx="2">
                    <c:v>Salesforce FSC</c:v>
                  </c:pt>
                  <c:pt idx="3">
                    <c:v>GDPR (EU and UK)</c:v>
                  </c:pt>
                  <c:pt idx="4">
                    <c:v>SEC (Form ADV, EDGAR)</c:v>
                  </c:pt>
                  <c:pt idx="5">
                    <c:v>DOL Form 5500</c:v>
                  </c:pt>
                  <c:pt idx="6">
                    <c:v>GLEIF LEI</c:v>
                  </c:pt>
                  <c:pt idx="7">
                    <c:v>Other standards and regulation</c:v>
                  </c:pt>
                </c:lvl>
              </c:multiLvlStrCache>
            </c:multiLvlStrRef>
          </c:cat>
          <c:val>
            <c:numRef>
              <c:f>Sheet1!$B$2:$B$9</c:f>
              <c:numCache>
                <c:formatCode>General</c:formatCode>
                <c:ptCount val="8"/>
                <c:pt idx="0">
                  <c:v>150</c:v>
                </c:pt>
                <c:pt idx="1">
                  <c:v>18</c:v>
                </c:pt>
                <c:pt idx="2">
                  <c:v>17</c:v>
                </c:pt>
                <c:pt idx="3">
                  <c:v>17</c:v>
                </c:pt>
                <c:pt idx="4">
                  <c:v>16</c:v>
                </c:pt>
                <c:pt idx="5">
                  <c:v>14</c:v>
                </c:pt>
                <c:pt idx="6">
                  <c:v>12</c:v>
                </c:pt>
                <c:pt idx="7">
                  <c:v>74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6 of 56)</a:t>
            </a:r>
          </a:p>
        </c:rich>
      </c:tx>
      <c:layout/>
      <c:overlay val="0"/>
    </c:title>
    <c:autoTitleDeleted val="0"/>
    <c:plotArea>
      <c:layout/>
      <c:barChart>
        <c:barDir val="bar"/>
        <c:grouping val="clustered"/>
        <c:varyColors val="0"/>
        <c:ser>
          <c:idx val="0"/>
          <c:order val="0"/>
          <c:tx>
            <c:strRef>
              <c:f>Sheet1!$B$1</c:f>
              <c:strCache>
                <c:ptCount val="1"/>
                <c:pt idx="0">
                  <c:v>Products reading each object (top 6 of 56)</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Party</c:v>
                  </c:pt>
                  <c:pt idx="1">
                    <c:v>Account</c:v>
                  </c:pt>
                  <c:pt idx="2">
                    <c:v>Distributor Firm</c:v>
                  </c:pt>
                  <c:pt idx="3">
                    <c:v>Employment Affiliation</c:v>
                  </c:pt>
                  <c:pt idx="4">
                    <c:v>Financial Professional</c:v>
                  </c:pt>
                  <c:pt idx="5">
                    <c:v>Privacy Profile</c:v>
                  </c:pt>
                </c:lvl>
              </c:multiLvlStrCache>
            </c:multiLvlStrRef>
          </c:cat>
          <c:val>
            <c:numRef>
              <c:f>Sheet1!$B$2:$B$7</c:f>
              <c:numCache>
                <c:formatCode>General</c:formatCode>
                <c:ptCount val="6"/>
                <c:pt idx="0">
                  <c:v>21</c:v>
                </c:pt>
                <c:pt idx="1">
                  <c:v>10</c:v>
                </c:pt>
                <c:pt idx="2">
                  <c:v>9</c:v>
                </c:pt>
                <c:pt idx="3">
                  <c:v>8</c:v>
                </c:pt>
                <c:pt idx="4">
                  <c:v>6</c:v>
                </c:pt>
                <c:pt idx="5">
                  <c:v>6</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Client &amp; Customer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Client &amp; Customer is the party master. It describes every external organization and individual the firm deals with, the roles they play, the accounts they hold, and the records that govern how the firm may engage them. What those parties buy, and what the firm does with them, is left to the owning domain and referenced by ID. 41 of the 92 specified data products read the domain directly, and 88 of the other 91 depend on its foundational hierarchy product, DP-001,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Client &amp; Customer is one of 14 domains. The purple text shows the path to one attribute, Employing Firm, which we follow to an answer near the end of the deck.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spine of the domain is party, role and account. A party is one real-world external organization or individual, recorded once. What the party is to the firm is recorded as effective-dated roles, in three broad groups: intermediaries, institutional and retirement clients, and end investors. A party in any role can be linked to accounts through account roles such as owner, dealer of record or rep of record. Parties are linked to each other by relationships. Because roles and relationships are dated, history such as an advisor changing firm can be rebuilt.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13 data families. For this walkthrough they are grouped in three: the spine, which is party, relationship and account; who the parties are; and how the firm reaches them and may engage them. The three-way grouping is a presentation aid and is not a level in the taxonomy.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spine families hold 79 attributes. Party Master is the golden record for every external organization and individual, with the legal-entity tree above an organization and the roles each party plays. Party Relationships records the dated links between parties: household and team membership, which consultant advises which client, and who services a retirement plan. Accounts records the accounts through which products are held and the parties with a role on each one. Business objects, in bold, have their own key. Attribute groups are sets of attributes held on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113 attributes. Party Identifiers holds the public and vendor identifiers used to recognize and match a party: LEI, CRD, FCA reference numbers, SEC file numbers and dealer numbers. Intermediary Firm and Hierarchy holds distributor firms and the hierarchy from firm through home office, branch and team. The hierarchy is multi-typed: regulatory, firm operational, vendor and the firm's own coverage view are kept side by side. Financial Professional and Practice holds each advisor, the practice profile and the employment history, so an advisor changing firm is a first-class event. Institutional and Retirement Clients holds asset owners, consultants, plans and recordkeepers. End Investor and Household holds investors behind intermediaries on a look-through basis, with minimum data: a pseudonymized key, an age band and a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126 attributes. Classification and Segmentation holds regulatory client categories such as the MiFID category, the firm's own segments and vendor classifications. Contact Points holds addresses, emails, phones and digital profiles and how each is used. Client Onboarding and KYC covers clients only; due diligence on distributors belongs to Distribution Compliance. Privacy, Consent and Data Governance holds the lawful basis for each processing purpose, the consent that evidences it, data subject requests and retention. Client Preferences and Restrictions is the largest family in the domain. It moved here from Marketing in version 0.3, so that every domain sees one view of how a client wants to be engaged and what restrictions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standard or source it is aligned to. 168 of the 318 attributes, 53 percent, align to an external standard, register, regulation or industry data model. The regulatory registers, FINRA CRD and SEC Form ADV, and GDPR are the largest external sources. 150 attributes are firm-defined because no authoritative external definition exists; that is higher than in the product domain because segmentation, preferences and restrictions are firm-specific. 106 attributes take their values from a controlled code list. 70 attributes are flagged as personal data. Vendor references show where data is usually sourced; vendor schemas are licensed and were not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&amp; Customer says who a party is and how the firm may engage them. It deliberately leaves out what they bought, who covers them and what the firm has agreed with them. This table shows where each excluded subject lives and the small amount Client &amp; Customer keeps so that it can point to it. Three boundaries are worth calling out. Accounts are here, but positions and transactions are in Sales Transactions &amp; AUM Attribution. KYC of clients is here, but due diligence on distributors is in Distribution Compliance. Registrations of external advisors are here, but licenses of the firm's own sales staff are in Distribution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311 of the 318 are mastered in Client &amp; Customer. 6 are references, which hold only the ID of a record mastered in another domain. 1 is a derived copy. The traffic is far heavier in the other direction: 192 attributes across all 13 other domains reference a party or account mastered here, led by Sales Transactions and AUM Attribution with 33 and Investor Servicing with 28. That asymmetry is what makes this a master domain. Record Metadata, the governance attributes such as data owner and system of record,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and modeling the data products surfaced 30 gaps against Client &amp; Customer. Eight are resolved. Twenty-two are open: 21 proposed and waiting for a decision, and one partly resolved. Seven are high priority, seven medium and eight low. The seven shown here are the high-priority ones. The first three are the same kind of problem: a child object that does not name the party or account it belongs to. The last three are modeling decisions for the foundational products. Each gap has a proposed resolution and a decision owner in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party source is mapped to: CRM, the regulatory registers, vendor advisor data, transfer agent files and the KYC and consent tools. That mapping to the firm's actual systems is Phase D and has not been done. Second, it is the bill of materials for data products: each product lists the exact attributes it uses, and the build fails if one does not exist. Third, firm, office, team, advisor, institutional client, consultant, recordkeeper and plan are published once as shared dimensions in the semantic layer. Fourth, the ownership flags, the 101 proposed critical data elements and the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product domain has one foundational product, this domain has three, one for each kind of party. DP-001, Distributor Hierarchy, conforms firm identifiers and channel codes once, so that attribution, coverage, crediting and partner payments all roll up the same way. DP-002, Financial Professional Profile, resolves vendor, CRM and regulatory register records into one person. DP-003 gives institutional, consultant relations, DCIO and client service teams one view of who the client is and who influences its decisions. All three refresh daily by 6am Eastern and keep history. 62 other products name DP-001 as a direct upstream, and 88 of the other 91 depend on it directly or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of the 92 specified data products list Client &amp; Customer objects among their inputs: 5 foundational and 36 consumer-aligned. Every one of the 56 objects is used by at least one product, and 297 of the 318 attributes, 93 percent, appear in a product specification. Party is by far the most used object, read by 21 products, followed by Account and Distributor Firm. Regulatory and control products are the largest group, which reflects how much of compliance, privacy and surveillance depends on knowing exactly who a party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data products have Client &amp; Customer as their owning domain. The first three are the foundational products. The other four are consumer-aligned. Advisor Movement and Breakaway Alerts tells wholesalers within days that an advisor has moved, with the assets at stake. Retirement Plan Prospecting gives DCIO wholesalers a scored list of plans. Client Restrictions and KYC Status is the single eligibility list that marketing and sales products read instead of re-deriving restrictions. Data Subject Rights and Retention is the Data Protection Officer's evidence that privacy rights were honored. The bar on the right shows how many of each product's input attributes come from Client &amp; Customer. The rest come from other domains, for example positions from Sales Transactions &amp; AUM Attribution or plan market data from Market &amp; Competitive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34 products are owned by other domains but read Client &amp; Customer attributes directly. They are grouped here by the business function they serve. Field sales and sales operations is the largest group, led by Advisor 360, which takes 44 attributes. Marketing Audience and Consent takes 43, mostly consent, lawful basis, preferences and restrictions. Beyond these, 48 more products take firms, advisors and clients only through the three foundational products, without reading the domain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Employing Firm is defined once in Client &amp; Customer, in the Employment Affiliation object, with a start date, a change reason and the date a move was detected. DP-002 resolves register, vendor and CRM records into one advisor and publishes the Recent Move Flag. DP-017, Advisor 360, shows the move beside the advisor's holdings and coverage, and DP-048 raises a breakaway alert. The semantic model SM-00 publishes advisor and advisor affiliation as shared dimensions. The same definition then answers the wholesaler's question in CRM or through an AI assistant. Note the boundary: who covers the advisor is mastered in Compensation &amp; Territory. Client &amp; Customer supplies who the advisor is and where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The most important is which distributor hierarchy is the system of record for attribution and coverage; the recommendation is the firm-defined coverage hierarchy, built from CRD plus one licensed vendor. The second is who owns rep codes and the crosswalk that matches them. The third is whether UK and EU platform nominee accounts need their own account type. The fourth is how to key UK pension schemes. The next steps on the right come from the taxonomy's own plan: validate with the business, map to source systems in Phase D, confirm transfer agent conventions, have the Data Protection Officer review the personal data, and triage the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Client &amp; Customer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CLIENT &amp; CUSTOMER</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4400" b="1" dirty="0">
                <a:solidFill>
                  <a:schemeClr val="bg1"/>
                </a:solidFill>
              </a:rPr>
              <a:t>The Client &amp; Customer taxonomy: a walkthrough</a:t>
            </a:r>
            <a:endParaRPr lang="en-US" sz="44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Party</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we deal with</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Party Role</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they are to us</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Account</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they hold with us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who we deal with,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13</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56</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318</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101</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Every external organization and individual, the roles they play, their accounts and relationships, and the identifiers, classifications, contact points, KYC, privacy and preference records attached to them.</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What parties buy and what we do with them: products, transactions and AUM, agreements, sales activity, campaigns, coverage and crediting, and due diligence on distributors.</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party sources, the bill of materials for data products, and the firm, advisor, client and plan dimensions that every semantic model shares.</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41 of the 92 data products read it directly. 88 of the other 91 depend on its foundational hierarchy product, DP-001.</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14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14</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Client &amp; Customer</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13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Financial Professional &amp; Practice</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56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Employment Affiliation</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318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Employing Firm</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party type, role or record it applies to</a:t>
            </a:r>
            <a:endParaRPr lang="en-US" sz="1400" dirty="0"/>
          </a:p>
          <a:p>
            <a:pPr marL="177800" indent="-177800">
              <a:spcAft>
                <a:spcPts val="700"/>
              </a:spcAft>
              <a:buSzPct val="100000"/>
              <a:buChar char="•"/>
            </a:pPr>
            <a:r>
              <a:rPr lang="en-US" sz="1400" dirty="0">
                <a:solidFill>
                  <a:schemeClr val="tx1"/>
                </a:solidFill>
              </a:rPr>
              <a:t>The standard, register or regulation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 and whether it is personal data</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core model has three parts</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WHO THEY ARE</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THEY ARE TO US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THEY HOLD</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Party</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Organization or individual, keyed PTY-</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Party Relationship</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Employs, advises, serves, belongs to</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One record for each real-world party, however many roles it plays</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Intermediary roles</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Distributor firm, branch, team, advisor</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Institutional and retirement roles</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Client, consultant, plan, recordkeeper</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End-investor roles</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Look-through investor and household</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3657600"/>
            <a:ext cx="914400" cy="0"/>
          </a:xfrm>
          <a:prstGeom prst="line">
            <a:avLst/>
          </a:prstGeom>
          <a:noFill/>
          <a:ln w="19050">
            <a:solidFill>
              <a:schemeClr val="tx2"/>
            </a:solidFill>
            <a:prstDash val="solid"/>
            <a:tailEnd type="triangle"/>
          </a:ln>
        </p:spPr>
      </p:sp>
      <p:sp>
        <p:nvSpPr>
          <p:cNvPr id="29" name="Shape 26"/>
          <p:cNvSpPr/>
          <p:nvPr/>
        </p:nvSpPr>
        <p:spPr>
          <a:xfrm>
            <a:off x="8686800" y="3246120"/>
            <a:ext cx="2953512" cy="822960"/>
          </a:xfrm>
          <a:prstGeom prst="roundRect">
            <a:avLst>
              <a:gd name="adj" fmla="val 8889"/>
            </a:avLst>
          </a:prstGeom>
          <a:solidFill>
            <a:schemeClr val="accent4"/>
          </a:solidFill>
          <a:ln/>
        </p:spPr>
      </p:sp>
      <p:sp>
        <p:nvSpPr>
          <p:cNvPr id="30" name="Text 27"/>
          <p:cNvSpPr txBox="1"/>
          <p:nvPr/>
        </p:nvSpPr>
        <p:spPr>
          <a:xfrm>
            <a:off x="8915400" y="331927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Account</a:t>
            </a:r>
            <a:endParaRPr lang="en-US" sz="1400" dirty="0"/>
          </a:p>
        </p:txBody>
      </p:sp>
      <p:sp>
        <p:nvSpPr>
          <p:cNvPr id="31" name="Text 28"/>
          <p:cNvSpPr txBox="1"/>
          <p:nvPr/>
        </p:nvSpPr>
        <p:spPr>
          <a:xfrm>
            <a:off x="8915400" y="364845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Investor, omnibus, plan, institutional</a:t>
            </a:r>
            <a:endParaRPr lang="en-US" sz="1200" dirty="0"/>
          </a:p>
        </p:txBody>
      </p:sp>
      <p:sp>
        <p:nvSpPr>
          <p:cNvPr id="32" name="Text 29"/>
          <p:cNvSpPr txBox="1"/>
          <p:nvPr/>
        </p:nvSpPr>
        <p:spPr>
          <a:xfrm>
            <a:off x="8686800" y="420624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A party in any role links to accounts through dated account roles: owner, dealer or rep of record.</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One party, many roles: a firm that is a distributor, an institutional client and a model sponsor is still one record. Roles, relationships, affiliations and classifications are all effective-dated, so history can be rebuilt.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13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Thirteen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3 families  |  14 objects  |  79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Party Master</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32 attributes  |  13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Party Relationships</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23 attributes  |  5 critical</a:t>
            </a:r>
            <a:endParaRPr lang="en-US" sz="1100" dirty="0"/>
          </a:p>
        </p:txBody>
      </p:sp>
      <p:sp>
        <p:nvSpPr>
          <p:cNvPr id="14" name="Shape 11"/>
          <p:cNvSpPr/>
          <p:nvPr/>
        </p:nvSpPr>
        <p:spPr>
          <a:xfrm>
            <a:off x="548640" y="4123944"/>
            <a:ext cx="3511296" cy="612648"/>
          </a:xfrm>
          <a:prstGeom prst="roundRect">
            <a:avLst>
              <a:gd name="adj" fmla="val 11940"/>
            </a:avLst>
          </a:prstGeom>
          <a:solidFill>
            <a:schemeClr val="bg2"/>
          </a:solidFill>
          <a:ln/>
        </p:spPr>
      </p:sp>
      <p:sp>
        <p:nvSpPr>
          <p:cNvPr id="15" name="Text 12"/>
          <p:cNvSpPr txBox="1"/>
          <p:nvPr/>
        </p:nvSpPr>
        <p:spPr>
          <a:xfrm>
            <a:off x="731520"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Accounts</a:t>
            </a:r>
            <a:endParaRPr lang="en-US" sz="1300" dirty="0"/>
          </a:p>
        </p:txBody>
      </p:sp>
      <p:sp>
        <p:nvSpPr>
          <p:cNvPr id="16" name="Text 13"/>
          <p:cNvSpPr txBox="1"/>
          <p:nvPr/>
        </p:nvSpPr>
        <p:spPr>
          <a:xfrm>
            <a:off x="731520"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24 attributes  |  9 critical</a:t>
            </a:r>
            <a:endParaRPr lang="en-US" sz="1100" dirty="0"/>
          </a:p>
        </p:txBody>
      </p:sp>
      <p:sp>
        <p:nvSpPr>
          <p:cNvPr id="17" name="Shape 14"/>
          <p:cNvSpPr/>
          <p:nvPr/>
        </p:nvSpPr>
        <p:spPr>
          <a:xfrm>
            <a:off x="4338828" y="1783080"/>
            <a:ext cx="3511296" cy="777240"/>
          </a:xfrm>
          <a:prstGeom prst="roundRect">
            <a:avLst>
              <a:gd name="adj" fmla="val 9412"/>
            </a:avLst>
          </a:prstGeom>
          <a:solidFill>
            <a:schemeClr val="accent2"/>
          </a:solidFill>
          <a:ln/>
        </p:spPr>
      </p:sp>
      <p:sp>
        <p:nvSpPr>
          <p:cNvPr id="18" name="Text 15"/>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Who the parties are</a:t>
            </a:r>
            <a:endParaRPr lang="en-US" sz="1400" dirty="0"/>
          </a:p>
        </p:txBody>
      </p:sp>
      <p:sp>
        <p:nvSpPr>
          <p:cNvPr id="19" name="Text 16"/>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20 objects  |  113 attributes</a:t>
            </a:r>
            <a:endParaRPr lang="en-US" sz="1200" dirty="0"/>
          </a:p>
        </p:txBody>
      </p:sp>
      <p:sp>
        <p:nvSpPr>
          <p:cNvPr id="20" name="Shape 17"/>
          <p:cNvSpPr/>
          <p:nvPr/>
        </p:nvSpPr>
        <p:spPr>
          <a:xfrm>
            <a:off x="4338828" y="2697480"/>
            <a:ext cx="3511296" cy="612648"/>
          </a:xfrm>
          <a:prstGeom prst="roundRect">
            <a:avLst>
              <a:gd name="adj" fmla="val 11940"/>
            </a:avLst>
          </a:prstGeom>
          <a:solidFill>
            <a:schemeClr val="bg2"/>
          </a:solidFill>
          <a:ln/>
        </p:spPr>
      </p:sp>
      <p:sp>
        <p:nvSpPr>
          <p:cNvPr id="21" name="Text 18"/>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Party Identifiers</a:t>
            </a:r>
            <a:endParaRPr lang="en-US" sz="1300" dirty="0"/>
          </a:p>
        </p:txBody>
      </p:sp>
      <p:sp>
        <p:nvSpPr>
          <p:cNvPr id="22" name="Text 19"/>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22 attributes  |  8 critical</a:t>
            </a:r>
            <a:endParaRPr lang="en-US" sz="1100" dirty="0"/>
          </a:p>
        </p:txBody>
      </p:sp>
      <p:sp>
        <p:nvSpPr>
          <p:cNvPr id="23" name="Shape 20"/>
          <p:cNvSpPr/>
          <p:nvPr/>
        </p:nvSpPr>
        <p:spPr>
          <a:xfrm>
            <a:off x="4338828" y="3410712"/>
            <a:ext cx="3511296" cy="612648"/>
          </a:xfrm>
          <a:prstGeom prst="roundRect">
            <a:avLst>
              <a:gd name="adj" fmla="val 11940"/>
            </a:avLst>
          </a:prstGeom>
          <a:solidFill>
            <a:schemeClr val="bg2"/>
          </a:solidFill>
          <a:ln/>
        </p:spPr>
      </p:sp>
      <p:sp>
        <p:nvSpPr>
          <p:cNvPr id="24" name="Text 21"/>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Intermediary Firm &amp; Hierarchy</a:t>
            </a:r>
            <a:endParaRPr lang="en-US" sz="1300" dirty="0"/>
          </a:p>
        </p:txBody>
      </p:sp>
      <p:sp>
        <p:nvSpPr>
          <p:cNvPr id="25" name="Text 22"/>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28 attributes  |  8 critical</a:t>
            </a:r>
            <a:endParaRPr lang="en-US" sz="1100" dirty="0"/>
          </a:p>
        </p:txBody>
      </p:sp>
      <p:sp>
        <p:nvSpPr>
          <p:cNvPr id="26" name="Shape 23"/>
          <p:cNvSpPr/>
          <p:nvPr/>
        </p:nvSpPr>
        <p:spPr>
          <a:xfrm>
            <a:off x="4338828" y="4123944"/>
            <a:ext cx="3511296" cy="612648"/>
          </a:xfrm>
          <a:prstGeom prst="roundRect">
            <a:avLst>
              <a:gd name="adj" fmla="val 11940"/>
            </a:avLst>
          </a:prstGeom>
          <a:solidFill>
            <a:schemeClr val="bg2"/>
          </a:solidFill>
          <a:ln/>
        </p:spPr>
      </p:sp>
      <p:sp>
        <p:nvSpPr>
          <p:cNvPr id="27" name="Text 24"/>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Financial Professional &amp; Practice</a:t>
            </a:r>
            <a:endParaRPr lang="en-US" sz="1300" dirty="0"/>
          </a:p>
        </p:txBody>
      </p:sp>
      <p:sp>
        <p:nvSpPr>
          <p:cNvPr id="28" name="Text 25"/>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25 attributes  |  7 critical</a:t>
            </a:r>
            <a:endParaRPr lang="en-US" sz="1100" dirty="0"/>
          </a:p>
        </p:txBody>
      </p:sp>
      <p:sp>
        <p:nvSpPr>
          <p:cNvPr id="29" name="Shape 26"/>
          <p:cNvSpPr/>
          <p:nvPr/>
        </p:nvSpPr>
        <p:spPr>
          <a:xfrm>
            <a:off x="4338828" y="4837176"/>
            <a:ext cx="3511296" cy="612648"/>
          </a:xfrm>
          <a:prstGeom prst="roundRect">
            <a:avLst>
              <a:gd name="adj" fmla="val 11940"/>
            </a:avLst>
          </a:prstGeom>
          <a:solidFill>
            <a:schemeClr val="bg2"/>
          </a:solidFill>
          <a:ln/>
        </p:spPr>
      </p:sp>
      <p:sp>
        <p:nvSpPr>
          <p:cNvPr id="30" name="Text 27"/>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Institutional &amp; Retirement Clients</a:t>
            </a:r>
            <a:endParaRPr lang="en-US" sz="1300" dirty="0"/>
          </a:p>
        </p:txBody>
      </p:sp>
      <p:sp>
        <p:nvSpPr>
          <p:cNvPr id="31" name="Text 28"/>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8 critical</a:t>
            </a:r>
            <a:endParaRPr lang="en-US" sz="1100" dirty="0"/>
          </a:p>
        </p:txBody>
      </p:sp>
      <p:sp>
        <p:nvSpPr>
          <p:cNvPr id="32" name="Shape 29"/>
          <p:cNvSpPr/>
          <p:nvPr/>
        </p:nvSpPr>
        <p:spPr>
          <a:xfrm>
            <a:off x="4338828" y="5550408"/>
            <a:ext cx="3511296" cy="612648"/>
          </a:xfrm>
          <a:prstGeom prst="roundRect">
            <a:avLst>
              <a:gd name="adj" fmla="val 11940"/>
            </a:avLst>
          </a:prstGeom>
          <a:solidFill>
            <a:schemeClr val="bg2"/>
          </a:solidFill>
          <a:ln/>
        </p:spPr>
      </p:sp>
      <p:sp>
        <p:nvSpPr>
          <p:cNvPr id="33" name="Text 30"/>
          <p:cNvSpPr txBox="1"/>
          <p:nvPr/>
        </p:nvSpPr>
        <p:spPr>
          <a:xfrm>
            <a:off x="4521708"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End Investor &amp; Household</a:t>
            </a:r>
            <a:endParaRPr lang="en-US" sz="1300" dirty="0"/>
          </a:p>
        </p:txBody>
      </p:sp>
      <p:sp>
        <p:nvSpPr>
          <p:cNvPr id="34" name="Text 31"/>
          <p:cNvSpPr txBox="1"/>
          <p:nvPr/>
        </p:nvSpPr>
        <p:spPr>
          <a:xfrm>
            <a:off x="4521708"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2 objects  |  13 attributes  |  4 critical</a:t>
            </a:r>
            <a:endParaRPr lang="en-US" sz="1100" dirty="0"/>
          </a:p>
        </p:txBody>
      </p:sp>
      <p:sp>
        <p:nvSpPr>
          <p:cNvPr id="35" name="Shape 32"/>
          <p:cNvSpPr/>
          <p:nvPr/>
        </p:nvSpPr>
        <p:spPr>
          <a:xfrm>
            <a:off x="8129016" y="1783080"/>
            <a:ext cx="3511296" cy="777240"/>
          </a:xfrm>
          <a:prstGeom prst="roundRect">
            <a:avLst>
              <a:gd name="adj" fmla="val 9412"/>
            </a:avLst>
          </a:prstGeom>
          <a:solidFill>
            <a:schemeClr val="accent5"/>
          </a:solidFill>
          <a:ln/>
        </p:spPr>
      </p:sp>
      <p:sp>
        <p:nvSpPr>
          <p:cNvPr id="36" name="Text 33"/>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How we reach and may engage them</a:t>
            </a:r>
            <a:endParaRPr lang="en-US" sz="1400" dirty="0"/>
          </a:p>
        </p:txBody>
      </p:sp>
      <p:sp>
        <p:nvSpPr>
          <p:cNvPr id="37" name="Text 34"/>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5 families  |  22 objects  |  126 attributes</a:t>
            </a:r>
            <a:endParaRPr lang="en-US" sz="1200" dirty="0"/>
          </a:p>
        </p:txBody>
      </p:sp>
      <p:sp>
        <p:nvSpPr>
          <p:cNvPr id="38" name="Shape 35"/>
          <p:cNvSpPr/>
          <p:nvPr/>
        </p:nvSpPr>
        <p:spPr>
          <a:xfrm>
            <a:off x="8129016" y="2697480"/>
            <a:ext cx="3511296" cy="612648"/>
          </a:xfrm>
          <a:prstGeom prst="roundRect">
            <a:avLst>
              <a:gd name="adj" fmla="val 11940"/>
            </a:avLst>
          </a:prstGeom>
          <a:solidFill>
            <a:schemeClr val="bg2"/>
          </a:solidFill>
          <a:ln/>
        </p:spPr>
      </p:sp>
      <p:sp>
        <p:nvSpPr>
          <p:cNvPr id="39" name="Text 36"/>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Classification &amp; Segmentation</a:t>
            </a:r>
            <a:endParaRPr lang="en-US" sz="1300" dirty="0"/>
          </a:p>
        </p:txBody>
      </p:sp>
      <p:sp>
        <p:nvSpPr>
          <p:cNvPr id="40" name="Text 37"/>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3 objects  |  17 attributes  |  4 critical</a:t>
            </a:r>
            <a:endParaRPr lang="en-US" sz="1100" dirty="0"/>
          </a:p>
        </p:txBody>
      </p:sp>
      <p:sp>
        <p:nvSpPr>
          <p:cNvPr id="41" name="Shape 38"/>
          <p:cNvSpPr/>
          <p:nvPr/>
        </p:nvSpPr>
        <p:spPr>
          <a:xfrm>
            <a:off x="8129016" y="3410712"/>
            <a:ext cx="3511296" cy="612648"/>
          </a:xfrm>
          <a:prstGeom prst="roundRect">
            <a:avLst>
              <a:gd name="adj" fmla="val 11940"/>
            </a:avLst>
          </a:prstGeom>
          <a:solidFill>
            <a:schemeClr val="bg2"/>
          </a:solidFill>
          <a:ln/>
        </p:spPr>
      </p:sp>
      <p:sp>
        <p:nvSpPr>
          <p:cNvPr id="42" name="Text 39"/>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Contact Points</a:t>
            </a:r>
            <a:endParaRPr lang="en-US" sz="1300" dirty="0"/>
          </a:p>
        </p:txBody>
      </p:sp>
      <p:sp>
        <p:nvSpPr>
          <p:cNvPr id="43" name="Text 40"/>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18 attributes  |  4 critical</a:t>
            </a:r>
            <a:endParaRPr lang="en-US" sz="1100" dirty="0"/>
          </a:p>
        </p:txBody>
      </p:sp>
      <p:sp>
        <p:nvSpPr>
          <p:cNvPr id="44" name="Shape 41"/>
          <p:cNvSpPr/>
          <p:nvPr/>
        </p:nvSpPr>
        <p:spPr>
          <a:xfrm>
            <a:off x="8129016" y="4123944"/>
            <a:ext cx="3511296" cy="612648"/>
          </a:xfrm>
          <a:prstGeom prst="roundRect">
            <a:avLst>
              <a:gd name="adj" fmla="val 11940"/>
            </a:avLst>
          </a:prstGeom>
          <a:solidFill>
            <a:schemeClr val="bg2"/>
          </a:solidFill>
          <a:ln/>
        </p:spPr>
      </p:sp>
      <p:sp>
        <p:nvSpPr>
          <p:cNvPr id="45" name="Text 42"/>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Client Onboarding &amp; KYC</a:t>
            </a:r>
            <a:endParaRPr lang="en-US" sz="1300" dirty="0"/>
          </a:p>
        </p:txBody>
      </p:sp>
      <p:sp>
        <p:nvSpPr>
          <p:cNvPr id="46" name="Text 43"/>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22 attributes  |  6 critical</a:t>
            </a:r>
            <a:endParaRPr lang="en-US" sz="1100" dirty="0"/>
          </a:p>
        </p:txBody>
      </p:sp>
      <p:sp>
        <p:nvSpPr>
          <p:cNvPr id="47" name="Shape 44"/>
          <p:cNvSpPr/>
          <p:nvPr/>
        </p:nvSpPr>
        <p:spPr>
          <a:xfrm>
            <a:off x="8129016" y="4837176"/>
            <a:ext cx="3511296" cy="612648"/>
          </a:xfrm>
          <a:prstGeom prst="roundRect">
            <a:avLst>
              <a:gd name="adj" fmla="val 11940"/>
            </a:avLst>
          </a:prstGeom>
          <a:solidFill>
            <a:schemeClr val="bg2"/>
          </a:solidFill>
          <a:ln/>
        </p:spPr>
      </p:sp>
      <p:sp>
        <p:nvSpPr>
          <p:cNvPr id="48" name="Text 45"/>
          <p:cNvSpPr txBox="1"/>
          <p:nvPr/>
        </p:nvSpPr>
        <p:spPr>
          <a:xfrm>
            <a:off x="8311896" y="4892040"/>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Privacy, Consent &amp; Data Governance</a:t>
            </a:r>
            <a:endParaRPr lang="en-US" sz="1300" dirty="0"/>
          </a:p>
        </p:txBody>
      </p:sp>
      <p:sp>
        <p:nvSpPr>
          <p:cNvPr id="49" name="Text 46"/>
          <p:cNvSpPr txBox="1"/>
          <p:nvPr/>
        </p:nvSpPr>
        <p:spPr>
          <a:xfrm>
            <a:off x="8311896"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23 attributes  |  7 critical</a:t>
            </a:r>
            <a:endParaRPr lang="en-US" sz="1100" dirty="0"/>
          </a:p>
        </p:txBody>
      </p:sp>
      <p:sp>
        <p:nvSpPr>
          <p:cNvPr id="50" name="Shape 47"/>
          <p:cNvSpPr/>
          <p:nvPr/>
        </p:nvSpPr>
        <p:spPr>
          <a:xfrm>
            <a:off x="8129016" y="5550408"/>
            <a:ext cx="3511296" cy="612648"/>
          </a:xfrm>
          <a:prstGeom prst="roundRect">
            <a:avLst>
              <a:gd name="adj" fmla="val 11940"/>
            </a:avLst>
          </a:prstGeom>
          <a:solidFill>
            <a:schemeClr val="bg2"/>
          </a:solidFill>
          <a:ln/>
        </p:spPr>
      </p:sp>
      <p:sp>
        <p:nvSpPr>
          <p:cNvPr id="51" name="Text 48"/>
          <p:cNvSpPr txBox="1"/>
          <p:nvPr/>
        </p:nvSpPr>
        <p:spPr>
          <a:xfrm>
            <a:off x="8311896" y="5605272"/>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Client Preferences &amp; Restrictions</a:t>
            </a:r>
            <a:endParaRPr lang="en-US" sz="1300" dirty="0"/>
          </a:p>
        </p:txBody>
      </p:sp>
      <p:sp>
        <p:nvSpPr>
          <p:cNvPr id="52" name="Text 49"/>
          <p:cNvSpPr txBox="1"/>
          <p:nvPr/>
        </p:nvSpPr>
        <p:spPr>
          <a:xfrm>
            <a:off x="8311896" y="5870448"/>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46 attributes  |  18 critical</a:t>
            </a:r>
            <a:endParaRPr lang="en-US" sz="1100" dirty="0"/>
          </a:p>
        </p:txBody>
      </p:sp>
      <p:sp>
        <p:nvSpPr>
          <p:cNvPr id="53" name="Text 50"/>
          <p:cNvSpPr txBox="1"/>
          <p:nvPr/>
        </p:nvSpPr>
        <p:spPr>
          <a:xfrm>
            <a:off x="548640" y="4974336"/>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party, relationship and account</a:t>
            </a:r>
            <a:endParaRPr lang="en-US" sz="3600" dirty="0"/>
          </a:p>
        </p:txBody>
      </p:sp>
      <p:sp>
        <p:nvSpPr>
          <p:cNvPr id="5" name="Shape 2"/>
          <p:cNvSpPr/>
          <p:nvPr/>
        </p:nvSpPr>
        <p:spPr>
          <a:xfrm>
            <a:off x="548640" y="1783080"/>
            <a:ext cx="3511296" cy="4069080"/>
          </a:xfrm>
          <a:prstGeom prst="roundRect">
            <a:avLst>
              <a:gd name="adj" fmla="val 2083"/>
            </a:avLst>
          </a:prstGeom>
          <a:solidFill>
            <a:schemeClr val="bg2"/>
          </a:solidFill>
          <a:ln/>
        </p:spPr>
      </p:sp>
      <p:sp>
        <p:nvSpPr>
          <p:cNvPr id="6" name="Text 3"/>
          <p:cNvSpPr txBox="1"/>
          <p:nvPr/>
        </p:nvSpPr>
        <p:spPr>
          <a:xfrm>
            <a:off x="777240" y="1965960"/>
            <a:ext cx="3054096" cy="365760"/>
          </a:xfrm>
          <a:prstGeom prst="rect">
            <a:avLst/>
          </a:prstGeom>
          <a:noFill/>
          <a:ln/>
        </p:spPr>
        <p:txBody>
          <a:bodyPr wrap="square" lIns="0" tIns="0" rIns="0" bIns="0" rtlCol="0" anchor="ctr"/>
          <a:lstStyle/>
          <a:p>
            <a:pPr algn="l" indent="0" marL="0">
              <a:buNone/>
            </a:pPr>
            <a:r>
              <a:rPr lang="en-US" sz="1800" b="1" dirty="0">
                <a:solidFill>
                  <a:schemeClr val="accent1"/>
                </a:solidFill>
              </a:rPr>
              <a:t>Party Master</a:t>
            </a:r>
            <a:endParaRPr lang="en-US" sz="1800" dirty="0"/>
          </a:p>
        </p:txBody>
      </p:sp>
      <p:sp>
        <p:nvSpPr>
          <p:cNvPr id="7" name="Text 4"/>
          <p:cNvSpPr txBox="1"/>
          <p:nvPr/>
        </p:nvSpPr>
        <p:spPr>
          <a:xfrm>
            <a:off x="777240"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5 objects  |  32 attributes  |  13 critical</a:t>
            </a:r>
            <a:endParaRPr lang="en-US" sz="1200" dirty="0"/>
          </a:p>
        </p:txBody>
      </p:sp>
      <p:sp>
        <p:nvSpPr>
          <p:cNvPr id="8" name="Text 5"/>
          <p:cNvSpPr txBox="1"/>
          <p:nvPr/>
        </p:nvSpPr>
        <p:spPr>
          <a:xfrm>
            <a:off x="777240"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golden record for every external organization and individual, with the roles each one plays.</a:t>
            </a:r>
            <a:endParaRPr lang="en-US" sz="1300" dirty="0"/>
          </a:p>
        </p:txBody>
      </p:sp>
      <p:sp>
        <p:nvSpPr>
          <p:cNvPr id="9" name="Text 6"/>
          <p:cNvSpPr txBox="1"/>
          <p:nvPr/>
        </p:nvSpPr>
        <p:spPr>
          <a:xfrm>
            <a:off x="777240"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Party, </a:t>
            </a:r>
            <a:pPr indent="0" marL="0">
              <a:buNone/>
            </a:pPr>
            <a:r>
              <a:rPr lang="en-US" sz="1300" dirty="0">
                <a:solidFill>
                  <a:schemeClr val="tx1"/>
                </a:solidFill>
              </a:rPr>
              <a:t>Organization, </a:t>
            </a:r>
            <a:pPr indent="0" marL="0">
              <a:buNone/>
            </a:pPr>
            <a:r>
              <a:rPr lang="en-US" sz="1300" dirty="0">
                <a:solidFill>
                  <a:schemeClr val="tx1"/>
                </a:solidFill>
              </a:rPr>
              <a:t>Legal Entity Hierarchy, </a:t>
            </a:r>
            <a:pPr indent="0" marL="0">
              <a:buNone/>
            </a:pPr>
            <a:r>
              <a:rPr lang="en-US" sz="1300" dirty="0">
                <a:solidFill>
                  <a:schemeClr val="tx1"/>
                </a:solidFill>
              </a:rPr>
              <a:t>Individual, </a:t>
            </a:r>
            <a:pPr indent="0" marL="0">
              <a:buNone/>
            </a:pPr>
            <a:r>
              <a:rPr lang="en-US" sz="1300" b="1" dirty="0">
                <a:solidFill>
                  <a:schemeClr val="tx1"/>
                </a:solidFill>
              </a:rPr>
              <a:t>Party Role</a:t>
            </a:r>
            <a:endParaRPr lang="en-US" sz="1300" dirty="0"/>
          </a:p>
        </p:txBody>
      </p:sp>
      <p:sp>
        <p:nvSpPr>
          <p:cNvPr id="11" name="Text 8"/>
          <p:cNvSpPr txBox="1"/>
          <p:nvPr/>
        </p:nvSpPr>
        <p:spPr>
          <a:xfrm>
            <a:off x="777240"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Party ID, Party Type, Legal Name, Ultimate Parent, Role Type</a:t>
            </a:r>
            <a:endParaRPr lang="en-US" sz="1300" dirty="0"/>
          </a:p>
        </p:txBody>
      </p:sp>
      <p:sp>
        <p:nvSpPr>
          <p:cNvPr id="13" name="Shape 10"/>
          <p:cNvSpPr/>
          <p:nvPr/>
        </p:nvSpPr>
        <p:spPr>
          <a:xfrm>
            <a:off x="4338828" y="1783080"/>
            <a:ext cx="3511296" cy="4069080"/>
          </a:xfrm>
          <a:prstGeom prst="roundRect">
            <a:avLst>
              <a:gd name="adj" fmla="val 2083"/>
            </a:avLst>
          </a:prstGeom>
          <a:solidFill>
            <a:schemeClr val="bg2"/>
          </a:solidFill>
          <a:ln/>
        </p:spPr>
      </p:sp>
      <p:sp>
        <p:nvSpPr>
          <p:cNvPr id="14" name="Text 11"/>
          <p:cNvSpPr txBox="1"/>
          <p:nvPr/>
        </p:nvSpPr>
        <p:spPr>
          <a:xfrm>
            <a:off x="4567428" y="1965960"/>
            <a:ext cx="3054096" cy="365760"/>
          </a:xfrm>
          <a:prstGeom prst="rect">
            <a:avLst/>
          </a:prstGeom>
          <a:noFill/>
          <a:ln/>
        </p:spPr>
        <p:txBody>
          <a:bodyPr wrap="square" lIns="0" tIns="0" rIns="0" bIns="0" rtlCol="0" anchor="ctr"/>
          <a:lstStyle/>
          <a:p>
            <a:pPr algn="l" indent="0" marL="0">
              <a:buNone/>
            </a:pPr>
            <a:r>
              <a:rPr lang="en-US" sz="1800" b="1" dirty="0">
                <a:solidFill>
                  <a:schemeClr val="accent2"/>
                </a:solidFill>
              </a:rPr>
              <a:t>Party Relationships</a:t>
            </a:r>
            <a:endParaRPr lang="en-US" sz="1800" dirty="0"/>
          </a:p>
        </p:txBody>
      </p:sp>
      <p:sp>
        <p:nvSpPr>
          <p:cNvPr id="15" name="Text 12"/>
          <p:cNvSpPr txBox="1"/>
          <p:nvPr/>
        </p:nvSpPr>
        <p:spPr>
          <a:xfrm>
            <a:off x="4567428"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5 objects  |  23 attributes  |  5 critical</a:t>
            </a:r>
            <a:endParaRPr lang="en-US" sz="1200" dirty="0"/>
          </a:p>
        </p:txBody>
      </p:sp>
      <p:sp>
        <p:nvSpPr>
          <p:cNvPr id="16" name="Text 13"/>
          <p:cNvSpPr txBox="1"/>
          <p:nvPr/>
        </p:nvSpPr>
        <p:spPr>
          <a:xfrm>
            <a:off x="4567428"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Dated links between parties: who belongs to a household or team, who advises whom, who serves a plan.</a:t>
            </a:r>
            <a:endParaRPr lang="en-US" sz="1300" dirty="0"/>
          </a:p>
        </p:txBody>
      </p:sp>
      <p:sp>
        <p:nvSpPr>
          <p:cNvPr id="17" name="Text 14"/>
          <p:cNvSpPr txBox="1"/>
          <p:nvPr/>
        </p:nvSpPr>
        <p:spPr>
          <a:xfrm>
            <a:off x="4567428"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4567428"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Party Relationship, </a:t>
            </a:r>
            <a:pPr indent="0" marL="0">
              <a:buNone/>
            </a:pPr>
            <a:r>
              <a:rPr lang="en-US" sz="1300" b="1" dirty="0">
                <a:solidFill>
                  <a:schemeClr val="tx1"/>
                </a:solidFill>
              </a:rPr>
              <a:t>Household Membership, </a:t>
            </a:r>
            <a:pPr indent="0" marL="0">
              <a:buNone/>
            </a:pPr>
            <a:r>
              <a:rPr lang="en-US" sz="1300" b="1" dirty="0">
                <a:solidFill>
                  <a:schemeClr val="tx1"/>
                </a:solidFill>
              </a:rPr>
              <a:t>Team Membership, </a:t>
            </a:r>
            <a:pPr indent="0" marL="0">
              <a:buNone/>
            </a:pPr>
            <a:r>
              <a:rPr lang="en-US" sz="1300" b="1" dirty="0">
                <a:solidFill>
                  <a:schemeClr val="tx1"/>
                </a:solidFill>
              </a:rPr>
              <a:t>Consultant Advisory Relationship, </a:t>
            </a:r>
            <a:pPr indent="0" marL="0">
              <a:buNone/>
            </a:pPr>
            <a:r>
              <a:rPr lang="en-US" sz="1300" b="1" dirty="0">
                <a:solidFill>
                  <a:schemeClr val="tx1"/>
                </a:solidFill>
              </a:rPr>
              <a:t>Plan Service Provider</a:t>
            </a:r>
            <a:endParaRPr lang="en-US" sz="1300" dirty="0"/>
          </a:p>
        </p:txBody>
      </p:sp>
      <p:sp>
        <p:nvSpPr>
          <p:cNvPr id="19" name="Text 16"/>
          <p:cNvSpPr txBox="1"/>
          <p:nvPr/>
        </p:nvSpPr>
        <p:spPr>
          <a:xfrm>
            <a:off x="4567428"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4567428"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Relationship Type, Team Member Role, Consulting Engagement Type, Plan Service Role</a:t>
            </a:r>
            <a:endParaRPr lang="en-US" sz="1300" dirty="0"/>
          </a:p>
        </p:txBody>
      </p:sp>
      <p:sp>
        <p:nvSpPr>
          <p:cNvPr id="21" name="Shape 18"/>
          <p:cNvSpPr/>
          <p:nvPr/>
        </p:nvSpPr>
        <p:spPr>
          <a:xfrm>
            <a:off x="8129016" y="1783080"/>
            <a:ext cx="3511296" cy="4069080"/>
          </a:xfrm>
          <a:prstGeom prst="roundRect">
            <a:avLst>
              <a:gd name="adj" fmla="val 2083"/>
            </a:avLst>
          </a:prstGeom>
          <a:solidFill>
            <a:schemeClr val="bg2"/>
          </a:solidFill>
          <a:ln/>
        </p:spPr>
      </p:sp>
      <p:sp>
        <p:nvSpPr>
          <p:cNvPr id="22" name="Text 19"/>
          <p:cNvSpPr txBox="1"/>
          <p:nvPr/>
        </p:nvSpPr>
        <p:spPr>
          <a:xfrm>
            <a:off x="8357616" y="1965960"/>
            <a:ext cx="3054096" cy="365760"/>
          </a:xfrm>
          <a:prstGeom prst="rect">
            <a:avLst/>
          </a:prstGeom>
          <a:noFill/>
          <a:ln/>
        </p:spPr>
        <p:txBody>
          <a:bodyPr wrap="square" lIns="0" tIns="0" rIns="0" bIns="0" rtlCol="0" anchor="ctr"/>
          <a:lstStyle/>
          <a:p>
            <a:pPr algn="l" indent="0" marL="0">
              <a:buNone/>
            </a:pPr>
            <a:r>
              <a:rPr lang="en-US" sz="1800" b="1" dirty="0">
                <a:solidFill>
                  <a:schemeClr val="accent4"/>
                </a:solidFill>
              </a:rPr>
              <a:t>Accounts</a:t>
            </a:r>
            <a:endParaRPr lang="en-US" sz="1800" dirty="0"/>
          </a:p>
        </p:txBody>
      </p:sp>
      <p:sp>
        <p:nvSpPr>
          <p:cNvPr id="23" name="Text 20"/>
          <p:cNvSpPr txBox="1"/>
          <p:nvPr/>
        </p:nvSpPr>
        <p:spPr>
          <a:xfrm>
            <a:off x="8357616" y="2331720"/>
            <a:ext cx="3054096" cy="256032"/>
          </a:xfrm>
          <a:prstGeom prst="rect">
            <a:avLst/>
          </a:prstGeom>
          <a:noFill/>
          <a:ln/>
        </p:spPr>
        <p:txBody>
          <a:bodyPr wrap="square" lIns="0" tIns="0" rIns="0" bIns="0" rtlCol="0" anchor="ctr"/>
          <a:lstStyle/>
          <a:p>
            <a:pPr algn="l" indent="0" marL="0">
              <a:buNone/>
            </a:pPr>
            <a:r>
              <a:rPr lang="en-US" sz="1200" dirty="0">
                <a:solidFill>
                  <a:schemeClr val="tx2"/>
                </a:solidFill>
              </a:rPr>
              <a:t>4 objects  |  24 attributes  |  9 critical</a:t>
            </a:r>
            <a:endParaRPr lang="en-US" sz="1200" dirty="0"/>
          </a:p>
        </p:txBody>
      </p:sp>
      <p:sp>
        <p:nvSpPr>
          <p:cNvPr id="24" name="Text 21"/>
          <p:cNvSpPr txBox="1"/>
          <p:nvPr/>
        </p:nvSpPr>
        <p:spPr>
          <a:xfrm>
            <a:off x="8357616" y="2697480"/>
            <a:ext cx="3054096" cy="822960"/>
          </a:xfrm>
          <a:prstGeom prst="rect">
            <a:avLst/>
          </a:prstGeom>
          <a:noFill/>
          <a:ln/>
        </p:spPr>
        <p:txBody>
          <a:bodyPr wrap="square" lIns="0" tIns="0" rIns="0" bIns="0" rtlCol="0" anchor="t"/>
          <a:lstStyle/>
          <a:p>
            <a:pPr algn="l" indent="0" marL="0">
              <a:buNone/>
            </a:pPr>
            <a:r>
              <a:rPr lang="en-US" sz="1300" dirty="0">
                <a:solidFill>
                  <a:schemeClr val="tx1"/>
                </a:solidFill>
              </a:rPr>
              <a:t>The accounts through which clients and intermediaries hold our products, and the parties with a role on each.</a:t>
            </a:r>
            <a:endParaRPr lang="en-US" sz="1300" dirty="0"/>
          </a:p>
        </p:txBody>
      </p:sp>
      <p:sp>
        <p:nvSpPr>
          <p:cNvPr id="25" name="Text 22"/>
          <p:cNvSpPr txBox="1"/>
          <p:nvPr/>
        </p:nvSpPr>
        <p:spPr>
          <a:xfrm>
            <a:off x="8357616" y="3566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26" name="Text 23"/>
          <p:cNvSpPr txBox="1"/>
          <p:nvPr/>
        </p:nvSpPr>
        <p:spPr>
          <a:xfrm>
            <a:off x="8357616" y="3840480"/>
            <a:ext cx="3054096" cy="822960"/>
          </a:xfrm>
          <a:prstGeom prst="rect">
            <a:avLst/>
          </a:prstGeom>
          <a:noFill/>
          <a:ln/>
        </p:spPr>
        <p:txBody>
          <a:bodyPr wrap="square" lIns="0" tIns="0" rIns="0" bIns="0" rtlCol="0" anchor="t"/>
          <a:lstStyle/>
          <a:p>
            <a:pPr indent="0" marL="0">
              <a:buNone/>
            </a:pPr>
            <a:r>
              <a:rPr lang="en-US" sz="1300" b="1" dirty="0">
                <a:solidFill>
                  <a:schemeClr val="tx1"/>
                </a:solidFill>
              </a:rPr>
              <a:t>Account, </a:t>
            </a:r>
            <a:pPr indent="0" marL="0">
              <a:buNone/>
            </a:pPr>
            <a:r>
              <a:rPr lang="en-US" sz="1300" dirty="0">
                <a:solidFill>
                  <a:schemeClr val="tx1"/>
                </a:solidFill>
              </a:rPr>
              <a:t>Intermediary Account Servicing, </a:t>
            </a:r>
            <a:pPr indent="0" marL="0">
              <a:buNone/>
            </a:pPr>
            <a:r>
              <a:rPr lang="en-US" sz="1300" dirty="0">
                <a:solidFill>
                  <a:schemeClr val="tx1"/>
                </a:solidFill>
              </a:rPr>
              <a:t>Institutional Account, </a:t>
            </a:r>
            <a:pPr indent="0" marL="0">
              <a:buNone/>
            </a:pPr>
            <a:r>
              <a:rPr lang="en-US" sz="1300" b="1" dirty="0">
                <a:solidFill>
                  <a:schemeClr val="tx1"/>
                </a:solidFill>
              </a:rPr>
              <a:t>Account Party Role</a:t>
            </a:r>
            <a:endParaRPr lang="en-US" sz="1300" dirty="0"/>
          </a:p>
        </p:txBody>
      </p:sp>
      <p:sp>
        <p:nvSpPr>
          <p:cNvPr id="27" name="Text 24"/>
          <p:cNvSpPr txBox="1"/>
          <p:nvPr/>
        </p:nvSpPr>
        <p:spPr>
          <a:xfrm>
            <a:off x="8357616" y="4709160"/>
            <a:ext cx="3054096"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8" name="Text 25"/>
          <p:cNvSpPr txBox="1"/>
          <p:nvPr/>
        </p:nvSpPr>
        <p:spPr>
          <a:xfrm>
            <a:off x="8357616" y="4983480"/>
            <a:ext cx="3054096" cy="731520"/>
          </a:xfrm>
          <a:prstGeom prst="rect">
            <a:avLst/>
          </a:prstGeom>
          <a:noFill/>
          <a:ln/>
        </p:spPr>
        <p:txBody>
          <a:bodyPr wrap="square" lIns="0" tIns="0" rIns="0" bIns="0" rtlCol="0" anchor="t"/>
          <a:lstStyle/>
          <a:p>
            <a:pPr algn="l" indent="0" marL="0">
              <a:buNone/>
            </a:pPr>
            <a:r>
              <a:rPr lang="en-US" sz="1300" dirty="0">
                <a:solidFill>
                  <a:schemeClr val="tx1"/>
                </a:solidFill>
              </a:rPr>
              <a:t>Account Type, Account Registration Type, Networking Level, Dealer of Record, Rep of Record</a:t>
            </a:r>
            <a:endParaRPr lang="en-US" sz="1300" dirty="0"/>
          </a:p>
        </p:txBody>
      </p:sp>
      <p:sp>
        <p:nvSpPr>
          <p:cNvPr id="29" name="Text 26"/>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party, account or contact point.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Who the parties are</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Party Identifiers</a:t>
                      </a:r>
                      <a:endParaRPr lang="en-US" sz="1200" dirty="0"/>
                    </a:p>
                    <a:p>
                      <a:pPr indent="0" marL="0">
                        <a:buNone/>
                      </a:pPr>
                      <a:r>
                        <a:rPr lang="en-US" sz="1100" dirty="0">
                          <a:solidFill>
                            <a:schemeClr val="tx2"/>
                          </a:solidFill>
                        </a:rPr>
                        <a:t>5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market, tax and vendor identifiers used to recognize and match parties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Party Identifier, </a:t>
                      </a:r>
                      <a:pPr indent="0" marL="0">
                        <a:buNone/>
                      </a:pPr>
                      <a:r>
                        <a:rPr lang="en-US" sz="1200" dirty="0">
                          <a:solidFill>
                            <a:schemeClr val="tx1"/>
                          </a:solidFill>
                        </a:rPr>
                        <a:t>LEI Record, </a:t>
                      </a:r>
                      <a:pPr indent="0" marL="0">
                        <a:buNone/>
                      </a:pPr>
                      <a:r>
                        <a:rPr lang="en-US" sz="1200" dirty="0">
                          <a:solidFill>
                            <a:schemeClr val="tx1"/>
                          </a:solidFill>
                        </a:rPr>
                        <a:t>US Regulatory Identifier, </a:t>
                      </a:r>
                      <a:pPr indent="0" marL="0">
                        <a:buNone/>
                      </a:pPr>
                      <a:r>
                        <a:rPr lang="en-US" sz="1200" dirty="0">
                          <a:solidFill>
                            <a:schemeClr val="tx1"/>
                          </a:solidFill>
                        </a:rPr>
                        <a:t>UK &amp; EU Regulatory Identifier, </a:t>
                      </a:r>
                      <a:pPr indent="0" marL="0">
                        <a:buNone/>
                      </a:pPr>
                      <a:r>
                        <a:rPr lang="en-US" sz="1200" dirty="0">
                          <a:solidFill>
                            <a:schemeClr val="tx1"/>
                          </a:solidFill>
                        </a:rPr>
                        <a:t>Market Infrastructure &amp; Vendor Identifier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LEI, Firm CRD Number, FCA Firm Reference Number, Transfer Agent Dealer Number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Intermediary Firm &amp; Hierarchy</a:t>
                      </a:r>
                      <a:endParaRPr lang="en-US" sz="1200" dirty="0"/>
                    </a:p>
                    <a:p>
                      <a:pPr indent="0" marL="0">
                        <a:buNone/>
                      </a:pPr>
                      <a:r>
                        <a:rPr lang="en-US" sz="1100" dirty="0">
                          <a:solidFill>
                            <a:schemeClr val="tx2"/>
                          </a:solidFill>
                        </a:rPr>
                        <a:t>6 objects  |  28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Distributor firms, their regulatory profile and the hierarchy from firm to team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Distributor Firm, </a:t>
                      </a:r>
                      <a:pPr indent="0" marL="0">
                        <a:buNone/>
                      </a:pPr>
                      <a:r>
                        <a:rPr lang="en-US" sz="1200" dirty="0">
                          <a:solidFill>
                            <a:schemeClr val="tx1"/>
                          </a:solidFill>
                        </a:rPr>
                        <a:t>Form ADV Profile, </a:t>
                      </a:r>
                      <a:pPr indent="0" marL="0">
                        <a:buNone/>
                      </a:pPr>
                      <a:r>
                        <a:rPr lang="en-US" sz="1200" b="1" dirty="0">
                          <a:solidFill>
                            <a:schemeClr val="tx1"/>
                          </a:solidFill>
                        </a:rPr>
                        <a:t>Hierarchy Node, </a:t>
                      </a:r>
                      <a:pPr indent="0" marL="0">
                        <a:buNone/>
                      </a:pPr>
                      <a:r>
                        <a:rPr lang="en-US" sz="1200" dirty="0">
                          <a:solidFill>
                            <a:schemeClr val="tx1"/>
                          </a:solidFill>
                        </a:rPr>
                        <a:t>Branch / Office, </a:t>
                      </a:r>
                      <a:pPr indent="0" marL="0">
                        <a:buNone/>
                      </a:pPr>
                      <a:r>
                        <a:rPr lang="en-US" sz="1200" dirty="0">
                          <a:solidFill>
                            <a:schemeClr val="tx1"/>
                          </a:solidFill>
                        </a:rPr>
                        <a:t>Advisor Team, </a:t>
                      </a:r>
                      <a:pPr indent="0" marL="0">
                        <a:buNone/>
                      </a:pPr>
                      <a:r>
                        <a:rPr lang="en-US" sz="1200" dirty="0">
                          <a:solidFill>
                            <a:schemeClr val="tx1"/>
                          </a:solidFill>
                        </a:rPr>
                        <a:t>Gatekeeper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Channel, Hierarchy Level, Parent Node, Team Rep Code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Financial Professional &amp; Practice</a:t>
                      </a:r>
                      <a:endParaRPr lang="en-US" sz="1200" dirty="0"/>
                    </a:p>
                    <a:p>
                      <a:pPr indent="0" marL="0">
                        <a:buNone/>
                      </a:pPr>
                      <a:r>
                        <a:rPr lang="en-US" sz="1100" dirty="0">
                          <a:solidFill>
                            <a:schemeClr val="tx2"/>
                          </a:solidFill>
                        </a:rPr>
                        <a:t>3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Individual advisors: their registrations, practice profile and employment history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Financial Professional, </a:t>
                      </a:r>
                      <a:pPr indent="0" marL="0">
                        <a:buNone/>
                      </a:pPr>
                      <a:r>
                        <a:rPr lang="en-US" sz="1200" dirty="0">
                          <a:solidFill>
                            <a:schemeClr val="tx1"/>
                          </a:solidFill>
                        </a:rPr>
                        <a:t>Advisor Practice, </a:t>
                      </a:r>
                      <a:pPr indent="0" marL="0">
                        <a:buNone/>
                      </a:pPr>
                      <a:r>
                        <a:rPr lang="en-US" sz="1200" b="1" dirty="0">
                          <a:solidFill>
                            <a:schemeClr val="tx1"/>
                          </a:solidFill>
                        </a:rPr>
                        <a:t>Employment Affiliation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Professional Type, Registration Status, Practice AUM, Employing Firm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Institutional &amp; Retirement Clients</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Asset owners, investment consultants, and retirement plans with their recordkeepers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Institutional Client, </a:t>
                      </a:r>
                      <a:pPr indent="0" marL="0">
                        <a:buNone/>
                      </a:pPr>
                      <a:r>
                        <a:rPr lang="en-US" sz="1200" dirty="0">
                          <a:solidFill>
                            <a:schemeClr val="tx1"/>
                          </a:solidFill>
                        </a:rPr>
                        <a:t>Consultant Profile, </a:t>
                      </a:r>
                      <a:pPr indent="0" marL="0">
                        <a:buNone/>
                      </a:pPr>
                      <a:r>
                        <a:rPr lang="en-US" sz="1200" b="1" dirty="0">
                          <a:solidFill>
                            <a:schemeClr val="tx1"/>
                          </a:solidFill>
                        </a:rPr>
                        <a:t>Retirement Plan, </a:t>
                      </a:r>
                      <a:pPr indent="0" marL="0">
                        <a:buNone/>
                      </a:pPr>
                      <a:r>
                        <a:rPr lang="en-US" sz="1200" dirty="0">
                          <a:solidFill>
                            <a:schemeClr val="tx1"/>
                          </a:solidFill>
                        </a:rPr>
                        <a:t>Recordkeeper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Client Type, Total Investable Assets, Sponsor EIN, Plan Number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End Investor &amp; Household</a:t>
                      </a:r>
                      <a:endParaRPr lang="en-US" sz="1200" dirty="0"/>
                    </a:p>
                    <a:p>
                      <a:pPr indent="0" marL="0">
                        <a:buNone/>
                      </a:pPr>
                      <a:r>
                        <a:rPr lang="en-US" sz="1100" dirty="0">
                          <a:solidFill>
                            <a:schemeClr val="tx2"/>
                          </a:solidFill>
                        </a:rPr>
                        <a:t>2 objects  |  13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End investors behind intermediaries, on a look-through basis, and their households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End Investor, </a:t>
                      </a:r>
                      <a:pPr indent="0" marL="0">
                        <a:buNone/>
                      </a:pPr>
                      <a:r>
                        <a:rPr lang="en-US" sz="1200" b="1" dirty="0">
                          <a:solidFill>
                            <a:schemeClr val="tx1"/>
                          </a:solidFill>
                        </a:rPr>
                        <a:t>Household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Look-Through Data Basis, Pseudonymized Investor Key, Investor Age Band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party, account or contact point.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How we reach and may engage them</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Classification &amp; Segmentation</a:t>
                      </a:r>
                      <a:endParaRPr lang="en-US" sz="1200" dirty="0"/>
                    </a:p>
                    <a:p>
                      <a:pPr indent="0" marL="0">
                        <a:buNone/>
                      </a:pPr>
                      <a:r>
                        <a:rPr lang="en-US" sz="1100" dirty="0">
                          <a:solidFill>
                            <a:schemeClr val="tx2"/>
                          </a:solidFill>
                        </a:rPr>
                        <a:t>3 objects  |  17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client categories, firm-defined segments and vendor classifications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Regulatory Classification, </a:t>
                      </a:r>
                      <a:pPr indent="0" marL="0">
                        <a:buNone/>
                      </a:pPr>
                      <a:r>
                        <a:rPr lang="en-US" sz="1200" b="1" dirty="0">
                          <a:solidFill>
                            <a:schemeClr val="tx1"/>
                          </a:solidFill>
                        </a:rPr>
                        <a:t>Segment Assignment, </a:t>
                      </a:r>
                      <a:pPr indent="0" marL="0">
                        <a:buNone/>
                      </a:pPr>
                      <a:r>
                        <a:rPr lang="en-US" sz="1200" b="1" dirty="0">
                          <a:solidFill>
                            <a:schemeClr val="tx1"/>
                          </a:solidFill>
                        </a:rPr>
                        <a:t>External Classification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MiFID Client Category, US Investor Qualification, Segment, Vendor Channel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Contact Points</a:t>
                      </a:r>
                      <a:endParaRPr lang="en-US" sz="1200" dirty="0"/>
                    </a:p>
                    <a:p>
                      <a:pPr indent="0" marL="0">
                        <a:buNone/>
                      </a:pPr>
                      <a:r>
                        <a:rPr lang="en-US" sz="1100" dirty="0">
                          <a:solidFill>
                            <a:schemeClr val="tx2"/>
                          </a:solidFill>
                        </a:rPr>
                        <a:t>5 objects  |  18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Addresses, emails, phones and digital profiles, with usage and verification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Contact Point Address, </a:t>
                      </a:r>
                      <a:pPr indent="0" marL="0">
                        <a:buNone/>
                      </a:pPr>
                      <a:r>
                        <a:rPr lang="en-US" sz="1200" dirty="0">
                          <a:solidFill>
                            <a:schemeClr val="tx1"/>
                          </a:solidFill>
                        </a:rPr>
                        <a:t>Contact Point Email, </a:t>
                      </a:r>
                      <a:pPr indent="0" marL="0">
                        <a:buNone/>
                      </a:pPr>
                      <a:r>
                        <a:rPr lang="en-US" sz="1200" dirty="0">
                          <a:solidFill>
                            <a:schemeClr val="tx1"/>
                          </a:solidFill>
                        </a:rPr>
                        <a:t>Contact Point Phone, </a:t>
                      </a:r>
                      <a:pPr indent="0" marL="0">
                        <a:buNone/>
                      </a:pPr>
                      <a:r>
                        <a:rPr lang="en-US" sz="1200" dirty="0">
                          <a:solidFill>
                            <a:schemeClr val="tx1"/>
                          </a:solidFill>
                        </a:rPr>
                        <a:t>Digital Profile, </a:t>
                      </a:r>
                      <a:pPr indent="0" marL="0">
                        <a:buNone/>
                      </a:pPr>
                      <a:r>
                        <a:rPr lang="en-US" sz="1200" b="1" dirty="0">
                          <a:solidFill>
                            <a:schemeClr val="tx1"/>
                          </a:solidFill>
                        </a:rPr>
                        <a:t>Contact Point Usage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Country, Email Address, Phone Number, Primary Contact Point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Client Onboarding &amp; KYC</a:t>
                      </a:r>
                      <a:endParaRPr lang="en-US" sz="1200" dirty="0"/>
                    </a:p>
                    <a:p>
                      <a:pPr indent="0" marL="0">
                        <a:buNone/>
                      </a:pPr>
                      <a:r>
                        <a:rPr lang="en-US" sz="1100" dirty="0">
                          <a:solidFill>
                            <a:schemeClr val="tx2"/>
                          </a:solidFill>
                        </a:rPr>
                        <a:t>4 objects  |  22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Onboarding, due diligence, beneficial ownership and tax status of clients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Onboarding Case, </a:t>
                      </a:r>
                      <a:pPr indent="0" marL="0">
                        <a:buNone/>
                      </a:pPr>
                      <a:r>
                        <a:rPr lang="en-US" sz="1200" dirty="0">
                          <a:solidFill>
                            <a:schemeClr val="tx1"/>
                          </a:solidFill>
                        </a:rPr>
                        <a:t>KYC Profile, </a:t>
                      </a:r>
                      <a:pPr indent="0" marL="0">
                        <a:buNone/>
                      </a:pPr>
                      <a:r>
                        <a:rPr lang="en-US" sz="1200" b="1" dirty="0">
                          <a:solidFill>
                            <a:schemeClr val="tx1"/>
                          </a:solidFill>
                        </a:rPr>
                        <a:t>Beneficial Ownership, </a:t>
                      </a:r>
                      <a:pPr indent="0" marL="0">
                        <a:buNone/>
                      </a:pPr>
                      <a:r>
                        <a:rPr lang="en-US" sz="1200" dirty="0">
                          <a:solidFill>
                            <a:schemeClr val="tx1"/>
                          </a:solidFill>
                        </a:rPr>
                        <a:t>Tax Profile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KYC Status, AML Risk Rating, PEP Status, FATCA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Privacy, Consent &amp; Data Governance</a:t>
                      </a:r>
                      <a:endParaRPr lang="en-US" sz="1200" dirty="0"/>
                    </a:p>
                    <a:p>
                      <a:pPr indent="0" marL="0">
                        <a:buNone/>
                      </a:pPr>
                      <a:r>
                        <a:rPr lang="en-US" sz="1100" dirty="0">
                          <a:solidFill>
                            <a:schemeClr val="tx2"/>
                          </a:solidFill>
                        </a:rPr>
                        <a:t>5 objects  |  23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Privacy status, lawful basis, consent, data subject requests and 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Privacy Profile, </a:t>
                      </a:r>
                      <a:pPr indent="0" marL="0">
                        <a:buNone/>
                      </a:pPr>
                      <a:r>
                        <a:rPr lang="en-US" sz="1200" b="1" dirty="0">
                          <a:solidFill>
                            <a:schemeClr val="tx1"/>
                          </a:solidFill>
                        </a:rPr>
                        <a:t>Processing Legal Basis, </a:t>
                      </a:r>
                      <a:pPr indent="0" marL="0">
                        <a:buNone/>
                      </a:pPr>
                      <a:r>
                        <a:rPr lang="en-US" sz="1200" b="1" dirty="0">
                          <a:solidFill>
                            <a:schemeClr val="tx1"/>
                          </a:solidFill>
                        </a:rPr>
                        <a:t>Consent Record, </a:t>
                      </a:r>
                      <a:pPr indent="0" marL="0">
                        <a:buNone/>
                      </a:pPr>
                      <a:r>
                        <a:rPr lang="en-US" sz="1200" b="1" dirty="0">
                          <a:solidFill>
                            <a:schemeClr val="tx1"/>
                          </a:solidFill>
                        </a:rPr>
                        <a:t>Data Subject Request, </a:t>
                      </a:r>
                      <a:pPr indent="0" marL="0">
                        <a:buNone/>
                      </a:pPr>
                      <a:r>
                        <a:rPr lang="en-US" sz="1200" dirty="0">
                          <a:solidFill>
                            <a:schemeClr val="tx1"/>
                          </a:solidFill>
                        </a:rPr>
                        <a:t>Retention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Lawful Basis, Consent Status, Do Not Contact Indicator, Request Type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Client Preferences &amp; Restrictions</a:t>
                      </a:r>
                      <a:endParaRPr lang="en-US" sz="1200" dirty="0"/>
                    </a:p>
                    <a:p>
                      <a:pPr indent="0" marL="0">
                        <a:buNone/>
                      </a:pPr>
                      <a:r>
                        <a:rPr lang="en-US" sz="1100" dirty="0">
                          <a:solidFill>
                            <a:schemeClr val="tx2"/>
                          </a:solidFill>
                        </a:rPr>
                        <a:t>5 objects  |  46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How each client wants to be engaged, and the restrictions that apply to them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Contact Preference, </a:t>
                      </a:r>
                      <a:pPr indent="0" marL="0">
                        <a:buNone/>
                      </a:pPr>
                      <a:r>
                        <a:rPr lang="en-US" sz="1200" b="1" dirty="0">
                          <a:solidFill>
                            <a:schemeClr val="tx1"/>
                          </a:solidFill>
                        </a:rPr>
                        <a:t>Communication Preference, </a:t>
                      </a:r>
                      <a:pPr indent="0" marL="0">
                        <a:buNone/>
                      </a:pPr>
                      <a:r>
                        <a:rPr lang="en-US" sz="1200" b="1" dirty="0">
                          <a:solidFill>
                            <a:schemeClr val="tx1"/>
                          </a:solidFill>
                        </a:rPr>
                        <a:t>Client Restriction, </a:t>
                      </a:r>
                      <a:pPr indent="0" marL="0">
                        <a:buNone/>
                      </a:pPr>
                      <a:r>
                        <a:rPr lang="en-US" sz="1200" b="1" dirty="0">
                          <a:solidFill>
                            <a:schemeClr val="tx1"/>
                          </a:solidFill>
                        </a:rPr>
                        <a:t>Account Restriction, </a:t>
                      </a:r>
                      <a:pPr indent="0" marL="0">
                        <a:buNone/>
                      </a:pPr>
                      <a:r>
                        <a:rPr lang="en-US" sz="1200" b="1" dirty="0">
                          <a:solidFill>
                            <a:schemeClr val="tx1"/>
                          </a:solidFill>
                        </a:rPr>
                        <a:t>Restricted Client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Preferred Contact Channel, Opt-In Status, Restriction Category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party, account or contact point.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standards and public registers</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Other includes ISO 20022, DTCC / NSCC, FIBO, MiFID II, FATF, FATCA and CRS, FCA and vendor schemes.</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53%</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(168 of 318) align to an external standard, register or regulation</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106</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70</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flagged as personal data under GDPR and US state privacy law</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Products, share classes and mandates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mandate reference on institutional accounts; restricted products on client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Our own sales staff, activities, opportunities and RFPs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Those records point to the party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Campaigns, leads, subscription topics, suppression lists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party's opt-in by topic and channel, and the consent behind it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Selling and platform agreements, shelf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 governing agreement reference on institutional accounts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flows and AUM</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account and its party roles; practice AUM as a vendor estimate only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Territories, coverage, goals and crediting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Compensation &amp; Territory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advisor team and its rep code. Split percentages stay there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Due diligence on distributors, complaints, staff licenses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KYC of clients, and registrations of external advisors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Employees and our own legal entities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References to the employees who approve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311 attributes mastered, 7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311</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318 attributes are mastered in Client &amp; Customer</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6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1 derived copy</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658368"/>
          </a:xfrm>
          <a:prstGeom prst="roundRect">
            <a:avLst>
              <a:gd name="adj" fmla="val 11111"/>
            </a:avLst>
          </a:prstGeom>
          <a:solidFill>
            <a:schemeClr val="bg2"/>
          </a:solidFill>
          <a:ln/>
        </p:spPr>
      </p:sp>
      <p:sp>
        <p:nvSpPr>
          <p:cNvPr id="13" name="Text 10"/>
          <p:cNvSpPr txBox="1"/>
          <p:nvPr/>
        </p:nvSpPr>
        <p:spPr>
          <a:xfrm>
            <a:off x="4343400" y="1783080"/>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14" name="Text 11"/>
          <p:cNvSpPr txBox="1"/>
          <p:nvPr/>
        </p:nvSpPr>
        <p:spPr>
          <a:xfrm>
            <a:off x="7132320" y="1783080"/>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15" name="Text 12"/>
          <p:cNvSpPr txBox="1"/>
          <p:nvPr/>
        </p:nvSpPr>
        <p:spPr>
          <a:xfrm>
            <a:off x="8458200" y="1783080"/>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Mandate on an institutional account; restricted products and strategies on a client restriction</a:t>
            </a:r>
            <a:endParaRPr lang="en-US" sz="1100" dirty="0"/>
          </a:p>
        </p:txBody>
      </p:sp>
      <p:sp>
        <p:nvSpPr>
          <p:cNvPr id="16" name="Shape 13"/>
          <p:cNvSpPr/>
          <p:nvPr/>
        </p:nvSpPr>
        <p:spPr>
          <a:xfrm>
            <a:off x="4114800" y="2551176"/>
            <a:ext cx="7525512" cy="658368"/>
          </a:xfrm>
          <a:prstGeom prst="roundRect">
            <a:avLst>
              <a:gd name="adj" fmla="val 11111"/>
            </a:avLst>
          </a:prstGeom>
          <a:solidFill>
            <a:schemeClr val="bg2"/>
          </a:solidFill>
          <a:ln/>
        </p:spPr>
      </p:sp>
      <p:sp>
        <p:nvSpPr>
          <p:cNvPr id="17" name="Text 14"/>
          <p:cNvSpPr txBox="1"/>
          <p:nvPr/>
        </p:nvSpPr>
        <p:spPr>
          <a:xfrm>
            <a:off x="4343400" y="2551176"/>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551176"/>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2 references</a:t>
            </a:r>
            <a:endParaRPr lang="en-US" sz="1200" dirty="0"/>
          </a:p>
        </p:txBody>
      </p:sp>
      <p:sp>
        <p:nvSpPr>
          <p:cNvPr id="19" name="Text 16"/>
          <p:cNvSpPr txBox="1"/>
          <p:nvPr/>
        </p:nvSpPr>
        <p:spPr>
          <a:xfrm>
            <a:off x="8458200" y="2551176"/>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The employees who approve a restricted-client status or the lifting of an account restriction</a:t>
            </a:r>
            <a:endParaRPr lang="en-US" sz="1100" dirty="0"/>
          </a:p>
        </p:txBody>
      </p:sp>
      <p:sp>
        <p:nvSpPr>
          <p:cNvPr id="20" name="Shape 17"/>
          <p:cNvSpPr/>
          <p:nvPr/>
        </p:nvSpPr>
        <p:spPr>
          <a:xfrm>
            <a:off x="4114800" y="3319272"/>
            <a:ext cx="7525512" cy="658368"/>
          </a:xfrm>
          <a:prstGeom prst="roundRect">
            <a:avLst>
              <a:gd name="adj" fmla="val 11111"/>
            </a:avLst>
          </a:prstGeom>
          <a:solidFill>
            <a:schemeClr val="bg2"/>
          </a:solidFill>
          <a:ln/>
        </p:spPr>
      </p:sp>
      <p:sp>
        <p:nvSpPr>
          <p:cNvPr id="21" name="Text 18"/>
          <p:cNvSpPr txBox="1"/>
          <p:nvPr/>
        </p:nvSpPr>
        <p:spPr>
          <a:xfrm>
            <a:off x="4343400" y="3319272"/>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22" name="Text 19"/>
          <p:cNvSpPr txBox="1"/>
          <p:nvPr/>
        </p:nvSpPr>
        <p:spPr>
          <a:xfrm>
            <a:off x="7132320" y="3319272"/>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23" name="Text 20"/>
          <p:cNvSpPr txBox="1"/>
          <p:nvPr/>
        </p:nvSpPr>
        <p:spPr>
          <a:xfrm>
            <a:off x="8458200" y="3319272"/>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Governing agreement on an institutional account</a:t>
            </a:r>
            <a:endParaRPr lang="en-US" sz="1100" dirty="0"/>
          </a:p>
        </p:txBody>
      </p:sp>
      <p:sp>
        <p:nvSpPr>
          <p:cNvPr id="24" name="Shape 21"/>
          <p:cNvSpPr/>
          <p:nvPr/>
        </p:nvSpPr>
        <p:spPr>
          <a:xfrm>
            <a:off x="4114800" y="4087368"/>
            <a:ext cx="7525512" cy="658368"/>
          </a:xfrm>
          <a:prstGeom prst="roundRect">
            <a:avLst>
              <a:gd name="adj" fmla="val 11111"/>
            </a:avLst>
          </a:prstGeom>
          <a:solidFill>
            <a:schemeClr val="bg2"/>
          </a:solidFill>
          <a:ln/>
        </p:spPr>
      </p:sp>
      <p:sp>
        <p:nvSpPr>
          <p:cNvPr id="25" name="Text 22"/>
          <p:cNvSpPr txBox="1"/>
          <p:nvPr/>
        </p:nvSpPr>
        <p:spPr>
          <a:xfrm>
            <a:off x="4343400" y="4087368"/>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Marketing &amp; Digital</a:t>
            </a:r>
            <a:endParaRPr lang="en-US" sz="1200" dirty="0"/>
          </a:p>
        </p:txBody>
      </p:sp>
      <p:sp>
        <p:nvSpPr>
          <p:cNvPr id="26" name="Text 23"/>
          <p:cNvSpPr txBox="1"/>
          <p:nvPr/>
        </p:nvSpPr>
        <p:spPr>
          <a:xfrm>
            <a:off x="7132320" y="4087368"/>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reference</a:t>
            </a:r>
            <a:endParaRPr lang="en-US" sz="1200" dirty="0"/>
          </a:p>
        </p:txBody>
      </p:sp>
      <p:sp>
        <p:nvSpPr>
          <p:cNvPr id="27" name="Text 24"/>
          <p:cNvSpPr txBox="1"/>
          <p:nvPr/>
        </p:nvSpPr>
        <p:spPr>
          <a:xfrm>
            <a:off x="8458200" y="4087368"/>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Subscription topic on a communication preference</a:t>
            </a:r>
            <a:endParaRPr lang="en-US" sz="1100" dirty="0"/>
          </a:p>
        </p:txBody>
      </p:sp>
      <p:sp>
        <p:nvSpPr>
          <p:cNvPr id="28" name="Shape 25"/>
          <p:cNvSpPr/>
          <p:nvPr/>
        </p:nvSpPr>
        <p:spPr>
          <a:xfrm>
            <a:off x="4114800" y="4855464"/>
            <a:ext cx="7525512" cy="658368"/>
          </a:xfrm>
          <a:prstGeom prst="roundRect">
            <a:avLst>
              <a:gd name="adj" fmla="val 11111"/>
            </a:avLst>
          </a:prstGeom>
          <a:solidFill>
            <a:schemeClr val="bg2"/>
          </a:solidFill>
          <a:ln/>
        </p:spPr>
      </p:sp>
      <p:sp>
        <p:nvSpPr>
          <p:cNvPr id="29" name="Text 26"/>
          <p:cNvSpPr txBox="1"/>
          <p:nvPr/>
        </p:nvSpPr>
        <p:spPr>
          <a:xfrm>
            <a:off x="4343400" y="4855464"/>
            <a:ext cx="2697480" cy="658368"/>
          </a:xfrm>
          <a:prstGeom prst="rect">
            <a:avLst/>
          </a:prstGeom>
          <a:noFill/>
          <a:ln/>
        </p:spPr>
        <p:txBody>
          <a:bodyPr wrap="square" lIns="0" tIns="0" rIns="0" bIns="0" rtlCol="0" anchor="ctr"/>
          <a:lstStyle/>
          <a:p>
            <a:pPr algn="l" indent="0" marL="0">
              <a:buNone/>
            </a:pPr>
            <a:r>
              <a:rPr lang="en-US" sz="1200" b="1" dirty="0">
                <a:solidFill>
                  <a:schemeClr val="tx1"/>
                </a:solidFill>
              </a:rPr>
              <a:t>Third-Party Data &amp; Licensing</a:t>
            </a:r>
            <a:endParaRPr lang="en-US" sz="1200" dirty="0"/>
          </a:p>
        </p:txBody>
      </p:sp>
      <p:sp>
        <p:nvSpPr>
          <p:cNvPr id="30" name="Text 27"/>
          <p:cNvSpPr txBox="1"/>
          <p:nvPr/>
        </p:nvSpPr>
        <p:spPr>
          <a:xfrm>
            <a:off x="7132320" y="4855464"/>
            <a:ext cx="1234440" cy="658368"/>
          </a:xfrm>
          <a:prstGeom prst="rect">
            <a:avLst/>
          </a:prstGeom>
          <a:noFill/>
          <a:ln/>
        </p:spPr>
        <p:txBody>
          <a:bodyPr wrap="square" lIns="0" tIns="0" rIns="0" bIns="0" rtlCol="0" anchor="ctr"/>
          <a:lstStyle/>
          <a:p>
            <a:pPr algn="l" indent="0" marL="0">
              <a:buNone/>
            </a:pPr>
            <a:r>
              <a:rPr lang="en-US" sz="1200" b="1" dirty="0">
                <a:solidFill>
                  <a:schemeClr val="accent1"/>
                </a:solidFill>
              </a:rPr>
              <a:t>1 copy</a:t>
            </a:r>
            <a:endParaRPr lang="en-US" sz="1200" dirty="0"/>
          </a:p>
        </p:txBody>
      </p:sp>
      <p:sp>
        <p:nvSpPr>
          <p:cNvPr id="31" name="Text 28"/>
          <p:cNvSpPr txBox="1"/>
          <p:nvPr/>
        </p:nvSpPr>
        <p:spPr>
          <a:xfrm>
            <a:off x="8458200" y="4855464"/>
            <a:ext cx="3063240" cy="658368"/>
          </a:xfrm>
          <a:prstGeom prst="rect">
            <a:avLst/>
          </a:prstGeom>
          <a:noFill/>
          <a:ln/>
        </p:spPr>
        <p:txBody>
          <a:bodyPr wrap="square" lIns="0" tIns="0" rIns="0" bIns="0" rtlCol="0" anchor="ctr"/>
          <a:lstStyle/>
          <a:p>
            <a:pPr algn="l" indent="0" marL="0">
              <a:buNone/>
            </a:pPr>
            <a:r>
              <a:rPr lang="en-US" sz="1100" dirty="0">
                <a:solidFill>
                  <a:schemeClr val="tx1"/>
                </a:solidFill>
              </a:rPr>
              <a:t>Vendor behind an external classification</a:t>
            </a:r>
            <a:endParaRPr lang="en-US" sz="1100" dirty="0"/>
          </a:p>
        </p:txBody>
      </p:sp>
      <p:sp>
        <p:nvSpPr>
          <p:cNvPr id="32" name="Shape 29"/>
          <p:cNvSpPr/>
          <p:nvPr/>
        </p:nvSpPr>
        <p:spPr>
          <a:xfrm>
            <a:off x="548640" y="5687568"/>
            <a:ext cx="11091672" cy="530352"/>
          </a:xfrm>
          <a:prstGeom prst="roundRect">
            <a:avLst>
              <a:gd name="adj" fmla="val 13793"/>
            </a:avLst>
          </a:prstGeom>
          <a:solidFill>
            <a:schemeClr val="bg2"/>
          </a:solidFill>
          <a:ln/>
        </p:spPr>
      </p:sp>
      <p:sp>
        <p:nvSpPr>
          <p:cNvPr id="33" name="Text 30"/>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192 attributes in the 13 other domains reference a party or account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22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30</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Client &amp; Customer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8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22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7 high, 7 medium, 8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GAP-02-003</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Account Party Role does not name its account, and End Investor has no as-of date (DP-003, DP-070, DP-076, DP-085)</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GAP-02-004</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Contact Point Usage does not name its party, contact point or usage type (DP-002, DP-028, DP-054)</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GAP-02-005</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Consent Record, Processing Legal Basis and Data Subject Request do not name their party (DP-011, DP-028, DP-080)</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GAP-02-006</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foundational product publishes individuals who are not advisors (DP-002, DP-060, DP-080)</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GAP-02-008</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The Retirement Plan key, sponsor EIN plus plan number, does not work for UK pension schemes (DP-003)</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GAP-02-009</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One party entity, or separate consultant and recordkeeper entities, in DP-003</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4"/>
          </a:solid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GAP-02-010</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Which product publishes the conformed Account entity: DP-003 or DP-007</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CRM, regulatory registers, vendor advisor data, transfer agent files and KYC tools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dimension</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Firm, office, team, advisor, client, consultant and plan are published once, in SM-00 Shared Dimensions, and every semantic model joins to them.</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101 proposed critical data elements and 70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Party sources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200" b="1" dirty="0">
                <a:solidFill>
                  <a:schemeClr val="bg1"/>
                </a:solidFill>
              </a:rPr>
              <a:t>Client &amp; Customer definitions</a:t>
            </a:r>
            <a:endParaRPr lang="en-US" sz="12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DP-001, DP-002, DP-003 foundational</a:t>
            </a:r>
            <a:endParaRPr lang="en-US" sz="12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Consumer data products</a:t>
            </a:r>
            <a:endParaRPr lang="en-US" sz="12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Semantic models</a:t>
            </a:r>
            <a:endParaRPr lang="en-US" sz="12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feeds,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FOUNDATIONAL PRODUCTS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Three products turn the domain into records</a:t>
            </a:r>
            <a:endParaRPr lang="en-US" sz="3600" dirty="0"/>
          </a:p>
        </p:txBody>
      </p:sp>
      <p:sp>
        <p:nvSpPr>
          <p:cNvPr id="5" name="Shape 2"/>
          <p:cNvSpPr/>
          <p:nvPr/>
        </p:nvSpPr>
        <p:spPr>
          <a:xfrm>
            <a:off x="548640" y="1783080"/>
            <a:ext cx="3511296" cy="3520440"/>
          </a:xfrm>
          <a:prstGeom prst="roundRect">
            <a:avLst>
              <a:gd name="adj" fmla="val 2083"/>
            </a:avLst>
          </a:prstGeom>
          <a:solidFill>
            <a:schemeClr val="bg2"/>
          </a:solidFill>
          <a:ln/>
        </p:spPr>
      </p:sp>
      <p:sp>
        <p:nvSpPr>
          <p:cNvPr id="6" name="Text 3"/>
          <p:cNvSpPr/>
          <p:nvPr/>
        </p:nvSpPr>
        <p:spPr>
          <a:xfrm>
            <a:off x="777240" y="1965960"/>
            <a:ext cx="914400" cy="347472"/>
          </a:xfrm>
          <a:prstGeom prst="roundRect">
            <a:avLst>
              <a:gd name="adj" fmla="val 15789"/>
            </a:avLst>
          </a:prstGeom>
          <a:solidFill>
            <a:schemeClr val="accent1"/>
          </a:solidFill>
          <a:ln/>
        </p:spPr>
        <p:txBody>
          <a:bodyPr wrap="square" lIns="0" tIns="0" rIns="0" bIns="0" rtlCol="0" anchor="ctr"/>
          <a:lstStyle/>
          <a:p>
            <a:pPr algn="ctr" indent="0" marL="0">
              <a:buNone/>
            </a:pPr>
            <a:r>
              <a:rPr lang="en-US" sz="1200" b="1" dirty="0">
                <a:solidFill>
                  <a:schemeClr val="bg1"/>
                </a:solidFill>
              </a:rPr>
              <a:t>DP-001</a:t>
            </a:r>
            <a:endParaRPr lang="en-US" sz="1200" dirty="0"/>
          </a:p>
        </p:txBody>
      </p:sp>
      <p:sp>
        <p:nvSpPr>
          <p:cNvPr id="7" name="Text 4"/>
          <p:cNvSpPr txBox="1"/>
          <p:nvPr/>
        </p:nvSpPr>
        <p:spPr>
          <a:xfrm>
            <a:off x="777240"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Distributor Hierarchy</a:t>
            </a:r>
            <a:endParaRPr lang="en-US" sz="1600" dirty="0"/>
          </a:p>
        </p:txBody>
      </p:sp>
      <p:sp>
        <p:nvSpPr>
          <p:cNvPr id="8" name="Shape 5"/>
          <p:cNvSpPr/>
          <p:nvPr/>
        </p:nvSpPr>
        <p:spPr>
          <a:xfrm>
            <a:off x="777240" y="2971800"/>
            <a:ext cx="3054096" cy="0"/>
          </a:xfrm>
          <a:prstGeom prst="line">
            <a:avLst/>
          </a:prstGeom>
          <a:noFill/>
          <a:ln w="9525">
            <a:solidFill>
              <a:srgbClr val="D5D9E1"/>
            </a:solidFill>
            <a:prstDash val="solid"/>
          </a:ln>
        </p:spPr>
      </p:sp>
      <p:sp>
        <p:nvSpPr>
          <p:cNvPr id="9" name="Text 6"/>
          <p:cNvSpPr txBox="1"/>
          <p:nvPr/>
        </p:nvSpPr>
        <p:spPr>
          <a:xfrm>
            <a:off x="777240"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10" name="Text 7"/>
          <p:cNvSpPr txBox="1"/>
          <p:nvPr/>
        </p:nvSpPr>
        <p:spPr>
          <a:xfrm>
            <a:off x="777240"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hierarchy node, hierarchy type and effective period</a:t>
            </a:r>
            <a:endParaRPr lang="en-US" sz="1200" dirty="0"/>
          </a:p>
        </p:txBody>
      </p:sp>
      <p:sp>
        <p:nvSpPr>
          <p:cNvPr id="11" name="Shape 8"/>
          <p:cNvSpPr/>
          <p:nvPr/>
        </p:nvSpPr>
        <p:spPr>
          <a:xfrm>
            <a:off x="777240" y="3739896"/>
            <a:ext cx="3054096" cy="0"/>
          </a:xfrm>
          <a:prstGeom prst="line">
            <a:avLst/>
          </a:prstGeom>
          <a:noFill/>
          <a:ln w="9525">
            <a:solidFill>
              <a:srgbClr val="D5D9E1"/>
            </a:solidFill>
            <a:prstDash val="solid"/>
          </a:ln>
        </p:spPr>
      </p:sp>
      <p:sp>
        <p:nvSpPr>
          <p:cNvPr id="12" name="Text 9"/>
          <p:cNvSpPr txBox="1"/>
          <p:nvPr/>
        </p:nvSpPr>
        <p:spPr>
          <a:xfrm>
            <a:off x="777240"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13" name="Text 10"/>
          <p:cNvSpPr txBox="1"/>
          <p:nvPr/>
        </p:nvSpPr>
        <p:spPr>
          <a:xfrm>
            <a:off x="777240"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69 of its 78 attributes come from 16 of this domain's 56 objects</a:t>
            </a:r>
            <a:endParaRPr lang="en-US" sz="1200" dirty="0"/>
          </a:p>
        </p:txBody>
      </p:sp>
      <p:sp>
        <p:nvSpPr>
          <p:cNvPr id="14" name="Shape 11"/>
          <p:cNvSpPr/>
          <p:nvPr/>
        </p:nvSpPr>
        <p:spPr>
          <a:xfrm>
            <a:off x="777240" y="4507992"/>
            <a:ext cx="3054096" cy="0"/>
          </a:xfrm>
          <a:prstGeom prst="line">
            <a:avLst/>
          </a:prstGeom>
          <a:noFill/>
          <a:ln w="9525">
            <a:solidFill>
              <a:srgbClr val="D5D9E1"/>
            </a:solidFill>
            <a:prstDash val="solid"/>
          </a:ln>
        </p:spPr>
      </p:sp>
      <p:sp>
        <p:nvSpPr>
          <p:cNvPr id="15" name="Text 12"/>
          <p:cNvSpPr txBox="1"/>
          <p:nvPr/>
        </p:nvSpPr>
        <p:spPr>
          <a:xfrm>
            <a:off x="777240"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16" name="Text 13"/>
          <p:cNvSpPr txBox="1"/>
          <p:nvPr/>
        </p:nvSpPr>
        <p:spPr>
          <a:xfrm>
            <a:off x="777240"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No two active firms share a verified CRD number, LEI or FCA reference number</a:t>
            </a:r>
            <a:endParaRPr lang="en-US" sz="1200" dirty="0"/>
          </a:p>
        </p:txBody>
      </p:sp>
      <p:sp>
        <p:nvSpPr>
          <p:cNvPr id="17" name="Shape 14"/>
          <p:cNvSpPr/>
          <p:nvPr/>
        </p:nvSpPr>
        <p:spPr>
          <a:xfrm>
            <a:off x="548640" y="5486400"/>
            <a:ext cx="3511296" cy="731520"/>
          </a:xfrm>
          <a:prstGeom prst="roundRect">
            <a:avLst>
              <a:gd name="adj" fmla="val 10000"/>
            </a:avLst>
          </a:prstGeom>
          <a:solidFill>
            <a:schemeClr val="tx1"/>
          </a:solidFill>
          <a:ln/>
        </p:spPr>
      </p:sp>
      <p:sp>
        <p:nvSpPr>
          <p:cNvPr id="18" name="Text 15"/>
          <p:cNvSpPr txBox="1"/>
          <p:nvPr/>
        </p:nvSpPr>
        <p:spPr>
          <a:xfrm>
            <a:off x="777240"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62</a:t>
            </a:r>
            <a:endParaRPr lang="en-US" sz="2800" dirty="0"/>
          </a:p>
        </p:txBody>
      </p:sp>
      <p:sp>
        <p:nvSpPr>
          <p:cNvPr id="19" name="Text 16"/>
          <p:cNvSpPr txBox="1"/>
          <p:nvPr/>
        </p:nvSpPr>
        <p:spPr>
          <a:xfrm>
            <a:off x="1508760"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DP-001 as a direct upstream</a:t>
            </a:r>
            <a:endParaRPr lang="en-US" sz="1200" dirty="0"/>
          </a:p>
        </p:txBody>
      </p:sp>
      <p:sp>
        <p:nvSpPr>
          <p:cNvPr id="20" name="Shape 17"/>
          <p:cNvSpPr/>
          <p:nvPr/>
        </p:nvSpPr>
        <p:spPr>
          <a:xfrm>
            <a:off x="4338828" y="1783080"/>
            <a:ext cx="3511296" cy="3520440"/>
          </a:xfrm>
          <a:prstGeom prst="roundRect">
            <a:avLst>
              <a:gd name="adj" fmla="val 2083"/>
            </a:avLst>
          </a:prstGeom>
          <a:solidFill>
            <a:schemeClr val="bg2"/>
          </a:solidFill>
          <a:ln/>
        </p:spPr>
      </p:sp>
      <p:sp>
        <p:nvSpPr>
          <p:cNvPr id="21" name="Text 18"/>
          <p:cNvSpPr/>
          <p:nvPr/>
        </p:nvSpPr>
        <p:spPr>
          <a:xfrm>
            <a:off x="4567428" y="1965960"/>
            <a:ext cx="914400" cy="347472"/>
          </a:xfrm>
          <a:prstGeom prst="roundRect">
            <a:avLst>
              <a:gd name="adj" fmla="val 15789"/>
            </a:avLst>
          </a:prstGeom>
          <a:solidFill>
            <a:schemeClr val="accent2"/>
          </a:solidFill>
          <a:ln/>
        </p:spPr>
        <p:txBody>
          <a:bodyPr wrap="square" lIns="0" tIns="0" rIns="0" bIns="0" rtlCol="0" anchor="ctr"/>
          <a:lstStyle/>
          <a:p>
            <a:pPr algn="ctr" indent="0" marL="0">
              <a:buNone/>
            </a:pPr>
            <a:r>
              <a:rPr lang="en-US" sz="1200" b="1" dirty="0">
                <a:solidFill>
                  <a:schemeClr val="bg1"/>
                </a:solidFill>
              </a:rPr>
              <a:t>DP-002</a:t>
            </a:r>
            <a:endParaRPr lang="en-US" sz="1200" dirty="0"/>
          </a:p>
        </p:txBody>
      </p:sp>
      <p:sp>
        <p:nvSpPr>
          <p:cNvPr id="22" name="Text 19"/>
          <p:cNvSpPr txBox="1"/>
          <p:nvPr/>
        </p:nvSpPr>
        <p:spPr>
          <a:xfrm>
            <a:off x="4567428"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Financial Professional Profile</a:t>
            </a:r>
            <a:endParaRPr lang="en-US" sz="1600" dirty="0"/>
          </a:p>
        </p:txBody>
      </p:sp>
      <p:sp>
        <p:nvSpPr>
          <p:cNvPr id="23" name="Shape 20"/>
          <p:cNvSpPr/>
          <p:nvPr/>
        </p:nvSpPr>
        <p:spPr>
          <a:xfrm>
            <a:off x="4567428" y="2971800"/>
            <a:ext cx="3054096" cy="0"/>
          </a:xfrm>
          <a:prstGeom prst="line">
            <a:avLst/>
          </a:prstGeom>
          <a:noFill/>
          <a:ln w="9525">
            <a:solidFill>
              <a:srgbClr val="D5D9E1"/>
            </a:solidFill>
            <a:prstDash val="solid"/>
          </a:ln>
        </p:spPr>
      </p:sp>
      <p:sp>
        <p:nvSpPr>
          <p:cNvPr id="24" name="Text 21"/>
          <p:cNvSpPr txBox="1"/>
          <p:nvPr/>
        </p:nvSpPr>
        <p:spPr>
          <a:xfrm>
            <a:off x="4567428"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25" name="Text 22"/>
          <p:cNvSpPr txBox="1"/>
          <p:nvPr/>
        </p:nvSpPr>
        <p:spPr>
          <a:xfrm>
            <a:off x="4567428"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financial professional and profile effective period</a:t>
            </a:r>
            <a:endParaRPr lang="en-US" sz="1200" dirty="0"/>
          </a:p>
        </p:txBody>
      </p:sp>
      <p:sp>
        <p:nvSpPr>
          <p:cNvPr id="26" name="Shape 23"/>
          <p:cNvSpPr/>
          <p:nvPr/>
        </p:nvSpPr>
        <p:spPr>
          <a:xfrm>
            <a:off x="4567428" y="3739896"/>
            <a:ext cx="3054096" cy="0"/>
          </a:xfrm>
          <a:prstGeom prst="line">
            <a:avLst/>
          </a:prstGeom>
          <a:noFill/>
          <a:ln w="9525">
            <a:solidFill>
              <a:srgbClr val="D5D9E1"/>
            </a:solidFill>
            <a:prstDash val="solid"/>
          </a:ln>
        </p:spPr>
      </p:sp>
      <p:sp>
        <p:nvSpPr>
          <p:cNvPr id="27" name="Text 24"/>
          <p:cNvSpPr txBox="1"/>
          <p:nvPr/>
        </p:nvSpPr>
        <p:spPr>
          <a:xfrm>
            <a:off x="4567428"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28" name="Text 25"/>
          <p:cNvSpPr txBox="1"/>
          <p:nvPr/>
        </p:nvSpPr>
        <p:spPr>
          <a:xfrm>
            <a:off x="4567428"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All 89 of its attributes come from 20 of this domain's 56 objects</a:t>
            </a:r>
            <a:endParaRPr lang="en-US" sz="1200" dirty="0"/>
          </a:p>
        </p:txBody>
      </p:sp>
      <p:sp>
        <p:nvSpPr>
          <p:cNvPr id="29" name="Shape 26"/>
          <p:cNvSpPr/>
          <p:nvPr/>
        </p:nvSpPr>
        <p:spPr>
          <a:xfrm>
            <a:off x="4567428" y="4507992"/>
            <a:ext cx="3054096" cy="0"/>
          </a:xfrm>
          <a:prstGeom prst="line">
            <a:avLst/>
          </a:prstGeom>
          <a:noFill/>
          <a:ln w="9525">
            <a:solidFill>
              <a:srgbClr val="D5D9E1"/>
            </a:solidFill>
            <a:prstDash val="solid"/>
          </a:ln>
        </p:spPr>
      </p:sp>
      <p:sp>
        <p:nvSpPr>
          <p:cNvPr id="30" name="Text 27"/>
          <p:cNvSpPr txBox="1"/>
          <p:nvPr/>
        </p:nvSpPr>
        <p:spPr>
          <a:xfrm>
            <a:off x="4567428"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31" name="Text 28"/>
          <p:cNvSpPr txBox="1"/>
          <p:nvPr/>
        </p:nvSpPr>
        <p:spPr>
          <a:xfrm>
            <a:off x="4567428"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Each advisor has at most one open primary employment affiliation</a:t>
            </a:r>
            <a:endParaRPr lang="en-US" sz="1200" dirty="0"/>
          </a:p>
        </p:txBody>
      </p:sp>
      <p:sp>
        <p:nvSpPr>
          <p:cNvPr id="32" name="Shape 29"/>
          <p:cNvSpPr/>
          <p:nvPr/>
        </p:nvSpPr>
        <p:spPr>
          <a:xfrm>
            <a:off x="4338828" y="5486400"/>
            <a:ext cx="3511296" cy="731520"/>
          </a:xfrm>
          <a:prstGeom prst="roundRect">
            <a:avLst>
              <a:gd name="adj" fmla="val 10000"/>
            </a:avLst>
          </a:prstGeom>
          <a:solidFill>
            <a:schemeClr val="tx1"/>
          </a:solidFill>
          <a:ln/>
        </p:spPr>
      </p:sp>
      <p:sp>
        <p:nvSpPr>
          <p:cNvPr id="33" name="Text 30"/>
          <p:cNvSpPr txBox="1"/>
          <p:nvPr/>
        </p:nvSpPr>
        <p:spPr>
          <a:xfrm>
            <a:off x="4567428"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38</a:t>
            </a:r>
            <a:endParaRPr lang="en-US" sz="2800" dirty="0"/>
          </a:p>
        </p:txBody>
      </p:sp>
      <p:sp>
        <p:nvSpPr>
          <p:cNvPr id="34" name="Text 31"/>
          <p:cNvSpPr txBox="1"/>
          <p:nvPr/>
        </p:nvSpPr>
        <p:spPr>
          <a:xfrm>
            <a:off x="5298948"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DP-002 as a direct upstream</a:t>
            </a:r>
            <a:endParaRPr lang="en-US" sz="1200" dirty="0"/>
          </a:p>
        </p:txBody>
      </p:sp>
      <p:sp>
        <p:nvSpPr>
          <p:cNvPr id="35" name="Shape 32"/>
          <p:cNvSpPr/>
          <p:nvPr/>
        </p:nvSpPr>
        <p:spPr>
          <a:xfrm>
            <a:off x="8129016" y="1783080"/>
            <a:ext cx="3511296" cy="3520440"/>
          </a:xfrm>
          <a:prstGeom prst="roundRect">
            <a:avLst>
              <a:gd name="adj" fmla="val 2083"/>
            </a:avLst>
          </a:prstGeom>
          <a:solidFill>
            <a:schemeClr val="bg2"/>
          </a:solidFill>
          <a:ln/>
        </p:spPr>
      </p:sp>
      <p:sp>
        <p:nvSpPr>
          <p:cNvPr id="36" name="Text 33"/>
          <p:cNvSpPr/>
          <p:nvPr/>
        </p:nvSpPr>
        <p:spPr>
          <a:xfrm>
            <a:off x="8357616" y="1965960"/>
            <a:ext cx="9144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200" b="1" dirty="0">
                <a:solidFill>
                  <a:schemeClr val="bg1"/>
                </a:solidFill>
              </a:rPr>
              <a:t>DP-003</a:t>
            </a:r>
            <a:endParaRPr lang="en-US" sz="1200" dirty="0"/>
          </a:p>
        </p:txBody>
      </p:sp>
      <p:sp>
        <p:nvSpPr>
          <p:cNvPr id="37" name="Text 34"/>
          <p:cNvSpPr txBox="1"/>
          <p:nvPr/>
        </p:nvSpPr>
        <p:spPr>
          <a:xfrm>
            <a:off x="8357616" y="2386584"/>
            <a:ext cx="3054096" cy="512064"/>
          </a:xfrm>
          <a:prstGeom prst="rect">
            <a:avLst/>
          </a:prstGeom>
          <a:noFill/>
          <a:ln/>
        </p:spPr>
        <p:txBody>
          <a:bodyPr wrap="square" lIns="0" tIns="0" rIns="0" bIns="0" rtlCol="0" anchor="ctr"/>
          <a:lstStyle/>
          <a:p>
            <a:pPr algn="l" indent="0" marL="0">
              <a:buNone/>
            </a:pPr>
            <a:r>
              <a:rPr lang="en-US" sz="1600" b="1" dirty="0">
                <a:solidFill>
                  <a:schemeClr val="tx1"/>
                </a:solidFill>
              </a:rPr>
              <a:t>Institutional, Consultant &amp; Plan Relationships</a:t>
            </a:r>
            <a:endParaRPr lang="en-US" sz="1600" dirty="0"/>
          </a:p>
        </p:txBody>
      </p:sp>
      <p:sp>
        <p:nvSpPr>
          <p:cNvPr id="38" name="Shape 35"/>
          <p:cNvSpPr/>
          <p:nvPr/>
        </p:nvSpPr>
        <p:spPr>
          <a:xfrm>
            <a:off x="8357616" y="2971800"/>
            <a:ext cx="3054096" cy="0"/>
          </a:xfrm>
          <a:prstGeom prst="line">
            <a:avLst/>
          </a:prstGeom>
          <a:noFill/>
          <a:ln w="9525">
            <a:solidFill>
              <a:srgbClr val="D5D9E1"/>
            </a:solidFill>
            <a:prstDash val="solid"/>
          </a:ln>
        </p:spPr>
      </p:sp>
      <p:sp>
        <p:nvSpPr>
          <p:cNvPr id="39" name="Text 36"/>
          <p:cNvSpPr txBox="1"/>
          <p:nvPr/>
        </p:nvSpPr>
        <p:spPr>
          <a:xfrm>
            <a:off x="8357616" y="3026664"/>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GRAIN</a:t>
            </a:r>
            <a:endParaRPr lang="en-US" sz="1100" dirty="0"/>
          </a:p>
        </p:txBody>
      </p:sp>
      <p:sp>
        <p:nvSpPr>
          <p:cNvPr id="40" name="Text 37"/>
          <p:cNvSpPr txBox="1"/>
          <p:nvPr/>
        </p:nvSpPr>
        <p:spPr>
          <a:xfrm>
            <a:off x="8357616" y="3282696"/>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One row per party or plan, relationship and effective period</a:t>
            </a:r>
            <a:endParaRPr lang="en-US" sz="1200" dirty="0"/>
          </a:p>
        </p:txBody>
      </p:sp>
      <p:sp>
        <p:nvSpPr>
          <p:cNvPr id="41" name="Shape 38"/>
          <p:cNvSpPr/>
          <p:nvPr/>
        </p:nvSpPr>
        <p:spPr>
          <a:xfrm>
            <a:off x="8357616" y="3739896"/>
            <a:ext cx="3054096" cy="0"/>
          </a:xfrm>
          <a:prstGeom prst="line">
            <a:avLst/>
          </a:prstGeom>
          <a:noFill/>
          <a:ln w="9525">
            <a:solidFill>
              <a:srgbClr val="D5D9E1"/>
            </a:solidFill>
            <a:prstDash val="solid"/>
          </a:ln>
        </p:spPr>
      </p:sp>
      <p:sp>
        <p:nvSpPr>
          <p:cNvPr id="42" name="Text 39"/>
          <p:cNvSpPr txBox="1"/>
          <p:nvPr/>
        </p:nvSpPr>
        <p:spPr>
          <a:xfrm>
            <a:off x="8357616" y="3794760"/>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INPUTS</a:t>
            </a:r>
            <a:endParaRPr lang="en-US" sz="1100" dirty="0"/>
          </a:p>
        </p:txBody>
      </p:sp>
      <p:sp>
        <p:nvSpPr>
          <p:cNvPr id="43" name="Text 40"/>
          <p:cNvSpPr txBox="1"/>
          <p:nvPr/>
        </p:nvSpPr>
        <p:spPr>
          <a:xfrm>
            <a:off x="8357616" y="4050792"/>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68 of its 74 attributes come from 15 of this domain's 56 objects</a:t>
            </a:r>
            <a:endParaRPr lang="en-US" sz="1200" dirty="0"/>
          </a:p>
        </p:txBody>
      </p:sp>
      <p:sp>
        <p:nvSpPr>
          <p:cNvPr id="44" name="Shape 41"/>
          <p:cNvSpPr/>
          <p:nvPr/>
        </p:nvSpPr>
        <p:spPr>
          <a:xfrm>
            <a:off x="8357616" y="4507992"/>
            <a:ext cx="3054096" cy="0"/>
          </a:xfrm>
          <a:prstGeom prst="line">
            <a:avLst/>
          </a:prstGeom>
          <a:noFill/>
          <a:ln w="9525">
            <a:solidFill>
              <a:srgbClr val="D5D9E1"/>
            </a:solidFill>
            <a:prstDash val="solid"/>
          </a:ln>
        </p:spPr>
      </p:sp>
      <p:sp>
        <p:nvSpPr>
          <p:cNvPr id="45" name="Text 42"/>
          <p:cNvSpPr txBox="1"/>
          <p:nvPr/>
        </p:nvSpPr>
        <p:spPr>
          <a:xfrm>
            <a:off x="8357616" y="4562856"/>
            <a:ext cx="3054096" cy="237744"/>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QUALITY RULE, FOR EXAMPLE</a:t>
            </a:r>
            <a:endParaRPr lang="en-US" sz="1100" dirty="0"/>
          </a:p>
        </p:txBody>
      </p:sp>
      <p:sp>
        <p:nvSpPr>
          <p:cNvPr id="46" name="Text 43"/>
          <p:cNvSpPr txBox="1"/>
          <p:nvPr/>
        </p:nvSpPr>
        <p:spPr>
          <a:xfrm>
            <a:off x="8357616" y="4818888"/>
            <a:ext cx="3054096" cy="402336"/>
          </a:xfrm>
          <a:prstGeom prst="rect">
            <a:avLst/>
          </a:prstGeom>
          <a:noFill/>
          <a:ln/>
        </p:spPr>
        <p:txBody>
          <a:bodyPr wrap="square" lIns="0" tIns="0" rIns="0" bIns="0" rtlCol="0" anchor="t"/>
          <a:lstStyle/>
          <a:p>
            <a:pPr algn="l" indent="0" marL="0">
              <a:buNone/>
            </a:pPr>
            <a:r>
              <a:rPr lang="en-US" sz="1200" dirty="0">
                <a:solidFill>
                  <a:schemeClr val="tx1"/>
                </a:solidFill>
              </a:rPr>
              <a:t>Each retirement plan is unique on sponsor EIN plus plan number</a:t>
            </a:r>
            <a:endParaRPr lang="en-US" sz="1200" dirty="0"/>
          </a:p>
        </p:txBody>
      </p:sp>
      <p:sp>
        <p:nvSpPr>
          <p:cNvPr id="47" name="Shape 44"/>
          <p:cNvSpPr/>
          <p:nvPr/>
        </p:nvSpPr>
        <p:spPr>
          <a:xfrm>
            <a:off x="8129016" y="5486400"/>
            <a:ext cx="3511296" cy="731520"/>
          </a:xfrm>
          <a:prstGeom prst="roundRect">
            <a:avLst>
              <a:gd name="adj" fmla="val 10000"/>
            </a:avLst>
          </a:prstGeom>
          <a:solidFill>
            <a:schemeClr val="tx1"/>
          </a:solidFill>
          <a:ln/>
        </p:spPr>
      </p:sp>
      <p:sp>
        <p:nvSpPr>
          <p:cNvPr id="48" name="Text 45"/>
          <p:cNvSpPr txBox="1"/>
          <p:nvPr/>
        </p:nvSpPr>
        <p:spPr>
          <a:xfrm>
            <a:off x="8357616" y="5486400"/>
            <a:ext cx="685800" cy="731520"/>
          </a:xfrm>
          <a:prstGeom prst="rect">
            <a:avLst/>
          </a:prstGeom>
          <a:noFill/>
          <a:ln/>
        </p:spPr>
        <p:txBody>
          <a:bodyPr wrap="square" lIns="0" tIns="0" rIns="0" bIns="0" rtlCol="0" anchor="ctr"/>
          <a:lstStyle/>
          <a:p>
            <a:pPr algn="l" indent="0" marL="0">
              <a:buNone/>
            </a:pPr>
            <a:r>
              <a:rPr lang="en-US" sz="2800" b="1" dirty="0">
                <a:solidFill>
                  <a:schemeClr val="accent6"/>
                </a:solidFill>
              </a:rPr>
              <a:t>20</a:t>
            </a:r>
            <a:endParaRPr lang="en-US" sz="2800" dirty="0"/>
          </a:p>
        </p:txBody>
      </p:sp>
      <p:sp>
        <p:nvSpPr>
          <p:cNvPr id="49" name="Text 46"/>
          <p:cNvSpPr txBox="1"/>
          <p:nvPr/>
        </p:nvSpPr>
        <p:spPr>
          <a:xfrm>
            <a:off x="9089136" y="5486400"/>
            <a:ext cx="2368296" cy="731520"/>
          </a:xfrm>
          <a:prstGeom prst="rect">
            <a:avLst/>
          </a:prstGeom>
          <a:noFill/>
          <a:ln/>
        </p:spPr>
        <p:txBody>
          <a:bodyPr wrap="square" lIns="0" tIns="0" rIns="0" bIns="0" rtlCol="0" anchor="ctr"/>
          <a:lstStyle/>
          <a:p>
            <a:pPr algn="l" indent="0" marL="0">
              <a:buNone/>
            </a:pPr>
            <a:r>
              <a:rPr lang="en-US" sz="1200" dirty="0">
                <a:solidFill>
                  <a:schemeClr val="bg1"/>
                </a:solidFill>
              </a:rPr>
              <a:t>other products name DP-003 as a direct upstream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41 of 92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41</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5 foundational and 36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56 of 56</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93%</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(297 of 318)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13</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41</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13 regulatory and control, 12 analytical, 11 operational, 3 master and reference, 2 conformed facts.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Seven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7984"/>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DP-001</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Distributor Hierarchy</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Every firm, office, team and advisor, linked parent to child with effective dates.</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213338"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69 of 78</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61488"/>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DP-002</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Financial Professional Profile</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Sales operations</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One profile per advisor: identity, firms, practice, team, segment and contact details.</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1371600"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89 of 89</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4992"/>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DP-003</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Institutional, Consultant &amp; Plan Relationships</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Foundational  |  Institutional sales</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Institutional clients, consultants, plans and recordkeepers, and who advises or serves whom.</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1260389"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68 of 74</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8496"/>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DP-048</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Advisor Movement &amp; Breakaway Alerts</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Operational  |  External wholesaling</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Alerts when an advisor or team changes firm, with the assets at stake.</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631371"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29 of 63</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72000"/>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DP-066</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Retirement Plan Prospecting</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Analytical  |  Retirement and DCIO</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 scored prospect list of US defined contribution plans and their service providers.</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548640"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26 of 65</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5504"/>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DP-077</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Client Restrictions &amp; KYC Status</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Compliance</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One eligibility list of the parties and accounts the firm must not market or sell to.</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1248770"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61 of 67</a:t>
            </a:r>
            <a:endParaRPr lang="en-US" sz="1200" dirty="0"/>
          </a:p>
        </p:txBody>
      </p:sp>
      <p:sp>
        <p:nvSpPr>
          <p:cNvPr id="54" name="Shape 51"/>
          <p:cNvSpPr/>
          <p:nvPr/>
        </p:nvSpPr>
        <p:spPr>
          <a:xfrm>
            <a:off x="548640" y="5678424"/>
            <a:ext cx="11091672" cy="530352"/>
          </a:xfrm>
          <a:prstGeom prst="roundRect">
            <a:avLst>
              <a:gd name="adj" fmla="val 13793"/>
            </a:avLst>
          </a:prstGeom>
          <a:solidFill>
            <a:schemeClr val="bg2"/>
          </a:solidFill>
          <a:ln/>
        </p:spPr>
      </p:sp>
      <p:sp>
        <p:nvSpPr>
          <p:cNvPr id="55" name="Text 52"/>
          <p:cNvSpPr/>
          <p:nvPr/>
        </p:nvSpPr>
        <p:spPr>
          <a:xfrm>
            <a:off x="731520" y="5779008"/>
            <a:ext cx="914400" cy="329184"/>
          </a:xfrm>
          <a:prstGeom prst="roundRect">
            <a:avLst>
              <a:gd name="adj" fmla="val 16667"/>
            </a:avLst>
          </a:prstGeom>
          <a:solidFill>
            <a:schemeClr val="accent1"/>
          </a:solidFill>
          <a:ln/>
        </p:spPr>
        <p:txBody>
          <a:bodyPr wrap="square" lIns="0" tIns="0" rIns="0" bIns="0" rtlCol="0" anchor="ctr"/>
          <a:lstStyle/>
          <a:p>
            <a:pPr algn="ctr" indent="0" marL="0">
              <a:buNone/>
            </a:pPr>
            <a:r>
              <a:rPr lang="en-US" sz="1200" b="1" dirty="0">
                <a:solidFill>
                  <a:schemeClr val="bg1"/>
                </a:solidFill>
              </a:rPr>
              <a:t>DP-080</a:t>
            </a:r>
            <a:endParaRPr lang="en-US" sz="1200" dirty="0"/>
          </a:p>
        </p:txBody>
      </p:sp>
      <p:sp>
        <p:nvSpPr>
          <p:cNvPr id="56" name="Text 53"/>
          <p:cNvSpPr txBox="1"/>
          <p:nvPr/>
        </p:nvSpPr>
        <p:spPr>
          <a:xfrm>
            <a:off x="1828800" y="572414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Data Subject Rights &amp; Retention</a:t>
            </a:r>
            <a:endParaRPr lang="en-US" sz="1300" dirty="0"/>
          </a:p>
        </p:txBody>
      </p:sp>
      <p:sp>
        <p:nvSpPr>
          <p:cNvPr id="57" name="Text 54"/>
          <p:cNvSpPr txBox="1"/>
          <p:nvPr/>
        </p:nvSpPr>
        <p:spPr>
          <a:xfrm>
            <a:off x="1828800" y="598017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Data office</a:t>
            </a:r>
            <a:endParaRPr lang="en-US" sz="1000" dirty="0"/>
          </a:p>
        </p:txBody>
      </p:sp>
      <p:sp>
        <p:nvSpPr>
          <p:cNvPr id="58" name="Text 55"/>
          <p:cNvSpPr txBox="1"/>
          <p:nvPr/>
        </p:nvSpPr>
        <p:spPr>
          <a:xfrm>
            <a:off x="5897880" y="567842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Data subject requests and retention schedules, with evidence that rights were honored.</a:t>
            </a:r>
            <a:endParaRPr lang="en-US" sz="1100" dirty="0"/>
          </a:p>
        </p:txBody>
      </p:sp>
      <p:sp>
        <p:nvSpPr>
          <p:cNvPr id="59" name="Shape 56"/>
          <p:cNvSpPr/>
          <p:nvPr/>
        </p:nvSpPr>
        <p:spPr>
          <a:xfrm>
            <a:off x="9326880" y="5879592"/>
            <a:ext cx="1371600" cy="128016"/>
          </a:xfrm>
          <a:prstGeom prst="rect">
            <a:avLst/>
          </a:prstGeom>
          <a:solidFill>
            <a:schemeClr val="bg1"/>
          </a:solidFill>
          <a:ln/>
        </p:spPr>
      </p:sp>
      <p:sp>
        <p:nvSpPr>
          <p:cNvPr id="60" name="Shape 57"/>
          <p:cNvSpPr/>
          <p:nvPr/>
        </p:nvSpPr>
        <p:spPr>
          <a:xfrm>
            <a:off x="9326880" y="5879592"/>
            <a:ext cx="800100" cy="128016"/>
          </a:xfrm>
          <a:prstGeom prst="rect">
            <a:avLst/>
          </a:prstGeom>
          <a:solidFill>
            <a:schemeClr val="accent1"/>
          </a:solidFill>
          <a:ln/>
        </p:spPr>
      </p:sp>
      <p:sp>
        <p:nvSpPr>
          <p:cNvPr id="61" name="Text 58"/>
          <p:cNvSpPr txBox="1"/>
          <p:nvPr/>
        </p:nvSpPr>
        <p:spPr>
          <a:xfrm>
            <a:off x="10789920" y="567842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28 of 48</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34 more rely on it for party context</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Field sales and sales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DP-007, DP-017, DP-018, DP-046, DP-047, DP-049, DP-052, DP-053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Advisor identity, practice profile, employment affiliations, segments, accounts and reps of record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Compliance and product governance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DP-037, DP-038, DP-060, DP-061, DP-063, DP-084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Distributor firms and their regulatory identifiers, accounts and account roles, account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Marketing and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DP-011, DP-027, DP-028, DP-087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Consent, lawful basis, communication preferences, client restrictions, regulatory classification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Investor servicing and fund operations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DP-069, DP-070, DP-071, DP-085, DP-091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Accounts, intermediary servicing details, account restrictions, individuals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Institutional sales, RFP and client service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DP-022, DP-023, DP-086, DP-092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Institutional clients, consultants and who they advise, KYC profile, client restrictions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Partners, platforms and retirement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DP-020, DP-021, DP-024</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Distributor firms, Form ADV profile, retirement plans, plan service providers, recordkeepers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territory, intelligence and EU / UK</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DP-054, DP-065, DP-076, DP-088</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End investors on a look-through basis, contact point addresses, party identity, UK and EU identifiers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A further 48 products take firms, advisors and clients only through DP-001, DP-002 or DP-003, without reading Client &amp; Customer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attribute, followed to an answer</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Employing Firm</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in the Employment Affiliation object: the firm an advisor is affiliated with, from a start date.</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FOUNDATIONAL</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DP-002</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Resolves register, vendor and CRM records into one advisor. Quality rule: one primary affiliation at a time.</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CONSUMER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DP-017 and</a:t>
            </a:r>
            <a:endParaRPr lang="en-US" sz="1400" dirty="0"/>
          </a:p>
          <a:p>
            <a:pPr algn="l" indent="0" marL="0">
              <a:buNone/>
            </a:pPr>
            <a:r>
              <a:rPr lang="en-US" sz="1400" b="1" dirty="0">
                <a:solidFill>
                  <a:schemeClr val="tx1"/>
                </a:solidFill>
              </a:rPr>
              <a:t>DP-048</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Advisor 360 shows the move beside holdings and coverage. DP-048 raises a breakaway alert.</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SM-00 Shared Dimensions</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advisor and advisor affiliation once. Every subject-area model joins to them.</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CRM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“Which of my advisors moved firm in the last 90 days?”</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Recent Move Flag  =  a new primary affiliation at a different Employing Firm in the last 90 days</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Who covers the advisor is mastered in Compensation &amp; Territory. Client &amp; Customer supplies who the advisor is and where they work.</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CD-017</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Which distributor hierarchy is the system of record. Recommended: the firm-defined coverage hierarchy.</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CD-004</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Rep codes are party identifiers owned here; Sales Transactions &amp; AUM Attribution owns the crosswalk.</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CD-018</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Add a platform nominee account type for UK and EU distribution.</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GAP-02-008</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How to key UK pension schemes, which have no sponsor EIN and plan number.</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Validate the families, party roles and 101 proposed critical data elements with Distribution, Institutional, DCIO, Compliance and Privacy</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attributes to source systems: CRM, vendor feeds, transfer agent and NSCC files, the KYC tool and the consent platform (Phase D)</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networking level definitions and dealer number conventions with the transfer agent</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Have the Data Protection Officer review personal data flags, look-through data and lawful bases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22 open gaps, starting with the seven high-priority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 &amp; Customer taxonomy walkthrough</dc:title>
  <dc:subject>PptxGenJS Presentation</dc:subject>
  <dc:creator>Distribution Data Taxonomy Program</dc:creator>
  <cp:lastModifiedBy>Distribution Data Taxonomy Program</cp:lastModifiedBy>
  <cp:revision>1</cp:revision>
  <dcterms:created xsi:type="dcterms:W3CDTF">2026-10-05T13:21:30Z</dcterms:created>
  <dcterms:modified xsi:type="dcterms:W3CDTF">2026-10-05T13:21:30Z</dcterms:modified>
</cp:coreProperties>
</file>