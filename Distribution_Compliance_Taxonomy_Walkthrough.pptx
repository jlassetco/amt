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0063aa39-02a7-cc2f-6511-efafbae9191e}">
          <p14:sldIdLst>
            <p14:sldId id="256"/>
            <p14:sldId id="257"/>
            <p14:sldId id="258"/>
            <p14:sldId id="259"/>
          </p14:sldIdLst>
        </p14:section>
        <p14:section name="What is included" id="{7f6dff2b-2a1c-e4b4-a043-274264478d4a}">
          <p14:sldIdLst>
            <p14:sldId id="260"/>
            <p14:sldId id="261"/>
            <p14:sldId id="262"/>
            <p14:sldId id="263"/>
            <p14:sldId id="264"/>
          </p14:sldIdLst>
        </p14:section>
        <p14:section name="What is excluded" id="{ae687935-80e5-512e-81dc-1868cd2f12a3}">
          <p14:sldIdLst>
            <p14:sldId id="265"/>
            <p14:sldId id="266"/>
            <p14:sldId id="267"/>
          </p14:sldIdLst>
        </p14:section>
        <p14:section name="How it is used" id="{2d9c1612-37ad-912a-09c5-50faae68d4ba}">
          <p14:sldIdLst>
            <p14:sldId id="268"/>
            <p14:sldId id="269"/>
          </p14:sldIdLst>
        </p14:section>
        <p14:section name="Data products" id="{a905a172-31db-7ead-7208-3f52f67fbbb0}">
          <p14:sldIdLst>
            <p14:sldId id="270"/>
            <p14:sldId id="271"/>
            <p14:sldId id="272"/>
            <p14:sldId id="273"/>
            <p14:sldId id="274"/>
          </p14:sldIdLst>
        </p14:section>
        <p14:section name="Next steps" id="{2fc25def-186d-9705-0694-af78e9730920}">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Sheet1!$A$2:$A$7</c:f>
              <c:multiLvlStrCache>
                <c:ptCount val="6"/>
                <c:lvl>
                  <c:pt idx="0">
                    <c:v>Internal (firm-defined)</c:v>
                  </c:pt>
                  <c:pt idx="1">
                    <c:v>FINRA rules and forms</c:v>
                  </c:pt>
                  <c:pt idx="2">
                    <c:v>FCA Handbook and FSMA</c:v>
                  </c:pt>
                  <c:pt idx="3">
                    <c:v>EU directives and ESMA</c:v>
                  </c:pt>
                  <c:pt idx="4">
                    <c:v>SEC rules and forms</c:v>
                  </c:pt>
                  <c:pt idx="5">
                    <c:v>Other standards and regulation</c:v>
                  </c:pt>
                </c:lvl>
              </c:multiLvlStrCache>
            </c:multiLvlStrRef>
          </c:cat>
          <c:val>
            <c:numRef>
              <c:f>Sheet1!$B$2:$B$7</c:f>
              <c:numCache>
                <c:formatCode>General</c:formatCode>
                <c:ptCount val="6"/>
                <c:pt idx="0">
                  <c:v>101</c:v>
                </c:pt>
                <c:pt idx="1">
                  <c:v>61</c:v>
                </c:pt>
                <c:pt idx="2">
                  <c:v>32</c:v>
                </c:pt>
                <c:pt idx="3">
                  <c:v>31</c:v>
                </c:pt>
                <c:pt idx="4">
                  <c:v>29</c:v>
                </c:pt>
                <c:pt idx="5">
                  <c:v>10</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4 of 52)</a:t>
            </a:r>
          </a:p>
        </c:rich>
      </c:tx>
      <c:layout/>
      <c:overlay val="0"/>
    </c:title>
    <c:autoTitleDeleted val="0"/>
    <c:plotArea>
      <c:layout/>
      <c:barChart>
        <c:barDir val="bar"/>
        <c:grouping val="clustered"/>
        <c:varyColors val="0"/>
        <c:ser>
          <c:idx val="0"/>
          <c:order val="0"/>
          <c:tx>
            <c:strRef>
              <c:f>Sheet1!$B$1</c:f>
              <c:strCache>
                <c:ptCount val="1"/>
                <c:pt idx="0">
                  <c:v>Products reading each object (top 4 of 52)</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Sheet1!$A$2:$A$5</c:f>
              <c:multiLvlStrCache>
                <c:ptCount val="4"/>
                <c:lvl>
                  <c:pt idx="0">
                    <c:v>Compliance Review</c:v>
                  </c:pt>
                  <c:pt idx="1">
                    <c:v>Compliance Approval</c:v>
                  </c:pt>
                  <c:pt idx="2">
                    <c:v>Individual Registration</c:v>
                  </c:pt>
                  <c:pt idx="3">
                    <c:v>Complaint</c:v>
                  </c:pt>
                </c:lvl>
              </c:multiLvlStrCache>
            </c:multiLvlStrRef>
          </c:cat>
          <c:val>
            <c:numRef>
              <c:f>Sheet1!$B$2:$B$5</c:f>
              <c:numCache>
                <c:formatCode>General</c:formatCode>
                <c:ptCount val="4"/>
                <c:pt idx="0">
                  <c:v>6</c:v>
                </c:pt>
                <c:pt idx="1">
                  <c:v>6</c:v>
                </c:pt>
                <c:pt idx="2">
                  <c:v>4</c:v>
                </c:pt>
                <c:pt idx="3">
                  <c:v>4</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Distribution Compliance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Distribution Compliance holds the records that show marketing and sales were done within the rules. It covers the review and approval of communications, due diligence on distributors, gifts and entertainment, staff registrations, cross-border marketing filings, complaints, surveillance and the obligations register. The things being judged, such as the content asset, the distributor, the employee, the product and the agreement, stay in their own domains and are referenced by ID. 25 of the 92 specified data products read the domain directly, and it owns 13 of them. None of the 13 is foundational: they are control products built on other domains'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Distribution Compliance is one of 14 domains. It has 10 families, 52 objects and 264 attributes. The purple text shows the path to one attribute, Approval Expiry Date, which we follow to an answer near the end of the deck. It is the date after which a communication must not be used without re-approval. For every attribute the taxonomy records its meaning and its owner.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is built around five compliance masters, each with its own key: the compliance review, the distributor due diligence case, the gift or entertainment item, the complaint and the individual registration. Supporting records such as notifications, alerts, conflicts and attestations carry their own IDs and point to the masters. Every record carries three things. First, the decision and its evidence: who decided what, when and on what basis. Second, a classification under each regime that applies, because one communication can be a FINRA retail communication, an SEC advertisement and an FCA financial promotion at once. Third, references by ID to the asset, party, employee, product or agreement being judged.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10 data families. For this walkthrough they are grouped in three. The spine is what the firm says and who is licensed to say it. The second group is oversight of distributors and of the markets the firm sells into. The third is conduct, complaints, records and the obligations register. The three-way grouping is a presentation aid and is not a level in the taxonomy. The five compliance masters sit across the groups: the review and the registration in the spine, the due diligence case and the gift item in the second group, and the complaint in the third.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79 of the 264 attributes. Communications Review and Approval is the largest family in the domain, with 54 attributes. It records each submission, its classification under the US and the EU and UK regimes, the review steps, the approval decision and any regulatory filing. Licensing and Registration holds the registrations, exams, continuing education and UK certifications of the firm's own sales staff. The two are linked: an approval names the principal and the license under which they approved, and DP-036 flags any approval where no principal registration was active on the decision date. Business objects, in bold, have their own key. Attribute groups are held on their parent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101 attributes. Distributor Due Diligence is know-your-distributor: each review cycle on a distributor firm, with its risk rating, screening, regulatory status checks, findings and outcome. The firm's CRD, LEI and FCA reference numbers stay in Client &amp; Customer; this domain records only the result of verifying them. Product Governance and Distributor Feedback holds what distributors report back on sales against the target market, which itself is owned by Investment Product. Gifts, Entertainment and Inducements values each benefit per recipient and tests it against the annual limit, which FINRA raised from 100 to 300 dollars from 30 March 2026. Cross-Border Marketing and Private Placement holds the notifications, pre-marketing episodes and reverse solicitation records that evidence where a fund may be marketed.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84 attributes. Complaints holds each complaint from receipt to final response: who complained, about which product, distributor, account or communication, the root cause, the outcome, any redress, and the regulatory report it falls into. Sales Practices and Conduct holds how the firm monitors selling by intermediaries: share class and breakpoint alerts, frequent trading cases, the distribution conflicts register and Consumer Duty outcome metrics. Communications Surveillance and Records holds the approved channels, the captured messages and calls, the retention rules and the surveillance alerts. Obligations, Attestations and Data Governance is the smallest family, with 11 attributes. It holds the register of rules each legal entity is subject to, the owner of each rule and the periodic attestations made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rule or standard it is aligned to. 163 of the 264 attributes, 62 percent, align to an external rule, form or industry template. FINRA is the largest external source with 61 attributes, led by Rule 2210 on communications with 17 and Rule 3220 on gifts with 13. The FCA Handbook accounts for 32, EU directives and ESMA guidelines for 31, and SEC rules and forms for 29. 101 attributes are firm-defined, mostly identifiers, workflow statuses and risk ratings where no external definition exists. 94 attributes take their values from a controlled code list. 26 are flagged as personal data, and disclosure events and vulnerability markers may be special-category data under UK and EU privacy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Compliance records the judgment, not the thing judged. This table shows where each excluded subject lives and the small amount this domain keeps so that it can point to it. Three boundaries are worth calling out. Marketing &amp; Digital owns the content asset and its expiry, while this domain owns the approval and the separate approval expiry. Investment Product owns registration-for-sale status and the target market, while this domain owns the filings and feedback that evidence them. And due diligence here means the checks the firm performs on its distributors. Know-your-client checks on investors stay in Client &amp; Customer, and the questionnaires the firm answers for its own clients stay in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213 of the 264 are mastered in Distribution Compliance. 47 are references, which hold only the ID of a record mastered in another domain, and 4 are derived copies. That is a high share, about one attribute in five, and it follows from the design: a compliance record points to the thing it judges. Client &amp; Customer supplies the most, with 16 references to distributors, recipients, investors and accounts. In the other direction, 26 attributes in 8 other domains point to a review, license, gift record or complaint mastered here, led by Sales with 9 and Marketing &amp; Digital with 6. Record Metadata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the data products surfaced 28 gaps against Distribution Compliance. None is resolved yet. 26 are proposed and waiting for a decision, and 2 are partly resolved. None is high priority: 15 are medium and 13 are low. The seven shown here are a selection of the medium ones. Most are the same kind of problem: a record that lacks a date, a parent reference or a child object, so a control has to be inferred or stays a manual attestation. Three ask for a new object. Each gap has a proposed resolution and a decision owner in the gap register; for almost all of them the owner is the Chief Compliance Officer.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compliance source is mapped to: the review workflow tool, FINRA filing and CRD tracking, the gifts and entertainment system, the complaints log and the communications archive. That mapping to the firm's actual systems is Phase D and has not been done. Second, it is the bill of materials for data products: each product lists the exact attributes it uses, and the build fails if one does not exist. Third, where other domains publish shared dimensions, this domain supplies shared control records: 26 attributes in 8 other domains point to a review, license, gift record or complaint held here. Fourth, the ownership flags, the 80 proposed critical data elements and the 26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no foundational product. Its anchor is DP-036, Marketing Communications Review and Filing. It is the register of every communication submitted for compliance review, from submission through review steps, principal approval, regulatory filing, expiry and withdrawal. It takes 58 of its 69 input attributes from this domain, more than any other product, and the remaining 11 from the content asset and asset version in Marketing &amp; Digital. It refreshes daily by 7am Eastern and keeps every review for at least six years from last use. Three other products name it as a direct upstream: Marketing Rule Performance Substantiation, Event and Webinar ROI, and Social Media and Brand Performance. It is also the only product owned by this domain that a semantic model publishes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of the 92 specified data products list Distribution Compliance objects among their inputs: 1 foundational and 24 consumer-aligned. The foundational one is Sales Organization and Coverage, which reads staff registrations. Every one of the 52 objects is used by at least one product, and 259 of the 264 attributes, 98 percent, appear in a product specification. Compliance Review and Compliance Approval are the most used objects, each read by 6 products, followed by Individual Registration and Complaint with 4 each. 19 of the 25 readers are regulatory and control products. That is the nature of the domain: its data is read to prove a control worked, and far less often for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data products have Distribution Compliance as their owning domain. All are consumer-aligned regulatory and control products. This slide shows the first seven. The six from DP-036 to DP-041 are in the first delivery wave and line up with the families: communications review, distributor due diligence, gifts and entertainment, staff licensing, product governance feedback and cross-border eligibility. Cross-Border Distribution Eligibility has the widest reach of the 13, with 6 direct downstream products. DP-060 is a surveillance product. The bar on the right shows how many of each product's input attributes come from this domain. It is low for DP-060, which takes 5 of its 58 attributes from here, because surveillance runs on transactions and positions from other domains and writes its alerts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other six owned products. Complaints and Conduct Analytics brings together complaint volumes, handling times, redress and root causes with conduct indicators. Marketing Rule Performance Substantiation is the evidence pack behind every performance figure in marketing, and it builds directly on DP-036. Inducement and Retrocession Monitoring takes only 2 of its 57 attributes from this domain, because the payments it tests are mastered in Distribution Agreements &amp; Partners and Compensation &amp; Territory. Communications Surveillance and Recordkeeping stores metadata and status only, never message content. The last two are the obligations register with its attestations, and frequent trading surveillance. Six of the 13 owned products have no downstream product; they are read directly by compliance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12 products are owned by other domains but read Distribution Compliance attributes directly. They are grouped here by the business function they serve. Marketing is the largest group: content, event and social media products read the approval status and the approval expiry date so they can show whether material was valid when it was used. Event and Webinar ROI takes the most, 16 attributes, including gift and training meeting records. Product launch and digital gating read the cross-border notifications. Sales Organization and Coverage, a foundational product, reads staff registrations. Because this domain owns no foundational product, there is no further group of products that depend on it only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Approval Expiry Date is defined once in Distribution Compliance, on the Compliance Approval object: the date after which a communication must not be used without re-approval. It is deliberately separate from the content expiry date that Marketing &amp; Digital holds on the asset. DP-036 uses it to flag approved material that is still published after expiry and to count approvals expiring in the next 30 days. DP-026, Content Performance, owned by Marketing &amp; Digital, reads the same date to count uses and views after the approval lapsed. Six products read this one attribute. The semantic model SM-05 Marketing publishes the date from DP-036 and the lapse metric from DP-026, so a content manager and a compliance officer get the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Two need a subject matter expert decision: whether state notice filings and blue-sky registrations belong here or with entity authorizations in Shared &amp; Enterprise Reference Data, and who owns the audience restriction and content type lists that route a review. Two are proposed and waiting for sign-off: where the individual CRD number is held, and whether this domain's retention rules become the enterprise retention schedule. The next steps on the right come from the taxonomy's own plan: validate with the compliance teams, load the regulator code lists, map to source systems in Phase D, confirm the boundary calls with the neighboring domains, and decide the 28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Distribution Compliance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DISTRIBUTION COMPLIANCE</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Distribution Compliance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Review and approval</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may be said, and where</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Distributor oversight</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sells for us, and how</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Evidence and records</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decided what, and when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compliance records,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10</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52</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264</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80</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Review, approval and filing of communications, due diligence on distributors, gifts and inducements, staff registrations, cross-border filings, complaints, surveillance, conduct cases and obligations.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things being judged: content assets, products and target markets, distributor and investor parties, employees, agreements and payments, transactions and positions. All are held by ID only.</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compliance systems, the bill of materials for 13 control products, and the approval, license and complaint records that other domains point to by ID.</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25 of the 92 data products read it directly. It owns 13 of them and none is foundational, so no product depends on it indirectly.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Distribution Compliance</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10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Communications Review &amp; Approval</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52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Compliance Approval</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264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Approval Expiry Date</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record, regime or jurisdiction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Five masters, each carrying its evidence</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IS RECORDED</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EACH RECORD CARRIES</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IT PROVES</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Compliance master</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REV-, DDQ-, GNE-, CPL- and LIC- records</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Supporting record</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Notification, alert, conflict, attestation</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Five masters, each keyed once; supporting records point to them</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Decision and evidence</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Who decided what, when, on what basis</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Regime classification</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One attribute per regime that applies</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References by ID</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Asset, party, employee, product, agreement</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Regulatory evidence</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For FINRA, SEC, FCA and EU regulators</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Statuses, approvals and registrations are effective-dated. Expiry and next-review dates are stored explicitly.</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Evidence first: every record carries who decided what, when and on what basis. The thing being judged, whether an asset, a distributor, an employee, a product or an agreement, is held by ID and stays mastered in its own domain.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10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15 objects  |  79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Communications Review &amp; Approval</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9 objects  |  54 attributes  |  16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Licensing &amp; Registration</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25 attributes  |  9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Distributors and markets</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21 objects  |  101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Distributor Due Diligence</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25 attributes  |  8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Product Governance &amp; Distributor Feedback</a:t>
            </a:r>
            <a:endParaRPr lang="en-US" sz="11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21 attributes  |  5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Gifts, Entertainment &amp; Inducements</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30 attributes  |  9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Cross-Border Marketing &amp; Private Placement</a:t>
            </a:r>
            <a:endParaRPr lang="en-US" sz="11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25 attributes  |  9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Conduct, records and obligations</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16 objects  |  84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Complaints</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25 attributes  |  9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Sales Practices &amp; Conduct</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24 attributes  |  5 critical</a:t>
            </a:r>
            <a:endParaRPr lang="en-US" sz="1100" dirty="0"/>
          </a:p>
        </p:txBody>
      </p:sp>
      <p:sp>
        <p:nvSpPr>
          <p:cNvPr id="38" name="Shape 35"/>
          <p:cNvSpPr/>
          <p:nvPr/>
        </p:nvSpPr>
        <p:spPr>
          <a:xfrm>
            <a:off x="8129016" y="4123944"/>
            <a:ext cx="3511296" cy="612648"/>
          </a:xfrm>
          <a:prstGeom prst="roundRect">
            <a:avLst>
              <a:gd name="adj" fmla="val 11940"/>
            </a:avLst>
          </a:prstGeom>
          <a:solidFill>
            <a:schemeClr val="bg2"/>
          </a:solidFill>
          <a:ln/>
        </p:spPr>
      </p:sp>
      <p:sp>
        <p:nvSpPr>
          <p:cNvPr id="39" name="Text 36"/>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Communications Surveillance &amp; Records</a:t>
            </a:r>
            <a:endParaRPr lang="en-US" sz="1100" dirty="0"/>
          </a:p>
        </p:txBody>
      </p:sp>
      <p:sp>
        <p:nvSpPr>
          <p:cNvPr id="40" name="Text 37"/>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24 attributes  |  6 critical</a:t>
            </a:r>
            <a:endParaRPr lang="en-US" sz="1100" dirty="0"/>
          </a:p>
        </p:txBody>
      </p:sp>
      <p:sp>
        <p:nvSpPr>
          <p:cNvPr id="41" name="Shape 38"/>
          <p:cNvSpPr/>
          <p:nvPr/>
        </p:nvSpPr>
        <p:spPr>
          <a:xfrm>
            <a:off x="8129016" y="4837176"/>
            <a:ext cx="3511296" cy="612648"/>
          </a:xfrm>
          <a:prstGeom prst="roundRect">
            <a:avLst>
              <a:gd name="adj" fmla="val 11940"/>
            </a:avLst>
          </a:prstGeom>
          <a:solidFill>
            <a:schemeClr val="bg2"/>
          </a:solidFill>
          <a:ln/>
        </p:spPr>
      </p:sp>
      <p:sp>
        <p:nvSpPr>
          <p:cNvPr id="42" name="Text 39"/>
          <p:cNvSpPr txBox="1"/>
          <p:nvPr/>
        </p:nvSpPr>
        <p:spPr>
          <a:xfrm>
            <a:off x="8311896" y="4873752"/>
            <a:ext cx="3145536" cy="329184"/>
          </a:xfrm>
          <a:prstGeom prst="rect">
            <a:avLst/>
          </a:prstGeom>
          <a:noFill/>
          <a:ln/>
        </p:spPr>
        <p:txBody>
          <a:bodyPr wrap="square" lIns="0" tIns="0" rIns="0" bIns="0" rtlCol="0" anchor="ctr"/>
          <a:lstStyle/>
          <a:p>
            <a:pPr algn="l" indent="0" marL="0">
              <a:buNone/>
            </a:pPr>
            <a:r>
              <a:rPr lang="en-US" sz="1000" b="1" dirty="0">
                <a:solidFill>
                  <a:schemeClr val="tx1"/>
                </a:solidFill>
              </a:rPr>
              <a:t>Obligations, Attestations &amp; Data Governance</a:t>
            </a:r>
            <a:endParaRPr lang="en-US" sz="1000" dirty="0"/>
          </a:p>
        </p:txBody>
      </p:sp>
      <p:sp>
        <p:nvSpPr>
          <p:cNvPr id="43" name="Text 40"/>
          <p:cNvSpPr txBox="1"/>
          <p:nvPr/>
        </p:nvSpPr>
        <p:spPr>
          <a:xfrm>
            <a:off x="8311896" y="5221224"/>
            <a:ext cx="3145536" cy="182880"/>
          </a:xfrm>
          <a:prstGeom prst="rect">
            <a:avLst/>
          </a:prstGeom>
          <a:noFill/>
          <a:ln/>
        </p:spPr>
        <p:txBody>
          <a:bodyPr wrap="square" lIns="0" tIns="0" rIns="0" bIns="0" rtlCol="0" anchor="ctr"/>
          <a:lstStyle/>
          <a:p>
            <a:pPr algn="l" indent="0" marL="0">
              <a:buNone/>
            </a:pPr>
            <a:r>
              <a:rPr lang="en-US" sz="1000" dirty="0">
                <a:solidFill>
                  <a:schemeClr val="tx2"/>
                </a:solidFill>
              </a:rPr>
              <a:t>2 objects  |  11 attributes  |  4 critical</a:t>
            </a:r>
            <a:endParaRPr lang="en-US" sz="1000" dirty="0"/>
          </a:p>
        </p:txBody>
      </p:sp>
      <p:sp>
        <p:nvSpPr>
          <p:cNvPr id="44" name="Text 41"/>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what we say and who says it</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Communications Review &amp; Approval</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9 objects  |  54 attributes  |  16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Each communication submitted for review: its classification by regime, the approval decision and any filing.</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Compliance Review, </a:t>
            </a:r>
            <a:pPr indent="0" marL="0">
              <a:buNone/>
            </a:pPr>
            <a:r>
              <a:rPr lang="en-US" sz="1300" dirty="0">
                <a:solidFill>
                  <a:schemeClr val="tx1"/>
                </a:solidFill>
              </a:rPr>
              <a:t>US Communication Classification, </a:t>
            </a:r>
            <a:pPr indent="0" marL="0">
              <a:buNone/>
            </a:pPr>
            <a:r>
              <a:rPr lang="en-US" sz="1300" dirty="0">
                <a:solidFill>
                  <a:schemeClr val="tx1"/>
                </a:solidFill>
              </a:rPr>
              <a:t>EU / UK Communication Classification, </a:t>
            </a:r>
            <a:pPr indent="0" marL="0">
              <a:buNone/>
            </a:pPr>
            <a:r>
              <a:rPr lang="en-US" sz="1300" dirty="0">
                <a:solidFill>
                  <a:schemeClr val="tx1"/>
                </a:solidFill>
              </a:rPr>
              <a:t>Compliance Approval, </a:t>
            </a:r>
            <a:pPr indent="0" marL="0">
              <a:buNone/>
            </a:pPr>
            <a:r>
              <a:rPr lang="en-US" sz="1300" dirty="0">
                <a:solidFill>
                  <a:schemeClr val="tx1"/>
                </a:solidFill>
              </a:rPr>
              <a:t>FINRA Advertising Filing, </a:t>
            </a:r>
            <a:pPr indent="0" marL="0">
              <a:buNone/>
            </a:pPr>
            <a:r>
              <a:rPr lang="en-US" sz="1300" dirty="0">
                <a:solidFill>
                  <a:schemeClr val="tx1"/>
                </a:solidFill>
              </a:rPr>
              <a:t>and 4 more</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Review ID, FINRA Communication Category, Approval Status, Approval Expiry Date</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Licensing &amp; Registration</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6 objects  |  25 attributes  |  9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Registrations, exams, continuing education and UK certification of the firm's own sales staff.</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Individual Registration, </a:t>
            </a:r>
            <a:pPr indent="0" marL="0">
              <a:buNone/>
            </a:pPr>
            <a:r>
              <a:rPr lang="en-US" sz="1300" dirty="0">
                <a:solidFill>
                  <a:schemeClr val="tx1"/>
                </a:solidFill>
              </a:rPr>
              <a:t>Exam Result, </a:t>
            </a:r>
            <a:pPr indent="0" marL="0">
              <a:buNone/>
            </a:pPr>
            <a:r>
              <a:rPr lang="en-US" sz="1300" dirty="0">
                <a:solidFill>
                  <a:schemeClr val="tx1"/>
                </a:solidFill>
              </a:rPr>
              <a:t>Registration Filing, </a:t>
            </a:r>
            <a:pPr indent="0" marL="0">
              <a:buNone/>
            </a:pPr>
            <a:r>
              <a:rPr lang="en-US" sz="1300" dirty="0">
                <a:solidFill>
                  <a:schemeClr val="tx1"/>
                </a:solidFill>
              </a:rPr>
              <a:t>Disclosure Event, </a:t>
            </a:r>
            <a:pPr indent="0" marL="0">
              <a:buNone/>
            </a:pPr>
            <a:r>
              <a:rPr lang="en-US" sz="1300" dirty="0">
                <a:solidFill>
                  <a:schemeClr val="tx1"/>
                </a:solidFill>
              </a:rPr>
              <a:t>CE Requirement, </a:t>
            </a:r>
            <a:pPr indent="0" marL="0">
              <a:buNone/>
            </a:pPr>
            <a:r>
              <a:rPr lang="en-US" sz="1300" dirty="0">
                <a:solidFill>
                  <a:schemeClr val="tx1"/>
                </a:solidFill>
              </a:rPr>
              <a:t>Certification &amp; Competence</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License ID, Registration Category, Registration Status, CE Due Date</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record, such as a review, a case or a complaint.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Oversight of distributors and markets</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Distributor Due Diligence</a:t>
                      </a:r>
                      <a:endParaRPr lang="en-US" sz="1200" dirty="0"/>
                    </a:p>
                    <a:p>
                      <a:pPr indent="0" marL="0">
                        <a:buNone/>
                      </a:pPr>
                      <a:r>
                        <a:rPr lang="en-US" sz="1100" dirty="0">
                          <a:solidFill>
                            <a:schemeClr val="tx2"/>
                          </a:solidFill>
                        </a:rPr>
                        <a:t>7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Each review cycle on a distributor: risk rating, screening, status checks, findings, outcome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Distributor Due Diligence, </a:t>
                      </a:r>
                      <a:pPr indent="0" marL="0">
                        <a:buNone/>
                      </a:pPr>
                      <a:r>
                        <a:rPr lang="en-US" sz="1200" dirty="0">
                          <a:solidFill>
                            <a:schemeClr val="tx1"/>
                          </a:solidFill>
                        </a:rPr>
                        <a:t>Distributor Risk Rating, </a:t>
                      </a:r>
                      <a:pPr indent="0" marL="0">
                        <a:buNone/>
                      </a:pPr>
                      <a:r>
                        <a:rPr lang="en-US" sz="1200" dirty="0">
                          <a:solidFill>
                            <a:schemeClr val="tx1"/>
                          </a:solidFill>
                        </a:rPr>
                        <a:t>Screening Result, </a:t>
                      </a:r>
                      <a:pPr indent="0" marL="0">
                        <a:buNone/>
                      </a:pPr>
                      <a:r>
                        <a:rPr lang="en-US" sz="1200" dirty="0">
                          <a:solidFill>
                            <a:schemeClr val="tx1"/>
                          </a:solidFill>
                        </a:rPr>
                        <a:t>Regulatory Status Check, </a:t>
                      </a:r>
                      <a:pPr indent="0" marL="0">
                        <a:buNone/>
                      </a:pPr>
                      <a:r>
                        <a:rPr lang="en-US" sz="1200" dirty="0">
                          <a:solidFill>
                            <a:schemeClr val="tx1"/>
                          </a:solidFill>
                        </a:rPr>
                        <a:t>Due Diligence Finding, </a:t>
                      </a:r>
                      <a:pPr indent="0" marL="0">
                        <a:buNone/>
                      </a:pPr>
                      <a:r>
                        <a:rPr lang="en-US" sz="1200" dirty="0">
                          <a:solidFill>
                            <a:schemeClr val="tx1"/>
                          </a:solidFill>
                        </a:rPr>
                        <a:t>and 2 more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Due Diligence ID, Residual Risk Rating, Screening Result, Next Review Due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Product Governance &amp; Distributor Feedback</a:t>
                      </a:r>
                      <a:endParaRPr lang="en-US" sz="1200" dirty="0"/>
                    </a:p>
                    <a:p>
                      <a:pPr indent="0" marL="0">
                        <a:buNone/>
                      </a:pPr>
                      <a:r>
                        <a:rPr lang="en-US" sz="1100" dirty="0">
                          <a:solidFill>
                            <a:schemeClr val="tx2"/>
                          </a:solidFill>
                        </a:rPr>
                        <a:t>4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Distributor feedback on sales against the target market, and Consumer Duty information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Distributor Feedback Report, </a:t>
                      </a:r>
                      <a:pPr indent="0" marL="0">
                        <a:buNone/>
                      </a:pPr>
                      <a:r>
                        <a:rPr lang="en-US" sz="1200" dirty="0">
                          <a:solidFill>
                            <a:schemeClr val="tx1"/>
                          </a:solidFill>
                        </a:rPr>
                        <a:t>Sales Against Target Market, </a:t>
                      </a:r>
                      <a:pPr indent="0" marL="0">
                        <a:buNone/>
                      </a:pPr>
                      <a:r>
                        <a:rPr lang="en-US" sz="1200" b="1" dirty="0">
                          <a:solidFill>
                            <a:schemeClr val="tx1"/>
                          </a:solidFill>
                        </a:rPr>
                        <a:t>Distribution Chain Information Exchange, </a:t>
                      </a:r>
                      <a:pPr indent="0" marL="0">
                        <a:buNone/>
                      </a:pPr>
                      <a:r>
                        <a:rPr lang="en-US" sz="1200" b="1" dirty="0">
                          <a:solidFill>
                            <a:schemeClr val="tx1"/>
                          </a:solidFill>
                        </a:rPr>
                        <a:t>Distribution Review Finding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Feedback Template, Volume Outside Target Market, Distribution Strategy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Gifts, Entertainment &amp; Inducements</a:t>
                      </a:r>
                      <a:endParaRPr lang="en-US" sz="1200" dirty="0"/>
                    </a:p>
                    <a:p>
                      <a:pPr indent="0" marL="0">
                        <a:buNone/>
                      </a:pPr>
                      <a:r>
                        <a:rPr lang="en-US" sz="1100" dirty="0">
                          <a:solidFill>
                            <a:schemeClr val="tx2"/>
                          </a:solidFill>
                        </a:rPr>
                        <a:t>6 objects  |  30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Benefits given or received, valued per recipient and tested against limits and inducement rules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Gift / Entertainment Item, </a:t>
                      </a:r>
                      <a:pPr indent="0" marL="0">
                        <a:buNone/>
                      </a:pPr>
                      <a:r>
                        <a:rPr lang="en-US" sz="1200" dirty="0">
                          <a:solidFill>
                            <a:schemeClr val="tx1"/>
                          </a:solidFill>
                        </a:rPr>
                        <a:t>Benefit Valuation, </a:t>
                      </a:r>
                      <a:pPr indent="0" marL="0">
                        <a:buNone/>
                      </a:pPr>
                      <a:r>
                        <a:rPr lang="en-US" sz="1200" dirty="0">
                          <a:solidFill>
                            <a:schemeClr val="tx1"/>
                          </a:solidFill>
                        </a:rPr>
                        <a:t>Training / Education Meeting, </a:t>
                      </a:r>
                      <a:pPr indent="0" marL="0">
                        <a:buNone/>
                      </a:pPr>
                      <a:r>
                        <a:rPr lang="en-US" sz="1200" dirty="0">
                          <a:solidFill>
                            <a:schemeClr val="tx1"/>
                          </a:solidFill>
                        </a:rPr>
                        <a:t>Inducement Assessment, </a:t>
                      </a:r>
                      <a:pPr indent="0" marL="0">
                        <a:buNone/>
                      </a:pPr>
                      <a:r>
                        <a:rPr lang="en-US" sz="1200" dirty="0">
                          <a:solidFill>
                            <a:schemeClr val="tx1"/>
                          </a:solidFill>
                        </a:rPr>
                        <a:t>Special Recipient Flags, </a:t>
                      </a:r>
                      <a:pPr indent="0" marL="0">
                        <a:buNone/>
                      </a:pPr>
                      <a:r>
                        <a:rPr lang="en-US" sz="1200" dirty="0">
                          <a:solidFill>
                            <a:schemeClr val="tx1"/>
                          </a:solidFill>
                        </a:rPr>
                        <a:t>G&amp;E Approval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Benefit Type, Per-Recipient Value, Annual Limit Amount, Limit Breach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Cross-Border Marketing &amp; Private Placement</a:t>
                      </a:r>
                      <a:endParaRPr lang="en-US" sz="1200" dirty="0"/>
                    </a:p>
                    <a:p>
                      <a:pPr indent="0" marL="0">
                        <a:buNone/>
                      </a:pPr>
                      <a:r>
                        <a:rPr lang="en-US" sz="1100" dirty="0">
                          <a:solidFill>
                            <a:schemeClr val="tx2"/>
                          </a:solidFill>
                        </a:rPr>
                        <a:t>4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notifications, pre-marketing, reverse solicitation and private offering records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Cross-Border Marketing Notification, </a:t>
                      </a:r>
                      <a:pPr indent="0" marL="0">
                        <a:buNone/>
                      </a:pPr>
                      <a:r>
                        <a:rPr lang="en-US" sz="1200" b="1" dirty="0">
                          <a:solidFill>
                            <a:schemeClr val="tx1"/>
                          </a:solidFill>
                        </a:rPr>
                        <a:t>Pre-Marketing Episode, </a:t>
                      </a:r>
                      <a:pPr indent="0" marL="0">
                        <a:buNone/>
                      </a:pPr>
                      <a:r>
                        <a:rPr lang="en-US" sz="1200" b="1" dirty="0">
                          <a:solidFill>
                            <a:schemeClr val="tx1"/>
                          </a:solidFill>
                        </a:rPr>
                        <a:t>Reverse Solicitation Record, </a:t>
                      </a:r>
                      <a:pPr indent="0" marL="0">
                        <a:buNone/>
                      </a:pPr>
                      <a:r>
                        <a:rPr lang="en-US" sz="1200" b="1" dirty="0">
                          <a:solidFill>
                            <a:schemeClr val="tx1"/>
                          </a:solidFill>
                        </a:rPr>
                        <a:t>Private Offering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Host Country, Notification Status, Marketing Permitted From, Approach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record, such as a review, a case or a complaint.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Conduct, records and obligations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Complaints</a:t>
                      </a:r>
                      <a:endParaRPr lang="en-US" sz="1200" dirty="0"/>
                    </a:p>
                    <a:p>
                      <a:pPr indent="0" marL="0">
                        <a:buNone/>
                      </a:pPr>
                      <a:r>
                        <a:rPr lang="en-US" sz="1100" dirty="0">
                          <a:solidFill>
                            <a:schemeClr val="tx2"/>
                          </a:solidFill>
                        </a:rPr>
                        <a:t>4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Each complaint from receipt to final response, with root cause, redress and regulatory reporting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Complaint, </a:t>
                      </a:r>
                      <a:pPr indent="0" marL="0">
                        <a:buNone/>
                      </a:pPr>
                      <a:r>
                        <a:rPr lang="en-US" sz="1200" dirty="0">
                          <a:solidFill>
                            <a:schemeClr val="tx1"/>
                          </a:solidFill>
                        </a:rPr>
                        <a:t>Complaint Classification, </a:t>
                      </a:r>
                      <a:pPr indent="0" marL="0">
                        <a:buNone/>
                      </a:pPr>
                      <a:r>
                        <a:rPr lang="en-US" sz="1200" dirty="0">
                          <a:solidFill>
                            <a:schemeClr val="tx1"/>
                          </a:solidFill>
                        </a:rPr>
                        <a:t>Complaint Handling, </a:t>
                      </a:r>
                      <a:pPr indent="0" marL="0">
                        <a:buNone/>
                      </a:pPr>
                      <a:r>
                        <a:rPr lang="en-US" sz="1200" dirty="0">
                          <a:solidFill>
                            <a:schemeClr val="tx1"/>
                          </a:solidFill>
                        </a:rPr>
                        <a:t>Complaint Regulatory Report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Complaint ID, Received Date, Root Cause, Final Response Due Date, Redress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Sales Practices &amp; Conduct</a:t>
                      </a:r>
                      <a:endParaRPr lang="en-US" sz="1200" dirty="0"/>
                    </a:p>
                    <a:p>
                      <a:pPr indent="0" marL="0">
                        <a:buNone/>
                      </a:pPr>
                      <a:r>
                        <a:rPr lang="en-US" sz="1100" dirty="0">
                          <a:solidFill>
                            <a:schemeClr val="tx2"/>
                          </a:solidFill>
                        </a:rPr>
                        <a:t>5 objects  |  24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practice alerts, frequent trading cases, the conflicts register and outcome metrics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Intermediary Information Package, </a:t>
                      </a:r>
                      <a:pPr indent="0" marL="0">
                        <a:buNone/>
                      </a:pPr>
                      <a:r>
                        <a:rPr lang="en-US" sz="1200" b="1" dirty="0">
                          <a:solidFill>
                            <a:schemeClr val="tx1"/>
                          </a:solidFill>
                        </a:rPr>
                        <a:t>Sales Practice Alert, </a:t>
                      </a:r>
                      <a:pPr indent="0" marL="0">
                        <a:buNone/>
                      </a:pPr>
                      <a:r>
                        <a:rPr lang="en-US" sz="1200" b="1" dirty="0">
                          <a:solidFill>
                            <a:schemeClr val="tx1"/>
                          </a:solidFill>
                        </a:rPr>
                        <a:t>Frequent Trading Case, </a:t>
                      </a:r>
                      <a:pPr indent="0" marL="0">
                        <a:buNone/>
                      </a:pPr>
                      <a:r>
                        <a:rPr lang="en-US" sz="1200" b="1" dirty="0">
                          <a:solidFill>
                            <a:schemeClr val="tx1"/>
                          </a:solidFill>
                        </a:rPr>
                        <a:t>Distribution Conflict of Interest, </a:t>
                      </a:r>
                      <a:pPr indent="0" marL="0">
                        <a:buNone/>
                      </a:pPr>
                      <a:r>
                        <a:rPr lang="en-US" sz="1200" b="1" dirty="0">
                          <a:solidFill>
                            <a:schemeClr val="tx1"/>
                          </a:solidFill>
                        </a:rPr>
                        <a:t>Outcome Metric</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Alert Type, Round Trips Count, Conflict Category, Tolerance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Communications Surveillance &amp; Records</a:t>
                      </a:r>
                      <a:endParaRPr lang="en-US" sz="1200" dirty="0"/>
                    </a:p>
                    <a:p>
                      <a:pPr indent="0" marL="0">
                        <a:buNone/>
                      </a:pPr>
                      <a:r>
                        <a:rPr lang="en-US" sz="1100" dirty="0">
                          <a:solidFill>
                            <a:schemeClr val="tx2"/>
                          </a:solidFill>
                        </a:rPr>
                        <a:t>5 objects  |  24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Approved channels, captured messages and calls, their retention rules, and surveillance alerts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Approved Communication Channel, </a:t>
                      </a:r>
                      <a:pPr indent="0" marL="0">
                        <a:buNone/>
                      </a:pPr>
                      <a:r>
                        <a:rPr lang="en-US" sz="1200" b="1" dirty="0">
                          <a:solidFill>
                            <a:schemeClr val="tx1"/>
                          </a:solidFill>
                        </a:rPr>
                        <a:t>Captured Communication Record, </a:t>
                      </a:r>
                      <a:pPr indent="0" marL="0">
                        <a:buNone/>
                      </a:pPr>
                      <a:r>
                        <a:rPr lang="en-US" sz="1200" b="1" dirty="0">
                          <a:solidFill>
                            <a:schemeClr val="tx1"/>
                          </a:solidFill>
                        </a:rPr>
                        <a:t>Retention Rule, </a:t>
                      </a:r>
                      <a:pPr indent="0" marL="0">
                        <a:buNone/>
                      </a:pPr>
                      <a:r>
                        <a:rPr lang="en-US" sz="1200" b="1" dirty="0">
                          <a:solidFill>
                            <a:schemeClr val="tx1"/>
                          </a:solidFill>
                        </a:rPr>
                        <a:t>Surveillance Alert, </a:t>
                      </a:r>
                      <a:pPr indent="0" marL="0">
                        <a:buNone/>
                      </a:pPr>
                      <a:r>
                        <a:rPr lang="en-US" sz="1200" b="1" dirty="0">
                          <a:solidFill>
                            <a:schemeClr val="tx1"/>
                          </a:solidFill>
                        </a:rPr>
                        <a:t>Social Media 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Channel Type, Retention Period (Years), Legal Hold Indicator, Alert Disposition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Obligations, Attestations &amp; Data Governance</a:t>
                      </a:r>
                      <a:endParaRPr lang="en-US" sz="1200" dirty="0"/>
                    </a:p>
                    <a:p>
                      <a:pPr indent="0" marL="0">
                        <a:buNone/>
                      </a:pPr>
                      <a:r>
                        <a:rPr lang="en-US" sz="1100" dirty="0">
                          <a:solidFill>
                            <a:schemeClr val="tx2"/>
                          </a:solidFill>
                        </a:rPr>
                        <a:t>2 objects  |  11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rules each legal entity is subject to, their owners, and periodic attestations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Regulatory Obligation, </a:t>
                      </a:r>
                      <a:pPr indent="0" marL="0">
                        <a:buNone/>
                      </a:pPr>
                      <a:r>
                        <a:rPr lang="en-US" sz="1200" b="1" dirty="0">
                          <a:solidFill>
                            <a:schemeClr val="tx1"/>
                          </a:solidFill>
                        </a:rPr>
                        <a:t>Attestation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Rule Citation, Obligation Owner, Attestation Type, Attestation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record, such as a review, a case or a complaint.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the rules it must evidence</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EU includes AIFMD, the cross-border distribution regulation, UCITS and MiFID II. Other is FinDatEx EFT, ERISA and OFAC.</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62%</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(163 of 264) align to an external rule, form or industry template</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94</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80</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critical data elements, 30 percent of the domain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Marketing content assets, versions and content expiry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review, the approving principal, the approval code, approval expiry and withdrawal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Target market and registration-for-sale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notification and pre-marketing filings, and distributor feedback on 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Distributor firms and their CRD, LEI and FRN identifiers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Only the result of verification: the register checked and whether authorization was verified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KYC and AML checks on clients and end investors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Due diligence on distributors, with their screening results and risk rating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Selling, revenue-sharing and sponsorship agreements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inducement assessment and the conflict entry, both pointing to the agreement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RFP and DDQ responses the firm gives to clients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Nothing. Here, due diligence means checks the firm performs on its distributors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positions and data feeds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Alerts, cases and complaints that point to the transaction or account concerned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Employees and the firm's own legal entities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Shared &amp; Enterprise Reference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registrations and certifications each employee holds, and who approved what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213 attributes mastered, 51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213</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264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47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16 references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Distributor firms, gift recipients, investors approached, complainants, regulators and accounts</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11 references, 3 copies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Employees who submit, review, approve, give and attest; the firm's own legal entities</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 1 copy</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Products and share classes featured, notified, requested, complained about or fed back on</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Agreements &amp; Partners</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Governing, sponsorship and shareholder information agreements; payment arrangements</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Marketing &amp; Digital</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5 references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content asset under review, its campaign, and the events behind gifts and meetings</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transaction behind a complaint or alert, and the data feed behind a feedback report</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26 attributes in 8 other domains point to a review, license, gift record or complaint mastered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28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28</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0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28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0 high, 15 medium, 13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GAP-08-001</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Outcome Metric has no product, share class, distributor or measurement period (DP-040, DP-061)</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GAP-08-002</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Compliance Review does not name the asset version it reviewed or its retention rule (DP-058, DP-062)</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GAP-08-004</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object for a fraud case or suspicious activity referral behind an account restriction (DP-085)</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GAP-08-008</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object for the performance figures shown in a communication, so those tests stay manual (DP-062)</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GAP-08-010</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Inducement Assessment is held on a gift item but is also used for payment arrangements (DP-065)</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GAP-08-011</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Captured Communication Record has no channel type, capture source or employee link (DP-078)</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GAP-08-014</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mapping of sales roles to the registrations and exams they require (DP-039)</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Review workflow, FINRA filing, CRD tracking, G&amp;E, complaints and archive tools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control record</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Other domains point to the review, license, gift record and complaint by ID. DP-036 is the one owned product published in a semantic model so far, SM-05.</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80 proposed critical data elements and 26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Compliance systems and registers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100" b="1" dirty="0">
                <a:solidFill>
                  <a:schemeClr val="bg1"/>
                </a:solidFill>
              </a:rPr>
              <a:t>Distribution Compliance definitions</a:t>
            </a:r>
            <a:endParaRPr lang="en-US" sz="11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DP-036 and 12 more owned products</a:t>
            </a:r>
            <a:endParaRPr lang="en-US" sz="11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12 reader products in other domains</a:t>
            </a:r>
            <a:endParaRPr lang="en-US" sz="11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Semantic models (SM-05 Marketing)</a:t>
            </a:r>
            <a:endParaRPr lang="en-US" sz="11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exams,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ANCHOR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register of every communication reviewed</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DP-036</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Marketing Communications Review &amp; Filing</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Consumer-aligned  |  Regulatory &amp; Control  |  Owner: Head of Marketing Compliance</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compliance review and asset version, with child rows for each review step and each filing submission</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58 of its 69 attributes come from 10 of this domain's 52 objects. The other 11 are the asset and asset version from Marketing &amp; Digital</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7am Eastern each business day, covering decisions and filings to the prior day's close</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Every review, step, decision and filing kept for at least six years from last use. Approval and status changes keep full history</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Contains personal data: it names the employees who submit, review and approve</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3</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name DP-036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58 of 69</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of its input attributes come from this domain</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approved review has an approving principal, an approval code and an approval expiry date</a:t>
            </a:r>
            <a:endParaRPr lang="en-US" sz="1300" dirty="0"/>
          </a:p>
          <a:p>
            <a:pPr marL="177800" indent="-177800">
              <a:spcAft>
                <a:spcPts val="600"/>
              </a:spcAft>
              <a:buSzPct val="100000"/>
              <a:buChar char="•"/>
            </a:pPr>
            <a:r>
              <a:rPr lang="en-US" sz="1300" dirty="0">
                <a:solidFill>
                  <a:schemeClr val="tx1"/>
                </a:solidFill>
              </a:rPr>
              <a:t>The approval decision date is on or after the submission timestamp</a:t>
            </a:r>
            <a:endParaRPr lang="en-US" sz="1300" dirty="0"/>
          </a:p>
          <a:p>
            <a:pPr marL="177800" indent="-177800">
              <a:spcAft>
                <a:spcPts val="600"/>
              </a:spcAft>
              <a:buSzPct val="100000"/>
              <a:buChar char="•"/>
            </a:pPr>
            <a:r>
              <a:rPr lang="en-US" sz="1300" dirty="0">
                <a:solidFill>
                  <a:schemeClr val="tx1"/>
                </a:solidFill>
              </a:rPr>
              <a:t>Every review with a FINRA filing requirement has a filing due date</a:t>
            </a:r>
            <a:endParaRPr lang="en-US" sz="1300" dirty="0"/>
          </a:p>
          <a:p>
            <a:pPr marL="177800" indent="-177800">
              <a:spcAft>
                <a:spcPts val="600"/>
              </a:spcAft>
              <a:buSzPct val="100000"/>
              <a:buChar char="•"/>
            </a:pPr>
            <a:r>
              <a:rPr lang="en-US" sz="1300" dirty="0">
                <a:solidFill>
                  <a:schemeClr val="tx1"/>
                </a:solidFill>
              </a:rPr>
              <a:t>The approval status mirrored on the marketing asset matches this domain's status on every run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25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25</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1 foundational and 24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52 of 52</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98%</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(259 of 264)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19</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regulatory and control products, the largest group of the 25</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19 regulatory and control, 4 analytical, 1 master and reference, 1 operational.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Thirteen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341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DP-036</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Marketing Communications Review &amp; Filing</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Register of every communication reviewed, from submission to approval, filing and expiry.</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1152939"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58 of 69</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56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DP-037</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Know-Your-Distributor Oversight</a:t>
            </a:r>
            <a:endParaRPr lang="en-US" sz="13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Due diligence cases and risk ratings for every distributor, with the assets held through each.</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685800"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25 of 50</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0420"/>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DP-038</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Gifts, Entertainment &amp; Non-Cash Compensation</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Gifts, entertainment and training meetings, valued per recipient and tested against limits.</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883920"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29 of 45</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3924"/>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DP-039</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Sales Personnel Registration &amp; Licensing</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Registrations, exams, continuing education and certificates of the firm's own sales staff.</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635000"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25 of 54</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67428"/>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DP-040</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Product Governance &amp; Target Market Feedback</a:t>
            </a:r>
            <a:endParaRPr lang="en-US" sz="13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Distributor feedback on sales against target market, with complaints and outcome metrics.</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707231"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33 of 64</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093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DP-041</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Cross-Border Distribution Eligibility</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EU / UK Cross-Border Distribution</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Daily matrix of where each share class may be marketed, and to which investor types.</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427512"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24 of 77</a:t>
            </a:r>
            <a:endParaRPr lang="en-US" sz="1200" dirty="0"/>
          </a:p>
        </p:txBody>
      </p:sp>
      <p:sp>
        <p:nvSpPr>
          <p:cNvPr id="54" name="Shape 51"/>
          <p:cNvSpPr/>
          <p:nvPr/>
        </p:nvSpPr>
        <p:spPr>
          <a:xfrm>
            <a:off x="548640" y="5678424"/>
            <a:ext cx="11091672" cy="530352"/>
          </a:xfrm>
          <a:prstGeom prst="roundRect">
            <a:avLst>
              <a:gd name="adj" fmla="val 13793"/>
            </a:avLst>
          </a:prstGeom>
          <a:solidFill>
            <a:schemeClr val="bg2"/>
          </a:solidFill>
          <a:ln/>
        </p:spPr>
      </p:sp>
      <p:sp>
        <p:nvSpPr>
          <p:cNvPr id="55" name="Text 52"/>
          <p:cNvSpPr/>
          <p:nvPr/>
        </p:nvSpPr>
        <p:spPr>
          <a:xfrm>
            <a:off x="731520" y="57744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DP-060</a:t>
            </a:r>
            <a:endParaRPr lang="en-US" sz="1200" dirty="0"/>
          </a:p>
        </p:txBody>
      </p:sp>
      <p:sp>
        <p:nvSpPr>
          <p:cNvPr id="56" name="Text 53"/>
          <p:cNvSpPr txBox="1"/>
          <p:nvPr/>
        </p:nvSpPr>
        <p:spPr>
          <a:xfrm>
            <a:off x="1828800" y="5724144"/>
            <a:ext cx="3931920" cy="256032"/>
          </a:xfrm>
          <a:prstGeom prst="rect">
            <a:avLst/>
          </a:prstGeom>
          <a:noFill/>
          <a:ln/>
        </p:spPr>
        <p:txBody>
          <a:bodyPr wrap="square" lIns="0" tIns="0" rIns="0" bIns="0" rtlCol="0" anchor="ctr"/>
          <a:lstStyle/>
          <a:p>
            <a:pPr algn="l" indent="0" marL="0">
              <a:buNone/>
            </a:pPr>
            <a:r>
              <a:rPr lang="en-US" sz="1100" b="1" dirty="0">
                <a:solidFill>
                  <a:schemeClr val="tx1"/>
                </a:solidFill>
              </a:rPr>
              <a:t>Share Class Eligibility &amp; Breakpoint Monitoring</a:t>
            </a:r>
            <a:endParaRPr lang="en-US" sz="1100" dirty="0"/>
          </a:p>
        </p:txBody>
      </p:sp>
      <p:sp>
        <p:nvSpPr>
          <p:cNvPr id="57" name="Text 54"/>
          <p:cNvSpPr txBox="1"/>
          <p:nvPr/>
        </p:nvSpPr>
        <p:spPr>
          <a:xfrm>
            <a:off x="1828800" y="598017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58" name="Text 55"/>
          <p:cNvSpPr txBox="1"/>
          <p:nvPr/>
        </p:nvSpPr>
        <p:spPr>
          <a:xfrm>
            <a:off x="5897880" y="567842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Alerts on missed breakpoints and share class selection in load fund purchases and holdings.</a:t>
            </a:r>
            <a:endParaRPr lang="en-US" sz="1100" dirty="0"/>
          </a:p>
        </p:txBody>
      </p:sp>
      <p:sp>
        <p:nvSpPr>
          <p:cNvPr id="59" name="Shape 56"/>
          <p:cNvSpPr/>
          <p:nvPr/>
        </p:nvSpPr>
        <p:spPr>
          <a:xfrm>
            <a:off x="9326880" y="5879592"/>
            <a:ext cx="1371600" cy="128016"/>
          </a:xfrm>
          <a:prstGeom prst="rect">
            <a:avLst/>
          </a:prstGeom>
          <a:solidFill>
            <a:schemeClr val="bg1"/>
          </a:solidFill>
          <a:ln/>
        </p:spPr>
      </p:sp>
      <p:sp>
        <p:nvSpPr>
          <p:cNvPr id="60" name="Shape 57"/>
          <p:cNvSpPr/>
          <p:nvPr/>
        </p:nvSpPr>
        <p:spPr>
          <a:xfrm>
            <a:off x="9326880" y="5879592"/>
            <a:ext cx="118241" cy="128016"/>
          </a:xfrm>
          <a:prstGeom prst="rect">
            <a:avLst/>
          </a:prstGeom>
          <a:solidFill>
            <a:schemeClr val="accent1"/>
          </a:solidFill>
          <a:ln/>
        </p:spPr>
      </p:sp>
      <p:sp>
        <p:nvSpPr>
          <p:cNvPr id="61" name="Text 58"/>
          <p:cNvSpPr txBox="1"/>
          <p:nvPr/>
        </p:nvSpPr>
        <p:spPr>
          <a:xfrm>
            <a:off x="10789920" y="567842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 of 58</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 CONTINUED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Thirteen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341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DP-061</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Complaints &amp; Conduct Analytics</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Complaint volumes, rates, timeliness, redress and root causes, with conduct indicators.</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644236"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31 of 66</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56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DP-062</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Marketing Rule Performance Substantiation</a:t>
            </a:r>
            <a:endParaRPr lang="en-US" sz="13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Evidence pack behind each performance presentation: type, gross and net, as-of date, records.</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593678"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29 of 67</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0420"/>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DP-065</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Inducement &amp; Retrocession Monitoring (EU/UK)</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EU / UK Cross-Border Distribution</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Retrocessions and trail paid to EU and UK distributors, by the basis that permits each.</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48126"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 of 57</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3924"/>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DP-078</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Communications Surveillance &amp; Recordkeeping</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Evidence that business communications are captured, retained and supervised.</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634621"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31 of 67</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67428"/>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DP-083</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Regulatory Obligations, Attestations &amp; Horizon</a:t>
            </a:r>
            <a:endParaRPr lang="en-US" sz="13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Obligations by legal entity with their owners, attestations and upcoming rule changes.</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260131"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11 of 58</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093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DP-084</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Frequent Trading &amp; Market Timing Surveillance</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Round-trip and excessive trading tested against each fund's frequent trading policy.</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96592"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 of 71</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12 more rely on it for compliance status</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Marketing content, events and social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DP-026, DP-051, DP-090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Approval status, decision, expiry and withdrawal dates; gift and training meeting records; complaints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launch and digital gating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DP-058, DP-087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Cross-border marketing notifications by host country, and approvals of launch materials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Sales organization and wholesaler expense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DP-009, DP-057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Individual registrations of sales staff; gift and entertainment items with their total cost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Partner agreements and disclosure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DP-063, DP-081</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conflicts, intermediary information packages, and due diligence cases by agreement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Client restrictions and privacy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DP-077, DP-080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Due diligence status and outcome for each distributor; retention rules by record class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Shareholder servicing oversight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DP-043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Complaints by product and distributor, with their category and root cause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This domain owns no foundational product, so no product depends on it only indirectly. All 25 readers take its objects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date, followed to a control</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Approval Expiry Date</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Compliance Approval object: the date after which a communication needs re-approval.</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ANCHOR</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DP-036</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Flags approved material still published after expiry, and counts approvals expiring in the next 30 days.</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READER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DP-026</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Content Performance, owned by Marketing &amp; Digital, reads the same date to count uses after approval lapsed.</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SM-05 Marketing</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the date from DP-036 and the metric Content Use After Approval Lapse from DP-026.</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“Was any content used after its approval expired or was withdrawn?”</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Use After Approval Lapse  =  uses and views after the Approval Expiry Date or Withdrawal Date</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Content expiry is mastered in Marketing &amp; Digital. Distribution Compliance supplies the approval, its expiry and its withdrawal.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CD-064</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state notice filings and blue-sky registrations stay here or move to entity authorizations. Needs an SME decision.</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CD-074</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owns the audience restriction and content type lists that route a review. Recommended: Marketing &amp; Digital. Needs an SME decision.</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CD-001</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The CRD number of the firm's own staff is held on the registration record here; Client &amp; Customer holds it for external advisors.</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CD-062</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Make this domain's retention rules the enterprise records retention schedule that other domains reference.</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Walk through the 80 proposed critical data elements and code lists with US advertising compliance, EMEA compliance and FINRA principals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Load the FINRA Rule 4530 product and problem codes and the FCA complaints return categories in full</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each attribute to its source system: review workflow, FINRA Gateway, CRD tracking, G&amp;E, complaints, archive and distributor oversight</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the boundary calls with the owners of Investment Product, Sales, Marketing &amp; Digital and Distribution Agreements &amp; Partners</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28 open gaps, starting with the 15 medium-priority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Distribution Compliance taxonomy walkthrough</dc:title>
  <dc:subject>PptxGenJS Presentation</dc:subject>
  <dc:creator>Distribution Data Taxonomy Program</dc:creator>
  <cp:lastModifiedBy>Distribution Data Taxonomy Program</cp:lastModifiedBy>
  <cp:revision>1</cp:revision>
  <dcterms:created xsi:type="dcterms:W3CDTF">2026-10-05T13:40:38Z</dcterms:created>
  <dcterms:modified xsi:type="dcterms:W3CDTF">2026-10-05T13:40:38Z</dcterms:modified>
</cp:coreProperties>
</file>