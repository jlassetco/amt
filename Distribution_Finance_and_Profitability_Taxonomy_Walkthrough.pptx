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9f24c622-abf3-cfe7-34fc-4d648688de2b}">
          <p14:sldIdLst>
            <p14:sldId id="256"/>
            <p14:sldId id="257"/>
            <p14:sldId id="258"/>
            <p14:sldId id="259"/>
          </p14:sldIdLst>
        </p14:section>
        <p14:section name="What is included" id="{74fcb0cb-a266-640b-dc0f-cc2474de612d}">
          <p14:sldIdLst>
            <p14:sldId id="260"/>
            <p14:sldId id="261"/>
            <p14:sldId id="262"/>
            <p14:sldId id="263"/>
            <p14:sldId id="264"/>
          </p14:sldIdLst>
        </p14:section>
        <p14:section name="What is excluded" id="{7dc749b2-77fc-844b-bc19-63ab93cd66ea}">
          <p14:sldIdLst>
            <p14:sldId id="265"/>
            <p14:sldId id="266"/>
            <p14:sldId id="267"/>
          </p14:sldIdLst>
        </p14:section>
        <p14:section name="How it is used" id="{a3f40528-5d3d-d3e1-a0c7-bb85ea471c74}">
          <p14:sldIdLst>
            <p14:sldId id="268"/>
            <p14:sldId id="269"/>
          </p14:sldIdLst>
        </p14:section>
        <p14:section name="Data products" id="{9baecd56-ed84-6817-02db-0b5ff06844ad}">
          <p14:sldIdLst>
            <p14:sldId id="270"/>
            <p14:sldId id="271"/>
            <p14:sldId id="272"/>
            <p14:sldId id="273"/>
          </p14:sldIdLst>
        </p14:section>
        <p14:section name="Next steps" id="{010c8883-e006-2ac6-a5e4-914c1eac8f78}">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Attributes by primary reference standard</a:t>
            </a:r>
          </a:p>
        </c:rich>
      </c:tx>
      <c:layout/>
      <c:overlay val="0"/>
    </c:title>
    <c:autoTitleDeleted val="0"/>
    <c:plotArea>
      <c:layout/>
      <c:barChart>
        <c:barDir val="bar"/>
        <c:grouping val="clustered"/>
        <c:varyColors val="0"/>
        <c:ser>
          <c:idx val="0"/>
          <c:order val="0"/>
          <c:tx>
            <c:strRef>
              <c:f>Sheet1!$B$1</c:f>
              <c:strCache>
                <c:ptCount val="1"/>
                <c:pt idx="0">
                  <c:v>Attributes by primary reference standard</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Sheet1!$A$2:$A$8</c:f>
              <c:multiLvlStrCache>
                <c:ptCount val="7"/>
                <c:lvl>
                  <c:pt idx="0">
                    <c:v>Internal (firm-defined)</c:v>
                  </c:pt>
                  <c:pt idx="1">
                    <c:v>ASC 606 (revenue)</c:v>
                  </c:pt>
                  <c:pt idx="2">
                    <c:v>ASC 340-40 (contract costs)</c:v>
                  </c:pt>
                  <c:pt idx="3">
                    <c:v>OECD Transfer Pricing Guidelines</c:v>
                  </c:pt>
                  <c:pt idx="4">
                    <c:v>AICPA Revenue Recognition Guide</c:v>
                  </c:pt>
                  <c:pt idx="5">
                    <c:v>Time-driven ABC (TDABC)</c:v>
                  </c:pt>
                  <c:pt idx="6">
                    <c:v>Other standards and regulation</c:v>
                  </c:pt>
                </c:lvl>
              </c:multiLvlStrCache>
            </c:multiLvlStrRef>
          </c:cat>
          <c:val>
            <c:numRef>
              <c:f>Sheet1!$B$2:$B$8</c:f>
              <c:numCache>
                <c:formatCode>General</c:formatCode>
                <c:ptCount val="7"/>
                <c:pt idx="0">
                  <c:v>174</c:v>
                </c:pt>
                <c:pt idx="1">
                  <c:v>16</c:v>
                </c:pt>
                <c:pt idx="2">
                  <c:v>11</c:v>
                </c:pt>
                <c:pt idx="3">
                  <c:v>9</c:v>
                </c:pt>
                <c:pt idx="4">
                  <c:v>5</c:v>
                </c:pt>
                <c:pt idx="5">
                  <c:v>5</c:v>
                </c:pt>
                <c:pt idx="6">
                  <c:v>16</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Products reading each object (top 8 of 35)</a:t>
            </a:r>
          </a:p>
        </c:rich>
      </c:tx>
      <c:layout/>
      <c:overlay val="0"/>
    </c:title>
    <c:autoTitleDeleted val="0"/>
    <c:plotArea>
      <c:layout/>
      <c:barChart>
        <c:barDir val="bar"/>
        <c:grouping val="clustered"/>
        <c:varyColors val="0"/>
        <c:ser>
          <c:idx val="0"/>
          <c:order val="0"/>
          <c:tx>
            <c:strRef>
              <c:f>Sheet1!$B$1</c:f>
              <c:strCache>
                <c:ptCount val="1"/>
                <c:pt idx="0">
                  <c:v>Products reading each object (top 8 of 35)</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Sheet1!$A$2:$A$9</c:f>
              <c:multiLvlStrCache>
                <c:ptCount val="8"/>
                <c:lvl>
                  <c:pt idx="0">
                    <c:v>Distribution Cost Item</c:v>
                  </c:pt>
                  <c:pt idx="1">
                    <c:v>Fee Revenue Record</c:v>
                  </c:pt>
                  <c:pt idx="2">
                    <c:v>Distribution Revenue Record</c:v>
                  </c:pt>
                  <c:pt idx="3">
                    <c:v>GL Posting</c:v>
                  </c:pt>
                  <c:pt idx="4">
                    <c:v>Profitability Record</c:v>
                  </c:pt>
                  <c:pt idx="5">
                    <c:v>Profitability Measure</c:v>
                  </c:pt>
                  <c:pt idx="6">
                    <c:v>Plan Version</c:v>
                  </c:pt>
                  <c:pt idx="7">
                    <c:v>Accounting Period Status</c:v>
                  </c:pt>
                </c:lvl>
              </c:multiLvlStrCache>
            </c:multiLvlStrRef>
          </c:cat>
          <c:val>
            <c:numRef>
              <c:f>Sheet1!$B$2:$B$9</c:f>
              <c:numCache>
                <c:formatCode>General</c:formatCode>
                <c:ptCount val="8"/>
                <c:pt idx="0">
                  <c:v>11</c:v>
                </c:pt>
                <c:pt idx="1">
                  <c:v>9</c:v>
                </c:pt>
                <c:pt idx="2">
                  <c:v>5</c:v>
                </c:pt>
                <c:pt idx="3">
                  <c:v>4</c:v>
                </c:pt>
                <c:pt idx="4">
                  <c:v>3</c:v>
                </c:pt>
                <c:pt idx="5">
                  <c:v>3</c:v>
                </c:pt>
                <c:pt idx="6">
                  <c:v>3</c:v>
                </c:pt>
                <c:pt idx="7">
                  <c:v>3</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Distribution Finance &amp; Profitability data domain. It answers four questions: what is in the domain, what is deliberately left out, how the taxonomy is used, and which data products it helps define. All counts come from the current drafts of the taxonomy, the data product specifications and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 version. Distribution Finance &amp; Profitability is the finance view of distribution. It records what distribution earns, what it costs, and how profitable each channel, partner firm, product, territory and client is after cost allocation. It does not recalculate what other domains calculate. Partner payments, sales compensation and campaign spend are referenced by ID, and this domain adds the accounting. 19 of the 92 specified data products read the domain directly, and 15 of the other 91 depend on its foundational revenue product, DP-012, directly or indirectly.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has four levels: data domain, data family, business object and attribute. Distribution Finance &amp; Profitability is one of 14 domains. It has 11 families, 35 business objects and 236 attributes. The purple text shows the path to one attribute, Net Fee Revenue, which we follow to an answer near the end of the deck. For every attribute the taxonomy records its meaning, its data type, its owner and the standard it aligns to. It does not hold data values, ledger balances or system field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revenue side starts with a revenue contract: the advisory agreement with a fund, or the investment management agreement for a mandate. Each contract has a performance obligation. What is booked each period sits on three records: fee revenue, performance fees, and distribution revenue such as 12b-1 fees and sales charges. On the cost side, which this diagram does not draw, amounts calculated in other domains become distribution cost items, with accruals, true-ups and GL postings. Indirect cost is spread by allocation runs. Revenue and cost meet on the profitability record, which always declares its grain, version, hierarchy version and allocation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has 11 data families. For this walkthrough they are grouped in three: the spine, which is booked revenue and booked distribution cost; how revenue and cost are booked, which covers waivers, contract costs, the chart of accounts and intercompany charges; and how profit is measured, which covers allocation, profitability, hierarchies, plans and period close. The three-way grouping is a presentation aid and is not a level in the taxonomy. The next three slides take each group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spine families hold 64 of the 236 attributes. Revenue and Revenue Recognition holds the revenue contract and the three booked revenue records, with the ASC 606 and IFRS 15 attributes that govern when revenue is recognized. Fee Revenue Record is the busiest of them: one record per share class or mandate and period, gross and net of waivers. Distribution Expense Accounting holds one cost item for each cost calculated elsewhere, such as a partner payment, a compensation payout or campaign spend, with its bearing entity, funding source, cost center, accrual and true-up. Business objects, in bold, have their own key. Attribute groups are sets of attributes held on their 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families, 67 attributes. Fee Waivers and Fund Expense Support holds the period financial impact of waivers and expense caps; the terms themselves stay in Investment Product. Contract Costs and Deferred Commissions holds capitalized costs of obtaining a contract, including legacy deferred sales commissions offset by CDSC, and the assessment of whether a commission qualifies. Chart of Accounts and GL Posting maps management P&amp;L lines to ledger accounts and external reporting lines, and holds the journal lines. Intercompany and Transfer Pricing holds agreements between the firm's own legal entities, the pricing method and arm's length range, and the resulting charges.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families, 105 attributes. Cost Allocation holds cost pools, methods, drivers and rules, and the runs that spread indirect cost to channels, partners and products. It supports time-driven activity-based costing through a capacity cost rate and a unit time estimate. Profitability and Cost-to-Serve is the largest of the five, with 32 attributes: the profitability record, its nine measures from gross revenue to operating margin, and the cost of serving each partner or client. Management Reporting Hierarchies holds versioned rollups and a recorded restatement whenever one changes. Budgets, Forecasts and Plans holds plan versions, plan lines, forecasts and variances. Period Close, Controls and Data Management is small, with five attributes: close status and the reconciliations to the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attribute definition names the standard or source it is aligned to. 62 of the 236 attributes, 26 percent, align to an external standard, guide or regulation. ASC 606 on revenue, with 16 attributes, and ASC 340-40 on contract costs, with 11, are the largest, followed by the OECD Transfer Pricing Guidelines with 9. 174 attributes are firm-defined, because allocation, profitability, hierarchies and planning are management accounting and no external body defines them. 71 attributes take their values from a controlled code list. 63 attributes, 27 percent, reference or copy a record mastered in another domain, which is the account for, do not recalculate principle in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domain accounts for distribution. It deliberately leaves the operational records with the domains that create them. This table shows where each excluded subject lives and what this domain keeps so that it can point to it. Three boundaries are worth calling out. Waiver terms are in Investment Product, but the period financial impact is here. Partner payment calculations are in Distribution Agreements &amp; Partners, but the booked accrual and true-up are here. Estimated Management Fee Revenue stays in Sales Transactions &amp; AUM Attribution as an analytic measure, while the booked amount is here, with a reconciliation between the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attribute carries an ownership flag. 173 of the 236 are mastered in this domain. 52 are references, which hold only the ID of a record mastered in another domain, and 11 are derived copies. That is far more borrowing than in a master domain, and it is by design: finance accounts for records that others create. Shared &amp; Enterprise Reference Data supplies 25 references, mostly legal entities, fiscal periods and cost centers. In the other direction only 5 attributes in 3 other domains reference a record mastered here. Record Metadata, the governance attributes such as data owner and system of record, is excluded from every taxonomy view and documented separately by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Specifying and modeling the data products surfaced 23 gaps against this domain. Two are resolved. Twenty-one are open, all proposed and waiting for a decision: five high priority, seven medium and nine low. The slide shows the five high-priority gaps and the first two medium ones. Most are the same kind of problem: a record whose grain names a period, a contract, a run or a hierarchy version that the record does not actually hold. Four of the five high-priority gaps affect DP-012, the foundational revenue product. Each gap has a proposed resolution and a decision owner in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is used in four ways. First, it is the target that every finance source is mapped to: the general ledger, fund accounting, the planning tool and the intermediary payment engine. That mapping to the firm's actual systems is a next step and has not been done. Second, it is the bill of materials for data products: each product lists the exact attributes it uses, and the build fails if one does not exist. Third, where a master domain would supply shared dimensions, this domain supplies certified metrics: gross and net fee revenue and the effective net fee rate are defined once in the semantic model SM-07. Fourth, the ownership flags and the 71 proposed critical data elements tell stewards where to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domain owns one foundational product, DP-012, Distribution Revenue. It holds management fee revenue gross and net of waivers, performance fees, and distribution revenue with the amount passed through to intermediaries. It applies the revenue recognition conclusions once and reconciles to the general ledger, so channel, partner and product profitability all use the same revenue. 59 of its 73 attributes come from this domain. It refreshes monthly: estimated by business day 5, and final when the fiscal period closes, typically business day 10. 12 products name it as a direct upstream, and 15 depend on it directly or indirectly.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of the 92 specified data products list this domain's objects among their inputs: 1 foundational and 18 consumer-aligned. Every one of the 35 objects is used by at least one product, and 223 of the 236 attributes, 94 percent, appear in a product specification. Distribution Cost Item is the most used object, read by 11 products, followed by Fee Revenue Record with 9 and Distribution Revenue Record with 5. Analytical products are the largest group with 10, and regulatory and control products are next with 6, which reflects how often compliance and disclosure need to know what was actually paid and booked.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data products have this domain as their owning domain. DP-012 is the foundational product. The other five are consumer-aligned. Intermediary Payments and Revenue-Sharing Accruals shows what each intermediary is owed and paid. Channel, Partner and Product Profitability is the distribution P&amp;L. Distribution Budget vs Actual lets cost center owners explain variances before close. Intercompany Distribution Cost Allocation supports transfer pricing documentation. Capitalized Contract Costs is the controlled basis for journal entries and disclosures. The bar on the right shows how many of each product's input attributes come from this domain: 91 of 94 for profitability, but only 27 of 98 for intermediary payments, which draws mostly on Distribution Agreements &amp; Partners.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further 13 products are owned by other domains but read this domain's attributes directly. They are grouped here by the business function they serve. Most take one of two things: booked fee revenue, or distribution cost items. The Distribution Executive Dashboard, DP-015, takes the most, 21 attributes, covering revenue, plan versions and forecasts. Pricing and Fee Waiver Analytics, DP-059, takes 17, mainly fee revenue and waiver records. The three compliance and disclosure products read cost items to show what was paid to whom. Beyond these, one more product depends on the domain only through DP-012, without reading it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concrete, follow one attribute. Net Fee Revenue is defined once, on the Fee Revenue Record: fee revenue after waivers and reimbursements, the amount recognized. DP-012 books it by share class or mandate and period, and checks that net equals gross less the waiver offset. DP-035 attributes it to channel, partner and product, adds retained distribution revenue, and subtracts partner payments, direct cost and allocated cost to reach operating profit. The semantic model SM-07 publishes Net Fee Revenue as a certified metric that other models reference. The same definition then answers the question on the right. Note the boundary: the AUM-based revenue estimate stays in Sales Transactions &amp; AUM Attribution. This domain holds the booked amount.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shape the domain and are still open. The first is which domain owns the fund advisory agreement; the recommendation is Investment Product, with the revenue contract here referencing it. The second is for Technical Accounting: confirm that wholesaler commissions on fund sales are expensed and not capitalized. The third is to agree that the enterprise term revenue means booked revenue from this domain. The fourth is to make this domain's accrual the only booked accrual. The next steps on the right come from the taxonomy's own plan: a policy walkthrough, an FP&amp;A workshop with a one-quarter pilot, hand-off contracts with the source domains, source mapping, and triage of the 21 open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C233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rtlCol="0"/>
          <a:lstStyle>
            <a:lvl1pPr indent="0" marL="0">
              <a:buNone/>
              <a:defRPr lang="en-US" sz="1200" b="1" spc="15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548640" y="3977640"/>
            <a:ext cx="6400800" cy="100584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6035040"/>
            <a:ext cx="8229600" cy="274320"/>
          </a:xfrm>
          <a:prstGeom prst="rect">
            <a:avLst/>
          </a:prstGeom>
          <a:noFill/>
          <a:ln/>
        </p:spPr>
        <p:txBody>
          <a:bodyPr wrap="square" lIns="0" tIns="0" rIns="0" bIns="0" rtlCol="0" anchor="ctr"/>
          <a:lstStyle/>
          <a:p>
            <a:pPr indent="0" marL="0">
              <a:buNone/>
            </a:pPr>
            <a:r>
              <a:rPr lang="en-US" sz="1200" dirty="0">
                <a:solidFill>
                  <a:schemeClr val="accent6"/>
                </a:solidFill>
              </a:rPr>
              <a:t>Distribution Data Taxonomy Program  |  Draft, October 2026  |  Counts are taken from the current drafts</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Distribution Finance &amp; Profitability taxonomy walkthrough  |  Draft, October 2026</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lIns="0" tIns="0" rIns="0" bIns="0" rtlCol="0" anchor="ctr"/>
          <a:lstStyle/>
          <a:p>
            <a:pPr indent="0" marL="0">
              <a:buNone/>
            </a:pPr>
            <a:r>
              <a:rPr lang="en-US" sz="1200" b="1" spc="150" kern="0" dirty="0">
                <a:solidFill>
                  <a:schemeClr val="accent6"/>
                </a:solidFill>
              </a:rPr>
              <a:t>DATA DOMAIN  |  DISTRIBUTION FINANCE &amp; PROFITABILITY</a:t>
            </a: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lIns="0" tIns="0" rIns="0" bIns="0" rtlCol="0" anchor="t"/>
          <a:lstStyle/>
          <a:p>
            <a:pPr algn="l" indent="0" marL="0">
              <a:buNone/>
            </a:pPr>
            <a:r>
              <a:rPr lang="en-US" sz="3600" b="1" dirty="0">
                <a:solidFill>
                  <a:schemeClr val="bg1"/>
                </a:solidFill>
              </a:rPr>
              <a:t>The Distribution Finance &amp; Profitability taxonomy: a walkthrough</a:t>
            </a:r>
            <a:endParaRPr lang="en-US" sz="3600" dirty="0"/>
          </a:p>
        </p:txBody>
      </p:sp>
      <p:sp>
        <p:nvSpPr>
          <p:cNvPr id="4" name="Text 0"/>
          <p:cNvSpPr/>
          <p:nvPr>
            <p:ph idx="102" type="body" hasCustomPrompt="1"/>
          </p:nvPr>
        </p:nvSpPr>
        <p:spPr>
          <a:xfrm>
            <a:off x="548640" y="3977640"/>
            <a:ext cx="6400800" cy="1005840"/>
          </a:xfrm>
          <a:prstGeom prst="rect">
            <a:avLst/>
          </a:prstGeom>
          <a:noFill/>
          <a:ln/>
        </p:spPr>
        <p:txBody>
          <a:bodyPr wrap="square" lIns="0" tIns="0" rIns="0" bIns="0" rtlCol="0" anchor="t"/>
          <a:lstStyle/>
          <a:p>
            <a:pPr indent="0" marL="0">
              <a:buNone/>
            </a:pPr>
            <a:r>
              <a:rPr lang="en-US" sz="1800" dirty="0">
                <a:solidFill>
                  <a:schemeClr val="bg1"/>
                </a:solidFill>
              </a:rPr>
              <a:t>What the domain includes, what it leaves out, how it is used, and the data products it helps define</a:t>
            </a:r>
            <a:endParaRPr lang="en-US" sz="1800" dirty="0"/>
          </a:p>
        </p:txBody>
      </p:sp>
      <p:sp>
        <p:nvSpPr>
          <p:cNvPr id="5" name="Shape 3"/>
          <p:cNvSpPr/>
          <p:nvPr/>
        </p:nvSpPr>
        <p:spPr>
          <a:xfrm>
            <a:off x="8138160" y="1554480"/>
            <a:ext cx="3291840" cy="960120"/>
          </a:xfrm>
          <a:prstGeom prst="roundRect">
            <a:avLst>
              <a:gd name="adj" fmla="val 7619"/>
            </a:avLst>
          </a:prstGeom>
          <a:solidFill>
            <a:schemeClr val="accent1"/>
          </a:solidFill>
          <a:ln/>
        </p:spPr>
      </p:sp>
      <p:sp>
        <p:nvSpPr>
          <p:cNvPr id="6" name="Text 4"/>
          <p:cNvSpPr txBox="1"/>
          <p:nvPr/>
        </p:nvSpPr>
        <p:spPr>
          <a:xfrm>
            <a:off x="8412480" y="17190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Booked Revenue</a:t>
            </a:r>
            <a:endParaRPr lang="en-US" sz="1800" dirty="0"/>
          </a:p>
        </p:txBody>
      </p:sp>
      <p:sp>
        <p:nvSpPr>
          <p:cNvPr id="7" name="Text 5"/>
          <p:cNvSpPr txBox="1"/>
          <p:nvPr/>
        </p:nvSpPr>
        <p:spPr>
          <a:xfrm>
            <a:off x="8412480" y="20665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distribution earns</a:t>
            </a:r>
            <a:endParaRPr lang="en-US" sz="1300" dirty="0"/>
          </a:p>
        </p:txBody>
      </p:sp>
      <p:sp>
        <p:nvSpPr>
          <p:cNvPr id="8" name="Shape 6"/>
          <p:cNvSpPr/>
          <p:nvPr/>
        </p:nvSpPr>
        <p:spPr>
          <a:xfrm>
            <a:off x="9784080" y="2514600"/>
            <a:ext cx="0" cy="411480"/>
          </a:xfrm>
          <a:prstGeom prst="line">
            <a:avLst/>
          </a:prstGeom>
          <a:noFill/>
          <a:ln w="19050">
            <a:solidFill>
              <a:schemeClr val="accent6"/>
            </a:solidFill>
            <a:prstDash val="solid"/>
            <a:tailEnd type="triangle"/>
          </a:ln>
        </p:spPr>
      </p:sp>
      <p:sp>
        <p:nvSpPr>
          <p:cNvPr id="9" name="Shape 7"/>
          <p:cNvSpPr/>
          <p:nvPr/>
        </p:nvSpPr>
        <p:spPr>
          <a:xfrm>
            <a:off x="8138160" y="2926080"/>
            <a:ext cx="3291840" cy="960120"/>
          </a:xfrm>
          <a:prstGeom prst="roundRect">
            <a:avLst>
              <a:gd name="adj" fmla="val 7619"/>
            </a:avLst>
          </a:prstGeom>
          <a:solidFill>
            <a:schemeClr val="accent2"/>
          </a:solidFill>
          <a:ln/>
        </p:spPr>
      </p:sp>
      <p:sp>
        <p:nvSpPr>
          <p:cNvPr id="10" name="Text 8"/>
          <p:cNvSpPr txBox="1"/>
          <p:nvPr/>
        </p:nvSpPr>
        <p:spPr>
          <a:xfrm>
            <a:off x="8412480" y="30906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Distribution Cost</a:t>
            </a:r>
            <a:endParaRPr lang="en-US" sz="1800" dirty="0"/>
          </a:p>
        </p:txBody>
      </p:sp>
      <p:sp>
        <p:nvSpPr>
          <p:cNvPr id="11" name="Text 9"/>
          <p:cNvSpPr txBox="1"/>
          <p:nvPr/>
        </p:nvSpPr>
        <p:spPr>
          <a:xfrm>
            <a:off x="8412480" y="34381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distribution costs</a:t>
            </a:r>
            <a:endParaRPr lang="en-US" sz="1300" dirty="0"/>
          </a:p>
        </p:txBody>
      </p:sp>
      <p:sp>
        <p:nvSpPr>
          <p:cNvPr id="12" name="Shape 10"/>
          <p:cNvSpPr/>
          <p:nvPr/>
        </p:nvSpPr>
        <p:spPr>
          <a:xfrm>
            <a:off x="9784080" y="3886200"/>
            <a:ext cx="0" cy="411480"/>
          </a:xfrm>
          <a:prstGeom prst="line">
            <a:avLst/>
          </a:prstGeom>
          <a:noFill/>
          <a:ln w="19050">
            <a:solidFill>
              <a:schemeClr val="accent6"/>
            </a:solidFill>
            <a:prstDash val="solid"/>
            <a:tailEnd type="triangle"/>
          </a:ln>
        </p:spPr>
      </p:sp>
      <p:sp>
        <p:nvSpPr>
          <p:cNvPr id="13" name="Shape 11"/>
          <p:cNvSpPr/>
          <p:nvPr/>
        </p:nvSpPr>
        <p:spPr>
          <a:xfrm>
            <a:off x="8138160" y="4297680"/>
            <a:ext cx="3291840" cy="960120"/>
          </a:xfrm>
          <a:prstGeom prst="roundRect">
            <a:avLst>
              <a:gd name="adj" fmla="val 7619"/>
            </a:avLst>
          </a:prstGeom>
          <a:solidFill>
            <a:schemeClr val="accent4"/>
          </a:solidFill>
          <a:ln/>
        </p:spPr>
      </p:sp>
      <p:sp>
        <p:nvSpPr>
          <p:cNvPr id="14" name="Text 12"/>
          <p:cNvSpPr txBox="1"/>
          <p:nvPr/>
        </p:nvSpPr>
        <p:spPr>
          <a:xfrm>
            <a:off x="8412480" y="44622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Profitability</a:t>
            </a:r>
            <a:endParaRPr lang="en-US" sz="1800" dirty="0"/>
          </a:p>
        </p:txBody>
      </p:sp>
      <p:sp>
        <p:nvSpPr>
          <p:cNvPr id="15" name="Text 13"/>
          <p:cNvSpPr txBox="1"/>
          <p:nvPr/>
        </p:nvSpPr>
        <p:spPr>
          <a:xfrm>
            <a:off x="8412480" y="48097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is left, and for whom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SUMMARY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This domain defines distribution's P&amp;L, once</a:t>
            </a:r>
            <a:endParaRPr lang="en-US" sz="3600" dirty="0"/>
          </a:p>
        </p:txBody>
      </p:sp>
      <p:sp>
        <p:nvSpPr>
          <p:cNvPr id="5" name="Shape 2"/>
          <p:cNvSpPr/>
          <p:nvPr/>
        </p:nvSpPr>
        <p:spPr>
          <a:xfrm>
            <a:off x="548640" y="1783080"/>
            <a:ext cx="2651760" cy="4434840"/>
          </a:xfrm>
          <a:prstGeom prst="roundRect">
            <a:avLst>
              <a:gd name="adj" fmla="val 2759"/>
            </a:avLst>
          </a:prstGeom>
          <a:solidFill>
            <a:schemeClr val="tx1"/>
          </a:solidFill>
          <a:ln/>
        </p:spPr>
      </p:sp>
      <p:sp>
        <p:nvSpPr>
          <p:cNvPr id="6" name="Text 3"/>
          <p:cNvSpPr txBox="1"/>
          <p:nvPr/>
        </p:nvSpPr>
        <p:spPr>
          <a:xfrm>
            <a:off x="822960" y="2011680"/>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11</a:t>
            </a:r>
            <a:endParaRPr lang="en-US" sz="3600" dirty="0"/>
          </a:p>
        </p:txBody>
      </p:sp>
      <p:sp>
        <p:nvSpPr>
          <p:cNvPr id="7" name="Text 4"/>
          <p:cNvSpPr txBox="1"/>
          <p:nvPr/>
        </p:nvSpPr>
        <p:spPr>
          <a:xfrm>
            <a:off x="822960" y="2560320"/>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data families</a:t>
            </a:r>
            <a:endParaRPr lang="en-US" sz="1300" dirty="0"/>
          </a:p>
        </p:txBody>
      </p:sp>
      <p:sp>
        <p:nvSpPr>
          <p:cNvPr id="8" name="Text 5"/>
          <p:cNvSpPr txBox="1"/>
          <p:nvPr/>
        </p:nvSpPr>
        <p:spPr>
          <a:xfrm>
            <a:off x="822960" y="3044952"/>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35</a:t>
            </a:r>
            <a:endParaRPr lang="en-US" sz="3600" dirty="0"/>
          </a:p>
        </p:txBody>
      </p:sp>
      <p:sp>
        <p:nvSpPr>
          <p:cNvPr id="9" name="Text 6"/>
          <p:cNvSpPr txBox="1"/>
          <p:nvPr/>
        </p:nvSpPr>
        <p:spPr>
          <a:xfrm>
            <a:off x="822960" y="3593592"/>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objects</a:t>
            </a:r>
            <a:endParaRPr lang="en-US" sz="1300" dirty="0"/>
          </a:p>
        </p:txBody>
      </p:sp>
      <p:sp>
        <p:nvSpPr>
          <p:cNvPr id="10" name="Text 7"/>
          <p:cNvSpPr txBox="1"/>
          <p:nvPr/>
        </p:nvSpPr>
        <p:spPr>
          <a:xfrm>
            <a:off x="822960" y="4078224"/>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236</a:t>
            </a:r>
            <a:endParaRPr lang="en-US" sz="3600" dirty="0"/>
          </a:p>
        </p:txBody>
      </p:sp>
      <p:sp>
        <p:nvSpPr>
          <p:cNvPr id="11" name="Text 8"/>
          <p:cNvSpPr txBox="1"/>
          <p:nvPr/>
        </p:nvSpPr>
        <p:spPr>
          <a:xfrm>
            <a:off x="822960" y="4626864"/>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attributes</a:t>
            </a:r>
            <a:endParaRPr lang="en-US" sz="1300" dirty="0"/>
          </a:p>
        </p:txBody>
      </p:sp>
      <p:sp>
        <p:nvSpPr>
          <p:cNvPr id="12" name="Text 9"/>
          <p:cNvSpPr txBox="1"/>
          <p:nvPr/>
        </p:nvSpPr>
        <p:spPr>
          <a:xfrm>
            <a:off x="822960" y="5111496"/>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71</a:t>
            </a:r>
            <a:endParaRPr lang="en-US" sz="3600" dirty="0"/>
          </a:p>
        </p:txBody>
      </p:sp>
      <p:sp>
        <p:nvSpPr>
          <p:cNvPr id="13" name="Text 10"/>
          <p:cNvSpPr txBox="1"/>
          <p:nvPr/>
        </p:nvSpPr>
        <p:spPr>
          <a:xfrm>
            <a:off x="822960" y="5660136"/>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proposed critical data elements</a:t>
            </a:r>
            <a:endParaRPr lang="en-US" sz="1300" dirty="0"/>
          </a:p>
        </p:txBody>
      </p:sp>
      <p:sp>
        <p:nvSpPr>
          <p:cNvPr id="14" name="Shape 11"/>
          <p:cNvSpPr/>
          <p:nvPr/>
        </p:nvSpPr>
        <p:spPr>
          <a:xfrm>
            <a:off x="3474720" y="1783080"/>
            <a:ext cx="3945636" cy="2080260"/>
          </a:xfrm>
          <a:prstGeom prst="roundRect">
            <a:avLst>
              <a:gd name="adj" fmla="val 3516"/>
            </a:avLst>
          </a:prstGeom>
          <a:solidFill>
            <a:schemeClr val="bg2"/>
          </a:solidFill>
          <a:ln/>
        </p:spPr>
      </p:sp>
      <p:sp>
        <p:nvSpPr>
          <p:cNvPr id="15" name="Text 12"/>
          <p:cNvSpPr/>
          <p:nvPr/>
        </p:nvSpPr>
        <p:spPr>
          <a:xfrm>
            <a:off x="3703320" y="201168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6" name="Text 13"/>
          <p:cNvSpPr txBox="1"/>
          <p:nvPr/>
        </p:nvSpPr>
        <p:spPr>
          <a:xfrm>
            <a:off x="4224528"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included</a:t>
            </a:r>
            <a:endParaRPr lang="en-US" sz="1600" dirty="0"/>
          </a:p>
        </p:txBody>
      </p:sp>
      <p:sp>
        <p:nvSpPr>
          <p:cNvPr id="17" name="Text 14"/>
          <p:cNvSpPr txBox="1"/>
          <p:nvPr/>
        </p:nvSpPr>
        <p:spPr>
          <a:xfrm>
            <a:off x="3703320"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Booked fee and distribution revenue, fee waivers, distribution cost items and accruals, contract cost assets, GL postings, cost allocation, profitability records, plans and intercompany charges.</a:t>
            </a:r>
            <a:endParaRPr lang="en-US" sz="1300" dirty="0"/>
          </a:p>
        </p:txBody>
      </p:sp>
      <p:sp>
        <p:nvSpPr>
          <p:cNvPr id="18" name="Shape 15"/>
          <p:cNvSpPr/>
          <p:nvPr/>
        </p:nvSpPr>
        <p:spPr>
          <a:xfrm>
            <a:off x="7694676" y="1783080"/>
            <a:ext cx="3945636" cy="2080260"/>
          </a:xfrm>
          <a:prstGeom prst="roundRect">
            <a:avLst>
              <a:gd name="adj" fmla="val 3516"/>
            </a:avLst>
          </a:prstGeom>
          <a:solidFill>
            <a:schemeClr val="bg2"/>
          </a:solidFill>
          <a:ln/>
        </p:spPr>
      </p:sp>
      <p:sp>
        <p:nvSpPr>
          <p:cNvPr id="19" name="Text 16"/>
          <p:cNvSpPr/>
          <p:nvPr/>
        </p:nvSpPr>
        <p:spPr>
          <a:xfrm>
            <a:off x="7923276" y="2011680"/>
            <a:ext cx="384048" cy="38404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0" name="Text 17"/>
          <p:cNvSpPr txBox="1"/>
          <p:nvPr/>
        </p:nvSpPr>
        <p:spPr>
          <a:xfrm>
            <a:off x="8444484"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excluded</a:t>
            </a:r>
            <a:endParaRPr lang="en-US" sz="1600" dirty="0"/>
          </a:p>
        </p:txBody>
      </p:sp>
      <p:sp>
        <p:nvSpPr>
          <p:cNvPr id="21" name="Text 18"/>
          <p:cNvSpPr txBox="1"/>
          <p:nvPr/>
        </p:nvSpPr>
        <p:spPr>
          <a:xfrm>
            <a:off x="7923276"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The operational records behind the numbers: fee and waiver terms, payment and payout calculations, campaign spend, flows and AUM, parties, legal entities and fiscal calendars. These are referenced by ID.</a:t>
            </a:r>
            <a:endParaRPr lang="en-US" sz="1300" dirty="0"/>
          </a:p>
        </p:txBody>
      </p:sp>
      <p:sp>
        <p:nvSpPr>
          <p:cNvPr id="22" name="Shape 19"/>
          <p:cNvSpPr/>
          <p:nvPr/>
        </p:nvSpPr>
        <p:spPr>
          <a:xfrm>
            <a:off x="3474720" y="4137660"/>
            <a:ext cx="3945636" cy="2080260"/>
          </a:xfrm>
          <a:prstGeom prst="roundRect">
            <a:avLst>
              <a:gd name="adj" fmla="val 3516"/>
            </a:avLst>
          </a:prstGeom>
          <a:solidFill>
            <a:schemeClr val="bg2"/>
          </a:solidFill>
          <a:ln/>
        </p:spPr>
      </p:sp>
      <p:sp>
        <p:nvSpPr>
          <p:cNvPr id="23" name="Text 20"/>
          <p:cNvSpPr/>
          <p:nvPr/>
        </p:nvSpPr>
        <p:spPr>
          <a:xfrm>
            <a:off x="3703320" y="436626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21"/>
          <p:cNvSpPr txBox="1"/>
          <p:nvPr/>
        </p:nvSpPr>
        <p:spPr>
          <a:xfrm>
            <a:off x="4224528"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How it is used</a:t>
            </a:r>
            <a:endParaRPr lang="en-US" sz="1600" dirty="0"/>
          </a:p>
        </p:txBody>
      </p:sp>
      <p:sp>
        <p:nvSpPr>
          <p:cNvPr id="25" name="Text 22"/>
          <p:cNvSpPr txBox="1"/>
          <p:nvPr/>
        </p:nvSpPr>
        <p:spPr>
          <a:xfrm>
            <a:off x="3703320"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As the mapping target for the ledger and finance systems, the bill of materials for finance data products, and the source of the certified revenue metrics that other semantic models reference.</a:t>
            </a:r>
            <a:endParaRPr lang="en-US" sz="1300" dirty="0"/>
          </a:p>
        </p:txBody>
      </p:sp>
      <p:sp>
        <p:nvSpPr>
          <p:cNvPr id="26" name="Shape 23"/>
          <p:cNvSpPr/>
          <p:nvPr/>
        </p:nvSpPr>
        <p:spPr>
          <a:xfrm>
            <a:off x="7694676" y="4137660"/>
            <a:ext cx="3945636" cy="2080260"/>
          </a:xfrm>
          <a:prstGeom prst="roundRect">
            <a:avLst>
              <a:gd name="adj" fmla="val 3516"/>
            </a:avLst>
          </a:prstGeom>
          <a:solidFill>
            <a:schemeClr val="bg2"/>
          </a:solidFill>
          <a:ln/>
        </p:spPr>
      </p:sp>
      <p:sp>
        <p:nvSpPr>
          <p:cNvPr id="27" name="Text 24"/>
          <p:cNvSpPr/>
          <p:nvPr/>
        </p:nvSpPr>
        <p:spPr>
          <a:xfrm>
            <a:off x="7923276" y="4366260"/>
            <a:ext cx="384048" cy="384048"/>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Text 25"/>
          <p:cNvSpPr txBox="1"/>
          <p:nvPr/>
        </p:nvSpPr>
        <p:spPr>
          <a:xfrm>
            <a:off x="8444484"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it helps define</a:t>
            </a:r>
            <a:endParaRPr lang="en-US" sz="1600" dirty="0"/>
          </a:p>
        </p:txBody>
      </p:sp>
      <p:sp>
        <p:nvSpPr>
          <p:cNvPr id="29" name="Text 26"/>
          <p:cNvSpPr txBox="1"/>
          <p:nvPr/>
        </p:nvSpPr>
        <p:spPr>
          <a:xfrm>
            <a:off x="7923276"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19 of the 92 data products read it directly. 15 of the other 91 depend on its foundational revenue product, DP-012, directly or indirectly.</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WHERE THE DOMAIN SITS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of 14 data domains, four levels deep</a:t>
            </a:r>
            <a:endParaRPr lang="en-US" sz="3600" dirty="0"/>
          </a:p>
        </p:txBody>
      </p:sp>
      <p:sp>
        <p:nvSpPr>
          <p:cNvPr id="5" name="Shape 2"/>
          <p:cNvSpPr/>
          <p:nvPr/>
        </p:nvSpPr>
        <p:spPr>
          <a:xfrm>
            <a:off x="548640" y="1783080"/>
            <a:ext cx="6126480" cy="868680"/>
          </a:xfrm>
          <a:prstGeom prst="roundRect">
            <a:avLst>
              <a:gd name="adj" fmla="val 8421"/>
            </a:avLst>
          </a:prstGeom>
          <a:solidFill>
            <a:schemeClr val="bg2"/>
          </a:solidFill>
          <a:ln/>
        </p:spPr>
      </p:sp>
      <p:sp>
        <p:nvSpPr>
          <p:cNvPr id="6" name="Text 3"/>
          <p:cNvSpPr/>
          <p:nvPr/>
        </p:nvSpPr>
        <p:spPr>
          <a:xfrm>
            <a:off x="731520" y="201168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L1</a:t>
            </a:r>
            <a:endParaRPr lang="en-US" sz="1300" dirty="0"/>
          </a:p>
        </p:txBody>
      </p:sp>
      <p:sp>
        <p:nvSpPr>
          <p:cNvPr id="7" name="Text 4"/>
          <p:cNvSpPr txBox="1"/>
          <p:nvPr/>
        </p:nvSpPr>
        <p:spPr>
          <a:xfrm>
            <a:off x="1463040" y="191109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Domain</a:t>
            </a:r>
            <a:endParaRPr lang="en-US" sz="1600" dirty="0"/>
          </a:p>
        </p:txBody>
      </p:sp>
      <p:sp>
        <p:nvSpPr>
          <p:cNvPr id="8" name="Text 5"/>
          <p:cNvSpPr txBox="1"/>
          <p:nvPr/>
        </p:nvSpPr>
        <p:spPr>
          <a:xfrm>
            <a:off x="1463040" y="224028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 of 14</a:t>
            </a:r>
            <a:endParaRPr lang="en-US" sz="1200" dirty="0"/>
          </a:p>
        </p:txBody>
      </p:sp>
      <p:sp>
        <p:nvSpPr>
          <p:cNvPr id="9" name="Text 6"/>
          <p:cNvSpPr txBox="1"/>
          <p:nvPr/>
        </p:nvSpPr>
        <p:spPr>
          <a:xfrm>
            <a:off x="3474720" y="1911096"/>
            <a:ext cx="3017520" cy="612648"/>
          </a:xfrm>
          <a:prstGeom prst="rect">
            <a:avLst/>
          </a:prstGeom>
          <a:noFill/>
          <a:ln/>
        </p:spPr>
        <p:txBody>
          <a:bodyPr wrap="square" lIns="0" tIns="0" rIns="0" bIns="0" rtlCol="0" anchor="ctr"/>
          <a:lstStyle/>
          <a:p>
            <a:pPr algn="l" indent="0" marL="0">
              <a:buNone/>
            </a:pPr>
            <a:r>
              <a:rPr lang="en-US" sz="1400" b="1" dirty="0">
                <a:solidFill>
                  <a:schemeClr val="accent2"/>
                </a:solidFill>
              </a:rPr>
              <a:t>Distribution Finance &amp; Profitability</a:t>
            </a:r>
            <a:endParaRPr lang="en-US" sz="1400" dirty="0"/>
          </a:p>
        </p:txBody>
      </p:sp>
      <p:sp>
        <p:nvSpPr>
          <p:cNvPr id="10" name="Shape 7"/>
          <p:cNvSpPr/>
          <p:nvPr/>
        </p:nvSpPr>
        <p:spPr>
          <a:xfrm>
            <a:off x="822960" y="2788920"/>
            <a:ext cx="5852160" cy="868680"/>
          </a:xfrm>
          <a:prstGeom prst="roundRect">
            <a:avLst>
              <a:gd name="adj" fmla="val 8421"/>
            </a:avLst>
          </a:prstGeom>
          <a:solidFill>
            <a:schemeClr val="bg2"/>
          </a:solidFill>
          <a:ln/>
        </p:spPr>
      </p:sp>
      <p:sp>
        <p:nvSpPr>
          <p:cNvPr id="11" name="Text 8"/>
          <p:cNvSpPr/>
          <p:nvPr/>
        </p:nvSpPr>
        <p:spPr>
          <a:xfrm>
            <a:off x="1005840" y="301752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L2</a:t>
            </a:r>
            <a:endParaRPr lang="en-US" sz="1300" dirty="0"/>
          </a:p>
        </p:txBody>
      </p:sp>
      <p:sp>
        <p:nvSpPr>
          <p:cNvPr id="12" name="Text 9"/>
          <p:cNvSpPr txBox="1"/>
          <p:nvPr/>
        </p:nvSpPr>
        <p:spPr>
          <a:xfrm>
            <a:off x="1737360" y="291693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Family</a:t>
            </a:r>
            <a:endParaRPr lang="en-US" sz="1600" dirty="0"/>
          </a:p>
        </p:txBody>
      </p:sp>
      <p:sp>
        <p:nvSpPr>
          <p:cNvPr id="13" name="Text 10"/>
          <p:cNvSpPr txBox="1"/>
          <p:nvPr/>
        </p:nvSpPr>
        <p:spPr>
          <a:xfrm>
            <a:off x="1737360" y="324612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11 families</a:t>
            </a:r>
            <a:endParaRPr lang="en-US" sz="1200" dirty="0"/>
          </a:p>
        </p:txBody>
      </p:sp>
      <p:sp>
        <p:nvSpPr>
          <p:cNvPr id="14" name="Text 11"/>
          <p:cNvSpPr txBox="1"/>
          <p:nvPr/>
        </p:nvSpPr>
        <p:spPr>
          <a:xfrm>
            <a:off x="3749040" y="2916936"/>
            <a:ext cx="2743200" cy="612648"/>
          </a:xfrm>
          <a:prstGeom prst="rect">
            <a:avLst/>
          </a:prstGeom>
          <a:noFill/>
          <a:ln/>
        </p:spPr>
        <p:txBody>
          <a:bodyPr wrap="square" lIns="0" tIns="0" rIns="0" bIns="0" rtlCol="0" anchor="ctr"/>
          <a:lstStyle/>
          <a:p>
            <a:pPr algn="l" indent="0" marL="0">
              <a:buNone/>
            </a:pPr>
            <a:r>
              <a:rPr lang="en-US" sz="1400" b="1" dirty="0">
                <a:solidFill>
                  <a:schemeClr val="accent2"/>
                </a:solidFill>
              </a:rPr>
              <a:t>Revenue &amp; Revenue Recognition</a:t>
            </a:r>
            <a:endParaRPr lang="en-US" sz="1400" dirty="0"/>
          </a:p>
        </p:txBody>
      </p:sp>
      <p:sp>
        <p:nvSpPr>
          <p:cNvPr id="15" name="Shape 12"/>
          <p:cNvSpPr/>
          <p:nvPr/>
        </p:nvSpPr>
        <p:spPr>
          <a:xfrm>
            <a:off x="1097280" y="3794760"/>
            <a:ext cx="5577840" cy="868680"/>
          </a:xfrm>
          <a:prstGeom prst="roundRect">
            <a:avLst>
              <a:gd name="adj" fmla="val 8421"/>
            </a:avLst>
          </a:prstGeom>
          <a:solidFill>
            <a:schemeClr val="bg2"/>
          </a:solidFill>
          <a:ln/>
        </p:spPr>
      </p:sp>
      <p:sp>
        <p:nvSpPr>
          <p:cNvPr id="16" name="Text 13"/>
          <p:cNvSpPr/>
          <p:nvPr/>
        </p:nvSpPr>
        <p:spPr>
          <a:xfrm>
            <a:off x="1280160" y="402336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L3</a:t>
            </a:r>
            <a:endParaRPr lang="en-US" sz="1300" dirty="0"/>
          </a:p>
        </p:txBody>
      </p:sp>
      <p:sp>
        <p:nvSpPr>
          <p:cNvPr id="17" name="Text 14"/>
          <p:cNvSpPr txBox="1"/>
          <p:nvPr/>
        </p:nvSpPr>
        <p:spPr>
          <a:xfrm>
            <a:off x="2011680" y="392277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Business Object</a:t>
            </a:r>
            <a:endParaRPr lang="en-US" sz="1600" dirty="0"/>
          </a:p>
        </p:txBody>
      </p:sp>
      <p:sp>
        <p:nvSpPr>
          <p:cNvPr id="18" name="Text 15"/>
          <p:cNvSpPr txBox="1"/>
          <p:nvPr/>
        </p:nvSpPr>
        <p:spPr>
          <a:xfrm>
            <a:off x="2011680" y="425196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35 objects</a:t>
            </a:r>
            <a:endParaRPr lang="en-US" sz="1200" dirty="0"/>
          </a:p>
        </p:txBody>
      </p:sp>
      <p:sp>
        <p:nvSpPr>
          <p:cNvPr id="19" name="Text 16"/>
          <p:cNvSpPr txBox="1"/>
          <p:nvPr/>
        </p:nvSpPr>
        <p:spPr>
          <a:xfrm>
            <a:off x="4023360" y="3922776"/>
            <a:ext cx="2468880" cy="612648"/>
          </a:xfrm>
          <a:prstGeom prst="rect">
            <a:avLst/>
          </a:prstGeom>
          <a:noFill/>
          <a:ln/>
        </p:spPr>
        <p:txBody>
          <a:bodyPr wrap="square" lIns="0" tIns="0" rIns="0" bIns="0" rtlCol="0" anchor="ctr"/>
          <a:lstStyle/>
          <a:p>
            <a:pPr algn="l" indent="0" marL="0">
              <a:buNone/>
            </a:pPr>
            <a:r>
              <a:rPr lang="en-US" sz="1400" b="1" dirty="0">
                <a:solidFill>
                  <a:schemeClr val="accent2"/>
                </a:solidFill>
              </a:rPr>
              <a:t>Fee Revenue Record</a:t>
            </a:r>
            <a:endParaRPr lang="en-US" sz="1400" dirty="0"/>
          </a:p>
        </p:txBody>
      </p:sp>
      <p:sp>
        <p:nvSpPr>
          <p:cNvPr id="20" name="Shape 17"/>
          <p:cNvSpPr/>
          <p:nvPr/>
        </p:nvSpPr>
        <p:spPr>
          <a:xfrm>
            <a:off x="1371600" y="4800600"/>
            <a:ext cx="5303520" cy="868680"/>
          </a:xfrm>
          <a:prstGeom prst="roundRect">
            <a:avLst>
              <a:gd name="adj" fmla="val 8421"/>
            </a:avLst>
          </a:prstGeom>
          <a:solidFill>
            <a:schemeClr val="bg2"/>
          </a:solidFill>
          <a:ln/>
        </p:spPr>
      </p:sp>
      <p:sp>
        <p:nvSpPr>
          <p:cNvPr id="21" name="Text 18"/>
          <p:cNvSpPr/>
          <p:nvPr/>
        </p:nvSpPr>
        <p:spPr>
          <a:xfrm>
            <a:off x="1554480" y="502920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L4</a:t>
            </a:r>
            <a:endParaRPr lang="en-US" sz="1300" dirty="0"/>
          </a:p>
        </p:txBody>
      </p:sp>
      <p:sp>
        <p:nvSpPr>
          <p:cNvPr id="22" name="Text 19"/>
          <p:cNvSpPr txBox="1"/>
          <p:nvPr/>
        </p:nvSpPr>
        <p:spPr>
          <a:xfrm>
            <a:off x="2286000" y="492861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Attribute</a:t>
            </a:r>
            <a:endParaRPr lang="en-US" sz="1600" dirty="0"/>
          </a:p>
        </p:txBody>
      </p:sp>
      <p:sp>
        <p:nvSpPr>
          <p:cNvPr id="23" name="Text 20"/>
          <p:cNvSpPr txBox="1"/>
          <p:nvPr/>
        </p:nvSpPr>
        <p:spPr>
          <a:xfrm>
            <a:off x="2286000" y="525780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236 attributes</a:t>
            </a:r>
            <a:endParaRPr lang="en-US" sz="1200" dirty="0"/>
          </a:p>
        </p:txBody>
      </p:sp>
      <p:sp>
        <p:nvSpPr>
          <p:cNvPr id="24" name="Text 21"/>
          <p:cNvSpPr txBox="1"/>
          <p:nvPr/>
        </p:nvSpPr>
        <p:spPr>
          <a:xfrm>
            <a:off x="4297680" y="4928616"/>
            <a:ext cx="2194560" cy="612648"/>
          </a:xfrm>
          <a:prstGeom prst="rect">
            <a:avLst/>
          </a:prstGeom>
          <a:noFill/>
          <a:ln/>
        </p:spPr>
        <p:txBody>
          <a:bodyPr wrap="square" lIns="0" tIns="0" rIns="0" bIns="0" rtlCol="0" anchor="ctr"/>
          <a:lstStyle/>
          <a:p>
            <a:pPr algn="l" indent="0" marL="0">
              <a:buNone/>
            </a:pPr>
            <a:r>
              <a:rPr lang="en-US" sz="1400" b="1" dirty="0">
                <a:solidFill>
                  <a:schemeClr val="accent2"/>
                </a:solidFill>
              </a:rPr>
              <a:t>Net Fee Revenue</a:t>
            </a:r>
            <a:endParaRPr lang="en-US" sz="1400" dirty="0"/>
          </a:p>
        </p:txBody>
      </p:sp>
      <p:sp>
        <p:nvSpPr>
          <p:cNvPr id="25" name="Text 22"/>
          <p:cNvSpPr txBox="1"/>
          <p:nvPr/>
        </p:nvSpPr>
        <p:spPr>
          <a:xfrm>
            <a:off x="548640" y="5852160"/>
            <a:ext cx="6126480" cy="274320"/>
          </a:xfrm>
          <a:prstGeom prst="rect">
            <a:avLst/>
          </a:prstGeom>
          <a:noFill/>
          <a:ln/>
        </p:spPr>
        <p:txBody>
          <a:bodyPr wrap="square" lIns="0" tIns="0" rIns="0" bIns="0" rtlCol="0" anchor="ctr"/>
          <a:lstStyle/>
          <a:p>
            <a:pPr algn="l" indent="0" marL="0">
              <a:buNone/>
            </a:pPr>
            <a:r>
              <a:rPr lang="en-US" sz="1200" dirty="0">
                <a:solidFill>
                  <a:schemeClr val="accent2"/>
                </a:solidFill>
              </a:rPr>
              <a:t>Purple text: the path to one attribute followed later in this deck</a:t>
            </a:r>
            <a:endParaRPr lang="en-US" sz="1200" dirty="0"/>
          </a:p>
        </p:txBody>
      </p:sp>
      <p:sp>
        <p:nvSpPr>
          <p:cNvPr id="26" name="Text 23"/>
          <p:cNvSpPr txBox="1"/>
          <p:nvPr/>
        </p:nvSpPr>
        <p:spPr>
          <a:xfrm>
            <a:off x="7040880" y="1783080"/>
            <a:ext cx="457200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FOR EVERY ATTRIBUTE, IT RECORDS</a:t>
            </a:r>
            <a:endParaRPr lang="en-US" sz="1200" dirty="0"/>
          </a:p>
        </p:txBody>
      </p:sp>
      <p:sp>
        <p:nvSpPr>
          <p:cNvPr id="27" name="Text 24"/>
          <p:cNvSpPr txBox="1"/>
          <p:nvPr/>
        </p:nvSpPr>
        <p:spPr>
          <a:xfrm>
            <a:off x="7040880" y="2148840"/>
            <a:ext cx="4599432" cy="25146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One definition, with an example value</a:t>
            </a:r>
            <a:endParaRPr lang="en-US" sz="1400" dirty="0"/>
          </a:p>
          <a:p>
            <a:pPr marL="177800" indent="-177800">
              <a:spcAft>
                <a:spcPts val="700"/>
              </a:spcAft>
              <a:buSzPct val="100000"/>
              <a:buChar char="•"/>
            </a:pPr>
            <a:r>
              <a:rPr lang="en-US" sz="1400" dirty="0">
                <a:solidFill>
                  <a:schemeClr val="tx1"/>
                </a:solidFill>
              </a:rPr>
              <a:t>The data type and, where coded, the code list</a:t>
            </a:r>
            <a:endParaRPr lang="en-US" sz="1400" dirty="0"/>
          </a:p>
          <a:p>
            <a:pPr marL="177800" indent="-177800">
              <a:spcAft>
                <a:spcPts val="700"/>
              </a:spcAft>
              <a:buSzPct val="100000"/>
              <a:buChar char="•"/>
            </a:pPr>
            <a:r>
              <a:rPr lang="en-US" sz="1400" dirty="0">
                <a:solidFill>
                  <a:schemeClr val="tx1"/>
                </a:solidFill>
              </a:rPr>
              <a:t>The revenue type, cost type or record it applies to</a:t>
            </a:r>
            <a:endParaRPr lang="en-US" sz="1400" dirty="0"/>
          </a:p>
          <a:p>
            <a:pPr marL="177800" indent="-177800">
              <a:spcAft>
                <a:spcPts val="700"/>
              </a:spcAft>
              <a:buSzPct val="100000"/>
              <a:buChar char="•"/>
            </a:pPr>
            <a:r>
              <a:rPr lang="en-US" sz="1400" dirty="0">
                <a:solidFill>
                  <a:schemeClr val="tx1"/>
                </a:solidFill>
              </a:rPr>
              <a:t>The standard, regulation or source it aligns to</a:t>
            </a:r>
            <a:endParaRPr lang="en-US" sz="1400" dirty="0"/>
          </a:p>
          <a:p>
            <a:pPr marL="177800" indent="-177800">
              <a:spcAft>
                <a:spcPts val="700"/>
              </a:spcAft>
              <a:buSzPct val="100000"/>
              <a:buChar char="•"/>
            </a:pPr>
            <a:r>
              <a:rPr lang="en-US" sz="1400" dirty="0">
                <a:solidFill>
                  <a:schemeClr val="tx1"/>
                </a:solidFill>
              </a:rPr>
              <a:t>Whether it is a proposed critical data element</a:t>
            </a:r>
            <a:endParaRPr lang="en-US" sz="1400" dirty="0"/>
          </a:p>
          <a:p>
            <a:pPr marL="177800" indent="-177800">
              <a:spcAft>
                <a:spcPts val="700"/>
              </a:spcAft>
              <a:buSzPct val="100000"/>
              <a:buChar char="•"/>
            </a:pPr>
            <a:r>
              <a:rPr lang="en-US" sz="1400" dirty="0">
                <a:solidFill>
                  <a:schemeClr val="tx1"/>
                </a:solidFill>
              </a:rPr>
              <a:t>Whether it is mastered here, referenced or a derived copy</a:t>
            </a:r>
            <a:endParaRPr lang="en-US" sz="1400" dirty="0"/>
          </a:p>
        </p:txBody>
      </p:sp>
      <p:sp>
        <p:nvSpPr>
          <p:cNvPr id="28" name="Shape 25"/>
          <p:cNvSpPr/>
          <p:nvPr/>
        </p:nvSpPr>
        <p:spPr>
          <a:xfrm>
            <a:off x="7040880" y="4800600"/>
            <a:ext cx="4599432" cy="914400"/>
          </a:xfrm>
          <a:prstGeom prst="roundRect">
            <a:avLst>
              <a:gd name="adj" fmla="val 8000"/>
            </a:avLst>
          </a:prstGeom>
          <a:solidFill>
            <a:schemeClr val="bg2"/>
          </a:solidFill>
          <a:ln/>
        </p:spPr>
      </p:sp>
      <p:sp>
        <p:nvSpPr>
          <p:cNvPr id="29" name="Text 26"/>
          <p:cNvSpPr txBox="1"/>
          <p:nvPr/>
        </p:nvSpPr>
        <p:spPr>
          <a:xfrm>
            <a:off x="7269480" y="4800600"/>
            <a:ext cx="4142232" cy="914400"/>
          </a:xfrm>
          <a:prstGeom prst="rect">
            <a:avLst/>
          </a:prstGeom>
          <a:noFill/>
          <a:ln/>
        </p:spPr>
        <p:txBody>
          <a:bodyPr wrap="square" lIns="0" tIns="0" rIns="0" bIns="0" rtlCol="0" anchor="ctr"/>
          <a:lstStyle/>
          <a:p>
            <a:pPr algn="l" indent="0" marL="0">
              <a:buNone/>
            </a:pPr>
            <a:r>
              <a:rPr lang="en-US" sz="1400" b="1" dirty="0">
                <a:solidFill>
                  <a:schemeClr val="tx1"/>
                </a:solidFill>
              </a:rPr>
              <a:t>It defines meaning and ownership. It does not hold data values or system field names.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THE CORE MODEL</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core model runs from contract to margin</a:t>
            </a:r>
            <a:endParaRPr lang="en-US" sz="3600" dirty="0"/>
          </a:p>
        </p:txBody>
      </p:sp>
      <p:sp>
        <p:nvSpPr>
          <p:cNvPr id="5" name="Text 2"/>
          <p:cNvSpPr txBox="1"/>
          <p:nvPr/>
        </p:nvSpPr>
        <p:spPr>
          <a:xfrm>
            <a:off x="548640" y="1783080"/>
            <a:ext cx="3017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WHAT WE CONTRACTED</a:t>
            </a:r>
            <a:endParaRPr lang="en-US" sz="1200" dirty="0"/>
          </a:p>
        </p:txBody>
      </p:sp>
      <p:sp>
        <p:nvSpPr>
          <p:cNvPr id="6" name="Text 3"/>
          <p:cNvSpPr txBox="1"/>
          <p:nvPr/>
        </p:nvSpPr>
        <p:spPr>
          <a:xfrm>
            <a:off x="4480560" y="1783080"/>
            <a:ext cx="3291840" cy="256032"/>
          </a:xfrm>
          <a:prstGeom prst="rect">
            <a:avLst/>
          </a:prstGeom>
          <a:noFill/>
          <a:ln/>
        </p:spPr>
        <p:txBody>
          <a:bodyPr wrap="square" lIns="0" tIns="0" rIns="0" bIns="0" rtlCol="0" anchor="ctr"/>
          <a:lstStyle/>
          <a:p>
            <a:pPr algn="l" indent="0" marL="0">
              <a:buNone/>
            </a:pPr>
            <a:r>
              <a:rPr lang="en-US" sz="1200" b="1" spc="150" kern="0" dirty="0">
                <a:solidFill>
                  <a:schemeClr val="accent2"/>
                </a:solidFill>
              </a:rPr>
              <a:t>WHAT IS BOOKED</a:t>
            </a:r>
            <a:endParaRPr lang="en-US" sz="1200" dirty="0"/>
          </a:p>
        </p:txBody>
      </p:sp>
      <p:sp>
        <p:nvSpPr>
          <p:cNvPr id="7" name="Text 4"/>
          <p:cNvSpPr txBox="1"/>
          <p:nvPr/>
        </p:nvSpPr>
        <p:spPr>
          <a:xfrm>
            <a:off x="8686800" y="1783080"/>
            <a:ext cx="2953512" cy="256032"/>
          </a:xfrm>
          <a:prstGeom prst="rect">
            <a:avLst/>
          </a:prstGeom>
          <a:noFill/>
          <a:ln/>
        </p:spPr>
        <p:txBody>
          <a:bodyPr wrap="square" lIns="0" tIns="0" rIns="0" bIns="0" rtlCol="0" anchor="ctr"/>
          <a:lstStyle/>
          <a:p>
            <a:pPr algn="l" indent="0" marL="0">
              <a:buNone/>
            </a:pPr>
            <a:r>
              <a:rPr lang="en-US" sz="1200" b="1" spc="150" kern="0" dirty="0">
                <a:solidFill>
                  <a:schemeClr val="accent4"/>
                </a:solidFill>
              </a:rPr>
              <a:t>WHAT IS LEFT</a:t>
            </a:r>
            <a:endParaRPr lang="en-US" sz="1200" dirty="0"/>
          </a:p>
        </p:txBody>
      </p:sp>
      <p:sp>
        <p:nvSpPr>
          <p:cNvPr id="8" name="Shape 5"/>
          <p:cNvSpPr/>
          <p:nvPr/>
        </p:nvSpPr>
        <p:spPr>
          <a:xfrm>
            <a:off x="548640" y="2788920"/>
            <a:ext cx="3017520" cy="914400"/>
          </a:xfrm>
          <a:prstGeom prst="roundRect">
            <a:avLst>
              <a:gd name="adj" fmla="val 8000"/>
            </a:avLst>
          </a:prstGeom>
          <a:solidFill>
            <a:schemeClr val="accent1"/>
          </a:solidFill>
          <a:ln/>
        </p:spPr>
      </p:sp>
      <p:sp>
        <p:nvSpPr>
          <p:cNvPr id="9" name="Text 6"/>
          <p:cNvSpPr txBox="1"/>
          <p:nvPr/>
        </p:nvSpPr>
        <p:spPr>
          <a:xfrm>
            <a:off x="777240" y="2880360"/>
            <a:ext cx="2560320" cy="365760"/>
          </a:xfrm>
          <a:prstGeom prst="rect">
            <a:avLst/>
          </a:prstGeom>
          <a:noFill/>
          <a:ln/>
        </p:spPr>
        <p:txBody>
          <a:bodyPr wrap="square" lIns="0" tIns="0" rIns="0" bIns="0" rtlCol="0" anchor="ctr"/>
          <a:lstStyle/>
          <a:p>
            <a:pPr algn="l" indent="0" marL="0">
              <a:buNone/>
            </a:pPr>
            <a:r>
              <a:rPr lang="en-US" sz="1600" b="1" dirty="0">
                <a:solidFill>
                  <a:schemeClr val="bg1"/>
                </a:solidFill>
              </a:rPr>
              <a:t>Revenue Contract</a:t>
            </a:r>
            <a:endParaRPr lang="en-US" sz="1600" dirty="0"/>
          </a:p>
        </p:txBody>
      </p:sp>
      <p:sp>
        <p:nvSpPr>
          <p:cNvPr id="10" name="Text 7"/>
          <p:cNvSpPr txBox="1"/>
          <p:nvPr/>
        </p:nvSpPr>
        <p:spPr>
          <a:xfrm>
            <a:off x="777240" y="3246120"/>
            <a:ext cx="2560320" cy="274320"/>
          </a:xfrm>
          <a:prstGeom prst="rect">
            <a:avLst/>
          </a:prstGeom>
          <a:noFill/>
          <a:ln/>
        </p:spPr>
        <p:txBody>
          <a:bodyPr wrap="square" lIns="0" tIns="0" rIns="0" bIns="0" rtlCol="0" anchor="ctr"/>
          <a:lstStyle/>
          <a:p>
            <a:pPr algn="l" indent="0" marL="0">
              <a:buNone/>
            </a:pPr>
            <a:r>
              <a:rPr lang="en-US" sz="1200" dirty="0">
                <a:solidFill>
                  <a:schemeClr val="bg1"/>
                </a:solidFill>
              </a:rPr>
              <a:t>Advisory agreement or IMA (RVC-)</a:t>
            </a:r>
            <a:endParaRPr lang="en-US" sz="1200" dirty="0"/>
          </a:p>
        </p:txBody>
      </p:sp>
      <p:sp>
        <p:nvSpPr>
          <p:cNvPr id="11" name="Shape 8"/>
          <p:cNvSpPr/>
          <p:nvPr/>
        </p:nvSpPr>
        <p:spPr>
          <a:xfrm>
            <a:off x="2057400" y="3703320"/>
            <a:ext cx="0" cy="457200"/>
          </a:xfrm>
          <a:prstGeom prst="line">
            <a:avLst/>
          </a:prstGeom>
          <a:noFill/>
          <a:ln w="19050">
            <a:solidFill>
              <a:schemeClr val="tx2"/>
            </a:solidFill>
            <a:prstDash val="solid"/>
            <a:tailEnd type="triangle"/>
          </a:ln>
        </p:spPr>
      </p:sp>
      <p:sp>
        <p:nvSpPr>
          <p:cNvPr id="12" name="Shape 9"/>
          <p:cNvSpPr/>
          <p:nvPr/>
        </p:nvSpPr>
        <p:spPr>
          <a:xfrm>
            <a:off x="548640" y="4160520"/>
            <a:ext cx="3017520" cy="822960"/>
          </a:xfrm>
          <a:prstGeom prst="roundRect">
            <a:avLst>
              <a:gd name="adj" fmla="val 8889"/>
            </a:avLst>
          </a:prstGeom>
          <a:solidFill>
            <a:schemeClr val="bg2"/>
          </a:solidFill>
          <a:ln/>
        </p:spPr>
      </p:sp>
      <p:sp>
        <p:nvSpPr>
          <p:cNvPr id="13" name="Text 10"/>
          <p:cNvSpPr txBox="1"/>
          <p:nvPr/>
        </p:nvSpPr>
        <p:spPr>
          <a:xfrm>
            <a:off x="777240" y="4224528"/>
            <a:ext cx="2560320" cy="329184"/>
          </a:xfrm>
          <a:prstGeom prst="rect">
            <a:avLst/>
          </a:prstGeom>
          <a:noFill/>
          <a:ln/>
        </p:spPr>
        <p:txBody>
          <a:bodyPr wrap="square" lIns="0" tIns="0" rIns="0" bIns="0" rtlCol="0" anchor="ctr"/>
          <a:lstStyle/>
          <a:p>
            <a:pPr algn="l" indent="0" marL="0">
              <a:buNone/>
            </a:pPr>
            <a:r>
              <a:rPr lang="en-US" sz="1400" b="1" dirty="0">
                <a:solidFill>
                  <a:schemeClr val="tx1"/>
                </a:solidFill>
              </a:rPr>
              <a:t>Performance Obligation</a:t>
            </a:r>
            <a:endParaRPr lang="en-US" sz="1400" dirty="0"/>
          </a:p>
        </p:txBody>
      </p:sp>
      <p:sp>
        <p:nvSpPr>
          <p:cNvPr id="14" name="Text 11"/>
          <p:cNvSpPr txBox="1"/>
          <p:nvPr/>
        </p:nvSpPr>
        <p:spPr>
          <a:xfrm>
            <a:off x="777240" y="4553712"/>
            <a:ext cx="2560320" cy="274320"/>
          </a:xfrm>
          <a:prstGeom prst="rect">
            <a:avLst/>
          </a:prstGeom>
          <a:noFill/>
          <a:ln/>
        </p:spPr>
        <p:txBody>
          <a:bodyPr wrap="square" lIns="0" tIns="0" rIns="0" bIns="0" rtlCol="0" anchor="ctr"/>
          <a:lstStyle/>
          <a:p>
            <a:pPr algn="l" indent="0" marL="0">
              <a:buNone/>
            </a:pPr>
            <a:r>
              <a:rPr lang="en-US" sz="1200" dirty="0">
                <a:solidFill>
                  <a:schemeClr val="tx2"/>
                </a:solidFill>
              </a:rPr>
              <a:t>The promise and how it is satisfied</a:t>
            </a:r>
            <a:endParaRPr lang="en-US" sz="1200" dirty="0"/>
          </a:p>
        </p:txBody>
      </p:sp>
      <p:sp>
        <p:nvSpPr>
          <p:cNvPr id="15" name="Text 12"/>
          <p:cNvSpPr txBox="1"/>
          <p:nvPr/>
        </p:nvSpPr>
        <p:spPr>
          <a:xfrm>
            <a:off x="548640" y="2194560"/>
            <a:ext cx="3017520" cy="457200"/>
          </a:xfrm>
          <a:prstGeom prst="rect">
            <a:avLst/>
          </a:prstGeom>
          <a:noFill/>
          <a:ln/>
        </p:spPr>
        <p:txBody>
          <a:bodyPr wrap="square" lIns="0" tIns="0" rIns="0" bIns="0" rtlCol="0" anchor="ctr"/>
          <a:lstStyle/>
          <a:p>
            <a:pPr algn="l" indent="0" marL="0">
              <a:buNone/>
            </a:pPr>
            <a:r>
              <a:rPr lang="en-US" sz="1200" dirty="0">
                <a:solidFill>
                  <a:schemeClr val="tx2"/>
                </a:solidFill>
              </a:rPr>
              <a:t>One contract per identified customer: the fund or the mandate client</a:t>
            </a:r>
            <a:endParaRPr lang="en-US" sz="1200" dirty="0"/>
          </a:p>
        </p:txBody>
      </p:sp>
      <p:sp>
        <p:nvSpPr>
          <p:cNvPr id="16" name="Shape 13"/>
          <p:cNvSpPr/>
          <p:nvPr/>
        </p:nvSpPr>
        <p:spPr>
          <a:xfrm>
            <a:off x="4480560" y="2240280"/>
            <a:ext cx="3291840" cy="822960"/>
          </a:xfrm>
          <a:prstGeom prst="roundRect">
            <a:avLst>
              <a:gd name="adj" fmla="val 8889"/>
            </a:avLst>
          </a:prstGeom>
          <a:solidFill>
            <a:schemeClr val="accent2"/>
          </a:solidFill>
          <a:ln/>
        </p:spPr>
      </p:sp>
      <p:sp>
        <p:nvSpPr>
          <p:cNvPr id="17" name="Text 14"/>
          <p:cNvSpPr txBox="1"/>
          <p:nvPr/>
        </p:nvSpPr>
        <p:spPr>
          <a:xfrm>
            <a:off x="4709160" y="2313432"/>
            <a:ext cx="2834640" cy="329184"/>
          </a:xfrm>
          <a:prstGeom prst="rect">
            <a:avLst/>
          </a:prstGeom>
          <a:noFill/>
          <a:ln/>
        </p:spPr>
        <p:txBody>
          <a:bodyPr wrap="square" lIns="0" tIns="0" rIns="0" bIns="0" rtlCol="0" anchor="ctr"/>
          <a:lstStyle/>
          <a:p>
            <a:pPr algn="l" indent="0" marL="0">
              <a:buNone/>
            </a:pPr>
            <a:r>
              <a:rPr lang="en-US" sz="1400" b="1" dirty="0">
                <a:solidFill>
                  <a:schemeClr val="bg1"/>
                </a:solidFill>
              </a:rPr>
              <a:t>Fee Revenue Record</a:t>
            </a:r>
            <a:endParaRPr lang="en-US" sz="1400" dirty="0"/>
          </a:p>
        </p:txBody>
      </p:sp>
      <p:sp>
        <p:nvSpPr>
          <p:cNvPr id="18" name="Text 15"/>
          <p:cNvSpPr txBox="1"/>
          <p:nvPr/>
        </p:nvSpPr>
        <p:spPr>
          <a:xfrm>
            <a:off x="4709160" y="2642616"/>
            <a:ext cx="2834640" cy="329184"/>
          </a:xfrm>
          <a:prstGeom prst="rect">
            <a:avLst/>
          </a:prstGeom>
          <a:noFill/>
          <a:ln/>
        </p:spPr>
        <p:txBody>
          <a:bodyPr wrap="square" lIns="0" tIns="0" rIns="0" bIns="0" rtlCol="0" anchor="ctr"/>
          <a:lstStyle/>
          <a:p>
            <a:pPr algn="l" indent="0" marL="0">
              <a:buNone/>
            </a:pPr>
            <a:r>
              <a:rPr lang="en-US" sz="1200" dirty="0">
                <a:solidFill>
                  <a:schemeClr val="bg1"/>
                </a:solidFill>
              </a:rPr>
              <a:t>Booked fee by share class and period</a:t>
            </a:r>
            <a:endParaRPr lang="en-US" sz="1200" dirty="0"/>
          </a:p>
        </p:txBody>
      </p:sp>
      <p:sp>
        <p:nvSpPr>
          <p:cNvPr id="19" name="Shape 16"/>
          <p:cNvSpPr/>
          <p:nvPr/>
        </p:nvSpPr>
        <p:spPr>
          <a:xfrm>
            <a:off x="4480560" y="3246120"/>
            <a:ext cx="3291840" cy="822960"/>
          </a:xfrm>
          <a:prstGeom prst="roundRect">
            <a:avLst>
              <a:gd name="adj" fmla="val 8889"/>
            </a:avLst>
          </a:prstGeom>
          <a:solidFill>
            <a:schemeClr val="bg2"/>
          </a:solidFill>
          <a:ln/>
        </p:spPr>
      </p:sp>
      <p:sp>
        <p:nvSpPr>
          <p:cNvPr id="20" name="Text 17"/>
          <p:cNvSpPr txBox="1"/>
          <p:nvPr/>
        </p:nvSpPr>
        <p:spPr>
          <a:xfrm>
            <a:off x="4709160" y="331927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Performance Fee Record</a:t>
            </a:r>
            <a:endParaRPr lang="en-US" sz="1400" dirty="0"/>
          </a:p>
        </p:txBody>
      </p:sp>
      <p:sp>
        <p:nvSpPr>
          <p:cNvPr id="21" name="Text 18"/>
          <p:cNvSpPr txBox="1"/>
          <p:nvPr/>
        </p:nvSpPr>
        <p:spPr>
          <a:xfrm>
            <a:off x="4709160" y="364845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Constrained until crystallization</a:t>
            </a:r>
            <a:endParaRPr lang="en-US" sz="1200" dirty="0"/>
          </a:p>
        </p:txBody>
      </p:sp>
      <p:sp>
        <p:nvSpPr>
          <p:cNvPr id="22" name="Shape 19"/>
          <p:cNvSpPr/>
          <p:nvPr/>
        </p:nvSpPr>
        <p:spPr>
          <a:xfrm>
            <a:off x="4480560" y="4251960"/>
            <a:ext cx="3291840" cy="822960"/>
          </a:xfrm>
          <a:prstGeom prst="roundRect">
            <a:avLst>
              <a:gd name="adj" fmla="val 8889"/>
            </a:avLst>
          </a:prstGeom>
          <a:solidFill>
            <a:schemeClr val="bg2"/>
          </a:solidFill>
          <a:ln/>
        </p:spPr>
      </p:sp>
      <p:sp>
        <p:nvSpPr>
          <p:cNvPr id="23" name="Text 20"/>
          <p:cNvSpPr txBox="1"/>
          <p:nvPr/>
        </p:nvSpPr>
        <p:spPr>
          <a:xfrm>
            <a:off x="4709160" y="432511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Distribution Revenue Record</a:t>
            </a:r>
            <a:endParaRPr lang="en-US" sz="1400" dirty="0"/>
          </a:p>
        </p:txBody>
      </p:sp>
      <p:sp>
        <p:nvSpPr>
          <p:cNvPr id="24" name="Text 21"/>
          <p:cNvSpPr txBox="1"/>
          <p:nvPr/>
        </p:nvSpPr>
        <p:spPr>
          <a:xfrm>
            <a:off x="4709160" y="465429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12b-1, servicing fees and sales charges</a:t>
            </a:r>
            <a:endParaRPr lang="en-US" sz="1200" dirty="0"/>
          </a:p>
        </p:txBody>
      </p:sp>
      <p:sp>
        <p:nvSpPr>
          <p:cNvPr id="25" name="Shape 22"/>
          <p:cNvSpPr/>
          <p:nvPr/>
        </p:nvSpPr>
        <p:spPr>
          <a:xfrm flipV="1">
            <a:off x="3566160" y="2651760"/>
            <a:ext cx="914400" cy="594360"/>
          </a:xfrm>
          <a:prstGeom prst="line">
            <a:avLst/>
          </a:prstGeom>
          <a:noFill/>
          <a:ln w="19050">
            <a:solidFill>
              <a:schemeClr val="tx2"/>
            </a:solidFill>
            <a:prstDash val="solid"/>
            <a:tailEnd type="triangle"/>
          </a:ln>
        </p:spPr>
      </p:sp>
      <p:sp>
        <p:nvSpPr>
          <p:cNvPr id="26" name="Shape 23"/>
          <p:cNvSpPr/>
          <p:nvPr/>
        </p:nvSpPr>
        <p:spPr>
          <a:xfrm>
            <a:off x="3566160" y="3246120"/>
            <a:ext cx="914400" cy="411480"/>
          </a:xfrm>
          <a:prstGeom prst="line">
            <a:avLst/>
          </a:prstGeom>
          <a:noFill/>
          <a:ln w="19050">
            <a:solidFill>
              <a:schemeClr val="tx2"/>
            </a:solidFill>
            <a:prstDash val="solid"/>
            <a:tailEnd type="triangle"/>
          </a:ln>
        </p:spPr>
      </p:sp>
      <p:sp>
        <p:nvSpPr>
          <p:cNvPr id="27" name="Shape 24"/>
          <p:cNvSpPr/>
          <p:nvPr/>
        </p:nvSpPr>
        <p:spPr>
          <a:xfrm>
            <a:off x="3566160" y="3246120"/>
            <a:ext cx="914400" cy="1417320"/>
          </a:xfrm>
          <a:prstGeom prst="line">
            <a:avLst/>
          </a:prstGeom>
          <a:noFill/>
          <a:ln w="19050">
            <a:solidFill>
              <a:schemeClr val="tx2"/>
            </a:solidFill>
            <a:prstDash val="solid"/>
            <a:tailEnd type="triangle"/>
          </a:ln>
        </p:spPr>
      </p:sp>
      <p:sp>
        <p:nvSpPr>
          <p:cNvPr id="28" name="Shape 25"/>
          <p:cNvSpPr/>
          <p:nvPr/>
        </p:nvSpPr>
        <p:spPr>
          <a:xfrm>
            <a:off x="7772400" y="2651760"/>
            <a:ext cx="914400" cy="0"/>
          </a:xfrm>
          <a:prstGeom prst="line">
            <a:avLst/>
          </a:prstGeom>
          <a:noFill/>
          <a:ln w="19050">
            <a:solidFill>
              <a:schemeClr val="tx2"/>
            </a:solidFill>
            <a:prstDash val="solid"/>
            <a:tailEnd type="triangle"/>
          </a:ln>
        </p:spPr>
      </p:sp>
      <p:sp>
        <p:nvSpPr>
          <p:cNvPr id="29" name="Shape 26"/>
          <p:cNvSpPr/>
          <p:nvPr/>
        </p:nvSpPr>
        <p:spPr>
          <a:xfrm>
            <a:off x="8686800" y="2240280"/>
            <a:ext cx="2953512" cy="822960"/>
          </a:xfrm>
          <a:prstGeom prst="roundRect">
            <a:avLst>
              <a:gd name="adj" fmla="val 8889"/>
            </a:avLst>
          </a:prstGeom>
          <a:solidFill>
            <a:schemeClr val="accent4"/>
          </a:solidFill>
          <a:ln/>
        </p:spPr>
      </p:sp>
      <p:sp>
        <p:nvSpPr>
          <p:cNvPr id="30" name="Text 27"/>
          <p:cNvSpPr txBox="1"/>
          <p:nvPr/>
        </p:nvSpPr>
        <p:spPr>
          <a:xfrm>
            <a:off x="8915400" y="2313432"/>
            <a:ext cx="2496312" cy="329184"/>
          </a:xfrm>
          <a:prstGeom prst="rect">
            <a:avLst/>
          </a:prstGeom>
          <a:noFill/>
          <a:ln/>
        </p:spPr>
        <p:txBody>
          <a:bodyPr wrap="square" lIns="0" tIns="0" rIns="0" bIns="0" rtlCol="0" anchor="ctr"/>
          <a:lstStyle/>
          <a:p>
            <a:pPr algn="l" indent="0" marL="0">
              <a:buNone/>
            </a:pPr>
            <a:r>
              <a:rPr lang="en-US" sz="1400" b="1" dirty="0">
                <a:solidFill>
                  <a:schemeClr val="bg1"/>
                </a:solidFill>
              </a:rPr>
              <a:t>Profitability Record</a:t>
            </a:r>
            <a:endParaRPr lang="en-US" sz="1400" dirty="0"/>
          </a:p>
        </p:txBody>
      </p:sp>
      <p:sp>
        <p:nvSpPr>
          <p:cNvPr id="31" name="Text 28"/>
          <p:cNvSpPr txBox="1"/>
          <p:nvPr/>
        </p:nvSpPr>
        <p:spPr>
          <a:xfrm>
            <a:off x="8915400" y="2642616"/>
            <a:ext cx="2496312" cy="329184"/>
          </a:xfrm>
          <a:prstGeom prst="rect">
            <a:avLst/>
          </a:prstGeom>
          <a:noFill/>
          <a:ln/>
        </p:spPr>
        <p:txBody>
          <a:bodyPr wrap="square" lIns="0" tIns="0" rIns="0" bIns="0" rtlCol="0" anchor="ctr"/>
          <a:lstStyle/>
          <a:p>
            <a:pPr algn="l" indent="0" marL="0">
              <a:buNone/>
            </a:pPr>
            <a:r>
              <a:rPr lang="en-US" sz="1200" dirty="0">
                <a:solidFill>
                  <a:schemeClr val="bg1"/>
                </a:solidFill>
              </a:rPr>
              <a:t>By channel, partner, product, client</a:t>
            </a:r>
            <a:endParaRPr lang="en-US" sz="1200" dirty="0"/>
          </a:p>
        </p:txBody>
      </p:sp>
      <p:sp>
        <p:nvSpPr>
          <p:cNvPr id="32" name="Text 29"/>
          <p:cNvSpPr txBox="1"/>
          <p:nvPr/>
        </p:nvSpPr>
        <p:spPr>
          <a:xfrm>
            <a:off x="8686800" y="3200400"/>
            <a:ext cx="2953512" cy="640080"/>
          </a:xfrm>
          <a:prstGeom prst="rect">
            <a:avLst/>
          </a:prstGeom>
          <a:noFill/>
          <a:ln/>
        </p:spPr>
        <p:txBody>
          <a:bodyPr wrap="square" lIns="0" tIns="0" rIns="0" bIns="0" rtlCol="0" anchor="t"/>
          <a:lstStyle/>
          <a:p>
            <a:pPr algn="l" indent="0" marL="0">
              <a:buNone/>
            </a:pPr>
            <a:r>
              <a:rPr lang="en-US" sz="1200" dirty="0">
                <a:solidFill>
                  <a:schemeClr val="tx2"/>
                </a:solidFill>
              </a:rPr>
              <a:t>Booked revenue meets cost items and allocated cost at a declared grain, version and allocation run.</a:t>
            </a:r>
            <a:endParaRPr lang="en-US" sz="1200" dirty="0"/>
          </a:p>
        </p:txBody>
      </p:sp>
      <p:sp>
        <p:nvSpPr>
          <p:cNvPr id="33" name="Shape 30"/>
          <p:cNvSpPr/>
          <p:nvPr/>
        </p:nvSpPr>
        <p:spPr>
          <a:xfrm>
            <a:off x="548640" y="5303520"/>
            <a:ext cx="11091672" cy="868680"/>
          </a:xfrm>
          <a:prstGeom prst="roundRect">
            <a:avLst>
              <a:gd name="adj" fmla="val 8421"/>
            </a:avLst>
          </a:prstGeom>
          <a:solidFill>
            <a:schemeClr val="bg2"/>
          </a:solidFill>
          <a:ln/>
        </p:spPr>
      </p:sp>
      <p:sp>
        <p:nvSpPr>
          <p:cNvPr id="34" name="Text 31"/>
          <p:cNvSpPr txBox="1"/>
          <p:nvPr/>
        </p:nvSpPr>
        <p:spPr>
          <a:xfrm>
            <a:off x="822960" y="5303520"/>
            <a:ext cx="10543032" cy="868680"/>
          </a:xfrm>
          <a:prstGeom prst="rect">
            <a:avLst/>
          </a:prstGeom>
          <a:noFill/>
          <a:ln/>
        </p:spPr>
        <p:txBody>
          <a:bodyPr wrap="square" lIns="0" tIns="0" rIns="0" bIns="0" rtlCol="0" anchor="ctr"/>
          <a:lstStyle/>
          <a:p>
            <a:pPr algn="l" indent="0" marL="0">
              <a:buNone/>
            </a:pPr>
            <a:r>
              <a:rPr lang="en-US" sz="1400" dirty="0">
                <a:solidFill>
                  <a:schemeClr val="tx1"/>
                </a:solidFill>
              </a:rPr>
              <a:t>Account for, do not recalculate: partner payments, payouts and campaign spend are calculated in their own domains and referenced by ID. This domain adds period, entity, account, cost center, accrual and capitalization.</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THE 11 FAMILIES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Eleven families in three groups</a:t>
            </a:r>
            <a:endParaRPr lang="en-US" sz="3600" dirty="0"/>
          </a:p>
        </p:txBody>
      </p:sp>
      <p:sp>
        <p:nvSpPr>
          <p:cNvPr id="5" name="Shape 2"/>
          <p:cNvSpPr/>
          <p:nvPr/>
        </p:nvSpPr>
        <p:spPr>
          <a:xfrm>
            <a:off x="548640" y="1783080"/>
            <a:ext cx="3511296" cy="777240"/>
          </a:xfrm>
          <a:prstGeom prst="roundRect">
            <a:avLst>
              <a:gd name="adj" fmla="val 9412"/>
            </a:avLst>
          </a:prstGeom>
          <a:solidFill>
            <a:schemeClr val="accent1"/>
          </a:solidFill>
          <a:ln/>
        </p:spPr>
      </p:sp>
      <p:sp>
        <p:nvSpPr>
          <p:cNvPr id="6" name="Text 3"/>
          <p:cNvSpPr txBox="1"/>
          <p:nvPr/>
        </p:nvSpPr>
        <p:spPr>
          <a:xfrm>
            <a:off x="731520"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The spine</a:t>
            </a:r>
            <a:endParaRPr lang="en-US" sz="1400" dirty="0"/>
          </a:p>
        </p:txBody>
      </p:sp>
      <p:sp>
        <p:nvSpPr>
          <p:cNvPr id="7" name="Text 4"/>
          <p:cNvSpPr txBox="1"/>
          <p:nvPr/>
        </p:nvSpPr>
        <p:spPr>
          <a:xfrm>
            <a:off x="731520"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2 families  |  7 objects  |  64 attributes</a:t>
            </a:r>
            <a:endParaRPr lang="en-US" sz="1200" dirty="0"/>
          </a:p>
        </p:txBody>
      </p:sp>
      <p:sp>
        <p:nvSpPr>
          <p:cNvPr id="8" name="Shape 5"/>
          <p:cNvSpPr/>
          <p:nvPr/>
        </p:nvSpPr>
        <p:spPr>
          <a:xfrm>
            <a:off x="548640" y="2697480"/>
            <a:ext cx="3511296" cy="612648"/>
          </a:xfrm>
          <a:prstGeom prst="roundRect">
            <a:avLst>
              <a:gd name="adj" fmla="val 11940"/>
            </a:avLst>
          </a:prstGeom>
          <a:solidFill>
            <a:schemeClr val="bg2"/>
          </a:solidFill>
          <a:ln/>
        </p:spPr>
      </p:sp>
      <p:sp>
        <p:nvSpPr>
          <p:cNvPr id="9" name="Text 6"/>
          <p:cNvSpPr txBox="1"/>
          <p:nvPr/>
        </p:nvSpPr>
        <p:spPr>
          <a:xfrm>
            <a:off x="731520"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Revenue &amp; Revenue Recognition</a:t>
            </a:r>
            <a:endParaRPr lang="en-US" sz="1300" dirty="0"/>
          </a:p>
        </p:txBody>
      </p:sp>
      <p:sp>
        <p:nvSpPr>
          <p:cNvPr id="10" name="Text 7"/>
          <p:cNvSpPr txBox="1"/>
          <p:nvPr/>
        </p:nvSpPr>
        <p:spPr>
          <a:xfrm>
            <a:off x="731520"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40 attributes  |  15 critical</a:t>
            </a:r>
            <a:endParaRPr lang="en-US" sz="1100" dirty="0"/>
          </a:p>
        </p:txBody>
      </p:sp>
      <p:sp>
        <p:nvSpPr>
          <p:cNvPr id="11" name="Shape 8"/>
          <p:cNvSpPr/>
          <p:nvPr/>
        </p:nvSpPr>
        <p:spPr>
          <a:xfrm>
            <a:off x="548640" y="3410712"/>
            <a:ext cx="3511296" cy="612648"/>
          </a:xfrm>
          <a:prstGeom prst="roundRect">
            <a:avLst>
              <a:gd name="adj" fmla="val 11940"/>
            </a:avLst>
          </a:prstGeom>
          <a:solidFill>
            <a:schemeClr val="bg2"/>
          </a:solidFill>
          <a:ln/>
        </p:spPr>
      </p:sp>
      <p:sp>
        <p:nvSpPr>
          <p:cNvPr id="12" name="Text 9"/>
          <p:cNvSpPr txBox="1"/>
          <p:nvPr/>
        </p:nvSpPr>
        <p:spPr>
          <a:xfrm>
            <a:off x="731520"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Distribution Expense Accounting</a:t>
            </a:r>
            <a:endParaRPr lang="en-US" sz="1300" dirty="0"/>
          </a:p>
        </p:txBody>
      </p:sp>
      <p:sp>
        <p:nvSpPr>
          <p:cNvPr id="13" name="Text 10"/>
          <p:cNvSpPr txBox="1"/>
          <p:nvPr/>
        </p:nvSpPr>
        <p:spPr>
          <a:xfrm>
            <a:off x="731520"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24 attributes  |  9 critical</a:t>
            </a:r>
            <a:endParaRPr lang="en-US" sz="1100" dirty="0"/>
          </a:p>
        </p:txBody>
      </p:sp>
      <p:sp>
        <p:nvSpPr>
          <p:cNvPr id="14" name="Shape 11"/>
          <p:cNvSpPr/>
          <p:nvPr/>
        </p:nvSpPr>
        <p:spPr>
          <a:xfrm>
            <a:off x="4338828" y="1783080"/>
            <a:ext cx="3511296" cy="777240"/>
          </a:xfrm>
          <a:prstGeom prst="roundRect">
            <a:avLst>
              <a:gd name="adj" fmla="val 9412"/>
            </a:avLst>
          </a:prstGeom>
          <a:solidFill>
            <a:schemeClr val="accent2"/>
          </a:solidFill>
          <a:ln/>
        </p:spPr>
      </p:sp>
      <p:sp>
        <p:nvSpPr>
          <p:cNvPr id="15" name="Text 12"/>
          <p:cNvSpPr txBox="1"/>
          <p:nvPr/>
        </p:nvSpPr>
        <p:spPr>
          <a:xfrm>
            <a:off x="4521708"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How revenue and cost are booked</a:t>
            </a:r>
            <a:endParaRPr lang="en-US" sz="1400" dirty="0"/>
          </a:p>
        </p:txBody>
      </p:sp>
      <p:sp>
        <p:nvSpPr>
          <p:cNvPr id="16" name="Text 13"/>
          <p:cNvSpPr txBox="1"/>
          <p:nvPr/>
        </p:nvSpPr>
        <p:spPr>
          <a:xfrm>
            <a:off x="4521708"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4 families  |  9 objects  |  67 attributes</a:t>
            </a:r>
            <a:endParaRPr lang="en-US" sz="1200" dirty="0"/>
          </a:p>
        </p:txBody>
      </p:sp>
      <p:sp>
        <p:nvSpPr>
          <p:cNvPr id="17" name="Shape 14"/>
          <p:cNvSpPr/>
          <p:nvPr/>
        </p:nvSpPr>
        <p:spPr>
          <a:xfrm>
            <a:off x="4338828" y="2697480"/>
            <a:ext cx="3511296" cy="612648"/>
          </a:xfrm>
          <a:prstGeom prst="roundRect">
            <a:avLst>
              <a:gd name="adj" fmla="val 11940"/>
            </a:avLst>
          </a:prstGeom>
          <a:solidFill>
            <a:schemeClr val="bg2"/>
          </a:solidFill>
          <a:ln/>
        </p:spPr>
      </p:sp>
      <p:sp>
        <p:nvSpPr>
          <p:cNvPr id="18" name="Text 15"/>
          <p:cNvSpPr txBox="1"/>
          <p:nvPr/>
        </p:nvSpPr>
        <p:spPr>
          <a:xfrm>
            <a:off x="4521708"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Fee Waivers &amp; Fund Expense Support</a:t>
            </a:r>
            <a:endParaRPr lang="en-US" sz="1300" dirty="0"/>
          </a:p>
        </p:txBody>
      </p:sp>
      <p:sp>
        <p:nvSpPr>
          <p:cNvPr id="19" name="Text 16"/>
          <p:cNvSpPr txBox="1"/>
          <p:nvPr/>
        </p:nvSpPr>
        <p:spPr>
          <a:xfrm>
            <a:off x="4521708"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12 attributes  |  4 critical</a:t>
            </a:r>
            <a:endParaRPr lang="en-US" sz="1100" dirty="0"/>
          </a:p>
        </p:txBody>
      </p:sp>
      <p:sp>
        <p:nvSpPr>
          <p:cNvPr id="20" name="Shape 17"/>
          <p:cNvSpPr/>
          <p:nvPr/>
        </p:nvSpPr>
        <p:spPr>
          <a:xfrm>
            <a:off x="4338828" y="3410712"/>
            <a:ext cx="3511296" cy="612648"/>
          </a:xfrm>
          <a:prstGeom prst="roundRect">
            <a:avLst>
              <a:gd name="adj" fmla="val 11940"/>
            </a:avLst>
          </a:prstGeom>
          <a:solidFill>
            <a:schemeClr val="bg2"/>
          </a:solidFill>
          <a:ln/>
        </p:spPr>
      </p:sp>
      <p:sp>
        <p:nvSpPr>
          <p:cNvPr id="21" name="Text 18"/>
          <p:cNvSpPr txBox="1"/>
          <p:nvPr/>
        </p:nvSpPr>
        <p:spPr>
          <a:xfrm>
            <a:off x="4521708" y="3465576"/>
            <a:ext cx="3145536" cy="274320"/>
          </a:xfrm>
          <a:prstGeom prst="rect">
            <a:avLst/>
          </a:prstGeom>
          <a:noFill/>
          <a:ln/>
        </p:spPr>
        <p:txBody>
          <a:bodyPr wrap="square" lIns="0" tIns="0" rIns="0" bIns="0" rtlCol="0" anchor="ctr"/>
          <a:lstStyle/>
          <a:p>
            <a:pPr algn="l" indent="0" marL="0">
              <a:buNone/>
            </a:pPr>
            <a:r>
              <a:rPr lang="en-US" sz="1100" b="1" dirty="0">
                <a:solidFill>
                  <a:schemeClr val="tx1"/>
                </a:solidFill>
              </a:rPr>
              <a:t>Contract Costs &amp; Deferred Commissions</a:t>
            </a:r>
            <a:endParaRPr lang="en-US" sz="1100" dirty="0"/>
          </a:p>
        </p:txBody>
      </p:sp>
      <p:sp>
        <p:nvSpPr>
          <p:cNvPr id="22" name="Text 19"/>
          <p:cNvSpPr txBox="1"/>
          <p:nvPr/>
        </p:nvSpPr>
        <p:spPr>
          <a:xfrm>
            <a:off x="4521708"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16 attributes  |  4 critical</a:t>
            </a:r>
            <a:endParaRPr lang="en-US" sz="1100" dirty="0"/>
          </a:p>
        </p:txBody>
      </p:sp>
      <p:sp>
        <p:nvSpPr>
          <p:cNvPr id="23" name="Shape 20"/>
          <p:cNvSpPr/>
          <p:nvPr/>
        </p:nvSpPr>
        <p:spPr>
          <a:xfrm>
            <a:off x="4338828" y="4123944"/>
            <a:ext cx="3511296" cy="612648"/>
          </a:xfrm>
          <a:prstGeom prst="roundRect">
            <a:avLst>
              <a:gd name="adj" fmla="val 11940"/>
            </a:avLst>
          </a:prstGeom>
          <a:solidFill>
            <a:schemeClr val="bg2"/>
          </a:solidFill>
          <a:ln/>
        </p:spPr>
      </p:sp>
      <p:sp>
        <p:nvSpPr>
          <p:cNvPr id="24" name="Text 21"/>
          <p:cNvSpPr txBox="1"/>
          <p:nvPr/>
        </p:nvSpPr>
        <p:spPr>
          <a:xfrm>
            <a:off x="4521708"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Chart of Accounts &amp; GL Posting</a:t>
            </a:r>
            <a:endParaRPr lang="en-US" sz="1300" dirty="0"/>
          </a:p>
        </p:txBody>
      </p:sp>
      <p:sp>
        <p:nvSpPr>
          <p:cNvPr id="25" name="Text 22"/>
          <p:cNvSpPr txBox="1"/>
          <p:nvPr/>
        </p:nvSpPr>
        <p:spPr>
          <a:xfrm>
            <a:off x="4521708"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18 attributes  |  5 critical</a:t>
            </a:r>
            <a:endParaRPr lang="en-US" sz="1100" dirty="0"/>
          </a:p>
        </p:txBody>
      </p:sp>
      <p:sp>
        <p:nvSpPr>
          <p:cNvPr id="26" name="Shape 23"/>
          <p:cNvSpPr/>
          <p:nvPr/>
        </p:nvSpPr>
        <p:spPr>
          <a:xfrm>
            <a:off x="4338828" y="4837176"/>
            <a:ext cx="3511296" cy="612648"/>
          </a:xfrm>
          <a:prstGeom prst="roundRect">
            <a:avLst>
              <a:gd name="adj" fmla="val 11940"/>
            </a:avLst>
          </a:prstGeom>
          <a:solidFill>
            <a:schemeClr val="bg2"/>
          </a:solidFill>
          <a:ln/>
        </p:spPr>
      </p:sp>
      <p:sp>
        <p:nvSpPr>
          <p:cNvPr id="27" name="Text 24"/>
          <p:cNvSpPr txBox="1"/>
          <p:nvPr/>
        </p:nvSpPr>
        <p:spPr>
          <a:xfrm>
            <a:off x="4521708" y="4892040"/>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Intercompany &amp; Transfer Pricing</a:t>
            </a:r>
            <a:endParaRPr lang="en-US" sz="1300" dirty="0"/>
          </a:p>
        </p:txBody>
      </p:sp>
      <p:sp>
        <p:nvSpPr>
          <p:cNvPr id="28" name="Text 25"/>
          <p:cNvSpPr txBox="1"/>
          <p:nvPr/>
        </p:nvSpPr>
        <p:spPr>
          <a:xfrm>
            <a:off x="4521708" y="5157216"/>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21 attributes  |  6 critical</a:t>
            </a:r>
            <a:endParaRPr lang="en-US" sz="1100" dirty="0"/>
          </a:p>
        </p:txBody>
      </p:sp>
      <p:sp>
        <p:nvSpPr>
          <p:cNvPr id="29" name="Shape 26"/>
          <p:cNvSpPr/>
          <p:nvPr/>
        </p:nvSpPr>
        <p:spPr>
          <a:xfrm>
            <a:off x="8129016" y="1783080"/>
            <a:ext cx="3511296" cy="777240"/>
          </a:xfrm>
          <a:prstGeom prst="roundRect">
            <a:avLst>
              <a:gd name="adj" fmla="val 9412"/>
            </a:avLst>
          </a:prstGeom>
          <a:solidFill>
            <a:schemeClr val="accent5"/>
          </a:solidFill>
          <a:ln/>
        </p:spPr>
      </p:sp>
      <p:sp>
        <p:nvSpPr>
          <p:cNvPr id="30" name="Text 27"/>
          <p:cNvSpPr txBox="1"/>
          <p:nvPr/>
        </p:nvSpPr>
        <p:spPr>
          <a:xfrm>
            <a:off x="8311896"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How profit is measured</a:t>
            </a:r>
            <a:endParaRPr lang="en-US" sz="1400" dirty="0"/>
          </a:p>
        </p:txBody>
      </p:sp>
      <p:sp>
        <p:nvSpPr>
          <p:cNvPr id="31" name="Text 28"/>
          <p:cNvSpPr txBox="1"/>
          <p:nvPr/>
        </p:nvSpPr>
        <p:spPr>
          <a:xfrm>
            <a:off x="8311896"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5 families  |  19 objects  |  105 attributes</a:t>
            </a:r>
            <a:endParaRPr lang="en-US" sz="1200" dirty="0"/>
          </a:p>
        </p:txBody>
      </p:sp>
      <p:sp>
        <p:nvSpPr>
          <p:cNvPr id="32" name="Shape 29"/>
          <p:cNvSpPr/>
          <p:nvPr/>
        </p:nvSpPr>
        <p:spPr>
          <a:xfrm>
            <a:off x="8129016" y="2697480"/>
            <a:ext cx="3511296" cy="612648"/>
          </a:xfrm>
          <a:prstGeom prst="roundRect">
            <a:avLst>
              <a:gd name="adj" fmla="val 11940"/>
            </a:avLst>
          </a:prstGeom>
          <a:solidFill>
            <a:schemeClr val="bg2"/>
          </a:solidFill>
          <a:ln/>
        </p:spPr>
      </p:sp>
      <p:sp>
        <p:nvSpPr>
          <p:cNvPr id="33" name="Text 30"/>
          <p:cNvSpPr txBox="1"/>
          <p:nvPr/>
        </p:nvSpPr>
        <p:spPr>
          <a:xfrm>
            <a:off x="8311896"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Cost Allocation</a:t>
            </a:r>
            <a:endParaRPr lang="en-US" sz="1300" dirty="0"/>
          </a:p>
        </p:txBody>
      </p:sp>
      <p:sp>
        <p:nvSpPr>
          <p:cNvPr id="34" name="Text 31"/>
          <p:cNvSpPr txBox="1"/>
          <p:nvPr/>
        </p:nvSpPr>
        <p:spPr>
          <a:xfrm>
            <a:off x="8311896"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6 objects  |  30 attributes  |  6 critical</a:t>
            </a:r>
            <a:endParaRPr lang="en-US" sz="1100" dirty="0"/>
          </a:p>
        </p:txBody>
      </p:sp>
      <p:sp>
        <p:nvSpPr>
          <p:cNvPr id="35" name="Shape 32"/>
          <p:cNvSpPr/>
          <p:nvPr/>
        </p:nvSpPr>
        <p:spPr>
          <a:xfrm>
            <a:off x="8129016" y="3410712"/>
            <a:ext cx="3511296" cy="612648"/>
          </a:xfrm>
          <a:prstGeom prst="roundRect">
            <a:avLst>
              <a:gd name="adj" fmla="val 11940"/>
            </a:avLst>
          </a:prstGeom>
          <a:solidFill>
            <a:schemeClr val="bg2"/>
          </a:solidFill>
          <a:ln/>
        </p:spPr>
      </p:sp>
      <p:sp>
        <p:nvSpPr>
          <p:cNvPr id="36" name="Text 33"/>
          <p:cNvSpPr txBox="1"/>
          <p:nvPr/>
        </p:nvSpPr>
        <p:spPr>
          <a:xfrm>
            <a:off x="8311896"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Profitability &amp; Cost-to-Serve</a:t>
            </a:r>
            <a:endParaRPr lang="en-US" sz="1300" dirty="0"/>
          </a:p>
        </p:txBody>
      </p:sp>
      <p:sp>
        <p:nvSpPr>
          <p:cNvPr id="37" name="Text 34"/>
          <p:cNvSpPr txBox="1"/>
          <p:nvPr/>
        </p:nvSpPr>
        <p:spPr>
          <a:xfrm>
            <a:off x="8311896"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32 attributes  |  13 critical</a:t>
            </a:r>
            <a:endParaRPr lang="en-US" sz="1100" dirty="0"/>
          </a:p>
        </p:txBody>
      </p:sp>
      <p:sp>
        <p:nvSpPr>
          <p:cNvPr id="38" name="Shape 35"/>
          <p:cNvSpPr/>
          <p:nvPr/>
        </p:nvSpPr>
        <p:spPr>
          <a:xfrm>
            <a:off x="8129016" y="4123944"/>
            <a:ext cx="3511296" cy="612648"/>
          </a:xfrm>
          <a:prstGeom prst="roundRect">
            <a:avLst>
              <a:gd name="adj" fmla="val 11940"/>
            </a:avLst>
          </a:prstGeom>
          <a:solidFill>
            <a:schemeClr val="bg2"/>
          </a:solidFill>
          <a:ln/>
        </p:spPr>
      </p:sp>
      <p:sp>
        <p:nvSpPr>
          <p:cNvPr id="39" name="Text 36"/>
          <p:cNvSpPr txBox="1"/>
          <p:nvPr/>
        </p:nvSpPr>
        <p:spPr>
          <a:xfrm>
            <a:off x="8311896"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Management Reporting Hierarchies</a:t>
            </a:r>
            <a:endParaRPr lang="en-US" sz="1300" dirty="0"/>
          </a:p>
        </p:txBody>
      </p:sp>
      <p:sp>
        <p:nvSpPr>
          <p:cNvPr id="40" name="Text 37"/>
          <p:cNvSpPr txBox="1"/>
          <p:nvPr/>
        </p:nvSpPr>
        <p:spPr>
          <a:xfrm>
            <a:off x="8311896"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15 attributes  |  4 critical</a:t>
            </a:r>
            <a:endParaRPr lang="en-US" sz="1100" dirty="0"/>
          </a:p>
        </p:txBody>
      </p:sp>
      <p:sp>
        <p:nvSpPr>
          <p:cNvPr id="41" name="Shape 38"/>
          <p:cNvSpPr/>
          <p:nvPr/>
        </p:nvSpPr>
        <p:spPr>
          <a:xfrm>
            <a:off x="8129016" y="4837176"/>
            <a:ext cx="3511296" cy="612648"/>
          </a:xfrm>
          <a:prstGeom prst="roundRect">
            <a:avLst>
              <a:gd name="adj" fmla="val 11940"/>
            </a:avLst>
          </a:prstGeom>
          <a:solidFill>
            <a:schemeClr val="bg2"/>
          </a:solidFill>
          <a:ln/>
        </p:spPr>
      </p:sp>
      <p:sp>
        <p:nvSpPr>
          <p:cNvPr id="42" name="Text 39"/>
          <p:cNvSpPr txBox="1"/>
          <p:nvPr/>
        </p:nvSpPr>
        <p:spPr>
          <a:xfrm>
            <a:off x="8311896" y="4892040"/>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Budgets, Forecasts &amp; Plans</a:t>
            </a:r>
            <a:endParaRPr lang="en-US" sz="1300" dirty="0"/>
          </a:p>
        </p:txBody>
      </p:sp>
      <p:sp>
        <p:nvSpPr>
          <p:cNvPr id="43" name="Text 40"/>
          <p:cNvSpPr txBox="1"/>
          <p:nvPr/>
        </p:nvSpPr>
        <p:spPr>
          <a:xfrm>
            <a:off x="8311896" y="5157216"/>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23 attributes  |  5 critical</a:t>
            </a:r>
            <a:endParaRPr lang="en-US" sz="1100" dirty="0"/>
          </a:p>
        </p:txBody>
      </p:sp>
      <p:sp>
        <p:nvSpPr>
          <p:cNvPr id="44" name="Shape 41"/>
          <p:cNvSpPr/>
          <p:nvPr/>
        </p:nvSpPr>
        <p:spPr>
          <a:xfrm>
            <a:off x="8129016" y="5550408"/>
            <a:ext cx="3511296" cy="612648"/>
          </a:xfrm>
          <a:prstGeom prst="roundRect">
            <a:avLst>
              <a:gd name="adj" fmla="val 11940"/>
            </a:avLst>
          </a:prstGeom>
          <a:solidFill>
            <a:schemeClr val="bg2"/>
          </a:solidFill>
          <a:ln/>
        </p:spPr>
      </p:sp>
      <p:sp>
        <p:nvSpPr>
          <p:cNvPr id="45" name="Text 42"/>
          <p:cNvSpPr txBox="1"/>
          <p:nvPr/>
        </p:nvSpPr>
        <p:spPr>
          <a:xfrm>
            <a:off x="8311896" y="5605272"/>
            <a:ext cx="3145536" cy="274320"/>
          </a:xfrm>
          <a:prstGeom prst="rect">
            <a:avLst/>
          </a:prstGeom>
          <a:noFill/>
          <a:ln/>
        </p:spPr>
        <p:txBody>
          <a:bodyPr wrap="square" lIns="0" tIns="0" rIns="0" bIns="0" rtlCol="0" anchor="ctr"/>
          <a:lstStyle/>
          <a:p>
            <a:pPr algn="l" indent="0" marL="0">
              <a:buNone/>
            </a:pPr>
            <a:r>
              <a:rPr lang="en-US" sz="1100" b="1" dirty="0">
                <a:solidFill>
                  <a:schemeClr val="tx1"/>
                </a:solidFill>
              </a:rPr>
              <a:t>Period Close, Controls &amp; Data Management</a:t>
            </a:r>
            <a:endParaRPr lang="en-US" sz="1100" dirty="0"/>
          </a:p>
        </p:txBody>
      </p:sp>
      <p:sp>
        <p:nvSpPr>
          <p:cNvPr id="46" name="Text 43"/>
          <p:cNvSpPr txBox="1"/>
          <p:nvPr/>
        </p:nvSpPr>
        <p:spPr>
          <a:xfrm>
            <a:off x="8311896" y="5870448"/>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5 attributes  |  0 critical</a:t>
            </a:r>
            <a:endParaRPr lang="en-US" sz="1100" dirty="0"/>
          </a:p>
        </p:txBody>
      </p:sp>
      <p:sp>
        <p:nvSpPr>
          <p:cNvPr id="47" name="Text 44"/>
          <p:cNvSpPr txBox="1"/>
          <p:nvPr/>
        </p:nvSpPr>
        <p:spPr>
          <a:xfrm>
            <a:off x="548640" y="4261104"/>
            <a:ext cx="3511296" cy="914400"/>
          </a:xfrm>
          <a:prstGeom prst="rect">
            <a:avLst/>
          </a:prstGeom>
          <a:noFill/>
          <a:ln/>
        </p:spPr>
        <p:txBody>
          <a:bodyPr wrap="square" lIns="0" tIns="0" rIns="0" bIns="0" rtlCol="0" anchor="t"/>
          <a:lstStyle/>
          <a:p>
            <a:pPr algn="l" indent="0" marL="0">
              <a:buNone/>
            </a:pPr>
            <a:r>
              <a:rPr lang="en-US" sz="1200" dirty="0">
                <a:solidFill>
                  <a:schemeClr val="tx2"/>
                </a:solidFill>
              </a:rPr>
              <a:t>The three groups are a presentation aid for this walkthrough. In the taxonomy, families sit directly under the domain.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1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spine: booked revenue and booked cost</a:t>
            </a:r>
            <a:endParaRPr lang="en-US" sz="3600" dirty="0"/>
          </a:p>
        </p:txBody>
      </p:sp>
      <p:sp>
        <p:nvSpPr>
          <p:cNvPr id="5" name="Shape 2"/>
          <p:cNvSpPr/>
          <p:nvPr/>
        </p:nvSpPr>
        <p:spPr>
          <a:xfrm>
            <a:off x="548640" y="1783080"/>
            <a:ext cx="5406390" cy="4069080"/>
          </a:xfrm>
          <a:prstGeom prst="roundRect">
            <a:avLst>
              <a:gd name="adj" fmla="val 1798"/>
            </a:avLst>
          </a:prstGeom>
          <a:solidFill>
            <a:schemeClr val="bg2"/>
          </a:solidFill>
          <a:ln/>
        </p:spPr>
      </p:sp>
      <p:sp>
        <p:nvSpPr>
          <p:cNvPr id="6" name="Text 3"/>
          <p:cNvSpPr txBox="1"/>
          <p:nvPr/>
        </p:nvSpPr>
        <p:spPr>
          <a:xfrm>
            <a:off x="777240" y="1965960"/>
            <a:ext cx="4949190" cy="365760"/>
          </a:xfrm>
          <a:prstGeom prst="rect">
            <a:avLst/>
          </a:prstGeom>
          <a:noFill/>
          <a:ln/>
        </p:spPr>
        <p:txBody>
          <a:bodyPr wrap="square" lIns="0" tIns="0" rIns="0" bIns="0" rtlCol="0" anchor="ctr"/>
          <a:lstStyle/>
          <a:p>
            <a:pPr algn="l" indent="0" marL="0">
              <a:buNone/>
            </a:pPr>
            <a:r>
              <a:rPr lang="en-US" sz="1800" b="1" dirty="0">
                <a:solidFill>
                  <a:schemeClr val="accent1"/>
                </a:solidFill>
              </a:rPr>
              <a:t>Revenue &amp; Revenue Recognition</a:t>
            </a:r>
            <a:endParaRPr lang="en-US" sz="1800" dirty="0"/>
          </a:p>
        </p:txBody>
      </p:sp>
      <p:sp>
        <p:nvSpPr>
          <p:cNvPr id="7" name="Text 4"/>
          <p:cNvSpPr txBox="1"/>
          <p:nvPr/>
        </p:nvSpPr>
        <p:spPr>
          <a:xfrm>
            <a:off x="777240"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5 objects  |  40 attributes  |  15 critical</a:t>
            </a:r>
            <a:endParaRPr lang="en-US" sz="1200" dirty="0"/>
          </a:p>
        </p:txBody>
      </p:sp>
      <p:sp>
        <p:nvSpPr>
          <p:cNvPr id="8" name="Text 5"/>
          <p:cNvSpPr txBox="1"/>
          <p:nvPr/>
        </p:nvSpPr>
        <p:spPr>
          <a:xfrm>
            <a:off x="777240"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Booked fee, performance fee and distribution revenue, and the contract terms that govern when it is recognized.</a:t>
            </a:r>
            <a:endParaRPr lang="en-US" sz="1300" dirty="0"/>
          </a:p>
        </p:txBody>
      </p:sp>
      <p:sp>
        <p:nvSpPr>
          <p:cNvPr id="9" name="Text 6"/>
          <p:cNvSpPr txBox="1"/>
          <p:nvPr/>
        </p:nvSpPr>
        <p:spPr>
          <a:xfrm>
            <a:off x="777240"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0" name="Text 7"/>
          <p:cNvSpPr txBox="1"/>
          <p:nvPr/>
        </p:nvSpPr>
        <p:spPr>
          <a:xfrm>
            <a:off x="777240"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Revenue Contract, </a:t>
            </a:r>
            <a:pPr indent="0" marL="0">
              <a:buNone/>
            </a:pPr>
            <a:r>
              <a:rPr lang="en-US" sz="1300" dirty="0">
                <a:solidFill>
                  <a:schemeClr val="tx1"/>
                </a:solidFill>
              </a:rPr>
              <a:t>Performance Obligation, </a:t>
            </a:r>
            <a:pPr indent="0" marL="0">
              <a:buNone/>
            </a:pPr>
            <a:r>
              <a:rPr lang="en-US" sz="1300" b="1" dirty="0">
                <a:solidFill>
                  <a:schemeClr val="tx1"/>
                </a:solidFill>
              </a:rPr>
              <a:t>Fee Revenue Record, </a:t>
            </a:r>
            <a:pPr indent="0" marL="0">
              <a:buNone/>
            </a:pPr>
            <a:r>
              <a:rPr lang="en-US" sz="1300" b="1" dirty="0">
                <a:solidFill>
                  <a:schemeClr val="tx1"/>
                </a:solidFill>
              </a:rPr>
              <a:t>Performance Fee Record, </a:t>
            </a:r>
            <a:pPr indent="0" marL="0">
              <a:buNone/>
            </a:pPr>
            <a:r>
              <a:rPr lang="en-US" sz="1300" b="1" dirty="0">
                <a:solidFill>
                  <a:schemeClr val="tx1"/>
                </a:solidFill>
              </a:rPr>
              <a:t>Distribution Revenue Record</a:t>
            </a:r>
            <a:endParaRPr lang="en-US" sz="1300" dirty="0"/>
          </a:p>
        </p:txBody>
      </p:sp>
      <p:sp>
        <p:nvSpPr>
          <p:cNvPr id="11" name="Text 8"/>
          <p:cNvSpPr txBox="1"/>
          <p:nvPr/>
        </p:nvSpPr>
        <p:spPr>
          <a:xfrm>
            <a:off x="777240"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12" name="Text 9"/>
          <p:cNvSpPr txBox="1"/>
          <p:nvPr/>
        </p:nvSpPr>
        <p:spPr>
          <a:xfrm>
            <a:off x="777240"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Gross Fee Revenue, Net Fee Revenue, Crystallization Date, Amount Passed Through</a:t>
            </a:r>
            <a:endParaRPr lang="en-US" sz="1300" dirty="0"/>
          </a:p>
        </p:txBody>
      </p:sp>
      <p:sp>
        <p:nvSpPr>
          <p:cNvPr id="13" name="Shape 10"/>
          <p:cNvSpPr/>
          <p:nvPr/>
        </p:nvSpPr>
        <p:spPr>
          <a:xfrm>
            <a:off x="6233922" y="1783080"/>
            <a:ext cx="5406390" cy="4069080"/>
          </a:xfrm>
          <a:prstGeom prst="roundRect">
            <a:avLst>
              <a:gd name="adj" fmla="val 1798"/>
            </a:avLst>
          </a:prstGeom>
          <a:solidFill>
            <a:schemeClr val="bg2"/>
          </a:solidFill>
          <a:ln/>
        </p:spPr>
      </p:sp>
      <p:sp>
        <p:nvSpPr>
          <p:cNvPr id="14" name="Text 11"/>
          <p:cNvSpPr txBox="1"/>
          <p:nvPr/>
        </p:nvSpPr>
        <p:spPr>
          <a:xfrm>
            <a:off x="6462522" y="1965960"/>
            <a:ext cx="4949190" cy="365760"/>
          </a:xfrm>
          <a:prstGeom prst="rect">
            <a:avLst/>
          </a:prstGeom>
          <a:noFill/>
          <a:ln/>
        </p:spPr>
        <p:txBody>
          <a:bodyPr wrap="square" lIns="0" tIns="0" rIns="0" bIns="0" rtlCol="0" anchor="ctr"/>
          <a:lstStyle/>
          <a:p>
            <a:pPr algn="l" indent="0" marL="0">
              <a:buNone/>
            </a:pPr>
            <a:r>
              <a:rPr lang="en-US" sz="1800" b="1" dirty="0">
                <a:solidFill>
                  <a:schemeClr val="accent2"/>
                </a:solidFill>
              </a:rPr>
              <a:t>Distribution Expense Accounting</a:t>
            </a:r>
            <a:endParaRPr lang="en-US" sz="1800" dirty="0"/>
          </a:p>
        </p:txBody>
      </p:sp>
      <p:sp>
        <p:nvSpPr>
          <p:cNvPr id="15" name="Text 12"/>
          <p:cNvSpPr txBox="1"/>
          <p:nvPr/>
        </p:nvSpPr>
        <p:spPr>
          <a:xfrm>
            <a:off x="6462522"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2 objects  |  24 attributes  |  9 critical</a:t>
            </a:r>
            <a:endParaRPr lang="en-US" sz="1200" dirty="0"/>
          </a:p>
        </p:txBody>
      </p:sp>
      <p:sp>
        <p:nvSpPr>
          <p:cNvPr id="16" name="Text 13"/>
          <p:cNvSpPr txBox="1"/>
          <p:nvPr/>
        </p:nvSpPr>
        <p:spPr>
          <a:xfrm>
            <a:off x="6462522"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One accounting cost line for each cost calculated in another domain, with its accrual and true-up.</a:t>
            </a:r>
            <a:endParaRPr lang="en-US" sz="1300" dirty="0"/>
          </a:p>
        </p:txBody>
      </p:sp>
      <p:sp>
        <p:nvSpPr>
          <p:cNvPr id="17" name="Text 14"/>
          <p:cNvSpPr txBox="1"/>
          <p:nvPr/>
        </p:nvSpPr>
        <p:spPr>
          <a:xfrm>
            <a:off x="6462522"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8" name="Text 15"/>
          <p:cNvSpPr txBox="1"/>
          <p:nvPr/>
        </p:nvSpPr>
        <p:spPr>
          <a:xfrm>
            <a:off x="6462522"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Distribution Cost Item, </a:t>
            </a:r>
            <a:pPr indent="0" marL="0">
              <a:buNone/>
            </a:pPr>
            <a:r>
              <a:rPr lang="en-US" sz="1300" b="1" dirty="0">
                <a:solidFill>
                  <a:schemeClr val="tx1"/>
                </a:solidFill>
              </a:rPr>
              <a:t>Accrual</a:t>
            </a:r>
            <a:endParaRPr lang="en-US" sz="1300" dirty="0"/>
          </a:p>
        </p:txBody>
      </p:sp>
      <p:sp>
        <p:nvSpPr>
          <p:cNvPr id="19" name="Text 16"/>
          <p:cNvSpPr txBox="1"/>
          <p:nvPr/>
        </p:nvSpPr>
        <p:spPr>
          <a:xfrm>
            <a:off x="6462522"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20" name="Text 17"/>
          <p:cNvSpPr txBox="1"/>
          <p:nvPr/>
        </p:nvSpPr>
        <p:spPr>
          <a:xfrm>
            <a:off x="6462522"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Distribution Expense Category, Source Record, Funding Source, True-Up Amount</a:t>
            </a:r>
            <a:endParaRPr lang="en-US" sz="1300" dirty="0"/>
          </a:p>
        </p:txBody>
      </p:sp>
      <p:sp>
        <p:nvSpPr>
          <p:cNvPr id="21" name="Text 18"/>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contract, record or agreement.</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2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How revenue and cost are booked</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Fee Waivers &amp; Fund Expense Support</a:t>
                      </a:r>
                      <a:endParaRPr lang="en-US" sz="1200" dirty="0"/>
                    </a:p>
                    <a:p>
                      <a:pPr indent="0" marL="0">
                        <a:buNone/>
                      </a:pPr>
                      <a:r>
                        <a:rPr lang="en-US" sz="1100" dirty="0">
                          <a:solidFill>
                            <a:schemeClr val="tx2"/>
                          </a:solidFill>
                        </a:rPr>
                        <a:t>2 objects  |  12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Period amounts waived, reimbursed or borne by the adviser under expense cap terms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Waiver Record, </a:t>
                      </a:r>
                      <a:pPr indent="0" marL="0">
                        <a:buNone/>
                      </a:pPr>
                      <a:r>
                        <a:rPr lang="en-US" sz="1200" b="1" dirty="0">
                          <a:solidFill>
                            <a:schemeClr val="tx1"/>
                          </a:solidFill>
                        </a:rPr>
                        <a:t>Adviser-Borne Cost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Waiver Type, Waived Fee Amount, Recoupment Expiry Date, Adviser-Borne Amount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Contract Costs &amp; Deferred Commissions</a:t>
                      </a:r>
                      <a:endParaRPr lang="en-US" sz="1200" dirty="0"/>
                    </a:p>
                    <a:p>
                      <a:pPr indent="0" marL="0">
                        <a:buNone/>
                      </a:pPr>
                      <a:r>
                        <a:rPr lang="en-US" sz="1100" dirty="0">
                          <a:solidFill>
                            <a:schemeClr val="tx2"/>
                          </a:solidFill>
                        </a:rPr>
                        <a:t>2 objects  |  16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Capitalized contract costs, their amortization, and whether a commission qualifies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Contract Cost Asset, </a:t>
                      </a:r>
                      <a:pPr indent="0" marL="0">
                        <a:buNone/>
                      </a:pPr>
                      <a:r>
                        <a:rPr lang="en-US" sz="1200" b="1" dirty="0">
                          <a:solidFill>
                            <a:schemeClr val="tx1"/>
                          </a:solidFill>
                        </a:rPr>
                        <a:t>Capitalization Assessment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Capitalized Amount, Amortization Period, Net Carrying Amount, Assessment Conclusion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Chart of Accounts &amp; GL Posting</a:t>
                      </a:r>
                      <a:endParaRPr lang="en-US" sz="1200" dirty="0"/>
                    </a:p>
                    <a:p>
                      <a:pPr indent="0" marL="0">
                        <a:buNone/>
                      </a:pPr>
                      <a:r>
                        <a:rPr lang="en-US" sz="1100" dirty="0">
                          <a:solidFill>
                            <a:schemeClr val="tx2"/>
                          </a:solidFill>
                        </a:rPr>
                        <a:t>2 objects  |  18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Mapping from management P&amp;L lines to ledger accounts, and the journal lines posted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Account Mapping, </a:t>
                      </a:r>
                      <a:pPr indent="0" marL="0">
                        <a:buNone/>
                      </a:pPr>
                      <a:r>
                        <a:rPr lang="en-US" sz="1200" b="1" dirty="0">
                          <a:solidFill>
                            <a:schemeClr val="tx1"/>
                          </a:solidFill>
                        </a:rPr>
                        <a:t>GL Posting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Management P&amp;L Line, GL Natural Account, Journal Type, Posted Amount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Intercompany &amp; Transfer Pricing</a:t>
                      </a:r>
                      <a:endParaRPr lang="en-US" sz="1200" dirty="0"/>
                    </a:p>
                    <a:p>
                      <a:pPr indent="0" marL="0">
                        <a:buNone/>
                      </a:pPr>
                      <a:r>
                        <a:rPr lang="en-US" sz="1100" dirty="0">
                          <a:solidFill>
                            <a:schemeClr val="tx2"/>
                          </a:solidFill>
                        </a:rPr>
                        <a:t>3 objects  |  21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Agreements between internal legal entities, their pricing method and period charges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Intercompany Agreement, </a:t>
                      </a:r>
                      <a:pPr indent="0" marL="0">
                        <a:buNone/>
                      </a:pPr>
                      <a:r>
                        <a:rPr lang="en-US" sz="1200" dirty="0">
                          <a:solidFill>
                            <a:schemeClr val="tx1"/>
                          </a:solidFill>
                        </a:rPr>
                        <a:t>TP Policy, </a:t>
                      </a:r>
                      <a:pPr indent="0" marL="0">
                        <a:buNone/>
                      </a:pPr>
                      <a:r>
                        <a:rPr lang="en-US" sz="1200" b="1" dirty="0">
                          <a:solidFill>
                            <a:schemeClr val="tx1"/>
                          </a:solidFill>
                        </a:rPr>
                        <a:t>Intercompany Charge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Intercompany Service Type, TP Method, Remuneration Rate, Charge Amount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contract, record or agreement.</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3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How profit is measured and controlled</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Cost Allocation</a:t>
                      </a:r>
                      <a:endParaRPr lang="en-US" sz="1200" dirty="0"/>
                    </a:p>
                    <a:p>
                      <a:pPr indent="0" marL="0">
                        <a:buNone/>
                      </a:pPr>
                      <a:r>
                        <a:rPr lang="en-US" sz="1100" dirty="0">
                          <a:solidFill>
                            <a:schemeClr val="tx2"/>
                          </a:solidFill>
                        </a:rPr>
                        <a:t>6 objects  |  30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Cost pools, methods, drivers and rules, and the runs that spread indirect cost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Cost Pool, </a:t>
                      </a:r>
                      <a:pPr indent="0" marL="0">
                        <a:buNone/>
                      </a:pPr>
                      <a:r>
                        <a:rPr lang="en-US" sz="1200" b="1" dirty="0">
                          <a:solidFill>
                            <a:schemeClr val="tx1"/>
                          </a:solidFill>
                        </a:rPr>
                        <a:t>Allocation Method, </a:t>
                      </a:r>
                      <a:pPr indent="0" marL="0">
                        <a:buNone/>
                      </a:pPr>
                      <a:r>
                        <a:rPr lang="en-US" sz="1200" b="1" dirty="0">
                          <a:solidFill>
                            <a:schemeClr val="tx1"/>
                          </a:solidFill>
                        </a:rPr>
                        <a:t>Allocation Driver, </a:t>
                      </a:r>
                      <a:pPr indent="0" marL="0">
                        <a:buNone/>
                      </a:pPr>
                      <a:r>
                        <a:rPr lang="en-US" sz="1200" b="1" dirty="0">
                          <a:solidFill>
                            <a:schemeClr val="tx1"/>
                          </a:solidFill>
                        </a:rPr>
                        <a:t>Allocation Rule, </a:t>
                      </a:r>
                      <a:pPr indent="0" marL="0">
                        <a:buNone/>
                      </a:pPr>
                      <a:r>
                        <a:rPr lang="en-US" sz="1200" b="1" dirty="0">
                          <a:solidFill>
                            <a:schemeClr val="tx1"/>
                          </a:solidFill>
                        </a:rPr>
                        <a:t>Allocation Run, </a:t>
                      </a:r>
                      <a:pPr indent="0" marL="0">
                        <a:buNone/>
                      </a:pPr>
                      <a:r>
                        <a:rPr lang="en-US" sz="1200" b="1" dirty="0">
                          <a:solidFill>
                            <a:schemeClr val="tx1"/>
                          </a:solidFill>
                        </a:rPr>
                        <a:t>Allocation Result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Cost Pool Type, Driver Type, Target Dimension, Allocated Amount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Profitability &amp; Cost-to-Serve</a:t>
                      </a:r>
                      <a:endParaRPr lang="en-US" sz="1200" dirty="0"/>
                    </a:p>
                    <a:p>
                      <a:pPr indent="0" marL="0">
                        <a:buNone/>
                      </a:pPr>
                      <a:r>
                        <a:rPr lang="en-US" sz="1100" dirty="0">
                          <a:solidFill>
                            <a:schemeClr val="tx2"/>
                          </a:solidFill>
                        </a:rPr>
                        <a:t>4 objects  |  32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distribution P&amp;L at a declared grain and version, and cost-to-serve by partner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Profitability Record, </a:t>
                      </a:r>
                      <a:pPr indent="0" marL="0">
                        <a:buNone/>
                      </a:pPr>
                      <a:r>
                        <a:rPr lang="en-US" sz="1200" dirty="0">
                          <a:solidFill>
                            <a:schemeClr val="tx1"/>
                          </a:solidFill>
                        </a:rPr>
                        <a:t>Profitability Measure, </a:t>
                      </a:r>
                      <a:pPr indent="0" marL="0">
                        <a:buNone/>
                      </a:pPr>
                      <a:r>
                        <a:rPr lang="en-US" sz="1200" b="1" dirty="0">
                          <a:solidFill>
                            <a:schemeClr val="tx1"/>
                          </a:solidFill>
                        </a:rPr>
                        <a:t>Profitability Measure Definition, </a:t>
                      </a:r>
                      <a:pPr indent="0" marL="0">
                        <a:buNone/>
                      </a:pPr>
                      <a:r>
                        <a:rPr lang="en-US" sz="1200" b="1" dirty="0">
                          <a:solidFill>
                            <a:schemeClr val="tx1"/>
                          </a:solidFill>
                        </a:rPr>
                        <a:t>Cost-to-Serve Profile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Dimension Grain, Data Version, Contribution Margin, Total Cost-to-Serve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Management Reporting Hierarchies</a:t>
                      </a:r>
                      <a:endParaRPr lang="en-US" sz="1200" dirty="0"/>
                    </a:p>
                    <a:p>
                      <a:pPr indent="0" marL="0">
                        <a:buNone/>
                      </a:pPr>
                      <a:r>
                        <a:rPr lang="en-US" sz="1100" dirty="0">
                          <a:solidFill>
                            <a:schemeClr val="tx2"/>
                          </a:solidFill>
                        </a:rPr>
                        <a:t>3 objects  |  15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Versioned rollups for management P&amp;L, and restatements when they change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Management Hierarchy, </a:t>
                      </a:r>
                      <a:pPr indent="0" marL="0">
                        <a:buNone/>
                      </a:pPr>
                      <a:r>
                        <a:rPr lang="en-US" sz="1200" b="1" dirty="0">
                          <a:solidFill>
                            <a:schemeClr val="tx1"/>
                          </a:solidFill>
                        </a:rPr>
                        <a:t>Hierarchy Node, </a:t>
                      </a:r>
                      <a:pPr indent="0" marL="0">
                        <a:buNone/>
                      </a:pPr>
                      <a:r>
                        <a:rPr lang="en-US" sz="1200" b="1" dirty="0">
                          <a:solidFill>
                            <a:schemeClr val="tx1"/>
                          </a:solidFill>
                        </a:rPr>
                        <a:t>Hierarchy Restatement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Hierarchy Type, Parent Node, Operating Segment Mapping, Restatement Trigger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Budgets, Forecasts &amp; Plans</a:t>
                      </a:r>
                      <a:endParaRPr lang="en-US" sz="1200" dirty="0"/>
                    </a:p>
                    <a:p>
                      <a:pPr indent="0" marL="0">
                        <a:buNone/>
                      </a:pPr>
                      <a:r>
                        <a:rPr lang="en-US" sz="1100" dirty="0">
                          <a:solidFill>
                            <a:schemeClr val="tx2"/>
                          </a:solidFill>
                        </a:rPr>
                        <a:t>4 objects  |  23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Budget and forecast versions, planned amounts, flow and revenue forecasts, variances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Plan Version, </a:t>
                      </a:r>
                      <a:pPr indent="0" marL="0">
                        <a:buNone/>
                      </a:pPr>
                      <a:r>
                        <a:rPr lang="en-US" sz="1200" b="1" dirty="0">
                          <a:solidFill>
                            <a:schemeClr val="tx1"/>
                          </a:solidFill>
                        </a:rPr>
                        <a:t>Plan Line, </a:t>
                      </a:r>
                      <a:pPr indent="0" marL="0">
                        <a:buNone/>
                      </a:pPr>
                      <a:r>
                        <a:rPr lang="en-US" sz="1200" b="1" dirty="0">
                          <a:solidFill>
                            <a:schemeClr val="tx1"/>
                          </a:solidFill>
                        </a:rPr>
                        <a:t>Flow &amp; Revenue Forecast, </a:t>
                      </a:r>
                      <a:pPr indent="0" marL="0">
                        <a:buNone/>
                      </a:pPr>
                      <a:r>
                        <a:rPr lang="en-US" sz="1200" b="1" dirty="0">
                          <a:solidFill>
                            <a:schemeClr val="tx1"/>
                          </a:solidFill>
                        </a:rPr>
                        <a:t>Variance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Plan Type, Scenario, Planned Amount, Forecast Net Revenue, Variance Driver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Period Close, Controls &amp; Data Management</a:t>
                      </a:r>
                      <a:endParaRPr lang="en-US" sz="1200" dirty="0"/>
                    </a:p>
                    <a:p>
                      <a:pPr indent="0" marL="0">
                        <a:buNone/>
                      </a:pPr>
                      <a:r>
                        <a:rPr lang="en-US" sz="1100" dirty="0">
                          <a:solidFill>
                            <a:schemeClr val="tx2"/>
                          </a:solidFill>
                        </a:rPr>
                        <a:t>2 objects  |  5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Close status of each accounting period, and reconciliations to source and ledger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Accounting Period Status, </a:t>
                      </a:r>
                      <a:pPr indent="0" marL="0">
                        <a:buNone/>
                      </a:pPr>
                      <a:r>
                        <a:rPr lang="en-US" sz="1200" b="1" dirty="0">
                          <a:solidFill>
                            <a:schemeClr val="tx1"/>
                          </a:solidFill>
                        </a:rPr>
                        <a:t>Control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Period Close Status, Reconciliation Type, Reconciliation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contract, record or agreement.</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WHERE THE DEFINITIONS COME FROM</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Mostly firm-defined, anchored in GAAP</a:t>
            </a:r>
            <a:endParaRPr lang="en-US" sz="3600" dirty="0"/>
          </a:p>
        </p:txBody>
      </p:sp>
      <p:graphicFrame>
        <p:nvGraphicFramePr>
          <p:cNvPr id="5" name="Chart 0" descr=""/>
          <p:cNvGraphicFramePr/>
          <p:nvPr/>
        </p:nvGraphicFramePr>
        <p:xfrm>
          <a:off x="548640" y="1783080"/>
          <a:ext cx="6400800" cy="40690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70448"/>
            <a:ext cx="6400800" cy="411480"/>
          </a:xfrm>
          <a:prstGeom prst="rect">
            <a:avLst/>
          </a:prstGeom>
          <a:noFill/>
          <a:ln/>
        </p:spPr>
        <p:txBody>
          <a:bodyPr wrap="square" lIns="0" tIns="0" rIns="0" bIns="0" rtlCol="0" anchor="t"/>
          <a:lstStyle/>
          <a:p>
            <a:pPr algn="l" indent="0" marL="0">
              <a:buNone/>
            </a:pPr>
            <a:r>
              <a:rPr lang="en-US" sz="1100" dirty="0">
                <a:solidFill>
                  <a:schemeClr val="tx2"/>
                </a:solidFill>
              </a:rPr>
              <a:t>Internal = no authoritative external definition exists. Other includes SEC Rule 12b-1, Form N-1A, US GAAP Taxonomy, ICI, ESMA, MiFID II, ISO 4217 and SOX.</a:t>
            </a:r>
            <a:endParaRPr lang="en-US" sz="1100" dirty="0"/>
          </a:p>
        </p:txBody>
      </p:sp>
      <p:sp>
        <p:nvSpPr>
          <p:cNvPr id="7" name="Shape 3"/>
          <p:cNvSpPr/>
          <p:nvPr/>
        </p:nvSpPr>
        <p:spPr>
          <a:xfrm>
            <a:off x="7315200" y="1783080"/>
            <a:ext cx="4325112" cy="1280160"/>
          </a:xfrm>
          <a:prstGeom prst="roundRect">
            <a:avLst>
              <a:gd name="adj" fmla="val 5714"/>
            </a:avLst>
          </a:prstGeom>
          <a:solidFill>
            <a:schemeClr val="bg2"/>
          </a:solidFill>
          <a:ln/>
        </p:spPr>
      </p:sp>
      <p:sp>
        <p:nvSpPr>
          <p:cNvPr id="8" name="Text 4"/>
          <p:cNvSpPr txBox="1"/>
          <p:nvPr/>
        </p:nvSpPr>
        <p:spPr>
          <a:xfrm>
            <a:off x="7543800" y="189280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26%</a:t>
            </a:r>
            <a:endParaRPr lang="en-US" sz="3200" dirty="0"/>
          </a:p>
        </p:txBody>
      </p:sp>
      <p:sp>
        <p:nvSpPr>
          <p:cNvPr id="9" name="Text 5"/>
          <p:cNvSpPr txBox="1"/>
          <p:nvPr/>
        </p:nvSpPr>
        <p:spPr>
          <a:xfrm>
            <a:off x="7543800" y="245973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of attributes (62 of 236) align to an external standard, guide or regulation</a:t>
            </a:r>
            <a:endParaRPr lang="en-US" sz="1300" dirty="0"/>
          </a:p>
        </p:txBody>
      </p:sp>
      <p:sp>
        <p:nvSpPr>
          <p:cNvPr id="10" name="Shape 6"/>
          <p:cNvSpPr/>
          <p:nvPr/>
        </p:nvSpPr>
        <p:spPr>
          <a:xfrm>
            <a:off x="7315200" y="3246120"/>
            <a:ext cx="4325112" cy="1280160"/>
          </a:xfrm>
          <a:prstGeom prst="roundRect">
            <a:avLst>
              <a:gd name="adj" fmla="val 5714"/>
            </a:avLst>
          </a:prstGeom>
          <a:solidFill>
            <a:schemeClr val="bg2"/>
          </a:solidFill>
          <a:ln/>
        </p:spPr>
      </p:sp>
      <p:sp>
        <p:nvSpPr>
          <p:cNvPr id="11" name="Text 7"/>
          <p:cNvSpPr txBox="1"/>
          <p:nvPr/>
        </p:nvSpPr>
        <p:spPr>
          <a:xfrm>
            <a:off x="7543800" y="335584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71</a:t>
            </a:r>
            <a:endParaRPr lang="en-US" sz="3200" dirty="0"/>
          </a:p>
        </p:txBody>
      </p:sp>
      <p:sp>
        <p:nvSpPr>
          <p:cNvPr id="12" name="Text 8"/>
          <p:cNvSpPr txBox="1"/>
          <p:nvPr/>
        </p:nvSpPr>
        <p:spPr>
          <a:xfrm>
            <a:off x="7543800" y="392277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take their values from a controlled code list, not free text</a:t>
            </a:r>
            <a:endParaRPr lang="en-US" sz="1300" dirty="0"/>
          </a:p>
        </p:txBody>
      </p:sp>
      <p:sp>
        <p:nvSpPr>
          <p:cNvPr id="13" name="Shape 9"/>
          <p:cNvSpPr/>
          <p:nvPr/>
        </p:nvSpPr>
        <p:spPr>
          <a:xfrm>
            <a:off x="7315200" y="4709160"/>
            <a:ext cx="4325112" cy="1280160"/>
          </a:xfrm>
          <a:prstGeom prst="roundRect">
            <a:avLst>
              <a:gd name="adj" fmla="val 5714"/>
            </a:avLst>
          </a:prstGeom>
          <a:solidFill>
            <a:schemeClr val="bg2"/>
          </a:solidFill>
          <a:ln/>
        </p:spPr>
      </p:sp>
      <p:sp>
        <p:nvSpPr>
          <p:cNvPr id="14" name="Text 10"/>
          <p:cNvSpPr txBox="1"/>
          <p:nvPr/>
        </p:nvSpPr>
        <p:spPr>
          <a:xfrm>
            <a:off x="7543800" y="481888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63</a:t>
            </a:r>
            <a:endParaRPr lang="en-US" sz="3200" dirty="0"/>
          </a:p>
        </p:txBody>
      </p:sp>
      <p:sp>
        <p:nvSpPr>
          <p:cNvPr id="15" name="Text 11"/>
          <p:cNvSpPr txBox="1"/>
          <p:nvPr/>
        </p:nvSpPr>
        <p:spPr>
          <a:xfrm>
            <a:off x="7543800" y="538581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(27%) reference or copy a record mastered in another domain</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SCOPE BOUNDARY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Out of scope by design, and where it lives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840480"/>
                <a:gridCol w="3566160"/>
                <a:gridCol w="3685032"/>
              </a:tblGrid>
              <a:tr h="365760">
                <a:tc>
                  <a:txBody>
                    <a:bodyPr/>
                    <a:lstStyle/>
                    <a:p>
                      <a:pPr indent="0" marL="0">
                        <a:buNone/>
                      </a:pPr>
                      <a:r>
                        <a:rPr lang="en-US" sz="1200" b="1" dirty="0">
                          <a:solidFill>
                            <a:schemeClr val="bg1"/>
                          </a:solidFill>
                        </a:rPr>
                        <a:t>Not in this domain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Where it lives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keeps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02920">
                <a:tc>
                  <a:txBody>
                    <a:bodyPr/>
                    <a:lstStyle/>
                    <a:p>
                      <a:pPr indent="0" marL="0">
                        <a:buNone/>
                      </a:pPr>
                      <a:r>
                        <a:rPr lang="en-US" sz="1200" b="1" dirty="0">
                          <a:solidFill>
                            <a:schemeClr val="tx1"/>
                          </a:solidFill>
                        </a:rPr>
                        <a:t>Fee, expense cap and waiver terms on the share class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Investment Product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period financial impact: amounts waived, reimbursed and eligible for recoupment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Payment arrangements, calculations, invoices, payments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Agreements &amp; Partners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 cost item that references the source record, plus the booked accrual and true-up</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Flows, AUM and Estimated Management Fee Revenue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 Transactions &amp; AUM Attribution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Booked revenue, and a reconciliation between booked and estimated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Incentive plans, payouts and compensation statements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Compensation &amp; Territory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accounting cost item, and the capitalization assessment of plan components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Campaign budgets and spend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Marketing &amp; Digital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accounting record of the spend, reconciled to the general ledger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Fiscal calendar, FX rate types, legal entities, cost centers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Shared &amp; Enterprise Reference Data</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References only, plus the close status of each fiscal period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Segregated-mandate fee invoices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Institutional Client Servicing &amp; Reporting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recognized revenue, with the client invoice named as its fee basis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Data license costs at contract level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Third-Party Data &amp; Licensing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accounting cost item for third-party data licenses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REFERENCED, NOT MASTERED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173 attributes mastered, 63 borrowed</a:t>
            </a:r>
            <a:endParaRPr lang="en-US" sz="3600" dirty="0"/>
          </a:p>
        </p:txBody>
      </p:sp>
      <p:sp>
        <p:nvSpPr>
          <p:cNvPr id="5" name="Shape 2"/>
          <p:cNvSpPr/>
          <p:nvPr/>
        </p:nvSpPr>
        <p:spPr>
          <a:xfrm>
            <a:off x="548640" y="1783080"/>
            <a:ext cx="3291840" cy="3730752"/>
          </a:xfrm>
          <a:prstGeom prst="roundRect">
            <a:avLst>
              <a:gd name="adj" fmla="val 2222"/>
            </a:avLst>
          </a:prstGeom>
          <a:solidFill>
            <a:schemeClr val="tx1"/>
          </a:solidFill>
          <a:ln/>
        </p:spPr>
      </p:sp>
      <p:sp>
        <p:nvSpPr>
          <p:cNvPr id="6" name="Text 3"/>
          <p:cNvSpPr txBox="1"/>
          <p:nvPr/>
        </p:nvSpPr>
        <p:spPr>
          <a:xfrm>
            <a:off x="822960" y="2057400"/>
            <a:ext cx="2743200" cy="868680"/>
          </a:xfrm>
          <a:prstGeom prst="rect">
            <a:avLst/>
          </a:prstGeom>
          <a:noFill/>
          <a:ln/>
        </p:spPr>
        <p:txBody>
          <a:bodyPr wrap="square" lIns="0" tIns="0" rIns="0" bIns="0" rtlCol="0" anchor="ctr"/>
          <a:lstStyle/>
          <a:p>
            <a:pPr algn="l" indent="0" marL="0">
              <a:buNone/>
            </a:pPr>
            <a:r>
              <a:rPr lang="en-US" sz="6000" b="1" dirty="0">
                <a:solidFill>
                  <a:schemeClr val="accent6"/>
                </a:solidFill>
              </a:rPr>
              <a:t>173</a:t>
            </a:r>
            <a:endParaRPr lang="en-US" sz="6000" dirty="0"/>
          </a:p>
        </p:txBody>
      </p:sp>
      <p:sp>
        <p:nvSpPr>
          <p:cNvPr id="7" name="Text 4"/>
          <p:cNvSpPr txBox="1"/>
          <p:nvPr/>
        </p:nvSpPr>
        <p:spPr>
          <a:xfrm>
            <a:off x="822960" y="2971800"/>
            <a:ext cx="2743200" cy="548640"/>
          </a:xfrm>
          <a:prstGeom prst="rect">
            <a:avLst/>
          </a:prstGeom>
          <a:noFill/>
          <a:ln/>
        </p:spPr>
        <p:txBody>
          <a:bodyPr wrap="square" lIns="0" tIns="0" rIns="0" bIns="0" rtlCol="0" anchor="t"/>
          <a:lstStyle/>
          <a:p>
            <a:pPr algn="l" indent="0" marL="0">
              <a:buNone/>
            </a:pPr>
            <a:r>
              <a:rPr lang="en-US" sz="1400" dirty="0">
                <a:solidFill>
                  <a:schemeClr val="bg1"/>
                </a:solidFill>
              </a:rPr>
              <a:t>of 236 attributes are mastered in this domain</a:t>
            </a:r>
            <a:endParaRPr lang="en-US" sz="1400" dirty="0"/>
          </a:p>
        </p:txBody>
      </p:sp>
      <p:sp>
        <p:nvSpPr>
          <p:cNvPr id="8" name="Text 5"/>
          <p:cNvSpPr txBox="1"/>
          <p:nvPr/>
        </p:nvSpPr>
        <p:spPr>
          <a:xfrm>
            <a:off x="822960" y="3840480"/>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52 references</a:t>
            </a:r>
            <a:endParaRPr lang="en-US" sz="1600" dirty="0"/>
          </a:p>
        </p:txBody>
      </p:sp>
      <p:sp>
        <p:nvSpPr>
          <p:cNvPr id="9" name="Text 6"/>
          <p:cNvSpPr txBox="1"/>
          <p:nvPr/>
        </p:nvSpPr>
        <p:spPr>
          <a:xfrm>
            <a:off x="822960" y="4133088"/>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Hold only the ID of a record another domain masters</a:t>
            </a:r>
            <a:endParaRPr lang="en-US" sz="1200" dirty="0"/>
          </a:p>
        </p:txBody>
      </p:sp>
      <p:sp>
        <p:nvSpPr>
          <p:cNvPr id="10" name="Text 7"/>
          <p:cNvSpPr txBox="1"/>
          <p:nvPr/>
        </p:nvSpPr>
        <p:spPr>
          <a:xfrm>
            <a:off x="822960" y="4636008"/>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11 derived copies</a:t>
            </a:r>
            <a:endParaRPr lang="en-US" sz="1600" dirty="0"/>
          </a:p>
        </p:txBody>
      </p:sp>
      <p:sp>
        <p:nvSpPr>
          <p:cNvPr id="11" name="Text 8"/>
          <p:cNvSpPr txBox="1"/>
          <p:nvPr/>
        </p:nvSpPr>
        <p:spPr>
          <a:xfrm>
            <a:off x="822960" y="4928616"/>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Display only; never edited here</a:t>
            </a:r>
            <a:endParaRPr lang="en-US" sz="1200" dirty="0"/>
          </a:p>
        </p:txBody>
      </p:sp>
      <p:sp>
        <p:nvSpPr>
          <p:cNvPr id="12" name="Shape 9"/>
          <p:cNvSpPr/>
          <p:nvPr/>
        </p:nvSpPr>
        <p:spPr>
          <a:xfrm>
            <a:off x="4114800" y="1783080"/>
            <a:ext cx="7525512" cy="548640"/>
          </a:xfrm>
          <a:prstGeom prst="roundRect">
            <a:avLst>
              <a:gd name="adj" fmla="val 13333"/>
            </a:avLst>
          </a:prstGeom>
          <a:solidFill>
            <a:schemeClr val="bg2"/>
          </a:solidFill>
          <a:ln/>
        </p:spPr>
      </p:sp>
      <p:sp>
        <p:nvSpPr>
          <p:cNvPr id="13" name="Text 10"/>
          <p:cNvSpPr txBox="1"/>
          <p:nvPr/>
        </p:nvSpPr>
        <p:spPr>
          <a:xfrm>
            <a:off x="4343400" y="178308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Shared &amp; Enterprise Reference Data</a:t>
            </a:r>
            <a:endParaRPr lang="en-US" sz="1200" dirty="0"/>
          </a:p>
        </p:txBody>
      </p:sp>
      <p:sp>
        <p:nvSpPr>
          <p:cNvPr id="14" name="Text 11"/>
          <p:cNvSpPr txBox="1"/>
          <p:nvPr/>
        </p:nvSpPr>
        <p:spPr>
          <a:xfrm>
            <a:off x="7132320" y="178308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25 references</a:t>
            </a:r>
            <a:endParaRPr lang="en-US" sz="1200" dirty="0"/>
          </a:p>
        </p:txBody>
      </p:sp>
      <p:sp>
        <p:nvSpPr>
          <p:cNvPr id="15" name="Text 12"/>
          <p:cNvSpPr txBox="1"/>
          <p:nvPr/>
        </p:nvSpPr>
        <p:spPr>
          <a:xfrm>
            <a:off x="8458200" y="178308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Legal entities, fiscal periods, cost and profit centers, the salesperson, FX translation rate type</a:t>
            </a:r>
            <a:endParaRPr lang="en-US" sz="1100" dirty="0"/>
          </a:p>
        </p:txBody>
      </p:sp>
      <p:sp>
        <p:nvSpPr>
          <p:cNvPr id="16" name="Shape 13"/>
          <p:cNvSpPr/>
          <p:nvPr/>
        </p:nvSpPr>
        <p:spPr>
          <a:xfrm>
            <a:off x="4114800" y="2423160"/>
            <a:ext cx="7525512" cy="548640"/>
          </a:xfrm>
          <a:prstGeom prst="roundRect">
            <a:avLst>
              <a:gd name="adj" fmla="val 13333"/>
            </a:avLst>
          </a:prstGeom>
          <a:solidFill>
            <a:schemeClr val="bg2"/>
          </a:solidFill>
          <a:ln/>
        </p:spPr>
      </p:sp>
      <p:sp>
        <p:nvSpPr>
          <p:cNvPr id="17" name="Text 14"/>
          <p:cNvSpPr txBox="1"/>
          <p:nvPr/>
        </p:nvSpPr>
        <p:spPr>
          <a:xfrm>
            <a:off x="4343400" y="242316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Investment Product</a:t>
            </a:r>
            <a:endParaRPr lang="en-US" sz="1200" dirty="0"/>
          </a:p>
        </p:txBody>
      </p:sp>
      <p:sp>
        <p:nvSpPr>
          <p:cNvPr id="18" name="Text 15"/>
          <p:cNvSpPr txBox="1"/>
          <p:nvPr/>
        </p:nvSpPr>
        <p:spPr>
          <a:xfrm>
            <a:off x="7132320" y="242316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11 references, 3 copies</a:t>
            </a:r>
            <a:endParaRPr lang="en-US" sz="1200" dirty="0"/>
          </a:p>
        </p:txBody>
      </p:sp>
      <p:sp>
        <p:nvSpPr>
          <p:cNvPr id="19" name="Text 16"/>
          <p:cNvSpPr txBox="1"/>
          <p:nvPr/>
        </p:nvSpPr>
        <p:spPr>
          <a:xfrm>
            <a:off x="8458200" y="242316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Share classes, mandates and expense cap terms; copies of the gross fee rate and contract dates</a:t>
            </a:r>
            <a:endParaRPr lang="en-US" sz="1100" dirty="0"/>
          </a:p>
        </p:txBody>
      </p:sp>
      <p:sp>
        <p:nvSpPr>
          <p:cNvPr id="20" name="Shape 17"/>
          <p:cNvSpPr/>
          <p:nvPr/>
        </p:nvSpPr>
        <p:spPr>
          <a:xfrm>
            <a:off x="4114800" y="3063240"/>
            <a:ext cx="7525512" cy="548640"/>
          </a:xfrm>
          <a:prstGeom prst="roundRect">
            <a:avLst>
              <a:gd name="adj" fmla="val 13333"/>
            </a:avLst>
          </a:prstGeom>
          <a:solidFill>
            <a:schemeClr val="bg2"/>
          </a:solidFill>
          <a:ln/>
        </p:spPr>
      </p:sp>
      <p:sp>
        <p:nvSpPr>
          <p:cNvPr id="21" name="Text 18"/>
          <p:cNvSpPr txBox="1"/>
          <p:nvPr/>
        </p:nvSpPr>
        <p:spPr>
          <a:xfrm>
            <a:off x="4343400" y="306324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Client &amp; Customer</a:t>
            </a:r>
            <a:endParaRPr lang="en-US" sz="1200" dirty="0"/>
          </a:p>
        </p:txBody>
      </p:sp>
      <p:sp>
        <p:nvSpPr>
          <p:cNvPr id="22" name="Text 19"/>
          <p:cNvSpPr txBox="1"/>
          <p:nvPr/>
        </p:nvSpPr>
        <p:spPr>
          <a:xfrm>
            <a:off x="7132320" y="306324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7 references, 1 copy</a:t>
            </a:r>
            <a:endParaRPr lang="en-US" sz="1200" dirty="0"/>
          </a:p>
        </p:txBody>
      </p:sp>
      <p:sp>
        <p:nvSpPr>
          <p:cNvPr id="23" name="Text 20"/>
          <p:cNvSpPr txBox="1"/>
          <p:nvPr/>
        </p:nvSpPr>
        <p:spPr>
          <a:xfrm>
            <a:off x="8458200" y="306324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Identified customer, cost counterparty, partner firm, client or account; a copy of client segment</a:t>
            </a:r>
            <a:endParaRPr lang="en-US" sz="1100" dirty="0"/>
          </a:p>
        </p:txBody>
      </p:sp>
      <p:sp>
        <p:nvSpPr>
          <p:cNvPr id="24" name="Shape 21"/>
          <p:cNvSpPr/>
          <p:nvPr/>
        </p:nvSpPr>
        <p:spPr>
          <a:xfrm>
            <a:off x="4114800" y="3703320"/>
            <a:ext cx="7525512" cy="548640"/>
          </a:xfrm>
          <a:prstGeom prst="roundRect">
            <a:avLst>
              <a:gd name="adj" fmla="val 13333"/>
            </a:avLst>
          </a:prstGeom>
          <a:solidFill>
            <a:schemeClr val="bg2"/>
          </a:solidFill>
          <a:ln/>
        </p:spPr>
      </p:sp>
      <p:sp>
        <p:nvSpPr>
          <p:cNvPr id="25" name="Text 22"/>
          <p:cNvSpPr txBox="1"/>
          <p:nvPr/>
        </p:nvSpPr>
        <p:spPr>
          <a:xfrm>
            <a:off x="4343400" y="370332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Sales Transactions &amp; AUM Attribution</a:t>
            </a:r>
            <a:endParaRPr lang="en-US" sz="1200" dirty="0"/>
          </a:p>
        </p:txBody>
      </p:sp>
      <p:sp>
        <p:nvSpPr>
          <p:cNvPr id="26" name="Text 23"/>
          <p:cNvSpPr txBox="1"/>
          <p:nvPr/>
        </p:nvSpPr>
        <p:spPr>
          <a:xfrm>
            <a:off x="7132320" y="370332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2 references, 3 copies</a:t>
            </a:r>
            <a:endParaRPr lang="en-US" sz="1200" dirty="0"/>
          </a:p>
        </p:txBody>
      </p:sp>
      <p:sp>
        <p:nvSpPr>
          <p:cNvPr id="27" name="Text 24"/>
          <p:cNvSpPr txBox="1"/>
          <p:nvPr/>
        </p:nvSpPr>
        <p:spPr>
          <a:xfrm>
            <a:off x="8458200" y="370332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Sales charge transactions and driver measures; copies of average assets and CDSC recovered</a:t>
            </a:r>
            <a:endParaRPr lang="en-US" sz="1100" dirty="0"/>
          </a:p>
        </p:txBody>
      </p:sp>
      <p:sp>
        <p:nvSpPr>
          <p:cNvPr id="28" name="Shape 25"/>
          <p:cNvSpPr/>
          <p:nvPr/>
        </p:nvSpPr>
        <p:spPr>
          <a:xfrm>
            <a:off x="4114800" y="4343400"/>
            <a:ext cx="7525512" cy="548640"/>
          </a:xfrm>
          <a:prstGeom prst="roundRect">
            <a:avLst>
              <a:gd name="adj" fmla="val 13333"/>
            </a:avLst>
          </a:prstGeom>
          <a:solidFill>
            <a:schemeClr val="bg2"/>
          </a:solidFill>
          <a:ln/>
        </p:spPr>
      </p:sp>
      <p:sp>
        <p:nvSpPr>
          <p:cNvPr id="29" name="Text 26"/>
          <p:cNvSpPr txBox="1"/>
          <p:nvPr/>
        </p:nvSpPr>
        <p:spPr>
          <a:xfrm>
            <a:off x="4343400" y="434340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Distribution Agreements &amp; Partners</a:t>
            </a:r>
            <a:endParaRPr lang="en-US" sz="1200" dirty="0"/>
          </a:p>
        </p:txBody>
      </p:sp>
      <p:sp>
        <p:nvSpPr>
          <p:cNvPr id="30" name="Text 27"/>
          <p:cNvSpPr txBox="1"/>
          <p:nvPr/>
        </p:nvSpPr>
        <p:spPr>
          <a:xfrm>
            <a:off x="7132320" y="434340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2 references, 3 copies</a:t>
            </a:r>
            <a:endParaRPr lang="en-US" sz="1200" dirty="0"/>
          </a:p>
        </p:txBody>
      </p:sp>
      <p:sp>
        <p:nvSpPr>
          <p:cNvPr id="31" name="Text 28"/>
          <p:cNvSpPr txBox="1"/>
          <p:nvPr/>
        </p:nvSpPr>
        <p:spPr>
          <a:xfrm>
            <a:off x="8458200" y="434340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Source record and payment arrangement; copies of funding source and amounts passed through</a:t>
            </a:r>
            <a:endParaRPr lang="en-US" sz="1100" dirty="0"/>
          </a:p>
        </p:txBody>
      </p:sp>
      <p:sp>
        <p:nvSpPr>
          <p:cNvPr id="32" name="Shape 29"/>
          <p:cNvSpPr/>
          <p:nvPr/>
        </p:nvSpPr>
        <p:spPr>
          <a:xfrm>
            <a:off x="4114800" y="4983480"/>
            <a:ext cx="7525512" cy="548640"/>
          </a:xfrm>
          <a:prstGeom prst="roundRect">
            <a:avLst>
              <a:gd name="adj" fmla="val 13333"/>
            </a:avLst>
          </a:prstGeom>
          <a:solidFill>
            <a:schemeClr val="bg2"/>
          </a:solidFill>
          <a:ln/>
        </p:spPr>
      </p:sp>
      <p:sp>
        <p:nvSpPr>
          <p:cNvPr id="33" name="Text 30"/>
          <p:cNvSpPr txBox="1"/>
          <p:nvPr/>
        </p:nvSpPr>
        <p:spPr>
          <a:xfrm>
            <a:off x="4343400" y="498348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Other domains</a:t>
            </a:r>
            <a:endParaRPr lang="en-US" sz="1200" dirty="0"/>
          </a:p>
        </p:txBody>
      </p:sp>
      <p:sp>
        <p:nvSpPr>
          <p:cNvPr id="34" name="Text 31"/>
          <p:cNvSpPr txBox="1"/>
          <p:nvPr/>
        </p:nvSpPr>
        <p:spPr>
          <a:xfrm>
            <a:off x="7132320" y="498348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5 references, 1 copy</a:t>
            </a:r>
            <a:endParaRPr lang="en-US" sz="1200" dirty="0"/>
          </a:p>
        </p:txBody>
      </p:sp>
      <p:sp>
        <p:nvSpPr>
          <p:cNvPr id="35" name="Text 32"/>
          <p:cNvSpPr txBox="1"/>
          <p:nvPr/>
        </p:nvSpPr>
        <p:spPr>
          <a:xfrm>
            <a:off x="8458200" y="498348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Territory, plan components, the sales forecast and its gross sales, and the inducement assessment</a:t>
            </a:r>
            <a:endParaRPr lang="en-US" sz="1100" dirty="0"/>
          </a:p>
        </p:txBody>
      </p:sp>
      <p:sp>
        <p:nvSpPr>
          <p:cNvPr id="36" name="Shape 33"/>
          <p:cNvSpPr/>
          <p:nvPr/>
        </p:nvSpPr>
        <p:spPr>
          <a:xfrm>
            <a:off x="548640" y="5687568"/>
            <a:ext cx="11091672" cy="530352"/>
          </a:xfrm>
          <a:prstGeom prst="roundRect">
            <a:avLst>
              <a:gd name="adj" fmla="val 13793"/>
            </a:avLst>
          </a:prstGeom>
          <a:solidFill>
            <a:schemeClr val="bg2"/>
          </a:solidFill>
          <a:ln/>
        </p:spPr>
      </p:sp>
      <p:sp>
        <p:nvSpPr>
          <p:cNvPr id="37" name="Text 34"/>
          <p:cNvSpPr txBox="1"/>
          <p:nvPr/>
        </p:nvSpPr>
        <p:spPr>
          <a:xfrm>
            <a:off x="777240" y="5687568"/>
            <a:ext cx="10634472" cy="530352"/>
          </a:xfrm>
          <a:prstGeom prst="rect">
            <a:avLst/>
          </a:prstGeom>
          <a:noFill/>
          <a:ln/>
        </p:spPr>
        <p:txBody>
          <a:bodyPr wrap="square" lIns="0" tIns="0" rIns="0" bIns="0" rtlCol="0" anchor="ctr"/>
          <a:lstStyle/>
          <a:p>
            <a:pPr algn="l" indent="0" marL="0">
              <a:buNone/>
            </a:pPr>
            <a:r>
              <a:rPr lang="en-US" sz="1200" dirty="0">
                <a:solidFill>
                  <a:schemeClr val="tx1"/>
                </a:solidFill>
              </a:rPr>
              <a:t>In the other direction, only 5 attributes in 3 other domains reference a record mastered here. Also excluded from every view: Record Metadata, which the program documents separately.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NOT YET COVERED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Not yet covered: 21 open gaps</a:t>
            </a:r>
            <a:endParaRPr lang="en-US" sz="3600" dirty="0"/>
          </a:p>
        </p:txBody>
      </p:sp>
      <p:sp>
        <p:nvSpPr>
          <p:cNvPr id="5" name="Shape 2"/>
          <p:cNvSpPr/>
          <p:nvPr/>
        </p:nvSpPr>
        <p:spPr>
          <a:xfrm>
            <a:off x="548640" y="1783080"/>
            <a:ext cx="3017520" cy="4187952"/>
          </a:xfrm>
          <a:prstGeom prst="roundRect">
            <a:avLst>
              <a:gd name="adj" fmla="val 2424"/>
            </a:avLst>
          </a:prstGeom>
          <a:solidFill>
            <a:schemeClr val="bg2"/>
          </a:solidFill>
          <a:ln/>
        </p:spPr>
      </p:sp>
      <p:sp>
        <p:nvSpPr>
          <p:cNvPr id="6" name="Text 3"/>
          <p:cNvSpPr txBox="1"/>
          <p:nvPr/>
        </p:nvSpPr>
        <p:spPr>
          <a:xfrm>
            <a:off x="822960" y="2011680"/>
            <a:ext cx="2468880" cy="777240"/>
          </a:xfrm>
          <a:prstGeom prst="rect">
            <a:avLst/>
          </a:prstGeom>
          <a:noFill/>
          <a:ln/>
        </p:spPr>
        <p:txBody>
          <a:bodyPr wrap="square" lIns="0" tIns="0" rIns="0" bIns="0" rtlCol="0" anchor="ctr"/>
          <a:lstStyle/>
          <a:p>
            <a:pPr algn="l" indent="0" marL="0">
              <a:buNone/>
            </a:pPr>
            <a:r>
              <a:rPr lang="en-US" sz="5400" b="1" dirty="0">
                <a:solidFill>
                  <a:schemeClr val="accent1"/>
                </a:solidFill>
              </a:rPr>
              <a:t>23</a:t>
            </a:r>
            <a:endParaRPr lang="en-US" sz="5400" dirty="0"/>
          </a:p>
        </p:txBody>
      </p:sp>
      <p:sp>
        <p:nvSpPr>
          <p:cNvPr id="7" name="Text 4"/>
          <p:cNvSpPr txBox="1"/>
          <p:nvPr/>
        </p:nvSpPr>
        <p:spPr>
          <a:xfrm>
            <a:off x="822960" y="2834640"/>
            <a:ext cx="2468880" cy="822960"/>
          </a:xfrm>
          <a:prstGeom prst="rect">
            <a:avLst/>
          </a:prstGeom>
          <a:noFill/>
          <a:ln/>
        </p:spPr>
        <p:txBody>
          <a:bodyPr wrap="square" lIns="0" tIns="0" rIns="0" bIns="0" rtlCol="0" anchor="t"/>
          <a:lstStyle/>
          <a:p>
            <a:pPr algn="l" indent="0" marL="0">
              <a:buNone/>
            </a:pPr>
            <a:r>
              <a:rPr lang="en-US" sz="1300" dirty="0">
                <a:solidFill>
                  <a:schemeClr val="tx1"/>
                </a:solidFill>
              </a:rPr>
              <a:t>gaps raised against this domain while specifying and modeling data products</a:t>
            </a:r>
            <a:endParaRPr lang="en-US" sz="1300" dirty="0"/>
          </a:p>
        </p:txBody>
      </p:sp>
      <p:sp>
        <p:nvSpPr>
          <p:cNvPr id="8" name="Text 5"/>
          <p:cNvSpPr txBox="1"/>
          <p:nvPr/>
        </p:nvSpPr>
        <p:spPr>
          <a:xfrm>
            <a:off x="822960" y="3886200"/>
            <a:ext cx="2468880" cy="320040"/>
          </a:xfrm>
          <a:prstGeom prst="rect">
            <a:avLst/>
          </a:prstGeom>
          <a:noFill/>
          <a:ln/>
        </p:spPr>
        <p:txBody>
          <a:bodyPr wrap="square" lIns="0" tIns="0" rIns="0" bIns="0" rtlCol="0" anchor="ctr"/>
          <a:lstStyle/>
          <a:p>
            <a:pPr algn="l" indent="0" marL="0">
              <a:buNone/>
            </a:pPr>
            <a:r>
              <a:rPr lang="en-US" sz="1600" b="1" dirty="0">
                <a:solidFill>
                  <a:schemeClr val="accent5"/>
                </a:solidFill>
              </a:rPr>
              <a:t>2 resolved</a:t>
            </a:r>
            <a:endParaRPr lang="en-US" sz="1600" dirty="0"/>
          </a:p>
        </p:txBody>
      </p:sp>
      <p:sp>
        <p:nvSpPr>
          <p:cNvPr id="9" name="Text 6"/>
          <p:cNvSpPr txBox="1"/>
          <p:nvPr/>
        </p:nvSpPr>
        <p:spPr>
          <a:xfrm>
            <a:off x="822960" y="4389120"/>
            <a:ext cx="2468880" cy="320040"/>
          </a:xfrm>
          <a:prstGeom prst="rect">
            <a:avLst/>
          </a:prstGeom>
          <a:noFill/>
          <a:ln/>
        </p:spPr>
        <p:txBody>
          <a:bodyPr wrap="square" lIns="0" tIns="0" rIns="0" bIns="0" rtlCol="0" anchor="ctr"/>
          <a:lstStyle/>
          <a:p>
            <a:pPr algn="l" indent="0" marL="0">
              <a:buNone/>
            </a:pPr>
            <a:r>
              <a:rPr lang="en-US" sz="1600" b="1" dirty="0">
                <a:solidFill>
                  <a:schemeClr val="accent4"/>
                </a:solidFill>
              </a:rPr>
              <a:t>21 open</a:t>
            </a:r>
            <a:endParaRPr lang="en-US" sz="1600" dirty="0"/>
          </a:p>
        </p:txBody>
      </p:sp>
      <p:sp>
        <p:nvSpPr>
          <p:cNvPr id="10" name="Text 7"/>
          <p:cNvSpPr txBox="1"/>
          <p:nvPr/>
        </p:nvSpPr>
        <p:spPr>
          <a:xfrm>
            <a:off x="822960" y="4709160"/>
            <a:ext cx="2468880" cy="274320"/>
          </a:xfrm>
          <a:prstGeom prst="rect">
            <a:avLst/>
          </a:prstGeom>
          <a:noFill/>
          <a:ln/>
        </p:spPr>
        <p:txBody>
          <a:bodyPr wrap="square" lIns="0" tIns="0" rIns="0" bIns="0" rtlCol="0" anchor="ctr"/>
          <a:lstStyle/>
          <a:p>
            <a:pPr algn="l" indent="0" marL="0">
              <a:buNone/>
            </a:pPr>
            <a:r>
              <a:rPr lang="en-US" sz="1200" dirty="0">
                <a:solidFill>
                  <a:schemeClr val="tx2"/>
                </a:solidFill>
              </a:rPr>
              <a:t>5 high, 7 medium, 9 low priority</a:t>
            </a:r>
            <a:endParaRPr lang="en-US" sz="1200" dirty="0"/>
          </a:p>
        </p:txBody>
      </p:sp>
      <p:sp>
        <p:nvSpPr>
          <p:cNvPr id="11" name="Shape 8"/>
          <p:cNvSpPr/>
          <p:nvPr/>
        </p:nvSpPr>
        <p:spPr>
          <a:xfrm>
            <a:off x="3840480" y="1783080"/>
            <a:ext cx="7799832" cy="530352"/>
          </a:xfrm>
          <a:prstGeom prst="roundRect">
            <a:avLst>
              <a:gd name="adj" fmla="val 13793"/>
            </a:avLst>
          </a:prstGeom>
          <a:solidFill>
            <a:schemeClr val="bg2"/>
          </a:solidFill>
          <a:ln/>
        </p:spPr>
      </p:sp>
      <p:sp>
        <p:nvSpPr>
          <p:cNvPr id="12" name="Text 9"/>
          <p:cNvSpPr/>
          <p:nvPr/>
        </p:nvSpPr>
        <p:spPr>
          <a:xfrm>
            <a:off x="3977640" y="1892808"/>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3" name="Text 10"/>
          <p:cNvSpPr txBox="1"/>
          <p:nvPr/>
        </p:nvSpPr>
        <p:spPr>
          <a:xfrm>
            <a:off x="4983480" y="178308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GAP-10-001</a:t>
            </a:r>
            <a:endParaRPr lang="en-US" sz="1200" dirty="0"/>
          </a:p>
        </p:txBody>
      </p:sp>
      <p:sp>
        <p:nvSpPr>
          <p:cNvPr id="14" name="Text 11"/>
          <p:cNvSpPr txBox="1"/>
          <p:nvPr/>
        </p:nvSpPr>
        <p:spPr>
          <a:xfrm>
            <a:off x="6126480" y="178308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Six records name an accounting period in their grain but do not hold it, so products borrow fiscal period keys (DP-012, DP-089)</a:t>
            </a:r>
            <a:endParaRPr lang="en-US" sz="1200" dirty="0"/>
          </a:p>
        </p:txBody>
      </p:sp>
      <p:sp>
        <p:nvSpPr>
          <p:cNvPr id="15" name="Shape 12"/>
          <p:cNvSpPr/>
          <p:nvPr/>
        </p:nvSpPr>
        <p:spPr>
          <a:xfrm>
            <a:off x="3840480" y="2386584"/>
            <a:ext cx="7799832" cy="530352"/>
          </a:xfrm>
          <a:prstGeom prst="roundRect">
            <a:avLst>
              <a:gd name="adj" fmla="val 13793"/>
            </a:avLst>
          </a:prstGeom>
          <a:solidFill>
            <a:schemeClr val="bg2"/>
          </a:solidFill>
          <a:ln/>
        </p:spPr>
      </p:sp>
      <p:sp>
        <p:nvSpPr>
          <p:cNvPr id="16" name="Text 13"/>
          <p:cNvSpPr/>
          <p:nvPr/>
        </p:nvSpPr>
        <p:spPr>
          <a:xfrm>
            <a:off x="3977640" y="2496312"/>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7" name="Text 14"/>
          <p:cNvSpPr txBox="1"/>
          <p:nvPr/>
        </p:nvSpPr>
        <p:spPr>
          <a:xfrm>
            <a:off x="4983480" y="238658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GAP-10-002</a:t>
            </a:r>
            <a:endParaRPr lang="en-US" sz="1200" dirty="0"/>
          </a:p>
        </p:txBody>
      </p:sp>
      <p:sp>
        <p:nvSpPr>
          <p:cNvPr id="18" name="Text 15"/>
          <p:cNvSpPr txBox="1"/>
          <p:nvPr/>
        </p:nvSpPr>
        <p:spPr>
          <a:xfrm>
            <a:off x="6126480" y="238658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A cost item's Source Record points to many record types, so cost joins to its source only by value matching (DP-056, DP-089)</a:t>
            </a:r>
            <a:endParaRPr lang="en-US" sz="1200" dirty="0"/>
          </a:p>
        </p:txBody>
      </p:sp>
      <p:sp>
        <p:nvSpPr>
          <p:cNvPr id="19" name="Shape 16"/>
          <p:cNvSpPr/>
          <p:nvPr/>
        </p:nvSpPr>
        <p:spPr>
          <a:xfrm>
            <a:off x="3840480" y="2990088"/>
            <a:ext cx="7799832" cy="530352"/>
          </a:xfrm>
          <a:prstGeom prst="roundRect">
            <a:avLst>
              <a:gd name="adj" fmla="val 13793"/>
            </a:avLst>
          </a:prstGeom>
          <a:solidFill>
            <a:schemeClr val="bg2"/>
          </a:solidFill>
          <a:ln/>
        </p:spPr>
      </p:sp>
      <p:sp>
        <p:nvSpPr>
          <p:cNvPr id="20" name="Text 17"/>
          <p:cNvSpPr/>
          <p:nvPr/>
        </p:nvSpPr>
        <p:spPr>
          <a:xfrm>
            <a:off x="3977640" y="3099816"/>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1" name="Text 18"/>
          <p:cNvSpPr txBox="1"/>
          <p:nvPr/>
        </p:nvSpPr>
        <p:spPr>
          <a:xfrm>
            <a:off x="4983480" y="2990088"/>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GAP-10-003</a:t>
            </a:r>
            <a:endParaRPr lang="en-US" sz="1200" dirty="0"/>
          </a:p>
        </p:txBody>
      </p:sp>
      <p:sp>
        <p:nvSpPr>
          <p:cNvPr id="22" name="Text 19"/>
          <p:cNvSpPr txBox="1"/>
          <p:nvPr/>
        </p:nvSpPr>
        <p:spPr>
          <a:xfrm>
            <a:off x="6126480" y="2990088"/>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Accounting Period Status and Control lack legal entity and ledger, so close cannot be checked by entity (DP-012)</a:t>
            </a:r>
            <a:endParaRPr lang="en-US" sz="1200" dirty="0"/>
          </a:p>
        </p:txBody>
      </p:sp>
      <p:sp>
        <p:nvSpPr>
          <p:cNvPr id="23" name="Shape 20"/>
          <p:cNvSpPr/>
          <p:nvPr/>
        </p:nvSpPr>
        <p:spPr>
          <a:xfrm>
            <a:off x="3840480" y="3593592"/>
            <a:ext cx="7799832" cy="530352"/>
          </a:xfrm>
          <a:prstGeom prst="roundRect">
            <a:avLst>
              <a:gd name="adj" fmla="val 13793"/>
            </a:avLst>
          </a:prstGeom>
          <a:solidFill>
            <a:schemeClr val="bg2"/>
          </a:solidFill>
          <a:ln/>
        </p:spPr>
      </p:sp>
      <p:sp>
        <p:nvSpPr>
          <p:cNvPr id="24" name="Text 21"/>
          <p:cNvSpPr/>
          <p:nvPr/>
        </p:nvSpPr>
        <p:spPr>
          <a:xfrm>
            <a:off x="3977640" y="3703320"/>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5" name="Text 22"/>
          <p:cNvSpPr txBox="1"/>
          <p:nvPr/>
        </p:nvSpPr>
        <p:spPr>
          <a:xfrm>
            <a:off x="4983480" y="3593592"/>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GAP-10-004</a:t>
            </a:r>
            <a:endParaRPr lang="en-US" sz="1200" dirty="0"/>
          </a:p>
        </p:txBody>
      </p:sp>
      <p:sp>
        <p:nvSpPr>
          <p:cNvPr id="26" name="Text 23"/>
          <p:cNvSpPr txBox="1"/>
          <p:nvPr/>
        </p:nvSpPr>
        <p:spPr>
          <a:xfrm>
            <a:off x="6126480" y="3593592"/>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Fee and distribution revenue records do not name their Revenue Contract or its identified customer (DP-012)</a:t>
            </a:r>
            <a:endParaRPr lang="en-US" sz="1200" dirty="0"/>
          </a:p>
        </p:txBody>
      </p:sp>
      <p:sp>
        <p:nvSpPr>
          <p:cNvPr id="27" name="Shape 24"/>
          <p:cNvSpPr/>
          <p:nvPr/>
        </p:nvSpPr>
        <p:spPr>
          <a:xfrm>
            <a:off x="3840480" y="4197096"/>
            <a:ext cx="7799832" cy="530352"/>
          </a:xfrm>
          <a:prstGeom prst="roundRect">
            <a:avLst>
              <a:gd name="adj" fmla="val 13793"/>
            </a:avLst>
          </a:prstGeom>
          <a:solidFill>
            <a:schemeClr val="bg2"/>
          </a:solidFill>
          <a:ln/>
        </p:spPr>
      </p:sp>
      <p:sp>
        <p:nvSpPr>
          <p:cNvPr id="28" name="Text 25"/>
          <p:cNvSpPr/>
          <p:nvPr/>
        </p:nvSpPr>
        <p:spPr>
          <a:xfrm>
            <a:off x="3977640" y="4306824"/>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9" name="Text 26"/>
          <p:cNvSpPr txBox="1"/>
          <p:nvPr/>
        </p:nvSpPr>
        <p:spPr>
          <a:xfrm>
            <a:off x="4983480" y="4197096"/>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GAP-10-005</a:t>
            </a:r>
            <a:endParaRPr lang="en-US" sz="1200" dirty="0"/>
          </a:p>
        </p:txBody>
      </p:sp>
      <p:sp>
        <p:nvSpPr>
          <p:cNvPr id="30" name="Text 27"/>
          <p:cNvSpPr txBox="1"/>
          <p:nvPr/>
        </p:nvSpPr>
        <p:spPr>
          <a:xfrm>
            <a:off x="6126480" y="4197096"/>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Distribution Revenue Record has no data basis, so its revenue cannot be split estimated versus final (DP-012)</a:t>
            </a:r>
            <a:endParaRPr lang="en-US" sz="1200" dirty="0"/>
          </a:p>
        </p:txBody>
      </p:sp>
      <p:sp>
        <p:nvSpPr>
          <p:cNvPr id="31" name="Shape 28"/>
          <p:cNvSpPr/>
          <p:nvPr/>
        </p:nvSpPr>
        <p:spPr>
          <a:xfrm>
            <a:off x="3840480" y="4800600"/>
            <a:ext cx="7799832" cy="530352"/>
          </a:xfrm>
          <a:prstGeom prst="roundRect">
            <a:avLst>
              <a:gd name="adj" fmla="val 13793"/>
            </a:avLst>
          </a:prstGeom>
          <a:solidFill>
            <a:schemeClr val="bg2"/>
          </a:solidFill>
          <a:ln/>
        </p:spPr>
      </p:sp>
      <p:sp>
        <p:nvSpPr>
          <p:cNvPr id="32" name="Text 29"/>
          <p:cNvSpPr/>
          <p:nvPr/>
        </p:nvSpPr>
        <p:spPr>
          <a:xfrm>
            <a:off x="3977640" y="4910328"/>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33" name="Text 30"/>
          <p:cNvSpPr txBox="1"/>
          <p:nvPr/>
        </p:nvSpPr>
        <p:spPr>
          <a:xfrm>
            <a:off x="4983480" y="480060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GAP-10-006</a:t>
            </a:r>
            <a:endParaRPr lang="en-US" sz="1200" dirty="0"/>
          </a:p>
        </p:txBody>
      </p:sp>
      <p:sp>
        <p:nvSpPr>
          <p:cNvPr id="34" name="Text 31"/>
          <p:cNvSpPr txBox="1"/>
          <p:nvPr/>
        </p:nvSpPr>
        <p:spPr>
          <a:xfrm>
            <a:off x="6126480" y="480060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Allocation, plan and hierarchy records point to a generic dimension member that no object resolves (DP-035, DP-056)</a:t>
            </a:r>
            <a:endParaRPr lang="en-US" sz="1200" dirty="0"/>
          </a:p>
        </p:txBody>
      </p:sp>
      <p:sp>
        <p:nvSpPr>
          <p:cNvPr id="35" name="Shape 32"/>
          <p:cNvSpPr/>
          <p:nvPr/>
        </p:nvSpPr>
        <p:spPr>
          <a:xfrm>
            <a:off x="3840480" y="5404104"/>
            <a:ext cx="7799832" cy="530352"/>
          </a:xfrm>
          <a:prstGeom prst="roundRect">
            <a:avLst>
              <a:gd name="adj" fmla="val 13793"/>
            </a:avLst>
          </a:prstGeom>
          <a:solidFill>
            <a:schemeClr val="bg2"/>
          </a:solidFill>
          <a:ln/>
        </p:spPr>
      </p:sp>
      <p:sp>
        <p:nvSpPr>
          <p:cNvPr id="36" name="Text 33"/>
          <p:cNvSpPr/>
          <p:nvPr/>
        </p:nvSpPr>
        <p:spPr>
          <a:xfrm>
            <a:off x="3977640" y="5513832"/>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37" name="Text 34"/>
          <p:cNvSpPr txBox="1"/>
          <p:nvPr/>
        </p:nvSpPr>
        <p:spPr>
          <a:xfrm>
            <a:off x="4983480" y="540410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GAP-10-007</a:t>
            </a:r>
            <a:endParaRPr lang="en-US" sz="1200" dirty="0"/>
          </a:p>
        </p:txBody>
      </p:sp>
      <p:sp>
        <p:nvSpPr>
          <p:cNvPr id="38" name="Text 35"/>
          <p:cNvSpPr txBox="1"/>
          <p:nvPr/>
        </p:nvSpPr>
        <p:spPr>
          <a:xfrm>
            <a:off x="6126480" y="540410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Allocation Result does not name its run, and Hierarchy Node does not name its hierarchy version (DP-035, DP-074)</a:t>
            </a:r>
            <a:endParaRPr lang="en-US" sz="1200" dirty="0"/>
          </a:p>
        </p:txBody>
      </p:sp>
      <p:sp>
        <p:nvSpPr>
          <p:cNvPr id="39" name="Text 36"/>
          <p:cNvSpPr txBox="1"/>
          <p:nvPr/>
        </p:nvSpPr>
        <p:spPr>
          <a:xfrm>
            <a:off x="3840480" y="6062472"/>
            <a:ext cx="7799832" cy="274320"/>
          </a:xfrm>
          <a:prstGeom prst="rect">
            <a:avLst/>
          </a:prstGeom>
          <a:noFill/>
          <a:ln/>
        </p:spPr>
        <p:txBody>
          <a:bodyPr wrap="square" lIns="0" tIns="0" rIns="0" bIns="0" rtlCol="0" anchor="ctr"/>
          <a:lstStyle/>
          <a:p>
            <a:pPr algn="l" indent="0" marL="0">
              <a:buNone/>
            </a:pPr>
            <a:r>
              <a:rPr lang="en-US" sz="1200" dirty="0">
                <a:solidFill>
                  <a:schemeClr val="tx2"/>
                </a:solidFill>
              </a:rPr>
              <a:t>Each gap has a proposed resolution and a decision owner in Gap_Register.xlsx.</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taxonomy does four jobs</a:t>
            </a:r>
            <a:endParaRPr lang="en-US" sz="3600" dirty="0"/>
          </a:p>
        </p:txBody>
      </p:sp>
      <p:sp>
        <p:nvSpPr>
          <p:cNvPr id="5" name="Shape 2"/>
          <p:cNvSpPr/>
          <p:nvPr/>
        </p:nvSpPr>
        <p:spPr>
          <a:xfrm>
            <a:off x="548640" y="1783080"/>
            <a:ext cx="2560320" cy="2971800"/>
          </a:xfrm>
          <a:prstGeom prst="roundRect">
            <a:avLst>
              <a:gd name="adj" fmla="val 2857"/>
            </a:avLst>
          </a:prstGeom>
          <a:solidFill>
            <a:schemeClr val="bg2"/>
          </a:solidFill>
          <a:ln/>
        </p:spPr>
      </p:sp>
      <p:sp>
        <p:nvSpPr>
          <p:cNvPr id="6" name="Text 3"/>
          <p:cNvSpPr/>
          <p:nvPr/>
        </p:nvSpPr>
        <p:spPr>
          <a:xfrm>
            <a:off x="777240" y="201168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777240"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Mapping target</a:t>
            </a:r>
            <a:endParaRPr lang="en-US" sz="1600" dirty="0"/>
          </a:p>
        </p:txBody>
      </p:sp>
      <p:sp>
        <p:nvSpPr>
          <p:cNvPr id="8" name="Text 5"/>
          <p:cNvSpPr txBox="1"/>
          <p:nvPr/>
        </p:nvSpPr>
        <p:spPr>
          <a:xfrm>
            <a:off x="777240"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The general ledger, fund accounting, the planning tool and the payment engine each map to one definition per field. Source mapping is not yet done.</a:t>
            </a:r>
            <a:endParaRPr lang="en-US" sz="1300" dirty="0"/>
          </a:p>
        </p:txBody>
      </p:sp>
      <p:sp>
        <p:nvSpPr>
          <p:cNvPr id="9" name="Shape 6"/>
          <p:cNvSpPr/>
          <p:nvPr/>
        </p:nvSpPr>
        <p:spPr>
          <a:xfrm>
            <a:off x="3392424" y="1783080"/>
            <a:ext cx="2560320" cy="2971800"/>
          </a:xfrm>
          <a:prstGeom prst="roundRect">
            <a:avLst>
              <a:gd name="adj" fmla="val 2857"/>
            </a:avLst>
          </a:prstGeom>
          <a:solidFill>
            <a:schemeClr val="bg2"/>
          </a:solidFill>
          <a:ln/>
        </p:spPr>
      </p:sp>
      <p:sp>
        <p:nvSpPr>
          <p:cNvPr id="10" name="Text 7"/>
          <p:cNvSpPr/>
          <p:nvPr/>
        </p:nvSpPr>
        <p:spPr>
          <a:xfrm>
            <a:off x="3621024" y="201168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3621024"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Bill of materials</a:t>
            </a:r>
            <a:endParaRPr lang="en-US" sz="1600" dirty="0"/>
          </a:p>
        </p:txBody>
      </p:sp>
      <p:sp>
        <p:nvSpPr>
          <p:cNvPr id="12" name="Text 9"/>
          <p:cNvSpPr txBox="1"/>
          <p:nvPr/>
        </p:nvSpPr>
        <p:spPr>
          <a:xfrm>
            <a:off x="3621024"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Each data product lists the exact objects and attributes it uses. The build fails if one does not exist in the taxonomy.</a:t>
            </a:r>
            <a:endParaRPr lang="en-US" sz="1300" dirty="0"/>
          </a:p>
        </p:txBody>
      </p:sp>
      <p:sp>
        <p:nvSpPr>
          <p:cNvPr id="13" name="Shape 10"/>
          <p:cNvSpPr/>
          <p:nvPr/>
        </p:nvSpPr>
        <p:spPr>
          <a:xfrm>
            <a:off x="6236208" y="1783080"/>
            <a:ext cx="2560320" cy="2971800"/>
          </a:xfrm>
          <a:prstGeom prst="roundRect">
            <a:avLst>
              <a:gd name="adj" fmla="val 2857"/>
            </a:avLst>
          </a:prstGeom>
          <a:solidFill>
            <a:schemeClr val="bg2"/>
          </a:solidFill>
          <a:ln/>
        </p:spPr>
      </p:sp>
      <p:sp>
        <p:nvSpPr>
          <p:cNvPr id="14" name="Text 11"/>
          <p:cNvSpPr/>
          <p:nvPr/>
        </p:nvSpPr>
        <p:spPr>
          <a:xfrm>
            <a:off x="6464808" y="2011680"/>
            <a:ext cx="411480" cy="41148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2"/>
          <p:cNvSpPr txBox="1"/>
          <p:nvPr/>
        </p:nvSpPr>
        <p:spPr>
          <a:xfrm>
            <a:off x="6464808"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Certified metrics</a:t>
            </a:r>
            <a:endParaRPr lang="en-US" sz="1600" dirty="0"/>
          </a:p>
        </p:txBody>
      </p:sp>
      <p:sp>
        <p:nvSpPr>
          <p:cNvPr id="16" name="Text 13"/>
          <p:cNvSpPr txBox="1"/>
          <p:nvPr/>
        </p:nvSpPr>
        <p:spPr>
          <a:xfrm>
            <a:off x="6464808"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Gross Fee Revenue, Net Fee Revenue and Effective Net Fee Rate are certified once, in SM-07 Finance &amp; Profitability. Other semantic models reference them.</a:t>
            </a:r>
            <a:endParaRPr lang="en-US" sz="1300" dirty="0"/>
          </a:p>
        </p:txBody>
      </p:sp>
      <p:sp>
        <p:nvSpPr>
          <p:cNvPr id="17" name="Shape 14"/>
          <p:cNvSpPr/>
          <p:nvPr/>
        </p:nvSpPr>
        <p:spPr>
          <a:xfrm>
            <a:off x="9079992" y="1783080"/>
            <a:ext cx="2560320" cy="2971800"/>
          </a:xfrm>
          <a:prstGeom prst="roundRect">
            <a:avLst>
              <a:gd name="adj" fmla="val 2857"/>
            </a:avLst>
          </a:prstGeom>
          <a:solidFill>
            <a:schemeClr val="bg2"/>
          </a:solidFill>
          <a:ln/>
        </p:spPr>
      </p:sp>
      <p:sp>
        <p:nvSpPr>
          <p:cNvPr id="18" name="Text 15"/>
          <p:cNvSpPr/>
          <p:nvPr/>
        </p:nvSpPr>
        <p:spPr>
          <a:xfrm>
            <a:off x="9308592" y="2011680"/>
            <a:ext cx="411480" cy="411480"/>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6"/>
          <p:cNvSpPr txBox="1"/>
          <p:nvPr/>
        </p:nvSpPr>
        <p:spPr>
          <a:xfrm>
            <a:off x="9308592"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Governance focus</a:t>
            </a:r>
            <a:endParaRPr lang="en-US" sz="1600" dirty="0"/>
          </a:p>
        </p:txBody>
      </p:sp>
      <p:sp>
        <p:nvSpPr>
          <p:cNvPr id="20" name="Text 17"/>
          <p:cNvSpPr txBox="1"/>
          <p:nvPr/>
        </p:nvSpPr>
        <p:spPr>
          <a:xfrm>
            <a:off x="9308592"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A named owning domain for every attribute and 71 proposed critical data elements show stewards where to focus.</a:t>
            </a:r>
            <a:endParaRPr lang="en-US" sz="1300" dirty="0"/>
          </a:p>
        </p:txBody>
      </p:sp>
      <p:sp>
        <p:nvSpPr>
          <p:cNvPr id="21" name="Text 18"/>
          <p:cNvSpPr txBox="1"/>
          <p:nvPr/>
        </p:nvSpPr>
        <p:spPr>
          <a:xfrm>
            <a:off x="548640" y="4937760"/>
            <a:ext cx="548640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WHERE THE DEFINITIONS TRAVEL</a:t>
            </a:r>
            <a:endParaRPr lang="en-US" sz="1200" dirty="0"/>
          </a:p>
        </p:txBody>
      </p:sp>
      <p:sp>
        <p:nvSpPr>
          <p:cNvPr id="22" name="Text 19"/>
          <p:cNvSpPr/>
          <p:nvPr/>
        </p:nvSpPr>
        <p:spPr>
          <a:xfrm>
            <a:off x="54864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Ledger and finance systems</a:t>
            </a:r>
            <a:endParaRPr lang="en-US" sz="1200" dirty="0"/>
          </a:p>
        </p:txBody>
      </p:sp>
      <p:sp>
        <p:nvSpPr>
          <p:cNvPr id="23" name="Shape 20"/>
          <p:cNvSpPr/>
          <p:nvPr/>
        </p:nvSpPr>
        <p:spPr>
          <a:xfrm>
            <a:off x="2203704" y="5692140"/>
            <a:ext cx="202997" cy="0"/>
          </a:xfrm>
          <a:prstGeom prst="line">
            <a:avLst/>
          </a:prstGeom>
          <a:noFill/>
          <a:ln w="19050">
            <a:solidFill>
              <a:schemeClr val="tx2"/>
            </a:solidFill>
            <a:prstDash val="solid"/>
            <a:tailEnd type="triangle"/>
          </a:ln>
        </p:spPr>
      </p:sp>
      <p:sp>
        <p:nvSpPr>
          <p:cNvPr id="24" name="Text 21"/>
          <p:cNvSpPr/>
          <p:nvPr/>
        </p:nvSpPr>
        <p:spPr>
          <a:xfrm>
            <a:off x="2443277" y="5257800"/>
            <a:ext cx="1618488" cy="868680"/>
          </a:xfrm>
          <a:prstGeom prst="roundRect">
            <a:avLst>
              <a:gd name="adj" fmla="val 8421"/>
            </a:avLst>
          </a:prstGeom>
          <a:solidFill>
            <a:schemeClr val="accent1"/>
          </a:solidFill>
          <a:ln/>
        </p:spPr>
        <p:txBody>
          <a:bodyPr wrap="square" lIns="1016" tIns="1016" rIns="1016" bIns="1016" rtlCol="0" anchor="ctr"/>
          <a:lstStyle/>
          <a:p>
            <a:pPr algn="ctr" indent="0" marL="0">
              <a:buNone/>
            </a:pPr>
            <a:r>
              <a:rPr lang="en-US" sz="1200" b="1" dirty="0">
                <a:solidFill>
                  <a:schemeClr val="bg1"/>
                </a:solidFill>
              </a:rPr>
              <a:t>Distribution Finance definitions</a:t>
            </a:r>
            <a:endParaRPr lang="en-US" sz="1200" dirty="0"/>
          </a:p>
        </p:txBody>
      </p:sp>
      <p:sp>
        <p:nvSpPr>
          <p:cNvPr id="25" name="Shape 22"/>
          <p:cNvSpPr/>
          <p:nvPr/>
        </p:nvSpPr>
        <p:spPr>
          <a:xfrm>
            <a:off x="4098341" y="5692140"/>
            <a:ext cx="202997" cy="0"/>
          </a:xfrm>
          <a:prstGeom prst="line">
            <a:avLst/>
          </a:prstGeom>
          <a:noFill/>
          <a:ln w="19050">
            <a:solidFill>
              <a:schemeClr val="tx2"/>
            </a:solidFill>
            <a:prstDash val="solid"/>
            <a:tailEnd type="triangle"/>
          </a:ln>
        </p:spPr>
      </p:sp>
      <p:sp>
        <p:nvSpPr>
          <p:cNvPr id="26" name="Text 23"/>
          <p:cNvSpPr/>
          <p:nvPr/>
        </p:nvSpPr>
        <p:spPr>
          <a:xfrm>
            <a:off x="433791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DP-012 foundational</a:t>
            </a:r>
            <a:endParaRPr lang="en-US" sz="1200" dirty="0"/>
          </a:p>
        </p:txBody>
      </p:sp>
      <p:sp>
        <p:nvSpPr>
          <p:cNvPr id="27" name="Shape 24"/>
          <p:cNvSpPr/>
          <p:nvPr/>
        </p:nvSpPr>
        <p:spPr>
          <a:xfrm>
            <a:off x="5992978" y="5692140"/>
            <a:ext cx="202997" cy="0"/>
          </a:xfrm>
          <a:prstGeom prst="line">
            <a:avLst/>
          </a:prstGeom>
          <a:noFill/>
          <a:ln w="19050">
            <a:solidFill>
              <a:schemeClr val="tx2"/>
            </a:solidFill>
            <a:prstDash val="solid"/>
            <a:tailEnd type="triangle"/>
          </a:ln>
        </p:spPr>
      </p:sp>
      <p:sp>
        <p:nvSpPr>
          <p:cNvPr id="28" name="Text 25"/>
          <p:cNvSpPr/>
          <p:nvPr/>
        </p:nvSpPr>
        <p:spPr>
          <a:xfrm>
            <a:off x="623255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Consumer data products</a:t>
            </a:r>
            <a:endParaRPr lang="en-US" sz="1200" dirty="0"/>
          </a:p>
        </p:txBody>
      </p:sp>
      <p:sp>
        <p:nvSpPr>
          <p:cNvPr id="29" name="Shape 26"/>
          <p:cNvSpPr/>
          <p:nvPr/>
        </p:nvSpPr>
        <p:spPr>
          <a:xfrm>
            <a:off x="7887614" y="5692140"/>
            <a:ext cx="202997" cy="0"/>
          </a:xfrm>
          <a:prstGeom prst="line">
            <a:avLst/>
          </a:prstGeom>
          <a:noFill/>
          <a:ln w="19050">
            <a:solidFill>
              <a:schemeClr val="tx2"/>
            </a:solidFill>
            <a:prstDash val="solid"/>
            <a:tailEnd type="triangle"/>
          </a:ln>
        </p:spPr>
      </p:sp>
      <p:sp>
        <p:nvSpPr>
          <p:cNvPr id="30" name="Text 27"/>
          <p:cNvSpPr/>
          <p:nvPr/>
        </p:nvSpPr>
        <p:spPr>
          <a:xfrm>
            <a:off x="8127187"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Semantic models</a:t>
            </a:r>
            <a:endParaRPr lang="en-US" sz="1200" dirty="0"/>
          </a:p>
        </p:txBody>
      </p:sp>
      <p:sp>
        <p:nvSpPr>
          <p:cNvPr id="31" name="Shape 28"/>
          <p:cNvSpPr/>
          <p:nvPr/>
        </p:nvSpPr>
        <p:spPr>
          <a:xfrm>
            <a:off x="9782251" y="5692140"/>
            <a:ext cx="202997" cy="0"/>
          </a:xfrm>
          <a:prstGeom prst="line">
            <a:avLst/>
          </a:prstGeom>
          <a:noFill/>
          <a:ln w="19050">
            <a:solidFill>
              <a:schemeClr val="tx2"/>
            </a:solidFill>
            <a:prstDash val="solid"/>
            <a:tailEnd type="triangle"/>
          </a:ln>
        </p:spPr>
      </p:sp>
      <p:sp>
        <p:nvSpPr>
          <p:cNvPr id="32" name="Text 29"/>
          <p:cNvSpPr/>
          <p:nvPr/>
        </p:nvSpPr>
        <p:spPr>
          <a:xfrm>
            <a:off x="1002182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Dashboards, feeds, AI assistants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  |  THE FOUNDATIONAL PRODUCT</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DP-012 books distribution revenue once</a:t>
            </a:r>
            <a:endParaRPr lang="en-US" sz="3600" dirty="0"/>
          </a:p>
        </p:txBody>
      </p:sp>
      <p:sp>
        <p:nvSpPr>
          <p:cNvPr id="5" name="Text 2"/>
          <p:cNvSpPr/>
          <p:nvPr/>
        </p:nvSpPr>
        <p:spPr>
          <a:xfrm>
            <a:off x="548640" y="1783080"/>
            <a:ext cx="1005840" cy="384048"/>
          </a:xfrm>
          <a:prstGeom prst="roundRect">
            <a:avLst>
              <a:gd name="adj" fmla="val 14286"/>
            </a:avLst>
          </a:prstGeom>
          <a:solidFill>
            <a:schemeClr val="accent1"/>
          </a:solidFill>
          <a:ln/>
        </p:spPr>
        <p:txBody>
          <a:bodyPr wrap="square" lIns="0" tIns="0" rIns="0" bIns="0" rtlCol="0" anchor="ctr"/>
          <a:lstStyle/>
          <a:p>
            <a:pPr algn="ctr" indent="0" marL="0">
              <a:buNone/>
            </a:pPr>
            <a:r>
              <a:rPr lang="en-US" sz="1300" b="1" dirty="0">
                <a:solidFill>
                  <a:schemeClr val="bg1"/>
                </a:solidFill>
              </a:rPr>
              <a:t>DP-012</a:t>
            </a:r>
            <a:endParaRPr lang="en-US" sz="1300" dirty="0"/>
          </a:p>
        </p:txBody>
      </p:sp>
      <p:sp>
        <p:nvSpPr>
          <p:cNvPr id="6" name="Text 3"/>
          <p:cNvSpPr txBox="1"/>
          <p:nvPr/>
        </p:nvSpPr>
        <p:spPr>
          <a:xfrm>
            <a:off x="1737360" y="1783080"/>
            <a:ext cx="5486400" cy="384048"/>
          </a:xfrm>
          <a:prstGeom prst="rect">
            <a:avLst/>
          </a:prstGeom>
          <a:noFill/>
          <a:ln/>
        </p:spPr>
        <p:txBody>
          <a:bodyPr wrap="square" lIns="0" tIns="0" rIns="0" bIns="0" rtlCol="0" anchor="ctr"/>
          <a:lstStyle/>
          <a:p>
            <a:pPr algn="l" indent="0" marL="0">
              <a:buNone/>
            </a:pPr>
            <a:r>
              <a:rPr lang="en-US" sz="1800" b="1" dirty="0">
                <a:solidFill>
                  <a:schemeClr val="tx1"/>
                </a:solidFill>
              </a:rPr>
              <a:t>Distribution Revenue</a:t>
            </a:r>
            <a:endParaRPr lang="en-US" sz="1800" dirty="0"/>
          </a:p>
        </p:txBody>
      </p:sp>
      <p:sp>
        <p:nvSpPr>
          <p:cNvPr id="7" name="Text 4"/>
          <p:cNvSpPr txBox="1"/>
          <p:nvPr/>
        </p:nvSpPr>
        <p:spPr>
          <a:xfrm>
            <a:off x="548640" y="2258568"/>
            <a:ext cx="6675120" cy="274320"/>
          </a:xfrm>
          <a:prstGeom prst="rect">
            <a:avLst/>
          </a:prstGeom>
          <a:noFill/>
          <a:ln/>
        </p:spPr>
        <p:txBody>
          <a:bodyPr wrap="square" lIns="0" tIns="0" rIns="0" bIns="0" rtlCol="0" anchor="ctr"/>
          <a:lstStyle/>
          <a:p>
            <a:pPr algn="l" indent="0" marL="0">
              <a:buNone/>
            </a:pPr>
            <a:r>
              <a:rPr lang="en-US" sz="1200" dirty="0">
                <a:solidFill>
                  <a:schemeClr val="tx2"/>
                </a:solidFill>
              </a:rPr>
              <a:t>Foundational  |  Conformed Facts  |  Owner: Head of Distribution Finance</a:t>
            </a:r>
            <a:endParaRPr lang="en-US" sz="1200" dirty="0"/>
          </a:p>
        </p:txBody>
      </p:sp>
      <p:sp>
        <p:nvSpPr>
          <p:cNvPr id="8" name="Shape 5"/>
          <p:cNvSpPr/>
          <p:nvPr/>
        </p:nvSpPr>
        <p:spPr>
          <a:xfrm>
            <a:off x="548640" y="2697480"/>
            <a:ext cx="6675120" cy="0"/>
          </a:xfrm>
          <a:prstGeom prst="line">
            <a:avLst/>
          </a:prstGeom>
          <a:noFill/>
          <a:ln w="9525">
            <a:solidFill>
              <a:srgbClr val="D5D9E1"/>
            </a:solidFill>
            <a:prstDash val="solid"/>
          </a:ln>
        </p:spPr>
      </p:sp>
      <p:sp>
        <p:nvSpPr>
          <p:cNvPr id="9" name="Text 6"/>
          <p:cNvSpPr txBox="1"/>
          <p:nvPr/>
        </p:nvSpPr>
        <p:spPr>
          <a:xfrm>
            <a:off x="548640" y="2697480"/>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GRAIN</a:t>
            </a:r>
            <a:endParaRPr lang="en-US" sz="1200" dirty="0"/>
          </a:p>
        </p:txBody>
      </p:sp>
      <p:sp>
        <p:nvSpPr>
          <p:cNvPr id="10" name="Text 7"/>
          <p:cNvSpPr txBox="1"/>
          <p:nvPr/>
        </p:nvSpPr>
        <p:spPr>
          <a:xfrm>
            <a:off x="1828800" y="2697480"/>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One row per share class or mandate, revenue type, receiving legal entity, accounting period and data basis (estimated or final).</a:t>
            </a:r>
            <a:endParaRPr lang="en-US" sz="1300" dirty="0"/>
          </a:p>
        </p:txBody>
      </p:sp>
      <p:sp>
        <p:nvSpPr>
          <p:cNvPr id="11" name="Shape 8"/>
          <p:cNvSpPr/>
          <p:nvPr/>
        </p:nvSpPr>
        <p:spPr>
          <a:xfrm>
            <a:off x="548640" y="3355848"/>
            <a:ext cx="6675120" cy="0"/>
          </a:xfrm>
          <a:prstGeom prst="line">
            <a:avLst/>
          </a:prstGeom>
          <a:noFill/>
          <a:ln w="9525">
            <a:solidFill>
              <a:srgbClr val="D5D9E1"/>
            </a:solidFill>
            <a:prstDash val="solid"/>
          </a:ln>
        </p:spPr>
      </p:sp>
      <p:sp>
        <p:nvSpPr>
          <p:cNvPr id="12" name="Text 9"/>
          <p:cNvSpPr txBox="1"/>
          <p:nvPr/>
        </p:nvSpPr>
        <p:spPr>
          <a:xfrm>
            <a:off x="548640" y="3355848"/>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INPUTS</a:t>
            </a:r>
            <a:endParaRPr lang="en-US" sz="1200" dirty="0"/>
          </a:p>
        </p:txBody>
      </p:sp>
      <p:sp>
        <p:nvSpPr>
          <p:cNvPr id="13" name="Text 10"/>
          <p:cNvSpPr txBox="1"/>
          <p:nvPr/>
        </p:nvSpPr>
        <p:spPr>
          <a:xfrm>
            <a:off x="1828800" y="3355848"/>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59 of its 73 attributes come from 10 of this domain's 35 objects. Upstream products: DP-001, DP-004, DP-005, DP-008 and DP-013.</a:t>
            </a:r>
            <a:endParaRPr lang="en-US" sz="1300" dirty="0"/>
          </a:p>
        </p:txBody>
      </p:sp>
      <p:sp>
        <p:nvSpPr>
          <p:cNvPr id="14" name="Shape 11"/>
          <p:cNvSpPr/>
          <p:nvPr/>
        </p:nvSpPr>
        <p:spPr>
          <a:xfrm>
            <a:off x="548640" y="4014216"/>
            <a:ext cx="6675120" cy="0"/>
          </a:xfrm>
          <a:prstGeom prst="line">
            <a:avLst/>
          </a:prstGeom>
          <a:noFill/>
          <a:ln w="9525">
            <a:solidFill>
              <a:srgbClr val="D5D9E1"/>
            </a:solidFill>
            <a:prstDash val="solid"/>
          </a:ln>
        </p:spPr>
      </p:sp>
      <p:sp>
        <p:nvSpPr>
          <p:cNvPr id="15" name="Text 12"/>
          <p:cNvSpPr txBox="1"/>
          <p:nvPr/>
        </p:nvSpPr>
        <p:spPr>
          <a:xfrm>
            <a:off x="548640" y="4014216"/>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REFRESH</a:t>
            </a:r>
            <a:endParaRPr lang="en-US" sz="1200" dirty="0"/>
          </a:p>
        </p:txBody>
      </p:sp>
      <p:sp>
        <p:nvSpPr>
          <p:cNvPr id="16" name="Text 13"/>
          <p:cNvSpPr txBox="1"/>
          <p:nvPr/>
        </p:nvSpPr>
        <p:spPr>
          <a:xfrm>
            <a:off x="1828800" y="4014216"/>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Monthly. Estimated by business day 5 after month-end; final when the fiscal period closes, typically business day 10.</a:t>
            </a:r>
            <a:endParaRPr lang="en-US" sz="1300" dirty="0"/>
          </a:p>
        </p:txBody>
      </p:sp>
      <p:sp>
        <p:nvSpPr>
          <p:cNvPr id="17" name="Shape 14"/>
          <p:cNvSpPr/>
          <p:nvPr/>
        </p:nvSpPr>
        <p:spPr>
          <a:xfrm>
            <a:off x="548640" y="4672584"/>
            <a:ext cx="6675120" cy="0"/>
          </a:xfrm>
          <a:prstGeom prst="line">
            <a:avLst/>
          </a:prstGeom>
          <a:noFill/>
          <a:ln w="9525">
            <a:solidFill>
              <a:srgbClr val="D5D9E1"/>
            </a:solidFill>
            <a:prstDash val="solid"/>
          </a:ln>
        </p:spPr>
      </p:sp>
      <p:sp>
        <p:nvSpPr>
          <p:cNvPr id="18" name="Text 15"/>
          <p:cNvSpPr txBox="1"/>
          <p:nvPr/>
        </p:nvSpPr>
        <p:spPr>
          <a:xfrm>
            <a:off x="548640" y="4672584"/>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HISTORY</a:t>
            </a:r>
            <a:endParaRPr lang="en-US" sz="1200" dirty="0"/>
          </a:p>
        </p:txBody>
      </p:sp>
      <p:sp>
        <p:nvSpPr>
          <p:cNvPr id="19" name="Text 16"/>
          <p:cNvSpPr txBox="1"/>
          <p:nvPr/>
        </p:nvSpPr>
        <p:spPr>
          <a:xfrm>
            <a:off x="1828800" y="4672584"/>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All closed periods since 2015 kept as final. Estimated versions kept until superseded. Prior-period adjustments recorded in the period posted.</a:t>
            </a:r>
            <a:endParaRPr lang="en-US" sz="1300" dirty="0"/>
          </a:p>
        </p:txBody>
      </p:sp>
      <p:sp>
        <p:nvSpPr>
          <p:cNvPr id="20" name="Shape 17"/>
          <p:cNvSpPr/>
          <p:nvPr/>
        </p:nvSpPr>
        <p:spPr>
          <a:xfrm>
            <a:off x="548640" y="5330952"/>
            <a:ext cx="6675120" cy="0"/>
          </a:xfrm>
          <a:prstGeom prst="line">
            <a:avLst/>
          </a:prstGeom>
          <a:noFill/>
          <a:ln w="9525">
            <a:solidFill>
              <a:srgbClr val="D5D9E1"/>
            </a:solidFill>
            <a:prstDash val="solid"/>
          </a:ln>
        </p:spPr>
      </p:sp>
      <p:sp>
        <p:nvSpPr>
          <p:cNvPr id="21" name="Text 18"/>
          <p:cNvSpPr txBox="1"/>
          <p:nvPr/>
        </p:nvSpPr>
        <p:spPr>
          <a:xfrm>
            <a:off x="548640" y="5330952"/>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ACCESS</a:t>
            </a:r>
            <a:endParaRPr lang="en-US" sz="1200" dirty="0"/>
          </a:p>
        </p:txBody>
      </p:sp>
      <p:sp>
        <p:nvSpPr>
          <p:cNvPr id="22" name="Text 19"/>
          <p:cNvSpPr txBox="1"/>
          <p:nvPr/>
        </p:nvSpPr>
        <p:spPr>
          <a:xfrm>
            <a:off x="1828800" y="5330952"/>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Classified Confidential - Financial. Holds no personal data. Product owner: Head of Distribution Finance.</a:t>
            </a:r>
            <a:endParaRPr lang="en-US" sz="1300" dirty="0"/>
          </a:p>
        </p:txBody>
      </p:sp>
      <p:sp>
        <p:nvSpPr>
          <p:cNvPr id="23" name="Shape 20"/>
          <p:cNvSpPr/>
          <p:nvPr/>
        </p:nvSpPr>
        <p:spPr>
          <a:xfrm>
            <a:off x="7589520" y="1783080"/>
            <a:ext cx="1933956" cy="1600200"/>
          </a:xfrm>
          <a:prstGeom prst="roundRect">
            <a:avLst>
              <a:gd name="adj" fmla="val 4571"/>
            </a:avLst>
          </a:prstGeom>
          <a:solidFill>
            <a:schemeClr val="tx1"/>
          </a:solidFill>
          <a:ln/>
        </p:spPr>
      </p:sp>
      <p:sp>
        <p:nvSpPr>
          <p:cNvPr id="24" name="Text 21"/>
          <p:cNvSpPr txBox="1"/>
          <p:nvPr/>
        </p:nvSpPr>
        <p:spPr>
          <a:xfrm>
            <a:off x="7772400"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12</a:t>
            </a:r>
            <a:endParaRPr lang="en-US" sz="2800" dirty="0"/>
          </a:p>
        </p:txBody>
      </p:sp>
      <p:sp>
        <p:nvSpPr>
          <p:cNvPr id="25" name="Text 22"/>
          <p:cNvSpPr txBox="1"/>
          <p:nvPr/>
        </p:nvSpPr>
        <p:spPr>
          <a:xfrm>
            <a:off x="7772400"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products name DP-012 as a direct upstream</a:t>
            </a:r>
            <a:endParaRPr lang="en-US" sz="1200" dirty="0"/>
          </a:p>
        </p:txBody>
      </p:sp>
      <p:sp>
        <p:nvSpPr>
          <p:cNvPr id="26" name="Shape 23"/>
          <p:cNvSpPr/>
          <p:nvPr/>
        </p:nvSpPr>
        <p:spPr>
          <a:xfrm>
            <a:off x="9706356" y="1783080"/>
            <a:ext cx="1933956" cy="1600200"/>
          </a:xfrm>
          <a:prstGeom prst="roundRect">
            <a:avLst>
              <a:gd name="adj" fmla="val 4571"/>
            </a:avLst>
          </a:prstGeom>
          <a:solidFill>
            <a:schemeClr val="tx1"/>
          </a:solidFill>
          <a:ln/>
        </p:spPr>
      </p:sp>
      <p:sp>
        <p:nvSpPr>
          <p:cNvPr id="27" name="Text 24"/>
          <p:cNvSpPr txBox="1"/>
          <p:nvPr/>
        </p:nvSpPr>
        <p:spPr>
          <a:xfrm>
            <a:off x="9889236"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15</a:t>
            </a:r>
            <a:endParaRPr lang="en-US" sz="2800" dirty="0"/>
          </a:p>
        </p:txBody>
      </p:sp>
      <p:sp>
        <p:nvSpPr>
          <p:cNvPr id="28" name="Text 25"/>
          <p:cNvSpPr txBox="1"/>
          <p:nvPr/>
        </p:nvSpPr>
        <p:spPr>
          <a:xfrm>
            <a:off x="9889236"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products depend on it directly or indirectly</a:t>
            </a:r>
            <a:endParaRPr lang="en-US" sz="1200" dirty="0"/>
          </a:p>
        </p:txBody>
      </p:sp>
      <p:sp>
        <p:nvSpPr>
          <p:cNvPr id="29" name="Text 26"/>
          <p:cNvSpPr txBox="1"/>
          <p:nvPr/>
        </p:nvSpPr>
        <p:spPr>
          <a:xfrm>
            <a:off x="7589520" y="3657600"/>
            <a:ext cx="4050792"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QUALITY RULES, FOR EXAMPLE</a:t>
            </a:r>
            <a:endParaRPr lang="en-US" sz="1200" dirty="0"/>
          </a:p>
        </p:txBody>
      </p:sp>
      <p:sp>
        <p:nvSpPr>
          <p:cNvPr id="30" name="Text 27"/>
          <p:cNvSpPr txBox="1"/>
          <p:nvPr/>
        </p:nvSpPr>
        <p:spPr>
          <a:xfrm>
            <a:off x="7589520" y="3995928"/>
            <a:ext cx="4050792" cy="2011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Net Fee Revenue equals Gross Fee Revenue less the Waiver and Reimbursement Offset on every record</a:t>
            </a:r>
            <a:endParaRPr lang="en-US" sz="1300" dirty="0"/>
          </a:p>
          <a:p>
            <a:pPr marL="177800" indent="-177800">
              <a:spcAft>
                <a:spcPts val="600"/>
              </a:spcAft>
              <a:buSzPct val="100000"/>
              <a:buChar char="•"/>
            </a:pPr>
            <a:r>
              <a:rPr lang="en-US" sz="1300" dirty="0">
                <a:solidFill>
                  <a:schemeClr val="tx1"/>
                </a:solidFill>
              </a:rPr>
              <a:t>Revenue for each closed period and legal entity reconciles to GL postings to the cent</a:t>
            </a:r>
            <a:endParaRPr lang="en-US" sz="1300" dirty="0"/>
          </a:p>
          <a:p>
            <a:pPr marL="177800" indent="-177800">
              <a:spcAft>
                <a:spcPts val="600"/>
              </a:spcAft>
              <a:buSzPct val="100000"/>
              <a:buChar char="•"/>
            </a:pPr>
            <a:r>
              <a:rPr lang="en-US" sz="1300" dirty="0">
                <a:solidFill>
                  <a:schemeClr val="tx1"/>
                </a:solidFill>
              </a:rPr>
              <a:t>Amount Passed Through never exceeds Gross Distribution Revenue unless a reason is recorded</a:t>
            </a:r>
            <a:endParaRPr lang="en-US" sz="1300" dirty="0"/>
          </a:p>
          <a:p>
            <a:pPr marL="177800" indent="-177800">
              <a:spcAft>
                <a:spcPts val="600"/>
              </a:spcAft>
              <a:buSzPct val="100000"/>
              <a:buChar char="•"/>
            </a:pPr>
            <a:r>
              <a:rPr lang="en-US" sz="1300" dirty="0">
                <a:solidFill>
                  <a:schemeClr val="tx1"/>
                </a:solidFill>
              </a:rPr>
              <a:t>Fee Basis Average Assets is within 0.5% of certified Average AUM, or the variance is explained</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REACH</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19 of 92 data products read it directly</a:t>
            </a:r>
            <a:endParaRPr lang="en-US" sz="3600" dirty="0"/>
          </a:p>
        </p:txBody>
      </p:sp>
      <p:graphicFrame>
        <p:nvGraphicFramePr>
          <p:cNvPr id="5" name="Chart 0" descr=""/>
          <p:cNvGraphicFramePr/>
          <p:nvPr/>
        </p:nvGraphicFramePr>
        <p:xfrm>
          <a:off x="548640" y="1783080"/>
          <a:ext cx="6217920" cy="43434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132320" y="1783080"/>
            <a:ext cx="2116836" cy="1691640"/>
          </a:xfrm>
          <a:prstGeom prst="roundRect">
            <a:avLst>
              <a:gd name="adj" fmla="val 4324"/>
            </a:avLst>
          </a:prstGeom>
          <a:solidFill>
            <a:schemeClr val="bg2"/>
          </a:solidFill>
          <a:ln/>
        </p:spPr>
      </p:sp>
      <p:sp>
        <p:nvSpPr>
          <p:cNvPr id="7" name="Text 3"/>
          <p:cNvSpPr txBox="1"/>
          <p:nvPr/>
        </p:nvSpPr>
        <p:spPr>
          <a:xfrm>
            <a:off x="7315200"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19</a:t>
            </a:r>
            <a:endParaRPr lang="en-US" sz="2800" dirty="0"/>
          </a:p>
        </p:txBody>
      </p:sp>
      <p:sp>
        <p:nvSpPr>
          <p:cNvPr id="8" name="Text 4"/>
          <p:cNvSpPr txBox="1"/>
          <p:nvPr/>
        </p:nvSpPr>
        <p:spPr>
          <a:xfrm>
            <a:off x="7315200"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products read this domain directly: 1 foundational and 18 consumer-aligned</a:t>
            </a:r>
            <a:endParaRPr lang="en-US" sz="1200" dirty="0"/>
          </a:p>
        </p:txBody>
      </p:sp>
      <p:sp>
        <p:nvSpPr>
          <p:cNvPr id="9" name="Shape 5"/>
          <p:cNvSpPr/>
          <p:nvPr/>
        </p:nvSpPr>
        <p:spPr>
          <a:xfrm>
            <a:off x="9523476" y="1783080"/>
            <a:ext cx="2116836" cy="1691640"/>
          </a:xfrm>
          <a:prstGeom prst="roundRect">
            <a:avLst>
              <a:gd name="adj" fmla="val 4324"/>
            </a:avLst>
          </a:prstGeom>
          <a:solidFill>
            <a:schemeClr val="bg2"/>
          </a:solidFill>
          <a:ln/>
        </p:spPr>
      </p:sp>
      <p:sp>
        <p:nvSpPr>
          <p:cNvPr id="10" name="Text 6"/>
          <p:cNvSpPr txBox="1"/>
          <p:nvPr/>
        </p:nvSpPr>
        <p:spPr>
          <a:xfrm>
            <a:off x="9706356"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35 of 35</a:t>
            </a:r>
            <a:endParaRPr lang="en-US" sz="2800" dirty="0"/>
          </a:p>
        </p:txBody>
      </p:sp>
      <p:sp>
        <p:nvSpPr>
          <p:cNvPr id="11" name="Text 7"/>
          <p:cNvSpPr txBox="1"/>
          <p:nvPr/>
        </p:nvSpPr>
        <p:spPr>
          <a:xfrm>
            <a:off x="9706356"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objects are used by at least one product</a:t>
            </a:r>
            <a:endParaRPr lang="en-US" sz="1200" dirty="0"/>
          </a:p>
        </p:txBody>
      </p:sp>
      <p:sp>
        <p:nvSpPr>
          <p:cNvPr id="12" name="Shape 8"/>
          <p:cNvSpPr/>
          <p:nvPr/>
        </p:nvSpPr>
        <p:spPr>
          <a:xfrm>
            <a:off x="7132320" y="3657600"/>
            <a:ext cx="2116836" cy="1691640"/>
          </a:xfrm>
          <a:prstGeom prst="roundRect">
            <a:avLst>
              <a:gd name="adj" fmla="val 4324"/>
            </a:avLst>
          </a:prstGeom>
          <a:solidFill>
            <a:schemeClr val="bg2"/>
          </a:solidFill>
          <a:ln/>
        </p:spPr>
      </p:sp>
      <p:sp>
        <p:nvSpPr>
          <p:cNvPr id="13" name="Text 9"/>
          <p:cNvSpPr txBox="1"/>
          <p:nvPr/>
        </p:nvSpPr>
        <p:spPr>
          <a:xfrm>
            <a:off x="7315200"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94%</a:t>
            </a:r>
            <a:endParaRPr lang="en-US" sz="2800" dirty="0"/>
          </a:p>
        </p:txBody>
      </p:sp>
      <p:sp>
        <p:nvSpPr>
          <p:cNvPr id="14" name="Text 10"/>
          <p:cNvSpPr txBox="1"/>
          <p:nvPr/>
        </p:nvSpPr>
        <p:spPr>
          <a:xfrm>
            <a:off x="7315200"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of attributes (223 of 236) appear in a product specification</a:t>
            </a:r>
            <a:endParaRPr lang="en-US" sz="1200" dirty="0"/>
          </a:p>
        </p:txBody>
      </p:sp>
      <p:sp>
        <p:nvSpPr>
          <p:cNvPr id="15" name="Shape 11"/>
          <p:cNvSpPr/>
          <p:nvPr/>
        </p:nvSpPr>
        <p:spPr>
          <a:xfrm>
            <a:off x="9523476" y="3657600"/>
            <a:ext cx="2116836" cy="1691640"/>
          </a:xfrm>
          <a:prstGeom prst="roundRect">
            <a:avLst>
              <a:gd name="adj" fmla="val 4324"/>
            </a:avLst>
          </a:prstGeom>
          <a:solidFill>
            <a:schemeClr val="bg2"/>
          </a:solidFill>
          <a:ln/>
        </p:spPr>
      </p:sp>
      <p:sp>
        <p:nvSpPr>
          <p:cNvPr id="16" name="Text 12"/>
          <p:cNvSpPr txBox="1"/>
          <p:nvPr/>
        </p:nvSpPr>
        <p:spPr>
          <a:xfrm>
            <a:off x="9706356"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10</a:t>
            </a:r>
            <a:endParaRPr lang="en-US" sz="2800" dirty="0"/>
          </a:p>
        </p:txBody>
      </p:sp>
      <p:sp>
        <p:nvSpPr>
          <p:cNvPr id="17" name="Text 13"/>
          <p:cNvSpPr txBox="1"/>
          <p:nvPr/>
        </p:nvSpPr>
        <p:spPr>
          <a:xfrm>
            <a:off x="9706356"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are analytical products, the largest group of the 19</a:t>
            </a:r>
            <a:endParaRPr lang="en-US" sz="1200" dirty="0"/>
          </a:p>
        </p:txBody>
      </p:sp>
      <p:sp>
        <p:nvSpPr>
          <p:cNvPr id="18" name="Text 14"/>
          <p:cNvSpPr txBox="1"/>
          <p:nvPr/>
        </p:nvSpPr>
        <p:spPr>
          <a:xfrm>
            <a:off x="7132320" y="5623560"/>
            <a:ext cx="4507992" cy="457200"/>
          </a:xfrm>
          <a:prstGeom prst="rect">
            <a:avLst/>
          </a:prstGeom>
          <a:noFill/>
          <a:ln/>
        </p:spPr>
        <p:txBody>
          <a:bodyPr wrap="square" lIns="0" tIns="0" rIns="0" bIns="0" rtlCol="0" anchor="t"/>
          <a:lstStyle/>
          <a:p>
            <a:pPr algn="l" indent="0" marL="0">
              <a:buNone/>
            </a:pPr>
            <a:r>
              <a:rPr lang="en-US" sz="1200" dirty="0">
                <a:solidFill>
                  <a:schemeClr val="tx2"/>
                </a:solidFill>
              </a:rPr>
              <a:t>By type: 10 analytical, 6 regulatory and control, 2 operational, 1 conformed facts.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THIS DOMAIN</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Six products are owned by this domain</a:t>
            </a:r>
            <a:endParaRPr lang="en-US" sz="3600" dirty="0"/>
          </a:p>
        </p:txBody>
      </p:sp>
      <p:sp>
        <p:nvSpPr>
          <p:cNvPr id="5" name="Text 2"/>
          <p:cNvSpPr txBox="1"/>
          <p:nvPr/>
        </p:nvSpPr>
        <p:spPr>
          <a:xfrm>
            <a:off x="9326880" y="1764792"/>
            <a:ext cx="2313432"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INPUTS FROM THIS DOMAIN</a:t>
            </a:r>
            <a:endParaRPr lang="en-US" sz="1000" dirty="0"/>
          </a:p>
        </p:txBody>
      </p:sp>
      <p:sp>
        <p:nvSpPr>
          <p:cNvPr id="6" name="Shape 3"/>
          <p:cNvSpPr/>
          <p:nvPr/>
        </p:nvSpPr>
        <p:spPr>
          <a:xfrm>
            <a:off x="548640" y="2057400"/>
            <a:ext cx="11091672" cy="530352"/>
          </a:xfrm>
          <a:prstGeom prst="roundRect">
            <a:avLst>
              <a:gd name="adj" fmla="val 13793"/>
            </a:avLst>
          </a:prstGeom>
          <a:solidFill>
            <a:schemeClr val="bg2"/>
          </a:solidFill>
          <a:ln/>
        </p:spPr>
      </p:sp>
      <p:sp>
        <p:nvSpPr>
          <p:cNvPr id="7" name="Text 4"/>
          <p:cNvSpPr/>
          <p:nvPr/>
        </p:nvSpPr>
        <p:spPr>
          <a:xfrm>
            <a:off x="731520" y="2153412"/>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DP-012</a:t>
            </a:r>
            <a:endParaRPr lang="en-US" sz="1200" dirty="0"/>
          </a:p>
        </p:txBody>
      </p:sp>
      <p:sp>
        <p:nvSpPr>
          <p:cNvPr id="8" name="Text 5"/>
          <p:cNvSpPr txBox="1"/>
          <p:nvPr/>
        </p:nvSpPr>
        <p:spPr>
          <a:xfrm>
            <a:off x="1828800" y="2103120"/>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Distribution Revenue</a:t>
            </a:r>
            <a:endParaRPr lang="en-US" sz="1300" dirty="0"/>
          </a:p>
        </p:txBody>
      </p:sp>
      <p:sp>
        <p:nvSpPr>
          <p:cNvPr id="9" name="Text 6"/>
          <p:cNvSpPr txBox="1"/>
          <p:nvPr/>
        </p:nvSpPr>
        <p:spPr>
          <a:xfrm>
            <a:off x="1828800" y="2359152"/>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Foundational  |  Distribution Finance and FPandA</a:t>
            </a:r>
            <a:endParaRPr lang="en-US" sz="1000" dirty="0"/>
          </a:p>
        </p:txBody>
      </p:sp>
      <p:sp>
        <p:nvSpPr>
          <p:cNvPr id="10" name="Text 7"/>
          <p:cNvSpPr txBox="1"/>
          <p:nvPr/>
        </p:nvSpPr>
        <p:spPr>
          <a:xfrm>
            <a:off x="5897880" y="2057400"/>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Booked fee, performance fee and distribution revenue by share class or mandate and period.</a:t>
            </a:r>
            <a:endParaRPr lang="en-US" sz="1100" dirty="0"/>
          </a:p>
        </p:txBody>
      </p:sp>
      <p:sp>
        <p:nvSpPr>
          <p:cNvPr id="11" name="Shape 8"/>
          <p:cNvSpPr/>
          <p:nvPr/>
        </p:nvSpPr>
        <p:spPr>
          <a:xfrm>
            <a:off x="9326880" y="2258568"/>
            <a:ext cx="1371600" cy="128016"/>
          </a:xfrm>
          <a:prstGeom prst="rect">
            <a:avLst/>
          </a:prstGeom>
          <a:solidFill>
            <a:schemeClr val="bg1"/>
          </a:solidFill>
          <a:ln/>
        </p:spPr>
      </p:sp>
      <p:sp>
        <p:nvSpPr>
          <p:cNvPr id="12" name="Shape 9"/>
          <p:cNvSpPr/>
          <p:nvPr/>
        </p:nvSpPr>
        <p:spPr>
          <a:xfrm>
            <a:off x="9326880" y="2258568"/>
            <a:ext cx="1108553" cy="128016"/>
          </a:xfrm>
          <a:prstGeom prst="rect">
            <a:avLst/>
          </a:prstGeom>
          <a:solidFill>
            <a:schemeClr val="accent1"/>
          </a:solidFill>
          <a:ln/>
        </p:spPr>
      </p:sp>
      <p:sp>
        <p:nvSpPr>
          <p:cNvPr id="13" name="Text 10"/>
          <p:cNvSpPr txBox="1"/>
          <p:nvPr/>
        </p:nvSpPr>
        <p:spPr>
          <a:xfrm>
            <a:off x="10789920" y="2057400"/>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59 of 73</a:t>
            </a:r>
            <a:endParaRPr lang="en-US" sz="1200" dirty="0"/>
          </a:p>
        </p:txBody>
      </p:sp>
      <p:sp>
        <p:nvSpPr>
          <p:cNvPr id="14" name="Shape 11"/>
          <p:cNvSpPr/>
          <p:nvPr/>
        </p:nvSpPr>
        <p:spPr>
          <a:xfrm>
            <a:off x="548640" y="2660904"/>
            <a:ext cx="11091672" cy="530352"/>
          </a:xfrm>
          <a:prstGeom prst="roundRect">
            <a:avLst>
              <a:gd name="adj" fmla="val 13793"/>
            </a:avLst>
          </a:prstGeom>
          <a:solidFill>
            <a:schemeClr val="bg2"/>
          </a:solidFill>
          <a:ln/>
        </p:spPr>
      </p:sp>
      <p:sp>
        <p:nvSpPr>
          <p:cNvPr id="15" name="Text 12"/>
          <p:cNvSpPr/>
          <p:nvPr/>
        </p:nvSpPr>
        <p:spPr>
          <a:xfrm>
            <a:off x="731520" y="275691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DP-034</a:t>
            </a:r>
            <a:endParaRPr lang="en-US" sz="1200" dirty="0"/>
          </a:p>
        </p:txBody>
      </p:sp>
      <p:sp>
        <p:nvSpPr>
          <p:cNvPr id="16" name="Text 13"/>
          <p:cNvSpPr txBox="1"/>
          <p:nvPr/>
        </p:nvSpPr>
        <p:spPr>
          <a:xfrm>
            <a:off x="1828800" y="2706624"/>
            <a:ext cx="3931920" cy="256032"/>
          </a:xfrm>
          <a:prstGeom prst="rect">
            <a:avLst/>
          </a:prstGeom>
          <a:noFill/>
          <a:ln/>
        </p:spPr>
        <p:txBody>
          <a:bodyPr wrap="square" lIns="0" tIns="0" rIns="0" bIns="0" rtlCol="0" anchor="ctr"/>
          <a:lstStyle/>
          <a:p>
            <a:pPr algn="l" indent="0" marL="0">
              <a:buNone/>
            </a:pPr>
            <a:r>
              <a:rPr lang="en-US" sz="1100" b="1" dirty="0">
                <a:solidFill>
                  <a:schemeClr val="tx1"/>
                </a:solidFill>
              </a:rPr>
              <a:t>Intermediary Payments &amp; Revenue-Sharing Accruals</a:t>
            </a:r>
            <a:endParaRPr lang="en-US" sz="1100" dirty="0"/>
          </a:p>
        </p:txBody>
      </p:sp>
      <p:sp>
        <p:nvSpPr>
          <p:cNvPr id="17" name="Text 14"/>
          <p:cNvSpPr txBox="1"/>
          <p:nvPr/>
        </p:nvSpPr>
        <p:spPr>
          <a:xfrm>
            <a:off x="1828800" y="2962656"/>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Operational  |  Distribution Finance and FPandA</a:t>
            </a:r>
            <a:endParaRPr lang="en-US" sz="1000" dirty="0"/>
          </a:p>
        </p:txBody>
      </p:sp>
      <p:sp>
        <p:nvSpPr>
          <p:cNvPr id="18" name="Text 15"/>
          <p:cNvSpPr txBox="1"/>
          <p:nvPr/>
        </p:nvSpPr>
        <p:spPr>
          <a:xfrm>
            <a:off x="5897880" y="2660904"/>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What each intermediary is owed, accrued, invoiced and paid under every payment arrangement.</a:t>
            </a:r>
            <a:endParaRPr lang="en-US" sz="1100" dirty="0"/>
          </a:p>
        </p:txBody>
      </p:sp>
      <p:sp>
        <p:nvSpPr>
          <p:cNvPr id="19" name="Shape 16"/>
          <p:cNvSpPr/>
          <p:nvPr/>
        </p:nvSpPr>
        <p:spPr>
          <a:xfrm>
            <a:off x="9326880" y="2862072"/>
            <a:ext cx="1371600" cy="128016"/>
          </a:xfrm>
          <a:prstGeom prst="rect">
            <a:avLst/>
          </a:prstGeom>
          <a:solidFill>
            <a:schemeClr val="bg1"/>
          </a:solidFill>
          <a:ln/>
        </p:spPr>
      </p:sp>
      <p:sp>
        <p:nvSpPr>
          <p:cNvPr id="20" name="Shape 17"/>
          <p:cNvSpPr/>
          <p:nvPr/>
        </p:nvSpPr>
        <p:spPr>
          <a:xfrm>
            <a:off x="9326880" y="2862072"/>
            <a:ext cx="377890" cy="128016"/>
          </a:xfrm>
          <a:prstGeom prst="rect">
            <a:avLst/>
          </a:prstGeom>
          <a:solidFill>
            <a:schemeClr val="accent1"/>
          </a:solidFill>
          <a:ln/>
        </p:spPr>
      </p:sp>
      <p:sp>
        <p:nvSpPr>
          <p:cNvPr id="21" name="Text 18"/>
          <p:cNvSpPr txBox="1"/>
          <p:nvPr/>
        </p:nvSpPr>
        <p:spPr>
          <a:xfrm>
            <a:off x="10789920" y="2660904"/>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27 of 98</a:t>
            </a:r>
            <a:endParaRPr lang="en-US" sz="1200" dirty="0"/>
          </a:p>
        </p:txBody>
      </p:sp>
      <p:sp>
        <p:nvSpPr>
          <p:cNvPr id="22" name="Shape 19"/>
          <p:cNvSpPr/>
          <p:nvPr/>
        </p:nvSpPr>
        <p:spPr>
          <a:xfrm>
            <a:off x="548640" y="3264408"/>
            <a:ext cx="11091672" cy="530352"/>
          </a:xfrm>
          <a:prstGeom prst="roundRect">
            <a:avLst>
              <a:gd name="adj" fmla="val 13793"/>
            </a:avLst>
          </a:prstGeom>
          <a:solidFill>
            <a:schemeClr val="bg2"/>
          </a:solidFill>
          <a:ln/>
        </p:spPr>
      </p:sp>
      <p:sp>
        <p:nvSpPr>
          <p:cNvPr id="23" name="Text 20"/>
          <p:cNvSpPr/>
          <p:nvPr/>
        </p:nvSpPr>
        <p:spPr>
          <a:xfrm>
            <a:off x="731520" y="3360420"/>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DP-035</a:t>
            </a:r>
            <a:endParaRPr lang="en-US" sz="1200" dirty="0"/>
          </a:p>
        </p:txBody>
      </p:sp>
      <p:sp>
        <p:nvSpPr>
          <p:cNvPr id="24" name="Text 21"/>
          <p:cNvSpPr txBox="1"/>
          <p:nvPr/>
        </p:nvSpPr>
        <p:spPr>
          <a:xfrm>
            <a:off x="1828800" y="3310128"/>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Channel, Partner &amp; Product Profitability</a:t>
            </a:r>
            <a:endParaRPr lang="en-US" sz="1300" dirty="0"/>
          </a:p>
        </p:txBody>
      </p:sp>
      <p:sp>
        <p:nvSpPr>
          <p:cNvPr id="25" name="Text 22"/>
          <p:cNvSpPr txBox="1"/>
          <p:nvPr/>
        </p:nvSpPr>
        <p:spPr>
          <a:xfrm>
            <a:off x="1828800" y="3566160"/>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Analytical  |  Distribution Finance and FPandA</a:t>
            </a:r>
            <a:endParaRPr lang="en-US" sz="1000" dirty="0"/>
          </a:p>
        </p:txBody>
      </p:sp>
      <p:sp>
        <p:nvSpPr>
          <p:cNvPr id="26" name="Text 23"/>
          <p:cNvSpPr txBox="1"/>
          <p:nvPr/>
        </p:nvSpPr>
        <p:spPr>
          <a:xfrm>
            <a:off x="5897880" y="3264408"/>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Revenue, payments, direct and allocated cost, and margin by channel, partner and product.</a:t>
            </a:r>
            <a:endParaRPr lang="en-US" sz="1100" dirty="0"/>
          </a:p>
        </p:txBody>
      </p:sp>
      <p:sp>
        <p:nvSpPr>
          <p:cNvPr id="27" name="Shape 24"/>
          <p:cNvSpPr/>
          <p:nvPr/>
        </p:nvSpPr>
        <p:spPr>
          <a:xfrm>
            <a:off x="9326880" y="3465576"/>
            <a:ext cx="1371600" cy="128016"/>
          </a:xfrm>
          <a:prstGeom prst="rect">
            <a:avLst/>
          </a:prstGeom>
          <a:solidFill>
            <a:schemeClr val="bg1"/>
          </a:solidFill>
          <a:ln/>
        </p:spPr>
      </p:sp>
      <p:sp>
        <p:nvSpPr>
          <p:cNvPr id="28" name="Shape 25"/>
          <p:cNvSpPr/>
          <p:nvPr/>
        </p:nvSpPr>
        <p:spPr>
          <a:xfrm>
            <a:off x="9326880" y="3465576"/>
            <a:ext cx="1327826" cy="128016"/>
          </a:xfrm>
          <a:prstGeom prst="rect">
            <a:avLst/>
          </a:prstGeom>
          <a:solidFill>
            <a:schemeClr val="accent1"/>
          </a:solidFill>
          <a:ln/>
        </p:spPr>
      </p:sp>
      <p:sp>
        <p:nvSpPr>
          <p:cNvPr id="29" name="Text 26"/>
          <p:cNvSpPr txBox="1"/>
          <p:nvPr/>
        </p:nvSpPr>
        <p:spPr>
          <a:xfrm>
            <a:off x="10789920" y="3264408"/>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91 of 94</a:t>
            </a:r>
            <a:endParaRPr lang="en-US" sz="1200" dirty="0"/>
          </a:p>
        </p:txBody>
      </p:sp>
      <p:sp>
        <p:nvSpPr>
          <p:cNvPr id="30" name="Shape 27"/>
          <p:cNvSpPr/>
          <p:nvPr/>
        </p:nvSpPr>
        <p:spPr>
          <a:xfrm>
            <a:off x="548640" y="3867912"/>
            <a:ext cx="11091672" cy="530352"/>
          </a:xfrm>
          <a:prstGeom prst="roundRect">
            <a:avLst>
              <a:gd name="adj" fmla="val 13793"/>
            </a:avLst>
          </a:prstGeom>
          <a:solidFill>
            <a:schemeClr val="bg2"/>
          </a:solidFill>
          <a:ln/>
        </p:spPr>
      </p:sp>
      <p:sp>
        <p:nvSpPr>
          <p:cNvPr id="31" name="Text 28"/>
          <p:cNvSpPr/>
          <p:nvPr/>
        </p:nvSpPr>
        <p:spPr>
          <a:xfrm>
            <a:off x="731520" y="3963924"/>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DP-056</a:t>
            </a:r>
            <a:endParaRPr lang="en-US" sz="1200" dirty="0"/>
          </a:p>
        </p:txBody>
      </p:sp>
      <p:sp>
        <p:nvSpPr>
          <p:cNvPr id="32" name="Text 29"/>
          <p:cNvSpPr txBox="1"/>
          <p:nvPr/>
        </p:nvSpPr>
        <p:spPr>
          <a:xfrm>
            <a:off x="1828800" y="3913632"/>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Distribution Budget vs Actual</a:t>
            </a:r>
            <a:endParaRPr lang="en-US" sz="1300" dirty="0"/>
          </a:p>
        </p:txBody>
      </p:sp>
      <p:sp>
        <p:nvSpPr>
          <p:cNvPr id="33" name="Text 30"/>
          <p:cNvSpPr txBox="1"/>
          <p:nvPr/>
        </p:nvSpPr>
        <p:spPr>
          <a:xfrm>
            <a:off x="1828800" y="4169664"/>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Analytical  |  Distribution Finance and FPandA</a:t>
            </a:r>
            <a:endParaRPr lang="en-US" sz="1000" dirty="0"/>
          </a:p>
        </p:txBody>
      </p:sp>
      <p:sp>
        <p:nvSpPr>
          <p:cNvPr id="34" name="Text 31"/>
          <p:cNvSpPr txBox="1"/>
          <p:nvPr/>
        </p:nvSpPr>
        <p:spPr>
          <a:xfrm>
            <a:off x="5897880" y="3867912"/>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Distribution expense against budget and latest forecast by cost center, category and channel.</a:t>
            </a:r>
            <a:endParaRPr lang="en-US" sz="1100" dirty="0"/>
          </a:p>
        </p:txBody>
      </p:sp>
      <p:sp>
        <p:nvSpPr>
          <p:cNvPr id="35" name="Shape 32"/>
          <p:cNvSpPr/>
          <p:nvPr/>
        </p:nvSpPr>
        <p:spPr>
          <a:xfrm>
            <a:off x="9326880" y="4069080"/>
            <a:ext cx="1371600" cy="128016"/>
          </a:xfrm>
          <a:prstGeom prst="rect">
            <a:avLst/>
          </a:prstGeom>
          <a:solidFill>
            <a:schemeClr val="bg1"/>
          </a:solidFill>
          <a:ln/>
        </p:spPr>
      </p:sp>
      <p:sp>
        <p:nvSpPr>
          <p:cNvPr id="36" name="Shape 33"/>
          <p:cNvSpPr/>
          <p:nvPr/>
        </p:nvSpPr>
        <p:spPr>
          <a:xfrm>
            <a:off x="9326880" y="4069080"/>
            <a:ext cx="881743" cy="128016"/>
          </a:xfrm>
          <a:prstGeom prst="rect">
            <a:avLst/>
          </a:prstGeom>
          <a:solidFill>
            <a:schemeClr val="accent1"/>
          </a:solidFill>
          <a:ln/>
        </p:spPr>
      </p:sp>
      <p:sp>
        <p:nvSpPr>
          <p:cNvPr id="37" name="Text 34"/>
          <p:cNvSpPr txBox="1"/>
          <p:nvPr/>
        </p:nvSpPr>
        <p:spPr>
          <a:xfrm>
            <a:off x="10789920" y="3867912"/>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45 of 70</a:t>
            </a:r>
            <a:endParaRPr lang="en-US" sz="1200" dirty="0"/>
          </a:p>
        </p:txBody>
      </p:sp>
      <p:sp>
        <p:nvSpPr>
          <p:cNvPr id="38" name="Shape 35"/>
          <p:cNvSpPr/>
          <p:nvPr/>
        </p:nvSpPr>
        <p:spPr>
          <a:xfrm>
            <a:off x="548640" y="4471416"/>
            <a:ext cx="11091672" cy="530352"/>
          </a:xfrm>
          <a:prstGeom prst="roundRect">
            <a:avLst>
              <a:gd name="adj" fmla="val 13793"/>
            </a:avLst>
          </a:prstGeom>
          <a:solidFill>
            <a:schemeClr val="bg2"/>
          </a:solidFill>
          <a:ln/>
        </p:spPr>
      </p:sp>
      <p:sp>
        <p:nvSpPr>
          <p:cNvPr id="39" name="Text 36"/>
          <p:cNvSpPr/>
          <p:nvPr/>
        </p:nvSpPr>
        <p:spPr>
          <a:xfrm>
            <a:off x="731520" y="4567428"/>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DP-074</a:t>
            </a:r>
            <a:endParaRPr lang="en-US" sz="1200" dirty="0"/>
          </a:p>
        </p:txBody>
      </p:sp>
      <p:sp>
        <p:nvSpPr>
          <p:cNvPr id="40" name="Text 37"/>
          <p:cNvSpPr txBox="1"/>
          <p:nvPr/>
        </p:nvSpPr>
        <p:spPr>
          <a:xfrm>
            <a:off x="1828800" y="4517136"/>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Intercompany Distribution Cost Allocation</a:t>
            </a:r>
            <a:endParaRPr lang="en-US" sz="1300" dirty="0"/>
          </a:p>
        </p:txBody>
      </p:sp>
      <p:sp>
        <p:nvSpPr>
          <p:cNvPr id="41" name="Text 38"/>
          <p:cNvSpPr txBox="1"/>
          <p:nvPr/>
        </p:nvSpPr>
        <p:spPr>
          <a:xfrm>
            <a:off x="1828800" y="4773168"/>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Analytical  |  Distribution Finance and FPandA</a:t>
            </a:r>
            <a:endParaRPr lang="en-US" sz="1000" dirty="0"/>
          </a:p>
        </p:txBody>
      </p:sp>
      <p:sp>
        <p:nvSpPr>
          <p:cNvPr id="42" name="Text 39"/>
          <p:cNvSpPr txBox="1"/>
          <p:nvPr/>
        </p:nvSpPr>
        <p:spPr>
          <a:xfrm>
            <a:off x="5897880" y="4471416"/>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Charges between the firm's legal entities, tested against the arm's length range.</a:t>
            </a:r>
            <a:endParaRPr lang="en-US" sz="1100" dirty="0"/>
          </a:p>
        </p:txBody>
      </p:sp>
      <p:sp>
        <p:nvSpPr>
          <p:cNvPr id="43" name="Shape 40"/>
          <p:cNvSpPr/>
          <p:nvPr/>
        </p:nvSpPr>
        <p:spPr>
          <a:xfrm>
            <a:off x="9326880" y="4672584"/>
            <a:ext cx="1371600" cy="128016"/>
          </a:xfrm>
          <a:prstGeom prst="rect">
            <a:avLst/>
          </a:prstGeom>
          <a:solidFill>
            <a:schemeClr val="bg1"/>
          </a:solidFill>
          <a:ln/>
        </p:spPr>
      </p:sp>
      <p:sp>
        <p:nvSpPr>
          <p:cNvPr id="44" name="Shape 41"/>
          <p:cNvSpPr/>
          <p:nvPr/>
        </p:nvSpPr>
        <p:spPr>
          <a:xfrm>
            <a:off x="9326880" y="4672584"/>
            <a:ext cx="1148316" cy="128016"/>
          </a:xfrm>
          <a:prstGeom prst="rect">
            <a:avLst/>
          </a:prstGeom>
          <a:solidFill>
            <a:schemeClr val="accent1"/>
          </a:solidFill>
          <a:ln/>
        </p:spPr>
      </p:sp>
      <p:sp>
        <p:nvSpPr>
          <p:cNvPr id="45" name="Text 42"/>
          <p:cNvSpPr txBox="1"/>
          <p:nvPr/>
        </p:nvSpPr>
        <p:spPr>
          <a:xfrm>
            <a:off x="10789920" y="4471416"/>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72 of 86</a:t>
            </a:r>
            <a:endParaRPr lang="en-US" sz="1200" dirty="0"/>
          </a:p>
        </p:txBody>
      </p:sp>
      <p:sp>
        <p:nvSpPr>
          <p:cNvPr id="46" name="Shape 43"/>
          <p:cNvSpPr/>
          <p:nvPr/>
        </p:nvSpPr>
        <p:spPr>
          <a:xfrm>
            <a:off x="548640" y="5074920"/>
            <a:ext cx="11091672" cy="530352"/>
          </a:xfrm>
          <a:prstGeom prst="roundRect">
            <a:avLst>
              <a:gd name="adj" fmla="val 13793"/>
            </a:avLst>
          </a:prstGeom>
          <a:solidFill>
            <a:schemeClr val="bg2"/>
          </a:solidFill>
          <a:ln/>
        </p:spPr>
      </p:sp>
      <p:sp>
        <p:nvSpPr>
          <p:cNvPr id="47" name="Text 44"/>
          <p:cNvSpPr/>
          <p:nvPr/>
        </p:nvSpPr>
        <p:spPr>
          <a:xfrm>
            <a:off x="731520" y="5170932"/>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DP-089</a:t>
            </a:r>
            <a:endParaRPr lang="en-US" sz="1200" dirty="0"/>
          </a:p>
        </p:txBody>
      </p:sp>
      <p:sp>
        <p:nvSpPr>
          <p:cNvPr id="48" name="Text 45"/>
          <p:cNvSpPr txBox="1"/>
          <p:nvPr/>
        </p:nvSpPr>
        <p:spPr>
          <a:xfrm>
            <a:off x="1828800" y="5120640"/>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Capitalized Contract Costs</a:t>
            </a:r>
            <a:endParaRPr lang="en-US" sz="1300" dirty="0"/>
          </a:p>
        </p:txBody>
      </p:sp>
      <p:sp>
        <p:nvSpPr>
          <p:cNvPr id="49" name="Text 46"/>
          <p:cNvSpPr txBox="1"/>
          <p:nvPr/>
        </p:nvSpPr>
        <p:spPr>
          <a:xfrm>
            <a:off x="1828800" y="5376672"/>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Distribution Finance and FPandA</a:t>
            </a:r>
            <a:endParaRPr lang="en-US" sz="1000" dirty="0"/>
          </a:p>
        </p:txBody>
      </p:sp>
      <p:sp>
        <p:nvSpPr>
          <p:cNvPr id="50" name="Text 47"/>
          <p:cNvSpPr txBox="1"/>
          <p:nvPr/>
        </p:nvSpPr>
        <p:spPr>
          <a:xfrm>
            <a:off x="5897880" y="5074920"/>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The register and rollforward of capitalized contract costs under ASC 340-40 and IFRS 15.</a:t>
            </a:r>
            <a:endParaRPr lang="en-US" sz="1100" dirty="0"/>
          </a:p>
        </p:txBody>
      </p:sp>
      <p:sp>
        <p:nvSpPr>
          <p:cNvPr id="51" name="Shape 48"/>
          <p:cNvSpPr/>
          <p:nvPr/>
        </p:nvSpPr>
        <p:spPr>
          <a:xfrm>
            <a:off x="9326880" y="5276088"/>
            <a:ext cx="1371600" cy="128016"/>
          </a:xfrm>
          <a:prstGeom prst="rect">
            <a:avLst/>
          </a:prstGeom>
          <a:solidFill>
            <a:schemeClr val="bg1"/>
          </a:solidFill>
          <a:ln/>
        </p:spPr>
      </p:sp>
      <p:sp>
        <p:nvSpPr>
          <p:cNvPr id="52" name="Shape 49"/>
          <p:cNvSpPr/>
          <p:nvPr/>
        </p:nvSpPr>
        <p:spPr>
          <a:xfrm>
            <a:off x="9326880" y="5276088"/>
            <a:ext cx="969264" cy="128016"/>
          </a:xfrm>
          <a:prstGeom prst="rect">
            <a:avLst/>
          </a:prstGeom>
          <a:solidFill>
            <a:schemeClr val="accent1"/>
          </a:solidFill>
          <a:ln/>
        </p:spPr>
      </p:sp>
      <p:sp>
        <p:nvSpPr>
          <p:cNvPr id="53" name="Text 50"/>
          <p:cNvSpPr txBox="1"/>
          <p:nvPr/>
        </p:nvSpPr>
        <p:spPr>
          <a:xfrm>
            <a:off x="10789920" y="5074920"/>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53 of 75</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OTHER DOMAINS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13 more rely on it for booked numbers</a:t>
            </a:r>
            <a:endParaRPr lang="en-US" sz="3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200400"/>
                <a:gridCol w="3200400"/>
                <a:gridCol w="4690872"/>
              </a:tblGrid>
              <a:tr h="365760">
                <a:tc>
                  <a:txBody>
                    <a:bodyPr/>
                    <a:lstStyle/>
                    <a:p>
                      <a:pPr indent="0" marL="0">
                        <a:buNone/>
                      </a:pPr>
                      <a:r>
                        <a:rPr lang="en-US" sz="1200" b="1" dirty="0">
                          <a:solidFill>
                            <a:schemeClr val="bg1"/>
                          </a:solidFill>
                        </a:rPr>
                        <a:t>Who it serves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Products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supplies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12064">
                <a:tc>
                  <a:txBody>
                    <a:bodyPr/>
                    <a:lstStyle/>
                    <a:p>
                      <a:pPr indent="0" marL="0">
                        <a:buNone/>
                      </a:pPr>
                      <a:r>
                        <a:rPr lang="en-US" sz="1200" b="1" dirty="0">
                          <a:solidFill>
                            <a:schemeClr val="tx1"/>
                          </a:solidFill>
                        </a:rPr>
                        <a:t>Distribution leadership and strategy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DP-015, DP-055, DP-057</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Booked fee and distribution revenue, plan versions, flow and revenue forecasts, profitability measures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Product management and pricing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DP-029, DP-059</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Fee revenue records and waiver records by share class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Compliance and inducement disclosure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DP-038, DP-063, DP-065</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cost items: what was paid, to whom, by which entity and from which funding source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Institutional sales and client service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DP-067, DP-092</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Fee revenue records for mandates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Marketing, investor servicing, data office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DP-051, DP-069, DP-072</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cost items for events, shareholder communications and licenses; fee revenue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89788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One more product depends on this domain only through DP-012, without reading the domain directly.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ONE ATTRIBUTE, END TO END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amount, followed to a margin</a:t>
            </a:r>
            <a:endParaRPr lang="en-US" sz="3600" dirty="0"/>
          </a:p>
        </p:txBody>
      </p:sp>
      <p:sp>
        <p:nvSpPr>
          <p:cNvPr id="5" name="Shape 2"/>
          <p:cNvSpPr/>
          <p:nvPr/>
        </p:nvSpPr>
        <p:spPr>
          <a:xfrm>
            <a:off x="548640" y="1874520"/>
            <a:ext cx="1938528" cy="2514600"/>
          </a:xfrm>
          <a:prstGeom prst="roundRect">
            <a:avLst>
              <a:gd name="adj" fmla="val 3774"/>
            </a:avLst>
          </a:prstGeom>
          <a:solidFill>
            <a:schemeClr val="accent2"/>
          </a:solidFill>
          <a:ln/>
        </p:spPr>
      </p:sp>
      <p:sp>
        <p:nvSpPr>
          <p:cNvPr id="6" name="Text 3"/>
          <p:cNvSpPr txBox="1"/>
          <p:nvPr/>
        </p:nvSpPr>
        <p:spPr>
          <a:xfrm>
            <a:off x="731520"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bg1"/>
                </a:solidFill>
              </a:rPr>
              <a:t>TAXONOMY</a:t>
            </a:r>
            <a:endParaRPr lang="en-US" sz="1100" dirty="0"/>
          </a:p>
        </p:txBody>
      </p:sp>
      <p:sp>
        <p:nvSpPr>
          <p:cNvPr id="7" name="Text 4"/>
          <p:cNvSpPr txBox="1"/>
          <p:nvPr/>
        </p:nvSpPr>
        <p:spPr>
          <a:xfrm>
            <a:off x="731520" y="2331720"/>
            <a:ext cx="1572768" cy="548640"/>
          </a:xfrm>
          <a:prstGeom prst="rect">
            <a:avLst/>
          </a:prstGeom>
          <a:noFill/>
          <a:ln/>
        </p:spPr>
        <p:txBody>
          <a:bodyPr wrap="square" lIns="0" tIns="0" rIns="0" bIns="0" rtlCol="0" anchor="ctr"/>
          <a:lstStyle/>
          <a:p>
            <a:pPr algn="l" indent="0" marL="0">
              <a:buNone/>
            </a:pPr>
            <a:r>
              <a:rPr lang="en-US" sz="1400" b="1" dirty="0">
                <a:solidFill>
                  <a:schemeClr val="bg1"/>
                </a:solidFill>
              </a:rPr>
              <a:t>Net Fee Revenue</a:t>
            </a:r>
            <a:endParaRPr lang="en-US" sz="1400" dirty="0"/>
          </a:p>
        </p:txBody>
      </p:sp>
      <p:sp>
        <p:nvSpPr>
          <p:cNvPr id="8" name="Text 5"/>
          <p:cNvSpPr txBox="1"/>
          <p:nvPr/>
        </p:nvSpPr>
        <p:spPr>
          <a:xfrm>
            <a:off x="731520" y="2971800"/>
            <a:ext cx="1572768" cy="1280160"/>
          </a:xfrm>
          <a:prstGeom prst="rect">
            <a:avLst/>
          </a:prstGeom>
          <a:noFill/>
          <a:ln/>
        </p:spPr>
        <p:txBody>
          <a:bodyPr wrap="square" lIns="0" tIns="0" rIns="0" bIns="0" rtlCol="0" anchor="t"/>
          <a:lstStyle/>
          <a:p>
            <a:pPr algn="l" indent="0" marL="0">
              <a:buNone/>
            </a:pPr>
            <a:r>
              <a:rPr lang="en-US" sz="1200" dirty="0">
                <a:solidFill>
                  <a:schemeClr val="bg1"/>
                </a:solidFill>
              </a:rPr>
              <a:t>Defined once, on the Fee Revenue Record: fee revenue after waivers and reimbursements, the amount recognized.</a:t>
            </a:r>
            <a:endParaRPr lang="en-US" sz="1200" dirty="0"/>
          </a:p>
        </p:txBody>
      </p:sp>
      <p:sp>
        <p:nvSpPr>
          <p:cNvPr id="9" name="Shape 6"/>
          <p:cNvSpPr/>
          <p:nvPr/>
        </p:nvSpPr>
        <p:spPr>
          <a:xfrm>
            <a:off x="2532888" y="3131820"/>
            <a:ext cx="258318" cy="0"/>
          </a:xfrm>
          <a:prstGeom prst="line">
            <a:avLst/>
          </a:prstGeom>
          <a:noFill/>
          <a:ln w="19050">
            <a:solidFill>
              <a:schemeClr val="tx2"/>
            </a:solidFill>
            <a:prstDash val="solid"/>
            <a:tailEnd type="triangle"/>
          </a:ln>
        </p:spPr>
      </p:sp>
      <p:sp>
        <p:nvSpPr>
          <p:cNvPr id="10" name="Shape 7"/>
          <p:cNvSpPr/>
          <p:nvPr/>
        </p:nvSpPr>
        <p:spPr>
          <a:xfrm>
            <a:off x="2836926" y="1874520"/>
            <a:ext cx="1938528" cy="2514600"/>
          </a:xfrm>
          <a:prstGeom prst="roundRect">
            <a:avLst>
              <a:gd name="adj" fmla="val 3774"/>
            </a:avLst>
          </a:prstGeom>
          <a:solidFill>
            <a:schemeClr val="bg2"/>
          </a:solidFill>
          <a:ln/>
        </p:spPr>
      </p:sp>
      <p:sp>
        <p:nvSpPr>
          <p:cNvPr id="11" name="Text 8"/>
          <p:cNvSpPr txBox="1"/>
          <p:nvPr/>
        </p:nvSpPr>
        <p:spPr>
          <a:xfrm>
            <a:off x="3019806"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FOUNDATIONAL</a:t>
            </a:r>
            <a:endParaRPr lang="en-US" sz="1100" dirty="0"/>
          </a:p>
        </p:txBody>
      </p:sp>
      <p:sp>
        <p:nvSpPr>
          <p:cNvPr id="12" name="Text 9"/>
          <p:cNvSpPr txBox="1"/>
          <p:nvPr/>
        </p:nvSpPr>
        <p:spPr>
          <a:xfrm>
            <a:off x="3019806"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DP-012</a:t>
            </a:r>
            <a:endParaRPr lang="en-US" sz="1400" dirty="0"/>
          </a:p>
        </p:txBody>
      </p:sp>
      <p:sp>
        <p:nvSpPr>
          <p:cNvPr id="13" name="Text 10"/>
          <p:cNvSpPr txBox="1"/>
          <p:nvPr/>
        </p:nvSpPr>
        <p:spPr>
          <a:xfrm>
            <a:off x="3019806"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Books it by share class or mandate and period. Quality rule: net equals gross less the waiver offset.</a:t>
            </a:r>
            <a:endParaRPr lang="en-US" sz="1200" dirty="0"/>
          </a:p>
        </p:txBody>
      </p:sp>
      <p:sp>
        <p:nvSpPr>
          <p:cNvPr id="14" name="Shape 11"/>
          <p:cNvSpPr/>
          <p:nvPr/>
        </p:nvSpPr>
        <p:spPr>
          <a:xfrm>
            <a:off x="4821174" y="3131820"/>
            <a:ext cx="258318" cy="0"/>
          </a:xfrm>
          <a:prstGeom prst="line">
            <a:avLst/>
          </a:prstGeom>
          <a:noFill/>
          <a:ln w="19050">
            <a:solidFill>
              <a:schemeClr val="tx2"/>
            </a:solidFill>
            <a:prstDash val="solid"/>
            <a:tailEnd type="triangle"/>
          </a:ln>
        </p:spPr>
      </p:sp>
      <p:sp>
        <p:nvSpPr>
          <p:cNvPr id="15" name="Shape 12"/>
          <p:cNvSpPr/>
          <p:nvPr/>
        </p:nvSpPr>
        <p:spPr>
          <a:xfrm>
            <a:off x="5125212" y="1874520"/>
            <a:ext cx="1938528" cy="2514600"/>
          </a:xfrm>
          <a:prstGeom prst="roundRect">
            <a:avLst>
              <a:gd name="adj" fmla="val 3774"/>
            </a:avLst>
          </a:prstGeom>
          <a:solidFill>
            <a:schemeClr val="bg2"/>
          </a:solidFill>
          <a:ln/>
        </p:spPr>
      </p:sp>
      <p:sp>
        <p:nvSpPr>
          <p:cNvPr id="16" name="Text 13"/>
          <p:cNvSpPr txBox="1"/>
          <p:nvPr/>
        </p:nvSpPr>
        <p:spPr>
          <a:xfrm>
            <a:off x="5308092"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CONSUMER</a:t>
            </a:r>
            <a:endParaRPr lang="en-US" sz="1100" dirty="0"/>
          </a:p>
        </p:txBody>
      </p:sp>
      <p:sp>
        <p:nvSpPr>
          <p:cNvPr id="17" name="Text 14"/>
          <p:cNvSpPr txBox="1"/>
          <p:nvPr/>
        </p:nvSpPr>
        <p:spPr>
          <a:xfrm>
            <a:off x="5308092"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DP-035</a:t>
            </a:r>
            <a:endParaRPr lang="en-US" sz="1400" dirty="0"/>
          </a:p>
        </p:txBody>
      </p:sp>
      <p:sp>
        <p:nvSpPr>
          <p:cNvPr id="18" name="Text 15"/>
          <p:cNvSpPr txBox="1"/>
          <p:nvPr/>
        </p:nvSpPr>
        <p:spPr>
          <a:xfrm>
            <a:off x="5308092"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Attributes it to channel, partner and product, then subtracts partner payments, direct and allocated cost.</a:t>
            </a:r>
            <a:endParaRPr lang="en-US" sz="1200" dirty="0"/>
          </a:p>
        </p:txBody>
      </p:sp>
      <p:sp>
        <p:nvSpPr>
          <p:cNvPr id="19" name="Shape 16"/>
          <p:cNvSpPr/>
          <p:nvPr/>
        </p:nvSpPr>
        <p:spPr>
          <a:xfrm>
            <a:off x="7109460" y="3131820"/>
            <a:ext cx="258318" cy="0"/>
          </a:xfrm>
          <a:prstGeom prst="line">
            <a:avLst/>
          </a:prstGeom>
          <a:noFill/>
          <a:ln w="19050">
            <a:solidFill>
              <a:schemeClr val="tx2"/>
            </a:solidFill>
            <a:prstDash val="solid"/>
            <a:tailEnd type="triangle"/>
          </a:ln>
        </p:spPr>
      </p:sp>
      <p:sp>
        <p:nvSpPr>
          <p:cNvPr id="20" name="Shape 17"/>
          <p:cNvSpPr/>
          <p:nvPr/>
        </p:nvSpPr>
        <p:spPr>
          <a:xfrm>
            <a:off x="7413498" y="1874520"/>
            <a:ext cx="1938528" cy="2514600"/>
          </a:xfrm>
          <a:prstGeom prst="roundRect">
            <a:avLst>
              <a:gd name="adj" fmla="val 3774"/>
            </a:avLst>
          </a:prstGeom>
          <a:solidFill>
            <a:schemeClr val="bg2"/>
          </a:solidFill>
          <a:ln/>
        </p:spPr>
      </p:sp>
      <p:sp>
        <p:nvSpPr>
          <p:cNvPr id="21" name="Text 18"/>
          <p:cNvSpPr txBox="1"/>
          <p:nvPr/>
        </p:nvSpPr>
        <p:spPr>
          <a:xfrm>
            <a:off x="7596378"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SEMANTIC MODEL</a:t>
            </a:r>
            <a:endParaRPr lang="en-US" sz="1100" dirty="0"/>
          </a:p>
        </p:txBody>
      </p:sp>
      <p:sp>
        <p:nvSpPr>
          <p:cNvPr id="22" name="Text 19"/>
          <p:cNvSpPr txBox="1"/>
          <p:nvPr/>
        </p:nvSpPr>
        <p:spPr>
          <a:xfrm>
            <a:off x="7596378"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SM-07 Finance &amp;</a:t>
            </a:r>
            <a:endParaRPr lang="en-US" sz="1400" dirty="0"/>
          </a:p>
          <a:p>
            <a:pPr algn="l" indent="0" marL="0">
              <a:buNone/>
            </a:pPr>
            <a:r>
              <a:rPr lang="en-US" sz="1400" b="1" dirty="0">
                <a:solidFill>
                  <a:schemeClr val="tx1"/>
                </a:solidFill>
              </a:rPr>
              <a:t>Profitability</a:t>
            </a:r>
            <a:endParaRPr lang="en-US" sz="1400" dirty="0"/>
          </a:p>
        </p:txBody>
      </p:sp>
      <p:sp>
        <p:nvSpPr>
          <p:cNvPr id="23" name="Text 20"/>
          <p:cNvSpPr txBox="1"/>
          <p:nvPr/>
        </p:nvSpPr>
        <p:spPr>
          <a:xfrm>
            <a:off x="7596378"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Publishes Net Fee Revenue as a certified metric. Other semantic models reference it.</a:t>
            </a:r>
            <a:endParaRPr lang="en-US" sz="1200" dirty="0"/>
          </a:p>
        </p:txBody>
      </p:sp>
      <p:sp>
        <p:nvSpPr>
          <p:cNvPr id="24" name="Shape 21"/>
          <p:cNvSpPr/>
          <p:nvPr/>
        </p:nvSpPr>
        <p:spPr>
          <a:xfrm>
            <a:off x="9397746" y="3131820"/>
            <a:ext cx="258318" cy="0"/>
          </a:xfrm>
          <a:prstGeom prst="line">
            <a:avLst/>
          </a:prstGeom>
          <a:noFill/>
          <a:ln w="19050">
            <a:solidFill>
              <a:schemeClr val="tx2"/>
            </a:solidFill>
            <a:prstDash val="solid"/>
            <a:tailEnd type="triangle"/>
          </a:ln>
        </p:spPr>
      </p:sp>
      <p:sp>
        <p:nvSpPr>
          <p:cNvPr id="25" name="Shape 22"/>
          <p:cNvSpPr/>
          <p:nvPr/>
        </p:nvSpPr>
        <p:spPr>
          <a:xfrm>
            <a:off x="9701784" y="1874520"/>
            <a:ext cx="1938528" cy="2514600"/>
          </a:xfrm>
          <a:prstGeom prst="roundRect">
            <a:avLst>
              <a:gd name="adj" fmla="val 3774"/>
            </a:avLst>
          </a:prstGeom>
          <a:solidFill>
            <a:schemeClr val="bg2"/>
          </a:solidFill>
          <a:ln/>
        </p:spPr>
      </p:sp>
      <p:sp>
        <p:nvSpPr>
          <p:cNvPr id="26" name="Text 23"/>
          <p:cNvSpPr txBox="1"/>
          <p:nvPr/>
        </p:nvSpPr>
        <p:spPr>
          <a:xfrm>
            <a:off x="9884664"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USE</a:t>
            </a:r>
            <a:endParaRPr lang="en-US" sz="1100" dirty="0"/>
          </a:p>
        </p:txBody>
      </p:sp>
      <p:sp>
        <p:nvSpPr>
          <p:cNvPr id="27" name="Text 24"/>
          <p:cNvSpPr txBox="1"/>
          <p:nvPr/>
        </p:nvSpPr>
        <p:spPr>
          <a:xfrm>
            <a:off x="9884664"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Dashboard or AI assistant</a:t>
            </a:r>
            <a:endParaRPr lang="en-US" sz="1400" dirty="0"/>
          </a:p>
        </p:txBody>
      </p:sp>
      <p:sp>
        <p:nvSpPr>
          <p:cNvPr id="28" name="Text 25"/>
          <p:cNvSpPr txBox="1"/>
          <p:nvPr/>
        </p:nvSpPr>
        <p:spPr>
          <a:xfrm>
            <a:off x="9884664"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“Which products are unprofitable once partner payments, waivers and allocated cost are included?”</a:t>
            </a:r>
            <a:endParaRPr lang="en-US" sz="1200" dirty="0"/>
          </a:p>
        </p:txBody>
      </p:sp>
      <p:sp>
        <p:nvSpPr>
          <p:cNvPr id="29" name="Shape 26"/>
          <p:cNvSpPr/>
          <p:nvPr/>
        </p:nvSpPr>
        <p:spPr>
          <a:xfrm>
            <a:off x="548640" y="4663440"/>
            <a:ext cx="11091672" cy="731520"/>
          </a:xfrm>
          <a:prstGeom prst="roundRect">
            <a:avLst>
              <a:gd name="adj" fmla="val 10000"/>
            </a:avLst>
          </a:prstGeom>
          <a:solidFill>
            <a:schemeClr val="tx1"/>
          </a:solidFill>
          <a:ln/>
        </p:spPr>
      </p:sp>
      <p:sp>
        <p:nvSpPr>
          <p:cNvPr id="30" name="Text 27"/>
          <p:cNvSpPr txBox="1"/>
          <p:nvPr/>
        </p:nvSpPr>
        <p:spPr>
          <a:xfrm>
            <a:off x="548640" y="4663440"/>
            <a:ext cx="11091672" cy="731520"/>
          </a:xfrm>
          <a:prstGeom prst="rect">
            <a:avLst/>
          </a:prstGeom>
          <a:noFill/>
          <a:ln/>
        </p:spPr>
        <p:txBody>
          <a:bodyPr wrap="square" lIns="0" tIns="0" rIns="0" bIns="0" rtlCol="0" anchor="ctr"/>
          <a:lstStyle/>
          <a:p>
            <a:pPr algn="ctr" indent="0" marL="0">
              <a:buNone/>
            </a:pPr>
            <a:r>
              <a:rPr lang="en-US" sz="1600" b="1" dirty="0">
                <a:solidFill>
                  <a:schemeClr val="bg1"/>
                </a:solidFill>
              </a:rPr>
              <a:t>Operating Profit = Net Fee Revenue + distribution revenue kept - payments - direct and indirect cost</a:t>
            </a:r>
            <a:endParaRPr lang="en-US" sz="1600" dirty="0"/>
          </a:p>
        </p:txBody>
      </p:sp>
      <p:sp>
        <p:nvSpPr>
          <p:cNvPr id="31" name="Text 28"/>
          <p:cNvSpPr txBox="1"/>
          <p:nvPr/>
        </p:nvSpPr>
        <p:spPr>
          <a:xfrm>
            <a:off x="548640" y="562356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The AUM-based revenue estimate stays in Sales Transactions &amp; AUM Attribution. This domain holds the booked amount and reconciles the two.</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NEXT STEPS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What needs deciding next</a:t>
            </a:r>
            <a:endParaRPr lang="en-US" sz="3600" dirty="0"/>
          </a:p>
        </p:txBody>
      </p:sp>
      <p:sp>
        <p:nvSpPr>
          <p:cNvPr id="5" name="Text 2"/>
          <p:cNvSpPr txBox="1"/>
          <p:nvPr/>
        </p:nvSpPr>
        <p:spPr>
          <a:xfrm>
            <a:off x="548640"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OPEN DECISIONS</a:t>
            </a:r>
            <a:endParaRPr lang="en-US" sz="1200" dirty="0"/>
          </a:p>
        </p:txBody>
      </p:sp>
      <p:sp>
        <p:nvSpPr>
          <p:cNvPr id="6" name="Shape 3"/>
          <p:cNvSpPr/>
          <p:nvPr/>
        </p:nvSpPr>
        <p:spPr>
          <a:xfrm>
            <a:off x="548640" y="2148840"/>
            <a:ext cx="5303520" cy="841248"/>
          </a:xfrm>
          <a:prstGeom prst="roundRect">
            <a:avLst>
              <a:gd name="adj" fmla="val 8696"/>
            </a:avLst>
          </a:prstGeom>
          <a:solidFill>
            <a:schemeClr val="bg2"/>
          </a:solidFill>
          <a:ln/>
        </p:spPr>
      </p:sp>
      <p:sp>
        <p:nvSpPr>
          <p:cNvPr id="7" name="Text 4"/>
          <p:cNvSpPr/>
          <p:nvPr/>
        </p:nvSpPr>
        <p:spPr>
          <a:xfrm>
            <a:off x="731520" y="239572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CD-022</a:t>
            </a:r>
            <a:endParaRPr lang="en-US" sz="1100" dirty="0"/>
          </a:p>
        </p:txBody>
      </p:sp>
      <p:sp>
        <p:nvSpPr>
          <p:cNvPr id="8" name="Text 5"/>
          <p:cNvSpPr txBox="1"/>
          <p:nvPr/>
        </p:nvSpPr>
        <p:spPr>
          <a:xfrm>
            <a:off x="2057400" y="214884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Which domain owns the fund advisory agreement. Recommended: Investment Product owns it and the Revenue Contract here references it.</a:t>
            </a:r>
            <a:endParaRPr lang="en-US" sz="1200" dirty="0"/>
          </a:p>
        </p:txBody>
      </p:sp>
      <p:sp>
        <p:nvSpPr>
          <p:cNvPr id="9" name="Shape 6"/>
          <p:cNvSpPr/>
          <p:nvPr/>
        </p:nvSpPr>
        <p:spPr>
          <a:xfrm>
            <a:off x="548640" y="3108960"/>
            <a:ext cx="5303520" cy="841248"/>
          </a:xfrm>
          <a:prstGeom prst="roundRect">
            <a:avLst>
              <a:gd name="adj" fmla="val 8696"/>
            </a:avLst>
          </a:prstGeom>
          <a:solidFill>
            <a:schemeClr val="bg2"/>
          </a:solidFill>
          <a:ln/>
        </p:spPr>
      </p:sp>
      <p:sp>
        <p:nvSpPr>
          <p:cNvPr id="10" name="Text 7"/>
          <p:cNvSpPr/>
          <p:nvPr/>
        </p:nvSpPr>
        <p:spPr>
          <a:xfrm>
            <a:off x="731520" y="335584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CD-085</a:t>
            </a:r>
            <a:endParaRPr lang="en-US" sz="1100" dirty="0"/>
          </a:p>
        </p:txBody>
      </p:sp>
      <p:sp>
        <p:nvSpPr>
          <p:cNvPr id="11" name="Text 8"/>
          <p:cNvSpPr txBox="1"/>
          <p:nvPr/>
        </p:nvSpPr>
        <p:spPr>
          <a:xfrm>
            <a:off x="2057400" y="310896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Technical Accounting to confirm that wholesaler commissions on fund sales are expensed, not capitalized.</a:t>
            </a:r>
            <a:endParaRPr lang="en-US" sz="1200" dirty="0"/>
          </a:p>
        </p:txBody>
      </p:sp>
      <p:sp>
        <p:nvSpPr>
          <p:cNvPr id="12" name="Shape 9"/>
          <p:cNvSpPr/>
          <p:nvPr/>
        </p:nvSpPr>
        <p:spPr>
          <a:xfrm>
            <a:off x="548640" y="4069080"/>
            <a:ext cx="5303520" cy="841248"/>
          </a:xfrm>
          <a:prstGeom prst="roundRect">
            <a:avLst>
              <a:gd name="adj" fmla="val 8696"/>
            </a:avLst>
          </a:prstGeom>
          <a:solidFill>
            <a:schemeClr val="bg2"/>
          </a:solidFill>
          <a:ln/>
        </p:spPr>
      </p:sp>
      <p:sp>
        <p:nvSpPr>
          <p:cNvPr id="13" name="Text 10"/>
          <p:cNvSpPr/>
          <p:nvPr/>
        </p:nvSpPr>
        <p:spPr>
          <a:xfrm>
            <a:off x="731520" y="431596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CD-040</a:t>
            </a:r>
            <a:endParaRPr lang="en-US" sz="1100" dirty="0"/>
          </a:p>
        </p:txBody>
      </p:sp>
      <p:sp>
        <p:nvSpPr>
          <p:cNvPr id="14" name="Text 11"/>
          <p:cNvSpPr txBox="1"/>
          <p:nvPr/>
        </p:nvSpPr>
        <p:spPr>
          <a:xfrm>
            <a:off x="2057400" y="406908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Revenue as an enterprise term means booked revenue from this domain. Pipeline and AUM-based estimates keep qualified names.</a:t>
            </a:r>
            <a:endParaRPr lang="en-US" sz="1200" dirty="0"/>
          </a:p>
        </p:txBody>
      </p:sp>
      <p:sp>
        <p:nvSpPr>
          <p:cNvPr id="15" name="Shape 12"/>
          <p:cNvSpPr/>
          <p:nvPr/>
        </p:nvSpPr>
        <p:spPr>
          <a:xfrm>
            <a:off x="548640" y="5029200"/>
            <a:ext cx="5303520" cy="841248"/>
          </a:xfrm>
          <a:prstGeom prst="roundRect">
            <a:avLst>
              <a:gd name="adj" fmla="val 8696"/>
            </a:avLst>
          </a:prstGeom>
          <a:solidFill>
            <a:schemeClr val="bg2"/>
          </a:solidFill>
          <a:ln/>
        </p:spPr>
      </p:sp>
      <p:sp>
        <p:nvSpPr>
          <p:cNvPr id="16" name="Text 13"/>
          <p:cNvSpPr/>
          <p:nvPr/>
        </p:nvSpPr>
        <p:spPr>
          <a:xfrm>
            <a:off x="731520" y="527608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CD-030</a:t>
            </a:r>
            <a:endParaRPr lang="en-US" sz="1100" dirty="0"/>
          </a:p>
        </p:txBody>
      </p:sp>
      <p:sp>
        <p:nvSpPr>
          <p:cNvPr id="17" name="Text 14"/>
          <p:cNvSpPr txBox="1"/>
          <p:nvPr/>
        </p:nvSpPr>
        <p:spPr>
          <a:xfrm>
            <a:off x="2057400" y="502920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This domain holds the only booked accrual. Partner payment and compensation engines keep calculated amounts under new names.</a:t>
            </a:r>
            <a:endParaRPr lang="en-US" sz="1200" dirty="0"/>
          </a:p>
        </p:txBody>
      </p:sp>
      <p:sp>
        <p:nvSpPr>
          <p:cNvPr id="18" name="Text 15"/>
          <p:cNvSpPr txBox="1"/>
          <p:nvPr/>
        </p:nvSpPr>
        <p:spPr>
          <a:xfrm>
            <a:off x="6336792"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NEXT STEPS</a:t>
            </a:r>
            <a:endParaRPr lang="en-US" sz="1200" dirty="0"/>
          </a:p>
        </p:txBody>
      </p:sp>
      <p:sp>
        <p:nvSpPr>
          <p:cNvPr id="19" name="Text 16"/>
          <p:cNvSpPr/>
          <p:nvPr/>
        </p:nvSpPr>
        <p:spPr>
          <a:xfrm>
            <a:off x="6336792" y="224028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0" name="Text 17"/>
          <p:cNvSpPr txBox="1"/>
          <p:nvPr/>
        </p:nvSpPr>
        <p:spPr>
          <a:xfrm>
            <a:off x="6903720" y="2148840"/>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Walk through revenue recognition and contract cost policies with Technical Accounting, then confirm the 71 proposed critical data elements</a:t>
            </a:r>
            <a:endParaRPr lang="en-US" sz="1300" dirty="0"/>
          </a:p>
        </p:txBody>
      </p:sp>
      <p:sp>
        <p:nvSpPr>
          <p:cNvPr id="21" name="Text 18"/>
          <p:cNvSpPr/>
          <p:nvPr/>
        </p:nvSpPr>
        <p:spPr>
          <a:xfrm>
            <a:off x="6336792" y="3008376"/>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2" name="Text 19"/>
          <p:cNvSpPr txBox="1"/>
          <p:nvPr/>
        </p:nvSpPr>
        <p:spPr>
          <a:xfrm>
            <a:off x="6903720" y="2916936"/>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Run an FP&amp;A workshop on cost pools, allocation rules and profitability grain, and pilot one quarter for the US intermediary channel</a:t>
            </a:r>
            <a:endParaRPr lang="en-US" sz="1300" dirty="0"/>
          </a:p>
        </p:txBody>
      </p:sp>
      <p:sp>
        <p:nvSpPr>
          <p:cNvPr id="23" name="Text 20"/>
          <p:cNvSpPr/>
          <p:nvPr/>
        </p:nvSpPr>
        <p:spPr>
          <a:xfrm>
            <a:off x="6336792" y="3776472"/>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Text 21"/>
          <p:cNvSpPr txBox="1"/>
          <p:nvPr/>
        </p:nvSpPr>
        <p:spPr>
          <a:xfrm>
            <a:off x="6903720" y="3685032"/>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Agree hand-off contracts with the domains that calculate partner payments, compensation, campaign cost and estimated revenue</a:t>
            </a:r>
            <a:endParaRPr lang="en-US" sz="1300" dirty="0"/>
          </a:p>
        </p:txBody>
      </p:sp>
      <p:sp>
        <p:nvSpPr>
          <p:cNvPr id="25" name="Text 22"/>
          <p:cNvSpPr/>
          <p:nvPr/>
        </p:nvSpPr>
        <p:spPr>
          <a:xfrm>
            <a:off x="6336792" y="4544568"/>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6" name="Text 23"/>
          <p:cNvSpPr txBox="1"/>
          <p:nvPr/>
        </p:nvSpPr>
        <p:spPr>
          <a:xfrm>
            <a:off x="6903720" y="4453128"/>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Map attributes to the general ledger, fund accounting and planning systems</a:t>
            </a:r>
            <a:endParaRPr lang="en-US" sz="1300" dirty="0"/>
          </a:p>
        </p:txBody>
      </p:sp>
      <p:sp>
        <p:nvSpPr>
          <p:cNvPr id="27" name="Text 24"/>
          <p:cNvSpPr/>
          <p:nvPr/>
        </p:nvSpPr>
        <p:spPr>
          <a:xfrm>
            <a:off x="6336792" y="5312664"/>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8" name="Text 25"/>
          <p:cNvSpPr txBox="1"/>
          <p:nvPr/>
        </p:nvSpPr>
        <p:spPr>
          <a:xfrm>
            <a:off x="6903720" y="5221224"/>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Decide the 21 open gaps, starting with the five high-priority ones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CG Taxonomy">
  <a:themeElements>
    <a:clrScheme name="CG Taxonomy">
      <a:dk1>
        <a:srgbClr val="0C233C"/>
      </a:dk1>
      <a:lt1>
        <a:srgbClr val="FFFFFF"/>
      </a:lt1>
      <a:dk2>
        <a:srgbClr val="535E6C"/>
      </a:dk2>
      <a:lt2>
        <a:srgbClr val="EEF1F8"/>
      </a:lt2>
      <a:accent1>
        <a:srgbClr val="1E49E2"/>
      </a:accent1>
      <a:accent2>
        <a:srgbClr val="7213EA"/>
      </a:accent2>
      <a:accent3>
        <a:srgbClr val="00B8F5"/>
      </a:accent3>
      <a:accent4>
        <a:srgbClr val="C8166F"/>
      </a:accent4>
      <a:accent5>
        <a:srgbClr val="00796F"/>
      </a:accent5>
      <a:accent6>
        <a:srgbClr val="ACEAFF"/>
      </a:accent6>
      <a:hlink>
        <a:srgbClr val="1E49E2"/>
      </a:hlink>
      <a:folHlink>
        <a:srgbClr val="7213EA"/>
      </a:folHlink>
    </a:clrScheme>
    <a:fontScheme name="CG Taxonom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Distribution Finance &amp; Profitability taxonomy walkthrough</dc:title>
  <dc:subject>PptxGenJS Presentation</dc:subject>
  <dc:creator>Distribution Data Taxonomy Program</dc:creator>
  <cp:lastModifiedBy>Distribution Data Taxonomy Program</cp:lastModifiedBy>
  <cp:revision>1</cp:revision>
  <dcterms:created xsi:type="dcterms:W3CDTF">2026-10-05T13:40:42Z</dcterms:created>
  <dcterms:modified xsi:type="dcterms:W3CDTF">2026-10-05T13:40:42Z</dcterms:modified>
</cp:coreProperties>
</file>