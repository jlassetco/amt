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6cc912b2-76e5-a640-943d-574e9b89f456}">
          <p14:sldIdLst>
            <p14:sldId id="256"/>
            <p14:sldId id="257"/>
            <p14:sldId id="258"/>
            <p14:sldId id="259"/>
          </p14:sldIdLst>
        </p14:section>
        <p14:section name="What is included" id="{8bce75c5-c4a7-338d-19f9-0e227e7420aa}">
          <p14:sldIdLst>
            <p14:sldId id="260"/>
            <p14:sldId id="261"/>
            <p14:sldId id="262"/>
            <p14:sldId id="263"/>
            <p14:sldId id="264"/>
          </p14:sldIdLst>
        </p14:section>
        <p14:section name="What is excluded" id="{9e7db702-3298-6dca-f0a4-9ec49fdb03c1}">
          <p14:sldIdLst>
            <p14:sldId id="265"/>
            <p14:sldId id="266"/>
            <p14:sldId id="267"/>
          </p14:sldIdLst>
        </p14:section>
        <p14:section name="How it is used" id="{e8b44134-a1af-8754-43e1-e04f5d63099b}">
          <p14:sldIdLst>
            <p14:sldId id="268"/>
            <p14:sldId id="269"/>
          </p14:sldIdLst>
        </p14:section>
        <p14:section name="Data products" id="{71812a33-4052-8814-6b54-f87234ab6bb5}">
          <p14:sldIdLst>
            <p14:sldId id="270"/>
            <p14:sldId id="271"/>
            <p14:sldId id="272"/>
            <p14:sldId id="273"/>
          </p14:sldIdLst>
        </p14:section>
        <p14:section name="Next steps" id="{3d6eb895-28eb-9ec6-b186-30be2d356f90}">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C233C"/>
                </a:solidFill>
                <a:latin typeface="+mn-lt"/>
              </a:defRPr>
            </a:pPr>
            <a:r>
              <a:rPr sz="1300" b="0" i="0" u="none" strike="noStrike">
                <a:solidFill>
                  <a:srgbClr val="0C233C"/>
                </a:solidFill>
                <a:latin typeface="+mn-lt"/>
              </a:rPr>
              <a:t>Attributes by primary reference standard</a:t>
            </a:r>
          </a:p>
        </c:rich>
      </c:tx>
      <c:layout/>
      <c:overlay val="0"/>
    </c:title>
    <c:autoTitleDeleted val="0"/>
    <c:plotArea>
      <c:layout/>
      <c:barChart>
        <c:barDir val="bar"/>
        <c:grouping val="clustered"/>
        <c:varyColors val="0"/>
        <c:ser>
          <c:idx val="0"/>
          <c:order val="0"/>
          <c:tx>
            <c:strRef>
              <c:f>Sheet1!$B$1</c:f>
              <c:strCache>
                <c:ptCount val="1"/>
                <c:pt idx="0">
                  <c:v>Attributes by primary reference standard</c:v>
                </c:pt>
              </c:strCache>
            </c:strRef>
          </c:tx>
          <c:spPr>
            <a:solidFill>
              <a:srgbClr val="1E49E2"/>
            </a:solidFill>
            <a:effectLst/>
          </c:spPr>
          <c:invertIfNegative val="0"/>
          <c:dLbls>
            <c:numFmt formatCode="#,##0" sourceLinked="0"/>
            <c:txPr>
              <a:bodyPr/>
              <a:lstStyle/>
              <a:p>
                <a:pPr>
                  <a:defRPr b="0" i="0" strike="noStrike" sz="1200" u="none">
                    <a:solidFill>
                      <a:srgbClr val="0C233C"/>
                    </a:solidFill>
                    <a:latin typeface="+mn-lt"/>
                  </a:defRPr>
                </a:pPr>
              </a:p>
            </c:txPr>
            <c:showLegendKey val="0"/>
            <c:showVal val="1"/>
            <c:showCatName val="0"/>
            <c:showSerName val="0"/>
            <c:showPercent val="0"/>
            <c:showBubbleSize val="0"/>
            <c:showLeaderLines val="0"/>
          </c:dLbls>
          <c:cat>
            <c:multiLvlStrRef>
              <c:f>Sheet1!$A$2:$A$8</c:f>
              <c:multiLvlStrCache>
                <c:ptCount val="7"/>
                <c:lvl>
                  <c:pt idx="0">
                    <c:v>Internal (firm-defined)</c:v>
                  </c:pt>
                  <c:pt idx="1">
                    <c:v>openfunds</c:v>
                  </c:pt>
                  <c:pt idx="2">
                    <c:v>FinDatEx EMT / EET</c:v>
                  </c:pt>
                  <c:pt idx="3">
                    <c:v>SEC (Form N-1A, EDGAR)</c:v>
                  </c:pt>
                  <c:pt idx="4">
                    <c:v>GIPS</c:v>
                  </c:pt>
                  <c:pt idx="5">
                    <c:v>FIBO CIV</c:v>
                  </c:pt>
                  <c:pt idx="6">
                    <c:v>Other standards and regulation</c:v>
                  </c:pt>
                </c:lvl>
              </c:multiLvlStrCache>
            </c:multiLvlStrRef>
          </c:cat>
          <c:val>
            <c:numRef>
              <c:f>Sheet1!$B$2:$B$8</c:f>
              <c:numCache>
                <c:formatCode>General</c:formatCode>
                <c:ptCount val="7"/>
                <c:pt idx="0">
                  <c:v>124</c:v>
                </c:pt>
                <c:pt idx="1">
                  <c:v>67</c:v>
                </c:pt>
                <c:pt idx="2">
                  <c:v>16</c:v>
                </c:pt>
                <c:pt idx="3">
                  <c:v>11</c:v>
                </c:pt>
                <c:pt idx="4">
                  <c:v>11</c:v>
                </c:pt>
                <c:pt idx="5">
                  <c:v>11</c:v>
                </c:pt>
                <c:pt idx="6">
                  <c:v>67</c:v>
                </c:pt>
              </c:numCache>
            </c:numRef>
          </c:val>
        </c:ser>
        <c:dLbls>
          <c:numFmt formatCode="#,##0" sourceLinked="0"/>
          <c:txPr>
            <a:bodyPr/>
            <a:lstStyle/>
            <a:p>
              <a:pPr>
                <a:defRPr b="0" i="0" strike="noStrike" sz="1200" u="none">
                  <a:solidFill>
                    <a:srgbClr val="0C233C"/>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0C233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C233C"/>
                </a:solidFill>
                <a:latin typeface="+mn-lt"/>
              </a:defRPr>
            </a:pPr>
            <a:r>
              <a:rPr sz="1300" b="0" i="0" u="none" strike="noStrike">
                <a:solidFill>
                  <a:srgbClr val="0C233C"/>
                </a:solidFill>
                <a:latin typeface="+mn-lt"/>
              </a:rPr>
              <a:t>Products reading each object (top 8 of 48)</a:t>
            </a:r>
          </a:p>
        </c:rich>
      </c:tx>
      <c:layout/>
      <c:overlay val="0"/>
    </c:title>
    <c:autoTitleDeleted val="0"/>
    <c:plotArea>
      <c:layout/>
      <c:barChart>
        <c:barDir val="bar"/>
        <c:grouping val="clustered"/>
        <c:varyColors val="0"/>
        <c:ser>
          <c:idx val="0"/>
          <c:order val="0"/>
          <c:tx>
            <c:strRef>
              <c:f>Sheet1!$B$1</c:f>
              <c:strCache>
                <c:ptCount val="1"/>
                <c:pt idx="0">
                  <c:v>Products reading each object (top 8 of 48)</c:v>
                </c:pt>
              </c:strCache>
            </c:strRef>
          </c:tx>
          <c:spPr>
            <a:solidFill>
              <a:srgbClr val="1E49E2"/>
            </a:solidFill>
            <a:effectLst/>
          </c:spPr>
          <c:invertIfNegative val="0"/>
          <c:dLbls>
            <c:numFmt formatCode="#,##0" sourceLinked="0"/>
            <c:txPr>
              <a:bodyPr/>
              <a:lstStyle/>
              <a:p>
                <a:pPr>
                  <a:defRPr b="0" i="0" strike="noStrike" sz="1200" u="none">
                    <a:solidFill>
                      <a:srgbClr val="0C233C"/>
                    </a:solidFill>
                    <a:latin typeface="+mn-lt"/>
                  </a:defRPr>
                </a:pPr>
              </a:p>
            </c:txPr>
            <c:showLegendKey val="0"/>
            <c:showVal val="1"/>
            <c:showCatName val="0"/>
            <c:showSerName val="0"/>
            <c:showPercent val="0"/>
            <c:showBubbleSize val="0"/>
            <c:showLeaderLines val="0"/>
          </c:dLbls>
          <c:cat>
            <c:multiLvlStrRef>
              <c:f>Sheet1!$A$2:$A$9</c:f>
              <c:multiLvlStrCache>
                <c:ptCount val="8"/>
                <c:lvl>
                  <c:pt idx="0">
                    <c:v>Share Class</c:v>
                  </c:pt>
                  <c:pt idx="1">
                    <c:v>Investment Product</c:v>
                  </c:pt>
                  <c:pt idx="2">
                    <c:v>Fund Legal Structure</c:v>
                  </c:pt>
                  <c:pt idx="3">
                    <c:v>Security Identifier</c:v>
                  </c:pt>
                  <c:pt idx="4">
                    <c:v>Country Registration</c:v>
                  </c:pt>
                  <c:pt idx="5">
                    <c:v>Investment Mandate</c:v>
                  </c:pt>
                  <c:pt idx="6">
                    <c:v>Management Fee</c:v>
                  </c:pt>
                  <c:pt idx="7">
                    <c:v>Investor Transaction Charge</c:v>
                  </c:pt>
                </c:lvl>
              </c:multiLvlStrCache>
            </c:multiLvlStrRef>
          </c:cat>
          <c:val>
            <c:numRef>
              <c:f>Sheet1!$B$2:$B$9</c:f>
              <c:numCache>
                <c:formatCode>General</c:formatCode>
                <c:ptCount val="8"/>
                <c:pt idx="0">
                  <c:v>21</c:v>
                </c:pt>
                <c:pt idx="1">
                  <c:v>9</c:v>
                </c:pt>
                <c:pt idx="2">
                  <c:v>5</c:v>
                </c:pt>
                <c:pt idx="3">
                  <c:v>5</c:v>
                </c:pt>
                <c:pt idx="4">
                  <c:v>5</c:v>
                </c:pt>
                <c:pt idx="5">
                  <c:v>4</c:v>
                </c:pt>
                <c:pt idx="6">
                  <c:v>4</c:v>
                </c:pt>
                <c:pt idx="7">
                  <c:v>4</c:v>
                </c:pt>
              </c:numCache>
            </c:numRef>
          </c:val>
        </c:ser>
        <c:dLbls>
          <c:numFmt formatCode="#,##0" sourceLinked="0"/>
          <c:txPr>
            <a:bodyPr/>
            <a:lstStyle/>
            <a:p>
              <a:pPr>
                <a:defRPr b="0" i="0" strike="noStrike" sz="1200" u="none">
                  <a:solidFill>
                    <a:srgbClr val="0C233C"/>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0C233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walks through the Investment Product data domain. It answers four questions: what is in the domain, what is deliberately left out, how the taxonomy is used, and which data products it helps define. All counts come from the current drafts of the taxonomy, the data product specifications and the gap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short version. Investment Product is the reference data that describes our strategies, products and share classes. It is static, descriptive data. Anything that moves, such as transactions and AUM, or that belongs to another owner, such as clients, is left to the owning domain and referenced by ID. 32 of the 92 specified data products read the domain directly, and 87 of the other 91 depend on its foundational product, DP-004.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taxonomy has four levels: data domain, data family, business object and attribute. Investment Product is one of 14 domains. The purple text shows the path to one attribute, Net Expense Ratio, which we follow to an answer near the end of the deck. For every attribute the taxonomy records its meaning and its owner. It does not hold data values or system field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spine of the domain is strategy, vehicle and share class. A strategy is what we manage, independent of any vehicle. It is implemented by one or more vehicles: a pooled product such as a fund, ETF or CIT, a client mandate, or a model portfolio. Only pooled products issue share classes. Most classification is set at strategy level and inherited. Most commercial terms sit at share class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domain has 14 data families. For this walkthrough they are grouped in three: the spine, which is strategy, vehicle and share class; identity, classification and terms; and operations, distribution and governance, which now includes the market and investment commentary written by the investment teams. The three-way grouping is a presentation aid and is not a level in the taxonomy. The next three slides take each group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spine families hold 92 attributes. Investment Strategy describes the capability and its GIPS composites. Product and Vehicle describes funds, mandates and model portfolios, their legal structure and how products relate to each other, for example feeder to master. Share Class is the unit of investor ownership. Business objects, in bold, have their own key. Attribute groups are sets of attributes held on their parent product or share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families, 110 attributes. Identifiers lets every system and counterparty recognize the same share class. Classification carries the firm's own categories alongside external, regulatory and ESG schemes. Policy and Risk holds the objective, restrictions and risk indicators. Benchmark holds the benchmark master and its assignment to products by role. Fees holds the fee terms and the disclosed cost figures, including gross and net expense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families, 105 attributes. Dealing, Valuation and Listing holds the operational terms an intermediary needs to trade. Parties and Roles records which service providers and portfolio managers serve each product over time. Distribution and Registration records where and to whom a share class may be sold, including the MiFID II target market. Regulatory, Tax and Disclosure holds authorization, documents and tax status. Investment Commentary is the source record of the market and investment commentary the investment teams write for each period; the published pieces stay in Marketing &amp; Digital and client reports in Institutional Client Servicing &amp; Reporting, and both point back to it. Lifecycle and Governance records events such as launches, closures and mergers, and the product review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attribute definition names the standard or source it is aligned to. 183 of the 307 attributes, 60 percent, align to an external standard or regulation. openfunds is the largest single source. 124 attributes are firm-defined because no authoritative external definition exists. 101 attributes take their values from a controlled code list. The exact field-level mapping to openfunds and FinDatEx field IDs is a Phase D task and has not been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Investment Product is reference data about the product. It deliberately leaves out anything that is a transaction or time series, and anything another domain masters. This table shows where each excluded subject lives and the small amount Investment Product keeps so it can point to it. Two subjects have no home yet: the security master for holdings is outside the program's 14 domains, and our own performance returns are an open gap, GAP-01-004.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attribute carries an ownership flag. 287 of the 307 are mastered in Investment Product. 16 are references, which hold only the ID of a record mastered in another domain. 4 are derived copies, shown for convenience and never edited here. Record Metadata, the seven governance attributes such as data owner and system of record, is excluded from every taxonomy view and documented separately by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Specifying and modeling the data products surfaced 20 gaps against Investment Product. Five are resolved. Fifteen are proposed and waiting for a decision: three high priority, three medium and nine low. The six shown here are the high and medium ones. Three of them come from one product, the FinDatEx distributor feed, which needs PRIIPs, ESG and ex-post cost detail the domain does not yet hold. Each gap has a proposed resolution and a decision owner in the gap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taxonomy is used in four ways. First, it is the target that every product source is mapped to. That mapping to the firm's actual systems is Phase D and has not been done. Second, it is the bill of materials for data products: each product lists the exact attributes it uses, and the build fails if one does not exist. Third, product and share class are published once as shared dimensions in the semantic layer. Fourth, the ownership flags and the 99 proposed critical data elements tell stewards where to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DP-004, Product and Share Class Distribution Reference, is the foundational data product for this domain. It takes 97 attributes from 20 of the 48 objects and conforms identifiers and source system codes once, so that transactions, positions, agreements, shelf placements and reports all refer to the same share class. 69 other products name it as a direct upstream, and 87 of the other 91 depend on it directly or indirectly. Lifecycle events that are approved but not yet announced are withheld until the announcement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of the 92 specified data products list Investment Product objects among their inputs: 2 foundational and 30 consumer-aligned. 46 of the 48 objects are used by at least one product; the two that are not are the new commentary objects, which no product reads yet. 242 of the 307 attributes, 79 percent, appear in a product specification. Share Class is by far the most used object, read by 21 products. Regulatory and control products are the largest group, which reflects how much product data regulators require distributors and manufacturers to exchange.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data products have Investment Product as their owning domain. DP-004 is the foundational reference. The other four are consumer-aligned: operational terms for intermediaries, the FinDatEx distributor feed for the EEA and UK, launch readiness tracking, and pricing and fee waiver analytics. The bar on the right shows how many of each product's input attributes come from Investment Product. The rest come from other domains, for example partner set-up from Distribution Agreements &amp; Partners or peer fees from Market &amp; Competitive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further 27 products are owned by other domains but read Investment Product attributes directly. They are grouped here by the business function they serve. Compliance and product governance is the largest group. Beyond these, 56 more products take product and share class only through DP-004, without reading the domain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this concrete, follow one attribute. Net Expense Ratio is defined once in Investment Product, in the Cost Disclosure object. DP-004 carries it per share class. DP-030 and DP-059 compare it with the peer median fee, which Market &amp; Competitive Intelligence masters, and neither restates our fee. The semantic model SM-06 publishes the resulting metric, Fee Gap to Peer Median, from DP-030. The same metric then answers the dashboard and a plain-English question. The companion deck, Taxonomy Talk Through Investment Product, walks this question level by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shape the domain's boundary and are still open. Two concern fees: who owns the fund advisory agreement, and whether to add a versioned fee schedule. One concerns performance returns, and one how portfolio managers are referenced. The next steps on the right come from the taxonomy's own plan: validate with the business, map to source systems in Phase D, map to standard field IDs, confirm owners and stewards, and triage the open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C233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6583680" cy="274320"/>
          </a:xfrm>
          <a:prstGeom prst="rect">
            <a:avLst/>
          </a:prstGeom>
          <a:noFill/>
          <a:ln/>
        </p:spPr>
        <p:txBody>
          <a:bodyPr wrap="square" rtlCol="0"/>
          <a:lstStyle>
            <a:lvl1pPr indent="0" marL="0">
              <a:buNone/>
              <a:defRPr lang="en-US" sz="1200" b="1" spc="150" kern="0" dirty="0">
                <a:solidFill>
                  <a:schemeClr val="accent6"/>
                </a:solidFill>
              </a:defRPr>
            </a:lvl1pPr>
          </a:lstStyle>
          <a:p>
            <a:pPr indent="0" marL="0">
              <a:buNone/>
            </a:pPr>
            <a:endParaRPr lang="en-US" sz="1200" dirty="0"/>
          </a:p>
        </p:txBody>
      </p:sp>
      <p:sp>
        <p:nvSpPr>
          <p:cNvPr id="3" name="Text 0"/>
          <p:cNvSpPr/>
          <p:nvPr>
            <p:ph idx="101" type="title" hasCustomPrompt="1"/>
          </p:nvPr>
        </p:nvSpPr>
        <p:spPr>
          <a:xfrm>
            <a:off x="548640" y="1828800"/>
            <a:ext cx="6583680" cy="20116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548640" y="3977640"/>
            <a:ext cx="6400800" cy="100584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5" name="Text 0"/>
          <p:cNvSpPr/>
          <p:nvPr/>
        </p:nvSpPr>
        <p:spPr>
          <a:xfrm>
            <a:off x="548640" y="6035040"/>
            <a:ext cx="8229600" cy="274320"/>
          </a:xfrm>
          <a:prstGeom prst="rect">
            <a:avLst/>
          </a:prstGeom>
          <a:noFill/>
          <a:ln/>
        </p:spPr>
        <p:txBody>
          <a:bodyPr wrap="square" lIns="0" tIns="0" rIns="0" bIns="0" rtlCol="0" anchor="ctr"/>
          <a:lstStyle/>
          <a:p>
            <a:pPr indent="0" marL="0">
              <a:buNone/>
            </a:pPr>
            <a:r>
              <a:rPr lang="en-US" sz="1200" dirty="0">
                <a:solidFill>
                  <a:schemeClr val="accent6"/>
                </a:solidFill>
              </a:rPr>
              <a:t>Distribution Data Taxonomy Program  |  Draft, October 2026  |  Counts are taken from the current drafts</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rtlCol="0"/>
          <a:lstStyle>
            <a:lvl1pPr indent="0" marL="0">
              <a:buNone/>
              <a:defRPr lang="en-US" sz="1200" b="1" spc="15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Investment Product taxonomy walkthrough  |  Draft,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6583680" cy="274320"/>
          </a:xfrm>
          <a:prstGeom prst="rect">
            <a:avLst/>
          </a:prstGeom>
          <a:noFill/>
          <a:ln/>
        </p:spPr>
        <p:txBody>
          <a:bodyPr wrap="square" lIns="0" tIns="0" rIns="0" bIns="0" rtlCol="0" anchor="ctr"/>
          <a:lstStyle/>
          <a:p>
            <a:pPr indent="0" marL="0">
              <a:buNone/>
            </a:pPr>
            <a:r>
              <a:rPr lang="en-US" sz="1200" b="1" spc="150" kern="0" dirty="0">
                <a:solidFill>
                  <a:schemeClr val="accent6"/>
                </a:solidFill>
              </a:rPr>
              <a:t>DATA DOMAIN  |  INVESTMENT PRODUCT</a:t>
            </a:r>
            <a:endParaRPr lang="en-US" sz="1200" dirty="0"/>
          </a:p>
        </p:txBody>
      </p:sp>
      <p:sp>
        <p:nvSpPr>
          <p:cNvPr id="3" name="Text 0"/>
          <p:cNvSpPr/>
          <p:nvPr>
            <p:ph idx="101" type="title" hasCustomPrompt="1"/>
          </p:nvPr>
        </p:nvSpPr>
        <p:spPr>
          <a:xfrm>
            <a:off x="548640" y="1828800"/>
            <a:ext cx="6583680" cy="2011680"/>
          </a:xfrm>
          <a:prstGeom prst="rect">
            <a:avLst/>
          </a:prstGeom>
          <a:noFill/>
          <a:ln/>
        </p:spPr>
        <p:txBody>
          <a:bodyPr wrap="square" lIns="0" tIns="0" rIns="0" bIns="0" rtlCol="0" anchor="t"/>
          <a:lstStyle/>
          <a:p>
            <a:pPr algn="l" indent="0" marL="0">
              <a:buNone/>
            </a:pPr>
            <a:r>
              <a:rPr lang="en-US" sz="4400" b="1" dirty="0">
                <a:solidFill>
                  <a:schemeClr val="bg1"/>
                </a:solidFill>
              </a:rPr>
              <a:t>The Investment Product taxonomy: a walkthrough</a:t>
            </a:r>
            <a:endParaRPr lang="en-US" sz="4400" dirty="0"/>
          </a:p>
        </p:txBody>
      </p:sp>
      <p:sp>
        <p:nvSpPr>
          <p:cNvPr id="4" name="Text 0"/>
          <p:cNvSpPr/>
          <p:nvPr>
            <p:ph idx="102" type="body" hasCustomPrompt="1"/>
          </p:nvPr>
        </p:nvSpPr>
        <p:spPr>
          <a:xfrm>
            <a:off x="548640" y="3977640"/>
            <a:ext cx="6400800" cy="1005840"/>
          </a:xfrm>
          <a:prstGeom prst="rect">
            <a:avLst/>
          </a:prstGeom>
          <a:noFill/>
          <a:ln/>
        </p:spPr>
        <p:txBody>
          <a:bodyPr wrap="square" lIns="0" tIns="0" rIns="0" bIns="0" rtlCol="0" anchor="t"/>
          <a:lstStyle/>
          <a:p>
            <a:pPr indent="0" marL="0">
              <a:buNone/>
            </a:pPr>
            <a:r>
              <a:rPr lang="en-US" sz="1800" dirty="0">
                <a:solidFill>
                  <a:schemeClr val="bg1"/>
                </a:solidFill>
              </a:rPr>
              <a:t>What the domain includes, what it leaves out, how it is used, and the data products it helps define</a:t>
            </a:r>
            <a:endParaRPr lang="en-US" sz="1800" dirty="0"/>
          </a:p>
        </p:txBody>
      </p:sp>
      <p:sp>
        <p:nvSpPr>
          <p:cNvPr id="5" name="Shape 3"/>
          <p:cNvSpPr/>
          <p:nvPr/>
        </p:nvSpPr>
        <p:spPr>
          <a:xfrm>
            <a:off x="8138160" y="1554480"/>
            <a:ext cx="3291840" cy="960120"/>
          </a:xfrm>
          <a:prstGeom prst="roundRect">
            <a:avLst>
              <a:gd name="adj" fmla="val 7619"/>
            </a:avLst>
          </a:prstGeom>
          <a:solidFill>
            <a:schemeClr val="accent1"/>
          </a:solidFill>
          <a:ln/>
        </p:spPr>
      </p:sp>
      <p:sp>
        <p:nvSpPr>
          <p:cNvPr id="6" name="Text 4"/>
          <p:cNvSpPr txBox="1"/>
          <p:nvPr/>
        </p:nvSpPr>
        <p:spPr>
          <a:xfrm>
            <a:off x="8412480" y="1719072"/>
            <a:ext cx="2743200" cy="347472"/>
          </a:xfrm>
          <a:prstGeom prst="rect">
            <a:avLst/>
          </a:prstGeom>
          <a:noFill/>
          <a:ln/>
        </p:spPr>
        <p:txBody>
          <a:bodyPr wrap="square" lIns="0" tIns="0" rIns="0" bIns="0" rtlCol="0" anchor="ctr"/>
          <a:lstStyle/>
          <a:p>
            <a:pPr algn="l" indent="0" marL="0">
              <a:buNone/>
            </a:pPr>
            <a:r>
              <a:rPr lang="en-US" sz="1800" b="1" dirty="0">
                <a:solidFill>
                  <a:schemeClr val="bg1"/>
                </a:solidFill>
              </a:rPr>
              <a:t>Investment Strategy</a:t>
            </a:r>
            <a:endParaRPr lang="en-US" sz="1800" dirty="0"/>
          </a:p>
        </p:txBody>
      </p:sp>
      <p:sp>
        <p:nvSpPr>
          <p:cNvPr id="7" name="Text 5"/>
          <p:cNvSpPr txBox="1"/>
          <p:nvPr/>
        </p:nvSpPr>
        <p:spPr>
          <a:xfrm>
            <a:off x="8412480" y="2066544"/>
            <a:ext cx="2743200" cy="274320"/>
          </a:xfrm>
          <a:prstGeom prst="rect">
            <a:avLst/>
          </a:prstGeom>
          <a:noFill/>
          <a:ln/>
        </p:spPr>
        <p:txBody>
          <a:bodyPr wrap="square" lIns="0" tIns="0" rIns="0" bIns="0" rtlCol="0" anchor="ctr"/>
          <a:lstStyle/>
          <a:p>
            <a:pPr algn="l" indent="0" marL="0">
              <a:buNone/>
            </a:pPr>
            <a:r>
              <a:rPr lang="en-US" sz="1300" dirty="0">
                <a:solidFill>
                  <a:schemeClr val="bg1"/>
                </a:solidFill>
              </a:rPr>
              <a:t>What we manage</a:t>
            </a:r>
            <a:endParaRPr lang="en-US" sz="1300" dirty="0"/>
          </a:p>
        </p:txBody>
      </p:sp>
      <p:sp>
        <p:nvSpPr>
          <p:cNvPr id="8" name="Shape 6"/>
          <p:cNvSpPr/>
          <p:nvPr/>
        </p:nvSpPr>
        <p:spPr>
          <a:xfrm>
            <a:off x="9784080" y="2514600"/>
            <a:ext cx="0" cy="411480"/>
          </a:xfrm>
          <a:prstGeom prst="line">
            <a:avLst/>
          </a:prstGeom>
          <a:noFill/>
          <a:ln w="19050">
            <a:solidFill>
              <a:schemeClr val="accent6"/>
            </a:solidFill>
            <a:prstDash val="solid"/>
            <a:tailEnd type="triangle"/>
          </a:ln>
        </p:spPr>
      </p:sp>
      <p:sp>
        <p:nvSpPr>
          <p:cNvPr id="9" name="Shape 7"/>
          <p:cNvSpPr/>
          <p:nvPr/>
        </p:nvSpPr>
        <p:spPr>
          <a:xfrm>
            <a:off x="8138160" y="2926080"/>
            <a:ext cx="3291840" cy="960120"/>
          </a:xfrm>
          <a:prstGeom prst="roundRect">
            <a:avLst>
              <a:gd name="adj" fmla="val 7619"/>
            </a:avLst>
          </a:prstGeom>
          <a:solidFill>
            <a:schemeClr val="accent2"/>
          </a:solidFill>
          <a:ln/>
        </p:spPr>
      </p:sp>
      <p:sp>
        <p:nvSpPr>
          <p:cNvPr id="10" name="Text 8"/>
          <p:cNvSpPr txBox="1"/>
          <p:nvPr/>
        </p:nvSpPr>
        <p:spPr>
          <a:xfrm>
            <a:off x="8412480" y="3090672"/>
            <a:ext cx="2743200" cy="347472"/>
          </a:xfrm>
          <a:prstGeom prst="rect">
            <a:avLst/>
          </a:prstGeom>
          <a:noFill/>
          <a:ln/>
        </p:spPr>
        <p:txBody>
          <a:bodyPr wrap="square" lIns="0" tIns="0" rIns="0" bIns="0" rtlCol="0" anchor="ctr"/>
          <a:lstStyle/>
          <a:p>
            <a:pPr algn="l" indent="0" marL="0">
              <a:buNone/>
            </a:pPr>
            <a:r>
              <a:rPr lang="en-US" sz="1800" b="1" dirty="0">
                <a:solidFill>
                  <a:schemeClr val="bg1"/>
                </a:solidFill>
              </a:rPr>
              <a:t>Product &amp; Vehicle</a:t>
            </a:r>
            <a:endParaRPr lang="en-US" sz="1800" dirty="0"/>
          </a:p>
        </p:txBody>
      </p:sp>
      <p:sp>
        <p:nvSpPr>
          <p:cNvPr id="11" name="Text 9"/>
          <p:cNvSpPr txBox="1"/>
          <p:nvPr/>
        </p:nvSpPr>
        <p:spPr>
          <a:xfrm>
            <a:off x="8412480" y="3438144"/>
            <a:ext cx="2743200" cy="274320"/>
          </a:xfrm>
          <a:prstGeom prst="rect">
            <a:avLst/>
          </a:prstGeom>
          <a:noFill/>
          <a:ln/>
        </p:spPr>
        <p:txBody>
          <a:bodyPr wrap="square" lIns="0" tIns="0" rIns="0" bIns="0" rtlCol="0" anchor="ctr"/>
          <a:lstStyle/>
          <a:p>
            <a:pPr algn="l" indent="0" marL="0">
              <a:buNone/>
            </a:pPr>
            <a:r>
              <a:rPr lang="en-US" sz="1300" dirty="0">
                <a:solidFill>
                  <a:schemeClr val="bg1"/>
                </a:solidFill>
              </a:rPr>
              <a:t>How it is packaged</a:t>
            </a:r>
            <a:endParaRPr lang="en-US" sz="1300" dirty="0"/>
          </a:p>
        </p:txBody>
      </p:sp>
      <p:sp>
        <p:nvSpPr>
          <p:cNvPr id="12" name="Shape 10"/>
          <p:cNvSpPr/>
          <p:nvPr/>
        </p:nvSpPr>
        <p:spPr>
          <a:xfrm>
            <a:off x="9784080" y="3886200"/>
            <a:ext cx="0" cy="411480"/>
          </a:xfrm>
          <a:prstGeom prst="line">
            <a:avLst/>
          </a:prstGeom>
          <a:noFill/>
          <a:ln w="19050">
            <a:solidFill>
              <a:schemeClr val="accent6"/>
            </a:solidFill>
            <a:prstDash val="solid"/>
            <a:tailEnd type="triangle"/>
          </a:ln>
        </p:spPr>
      </p:sp>
      <p:sp>
        <p:nvSpPr>
          <p:cNvPr id="13" name="Shape 11"/>
          <p:cNvSpPr/>
          <p:nvPr/>
        </p:nvSpPr>
        <p:spPr>
          <a:xfrm>
            <a:off x="8138160" y="4297680"/>
            <a:ext cx="3291840" cy="960120"/>
          </a:xfrm>
          <a:prstGeom prst="roundRect">
            <a:avLst>
              <a:gd name="adj" fmla="val 7619"/>
            </a:avLst>
          </a:prstGeom>
          <a:solidFill>
            <a:schemeClr val="accent4"/>
          </a:solidFill>
          <a:ln/>
        </p:spPr>
      </p:sp>
      <p:sp>
        <p:nvSpPr>
          <p:cNvPr id="14" name="Text 12"/>
          <p:cNvSpPr txBox="1"/>
          <p:nvPr/>
        </p:nvSpPr>
        <p:spPr>
          <a:xfrm>
            <a:off x="8412480" y="4462272"/>
            <a:ext cx="2743200" cy="347472"/>
          </a:xfrm>
          <a:prstGeom prst="rect">
            <a:avLst/>
          </a:prstGeom>
          <a:noFill/>
          <a:ln/>
        </p:spPr>
        <p:txBody>
          <a:bodyPr wrap="square" lIns="0" tIns="0" rIns="0" bIns="0" rtlCol="0" anchor="ctr"/>
          <a:lstStyle/>
          <a:p>
            <a:pPr algn="l" indent="0" marL="0">
              <a:buNone/>
            </a:pPr>
            <a:r>
              <a:rPr lang="en-US" sz="1800" b="1" dirty="0">
                <a:solidFill>
                  <a:schemeClr val="bg1"/>
                </a:solidFill>
              </a:rPr>
              <a:t>Share Class</a:t>
            </a:r>
            <a:endParaRPr lang="en-US" sz="1800" dirty="0"/>
          </a:p>
        </p:txBody>
      </p:sp>
      <p:sp>
        <p:nvSpPr>
          <p:cNvPr id="15" name="Text 13"/>
          <p:cNvSpPr txBox="1"/>
          <p:nvPr/>
        </p:nvSpPr>
        <p:spPr>
          <a:xfrm>
            <a:off x="8412480" y="4809744"/>
            <a:ext cx="2743200" cy="274320"/>
          </a:xfrm>
          <a:prstGeom prst="rect">
            <a:avLst/>
          </a:prstGeom>
          <a:noFill/>
          <a:ln/>
        </p:spPr>
        <p:txBody>
          <a:bodyPr wrap="square" lIns="0" tIns="0" rIns="0" bIns="0" rtlCol="0" anchor="ctr"/>
          <a:lstStyle/>
          <a:p>
            <a:pPr algn="l" indent="0" marL="0">
              <a:buNone/>
            </a:pPr>
            <a:r>
              <a:rPr lang="en-US" sz="1300" dirty="0">
                <a:solidFill>
                  <a:schemeClr val="bg1"/>
                </a:solidFill>
              </a:rPr>
              <a:t>How investors own it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SUMMARY</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This domain defines what we sell, once</a:t>
            </a:r>
            <a:endParaRPr lang="en-US" sz="3600" dirty="0"/>
          </a:p>
        </p:txBody>
      </p:sp>
      <p:sp>
        <p:nvSpPr>
          <p:cNvPr id="5" name="Shape 2"/>
          <p:cNvSpPr/>
          <p:nvPr/>
        </p:nvSpPr>
        <p:spPr>
          <a:xfrm>
            <a:off x="548640" y="1783080"/>
            <a:ext cx="2651760" cy="4434840"/>
          </a:xfrm>
          <a:prstGeom prst="roundRect">
            <a:avLst>
              <a:gd name="adj" fmla="val 2759"/>
            </a:avLst>
          </a:prstGeom>
          <a:solidFill>
            <a:schemeClr val="tx1"/>
          </a:solidFill>
          <a:ln/>
        </p:spPr>
      </p:sp>
      <p:sp>
        <p:nvSpPr>
          <p:cNvPr id="6" name="Text 3"/>
          <p:cNvSpPr txBox="1"/>
          <p:nvPr/>
        </p:nvSpPr>
        <p:spPr>
          <a:xfrm>
            <a:off x="822960" y="2011680"/>
            <a:ext cx="2103120" cy="548640"/>
          </a:xfrm>
          <a:prstGeom prst="rect">
            <a:avLst/>
          </a:prstGeom>
          <a:noFill/>
          <a:ln/>
        </p:spPr>
        <p:txBody>
          <a:bodyPr wrap="square" lIns="0" tIns="0" rIns="0" bIns="0" rtlCol="0" anchor="ctr"/>
          <a:lstStyle/>
          <a:p>
            <a:pPr algn="l" indent="0" marL="0">
              <a:buNone/>
            </a:pPr>
            <a:r>
              <a:rPr lang="en-US" sz="3600" b="1" dirty="0">
                <a:solidFill>
                  <a:schemeClr val="accent6"/>
                </a:solidFill>
              </a:rPr>
              <a:t>14</a:t>
            </a:r>
            <a:endParaRPr lang="en-US" sz="3600" dirty="0"/>
          </a:p>
        </p:txBody>
      </p:sp>
      <p:sp>
        <p:nvSpPr>
          <p:cNvPr id="7" name="Text 4"/>
          <p:cNvSpPr txBox="1"/>
          <p:nvPr/>
        </p:nvSpPr>
        <p:spPr>
          <a:xfrm>
            <a:off x="822960" y="2560320"/>
            <a:ext cx="2103120" cy="274320"/>
          </a:xfrm>
          <a:prstGeom prst="rect">
            <a:avLst/>
          </a:prstGeom>
          <a:noFill/>
          <a:ln/>
        </p:spPr>
        <p:txBody>
          <a:bodyPr wrap="square" lIns="0" tIns="0" rIns="0" bIns="0" rtlCol="0" anchor="ctr"/>
          <a:lstStyle/>
          <a:p>
            <a:pPr algn="l" indent="0" marL="0">
              <a:buNone/>
            </a:pPr>
            <a:r>
              <a:rPr lang="en-US" sz="1300" dirty="0">
                <a:solidFill>
                  <a:schemeClr val="bg1"/>
                </a:solidFill>
              </a:rPr>
              <a:t>data families</a:t>
            </a:r>
            <a:endParaRPr lang="en-US" sz="1300" dirty="0"/>
          </a:p>
        </p:txBody>
      </p:sp>
      <p:sp>
        <p:nvSpPr>
          <p:cNvPr id="8" name="Text 5"/>
          <p:cNvSpPr txBox="1"/>
          <p:nvPr/>
        </p:nvSpPr>
        <p:spPr>
          <a:xfrm>
            <a:off x="822960" y="3044952"/>
            <a:ext cx="2103120" cy="548640"/>
          </a:xfrm>
          <a:prstGeom prst="rect">
            <a:avLst/>
          </a:prstGeom>
          <a:noFill/>
          <a:ln/>
        </p:spPr>
        <p:txBody>
          <a:bodyPr wrap="square" lIns="0" tIns="0" rIns="0" bIns="0" rtlCol="0" anchor="ctr"/>
          <a:lstStyle/>
          <a:p>
            <a:pPr algn="l" indent="0" marL="0">
              <a:buNone/>
            </a:pPr>
            <a:r>
              <a:rPr lang="en-US" sz="3600" b="1" dirty="0">
                <a:solidFill>
                  <a:schemeClr val="accent6"/>
                </a:solidFill>
              </a:rPr>
              <a:t>48</a:t>
            </a:r>
            <a:endParaRPr lang="en-US" sz="3600" dirty="0"/>
          </a:p>
        </p:txBody>
      </p:sp>
      <p:sp>
        <p:nvSpPr>
          <p:cNvPr id="9" name="Text 6"/>
          <p:cNvSpPr txBox="1"/>
          <p:nvPr/>
        </p:nvSpPr>
        <p:spPr>
          <a:xfrm>
            <a:off x="822960" y="3593592"/>
            <a:ext cx="2103120" cy="274320"/>
          </a:xfrm>
          <a:prstGeom prst="rect">
            <a:avLst/>
          </a:prstGeom>
          <a:noFill/>
          <a:ln/>
        </p:spPr>
        <p:txBody>
          <a:bodyPr wrap="square" lIns="0" tIns="0" rIns="0" bIns="0" rtlCol="0" anchor="ctr"/>
          <a:lstStyle/>
          <a:p>
            <a:pPr algn="l" indent="0" marL="0">
              <a:buNone/>
            </a:pPr>
            <a:r>
              <a:rPr lang="en-US" sz="1300" dirty="0">
                <a:solidFill>
                  <a:schemeClr val="bg1"/>
                </a:solidFill>
              </a:rPr>
              <a:t>objects</a:t>
            </a:r>
            <a:endParaRPr lang="en-US" sz="1300" dirty="0"/>
          </a:p>
        </p:txBody>
      </p:sp>
      <p:sp>
        <p:nvSpPr>
          <p:cNvPr id="10" name="Text 7"/>
          <p:cNvSpPr txBox="1"/>
          <p:nvPr/>
        </p:nvSpPr>
        <p:spPr>
          <a:xfrm>
            <a:off x="822960" y="4078224"/>
            <a:ext cx="2103120" cy="548640"/>
          </a:xfrm>
          <a:prstGeom prst="rect">
            <a:avLst/>
          </a:prstGeom>
          <a:noFill/>
          <a:ln/>
        </p:spPr>
        <p:txBody>
          <a:bodyPr wrap="square" lIns="0" tIns="0" rIns="0" bIns="0" rtlCol="0" anchor="ctr"/>
          <a:lstStyle/>
          <a:p>
            <a:pPr algn="l" indent="0" marL="0">
              <a:buNone/>
            </a:pPr>
            <a:r>
              <a:rPr lang="en-US" sz="3600" b="1" dirty="0">
                <a:solidFill>
                  <a:schemeClr val="accent6"/>
                </a:solidFill>
              </a:rPr>
              <a:t>307</a:t>
            </a:r>
            <a:endParaRPr lang="en-US" sz="3600" dirty="0"/>
          </a:p>
        </p:txBody>
      </p:sp>
      <p:sp>
        <p:nvSpPr>
          <p:cNvPr id="11" name="Text 8"/>
          <p:cNvSpPr txBox="1"/>
          <p:nvPr/>
        </p:nvSpPr>
        <p:spPr>
          <a:xfrm>
            <a:off x="822960" y="4626864"/>
            <a:ext cx="2103120" cy="274320"/>
          </a:xfrm>
          <a:prstGeom prst="rect">
            <a:avLst/>
          </a:prstGeom>
          <a:noFill/>
          <a:ln/>
        </p:spPr>
        <p:txBody>
          <a:bodyPr wrap="square" lIns="0" tIns="0" rIns="0" bIns="0" rtlCol="0" anchor="ctr"/>
          <a:lstStyle/>
          <a:p>
            <a:pPr algn="l" indent="0" marL="0">
              <a:buNone/>
            </a:pPr>
            <a:r>
              <a:rPr lang="en-US" sz="1300" dirty="0">
                <a:solidFill>
                  <a:schemeClr val="bg1"/>
                </a:solidFill>
              </a:rPr>
              <a:t>attributes</a:t>
            </a:r>
            <a:endParaRPr lang="en-US" sz="1300" dirty="0"/>
          </a:p>
        </p:txBody>
      </p:sp>
      <p:sp>
        <p:nvSpPr>
          <p:cNvPr id="12" name="Text 9"/>
          <p:cNvSpPr txBox="1"/>
          <p:nvPr/>
        </p:nvSpPr>
        <p:spPr>
          <a:xfrm>
            <a:off x="822960" y="5111496"/>
            <a:ext cx="2103120" cy="548640"/>
          </a:xfrm>
          <a:prstGeom prst="rect">
            <a:avLst/>
          </a:prstGeom>
          <a:noFill/>
          <a:ln/>
        </p:spPr>
        <p:txBody>
          <a:bodyPr wrap="square" lIns="0" tIns="0" rIns="0" bIns="0" rtlCol="0" anchor="ctr"/>
          <a:lstStyle/>
          <a:p>
            <a:pPr algn="l" indent="0" marL="0">
              <a:buNone/>
            </a:pPr>
            <a:r>
              <a:rPr lang="en-US" sz="3600" b="1" dirty="0">
                <a:solidFill>
                  <a:schemeClr val="accent6"/>
                </a:solidFill>
              </a:rPr>
              <a:t>99</a:t>
            </a:r>
            <a:endParaRPr lang="en-US" sz="3600" dirty="0"/>
          </a:p>
        </p:txBody>
      </p:sp>
      <p:sp>
        <p:nvSpPr>
          <p:cNvPr id="13" name="Text 10"/>
          <p:cNvSpPr txBox="1"/>
          <p:nvPr/>
        </p:nvSpPr>
        <p:spPr>
          <a:xfrm>
            <a:off x="822960" y="5660136"/>
            <a:ext cx="2103120" cy="274320"/>
          </a:xfrm>
          <a:prstGeom prst="rect">
            <a:avLst/>
          </a:prstGeom>
          <a:noFill/>
          <a:ln/>
        </p:spPr>
        <p:txBody>
          <a:bodyPr wrap="square" lIns="0" tIns="0" rIns="0" bIns="0" rtlCol="0" anchor="ctr"/>
          <a:lstStyle/>
          <a:p>
            <a:pPr algn="l" indent="0" marL="0">
              <a:buNone/>
            </a:pPr>
            <a:r>
              <a:rPr lang="en-US" sz="1300" dirty="0">
                <a:solidFill>
                  <a:schemeClr val="bg1"/>
                </a:solidFill>
              </a:rPr>
              <a:t>proposed critical data elements</a:t>
            </a:r>
            <a:endParaRPr lang="en-US" sz="1300" dirty="0"/>
          </a:p>
        </p:txBody>
      </p:sp>
      <p:sp>
        <p:nvSpPr>
          <p:cNvPr id="14" name="Shape 11"/>
          <p:cNvSpPr/>
          <p:nvPr/>
        </p:nvSpPr>
        <p:spPr>
          <a:xfrm>
            <a:off x="3474720" y="1783080"/>
            <a:ext cx="3945636" cy="2080260"/>
          </a:xfrm>
          <a:prstGeom prst="roundRect">
            <a:avLst>
              <a:gd name="adj" fmla="val 3516"/>
            </a:avLst>
          </a:prstGeom>
          <a:solidFill>
            <a:schemeClr val="bg2"/>
          </a:solidFill>
          <a:ln/>
        </p:spPr>
      </p:sp>
      <p:sp>
        <p:nvSpPr>
          <p:cNvPr id="15" name="Text 12"/>
          <p:cNvSpPr/>
          <p:nvPr/>
        </p:nvSpPr>
        <p:spPr>
          <a:xfrm>
            <a:off x="3703320" y="201168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4224528" y="2011680"/>
            <a:ext cx="2985516" cy="384048"/>
          </a:xfrm>
          <a:prstGeom prst="rect">
            <a:avLst/>
          </a:prstGeom>
          <a:noFill/>
          <a:ln/>
        </p:spPr>
        <p:txBody>
          <a:bodyPr wrap="square" lIns="0" tIns="0" rIns="0" bIns="0" rtlCol="0" anchor="ctr"/>
          <a:lstStyle/>
          <a:p>
            <a:pPr algn="l" indent="0" marL="0">
              <a:buNone/>
            </a:pPr>
            <a:r>
              <a:rPr lang="en-US" sz="1600" b="1" dirty="0">
                <a:solidFill>
                  <a:schemeClr val="tx1"/>
                </a:solidFill>
              </a:rPr>
              <a:t>What is included</a:t>
            </a:r>
            <a:endParaRPr lang="en-US" sz="1600" dirty="0"/>
          </a:p>
        </p:txBody>
      </p:sp>
      <p:sp>
        <p:nvSpPr>
          <p:cNvPr id="17" name="Text 14"/>
          <p:cNvSpPr txBox="1"/>
          <p:nvPr/>
        </p:nvSpPr>
        <p:spPr>
          <a:xfrm>
            <a:off x="3703320" y="2560320"/>
            <a:ext cx="3488436" cy="1143000"/>
          </a:xfrm>
          <a:prstGeom prst="rect">
            <a:avLst/>
          </a:prstGeom>
          <a:noFill/>
          <a:ln/>
        </p:spPr>
        <p:txBody>
          <a:bodyPr wrap="square" lIns="0" tIns="0" rIns="0" bIns="0" rtlCol="0" anchor="t"/>
          <a:lstStyle/>
          <a:p>
            <a:pPr algn="l" indent="0" marL="0">
              <a:buNone/>
            </a:pPr>
            <a:r>
              <a:rPr lang="en-US" sz="1300" dirty="0">
                <a:solidFill>
                  <a:schemeClr val="tx1"/>
                </a:solidFill>
              </a:rPr>
              <a:t>Strategies, products and vehicles, share classes, and the reference data that describes them: identifiers, classifications, fees, dealing terms, registrations, documents, commentary and lifecycle.</a:t>
            </a:r>
            <a:endParaRPr lang="en-US" sz="1300" dirty="0"/>
          </a:p>
        </p:txBody>
      </p:sp>
      <p:sp>
        <p:nvSpPr>
          <p:cNvPr id="18" name="Shape 15"/>
          <p:cNvSpPr/>
          <p:nvPr/>
        </p:nvSpPr>
        <p:spPr>
          <a:xfrm>
            <a:off x="7694676" y="1783080"/>
            <a:ext cx="3945636" cy="2080260"/>
          </a:xfrm>
          <a:prstGeom prst="roundRect">
            <a:avLst>
              <a:gd name="adj" fmla="val 3516"/>
            </a:avLst>
          </a:prstGeom>
          <a:solidFill>
            <a:schemeClr val="bg2"/>
          </a:solidFill>
          <a:ln/>
        </p:spPr>
      </p:sp>
      <p:sp>
        <p:nvSpPr>
          <p:cNvPr id="19" name="Text 16"/>
          <p:cNvSpPr/>
          <p:nvPr/>
        </p:nvSpPr>
        <p:spPr>
          <a:xfrm>
            <a:off x="7923276" y="2011680"/>
            <a:ext cx="384048" cy="384048"/>
          </a:xfrm>
          <a:prstGeom prst="ellipse">
            <a:avLst/>
          </a:prstGeom>
          <a:solidFill>
            <a:schemeClr val="accent4"/>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Text 17"/>
          <p:cNvSpPr txBox="1"/>
          <p:nvPr/>
        </p:nvSpPr>
        <p:spPr>
          <a:xfrm>
            <a:off x="8444484" y="2011680"/>
            <a:ext cx="2985516" cy="384048"/>
          </a:xfrm>
          <a:prstGeom prst="rect">
            <a:avLst/>
          </a:prstGeom>
          <a:noFill/>
          <a:ln/>
        </p:spPr>
        <p:txBody>
          <a:bodyPr wrap="square" lIns="0" tIns="0" rIns="0" bIns="0" rtlCol="0" anchor="ctr"/>
          <a:lstStyle/>
          <a:p>
            <a:pPr algn="l" indent="0" marL="0">
              <a:buNone/>
            </a:pPr>
            <a:r>
              <a:rPr lang="en-US" sz="1600" b="1" dirty="0">
                <a:solidFill>
                  <a:schemeClr val="tx1"/>
                </a:solidFill>
              </a:rPr>
              <a:t>What is excluded</a:t>
            </a:r>
            <a:endParaRPr lang="en-US" sz="1600" dirty="0"/>
          </a:p>
        </p:txBody>
      </p:sp>
      <p:sp>
        <p:nvSpPr>
          <p:cNvPr id="21" name="Text 18"/>
          <p:cNvSpPr txBox="1"/>
          <p:nvPr/>
        </p:nvSpPr>
        <p:spPr>
          <a:xfrm>
            <a:off x="7923276" y="2560320"/>
            <a:ext cx="3488436" cy="1143000"/>
          </a:xfrm>
          <a:prstGeom prst="rect">
            <a:avLst/>
          </a:prstGeom>
          <a:noFill/>
          <a:ln/>
        </p:spPr>
        <p:txBody>
          <a:bodyPr wrap="square" lIns="0" tIns="0" rIns="0" bIns="0" rtlCol="0" anchor="t"/>
          <a:lstStyle/>
          <a:p>
            <a:pPr algn="l" indent="0" marL="0">
              <a:buNone/>
            </a:pPr>
            <a:r>
              <a:rPr lang="en-US" sz="1300" dirty="0">
                <a:solidFill>
                  <a:schemeClr val="tx1"/>
                </a:solidFill>
              </a:rPr>
              <a:t>Anything that moves or has another owner: transactions, flows, AUM and returns; clients and other parties; agreements and shelf status; the security master for holdings.</a:t>
            </a:r>
            <a:endParaRPr lang="en-US" sz="1300" dirty="0"/>
          </a:p>
        </p:txBody>
      </p:sp>
      <p:sp>
        <p:nvSpPr>
          <p:cNvPr id="22" name="Shape 19"/>
          <p:cNvSpPr/>
          <p:nvPr/>
        </p:nvSpPr>
        <p:spPr>
          <a:xfrm>
            <a:off x="3474720" y="4137660"/>
            <a:ext cx="3945636" cy="2080260"/>
          </a:xfrm>
          <a:prstGeom prst="roundRect">
            <a:avLst>
              <a:gd name="adj" fmla="val 3516"/>
            </a:avLst>
          </a:prstGeom>
          <a:solidFill>
            <a:schemeClr val="bg2"/>
          </a:solidFill>
          <a:ln/>
        </p:spPr>
      </p:sp>
      <p:sp>
        <p:nvSpPr>
          <p:cNvPr id="23" name="Text 20"/>
          <p:cNvSpPr/>
          <p:nvPr/>
        </p:nvSpPr>
        <p:spPr>
          <a:xfrm>
            <a:off x="3703320" y="4366260"/>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4" name="Text 21"/>
          <p:cNvSpPr txBox="1"/>
          <p:nvPr/>
        </p:nvSpPr>
        <p:spPr>
          <a:xfrm>
            <a:off x="4224528" y="4366260"/>
            <a:ext cx="2985516" cy="384048"/>
          </a:xfrm>
          <a:prstGeom prst="rect">
            <a:avLst/>
          </a:prstGeom>
          <a:noFill/>
          <a:ln/>
        </p:spPr>
        <p:txBody>
          <a:bodyPr wrap="square" lIns="0" tIns="0" rIns="0" bIns="0" rtlCol="0" anchor="ctr"/>
          <a:lstStyle/>
          <a:p>
            <a:pPr algn="l" indent="0" marL="0">
              <a:buNone/>
            </a:pPr>
            <a:r>
              <a:rPr lang="en-US" sz="1600" b="1" dirty="0">
                <a:solidFill>
                  <a:schemeClr val="tx1"/>
                </a:solidFill>
              </a:rPr>
              <a:t>How it is used</a:t>
            </a:r>
            <a:endParaRPr lang="en-US" sz="1600" dirty="0"/>
          </a:p>
        </p:txBody>
      </p:sp>
      <p:sp>
        <p:nvSpPr>
          <p:cNvPr id="25" name="Text 22"/>
          <p:cNvSpPr txBox="1"/>
          <p:nvPr/>
        </p:nvSpPr>
        <p:spPr>
          <a:xfrm>
            <a:off x="3703320" y="4914900"/>
            <a:ext cx="3488436" cy="1143000"/>
          </a:xfrm>
          <a:prstGeom prst="rect">
            <a:avLst/>
          </a:prstGeom>
          <a:noFill/>
          <a:ln/>
        </p:spPr>
        <p:txBody>
          <a:bodyPr wrap="square" lIns="0" tIns="0" rIns="0" bIns="0" rtlCol="0" anchor="t"/>
          <a:lstStyle/>
          <a:p>
            <a:pPr algn="l" indent="0" marL="0">
              <a:buNone/>
            </a:pPr>
            <a:r>
              <a:rPr lang="en-US" sz="1300" dirty="0">
                <a:solidFill>
                  <a:schemeClr val="tx1"/>
                </a:solidFill>
              </a:rPr>
              <a:t>As the mapping target for product sources, the bill of materials for data products, and the product dimension that every semantic model shares.</a:t>
            </a:r>
            <a:endParaRPr lang="en-US" sz="1300" dirty="0"/>
          </a:p>
        </p:txBody>
      </p:sp>
      <p:sp>
        <p:nvSpPr>
          <p:cNvPr id="26" name="Shape 23"/>
          <p:cNvSpPr/>
          <p:nvPr/>
        </p:nvSpPr>
        <p:spPr>
          <a:xfrm>
            <a:off x="7694676" y="4137660"/>
            <a:ext cx="3945636" cy="2080260"/>
          </a:xfrm>
          <a:prstGeom prst="roundRect">
            <a:avLst>
              <a:gd name="adj" fmla="val 3516"/>
            </a:avLst>
          </a:prstGeom>
          <a:solidFill>
            <a:schemeClr val="bg2"/>
          </a:solidFill>
          <a:ln/>
        </p:spPr>
      </p:sp>
      <p:sp>
        <p:nvSpPr>
          <p:cNvPr id="27" name="Text 24"/>
          <p:cNvSpPr/>
          <p:nvPr/>
        </p:nvSpPr>
        <p:spPr>
          <a:xfrm>
            <a:off x="7923276" y="4366260"/>
            <a:ext cx="384048" cy="384048"/>
          </a:xfrm>
          <a:prstGeom prst="ellipse">
            <a:avLst/>
          </a:prstGeom>
          <a:solidFill>
            <a:schemeClr val="accent5"/>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8" name="Text 25"/>
          <p:cNvSpPr txBox="1"/>
          <p:nvPr/>
        </p:nvSpPr>
        <p:spPr>
          <a:xfrm>
            <a:off x="8444484" y="4366260"/>
            <a:ext cx="2985516" cy="384048"/>
          </a:xfrm>
          <a:prstGeom prst="rect">
            <a:avLst/>
          </a:prstGeom>
          <a:noFill/>
          <a:ln/>
        </p:spPr>
        <p:txBody>
          <a:bodyPr wrap="square" lIns="0" tIns="0" rIns="0" bIns="0" rtlCol="0" anchor="ctr"/>
          <a:lstStyle/>
          <a:p>
            <a:pPr algn="l" indent="0" marL="0">
              <a:buNone/>
            </a:pPr>
            <a:r>
              <a:rPr lang="en-US" sz="1600" b="1" dirty="0">
                <a:solidFill>
                  <a:schemeClr val="tx1"/>
                </a:solidFill>
              </a:rPr>
              <a:t>What it helps define</a:t>
            </a:r>
            <a:endParaRPr lang="en-US" sz="1600" dirty="0"/>
          </a:p>
        </p:txBody>
      </p:sp>
      <p:sp>
        <p:nvSpPr>
          <p:cNvPr id="29" name="Text 26"/>
          <p:cNvSpPr txBox="1"/>
          <p:nvPr/>
        </p:nvSpPr>
        <p:spPr>
          <a:xfrm>
            <a:off x="7923276" y="4914900"/>
            <a:ext cx="3488436" cy="1143000"/>
          </a:xfrm>
          <a:prstGeom prst="rect">
            <a:avLst/>
          </a:prstGeom>
          <a:noFill/>
          <a:ln/>
        </p:spPr>
        <p:txBody>
          <a:bodyPr wrap="square" lIns="0" tIns="0" rIns="0" bIns="0" rtlCol="0" anchor="t"/>
          <a:lstStyle/>
          <a:p>
            <a:pPr algn="l" indent="0" marL="0">
              <a:buNone/>
            </a:pPr>
            <a:r>
              <a:rPr lang="en-US" sz="1300" dirty="0">
                <a:solidFill>
                  <a:schemeClr val="tx1"/>
                </a:solidFill>
              </a:rPr>
              <a:t>32 of the 92 data products read it directly. 87 of the other 91 depend on its foundational product, DP-004.</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CONTEXT  |  WHERE THE DOMAIN SITS</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One of 14 data domains, four levels deep</a:t>
            </a:r>
            <a:endParaRPr lang="en-US" sz="3600" dirty="0"/>
          </a:p>
        </p:txBody>
      </p:sp>
      <p:sp>
        <p:nvSpPr>
          <p:cNvPr id="5" name="Shape 2"/>
          <p:cNvSpPr/>
          <p:nvPr/>
        </p:nvSpPr>
        <p:spPr>
          <a:xfrm>
            <a:off x="548640" y="1783080"/>
            <a:ext cx="6126480" cy="868680"/>
          </a:xfrm>
          <a:prstGeom prst="roundRect">
            <a:avLst>
              <a:gd name="adj" fmla="val 8421"/>
            </a:avLst>
          </a:prstGeom>
          <a:solidFill>
            <a:schemeClr val="bg2"/>
          </a:solidFill>
          <a:ln/>
        </p:spPr>
      </p:sp>
      <p:sp>
        <p:nvSpPr>
          <p:cNvPr id="6" name="Text 3"/>
          <p:cNvSpPr/>
          <p:nvPr/>
        </p:nvSpPr>
        <p:spPr>
          <a:xfrm>
            <a:off x="731520" y="2011680"/>
            <a:ext cx="548640" cy="411480"/>
          </a:xfrm>
          <a:prstGeom prst="roundRect">
            <a:avLst>
              <a:gd name="adj" fmla="val 13333"/>
            </a:avLst>
          </a:prstGeom>
          <a:solidFill>
            <a:schemeClr val="tx1"/>
          </a:solidFill>
          <a:ln/>
        </p:spPr>
        <p:txBody>
          <a:bodyPr wrap="square" lIns="0" tIns="0" rIns="0" bIns="0" rtlCol="0" anchor="ctr"/>
          <a:lstStyle/>
          <a:p>
            <a:pPr algn="ctr" indent="0" marL="0">
              <a:buNone/>
            </a:pPr>
            <a:r>
              <a:rPr lang="en-US" sz="1300" b="1" dirty="0">
                <a:solidFill>
                  <a:schemeClr val="bg1"/>
                </a:solidFill>
              </a:rPr>
              <a:t>L1</a:t>
            </a:r>
            <a:endParaRPr lang="en-US" sz="1300" dirty="0"/>
          </a:p>
        </p:txBody>
      </p:sp>
      <p:sp>
        <p:nvSpPr>
          <p:cNvPr id="7" name="Text 4"/>
          <p:cNvSpPr txBox="1"/>
          <p:nvPr/>
        </p:nvSpPr>
        <p:spPr>
          <a:xfrm>
            <a:off x="1463040" y="1911096"/>
            <a:ext cx="2011680" cy="329184"/>
          </a:xfrm>
          <a:prstGeom prst="rect">
            <a:avLst/>
          </a:prstGeom>
          <a:noFill/>
          <a:ln/>
        </p:spPr>
        <p:txBody>
          <a:bodyPr wrap="square" lIns="0" tIns="0" rIns="0" bIns="0" rtlCol="0" anchor="ctr"/>
          <a:lstStyle/>
          <a:p>
            <a:pPr algn="l" indent="0" marL="0">
              <a:buNone/>
            </a:pPr>
            <a:r>
              <a:rPr lang="en-US" sz="1600" b="1" dirty="0">
                <a:solidFill>
                  <a:schemeClr val="tx1"/>
                </a:solidFill>
              </a:rPr>
              <a:t>Data Domain</a:t>
            </a:r>
            <a:endParaRPr lang="en-US" sz="1600" dirty="0"/>
          </a:p>
        </p:txBody>
      </p:sp>
      <p:sp>
        <p:nvSpPr>
          <p:cNvPr id="8" name="Text 5"/>
          <p:cNvSpPr txBox="1"/>
          <p:nvPr/>
        </p:nvSpPr>
        <p:spPr>
          <a:xfrm>
            <a:off x="1463040" y="2240280"/>
            <a:ext cx="2011680" cy="274320"/>
          </a:xfrm>
          <a:prstGeom prst="rect">
            <a:avLst/>
          </a:prstGeom>
          <a:noFill/>
          <a:ln/>
        </p:spPr>
        <p:txBody>
          <a:bodyPr wrap="square" lIns="0" tIns="0" rIns="0" bIns="0" rtlCol="0" anchor="ctr"/>
          <a:lstStyle/>
          <a:p>
            <a:pPr algn="l" indent="0" marL="0">
              <a:buNone/>
            </a:pPr>
            <a:r>
              <a:rPr lang="en-US" sz="1200" dirty="0">
                <a:solidFill>
                  <a:schemeClr val="tx2"/>
                </a:solidFill>
              </a:rPr>
              <a:t>1 of 14</a:t>
            </a:r>
            <a:endParaRPr lang="en-US" sz="1200" dirty="0"/>
          </a:p>
        </p:txBody>
      </p:sp>
      <p:sp>
        <p:nvSpPr>
          <p:cNvPr id="9" name="Text 6"/>
          <p:cNvSpPr txBox="1"/>
          <p:nvPr/>
        </p:nvSpPr>
        <p:spPr>
          <a:xfrm>
            <a:off x="3474720" y="1911096"/>
            <a:ext cx="3017520" cy="612648"/>
          </a:xfrm>
          <a:prstGeom prst="rect">
            <a:avLst/>
          </a:prstGeom>
          <a:noFill/>
          <a:ln/>
        </p:spPr>
        <p:txBody>
          <a:bodyPr wrap="square" lIns="0" tIns="0" rIns="0" bIns="0" rtlCol="0" anchor="ctr"/>
          <a:lstStyle/>
          <a:p>
            <a:pPr algn="l" indent="0" marL="0">
              <a:buNone/>
            </a:pPr>
            <a:r>
              <a:rPr lang="en-US" sz="1400" b="1" dirty="0">
                <a:solidFill>
                  <a:schemeClr val="accent2"/>
                </a:solidFill>
              </a:rPr>
              <a:t>Investment Product</a:t>
            </a:r>
            <a:endParaRPr lang="en-US" sz="1400" dirty="0"/>
          </a:p>
        </p:txBody>
      </p:sp>
      <p:sp>
        <p:nvSpPr>
          <p:cNvPr id="10" name="Shape 7"/>
          <p:cNvSpPr/>
          <p:nvPr/>
        </p:nvSpPr>
        <p:spPr>
          <a:xfrm>
            <a:off x="822960" y="2788920"/>
            <a:ext cx="5852160" cy="868680"/>
          </a:xfrm>
          <a:prstGeom prst="roundRect">
            <a:avLst>
              <a:gd name="adj" fmla="val 8421"/>
            </a:avLst>
          </a:prstGeom>
          <a:solidFill>
            <a:schemeClr val="bg2"/>
          </a:solidFill>
          <a:ln/>
        </p:spPr>
      </p:sp>
      <p:sp>
        <p:nvSpPr>
          <p:cNvPr id="11" name="Text 8"/>
          <p:cNvSpPr/>
          <p:nvPr/>
        </p:nvSpPr>
        <p:spPr>
          <a:xfrm>
            <a:off x="1005840" y="3017520"/>
            <a:ext cx="548640" cy="411480"/>
          </a:xfrm>
          <a:prstGeom prst="roundRect">
            <a:avLst>
              <a:gd name="adj" fmla="val 13333"/>
            </a:avLst>
          </a:prstGeom>
          <a:solidFill>
            <a:schemeClr val="tx1"/>
          </a:solidFill>
          <a:ln/>
        </p:spPr>
        <p:txBody>
          <a:bodyPr wrap="square" lIns="0" tIns="0" rIns="0" bIns="0" rtlCol="0" anchor="ctr"/>
          <a:lstStyle/>
          <a:p>
            <a:pPr algn="ctr" indent="0" marL="0">
              <a:buNone/>
            </a:pPr>
            <a:r>
              <a:rPr lang="en-US" sz="1300" b="1" dirty="0">
                <a:solidFill>
                  <a:schemeClr val="bg1"/>
                </a:solidFill>
              </a:rPr>
              <a:t>L2</a:t>
            </a:r>
            <a:endParaRPr lang="en-US" sz="1300" dirty="0"/>
          </a:p>
        </p:txBody>
      </p:sp>
      <p:sp>
        <p:nvSpPr>
          <p:cNvPr id="12" name="Text 9"/>
          <p:cNvSpPr txBox="1"/>
          <p:nvPr/>
        </p:nvSpPr>
        <p:spPr>
          <a:xfrm>
            <a:off x="1737360" y="2916936"/>
            <a:ext cx="2011680" cy="329184"/>
          </a:xfrm>
          <a:prstGeom prst="rect">
            <a:avLst/>
          </a:prstGeom>
          <a:noFill/>
          <a:ln/>
        </p:spPr>
        <p:txBody>
          <a:bodyPr wrap="square" lIns="0" tIns="0" rIns="0" bIns="0" rtlCol="0" anchor="ctr"/>
          <a:lstStyle/>
          <a:p>
            <a:pPr algn="l" indent="0" marL="0">
              <a:buNone/>
            </a:pPr>
            <a:r>
              <a:rPr lang="en-US" sz="1600" b="1" dirty="0">
                <a:solidFill>
                  <a:schemeClr val="tx1"/>
                </a:solidFill>
              </a:rPr>
              <a:t>Data Family</a:t>
            </a:r>
            <a:endParaRPr lang="en-US" sz="1600" dirty="0"/>
          </a:p>
        </p:txBody>
      </p:sp>
      <p:sp>
        <p:nvSpPr>
          <p:cNvPr id="13" name="Text 10"/>
          <p:cNvSpPr txBox="1"/>
          <p:nvPr/>
        </p:nvSpPr>
        <p:spPr>
          <a:xfrm>
            <a:off x="1737360" y="3246120"/>
            <a:ext cx="2011680" cy="274320"/>
          </a:xfrm>
          <a:prstGeom prst="rect">
            <a:avLst/>
          </a:prstGeom>
          <a:noFill/>
          <a:ln/>
        </p:spPr>
        <p:txBody>
          <a:bodyPr wrap="square" lIns="0" tIns="0" rIns="0" bIns="0" rtlCol="0" anchor="ctr"/>
          <a:lstStyle/>
          <a:p>
            <a:pPr algn="l" indent="0" marL="0">
              <a:buNone/>
            </a:pPr>
            <a:r>
              <a:rPr lang="en-US" sz="1200" dirty="0">
                <a:solidFill>
                  <a:schemeClr val="tx2"/>
                </a:solidFill>
              </a:rPr>
              <a:t>14 families</a:t>
            </a:r>
            <a:endParaRPr lang="en-US" sz="1200" dirty="0"/>
          </a:p>
        </p:txBody>
      </p:sp>
      <p:sp>
        <p:nvSpPr>
          <p:cNvPr id="14" name="Text 11"/>
          <p:cNvSpPr txBox="1"/>
          <p:nvPr/>
        </p:nvSpPr>
        <p:spPr>
          <a:xfrm>
            <a:off x="3749040" y="2916936"/>
            <a:ext cx="2743200" cy="612648"/>
          </a:xfrm>
          <a:prstGeom prst="rect">
            <a:avLst/>
          </a:prstGeom>
          <a:noFill/>
          <a:ln/>
        </p:spPr>
        <p:txBody>
          <a:bodyPr wrap="square" lIns="0" tIns="0" rIns="0" bIns="0" rtlCol="0" anchor="ctr"/>
          <a:lstStyle/>
          <a:p>
            <a:pPr algn="l" indent="0" marL="0">
              <a:buNone/>
            </a:pPr>
            <a:r>
              <a:rPr lang="en-US" sz="1400" b="1" dirty="0">
                <a:solidFill>
                  <a:schemeClr val="accent2"/>
                </a:solidFill>
              </a:rPr>
              <a:t>Fees, Charges &amp; Costs</a:t>
            </a:r>
            <a:endParaRPr lang="en-US" sz="1400" dirty="0"/>
          </a:p>
        </p:txBody>
      </p:sp>
      <p:sp>
        <p:nvSpPr>
          <p:cNvPr id="15" name="Shape 12"/>
          <p:cNvSpPr/>
          <p:nvPr/>
        </p:nvSpPr>
        <p:spPr>
          <a:xfrm>
            <a:off x="1097280" y="3794760"/>
            <a:ext cx="5577840" cy="868680"/>
          </a:xfrm>
          <a:prstGeom prst="roundRect">
            <a:avLst>
              <a:gd name="adj" fmla="val 8421"/>
            </a:avLst>
          </a:prstGeom>
          <a:solidFill>
            <a:schemeClr val="bg2"/>
          </a:solidFill>
          <a:ln/>
        </p:spPr>
      </p:sp>
      <p:sp>
        <p:nvSpPr>
          <p:cNvPr id="16" name="Text 13"/>
          <p:cNvSpPr/>
          <p:nvPr/>
        </p:nvSpPr>
        <p:spPr>
          <a:xfrm>
            <a:off x="1280160" y="4023360"/>
            <a:ext cx="548640" cy="411480"/>
          </a:xfrm>
          <a:prstGeom prst="roundRect">
            <a:avLst>
              <a:gd name="adj" fmla="val 13333"/>
            </a:avLst>
          </a:prstGeom>
          <a:solidFill>
            <a:schemeClr val="tx1"/>
          </a:solidFill>
          <a:ln/>
        </p:spPr>
        <p:txBody>
          <a:bodyPr wrap="square" lIns="0" tIns="0" rIns="0" bIns="0" rtlCol="0" anchor="ctr"/>
          <a:lstStyle/>
          <a:p>
            <a:pPr algn="ctr" indent="0" marL="0">
              <a:buNone/>
            </a:pPr>
            <a:r>
              <a:rPr lang="en-US" sz="1300" b="1" dirty="0">
                <a:solidFill>
                  <a:schemeClr val="bg1"/>
                </a:solidFill>
              </a:rPr>
              <a:t>L3</a:t>
            </a:r>
            <a:endParaRPr lang="en-US" sz="1300" dirty="0"/>
          </a:p>
        </p:txBody>
      </p:sp>
      <p:sp>
        <p:nvSpPr>
          <p:cNvPr id="17" name="Text 14"/>
          <p:cNvSpPr txBox="1"/>
          <p:nvPr/>
        </p:nvSpPr>
        <p:spPr>
          <a:xfrm>
            <a:off x="2011680" y="3922776"/>
            <a:ext cx="2011680" cy="329184"/>
          </a:xfrm>
          <a:prstGeom prst="rect">
            <a:avLst/>
          </a:prstGeom>
          <a:noFill/>
          <a:ln/>
        </p:spPr>
        <p:txBody>
          <a:bodyPr wrap="square" lIns="0" tIns="0" rIns="0" bIns="0" rtlCol="0" anchor="ctr"/>
          <a:lstStyle/>
          <a:p>
            <a:pPr algn="l" indent="0" marL="0">
              <a:buNone/>
            </a:pPr>
            <a:r>
              <a:rPr lang="en-US" sz="1600" b="1" dirty="0">
                <a:solidFill>
                  <a:schemeClr val="tx1"/>
                </a:solidFill>
              </a:rPr>
              <a:t>Business Object</a:t>
            </a:r>
            <a:endParaRPr lang="en-US" sz="1600" dirty="0"/>
          </a:p>
        </p:txBody>
      </p:sp>
      <p:sp>
        <p:nvSpPr>
          <p:cNvPr id="18" name="Text 15"/>
          <p:cNvSpPr txBox="1"/>
          <p:nvPr/>
        </p:nvSpPr>
        <p:spPr>
          <a:xfrm>
            <a:off x="2011680" y="4251960"/>
            <a:ext cx="2011680" cy="274320"/>
          </a:xfrm>
          <a:prstGeom prst="rect">
            <a:avLst/>
          </a:prstGeom>
          <a:noFill/>
          <a:ln/>
        </p:spPr>
        <p:txBody>
          <a:bodyPr wrap="square" lIns="0" tIns="0" rIns="0" bIns="0" rtlCol="0" anchor="ctr"/>
          <a:lstStyle/>
          <a:p>
            <a:pPr algn="l" indent="0" marL="0">
              <a:buNone/>
            </a:pPr>
            <a:r>
              <a:rPr lang="en-US" sz="1200" dirty="0">
                <a:solidFill>
                  <a:schemeClr val="tx2"/>
                </a:solidFill>
              </a:rPr>
              <a:t>48 objects</a:t>
            </a:r>
            <a:endParaRPr lang="en-US" sz="1200" dirty="0"/>
          </a:p>
        </p:txBody>
      </p:sp>
      <p:sp>
        <p:nvSpPr>
          <p:cNvPr id="19" name="Text 16"/>
          <p:cNvSpPr txBox="1"/>
          <p:nvPr/>
        </p:nvSpPr>
        <p:spPr>
          <a:xfrm>
            <a:off x="4023360" y="3922776"/>
            <a:ext cx="2468880" cy="612648"/>
          </a:xfrm>
          <a:prstGeom prst="rect">
            <a:avLst/>
          </a:prstGeom>
          <a:noFill/>
          <a:ln/>
        </p:spPr>
        <p:txBody>
          <a:bodyPr wrap="square" lIns="0" tIns="0" rIns="0" bIns="0" rtlCol="0" anchor="ctr"/>
          <a:lstStyle/>
          <a:p>
            <a:pPr algn="l" indent="0" marL="0">
              <a:buNone/>
            </a:pPr>
            <a:r>
              <a:rPr lang="en-US" sz="1400" b="1" dirty="0">
                <a:solidFill>
                  <a:schemeClr val="accent2"/>
                </a:solidFill>
              </a:rPr>
              <a:t>Cost Disclosure</a:t>
            </a:r>
            <a:endParaRPr lang="en-US" sz="1400" dirty="0"/>
          </a:p>
        </p:txBody>
      </p:sp>
      <p:sp>
        <p:nvSpPr>
          <p:cNvPr id="20" name="Shape 17"/>
          <p:cNvSpPr/>
          <p:nvPr/>
        </p:nvSpPr>
        <p:spPr>
          <a:xfrm>
            <a:off x="1371600" y="4800600"/>
            <a:ext cx="5303520" cy="868680"/>
          </a:xfrm>
          <a:prstGeom prst="roundRect">
            <a:avLst>
              <a:gd name="adj" fmla="val 8421"/>
            </a:avLst>
          </a:prstGeom>
          <a:solidFill>
            <a:schemeClr val="bg2"/>
          </a:solidFill>
          <a:ln/>
        </p:spPr>
      </p:sp>
      <p:sp>
        <p:nvSpPr>
          <p:cNvPr id="21" name="Text 18"/>
          <p:cNvSpPr/>
          <p:nvPr/>
        </p:nvSpPr>
        <p:spPr>
          <a:xfrm>
            <a:off x="1554480" y="5029200"/>
            <a:ext cx="548640" cy="411480"/>
          </a:xfrm>
          <a:prstGeom prst="roundRect">
            <a:avLst>
              <a:gd name="adj" fmla="val 13333"/>
            </a:avLst>
          </a:prstGeom>
          <a:solidFill>
            <a:schemeClr val="tx1"/>
          </a:solidFill>
          <a:ln/>
        </p:spPr>
        <p:txBody>
          <a:bodyPr wrap="square" lIns="0" tIns="0" rIns="0" bIns="0" rtlCol="0" anchor="ctr"/>
          <a:lstStyle/>
          <a:p>
            <a:pPr algn="ctr" indent="0" marL="0">
              <a:buNone/>
            </a:pPr>
            <a:r>
              <a:rPr lang="en-US" sz="1300" b="1" dirty="0">
                <a:solidFill>
                  <a:schemeClr val="bg1"/>
                </a:solidFill>
              </a:rPr>
              <a:t>L4</a:t>
            </a:r>
            <a:endParaRPr lang="en-US" sz="1300" dirty="0"/>
          </a:p>
        </p:txBody>
      </p:sp>
      <p:sp>
        <p:nvSpPr>
          <p:cNvPr id="22" name="Text 19"/>
          <p:cNvSpPr txBox="1"/>
          <p:nvPr/>
        </p:nvSpPr>
        <p:spPr>
          <a:xfrm>
            <a:off x="2286000" y="4928616"/>
            <a:ext cx="2011680" cy="329184"/>
          </a:xfrm>
          <a:prstGeom prst="rect">
            <a:avLst/>
          </a:prstGeom>
          <a:noFill/>
          <a:ln/>
        </p:spPr>
        <p:txBody>
          <a:bodyPr wrap="square" lIns="0" tIns="0" rIns="0" bIns="0" rtlCol="0" anchor="ctr"/>
          <a:lstStyle/>
          <a:p>
            <a:pPr algn="l" indent="0" marL="0">
              <a:buNone/>
            </a:pPr>
            <a:r>
              <a:rPr lang="en-US" sz="1600" b="1" dirty="0">
                <a:solidFill>
                  <a:schemeClr val="tx1"/>
                </a:solidFill>
              </a:rPr>
              <a:t>Attribute</a:t>
            </a:r>
            <a:endParaRPr lang="en-US" sz="1600" dirty="0"/>
          </a:p>
        </p:txBody>
      </p:sp>
      <p:sp>
        <p:nvSpPr>
          <p:cNvPr id="23" name="Text 20"/>
          <p:cNvSpPr txBox="1"/>
          <p:nvPr/>
        </p:nvSpPr>
        <p:spPr>
          <a:xfrm>
            <a:off x="2286000" y="5257800"/>
            <a:ext cx="2011680" cy="274320"/>
          </a:xfrm>
          <a:prstGeom prst="rect">
            <a:avLst/>
          </a:prstGeom>
          <a:noFill/>
          <a:ln/>
        </p:spPr>
        <p:txBody>
          <a:bodyPr wrap="square" lIns="0" tIns="0" rIns="0" bIns="0" rtlCol="0" anchor="ctr"/>
          <a:lstStyle/>
          <a:p>
            <a:pPr algn="l" indent="0" marL="0">
              <a:buNone/>
            </a:pPr>
            <a:r>
              <a:rPr lang="en-US" sz="1200" dirty="0">
                <a:solidFill>
                  <a:schemeClr val="tx2"/>
                </a:solidFill>
              </a:rPr>
              <a:t>307 attributes</a:t>
            </a:r>
            <a:endParaRPr lang="en-US" sz="1200" dirty="0"/>
          </a:p>
        </p:txBody>
      </p:sp>
      <p:sp>
        <p:nvSpPr>
          <p:cNvPr id="24" name="Text 21"/>
          <p:cNvSpPr txBox="1"/>
          <p:nvPr/>
        </p:nvSpPr>
        <p:spPr>
          <a:xfrm>
            <a:off x="4297680" y="4928616"/>
            <a:ext cx="2194560" cy="612648"/>
          </a:xfrm>
          <a:prstGeom prst="rect">
            <a:avLst/>
          </a:prstGeom>
          <a:noFill/>
          <a:ln/>
        </p:spPr>
        <p:txBody>
          <a:bodyPr wrap="square" lIns="0" tIns="0" rIns="0" bIns="0" rtlCol="0" anchor="ctr"/>
          <a:lstStyle/>
          <a:p>
            <a:pPr algn="l" indent="0" marL="0">
              <a:buNone/>
            </a:pPr>
            <a:r>
              <a:rPr lang="en-US" sz="1400" b="1" dirty="0">
                <a:solidFill>
                  <a:schemeClr val="accent2"/>
                </a:solidFill>
              </a:rPr>
              <a:t>Net Expense Ratio</a:t>
            </a:r>
            <a:endParaRPr lang="en-US" sz="1400" dirty="0"/>
          </a:p>
        </p:txBody>
      </p:sp>
      <p:sp>
        <p:nvSpPr>
          <p:cNvPr id="25" name="Text 22"/>
          <p:cNvSpPr txBox="1"/>
          <p:nvPr/>
        </p:nvSpPr>
        <p:spPr>
          <a:xfrm>
            <a:off x="548640" y="5852160"/>
            <a:ext cx="6126480" cy="274320"/>
          </a:xfrm>
          <a:prstGeom prst="rect">
            <a:avLst/>
          </a:prstGeom>
          <a:noFill/>
          <a:ln/>
        </p:spPr>
        <p:txBody>
          <a:bodyPr wrap="square" lIns="0" tIns="0" rIns="0" bIns="0" rtlCol="0" anchor="ctr"/>
          <a:lstStyle/>
          <a:p>
            <a:pPr algn="l" indent="0" marL="0">
              <a:buNone/>
            </a:pPr>
            <a:r>
              <a:rPr lang="en-US" sz="1200" dirty="0">
                <a:solidFill>
                  <a:schemeClr val="accent2"/>
                </a:solidFill>
              </a:rPr>
              <a:t>Purple text: the path to one attribute followed later in this deck</a:t>
            </a:r>
            <a:endParaRPr lang="en-US" sz="1200" dirty="0"/>
          </a:p>
        </p:txBody>
      </p:sp>
      <p:sp>
        <p:nvSpPr>
          <p:cNvPr id="26" name="Text 23"/>
          <p:cNvSpPr txBox="1"/>
          <p:nvPr/>
        </p:nvSpPr>
        <p:spPr>
          <a:xfrm>
            <a:off x="7040880" y="1783080"/>
            <a:ext cx="4572000" cy="256032"/>
          </a:xfrm>
          <a:prstGeom prst="rect">
            <a:avLst/>
          </a:prstGeom>
          <a:noFill/>
          <a:ln/>
        </p:spPr>
        <p:txBody>
          <a:bodyPr wrap="square" lIns="0" tIns="0" rIns="0" bIns="0" rtlCol="0" anchor="ctr"/>
          <a:lstStyle/>
          <a:p>
            <a:pPr algn="l" indent="0" marL="0">
              <a:buNone/>
            </a:pPr>
            <a:r>
              <a:rPr lang="en-US" sz="1200" b="1" spc="150" kern="0" dirty="0">
                <a:solidFill>
                  <a:schemeClr val="accent1"/>
                </a:solidFill>
              </a:rPr>
              <a:t>FOR EVERY ATTRIBUTE, IT RECORDS</a:t>
            </a:r>
            <a:endParaRPr lang="en-US" sz="1200" dirty="0"/>
          </a:p>
        </p:txBody>
      </p:sp>
      <p:sp>
        <p:nvSpPr>
          <p:cNvPr id="27" name="Text 24"/>
          <p:cNvSpPr txBox="1"/>
          <p:nvPr/>
        </p:nvSpPr>
        <p:spPr>
          <a:xfrm>
            <a:off x="7040880" y="2148840"/>
            <a:ext cx="4599432" cy="251460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chemeClr val="tx1"/>
                </a:solidFill>
              </a:rPr>
              <a:t>One definition, with an example value</a:t>
            </a:r>
            <a:endParaRPr lang="en-US" sz="1400" dirty="0"/>
          </a:p>
          <a:p>
            <a:pPr marL="177800" indent="-177800">
              <a:spcAft>
                <a:spcPts val="700"/>
              </a:spcAft>
              <a:buSzPct val="100000"/>
              <a:buChar char="•"/>
            </a:pPr>
            <a:r>
              <a:rPr lang="en-US" sz="1400" dirty="0">
                <a:solidFill>
                  <a:schemeClr val="tx1"/>
                </a:solidFill>
              </a:rPr>
              <a:t>The data type and, where coded, the code list</a:t>
            </a:r>
            <a:endParaRPr lang="en-US" sz="1400" dirty="0"/>
          </a:p>
          <a:p>
            <a:pPr marL="177800" indent="-177800">
              <a:spcAft>
                <a:spcPts val="700"/>
              </a:spcAft>
              <a:buSzPct val="100000"/>
              <a:buChar char="•"/>
            </a:pPr>
            <a:r>
              <a:rPr lang="en-US" sz="1400" dirty="0">
                <a:solidFill>
                  <a:schemeClr val="tx1"/>
                </a:solidFill>
              </a:rPr>
              <a:t>The level it applies to: strategy, product, share class or mandate</a:t>
            </a:r>
            <a:endParaRPr lang="en-US" sz="1400" dirty="0"/>
          </a:p>
          <a:p>
            <a:pPr marL="177800" indent="-177800">
              <a:spcAft>
                <a:spcPts val="700"/>
              </a:spcAft>
              <a:buSzPct val="100000"/>
              <a:buChar char="•"/>
            </a:pPr>
            <a:r>
              <a:rPr lang="en-US" sz="1400" dirty="0">
                <a:solidFill>
                  <a:schemeClr val="tx1"/>
                </a:solidFill>
              </a:rPr>
              <a:t>The standard or regulation it aligns to</a:t>
            </a:r>
            <a:endParaRPr lang="en-US" sz="1400" dirty="0"/>
          </a:p>
          <a:p>
            <a:pPr marL="177800" indent="-177800">
              <a:spcAft>
                <a:spcPts val="700"/>
              </a:spcAft>
              <a:buSzPct val="100000"/>
              <a:buChar char="•"/>
            </a:pPr>
            <a:r>
              <a:rPr lang="en-US" sz="1400" dirty="0">
                <a:solidFill>
                  <a:schemeClr val="tx1"/>
                </a:solidFill>
              </a:rPr>
              <a:t>Whether it is a proposed critical data element</a:t>
            </a:r>
            <a:endParaRPr lang="en-US" sz="1400" dirty="0"/>
          </a:p>
          <a:p>
            <a:pPr marL="177800" indent="-177800">
              <a:spcAft>
                <a:spcPts val="700"/>
              </a:spcAft>
              <a:buSzPct val="100000"/>
              <a:buChar char="•"/>
            </a:pPr>
            <a:r>
              <a:rPr lang="en-US" sz="1400" dirty="0">
                <a:solidFill>
                  <a:schemeClr val="tx1"/>
                </a:solidFill>
              </a:rPr>
              <a:t>Whether it is mastered here, referenced or a derived copy</a:t>
            </a:r>
            <a:endParaRPr lang="en-US" sz="1400" dirty="0"/>
          </a:p>
        </p:txBody>
      </p:sp>
      <p:sp>
        <p:nvSpPr>
          <p:cNvPr id="28" name="Shape 25"/>
          <p:cNvSpPr/>
          <p:nvPr/>
        </p:nvSpPr>
        <p:spPr>
          <a:xfrm>
            <a:off x="7040880" y="4800600"/>
            <a:ext cx="4599432" cy="914400"/>
          </a:xfrm>
          <a:prstGeom prst="roundRect">
            <a:avLst>
              <a:gd name="adj" fmla="val 8000"/>
            </a:avLst>
          </a:prstGeom>
          <a:solidFill>
            <a:schemeClr val="bg2"/>
          </a:solidFill>
          <a:ln/>
        </p:spPr>
      </p:sp>
      <p:sp>
        <p:nvSpPr>
          <p:cNvPr id="29" name="Text 26"/>
          <p:cNvSpPr txBox="1"/>
          <p:nvPr/>
        </p:nvSpPr>
        <p:spPr>
          <a:xfrm>
            <a:off x="7269480" y="4800600"/>
            <a:ext cx="4142232" cy="914400"/>
          </a:xfrm>
          <a:prstGeom prst="rect">
            <a:avLst/>
          </a:prstGeom>
          <a:noFill/>
          <a:ln/>
        </p:spPr>
        <p:txBody>
          <a:bodyPr wrap="square" lIns="0" tIns="0" rIns="0" bIns="0" rtlCol="0" anchor="ctr"/>
          <a:lstStyle/>
          <a:p>
            <a:pPr algn="l" indent="0" marL="0">
              <a:buNone/>
            </a:pPr>
            <a:r>
              <a:rPr lang="en-US" sz="1400" b="1" dirty="0">
                <a:solidFill>
                  <a:schemeClr val="tx1"/>
                </a:solidFill>
              </a:rPr>
              <a:t>It defines meaning and ownership. It does not hold data values or system field names.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CONTEXT  |  THE CORE MODEL</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The core model has three levels</a:t>
            </a:r>
            <a:endParaRPr lang="en-US" sz="3600" dirty="0"/>
          </a:p>
        </p:txBody>
      </p:sp>
      <p:sp>
        <p:nvSpPr>
          <p:cNvPr id="5" name="Text 2"/>
          <p:cNvSpPr txBox="1"/>
          <p:nvPr/>
        </p:nvSpPr>
        <p:spPr>
          <a:xfrm>
            <a:off x="548640" y="1783080"/>
            <a:ext cx="3017520" cy="256032"/>
          </a:xfrm>
          <a:prstGeom prst="rect">
            <a:avLst/>
          </a:prstGeom>
          <a:noFill/>
          <a:ln/>
        </p:spPr>
        <p:txBody>
          <a:bodyPr wrap="square" lIns="0" tIns="0" rIns="0" bIns="0" rtlCol="0" anchor="ctr"/>
          <a:lstStyle/>
          <a:p>
            <a:pPr algn="l" indent="0" marL="0">
              <a:buNone/>
            </a:pPr>
            <a:r>
              <a:rPr lang="en-US" sz="1200" b="1" spc="150" kern="0" dirty="0">
                <a:solidFill>
                  <a:schemeClr val="accent1"/>
                </a:solidFill>
              </a:rPr>
              <a:t>WHAT WE MANAGE</a:t>
            </a:r>
            <a:endParaRPr lang="en-US" sz="1200" dirty="0"/>
          </a:p>
        </p:txBody>
      </p:sp>
      <p:sp>
        <p:nvSpPr>
          <p:cNvPr id="6" name="Text 3"/>
          <p:cNvSpPr txBox="1"/>
          <p:nvPr/>
        </p:nvSpPr>
        <p:spPr>
          <a:xfrm>
            <a:off x="4480560" y="1783080"/>
            <a:ext cx="3291840" cy="256032"/>
          </a:xfrm>
          <a:prstGeom prst="rect">
            <a:avLst/>
          </a:prstGeom>
          <a:noFill/>
          <a:ln/>
        </p:spPr>
        <p:txBody>
          <a:bodyPr wrap="square" lIns="0" tIns="0" rIns="0" bIns="0" rtlCol="0" anchor="ctr"/>
          <a:lstStyle/>
          <a:p>
            <a:pPr algn="l" indent="0" marL="0">
              <a:buNone/>
            </a:pPr>
            <a:r>
              <a:rPr lang="en-US" sz="1200" b="1" spc="150" kern="0" dirty="0">
                <a:solidFill>
                  <a:schemeClr val="accent2"/>
                </a:solidFill>
              </a:rPr>
              <a:t>HOW IT IS PACKAGED</a:t>
            </a:r>
            <a:endParaRPr lang="en-US" sz="1200" dirty="0"/>
          </a:p>
        </p:txBody>
      </p:sp>
      <p:sp>
        <p:nvSpPr>
          <p:cNvPr id="7" name="Text 4"/>
          <p:cNvSpPr txBox="1"/>
          <p:nvPr/>
        </p:nvSpPr>
        <p:spPr>
          <a:xfrm>
            <a:off x="8686800" y="1783080"/>
            <a:ext cx="2953512" cy="256032"/>
          </a:xfrm>
          <a:prstGeom prst="rect">
            <a:avLst/>
          </a:prstGeom>
          <a:noFill/>
          <a:ln/>
        </p:spPr>
        <p:txBody>
          <a:bodyPr wrap="square" lIns="0" tIns="0" rIns="0" bIns="0" rtlCol="0" anchor="ctr"/>
          <a:lstStyle/>
          <a:p>
            <a:pPr algn="l" indent="0" marL="0">
              <a:buNone/>
            </a:pPr>
            <a:r>
              <a:rPr lang="en-US" sz="1200" b="1" spc="150" kern="0" dirty="0">
                <a:solidFill>
                  <a:schemeClr val="accent4"/>
                </a:solidFill>
              </a:rPr>
              <a:t>HOW INVESTORS OWN IT</a:t>
            </a:r>
            <a:endParaRPr lang="en-US" sz="1200" dirty="0"/>
          </a:p>
        </p:txBody>
      </p:sp>
      <p:sp>
        <p:nvSpPr>
          <p:cNvPr id="8" name="Shape 5"/>
          <p:cNvSpPr/>
          <p:nvPr/>
        </p:nvSpPr>
        <p:spPr>
          <a:xfrm>
            <a:off x="548640" y="2788920"/>
            <a:ext cx="3017520" cy="914400"/>
          </a:xfrm>
          <a:prstGeom prst="roundRect">
            <a:avLst>
              <a:gd name="adj" fmla="val 8000"/>
            </a:avLst>
          </a:prstGeom>
          <a:solidFill>
            <a:schemeClr val="accent1"/>
          </a:solidFill>
          <a:ln/>
        </p:spPr>
      </p:sp>
      <p:sp>
        <p:nvSpPr>
          <p:cNvPr id="9" name="Text 6"/>
          <p:cNvSpPr txBox="1"/>
          <p:nvPr/>
        </p:nvSpPr>
        <p:spPr>
          <a:xfrm>
            <a:off x="777240" y="2880360"/>
            <a:ext cx="2560320" cy="365760"/>
          </a:xfrm>
          <a:prstGeom prst="rect">
            <a:avLst/>
          </a:prstGeom>
          <a:noFill/>
          <a:ln/>
        </p:spPr>
        <p:txBody>
          <a:bodyPr wrap="square" lIns="0" tIns="0" rIns="0" bIns="0" rtlCol="0" anchor="ctr"/>
          <a:lstStyle/>
          <a:p>
            <a:pPr algn="l" indent="0" marL="0">
              <a:buNone/>
            </a:pPr>
            <a:r>
              <a:rPr lang="en-US" sz="1600" b="1" dirty="0">
                <a:solidFill>
                  <a:schemeClr val="bg1"/>
                </a:solidFill>
              </a:rPr>
              <a:t>Investment Strategy</a:t>
            </a:r>
            <a:endParaRPr lang="en-US" sz="1600" dirty="0"/>
          </a:p>
        </p:txBody>
      </p:sp>
      <p:sp>
        <p:nvSpPr>
          <p:cNvPr id="10" name="Text 7"/>
          <p:cNvSpPr txBox="1"/>
          <p:nvPr/>
        </p:nvSpPr>
        <p:spPr>
          <a:xfrm>
            <a:off x="777240" y="3246120"/>
            <a:ext cx="2560320" cy="274320"/>
          </a:xfrm>
          <a:prstGeom prst="rect">
            <a:avLst/>
          </a:prstGeom>
          <a:noFill/>
          <a:ln/>
        </p:spPr>
        <p:txBody>
          <a:bodyPr wrap="square" lIns="0" tIns="0" rIns="0" bIns="0" rtlCol="0" anchor="ctr"/>
          <a:lstStyle/>
          <a:p>
            <a:pPr algn="l" indent="0" marL="0">
              <a:buNone/>
            </a:pPr>
            <a:r>
              <a:rPr lang="en-US" sz="1200" dirty="0">
                <a:solidFill>
                  <a:schemeClr val="bg1"/>
                </a:solidFill>
              </a:rPr>
              <a:t>The capability, independent of vehicle</a:t>
            </a:r>
            <a:endParaRPr lang="en-US" sz="1200" dirty="0"/>
          </a:p>
        </p:txBody>
      </p:sp>
      <p:sp>
        <p:nvSpPr>
          <p:cNvPr id="11" name="Shape 8"/>
          <p:cNvSpPr/>
          <p:nvPr/>
        </p:nvSpPr>
        <p:spPr>
          <a:xfrm>
            <a:off x="2057400" y="3703320"/>
            <a:ext cx="0" cy="457200"/>
          </a:xfrm>
          <a:prstGeom prst="line">
            <a:avLst/>
          </a:prstGeom>
          <a:noFill/>
          <a:ln w="19050">
            <a:solidFill>
              <a:schemeClr val="tx2"/>
            </a:solidFill>
            <a:prstDash val="solid"/>
            <a:tailEnd type="triangle"/>
          </a:ln>
        </p:spPr>
      </p:sp>
      <p:sp>
        <p:nvSpPr>
          <p:cNvPr id="12" name="Shape 9"/>
          <p:cNvSpPr/>
          <p:nvPr/>
        </p:nvSpPr>
        <p:spPr>
          <a:xfrm>
            <a:off x="548640" y="4160520"/>
            <a:ext cx="3017520" cy="822960"/>
          </a:xfrm>
          <a:prstGeom prst="roundRect">
            <a:avLst>
              <a:gd name="adj" fmla="val 8889"/>
            </a:avLst>
          </a:prstGeom>
          <a:solidFill>
            <a:schemeClr val="bg2"/>
          </a:solidFill>
          <a:ln/>
        </p:spPr>
      </p:sp>
      <p:sp>
        <p:nvSpPr>
          <p:cNvPr id="13" name="Text 10"/>
          <p:cNvSpPr txBox="1"/>
          <p:nvPr/>
        </p:nvSpPr>
        <p:spPr>
          <a:xfrm>
            <a:off x="777240" y="4224528"/>
            <a:ext cx="2560320" cy="329184"/>
          </a:xfrm>
          <a:prstGeom prst="rect">
            <a:avLst/>
          </a:prstGeom>
          <a:noFill/>
          <a:ln/>
        </p:spPr>
        <p:txBody>
          <a:bodyPr wrap="square" lIns="0" tIns="0" rIns="0" bIns="0" rtlCol="0" anchor="ctr"/>
          <a:lstStyle/>
          <a:p>
            <a:pPr algn="l" indent="0" marL="0">
              <a:buNone/>
            </a:pPr>
            <a:r>
              <a:rPr lang="en-US" sz="1400" b="1" dirty="0">
                <a:solidFill>
                  <a:schemeClr val="tx1"/>
                </a:solidFill>
              </a:rPr>
              <a:t>GIPS Composite</a:t>
            </a:r>
            <a:endParaRPr lang="en-US" sz="1400" dirty="0"/>
          </a:p>
        </p:txBody>
      </p:sp>
      <p:sp>
        <p:nvSpPr>
          <p:cNvPr id="14" name="Text 11"/>
          <p:cNvSpPr txBox="1"/>
          <p:nvPr/>
        </p:nvSpPr>
        <p:spPr>
          <a:xfrm>
            <a:off x="777240" y="4553712"/>
            <a:ext cx="2560320" cy="274320"/>
          </a:xfrm>
          <a:prstGeom prst="rect">
            <a:avLst/>
          </a:prstGeom>
          <a:noFill/>
          <a:ln/>
        </p:spPr>
        <p:txBody>
          <a:bodyPr wrap="square" lIns="0" tIns="0" rIns="0" bIns="0" rtlCol="0" anchor="ctr"/>
          <a:lstStyle/>
          <a:p>
            <a:pPr algn="l" indent="0" marL="0">
              <a:buNone/>
            </a:pPr>
            <a:r>
              <a:rPr lang="en-US" sz="1200" dirty="0">
                <a:solidFill>
                  <a:schemeClr val="tx2"/>
                </a:solidFill>
              </a:rPr>
              <a:t>Presents the strategy's performance</a:t>
            </a:r>
            <a:endParaRPr lang="en-US" sz="1200" dirty="0"/>
          </a:p>
        </p:txBody>
      </p:sp>
      <p:sp>
        <p:nvSpPr>
          <p:cNvPr id="15" name="Text 12"/>
          <p:cNvSpPr txBox="1"/>
          <p:nvPr/>
        </p:nvSpPr>
        <p:spPr>
          <a:xfrm>
            <a:off x="548640" y="2194560"/>
            <a:ext cx="3017520" cy="457200"/>
          </a:xfrm>
          <a:prstGeom prst="rect">
            <a:avLst/>
          </a:prstGeom>
          <a:noFill/>
          <a:ln/>
        </p:spPr>
        <p:txBody>
          <a:bodyPr wrap="square" lIns="0" tIns="0" rIns="0" bIns="0" rtlCol="0" anchor="ctr"/>
          <a:lstStyle/>
          <a:p>
            <a:pPr algn="l" indent="0" marL="0">
              <a:buNone/>
            </a:pPr>
            <a:r>
              <a:rPr lang="en-US" sz="1200" dirty="0">
                <a:solidFill>
                  <a:schemeClr val="tx2"/>
                </a:solidFill>
              </a:rPr>
              <a:t>One strategy can be offered through many vehicles</a:t>
            </a:r>
            <a:endParaRPr lang="en-US" sz="1200" dirty="0"/>
          </a:p>
        </p:txBody>
      </p:sp>
      <p:sp>
        <p:nvSpPr>
          <p:cNvPr id="16" name="Shape 13"/>
          <p:cNvSpPr/>
          <p:nvPr/>
        </p:nvSpPr>
        <p:spPr>
          <a:xfrm>
            <a:off x="4480560" y="2240280"/>
            <a:ext cx="3291840" cy="822960"/>
          </a:xfrm>
          <a:prstGeom prst="roundRect">
            <a:avLst>
              <a:gd name="adj" fmla="val 8889"/>
            </a:avLst>
          </a:prstGeom>
          <a:solidFill>
            <a:schemeClr val="accent2"/>
          </a:solidFill>
          <a:ln/>
        </p:spPr>
      </p:sp>
      <p:sp>
        <p:nvSpPr>
          <p:cNvPr id="17" name="Text 14"/>
          <p:cNvSpPr txBox="1"/>
          <p:nvPr/>
        </p:nvSpPr>
        <p:spPr>
          <a:xfrm>
            <a:off x="4709160" y="2313432"/>
            <a:ext cx="2834640" cy="329184"/>
          </a:xfrm>
          <a:prstGeom prst="rect">
            <a:avLst/>
          </a:prstGeom>
          <a:noFill/>
          <a:ln/>
        </p:spPr>
        <p:txBody>
          <a:bodyPr wrap="square" lIns="0" tIns="0" rIns="0" bIns="0" rtlCol="0" anchor="ctr"/>
          <a:lstStyle/>
          <a:p>
            <a:pPr algn="l" indent="0" marL="0">
              <a:buNone/>
            </a:pPr>
            <a:r>
              <a:rPr lang="en-US" sz="1400" b="1" dirty="0">
                <a:solidFill>
                  <a:schemeClr val="bg1"/>
                </a:solidFill>
              </a:rPr>
              <a:t>Investment Product</a:t>
            </a:r>
            <a:endParaRPr lang="en-US" sz="1400" dirty="0"/>
          </a:p>
        </p:txBody>
      </p:sp>
      <p:sp>
        <p:nvSpPr>
          <p:cNvPr id="18" name="Text 15"/>
          <p:cNvSpPr txBox="1"/>
          <p:nvPr/>
        </p:nvSpPr>
        <p:spPr>
          <a:xfrm>
            <a:off x="4709160" y="2642616"/>
            <a:ext cx="2834640" cy="329184"/>
          </a:xfrm>
          <a:prstGeom prst="rect">
            <a:avLst/>
          </a:prstGeom>
          <a:noFill/>
          <a:ln/>
        </p:spPr>
        <p:txBody>
          <a:bodyPr wrap="square" lIns="0" tIns="0" rIns="0" bIns="0" rtlCol="0" anchor="ctr"/>
          <a:lstStyle/>
          <a:p>
            <a:pPr algn="l" indent="0" marL="0">
              <a:buNone/>
            </a:pPr>
            <a:r>
              <a:rPr lang="en-US" sz="1200" dirty="0">
                <a:solidFill>
                  <a:schemeClr val="bg1"/>
                </a:solidFill>
              </a:rPr>
              <a:t>Fund, sub-fund, ETF, CIT or other pooled vehicle</a:t>
            </a:r>
            <a:endParaRPr lang="en-US" sz="1200" dirty="0"/>
          </a:p>
        </p:txBody>
      </p:sp>
      <p:sp>
        <p:nvSpPr>
          <p:cNvPr id="19" name="Shape 16"/>
          <p:cNvSpPr/>
          <p:nvPr/>
        </p:nvSpPr>
        <p:spPr>
          <a:xfrm>
            <a:off x="4480560" y="3246120"/>
            <a:ext cx="3291840" cy="822960"/>
          </a:xfrm>
          <a:prstGeom prst="roundRect">
            <a:avLst>
              <a:gd name="adj" fmla="val 8889"/>
            </a:avLst>
          </a:prstGeom>
          <a:solidFill>
            <a:schemeClr val="bg2"/>
          </a:solidFill>
          <a:ln/>
        </p:spPr>
      </p:sp>
      <p:sp>
        <p:nvSpPr>
          <p:cNvPr id="20" name="Text 17"/>
          <p:cNvSpPr txBox="1"/>
          <p:nvPr/>
        </p:nvSpPr>
        <p:spPr>
          <a:xfrm>
            <a:off x="4709160" y="3319272"/>
            <a:ext cx="2834640" cy="329184"/>
          </a:xfrm>
          <a:prstGeom prst="rect">
            <a:avLst/>
          </a:prstGeom>
          <a:noFill/>
          <a:ln/>
        </p:spPr>
        <p:txBody>
          <a:bodyPr wrap="square" lIns="0" tIns="0" rIns="0" bIns="0" rtlCol="0" anchor="ctr"/>
          <a:lstStyle/>
          <a:p>
            <a:pPr algn="l" indent="0" marL="0">
              <a:buNone/>
            </a:pPr>
            <a:r>
              <a:rPr lang="en-US" sz="1400" b="1" dirty="0">
                <a:solidFill>
                  <a:schemeClr val="tx1"/>
                </a:solidFill>
              </a:rPr>
              <a:t>Investment Mandate</a:t>
            </a:r>
            <a:endParaRPr lang="en-US" sz="1400" dirty="0"/>
          </a:p>
        </p:txBody>
      </p:sp>
      <p:sp>
        <p:nvSpPr>
          <p:cNvPr id="21" name="Text 18"/>
          <p:cNvSpPr txBox="1"/>
          <p:nvPr/>
        </p:nvSpPr>
        <p:spPr>
          <a:xfrm>
            <a:off x="4709160" y="3648456"/>
            <a:ext cx="2834640" cy="329184"/>
          </a:xfrm>
          <a:prstGeom prst="rect">
            <a:avLst/>
          </a:prstGeom>
          <a:noFill/>
          <a:ln/>
        </p:spPr>
        <p:txBody>
          <a:bodyPr wrap="square" lIns="0" tIns="0" rIns="0" bIns="0" rtlCol="0" anchor="ctr"/>
          <a:lstStyle/>
          <a:p>
            <a:pPr algn="l" indent="0" marL="0">
              <a:buNone/>
            </a:pPr>
            <a:r>
              <a:rPr lang="en-US" sz="1200" dirty="0">
                <a:solidFill>
                  <a:schemeClr val="tx2"/>
                </a:solidFill>
              </a:rPr>
              <a:t>Segregated account or SMA for one client</a:t>
            </a:r>
            <a:endParaRPr lang="en-US" sz="1200" dirty="0"/>
          </a:p>
        </p:txBody>
      </p:sp>
      <p:sp>
        <p:nvSpPr>
          <p:cNvPr id="22" name="Shape 19"/>
          <p:cNvSpPr/>
          <p:nvPr/>
        </p:nvSpPr>
        <p:spPr>
          <a:xfrm>
            <a:off x="4480560" y="4251960"/>
            <a:ext cx="3291840" cy="822960"/>
          </a:xfrm>
          <a:prstGeom prst="roundRect">
            <a:avLst>
              <a:gd name="adj" fmla="val 8889"/>
            </a:avLst>
          </a:prstGeom>
          <a:solidFill>
            <a:schemeClr val="bg2"/>
          </a:solidFill>
          <a:ln/>
        </p:spPr>
      </p:sp>
      <p:sp>
        <p:nvSpPr>
          <p:cNvPr id="23" name="Text 20"/>
          <p:cNvSpPr txBox="1"/>
          <p:nvPr/>
        </p:nvSpPr>
        <p:spPr>
          <a:xfrm>
            <a:off x="4709160" y="4325112"/>
            <a:ext cx="2834640" cy="329184"/>
          </a:xfrm>
          <a:prstGeom prst="rect">
            <a:avLst/>
          </a:prstGeom>
          <a:noFill/>
          <a:ln/>
        </p:spPr>
        <p:txBody>
          <a:bodyPr wrap="square" lIns="0" tIns="0" rIns="0" bIns="0" rtlCol="0" anchor="ctr"/>
          <a:lstStyle/>
          <a:p>
            <a:pPr algn="l" indent="0" marL="0">
              <a:buNone/>
            </a:pPr>
            <a:r>
              <a:rPr lang="en-US" sz="1400" b="1" dirty="0">
                <a:solidFill>
                  <a:schemeClr val="tx1"/>
                </a:solidFill>
              </a:rPr>
              <a:t>Model Portfolio</a:t>
            </a:r>
            <a:endParaRPr lang="en-US" sz="1400" dirty="0"/>
          </a:p>
        </p:txBody>
      </p:sp>
      <p:sp>
        <p:nvSpPr>
          <p:cNvPr id="24" name="Text 21"/>
          <p:cNvSpPr txBox="1"/>
          <p:nvPr/>
        </p:nvSpPr>
        <p:spPr>
          <a:xfrm>
            <a:off x="4709160" y="4654296"/>
            <a:ext cx="2834640" cy="329184"/>
          </a:xfrm>
          <a:prstGeom prst="rect">
            <a:avLst/>
          </a:prstGeom>
          <a:noFill/>
          <a:ln/>
        </p:spPr>
        <p:txBody>
          <a:bodyPr wrap="square" lIns="0" tIns="0" rIns="0" bIns="0" rtlCol="0" anchor="ctr"/>
          <a:lstStyle/>
          <a:p>
            <a:pPr algn="l" indent="0" marL="0">
              <a:buNone/>
            </a:pPr>
            <a:r>
              <a:rPr lang="en-US" sz="1200" dirty="0">
                <a:solidFill>
                  <a:schemeClr val="tx2"/>
                </a:solidFill>
              </a:rPr>
              <a:t>Delivered to a platform or sponsor</a:t>
            </a:r>
            <a:endParaRPr lang="en-US" sz="1200" dirty="0"/>
          </a:p>
        </p:txBody>
      </p:sp>
      <p:sp>
        <p:nvSpPr>
          <p:cNvPr id="25" name="Shape 22"/>
          <p:cNvSpPr/>
          <p:nvPr/>
        </p:nvSpPr>
        <p:spPr>
          <a:xfrm flipV="1">
            <a:off x="3566160" y="2651760"/>
            <a:ext cx="914400" cy="594360"/>
          </a:xfrm>
          <a:prstGeom prst="line">
            <a:avLst/>
          </a:prstGeom>
          <a:noFill/>
          <a:ln w="19050">
            <a:solidFill>
              <a:schemeClr val="tx2"/>
            </a:solidFill>
            <a:prstDash val="solid"/>
            <a:tailEnd type="triangle"/>
          </a:ln>
        </p:spPr>
      </p:sp>
      <p:sp>
        <p:nvSpPr>
          <p:cNvPr id="26" name="Shape 23"/>
          <p:cNvSpPr/>
          <p:nvPr/>
        </p:nvSpPr>
        <p:spPr>
          <a:xfrm>
            <a:off x="3566160" y="3246120"/>
            <a:ext cx="914400" cy="411480"/>
          </a:xfrm>
          <a:prstGeom prst="line">
            <a:avLst/>
          </a:prstGeom>
          <a:noFill/>
          <a:ln w="19050">
            <a:solidFill>
              <a:schemeClr val="tx2"/>
            </a:solidFill>
            <a:prstDash val="solid"/>
            <a:tailEnd type="triangle"/>
          </a:ln>
        </p:spPr>
      </p:sp>
      <p:sp>
        <p:nvSpPr>
          <p:cNvPr id="27" name="Shape 24"/>
          <p:cNvSpPr/>
          <p:nvPr/>
        </p:nvSpPr>
        <p:spPr>
          <a:xfrm>
            <a:off x="3566160" y="3246120"/>
            <a:ext cx="914400" cy="1417320"/>
          </a:xfrm>
          <a:prstGeom prst="line">
            <a:avLst/>
          </a:prstGeom>
          <a:noFill/>
          <a:ln w="19050">
            <a:solidFill>
              <a:schemeClr val="tx2"/>
            </a:solidFill>
            <a:prstDash val="solid"/>
            <a:tailEnd type="triangle"/>
          </a:ln>
        </p:spPr>
      </p:sp>
      <p:sp>
        <p:nvSpPr>
          <p:cNvPr id="28" name="Shape 25"/>
          <p:cNvSpPr/>
          <p:nvPr/>
        </p:nvSpPr>
        <p:spPr>
          <a:xfrm>
            <a:off x="7772400" y="2651760"/>
            <a:ext cx="914400" cy="0"/>
          </a:xfrm>
          <a:prstGeom prst="line">
            <a:avLst/>
          </a:prstGeom>
          <a:noFill/>
          <a:ln w="19050">
            <a:solidFill>
              <a:schemeClr val="tx2"/>
            </a:solidFill>
            <a:prstDash val="solid"/>
            <a:tailEnd type="triangle"/>
          </a:ln>
        </p:spPr>
      </p:sp>
      <p:sp>
        <p:nvSpPr>
          <p:cNvPr id="29" name="Shape 26"/>
          <p:cNvSpPr/>
          <p:nvPr/>
        </p:nvSpPr>
        <p:spPr>
          <a:xfrm>
            <a:off x="8686800" y="2240280"/>
            <a:ext cx="2953512" cy="822960"/>
          </a:xfrm>
          <a:prstGeom prst="roundRect">
            <a:avLst>
              <a:gd name="adj" fmla="val 8889"/>
            </a:avLst>
          </a:prstGeom>
          <a:solidFill>
            <a:schemeClr val="accent4"/>
          </a:solidFill>
          <a:ln/>
        </p:spPr>
      </p:sp>
      <p:sp>
        <p:nvSpPr>
          <p:cNvPr id="30" name="Text 27"/>
          <p:cNvSpPr txBox="1"/>
          <p:nvPr/>
        </p:nvSpPr>
        <p:spPr>
          <a:xfrm>
            <a:off x="8915400" y="2313432"/>
            <a:ext cx="2496312" cy="329184"/>
          </a:xfrm>
          <a:prstGeom prst="rect">
            <a:avLst/>
          </a:prstGeom>
          <a:noFill/>
          <a:ln/>
        </p:spPr>
        <p:txBody>
          <a:bodyPr wrap="square" lIns="0" tIns="0" rIns="0" bIns="0" rtlCol="0" anchor="ctr"/>
          <a:lstStyle/>
          <a:p>
            <a:pPr algn="l" indent="0" marL="0">
              <a:buNone/>
            </a:pPr>
            <a:r>
              <a:rPr lang="en-US" sz="1400" b="1" dirty="0">
                <a:solidFill>
                  <a:schemeClr val="bg1"/>
                </a:solidFill>
              </a:rPr>
              <a:t>Share Class</a:t>
            </a:r>
            <a:endParaRPr lang="en-US" sz="1400" dirty="0"/>
          </a:p>
        </p:txBody>
      </p:sp>
      <p:sp>
        <p:nvSpPr>
          <p:cNvPr id="31" name="Text 28"/>
          <p:cNvSpPr txBox="1"/>
          <p:nvPr/>
        </p:nvSpPr>
        <p:spPr>
          <a:xfrm>
            <a:off x="8915400" y="2642616"/>
            <a:ext cx="2496312" cy="329184"/>
          </a:xfrm>
          <a:prstGeom prst="rect">
            <a:avLst/>
          </a:prstGeom>
          <a:noFill/>
          <a:ln/>
        </p:spPr>
        <p:txBody>
          <a:bodyPr wrap="square" lIns="0" tIns="0" rIns="0" bIns="0" rtlCol="0" anchor="ctr"/>
          <a:lstStyle/>
          <a:p>
            <a:pPr algn="l" indent="0" marL="0">
              <a:buNone/>
            </a:pPr>
            <a:r>
              <a:rPr lang="en-US" sz="1200" dirty="0">
                <a:solidFill>
                  <a:schemeClr val="bg1"/>
                </a:solidFill>
              </a:rPr>
              <a:t>Currency, fees, hedging, eligibility</a:t>
            </a:r>
            <a:endParaRPr lang="en-US" sz="1200" dirty="0"/>
          </a:p>
        </p:txBody>
      </p:sp>
      <p:sp>
        <p:nvSpPr>
          <p:cNvPr id="32" name="Text 29"/>
          <p:cNvSpPr txBox="1"/>
          <p:nvPr/>
        </p:nvSpPr>
        <p:spPr>
          <a:xfrm>
            <a:off x="8686800" y="3200400"/>
            <a:ext cx="2953512" cy="640080"/>
          </a:xfrm>
          <a:prstGeom prst="rect">
            <a:avLst/>
          </a:prstGeom>
          <a:noFill/>
          <a:ln/>
        </p:spPr>
        <p:txBody>
          <a:bodyPr wrap="square" lIns="0" tIns="0" rIns="0" bIns="0" rtlCol="0" anchor="t"/>
          <a:lstStyle/>
          <a:p>
            <a:pPr algn="l" indent="0" marL="0">
              <a:buNone/>
            </a:pPr>
            <a:r>
              <a:rPr lang="en-US" sz="1200" dirty="0">
                <a:solidFill>
                  <a:schemeClr val="tx2"/>
                </a:solidFill>
              </a:rPr>
              <a:t>One product issues one or more share classes. Mandates and models have none.</a:t>
            </a:r>
            <a:endParaRPr lang="en-US" sz="1200" dirty="0"/>
          </a:p>
        </p:txBody>
      </p:sp>
      <p:sp>
        <p:nvSpPr>
          <p:cNvPr id="33" name="Shape 30"/>
          <p:cNvSpPr/>
          <p:nvPr/>
        </p:nvSpPr>
        <p:spPr>
          <a:xfrm>
            <a:off x="548640" y="5303520"/>
            <a:ext cx="11091672" cy="868680"/>
          </a:xfrm>
          <a:prstGeom prst="roundRect">
            <a:avLst>
              <a:gd name="adj" fmla="val 8421"/>
            </a:avLst>
          </a:prstGeom>
          <a:solidFill>
            <a:schemeClr val="bg2"/>
          </a:solidFill>
          <a:ln/>
        </p:spPr>
      </p:sp>
      <p:sp>
        <p:nvSpPr>
          <p:cNvPr id="34" name="Text 31"/>
          <p:cNvSpPr txBox="1"/>
          <p:nvPr/>
        </p:nvSpPr>
        <p:spPr>
          <a:xfrm>
            <a:off x="822960" y="5303520"/>
            <a:ext cx="10543032" cy="868680"/>
          </a:xfrm>
          <a:prstGeom prst="rect">
            <a:avLst/>
          </a:prstGeom>
          <a:noFill/>
          <a:ln/>
        </p:spPr>
        <p:txBody>
          <a:bodyPr wrap="square" lIns="0" tIns="0" rIns="0" bIns="0" rtlCol="0" anchor="ctr"/>
          <a:lstStyle/>
          <a:p>
            <a:pPr algn="l" indent="0" marL="0">
              <a:buNone/>
            </a:pPr>
            <a:r>
              <a:rPr lang="en-US" sz="1400" dirty="0">
                <a:solidFill>
                  <a:schemeClr val="tx1"/>
                </a:solidFill>
              </a:rPr>
              <a:t>Most classification is set at Strategy and inherited by Product. Most commercial terms (fees, currency, registration, identifiers) sit at Share Class: 110 of the 307 attributes apply to share class alone, and 86 to product alone.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WHAT IS INCLUDED  |  THE 14 FAMILIES</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Fourteen families in three groups</a:t>
            </a:r>
            <a:endParaRPr lang="en-US" sz="3600" dirty="0"/>
          </a:p>
        </p:txBody>
      </p:sp>
      <p:sp>
        <p:nvSpPr>
          <p:cNvPr id="5" name="Shape 2"/>
          <p:cNvSpPr/>
          <p:nvPr/>
        </p:nvSpPr>
        <p:spPr>
          <a:xfrm>
            <a:off x="548640" y="1783080"/>
            <a:ext cx="3511296" cy="777240"/>
          </a:xfrm>
          <a:prstGeom prst="roundRect">
            <a:avLst>
              <a:gd name="adj" fmla="val 9412"/>
            </a:avLst>
          </a:prstGeom>
          <a:solidFill>
            <a:schemeClr val="accent1"/>
          </a:solidFill>
          <a:ln/>
        </p:spPr>
      </p:sp>
      <p:sp>
        <p:nvSpPr>
          <p:cNvPr id="6" name="Text 3"/>
          <p:cNvSpPr txBox="1"/>
          <p:nvPr/>
        </p:nvSpPr>
        <p:spPr>
          <a:xfrm>
            <a:off x="731520" y="1856232"/>
            <a:ext cx="3145536" cy="347472"/>
          </a:xfrm>
          <a:prstGeom prst="rect">
            <a:avLst/>
          </a:prstGeom>
          <a:noFill/>
          <a:ln/>
        </p:spPr>
        <p:txBody>
          <a:bodyPr wrap="square" lIns="0" tIns="0" rIns="0" bIns="0" rtlCol="0" anchor="ctr"/>
          <a:lstStyle/>
          <a:p>
            <a:pPr algn="l" indent="0" marL="0">
              <a:buNone/>
            </a:pPr>
            <a:r>
              <a:rPr lang="en-US" sz="1400" b="1" dirty="0">
                <a:solidFill>
                  <a:schemeClr val="bg1"/>
                </a:solidFill>
              </a:rPr>
              <a:t>The spine</a:t>
            </a:r>
            <a:endParaRPr lang="en-US" sz="1400" dirty="0"/>
          </a:p>
        </p:txBody>
      </p:sp>
      <p:sp>
        <p:nvSpPr>
          <p:cNvPr id="7" name="Text 4"/>
          <p:cNvSpPr txBox="1"/>
          <p:nvPr/>
        </p:nvSpPr>
        <p:spPr>
          <a:xfrm>
            <a:off x="731520" y="2203704"/>
            <a:ext cx="3145536" cy="274320"/>
          </a:xfrm>
          <a:prstGeom prst="rect">
            <a:avLst/>
          </a:prstGeom>
          <a:noFill/>
          <a:ln/>
        </p:spPr>
        <p:txBody>
          <a:bodyPr wrap="square" lIns="0" tIns="0" rIns="0" bIns="0" rtlCol="0" anchor="ctr"/>
          <a:lstStyle/>
          <a:p>
            <a:pPr algn="l" indent="0" marL="0">
              <a:buNone/>
            </a:pPr>
            <a:r>
              <a:rPr lang="en-US" sz="1200" dirty="0">
                <a:solidFill>
                  <a:schemeClr val="bg1"/>
                </a:solidFill>
              </a:rPr>
              <a:t>3 families  |  12 objects  |  92 attributes</a:t>
            </a:r>
            <a:endParaRPr lang="en-US" sz="1200" dirty="0"/>
          </a:p>
        </p:txBody>
      </p:sp>
      <p:sp>
        <p:nvSpPr>
          <p:cNvPr id="8" name="Shape 5"/>
          <p:cNvSpPr/>
          <p:nvPr/>
        </p:nvSpPr>
        <p:spPr>
          <a:xfrm>
            <a:off x="548640" y="2697480"/>
            <a:ext cx="3511296" cy="521208"/>
          </a:xfrm>
          <a:prstGeom prst="roundRect">
            <a:avLst>
              <a:gd name="adj" fmla="val 14035"/>
            </a:avLst>
          </a:prstGeom>
          <a:solidFill>
            <a:schemeClr val="bg2"/>
          </a:solidFill>
          <a:ln/>
        </p:spPr>
      </p:sp>
      <p:sp>
        <p:nvSpPr>
          <p:cNvPr id="9" name="Text 6"/>
          <p:cNvSpPr txBox="1"/>
          <p:nvPr/>
        </p:nvSpPr>
        <p:spPr>
          <a:xfrm>
            <a:off x="731520" y="2734056"/>
            <a:ext cx="3145536" cy="256032"/>
          </a:xfrm>
          <a:prstGeom prst="rect">
            <a:avLst/>
          </a:prstGeom>
          <a:noFill/>
          <a:ln/>
        </p:spPr>
        <p:txBody>
          <a:bodyPr wrap="square" lIns="0" tIns="0" rIns="0" bIns="0" rtlCol="0" anchor="ctr"/>
          <a:lstStyle/>
          <a:p>
            <a:pPr algn="l" indent="0" marL="0">
              <a:buNone/>
            </a:pPr>
            <a:r>
              <a:rPr lang="en-US" sz="1300" b="1" dirty="0">
                <a:solidFill>
                  <a:schemeClr val="tx1"/>
                </a:solidFill>
              </a:rPr>
              <a:t>Investment Strategy</a:t>
            </a:r>
            <a:endParaRPr lang="en-US" sz="1300" dirty="0"/>
          </a:p>
        </p:txBody>
      </p:sp>
      <p:sp>
        <p:nvSpPr>
          <p:cNvPr id="10" name="Text 7"/>
          <p:cNvSpPr txBox="1"/>
          <p:nvPr/>
        </p:nvSpPr>
        <p:spPr>
          <a:xfrm>
            <a:off x="731520" y="2971800"/>
            <a:ext cx="3145536" cy="219456"/>
          </a:xfrm>
          <a:prstGeom prst="rect">
            <a:avLst/>
          </a:prstGeom>
          <a:noFill/>
          <a:ln/>
        </p:spPr>
        <p:txBody>
          <a:bodyPr wrap="square" lIns="0" tIns="0" rIns="0" bIns="0" rtlCol="0" anchor="ctr"/>
          <a:lstStyle/>
          <a:p>
            <a:pPr algn="l" indent="0" marL="0">
              <a:buNone/>
            </a:pPr>
            <a:r>
              <a:rPr lang="en-US" sz="1100" dirty="0">
                <a:solidFill>
                  <a:schemeClr val="tx2"/>
                </a:solidFill>
              </a:rPr>
              <a:t>3 objects  |  27 attributes  |  9 critical</a:t>
            </a:r>
            <a:endParaRPr lang="en-US" sz="1100" dirty="0"/>
          </a:p>
        </p:txBody>
      </p:sp>
      <p:sp>
        <p:nvSpPr>
          <p:cNvPr id="11" name="Shape 8"/>
          <p:cNvSpPr/>
          <p:nvPr/>
        </p:nvSpPr>
        <p:spPr>
          <a:xfrm>
            <a:off x="548640" y="3300984"/>
            <a:ext cx="3511296" cy="521208"/>
          </a:xfrm>
          <a:prstGeom prst="roundRect">
            <a:avLst>
              <a:gd name="adj" fmla="val 14035"/>
            </a:avLst>
          </a:prstGeom>
          <a:solidFill>
            <a:schemeClr val="bg2"/>
          </a:solidFill>
          <a:ln/>
        </p:spPr>
      </p:sp>
      <p:sp>
        <p:nvSpPr>
          <p:cNvPr id="12" name="Text 9"/>
          <p:cNvSpPr txBox="1"/>
          <p:nvPr/>
        </p:nvSpPr>
        <p:spPr>
          <a:xfrm>
            <a:off x="731520" y="3337560"/>
            <a:ext cx="3145536" cy="256032"/>
          </a:xfrm>
          <a:prstGeom prst="rect">
            <a:avLst/>
          </a:prstGeom>
          <a:noFill/>
          <a:ln/>
        </p:spPr>
        <p:txBody>
          <a:bodyPr wrap="square" lIns="0" tIns="0" rIns="0" bIns="0" rtlCol="0" anchor="ctr"/>
          <a:lstStyle/>
          <a:p>
            <a:pPr algn="l" indent="0" marL="0">
              <a:buNone/>
            </a:pPr>
            <a:r>
              <a:rPr lang="en-US" sz="1300" b="1" dirty="0">
                <a:solidFill>
                  <a:schemeClr val="tx1"/>
                </a:solidFill>
              </a:rPr>
              <a:t>Product &amp; Vehicle</a:t>
            </a:r>
            <a:endParaRPr lang="en-US" sz="1300" dirty="0"/>
          </a:p>
        </p:txBody>
      </p:sp>
      <p:sp>
        <p:nvSpPr>
          <p:cNvPr id="13" name="Text 10"/>
          <p:cNvSpPr txBox="1"/>
          <p:nvPr/>
        </p:nvSpPr>
        <p:spPr>
          <a:xfrm>
            <a:off x="731520" y="3575304"/>
            <a:ext cx="3145536" cy="219456"/>
          </a:xfrm>
          <a:prstGeom prst="rect">
            <a:avLst/>
          </a:prstGeom>
          <a:noFill/>
          <a:ln/>
        </p:spPr>
        <p:txBody>
          <a:bodyPr wrap="square" lIns="0" tIns="0" rIns="0" bIns="0" rtlCol="0" anchor="ctr"/>
          <a:lstStyle/>
          <a:p>
            <a:pPr algn="l" indent="0" marL="0">
              <a:buNone/>
            </a:pPr>
            <a:r>
              <a:rPr lang="en-US" sz="1100" dirty="0">
                <a:solidFill>
                  <a:schemeClr val="tx2"/>
                </a:solidFill>
              </a:rPr>
              <a:t>5 objects  |  43 attributes  |  21 critical</a:t>
            </a:r>
            <a:endParaRPr lang="en-US" sz="1100" dirty="0"/>
          </a:p>
        </p:txBody>
      </p:sp>
      <p:sp>
        <p:nvSpPr>
          <p:cNvPr id="14" name="Shape 11"/>
          <p:cNvSpPr/>
          <p:nvPr/>
        </p:nvSpPr>
        <p:spPr>
          <a:xfrm>
            <a:off x="548640" y="3904488"/>
            <a:ext cx="3511296" cy="521208"/>
          </a:xfrm>
          <a:prstGeom prst="roundRect">
            <a:avLst>
              <a:gd name="adj" fmla="val 14035"/>
            </a:avLst>
          </a:prstGeom>
          <a:solidFill>
            <a:schemeClr val="bg2"/>
          </a:solidFill>
          <a:ln/>
        </p:spPr>
      </p:sp>
      <p:sp>
        <p:nvSpPr>
          <p:cNvPr id="15" name="Text 12"/>
          <p:cNvSpPr txBox="1"/>
          <p:nvPr/>
        </p:nvSpPr>
        <p:spPr>
          <a:xfrm>
            <a:off x="731520" y="3941064"/>
            <a:ext cx="3145536" cy="256032"/>
          </a:xfrm>
          <a:prstGeom prst="rect">
            <a:avLst/>
          </a:prstGeom>
          <a:noFill/>
          <a:ln/>
        </p:spPr>
        <p:txBody>
          <a:bodyPr wrap="square" lIns="0" tIns="0" rIns="0" bIns="0" rtlCol="0" anchor="ctr"/>
          <a:lstStyle/>
          <a:p>
            <a:pPr algn="l" indent="0" marL="0">
              <a:buNone/>
            </a:pPr>
            <a:r>
              <a:rPr lang="en-US" sz="1300" b="1" dirty="0">
                <a:solidFill>
                  <a:schemeClr val="tx1"/>
                </a:solidFill>
              </a:rPr>
              <a:t>Share Class</a:t>
            </a:r>
            <a:endParaRPr lang="en-US" sz="1300" dirty="0"/>
          </a:p>
        </p:txBody>
      </p:sp>
      <p:sp>
        <p:nvSpPr>
          <p:cNvPr id="16" name="Text 13"/>
          <p:cNvSpPr txBox="1"/>
          <p:nvPr/>
        </p:nvSpPr>
        <p:spPr>
          <a:xfrm>
            <a:off x="731520" y="4178808"/>
            <a:ext cx="3145536" cy="219456"/>
          </a:xfrm>
          <a:prstGeom prst="rect">
            <a:avLst/>
          </a:prstGeom>
          <a:noFill/>
          <a:ln/>
        </p:spPr>
        <p:txBody>
          <a:bodyPr wrap="square" lIns="0" tIns="0" rIns="0" bIns="0" rtlCol="0" anchor="ctr"/>
          <a:lstStyle/>
          <a:p>
            <a:pPr algn="l" indent="0" marL="0">
              <a:buNone/>
            </a:pPr>
            <a:r>
              <a:rPr lang="en-US" sz="1100" dirty="0">
                <a:solidFill>
                  <a:schemeClr val="tx2"/>
                </a:solidFill>
              </a:rPr>
              <a:t>4 objects  |  22 attributes  |  10 critical</a:t>
            </a:r>
            <a:endParaRPr lang="en-US" sz="1100" dirty="0"/>
          </a:p>
        </p:txBody>
      </p:sp>
      <p:sp>
        <p:nvSpPr>
          <p:cNvPr id="17" name="Shape 14"/>
          <p:cNvSpPr/>
          <p:nvPr/>
        </p:nvSpPr>
        <p:spPr>
          <a:xfrm>
            <a:off x="4338828" y="1783080"/>
            <a:ext cx="3511296" cy="777240"/>
          </a:xfrm>
          <a:prstGeom prst="roundRect">
            <a:avLst>
              <a:gd name="adj" fmla="val 9412"/>
            </a:avLst>
          </a:prstGeom>
          <a:solidFill>
            <a:schemeClr val="accent2"/>
          </a:solidFill>
          <a:ln/>
        </p:spPr>
      </p:sp>
      <p:sp>
        <p:nvSpPr>
          <p:cNvPr id="18" name="Text 15"/>
          <p:cNvSpPr txBox="1"/>
          <p:nvPr/>
        </p:nvSpPr>
        <p:spPr>
          <a:xfrm>
            <a:off x="4521708" y="1856232"/>
            <a:ext cx="3145536" cy="347472"/>
          </a:xfrm>
          <a:prstGeom prst="rect">
            <a:avLst/>
          </a:prstGeom>
          <a:noFill/>
          <a:ln/>
        </p:spPr>
        <p:txBody>
          <a:bodyPr wrap="square" lIns="0" tIns="0" rIns="0" bIns="0" rtlCol="0" anchor="ctr"/>
          <a:lstStyle/>
          <a:p>
            <a:pPr algn="l" indent="0" marL="0">
              <a:buNone/>
            </a:pPr>
            <a:r>
              <a:rPr lang="en-US" sz="1400" b="1" dirty="0">
                <a:solidFill>
                  <a:schemeClr val="bg1"/>
                </a:solidFill>
              </a:rPr>
              <a:t>Identity, classification and terms</a:t>
            </a:r>
            <a:endParaRPr lang="en-US" sz="1400" dirty="0"/>
          </a:p>
        </p:txBody>
      </p:sp>
      <p:sp>
        <p:nvSpPr>
          <p:cNvPr id="19" name="Text 16"/>
          <p:cNvSpPr txBox="1"/>
          <p:nvPr/>
        </p:nvSpPr>
        <p:spPr>
          <a:xfrm>
            <a:off x="4521708" y="2203704"/>
            <a:ext cx="3145536" cy="274320"/>
          </a:xfrm>
          <a:prstGeom prst="rect">
            <a:avLst/>
          </a:prstGeom>
          <a:noFill/>
          <a:ln/>
        </p:spPr>
        <p:txBody>
          <a:bodyPr wrap="square" lIns="0" tIns="0" rIns="0" bIns="0" rtlCol="0" anchor="ctr"/>
          <a:lstStyle/>
          <a:p>
            <a:pPr algn="l" indent="0" marL="0">
              <a:buNone/>
            </a:pPr>
            <a:r>
              <a:rPr lang="en-US" sz="1200" dirty="0">
                <a:solidFill>
                  <a:schemeClr val="bg1"/>
                </a:solidFill>
              </a:rPr>
              <a:t>5 families  |  19 objects  |  110 attributes</a:t>
            </a:r>
            <a:endParaRPr lang="en-US" sz="1200" dirty="0"/>
          </a:p>
        </p:txBody>
      </p:sp>
      <p:sp>
        <p:nvSpPr>
          <p:cNvPr id="20" name="Shape 17"/>
          <p:cNvSpPr/>
          <p:nvPr/>
        </p:nvSpPr>
        <p:spPr>
          <a:xfrm>
            <a:off x="4338828" y="2697480"/>
            <a:ext cx="3511296" cy="521208"/>
          </a:xfrm>
          <a:prstGeom prst="roundRect">
            <a:avLst>
              <a:gd name="adj" fmla="val 14035"/>
            </a:avLst>
          </a:prstGeom>
          <a:solidFill>
            <a:schemeClr val="bg2"/>
          </a:solidFill>
          <a:ln/>
        </p:spPr>
      </p:sp>
      <p:sp>
        <p:nvSpPr>
          <p:cNvPr id="21" name="Text 18"/>
          <p:cNvSpPr txBox="1"/>
          <p:nvPr/>
        </p:nvSpPr>
        <p:spPr>
          <a:xfrm>
            <a:off x="4521708" y="2734056"/>
            <a:ext cx="3145536" cy="256032"/>
          </a:xfrm>
          <a:prstGeom prst="rect">
            <a:avLst/>
          </a:prstGeom>
          <a:noFill/>
          <a:ln/>
        </p:spPr>
        <p:txBody>
          <a:bodyPr wrap="square" lIns="0" tIns="0" rIns="0" bIns="0" rtlCol="0" anchor="ctr"/>
          <a:lstStyle/>
          <a:p>
            <a:pPr algn="l" indent="0" marL="0">
              <a:buNone/>
            </a:pPr>
            <a:r>
              <a:rPr lang="en-US" sz="1300" b="1" dirty="0">
                <a:solidFill>
                  <a:schemeClr val="tx1"/>
                </a:solidFill>
              </a:rPr>
              <a:t>Identifiers &amp; Cross-References</a:t>
            </a:r>
            <a:endParaRPr lang="en-US" sz="1300" dirty="0"/>
          </a:p>
        </p:txBody>
      </p:sp>
      <p:sp>
        <p:nvSpPr>
          <p:cNvPr id="22" name="Text 19"/>
          <p:cNvSpPr txBox="1"/>
          <p:nvPr/>
        </p:nvSpPr>
        <p:spPr>
          <a:xfrm>
            <a:off x="4521708" y="2971800"/>
            <a:ext cx="3145536" cy="219456"/>
          </a:xfrm>
          <a:prstGeom prst="rect">
            <a:avLst/>
          </a:prstGeom>
          <a:noFill/>
          <a:ln/>
        </p:spPr>
        <p:txBody>
          <a:bodyPr wrap="square" lIns="0" tIns="0" rIns="0" bIns="0" rtlCol="0" anchor="ctr"/>
          <a:lstStyle/>
          <a:p>
            <a:pPr algn="l" indent="0" marL="0">
              <a:buNone/>
            </a:pPr>
            <a:r>
              <a:rPr lang="en-US" sz="1100" dirty="0">
                <a:solidFill>
                  <a:schemeClr val="tx2"/>
                </a:solidFill>
              </a:rPr>
              <a:t>4 objects  |  19 attributes  |  3 critical</a:t>
            </a:r>
            <a:endParaRPr lang="en-US" sz="1100" dirty="0"/>
          </a:p>
        </p:txBody>
      </p:sp>
      <p:sp>
        <p:nvSpPr>
          <p:cNvPr id="23" name="Shape 20"/>
          <p:cNvSpPr/>
          <p:nvPr/>
        </p:nvSpPr>
        <p:spPr>
          <a:xfrm>
            <a:off x="4338828" y="3300984"/>
            <a:ext cx="3511296" cy="521208"/>
          </a:xfrm>
          <a:prstGeom prst="roundRect">
            <a:avLst>
              <a:gd name="adj" fmla="val 14035"/>
            </a:avLst>
          </a:prstGeom>
          <a:solidFill>
            <a:schemeClr val="bg2"/>
          </a:solidFill>
          <a:ln/>
        </p:spPr>
      </p:sp>
      <p:sp>
        <p:nvSpPr>
          <p:cNvPr id="24" name="Text 21"/>
          <p:cNvSpPr txBox="1"/>
          <p:nvPr/>
        </p:nvSpPr>
        <p:spPr>
          <a:xfrm>
            <a:off x="4521708" y="3337560"/>
            <a:ext cx="3145536" cy="256032"/>
          </a:xfrm>
          <a:prstGeom prst="rect">
            <a:avLst/>
          </a:prstGeom>
          <a:noFill/>
          <a:ln/>
        </p:spPr>
        <p:txBody>
          <a:bodyPr wrap="square" lIns="0" tIns="0" rIns="0" bIns="0" rtlCol="0" anchor="ctr"/>
          <a:lstStyle/>
          <a:p>
            <a:pPr algn="l" indent="0" marL="0">
              <a:buNone/>
            </a:pPr>
            <a:r>
              <a:rPr lang="en-US" sz="1300" b="1" dirty="0">
                <a:solidFill>
                  <a:schemeClr val="tx1"/>
                </a:solidFill>
              </a:rPr>
              <a:t>Product Classification</a:t>
            </a:r>
            <a:endParaRPr lang="en-US" sz="1300" dirty="0"/>
          </a:p>
        </p:txBody>
      </p:sp>
      <p:sp>
        <p:nvSpPr>
          <p:cNvPr id="25" name="Text 22"/>
          <p:cNvSpPr txBox="1"/>
          <p:nvPr/>
        </p:nvSpPr>
        <p:spPr>
          <a:xfrm>
            <a:off x="4521708" y="3575304"/>
            <a:ext cx="3145536" cy="219456"/>
          </a:xfrm>
          <a:prstGeom prst="rect">
            <a:avLst/>
          </a:prstGeom>
          <a:noFill/>
          <a:ln/>
        </p:spPr>
        <p:txBody>
          <a:bodyPr wrap="square" lIns="0" tIns="0" rIns="0" bIns="0" rtlCol="0" anchor="ctr"/>
          <a:lstStyle/>
          <a:p>
            <a:pPr algn="l" indent="0" marL="0">
              <a:buNone/>
            </a:pPr>
            <a:r>
              <a:rPr lang="en-US" sz="1100" dirty="0">
                <a:solidFill>
                  <a:schemeClr val="tx2"/>
                </a:solidFill>
              </a:rPr>
              <a:t>4 objects  |  22 attributes  |  5 critical</a:t>
            </a:r>
            <a:endParaRPr lang="en-US" sz="1100" dirty="0"/>
          </a:p>
        </p:txBody>
      </p:sp>
      <p:sp>
        <p:nvSpPr>
          <p:cNvPr id="26" name="Shape 23"/>
          <p:cNvSpPr/>
          <p:nvPr/>
        </p:nvSpPr>
        <p:spPr>
          <a:xfrm>
            <a:off x="4338828" y="3904488"/>
            <a:ext cx="3511296" cy="521208"/>
          </a:xfrm>
          <a:prstGeom prst="roundRect">
            <a:avLst>
              <a:gd name="adj" fmla="val 14035"/>
            </a:avLst>
          </a:prstGeom>
          <a:solidFill>
            <a:schemeClr val="bg2"/>
          </a:solidFill>
          <a:ln/>
        </p:spPr>
      </p:sp>
      <p:sp>
        <p:nvSpPr>
          <p:cNvPr id="27" name="Text 24"/>
          <p:cNvSpPr txBox="1"/>
          <p:nvPr/>
        </p:nvSpPr>
        <p:spPr>
          <a:xfrm>
            <a:off x="4521708" y="3941064"/>
            <a:ext cx="3145536" cy="256032"/>
          </a:xfrm>
          <a:prstGeom prst="rect">
            <a:avLst/>
          </a:prstGeom>
          <a:noFill/>
          <a:ln/>
        </p:spPr>
        <p:txBody>
          <a:bodyPr wrap="square" lIns="0" tIns="0" rIns="0" bIns="0" rtlCol="0" anchor="ctr"/>
          <a:lstStyle/>
          <a:p>
            <a:pPr algn="l" indent="0" marL="0">
              <a:buNone/>
            </a:pPr>
            <a:r>
              <a:rPr lang="en-US" sz="1300" b="1" dirty="0">
                <a:solidFill>
                  <a:schemeClr val="tx1"/>
                </a:solidFill>
              </a:rPr>
              <a:t>Investment Policy &amp; Risk</a:t>
            </a:r>
            <a:endParaRPr lang="en-US" sz="1300" dirty="0"/>
          </a:p>
        </p:txBody>
      </p:sp>
      <p:sp>
        <p:nvSpPr>
          <p:cNvPr id="28" name="Text 25"/>
          <p:cNvSpPr txBox="1"/>
          <p:nvPr/>
        </p:nvSpPr>
        <p:spPr>
          <a:xfrm>
            <a:off x="4521708" y="4178808"/>
            <a:ext cx="3145536" cy="219456"/>
          </a:xfrm>
          <a:prstGeom prst="rect">
            <a:avLst/>
          </a:prstGeom>
          <a:noFill/>
          <a:ln/>
        </p:spPr>
        <p:txBody>
          <a:bodyPr wrap="square" lIns="0" tIns="0" rIns="0" bIns="0" rtlCol="0" anchor="ctr"/>
          <a:lstStyle/>
          <a:p>
            <a:pPr algn="l" indent="0" marL="0">
              <a:buNone/>
            </a:pPr>
            <a:r>
              <a:rPr lang="en-US" sz="1100" dirty="0">
                <a:solidFill>
                  <a:schemeClr val="tx2"/>
                </a:solidFill>
              </a:rPr>
              <a:t>3 objects  |  21 attributes  |  5 critical</a:t>
            </a:r>
            <a:endParaRPr lang="en-US" sz="1100" dirty="0"/>
          </a:p>
        </p:txBody>
      </p:sp>
      <p:sp>
        <p:nvSpPr>
          <p:cNvPr id="29" name="Shape 26"/>
          <p:cNvSpPr/>
          <p:nvPr/>
        </p:nvSpPr>
        <p:spPr>
          <a:xfrm>
            <a:off x="4338828" y="4507992"/>
            <a:ext cx="3511296" cy="521208"/>
          </a:xfrm>
          <a:prstGeom prst="roundRect">
            <a:avLst>
              <a:gd name="adj" fmla="val 14035"/>
            </a:avLst>
          </a:prstGeom>
          <a:solidFill>
            <a:schemeClr val="bg2"/>
          </a:solidFill>
          <a:ln/>
        </p:spPr>
      </p:sp>
      <p:sp>
        <p:nvSpPr>
          <p:cNvPr id="30" name="Text 27"/>
          <p:cNvSpPr txBox="1"/>
          <p:nvPr/>
        </p:nvSpPr>
        <p:spPr>
          <a:xfrm>
            <a:off x="4521708" y="4544568"/>
            <a:ext cx="3145536" cy="256032"/>
          </a:xfrm>
          <a:prstGeom prst="rect">
            <a:avLst/>
          </a:prstGeom>
          <a:noFill/>
          <a:ln/>
        </p:spPr>
        <p:txBody>
          <a:bodyPr wrap="square" lIns="0" tIns="0" rIns="0" bIns="0" rtlCol="0" anchor="ctr"/>
          <a:lstStyle/>
          <a:p>
            <a:pPr algn="l" indent="0" marL="0">
              <a:buNone/>
            </a:pPr>
            <a:r>
              <a:rPr lang="en-US" sz="1300" b="1" dirty="0">
                <a:solidFill>
                  <a:schemeClr val="tx1"/>
                </a:solidFill>
              </a:rPr>
              <a:t>Benchmark &amp; Performance Reference</a:t>
            </a:r>
            <a:endParaRPr lang="en-US" sz="1300" dirty="0"/>
          </a:p>
        </p:txBody>
      </p:sp>
      <p:sp>
        <p:nvSpPr>
          <p:cNvPr id="31" name="Text 28"/>
          <p:cNvSpPr txBox="1"/>
          <p:nvPr/>
        </p:nvSpPr>
        <p:spPr>
          <a:xfrm>
            <a:off x="4521708" y="4782312"/>
            <a:ext cx="3145536" cy="219456"/>
          </a:xfrm>
          <a:prstGeom prst="rect">
            <a:avLst/>
          </a:prstGeom>
          <a:noFill/>
          <a:ln/>
        </p:spPr>
        <p:txBody>
          <a:bodyPr wrap="square" lIns="0" tIns="0" rIns="0" bIns="0" rtlCol="0" anchor="ctr"/>
          <a:lstStyle/>
          <a:p>
            <a:pPr algn="l" indent="0" marL="0">
              <a:buNone/>
            </a:pPr>
            <a:r>
              <a:rPr lang="en-US" sz="1100" dirty="0">
                <a:solidFill>
                  <a:schemeClr val="tx2"/>
                </a:solidFill>
              </a:rPr>
              <a:t>3 objects  |  19 attributes  |  7 critical</a:t>
            </a:r>
            <a:endParaRPr lang="en-US" sz="1100" dirty="0"/>
          </a:p>
        </p:txBody>
      </p:sp>
      <p:sp>
        <p:nvSpPr>
          <p:cNvPr id="32" name="Shape 29"/>
          <p:cNvSpPr/>
          <p:nvPr/>
        </p:nvSpPr>
        <p:spPr>
          <a:xfrm>
            <a:off x="4338828" y="5111496"/>
            <a:ext cx="3511296" cy="521208"/>
          </a:xfrm>
          <a:prstGeom prst="roundRect">
            <a:avLst>
              <a:gd name="adj" fmla="val 14035"/>
            </a:avLst>
          </a:prstGeom>
          <a:solidFill>
            <a:schemeClr val="bg2"/>
          </a:solidFill>
          <a:ln/>
        </p:spPr>
      </p:sp>
      <p:sp>
        <p:nvSpPr>
          <p:cNvPr id="33" name="Text 30"/>
          <p:cNvSpPr txBox="1"/>
          <p:nvPr/>
        </p:nvSpPr>
        <p:spPr>
          <a:xfrm>
            <a:off x="4521708" y="5148072"/>
            <a:ext cx="3145536" cy="256032"/>
          </a:xfrm>
          <a:prstGeom prst="rect">
            <a:avLst/>
          </a:prstGeom>
          <a:noFill/>
          <a:ln/>
        </p:spPr>
        <p:txBody>
          <a:bodyPr wrap="square" lIns="0" tIns="0" rIns="0" bIns="0" rtlCol="0" anchor="ctr"/>
          <a:lstStyle/>
          <a:p>
            <a:pPr algn="l" indent="0" marL="0">
              <a:buNone/>
            </a:pPr>
            <a:r>
              <a:rPr lang="en-US" sz="1300" b="1" dirty="0">
                <a:solidFill>
                  <a:schemeClr val="tx1"/>
                </a:solidFill>
              </a:rPr>
              <a:t>Fees, Charges &amp; Costs</a:t>
            </a:r>
            <a:endParaRPr lang="en-US" sz="1300" dirty="0"/>
          </a:p>
        </p:txBody>
      </p:sp>
      <p:sp>
        <p:nvSpPr>
          <p:cNvPr id="34" name="Text 31"/>
          <p:cNvSpPr txBox="1"/>
          <p:nvPr/>
        </p:nvSpPr>
        <p:spPr>
          <a:xfrm>
            <a:off x="4521708" y="5385816"/>
            <a:ext cx="3145536" cy="219456"/>
          </a:xfrm>
          <a:prstGeom prst="rect">
            <a:avLst/>
          </a:prstGeom>
          <a:noFill/>
          <a:ln/>
        </p:spPr>
        <p:txBody>
          <a:bodyPr wrap="square" lIns="0" tIns="0" rIns="0" bIns="0" rtlCol="0" anchor="ctr"/>
          <a:lstStyle/>
          <a:p>
            <a:pPr algn="l" indent="0" marL="0">
              <a:buNone/>
            </a:pPr>
            <a:r>
              <a:rPr lang="en-US" sz="1100" dirty="0">
                <a:solidFill>
                  <a:schemeClr val="tx2"/>
                </a:solidFill>
              </a:rPr>
              <a:t>5 objects  |  29 attributes  |  5 critical</a:t>
            </a:r>
            <a:endParaRPr lang="en-US" sz="1100" dirty="0"/>
          </a:p>
        </p:txBody>
      </p:sp>
      <p:sp>
        <p:nvSpPr>
          <p:cNvPr id="35" name="Shape 32"/>
          <p:cNvSpPr/>
          <p:nvPr/>
        </p:nvSpPr>
        <p:spPr>
          <a:xfrm>
            <a:off x="8129016" y="1783080"/>
            <a:ext cx="3511296" cy="777240"/>
          </a:xfrm>
          <a:prstGeom prst="roundRect">
            <a:avLst>
              <a:gd name="adj" fmla="val 9412"/>
            </a:avLst>
          </a:prstGeom>
          <a:solidFill>
            <a:schemeClr val="accent5"/>
          </a:solidFill>
          <a:ln/>
        </p:spPr>
      </p:sp>
      <p:sp>
        <p:nvSpPr>
          <p:cNvPr id="36" name="Text 33"/>
          <p:cNvSpPr txBox="1"/>
          <p:nvPr/>
        </p:nvSpPr>
        <p:spPr>
          <a:xfrm>
            <a:off x="8311896" y="1856232"/>
            <a:ext cx="3145536" cy="347472"/>
          </a:xfrm>
          <a:prstGeom prst="rect">
            <a:avLst/>
          </a:prstGeom>
          <a:noFill/>
          <a:ln/>
        </p:spPr>
        <p:txBody>
          <a:bodyPr wrap="square" lIns="0" tIns="0" rIns="0" bIns="0" rtlCol="0" anchor="ctr"/>
          <a:lstStyle/>
          <a:p>
            <a:pPr algn="l" indent="0" marL="0">
              <a:buNone/>
            </a:pPr>
            <a:r>
              <a:rPr lang="en-US" sz="1400" b="1" dirty="0">
                <a:solidFill>
                  <a:schemeClr val="bg1"/>
                </a:solidFill>
              </a:rPr>
              <a:t>Operate, distribute and govern</a:t>
            </a:r>
            <a:endParaRPr lang="en-US" sz="1400" dirty="0"/>
          </a:p>
        </p:txBody>
      </p:sp>
      <p:sp>
        <p:nvSpPr>
          <p:cNvPr id="37" name="Text 34"/>
          <p:cNvSpPr txBox="1"/>
          <p:nvPr/>
        </p:nvSpPr>
        <p:spPr>
          <a:xfrm>
            <a:off x="8311896" y="2203704"/>
            <a:ext cx="3145536" cy="274320"/>
          </a:xfrm>
          <a:prstGeom prst="rect">
            <a:avLst/>
          </a:prstGeom>
          <a:noFill/>
          <a:ln/>
        </p:spPr>
        <p:txBody>
          <a:bodyPr wrap="square" lIns="0" tIns="0" rIns="0" bIns="0" rtlCol="0" anchor="ctr"/>
          <a:lstStyle/>
          <a:p>
            <a:pPr algn="l" indent="0" marL="0">
              <a:buNone/>
            </a:pPr>
            <a:r>
              <a:rPr lang="en-US" sz="1200" dirty="0">
                <a:solidFill>
                  <a:schemeClr val="bg1"/>
                </a:solidFill>
              </a:rPr>
              <a:t>6 families  |  17 objects  |  105 attributes</a:t>
            </a:r>
            <a:endParaRPr lang="en-US" sz="1200" dirty="0"/>
          </a:p>
        </p:txBody>
      </p:sp>
      <p:sp>
        <p:nvSpPr>
          <p:cNvPr id="38" name="Shape 35"/>
          <p:cNvSpPr/>
          <p:nvPr/>
        </p:nvSpPr>
        <p:spPr>
          <a:xfrm>
            <a:off x="8129016" y="2697480"/>
            <a:ext cx="3511296" cy="521208"/>
          </a:xfrm>
          <a:prstGeom prst="roundRect">
            <a:avLst>
              <a:gd name="adj" fmla="val 14035"/>
            </a:avLst>
          </a:prstGeom>
          <a:solidFill>
            <a:schemeClr val="bg2"/>
          </a:solidFill>
          <a:ln/>
        </p:spPr>
      </p:sp>
      <p:sp>
        <p:nvSpPr>
          <p:cNvPr id="39" name="Text 36"/>
          <p:cNvSpPr txBox="1"/>
          <p:nvPr/>
        </p:nvSpPr>
        <p:spPr>
          <a:xfrm>
            <a:off x="8311896" y="2734056"/>
            <a:ext cx="3145536" cy="256032"/>
          </a:xfrm>
          <a:prstGeom prst="rect">
            <a:avLst/>
          </a:prstGeom>
          <a:noFill/>
          <a:ln/>
        </p:spPr>
        <p:txBody>
          <a:bodyPr wrap="square" lIns="0" tIns="0" rIns="0" bIns="0" rtlCol="0" anchor="ctr"/>
          <a:lstStyle/>
          <a:p>
            <a:pPr algn="l" indent="0" marL="0">
              <a:buNone/>
            </a:pPr>
            <a:r>
              <a:rPr lang="en-US" sz="1300" b="1" dirty="0">
                <a:solidFill>
                  <a:schemeClr val="tx1"/>
                </a:solidFill>
              </a:rPr>
              <a:t>Dealing, Valuation &amp; Listing</a:t>
            </a:r>
            <a:endParaRPr lang="en-US" sz="1300" dirty="0"/>
          </a:p>
        </p:txBody>
      </p:sp>
      <p:sp>
        <p:nvSpPr>
          <p:cNvPr id="40" name="Text 37"/>
          <p:cNvSpPr txBox="1"/>
          <p:nvPr/>
        </p:nvSpPr>
        <p:spPr>
          <a:xfrm>
            <a:off x="8311896" y="2971800"/>
            <a:ext cx="3145536" cy="219456"/>
          </a:xfrm>
          <a:prstGeom prst="rect">
            <a:avLst/>
          </a:prstGeom>
          <a:noFill/>
          <a:ln/>
        </p:spPr>
        <p:txBody>
          <a:bodyPr wrap="square" lIns="0" tIns="0" rIns="0" bIns="0" rtlCol="0" anchor="ctr"/>
          <a:lstStyle/>
          <a:p>
            <a:pPr algn="l" indent="0" marL="0">
              <a:buNone/>
            </a:pPr>
            <a:r>
              <a:rPr lang="en-US" sz="1100" dirty="0">
                <a:solidFill>
                  <a:schemeClr val="tx2"/>
                </a:solidFill>
              </a:rPr>
              <a:t>4 objects  |  25 attributes  |  8 critical</a:t>
            </a:r>
            <a:endParaRPr lang="en-US" sz="1100" dirty="0"/>
          </a:p>
        </p:txBody>
      </p:sp>
      <p:sp>
        <p:nvSpPr>
          <p:cNvPr id="41" name="Shape 38"/>
          <p:cNvSpPr/>
          <p:nvPr/>
        </p:nvSpPr>
        <p:spPr>
          <a:xfrm>
            <a:off x="8129016" y="3300984"/>
            <a:ext cx="3511296" cy="521208"/>
          </a:xfrm>
          <a:prstGeom prst="roundRect">
            <a:avLst>
              <a:gd name="adj" fmla="val 14035"/>
            </a:avLst>
          </a:prstGeom>
          <a:solidFill>
            <a:schemeClr val="bg2"/>
          </a:solidFill>
          <a:ln/>
        </p:spPr>
      </p:sp>
      <p:sp>
        <p:nvSpPr>
          <p:cNvPr id="42" name="Text 39"/>
          <p:cNvSpPr txBox="1"/>
          <p:nvPr/>
        </p:nvSpPr>
        <p:spPr>
          <a:xfrm>
            <a:off x="8311896" y="3337560"/>
            <a:ext cx="3145536" cy="256032"/>
          </a:xfrm>
          <a:prstGeom prst="rect">
            <a:avLst/>
          </a:prstGeom>
          <a:noFill/>
          <a:ln/>
        </p:spPr>
        <p:txBody>
          <a:bodyPr wrap="square" lIns="0" tIns="0" rIns="0" bIns="0" rtlCol="0" anchor="ctr"/>
          <a:lstStyle/>
          <a:p>
            <a:pPr algn="l" indent="0" marL="0">
              <a:buNone/>
            </a:pPr>
            <a:r>
              <a:rPr lang="en-US" sz="1300" b="1" dirty="0">
                <a:solidFill>
                  <a:schemeClr val="tx1"/>
                </a:solidFill>
              </a:rPr>
              <a:t>Product Parties &amp; Roles</a:t>
            </a:r>
            <a:endParaRPr lang="en-US" sz="1300" dirty="0"/>
          </a:p>
        </p:txBody>
      </p:sp>
      <p:sp>
        <p:nvSpPr>
          <p:cNvPr id="43" name="Text 40"/>
          <p:cNvSpPr txBox="1"/>
          <p:nvPr/>
        </p:nvSpPr>
        <p:spPr>
          <a:xfrm>
            <a:off x="8311896" y="3575304"/>
            <a:ext cx="3145536" cy="219456"/>
          </a:xfrm>
          <a:prstGeom prst="rect">
            <a:avLst/>
          </a:prstGeom>
          <a:noFill/>
          <a:ln/>
        </p:spPr>
        <p:txBody>
          <a:bodyPr wrap="square" lIns="0" tIns="0" rIns="0" bIns="0" rtlCol="0" anchor="ctr"/>
          <a:lstStyle/>
          <a:p>
            <a:pPr algn="l" indent="0" marL="0">
              <a:buNone/>
            </a:pPr>
            <a:r>
              <a:rPr lang="en-US" sz="1100" dirty="0">
                <a:solidFill>
                  <a:schemeClr val="tx2"/>
                </a:solidFill>
              </a:rPr>
              <a:t>2 objects  |  11 attributes  |  5 critical</a:t>
            </a:r>
            <a:endParaRPr lang="en-US" sz="1100" dirty="0"/>
          </a:p>
        </p:txBody>
      </p:sp>
      <p:sp>
        <p:nvSpPr>
          <p:cNvPr id="44" name="Shape 41"/>
          <p:cNvSpPr/>
          <p:nvPr/>
        </p:nvSpPr>
        <p:spPr>
          <a:xfrm>
            <a:off x="8129016" y="3904488"/>
            <a:ext cx="3511296" cy="521208"/>
          </a:xfrm>
          <a:prstGeom prst="roundRect">
            <a:avLst>
              <a:gd name="adj" fmla="val 14035"/>
            </a:avLst>
          </a:prstGeom>
          <a:solidFill>
            <a:schemeClr val="bg2"/>
          </a:solidFill>
          <a:ln/>
        </p:spPr>
      </p:sp>
      <p:sp>
        <p:nvSpPr>
          <p:cNvPr id="45" name="Text 42"/>
          <p:cNvSpPr txBox="1"/>
          <p:nvPr/>
        </p:nvSpPr>
        <p:spPr>
          <a:xfrm>
            <a:off x="8311896" y="3941064"/>
            <a:ext cx="3145536" cy="256032"/>
          </a:xfrm>
          <a:prstGeom prst="rect">
            <a:avLst/>
          </a:prstGeom>
          <a:noFill/>
          <a:ln/>
        </p:spPr>
        <p:txBody>
          <a:bodyPr wrap="square" lIns="0" tIns="0" rIns="0" bIns="0" rtlCol="0" anchor="ctr"/>
          <a:lstStyle/>
          <a:p>
            <a:pPr algn="l" indent="0" marL="0">
              <a:buNone/>
            </a:pPr>
            <a:r>
              <a:rPr lang="en-US" sz="1300" b="1" dirty="0">
                <a:solidFill>
                  <a:schemeClr val="tx1"/>
                </a:solidFill>
              </a:rPr>
              <a:t>Distribution &amp; Registration</a:t>
            </a:r>
            <a:endParaRPr lang="en-US" sz="1300" dirty="0"/>
          </a:p>
        </p:txBody>
      </p:sp>
      <p:sp>
        <p:nvSpPr>
          <p:cNvPr id="46" name="Text 43"/>
          <p:cNvSpPr txBox="1"/>
          <p:nvPr/>
        </p:nvSpPr>
        <p:spPr>
          <a:xfrm>
            <a:off x="8311896" y="4178808"/>
            <a:ext cx="3145536" cy="219456"/>
          </a:xfrm>
          <a:prstGeom prst="rect">
            <a:avLst/>
          </a:prstGeom>
          <a:noFill/>
          <a:ln/>
        </p:spPr>
        <p:txBody>
          <a:bodyPr wrap="square" lIns="0" tIns="0" rIns="0" bIns="0" rtlCol="0" anchor="ctr"/>
          <a:lstStyle/>
          <a:p>
            <a:pPr algn="l" indent="0" marL="0">
              <a:buNone/>
            </a:pPr>
            <a:r>
              <a:rPr lang="en-US" sz="1100" dirty="0">
                <a:solidFill>
                  <a:schemeClr val="tx2"/>
                </a:solidFill>
              </a:rPr>
              <a:t>3 objects  |  18 attributes  |  4 critical</a:t>
            </a:r>
            <a:endParaRPr lang="en-US" sz="1100" dirty="0"/>
          </a:p>
        </p:txBody>
      </p:sp>
      <p:sp>
        <p:nvSpPr>
          <p:cNvPr id="47" name="Shape 44"/>
          <p:cNvSpPr/>
          <p:nvPr/>
        </p:nvSpPr>
        <p:spPr>
          <a:xfrm>
            <a:off x="8129016" y="4507992"/>
            <a:ext cx="3511296" cy="521208"/>
          </a:xfrm>
          <a:prstGeom prst="roundRect">
            <a:avLst>
              <a:gd name="adj" fmla="val 14035"/>
            </a:avLst>
          </a:prstGeom>
          <a:solidFill>
            <a:schemeClr val="bg2"/>
          </a:solidFill>
          <a:ln/>
        </p:spPr>
      </p:sp>
      <p:sp>
        <p:nvSpPr>
          <p:cNvPr id="48" name="Text 45"/>
          <p:cNvSpPr txBox="1"/>
          <p:nvPr/>
        </p:nvSpPr>
        <p:spPr>
          <a:xfrm>
            <a:off x="8311896" y="4544568"/>
            <a:ext cx="3145536" cy="256032"/>
          </a:xfrm>
          <a:prstGeom prst="rect">
            <a:avLst/>
          </a:prstGeom>
          <a:noFill/>
          <a:ln/>
        </p:spPr>
        <p:txBody>
          <a:bodyPr wrap="square" lIns="0" tIns="0" rIns="0" bIns="0" rtlCol="0" anchor="ctr"/>
          <a:lstStyle/>
          <a:p>
            <a:pPr algn="l" indent="0" marL="0">
              <a:buNone/>
            </a:pPr>
            <a:r>
              <a:rPr lang="en-US" sz="1300" b="1" dirty="0">
                <a:solidFill>
                  <a:schemeClr val="tx1"/>
                </a:solidFill>
              </a:rPr>
              <a:t>Regulatory, Tax &amp; Disclosure</a:t>
            </a:r>
            <a:endParaRPr lang="en-US" sz="1300" dirty="0"/>
          </a:p>
        </p:txBody>
      </p:sp>
      <p:sp>
        <p:nvSpPr>
          <p:cNvPr id="49" name="Text 46"/>
          <p:cNvSpPr txBox="1"/>
          <p:nvPr/>
        </p:nvSpPr>
        <p:spPr>
          <a:xfrm>
            <a:off x="8311896" y="4782312"/>
            <a:ext cx="3145536" cy="219456"/>
          </a:xfrm>
          <a:prstGeom prst="rect">
            <a:avLst/>
          </a:prstGeom>
          <a:noFill/>
          <a:ln/>
        </p:spPr>
        <p:txBody>
          <a:bodyPr wrap="square" lIns="0" tIns="0" rIns="0" bIns="0" rtlCol="0" anchor="ctr"/>
          <a:lstStyle/>
          <a:p>
            <a:pPr algn="l" indent="0" marL="0">
              <a:buNone/>
            </a:pPr>
            <a:r>
              <a:rPr lang="en-US" sz="1100" dirty="0">
                <a:solidFill>
                  <a:schemeClr val="tx2"/>
                </a:solidFill>
              </a:rPr>
              <a:t>4 objects  |  18 attributes  |  4 critical</a:t>
            </a:r>
            <a:endParaRPr lang="en-US" sz="1100" dirty="0"/>
          </a:p>
        </p:txBody>
      </p:sp>
      <p:sp>
        <p:nvSpPr>
          <p:cNvPr id="50" name="Shape 47"/>
          <p:cNvSpPr/>
          <p:nvPr/>
        </p:nvSpPr>
        <p:spPr>
          <a:xfrm>
            <a:off x="8129016" y="5111496"/>
            <a:ext cx="3511296" cy="521208"/>
          </a:xfrm>
          <a:prstGeom prst="roundRect">
            <a:avLst>
              <a:gd name="adj" fmla="val 14035"/>
            </a:avLst>
          </a:prstGeom>
          <a:solidFill>
            <a:schemeClr val="bg2"/>
          </a:solidFill>
          <a:ln/>
        </p:spPr>
      </p:sp>
      <p:sp>
        <p:nvSpPr>
          <p:cNvPr id="51" name="Text 48"/>
          <p:cNvSpPr txBox="1"/>
          <p:nvPr/>
        </p:nvSpPr>
        <p:spPr>
          <a:xfrm>
            <a:off x="8311896" y="5148072"/>
            <a:ext cx="3145536" cy="256032"/>
          </a:xfrm>
          <a:prstGeom prst="rect">
            <a:avLst/>
          </a:prstGeom>
          <a:noFill/>
          <a:ln/>
        </p:spPr>
        <p:txBody>
          <a:bodyPr wrap="square" lIns="0" tIns="0" rIns="0" bIns="0" rtlCol="0" anchor="ctr"/>
          <a:lstStyle/>
          <a:p>
            <a:pPr algn="l" indent="0" marL="0">
              <a:buNone/>
            </a:pPr>
            <a:r>
              <a:rPr lang="en-US" sz="1300" b="1" dirty="0">
                <a:solidFill>
                  <a:schemeClr val="tx1"/>
                </a:solidFill>
              </a:rPr>
              <a:t>Investment Commentary</a:t>
            </a:r>
            <a:endParaRPr lang="en-US" sz="1300" dirty="0"/>
          </a:p>
        </p:txBody>
      </p:sp>
      <p:sp>
        <p:nvSpPr>
          <p:cNvPr id="52" name="Text 49"/>
          <p:cNvSpPr txBox="1"/>
          <p:nvPr/>
        </p:nvSpPr>
        <p:spPr>
          <a:xfrm>
            <a:off x="8311896" y="5385816"/>
            <a:ext cx="3145536" cy="219456"/>
          </a:xfrm>
          <a:prstGeom prst="rect">
            <a:avLst/>
          </a:prstGeom>
          <a:noFill/>
          <a:ln/>
        </p:spPr>
        <p:txBody>
          <a:bodyPr wrap="square" lIns="0" tIns="0" rIns="0" bIns="0" rtlCol="0" anchor="ctr"/>
          <a:lstStyle/>
          <a:p>
            <a:pPr algn="l" indent="0" marL="0">
              <a:buNone/>
            </a:pPr>
            <a:r>
              <a:rPr lang="en-US" sz="1100" dirty="0">
                <a:solidFill>
                  <a:schemeClr val="tx2"/>
                </a:solidFill>
              </a:rPr>
              <a:t>2 objects  |  20 attributes  |  8 critical</a:t>
            </a:r>
            <a:endParaRPr lang="en-US" sz="1100" dirty="0"/>
          </a:p>
        </p:txBody>
      </p:sp>
      <p:sp>
        <p:nvSpPr>
          <p:cNvPr id="53" name="Shape 50"/>
          <p:cNvSpPr/>
          <p:nvPr/>
        </p:nvSpPr>
        <p:spPr>
          <a:xfrm>
            <a:off x="8129016" y="5715000"/>
            <a:ext cx="3511296" cy="521208"/>
          </a:xfrm>
          <a:prstGeom prst="roundRect">
            <a:avLst>
              <a:gd name="adj" fmla="val 14035"/>
            </a:avLst>
          </a:prstGeom>
          <a:solidFill>
            <a:schemeClr val="bg2"/>
          </a:solidFill>
          <a:ln/>
        </p:spPr>
      </p:sp>
      <p:sp>
        <p:nvSpPr>
          <p:cNvPr id="54" name="Text 51"/>
          <p:cNvSpPr txBox="1"/>
          <p:nvPr/>
        </p:nvSpPr>
        <p:spPr>
          <a:xfrm>
            <a:off x="8311896" y="5751576"/>
            <a:ext cx="3145536" cy="256032"/>
          </a:xfrm>
          <a:prstGeom prst="rect">
            <a:avLst/>
          </a:prstGeom>
          <a:noFill/>
          <a:ln/>
        </p:spPr>
        <p:txBody>
          <a:bodyPr wrap="square" lIns="0" tIns="0" rIns="0" bIns="0" rtlCol="0" anchor="ctr"/>
          <a:lstStyle/>
          <a:p>
            <a:pPr algn="l" indent="0" marL="0">
              <a:buNone/>
            </a:pPr>
            <a:r>
              <a:rPr lang="en-US" sz="1300" b="1" dirty="0">
                <a:solidFill>
                  <a:schemeClr val="tx1"/>
                </a:solidFill>
              </a:rPr>
              <a:t>Lifecycle &amp; Governance</a:t>
            </a:r>
            <a:endParaRPr lang="en-US" sz="1300" dirty="0"/>
          </a:p>
        </p:txBody>
      </p:sp>
      <p:sp>
        <p:nvSpPr>
          <p:cNvPr id="55" name="Text 52"/>
          <p:cNvSpPr txBox="1"/>
          <p:nvPr/>
        </p:nvSpPr>
        <p:spPr>
          <a:xfrm>
            <a:off x="8311896" y="5989320"/>
            <a:ext cx="3145536" cy="219456"/>
          </a:xfrm>
          <a:prstGeom prst="rect">
            <a:avLst/>
          </a:prstGeom>
          <a:noFill/>
          <a:ln/>
        </p:spPr>
        <p:txBody>
          <a:bodyPr wrap="square" lIns="0" tIns="0" rIns="0" bIns="0" rtlCol="0" anchor="ctr"/>
          <a:lstStyle/>
          <a:p>
            <a:pPr algn="l" indent="0" marL="0">
              <a:buNone/>
            </a:pPr>
            <a:r>
              <a:rPr lang="en-US" sz="1100" dirty="0">
                <a:solidFill>
                  <a:schemeClr val="tx2"/>
                </a:solidFill>
              </a:rPr>
              <a:t>2 objects  |  13 attributes  |  5 critical</a:t>
            </a:r>
            <a:endParaRPr lang="en-US" sz="1100" dirty="0"/>
          </a:p>
        </p:txBody>
      </p:sp>
      <p:sp>
        <p:nvSpPr>
          <p:cNvPr id="56" name="Text 53"/>
          <p:cNvSpPr txBox="1"/>
          <p:nvPr/>
        </p:nvSpPr>
        <p:spPr>
          <a:xfrm>
            <a:off x="548640" y="4645152"/>
            <a:ext cx="3511296" cy="914400"/>
          </a:xfrm>
          <a:prstGeom prst="rect">
            <a:avLst/>
          </a:prstGeom>
          <a:noFill/>
          <a:ln/>
        </p:spPr>
        <p:txBody>
          <a:bodyPr wrap="square" lIns="0" tIns="0" rIns="0" bIns="0" rtlCol="0" anchor="t"/>
          <a:lstStyle/>
          <a:p>
            <a:pPr algn="l" indent="0" marL="0">
              <a:buNone/>
            </a:pPr>
            <a:r>
              <a:rPr lang="en-US" sz="1200" dirty="0">
                <a:solidFill>
                  <a:schemeClr val="tx2"/>
                </a:solidFill>
              </a:rPr>
              <a:t>The three groups are a presentation aid for this walkthrough. In the taxonomy, families sit directly under the domain.</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WHAT IS INCLUDED  |  GROUP 1 OF 3</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The spine: what we manage, package and sell</a:t>
            </a:r>
            <a:endParaRPr lang="en-US" sz="3600" dirty="0"/>
          </a:p>
        </p:txBody>
      </p:sp>
      <p:sp>
        <p:nvSpPr>
          <p:cNvPr id="5" name="Shape 2"/>
          <p:cNvSpPr/>
          <p:nvPr/>
        </p:nvSpPr>
        <p:spPr>
          <a:xfrm>
            <a:off x="548640" y="1783080"/>
            <a:ext cx="3511296" cy="4069080"/>
          </a:xfrm>
          <a:prstGeom prst="roundRect">
            <a:avLst>
              <a:gd name="adj" fmla="val 2083"/>
            </a:avLst>
          </a:prstGeom>
          <a:solidFill>
            <a:schemeClr val="bg2"/>
          </a:solidFill>
          <a:ln/>
        </p:spPr>
      </p:sp>
      <p:sp>
        <p:nvSpPr>
          <p:cNvPr id="6" name="Text 3"/>
          <p:cNvSpPr txBox="1"/>
          <p:nvPr/>
        </p:nvSpPr>
        <p:spPr>
          <a:xfrm>
            <a:off x="777240" y="1965960"/>
            <a:ext cx="3054096" cy="365760"/>
          </a:xfrm>
          <a:prstGeom prst="rect">
            <a:avLst/>
          </a:prstGeom>
          <a:noFill/>
          <a:ln/>
        </p:spPr>
        <p:txBody>
          <a:bodyPr wrap="square" lIns="0" tIns="0" rIns="0" bIns="0" rtlCol="0" anchor="ctr"/>
          <a:lstStyle/>
          <a:p>
            <a:pPr algn="l" indent="0" marL="0">
              <a:buNone/>
            </a:pPr>
            <a:r>
              <a:rPr lang="en-US" sz="1800" b="1" dirty="0">
                <a:solidFill>
                  <a:schemeClr val="accent1"/>
                </a:solidFill>
              </a:rPr>
              <a:t>Investment Strategy</a:t>
            </a:r>
            <a:endParaRPr lang="en-US" sz="1800" dirty="0"/>
          </a:p>
        </p:txBody>
      </p:sp>
      <p:sp>
        <p:nvSpPr>
          <p:cNvPr id="7" name="Text 4"/>
          <p:cNvSpPr txBox="1"/>
          <p:nvPr/>
        </p:nvSpPr>
        <p:spPr>
          <a:xfrm>
            <a:off x="777240" y="2331720"/>
            <a:ext cx="3054096" cy="256032"/>
          </a:xfrm>
          <a:prstGeom prst="rect">
            <a:avLst/>
          </a:prstGeom>
          <a:noFill/>
          <a:ln/>
        </p:spPr>
        <p:txBody>
          <a:bodyPr wrap="square" lIns="0" tIns="0" rIns="0" bIns="0" rtlCol="0" anchor="ctr"/>
          <a:lstStyle/>
          <a:p>
            <a:pPr algn="l" indent="0" marL="0">
              <a:buNone/>
            </a:pPr>
            <a:r>
              <a:rPr lang="en-US" sz="1200" dirty="0">
                <a:solidFill>
                  <a:schemeClr val="tx2"/>
                </a:solidFill>
              </a:rPr>
              <a:t>3 objects  |  27 attributes  |  9 critical</a:t>
            </a:r>
            <a:endParaRPr lang="en-US" sz="1200" dirty="0"/>
          </a:p>
        </p:txBody>
      </p:sp>
      <p:sp>
        <p:nvSpPr>
          <p:cNvPr id="8" name="Text 5"/>
          <p:cNvSpPr txBox="1"/>
          <p:nvPr/>
        </p:nvSpPr>
        <p:spPr>
          <a:xfrm>
            <a:off x="777240" y="2697480"/>
            <a:ext cx="3054096" cy="822960"/>
          </a:xfrm>
          <a:prstGeom prst="rect">
            <a:avLst/>
          </a:prstGeom>
          <a:noFill/>
          <a:ln/>
        </p:spPr>
        <p:txBody>
          <a:bodyPr wrap="square" lIns="0" tIns="0" rIns="0" bIns="0" rtlCol="0" anchor="t"/>
          <a:lstStyle/>
          <a:p>
            <a:pPr algn="l" indent="0" marL="0">
              <a:buNone/>
            </a:pPr>
            <a:r>
              <a:rPr lang="en-US" sz="1300" dirty="0">
                <a:solidFill>
                  <a:schemeClr val="tx1"/>
                </a:solidFill>
              </a:rPr>
              <a:t>The investment capability the firm manages, independent of the vehicles it is offered through.</a:t>
            </a:r>
            <a:endParaRPr lang="en-US" sz="1300" dirty="0"/>
          </a:p>
        </p:txBody>
      </p:sp>
      <p:sp>
        <p:nvSpPr>
          <p:cNvPr id="9" name="Text 6"/>
          <p:cNvSpPr txBox="1"/>
          <p:nvPr/>
        </p:nvSpPr>
        <p:spPr>
          <a:xfrm>
            <a:off x="777240" y="3566160"/>
            <a:ext cx="3054096" cy="256032"/>
          </a:xfrm>
          <a:prstGeom prst="rect">
            <a:avLst/>
          </a:prstGeom>
          <a:noFill/>
          <a:ln/>
        </p:spPr>
        <p:txBody>
          <a:bodyPr wrap="square" lIns="0" tIns="0" rIns="0" bIns="0" rtlCol="0" anchor="ctr"/>
          <a:lstStyle/>
          <a:p>
            <a:pPr algn="l" indent="0" marL="0">
              <a:buNone/>
            </a:pPr>
            <a:r>
              <a:rPr lang="en-US" sz="1200" b="1" spc="150" kern="0" dirty="0">
                <a:solidFill>
                  <a:schemeClr val="tx2"/>
                </a:solidFill>
              </a:rPr>
              <a:t>OBJECTS</a:t>
            </a:r>
            <a:endParaRPr lang="en-US" sz="1200" dirty="0"/>
          </a:p>
        </p:txBody>
      </p:sp>
      <p:sp>
        <p:nvSpPr>
          <p:cNvPr id="10" name="Text 7"/>
          <p:cNvSpPr txBox="1"/>
          <p:nvPr/>
        </p:nvSpPr>
        <p:spPr>
          <a:xfrm>
            <a:off x="777240" y="3840480"/>
            <a:ext cx="3054096" cy="822960"/>
          </a:xfrm>
          <a:prstGeom prst="rect">
            <a:avLst/>
          </a:prstGeom>
          <a:noFill/>
          <a:ln/>
        </p:spPr>
        <p:txBody>
          <a:bodyPr wrap="square" lIns="0" tIns="0" rIns="0" bIns="0" rtlCol="0" anchor="t"/>
          <a:lstStyle/>
          <a:p>
            <a:pPr indent="0" marL="0">
              <a:buNone/>
            </a:pPr>
            <a:r>
              <a:rPr lang="en-US" sz="1300" b="1" dirty="0">
                <a:solidFill>
                  <a:schemeClr val="tx1"/>
                </a:solidFill>
              </a:rPr>
              <a:t>Investment Strategy, </a:t>
            </a:r>
            <a:pPr indent="0" marL="0">
              <a:buNone/>
            </a:pPr>
            <a:r>
              <a:rPr lang="en-US" sz="1300" dirty="0">
                <a:solidFill>
                  <a:schemeClr val="tx1"/>
                </a:solidFill>
              </a:rPr>
              <a:t>Strategy Classification, </a:t>
            </a:r>
            <a:pPr indent="0" marL="0">
              <a:buNone/>
            </a:pPr>
            <a:r>
              <a:rPr lang="en-US" sz="1300" b="1" dirty="0">
                <a:solidFill>
                  <a:schemeClr val="tx1"/>
                </a:solidFill>
              </a:rPr>
              <a:t>GIPS Composite</a:t>
            </a:r>
            <a:endParaRPr lang="en-US" sz="1300" dirty="0"/>
          </a:p>
        </p:txBody>
      </p:sp>
      <p:sp>
        <p:nvSpPr>
          <p:cNvPr id="11" name="Text 8"/>
          <p:cNvSpPr txBox="1"/>
          <p:nvPr/>
        </p:nvSpPr>
        <p:spPr>
          <a:xfrm>
            <a:off x="777240" y="4709160"/>
            <a:ext cx="3054096" cy="256032"/>
          </a:xfrm>
          <a:prstGeom prst="rect">
            <a:avLst/>
          </a:prstGeom>
          <a:noFill/>
          <a:ln/>
        </p:spPr>
        <p:txBody>
          <a:bodyPr wrap="square" lIns="0" tIns="0" rIns="0" bIns="0" rtlCol="0" anchor="ctr"/>
          <a:lstStyle/>
          <a:p>
            <a:pPr algn="l" indent="0" marL="0">
              <a:buNone/>
            </a:pPr>
            <a:r>
              <a:rPr lang="en-US" sz="1200" b="1" spc="150" kern="0" dirty="0">
                <a:solidFill>
                  <a:schemeClr val="tx2"/>
                </a:solidFill>
              </a:rPr>
              <a:t>EXAMPLE ATTRIBUTES</a:t>
            </a:r>
            <a:endParaRPr lang="en-US" sz="1200" dirty="0"/>
          </a:p>
        </p:txBody>
      </p:sp>
      <p:sp>
        <p:nvSpPr>
          <p:cNvPr id="12" name="Text 9"/>
          <p:cNvSpPr txBox="1"/>
          <p:nvPr/>
        </p:nvSpPr>
        <p:spPr>
          <a:xfrm>
            <a:off x="777240" y="4983480"/>
            <a:ext cx="3054096" cy="731520"/>
          </a:xfrm>
          <a:prstGeom prst="rect">
            <a:avLst/>
          </a:prstGeom>
          <a:noFill/>
          <a:ln/>
        </p:spPr>
        <p:txBody>
          <a:bodyPr wrap="square" lIns="0" tIns="0" rIns="0" bIns="0" rtlCol="0" anchor="t"/>
          <a:lstStyle/>
          <a:p>
            <a:pPr algn="l" indent="0" marL="0">
              <a:buNone/>
            </a:pPr>
            <a:r>
              <a:rPr lang="en-US" sz="1300" dirty="0">
                <a:solidFill>
                  <a:schemeClr val="tx1"/>
                </a:solidFill>
              </a:rPr>
              <a:t>Strategy ID, Asset Class, Investment Approach, Geographic Focus, Composite ID</a:t>
            </a:r>
            <a:endParaRPr lang="en-US" sz="1300" dirty="0"/>
          </a:p>
        </p:txBody>
      </p:sp>
      <p:sp>
        <p:nvSpPr>
          <p:cNvPr id="13" name="Shape 10"/>
          <p:cNvSpPr/>
          <p:nvPr/>
        </p:nvSpPr>
        <p:spPr>
          <a:xfrm>
            <a:off x="4338828" y="1783080"/>
            <a:ext cx="3511296" cy="4069080"/>
          </a:xfrm>
          <a:prstGeom prst="roundRect">
            <a:avLst>
              <a:gd name="adj" fmla="val 2083"/>
            </a:avLst>
          </a:prstGeom>
          <a:solidFill>
            <a:schemeClr val="bg2"/>
          </a:solidFill>
          <a:ln/>
        </p:spPr>
      </p:sp>
      <p:sp>
        <p:nvSpPr>
          <p:cNvPr id="14" name="Text 11"/>
          <p:cNvSpPr txBox="1"/>
          <p:nvPr/>
        </p:nvSpPr>
        <p:spPr>
          <a:xfrm>
            <a:off x="4567428" y="1965960"/>
            <a:ext cx="3054096" cy="365760"/>
          </a:xfrm>
          <a:prstGeom prst="rect">
            <a:avLst/>
          </a:prstGeom>
          <a:noFill/>
          <a:ln/>
        </p:spPr>
        <p:txBody>
          <a:bodyPr wrap="square" lIns="0" tIns="0" rIns="0" bIns="0" rtlCol="0" anchor="ctr"/>
          <a:lstStyle/>
          <a:p>
            <a:pPr algn="l" indent="0" marL="0">
              <a:buNone/>
            </a:pPr>
            <a:r>
              <a:rPr lang="en-US" sz="1800" b="1" dirty="0">
                <a:solidFill>
                  <a:schemeClr val="accent2"/>
                </a:solidFill>
              </a:rPr>
              <a:t>Product &amp; Vehicle</a:t>
            </a:r>
            <a:endParaRPr lang="en-US" sz="1800" dirty="0"/>
          </a:p>
        </p:txBody>
      </p:sp>
      <p:sp>
        <p:nvSpPr>
          <p:cNvPr id="15" name="Text 12"/>
          <p:cNvSpPr txBox="1"/>
          <p:nvPr/>
        </p:nvSpPr>
        <p:spPr>
          <a:xfrm>
            <a:off x="4567428" y="2331720"/>
            <a:ext cx="3054096" cy="256032"/>
          </a:xfrm>
          <a:prstGeom prst="rect">
            <a:avLst/>
          </a:prstGeom>
          <a:noFill/>
          <a:ln/>
        </p:spPr>
        <p:txBody>
          <a:bodyPr wrap="square" lIns="0" tIns="0" rIns="0" bIns="0" rtlCol="0" anchor="ctr"/>
          <a:lstStyle/>
          <a:p>
            <a:pPr algn="l" indent="0" marL="0">
              <a:buNone/>
            </a:pPr>
            <a:r>
              <a:rPr lang="en-US" sz="1200" dirty="0">
                <a:solidFill>
                  <a:schemeClr val="tx2"/>
                </a:solidFill>
              </a:rPr>
              <a:t>5 objects  |  43 attributes  |  21 critical</a:t>
            </a:r>
            <a:endParaRPr lang="en-US" sz="1200" dirty="0"/>
          </a:p>
        </p:txBody>
      </p:sp>
      <p:sp>
        <p:nvSpPr>
          <p:cNvPr id="16" name="Text 13"/>
          <p:cNvSpPr txBox="1"/>
          <p:nvPr/>
        </p:nvSpPr>
        <p:spPr>
          <a:xfrm>
            <a:off x="4567428" y="2697480"/>
            <a:ext cx="3054096" cy="822960"/>
          </a:xfrm>
          <a:prstGeom prst="rect">
            <a:avLst/>
          </a:prstGeom>
          <a:noFill/>
          <a:ln/>
        </p:spPr>
        <p:txBody>
          <a:bodyPr wrap="square" lIns="0" tIns="0" rIns="0" bIns="0" rtlCol="0" anchor="t"/>
          <a:lstStyle/>
          <a:p>
            <a:pPr algn="l" indent="0" marL="0">
              <a:buNone/>
            </a:pPr>
            <a:r>
              <a:rPr lang="en-US" sz="1300" dirty="0">
                <a:solidFill>
                  <a:schemeClr val="tx1"/>
                </a:solidFill>
              </a:rPr>
              <a:t>The legal or contractual vehicle a strategy is offered through: pooled funds, mandates and model portfolios.</a:t>
            </a:r>
            <a:endParaRPr lang="en-US" sz="1300" dirty="0"/>
          </a:p>
        </p:txBody>
      </p:sp>
      <p:sp>
        <p:nvSpPr>
          <p:cNvPr id="17" name="Text 14"/>
          <p:cNvSpPr txBox="1"/>
          <p:nvPr/>
        </p:nvSpPr>
        <p:spPr>
          <a:xfrm>
            <a:off x="4567428" y="3566160"/>
            <a:ext cx="3054096" cy="256032"/>
          </a:xfrm>
          <a:prstGeom prst="rect">
            <a:avLst/>
          </a:prstGeom>
          <a:noFill/>
          <a:ln/>
        </p:spPr>
        <p:txBody>
          <a:bodyPr wrap="square" lIns="0" tIns="0" rIns="0" bIns="0" rtlCol="0" anchor="ctr"/>
          <a:lstStyle/>
          <a:p>
            <a:pPr algn="l" indent="0" marL="0">
              <a:buNone/>
            </a:pPr>
            <a:r>
              <a:rPr lang="en-US" sz="1200" b="1" spc="150" kern="0" dirty="0">
                <a:solidFill>
                  <a:schemeClr val="tx2"/>
                </a:solidFill>
              </a:rPr>
              <a:t>OBJECTS</a:t>
            </a:r>
            <a:endParaRPr lang="en-US" sz="1200" dirty="0"/>
          </a:p>
        </p:txBody>
      </p:sp>
      <p:sp>
        <p:nvSpPr>
          <p:cNvPr id="18" name="Text 15"/>
          <p:cNvSpPr txBox="1"/>
          <p:nvPr/>
        </p:nvSpPr>
        <p:spPr>
          <a:xfrm>
            <a:off x="4567428" y="3840480"/>
            <a:ext cx="3054096" cy="822960"/>
          </a:xfrm>
          <a:prstGeom prst="rect">
            <a:avLst/>
          </a:prstGeom>
          <a:noFill/>
          <a:ln/>
        </p:spPr>
        <p:txBody>
          <a:bodyPr wrap="square" lIns="0" tIns="0" rIns="0" bIns="0" rtlCol="0" anchor="t"/>
          <a:lstStyle/>
          <a:p>
            <a:pPr indent="0" marL="0">
              <a:buNone/>
            </a:pPr>
            <a:r>
              <a:rPr lang="en-US" sz="1300" b="1" dirty="0">
                <a:solidFill>
                  <a:schemeClr val="tx1"/>
                </a:solidFill>
              </a:rPr>
              <a:t>Investment Product, </a:t>
            </a:r>
            <a:pPr indent="0" marL="0">
              <a:buNone/>
            </a:pPr>
            <a:r>
              <a:rPr lang="en-US" sz="1300" dirty="0">
                <a:solidFill>
                  <a:schemeClr val="tx1"/>
                </a:solidFill>
              </a:rPr>
              <a:t>Fund Legal Structure, </a:t>
            </a:r>
            <a:pPr indent="0" marL="0">
              <a:buNone/>
            </a:pPr>
            <a:r>
              <a:rPr lang="en-US" sz="1300" b="1" dirty="0">
                <a:solidFill>
                  <a:schemeClr val="tx1"/>
                </a:solidFill>
              </a:rPr>
              <a:t>Investment Mandate, </a:t>
            </a:r>
            <a:pPr indent="0" marL="0">
              <a:buNone/>
            </a:pPr>
            <a:r>
              <a:rPr lang="en-US" sz="1300" b="1" dirty="0">
                <a:solidFill>
                  <a:schemeClr val="tx1"/>
                </a:solidFill>
              </a:rPr>
              <a:t>Model Portfolio, </a:t>
            </a:r>
            <a:pPr indent="0" marL="0">
              <a:buNone/>
            </a:pPr>
            <a:r>
              <a:rPr lang="en-US" sz="1300" b="1" dirty="0">
                <a:solidFill>
                  <a:schemeClr val="tx1"/>
                </a:solidFill>
              </a:rPr>
              <a:t>Product Relationship</a:t>
            </a:r>
            <a:endParaRPr lang="en-US" sz="1300" dirty="0"/>
          </a:p>
        </p:txBody>
      </p:sp>
      <p:sp>
        <p:nvSpPr>
          <p:cNvPr id="19" name="Text 16"/>
          <p:cNvSpPr txBox="1"/>
          <p:nvPr/>
        </p:nvSpPr>
        <p:spPr>
          <a:xfrm>
            <a:off x="4567428" y="4709160"/>
            <a:ext cx="3054096" cy="256032"/>
          </a:xfrm>
          <a:prstGeom prst="rect">
            <a:avLst/>
          </a:prstGeom>
          <a:noFill/>
          <a:ln/>
        </p:spPr>
        <p:txBody>
          <a:bodyPr wrap="square" lIns="0" tIns="0" rIns="0" bIns="0" rtlCol="0" anchor="ctr"/>
          <a:lstStyle/>
          <a:p>
            <a:pPr algn="l" indent="0" marL="0">
              <a:buNone/>
            </a:pPr>
            <a:r>
              <a:rPr lang="en-US" sz="1200" b="1" spc="150" kern="0" dirty="0">
                <a:solidFill>
                  <a:schemeClr val="tx2"/>
                </a:solidFill>
              </a:rPr>
              <a:t>EXAMPLE ATTRIBUTES</a:t>
            </a:r>
            <a:endParaRPr lang="en-US" sz="1200" dirty="0"/>
          </a:p>
        </p:txBody>
      </p:sp>
      <p:sp>
        <p:nvSpPr>
          <p:cNvPr id="20" name="Text 17"/>
          <p:cNvSpPr txBox="1"/>
          <p:nvPr/>
        </p:nvSpPr>
        <p:spPr>
          <a:xfrm>
            <a:off x="4567428" y="4983480"/>
            <a:ext cx="3054096" cy="731520"/>
          </a:xfrm>
          <a:prstGeom prst="rect">
            <a:avLst/>
          </a:prstGeom>
          <a:noFill/>
          <a:ln/>
        </p:spPr>
        <p:txBody>
          <a:bodyPr wrap="square" lIns="0" tIns="0" rIns="0" bIns="0" rtlCol="0" anchor="t"/>
          <a:lstStyle/>
          <a:p>
            <a:pPr algn="l" indent="0" marL="0">
              <a:buNone/>
            </a:pPr>
            <a:r>
              <a:rPr lang="en-US" sz="1300" dirty="0">
                <a:solidFill>
                  <a:schemeClr val="tx1"/>
                </a:solidFill>
              </a:rPr>
              <a:t>Vehicle Type, Legal Form, Regulatory Regime, Fund Domicile, Master-Feeder Role</a:t>
            </a:r>
            <a:endParaRPr lang="en-US" sz="1300" dirty="0"/>
          </a:p>
        </p:txBody>
      </p:sp>
      <p:sp>
        <p:nvSpPr>
          <p:cNvPr id="21" name="Shape 18"/>
          <p:cNvSpPr/>
          <p:nvPr/>
        </p:nvSpPr>
        <p:spPr>
          <a:xfrm>
            <a:off x="8129016" y="1783080"/>
            <a:ext cx="3511296" cy="4069080"/>
          </a:xfrm>
          <a:prstGeom prst="roundRect">
            <a:avLst>
              <a:gd name="adj" fmla="val 2083"/>
            </a:avLst>
          </a:prstGeom>
          <a:solidFill>
            <a:schemeClr val="bg2"/>
          </a:solidFill>
          <a:ln/>
        </p:spPr>
      </p:sp>
      <p:sp>
        <p:nvSpPr>
          <p:cNvPr id="22" name="Text 19"/>
          <p:cNvSpPr txBox="1"/>
          <p:nvPr/>
        </p:nvSpPr>
        <p:spPr>
          <a:xfrm>
            <a:off x="8357616" y="1965960"/>
            <a:ext cx="3054096" cy="365760"/>
          </a:xfrm>
          <a:prstGeom prst="rect">
            <a:avLst/>
          </a:prstGeom>
          <a:noFill/>
          <a:ln/>
        </p:spPr>
        <p:txBody>
          <a:bodyPr wrap="square" lIns="0" tIns="0" rIns="0" bIns="0" rtlCol="0" anchor="ctr"/>
          <a:lstStyle/>
          <a:p>
            <a:pPr algn="l" indent="0" marL="0">
              <a:buNone/>
            </a:pPr>
            <a:r>
              <a:rPr lang="en-US" sz="1800" b="1" dirty="0">
                <a:solidFill>
                  <a:schemeClr val="accent4"/>
                </a:solidFill>
              </a:rPr>
              <a:t>Share Class</a:t>
            </a:r>
            <a:endParaRPr lang="en-US" sz="1800" dirty="0"/>
          </a:p>
        </p:txBody>
      </p:sp>
      <p:sp>
        <p:nvSpPr>
          <p:cNvPr id="23" name="Text 20"/>
          <p:cNvSpPr txBox="1"/>
          <p:nvPr/>
        </p:nvSpPr>
        <p:spPr>
          <a:xfrm>
            <a:off x="8357616" y="2331720"/>
            <a:ext cx="3054096" cy="256032"/>
          </a:xfrm>
          <a:prstGeom prst="rect">
            <a:avLst/>
          </a:prstGeom>
          <a:noFill/>
          <a:ln/>
        </p:spPr>
        <p:txBody>
          <a:bodyPr wrap="square" lIns="0" tIns="0" rIns="0" bIns="0" rtlCol="0" anchor="ctr"/>
          <a:lstStyle/>
          <a:p>
            <a:pPr algn="l" indent="0" marL="0">
              <a:buNone/>
            </a:pPr>
            <a:r>
              <a:rPr lang="en-US" sz="1200" dirty="0">
                <a:solidFill>
                  <a:schemeClr val="tx2"/>
                </a:solidFill>
              </a:rPr>
              <a:t>4 objects  |  22 attributes  |  10 critical</a:t>
            </a:r>
            <a:endParaRPr lang="en-US" sz="1200" dirty="0"/>
          </a:p>
        </p:txBody>
      </p:sp>
      <p:sp>
        <p:nvSpPr>
          <p:cNvPr id="24" name="Text 21"/>
          <p:cNvSpPr txBox="1"/>
          <p:nvPr/>
        </p:nvSpPr>
        <p:spPr>
          <a:xfrm>
            <a:off x="8357616" y="2697480"/>
            <a:ext cx="3054096" cy="822960"/>
          </a:xfrm>
          <a:prstGeom prst="rect">
            <a:avLst/>
          </a:prstGeom>
          <a:noFill/>
          <a:ln/>
        </p:spPr>
        <p:txBody>
          <a:bodyPr wrap="square" lIns="0" tIns="0" rIns="0" bIns="0" rtlCol="0" anchor="t"/>
          <a:lstStyle/>
          <a:p>
            <a:pPr algn="l" indent="0" marL="0">
              <a:buNone/>
            </a:pPr>
            <a:r>
              <a:rPr lang="en-US" sz="1300" dirty="0">
                <a:solidFill>
                  <a:schemeClr val="tx1"/>
                </a:solidFill>
              </a:rPr>
              <a:t>The unit of investor ownership, set apart by currency, fees, distribution policy, hedging and eligibility.</a:t>
            </a:r>
            <a:endParaRPr lang="en-US" sz="1300" dirty="0"/>
          </a:p>
        </p:txBody>
      </p:sp>
      <p:sp>
        <p:nvSpPr>
          <p:cNvPr id="25" name="Text 22"/>
          <p:cNvSpPr txBox="1"/>
          <p:nvPr/>
        </p:nvSpPr>
        <p:spPr>
          <a:xfrm>
            <a:off x="8357616" y="3566160"/>
            <a:ext cx="3054096" cy="256032"/>
          </a:xfrm>
          <a:prstGeom prst="rect">
            <a:avLst/>
          </a:prstGeom>
          <a:noFill/>
          <a:ln/>
        </p:spPr>
        <p:txBody>
          <a:bodyPr wrap="square" lIns="0" tIns="0" rIns="0" bIns="0" rtlCol="0" anchor="ctr"/>
          <a:lstStyle/>
          <a:p>
            <a:pPr algn="l" indent="0" marL="0">
              <a:buNone/>
            </a:pPr>
            <a:r>
              <a:rPr lang="en-US" sz="1200" b="1" spc="150" kern="0" dirty="0">
                <a:solidFill>
                  <a:schemeClr val="tx2"/>
                </a:solidFill>
              </a:rPr>
              <a:t>OBJECTS</a:t>
            </a:r>
            <a:endParaRPr lang="en-US" sz="1200" dirty="0"/>
          </a:p>
        </p:txBody>
      </p:sp>
      <p:sp>
        <p:nvSpPr>
          <p:cNvPr id="26" name="Text 23"/>
          <p:cNvSpPr txBox="1"/>
          <p:nvPr/>
        </p:nvSpPr>
        <p:spPr>
          <a:xfrm>
            <a:off x="8357616" y="3840480"/>
            <a:ext cx="3054096" cy="822960"/>
          </a:xfrm>
          <a:prstGeom prst="rect">
            <a:avLst/>
          </a:prstGeom>
          <a:noFill/>
          <a:ln/>
        </p:spPr>
        <p:txBody>
          <a:bodyPr wrap="square" lIns="0" tIns="0" rIns="0" bIns="0" rtlCol="0" anchor="t"/>
          <a:lstStyle/>
          <a:p>
            <a:pPr indent="0" marL="0">
              <a:buNone/>
            </a:pPr>
            <a:r>
              <a:rPr lang="en-US" sz="1300" b="1" dirty="0">
                <a:solidFill>
                  <a:schemeClr val="tx1"/>
                </a:solidFill>
              </a:rPr>
              <a:t>Share Class, </a:t>
            </a:r>
            <a:pPr indent="0" marL="0">
              <a:buNone/>
            </a:pPr>
            <a:r>
              <a:rPr lang="en-US" sz="1300" dirty="0">
                <a:solidFill>
                  <a:schemeClr val="tx1"/>
                </a:solidFill>
              </a:rPr>
              <a:t>Currency Hedging, </a:t>
            </a:r>
            <a:pPr indent="0" marL="0">
              <a:buNone/>
            </a:pPr>
            <a:r>
              <a:rPr lang="en-US" sz="1300" dirty="0">
                <a:solidFill>
                  <a:schemeClr val="tx1"/>
                </a:solidFill>
              </a:rPr>
              <a:t>Income Distribution, </a:t>
            </a:r>
            <a:pPr indent="0" marL="0">
              <a:buNone/>
            </a:pPr>
            <a:r>
              <a:rPr lang="en-US" sz="1300" dirty="0">
                <a:solidFill>
                  <a:schemeClr val="tx1"/>
                </a:solidFill>
              </a:rPr>
              <a:t>Investor Eligibility</a:t>
            </a:r>
            <a:endParaRPr lang="en-US" sz="1300" dirty="0"/>
          </a:p>
        </p:txBody>
      </p:sp>
      <p:sp>
        <p:nvSpPr>
          <p:cNvPr id="27" name="Text 24"/>
          <p:cNvSpPr txBox="1"/>
          <p:nvPr/>
        </p:nvSpPr>
        <p:spPr>
          <a:xfrm>
            <a:off x="8357616" y="4709160"/>
            <a:ext cx="3054096" cy="256032"/>
          </a:xfrm>
          <a:prstGeom prst="rect">
            <a:avLst/>
          </a:prstGeom>
          <a:noFill/>
          <a:ln/>
        </p:spPr>
        <p:txBody>
          <a:bodyPr wrap="square" lIns="0" tIns="0" rIns="0" bIns="0" rtlCol="0" anchor="ctr"/>
          <a:lstStyle/>
          <a:p>
            <a:pPr algn="l" indent="0" marL="0">
              <a:buNone/>
            </a:pPr>
            <a:r>
              <a:rPr lang="en-US" sz="1200" b="1" spc="150" kern="0" dirty="0">
                <a:solidFill>
                  <a:schemeClr val="tx2"/>
                </a:solidFill>
              </a:rPr>
              <a:t>EXAMPLE ATTRIBUTES</a:t>
            </a:r>
            <a:endParaRPr lang="en-US" sz="1200" dirty="0"/>
          </a:p>
        </p:txBody>
      </p:sp>
      <p:sp>
        <p:nvSpPr>
          <p:cNvPr id="28" name="Text 25"/>
          <p:cNvSpPr txBox="1"/>
          <p:nvPr/>
        </p:nvSpPr>
        <p:spPr>
          <a:xfrm>
            <a:off x="8357616" y="4983480"/>
            <a:ext cx="3054096" cy="731520"/>
          </a:xfrm>
          <a:prstGeom prst="rect">
            <a:avLst/>
          </a:prstGeom>
          <a:noFill/>
          <a:ln/>
        </p:spPr>
        <p:txBody>
          <a:bodyPr wrap="square" lIns="0" tIns="0" rIns="0" bIns="0" rtlCol="0" anchor="t"/>
          <a:lstStyle/>
          <a:p>
            <a:pPr algn="l" indent="0" marL="0">
              <a:buNone/>
            </a:pPr>
            <a:r>
              <a:rPr lang="en-US" sz="1300" dirty="0">
                <a:solidFill>
                  <a:schemeClr val="tx1"/>
                </a:solidFill>
              </a:rPr>
              <a:t>Share Class Type, Share Class Status, Distribution Policy, Minimum Initial Investment</a:t>
            </a:r>
            <a:endParaRPr lang="en-US" sz="1300" dirty="0"/>
          </a:p>
        </p:txBody>
      </p:sp>
      <p:sp>
        <p:nvSpPr>
          <p:cNvPr id="29" name="Text 26"/>
          <p:cNvSpPr txBox="1"/>
          <p:nvPr/>
        </p:nvSpPr>
        <p:spPr>
          <a:xfrm>
            <a:off x="548640" y="5961888"/>
            <a:ext cx="11091672" cy="274320"/>
          </a:xfrm>
          <a:prstGeom prst="rect">
            <a:avLst/>
          </a:prstGeom>
          <a:noFill/>
          <a:ln/>
        </p:spPr>
        <p:txBody>
          <a:bodyPr wrap="square" lIns="0" tIns="0" rIns="0" bIns="0" rtlCol="0" anchor="ctr"/>
          <a:lstStyle/>
          <a:p>
            <a:pPr algn="l" indent="0" marL="0">
              <a:buNone/>
            </a:pPr>
            <a:r>
              <a:rPr lang="en-US" sz="1200" dirty="0">
                <a:solidFill>
                  <a:schemeClr val="tx2"/>
                </a:solidFill>
              </a:rPr>
              <a:t>Bold = business object with its own key. Regular = attribute group held on its parent product or share class.</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WHAT IS INCLUDED  |  GROUP 2 OF 3</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Identity, classification and terms</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2377440"/>
                <a:gridCol w="2926080"/>
                <a:gridCol w="3017520"/>
                <a:gridCol w="2770632"/>
              </a:tblGrid>
              <a:tr h="365760">
                <a:tc>
                  <a:txBody>
                    <a:bodyPr/>
                    <a:lstStyle/>
                    <a:p>
                      <a:pPr indent="0" marL="0">
                        <a:buNone/>
                      </a:pPr>
                      <a:r>
                        <a:rPr lang="en-US" sz="1200" b="1" dirty="0">
                          <a:solidFill>
                            <a:schemeClr val="bg1"/>
                          </a:solidFill>
                        </a:rPr>
                        <a:t>Family</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it holds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Objects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Example attributes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solidFill>
                      <a:schemeClr val="tx1"/>
                    </a:solidFill>
                  </a:tcPr>
                </a:tc>
              </a:tr>
              <a:tr h="749808">
                <a:tc>
                  <a:txBody>
                    <a:bodyPr/>
                    <a:lstStyle/>
                    <a:p>
                      <a:pPr indent="0" marL="0">
                        <a:buNone/>
                      </a:pPr>
                      <a:r>
                        <a:rPr lang="en-US" sz="1200" b="1" dirty="0">
                          <a:solidFill>
                            <a:schemeClr val="tx1"/>
                          </a:solidFill>
                        </a:rPr>
                        <a:t>Identifiers &amp; Cross-References</a:t>
                      </a:r>
                      <a:endParaRPr lang="en-US" sz="1200" dirty="0"/>
                    </a:p>
                    <a:p>
                      <a:pPr indent="0" marL="0">
                        <a:buNone/>
                      </a:pPr>
                      <a:r>
                        <a:rPr lang="en-US" sz="1100" dirty="0">
                          <a:solidFill>
                            <a:schemeClr val="tx2"/>
                          </a:solidFill>
                        </a:rPr>
                        <a:t>4 objects  |  19 attributes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Industry, vendor and internal identifiers that recognize a product or share class across systems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Security Identifier, </a:t>
                      </a:r>
                      <a:pPr indent="0" marL="0">
                        <a:buNone/>
                      </a:pPr>
                      <a:r>
                        <a:rPr lang="en-US" sz="1200" dirty="0">
                          <a:solidFill>
                            <a:schemeClr val="tx1"/>
                          </a:solidFill>
                        </a:rPr>
                        <a:t>Regulatory Filing Identifier, </a:t>
                      </a:r>
                      <a:pPr indent="0" marL="0">
                        <a:buNone/>
                      </a:pPr>
                      <a:r>
                        <a:rPr lang="en-US" sz="1200" dirty="0">
                          <a:solidFill>
                            <a:schemeClr val="tx1"/>
                          </a:solidFill>
                        </a:rPr>
                        <a:t>External Cross-Reference, </a:t>
                      </a:r>
                      <a:pPr indent="0" marL="0">
                        <a:buNone/>
                      </a:pPr>
                      <a:r>
                        <a:rPr lang="en-US" sz="1200" b="1" dirty="0">
                          <a:solidFill>
                            <a:schemeClr val="tx1"/>
                          </a:solidFill>
                        </a:rPr>
                        <a:t>System Cross-Reference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ISIN, CUSIP, SEC Series ID, Morningstar SecId, DTCC Fund/SERV Code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749808">
                <a:tc>
                  <a:txBody>
                    <a:bodyPr/>
                    <a:lstStyle/>
                    <a:p>
                      <a:pPr indent="0" marL="0">
                        <a:buNone/>
                      </a:pPr>
                      <a:r>
                        <a:rPr lang="en-US" sz="1200" b="1" dirty="0">
                          <a:solidFill>
                            <a:schemeClr val="tx1"/>
                          </a:solidFill>
                        </a:rPr>
                        <a:t>Product Classification</a:t>
                      </a:r>
                      <a:endParaRPr lang="en-US" sz="1200" dirty="0"/>
                    </a:p>
                    <a:p>
                      <a:pPr indent="0" marL="0">
                        <a:buNone/>
                      </a:pPr>
                      <a:r>
                        <a:rPr lang="en-US" sz="1100" dirty="0">
                          <a:solidFill>
                            <a:schemeClr val="tx2"/>
                          </a:solidFill>
                        </a:rPr>
                        <a:t>4 objects  |  22 attributes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Firm, industry, regulatory and sustainability classifications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Firm Product Classification, </a:t>
                      </a:r>
                      <a:pPr indent="0" marL="0">
                        <a:buNone/>
                      </a:pPr>
                      <a:r>
                        <a:rPr lang="en-US" sz="1200" dirty="0">
                          <a:solidFill>
                            <a:schemeClr val="tx1"/>
                          </a:solidFill>
                        </a:rPr>
                        <a:t>External Classification, </a:t>
                      </a:r>
                      <a:pPr indent="0" marL="0">
                        <a:buNone/>
                      </a:pPr>
                      <a:r>
                        <a:rPr lang="en-US" sz="1200" dirty="0">
                          <a:solidFill>
                            <a:schemeClr val="tx1"/>
                          </a:solidFill>
                        </a:rPr>
                        <a:t>Regulatory Classification, </a:t>
                      </a:r>
                      <a:pPr indent="0" marL="0">
                        <a:buNone/>
                      </a:pPr>
                      <a:r>
                        <a:rPr lang="en-US" sz="1200" dirty="0">
                          <a:solidFill>
                            <a:schemeClr val="tx1"/>
                          </a:solidFill>
                        </a:rPr>
                        <a:t>ESG Classification</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Business Line, Morningstar Category, MiFID Complexity, SFDR Classification</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749808">
                <a:tc>
                  <a:txBody>
                    <a:bodyPr/>
                    <a:lstStyle/>
                    <a:p>
                      <a:pPr indent="0" marL="0">
                        <a:buNone/>
                      </a:pPr>
                      <a:r>
                        <a:rPr lang="en-US" sz="1200" b="1" dirty="0">
                          <a:solidFill>
                            <a:schemeClr val="tx1"/>
                          </a:solidFill>
                        </a:rPr>
                        <a:t>Investment Policy &amp; Risk</a:t>
                      </a:r>
                      <a:endParaRPr lang="en-US" sz="1200" dirty="0"/>
                    </a:p>
                    <a:p>
                      <a:pPr indent="0" marL="0">
                        <a:buNone/>
                      </a:pPr>
                      <a:r>
                        <a:rPr lang="en-US" sz="1100" dirty="0">
                          <a:solidFill>
                            <a:schemeClr val="tx2"/>
                          </a:solidFill>
                        </a:rPr>
                        <a:t>3 objects  |  21 attributes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The documented objective, policy, restrictions and risk profile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Investment Objective &amp; Policy, </a:t>
                      </a:r>
                      <a:pPr indent="0" marL="0">
                        <a:buNone/>
                      </a:pPr>
                      <a:r>
                        <a:rPr lang="en-US" sz="1200" b="1" dirty="0">
                          <a:solidFill>
                            <a:schemeClr val="tx1"/>
                          </a:solidFill>
                        </a:rPr>
                        <a:t>Investment Restriction, </a:t>
                      </a:r>
                      <a:pPr indent="0" marL="0">
                        <a:buNone/>
                      </a:pPr>
                      <a:r>
                        <a:rPr lang="en-US" sz="1200" dirty="0">
                          <a:solidFill>
                            <a:schemeClr val="tx1"/>
                          </a:solidFill>
                        </a:rPr>
                        <a:t>Product Risk Indicator</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Investment Objective, Benchmark Usage Type, Limit Type, Summary Risk Indicator</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749808">
                <a:tc>
                  <a:txBody>
                    <a:bodyPr/>
                    <a:lstStyle/>
                    <a:p>
                      <a:pPr indent="0" marL="0">
                        <a:buNone/>
                      </a:pPr>
                      <a:r>
                        <a:rPr lang="en-US" sz="1200" b="1" dirty="0">
                          <a:solidFill>
                            <a:schemeClr val="tx1"/>
                          </a:solidFill>
                        </a:rPr>
                        <a:t>Benchmark &amp; Performance Reference</a:t>
                      </a:r>
                      <a:endParaRPr lang="en-US" sz="1200" dirty="0"/>
                    </a:p>
                    <a:p>
                      <a:pPr indent="0" marL="0">
                        <a:buNone/>
                      </a:pPr>
                      <a:r>
                        <a:rPr lang="en-US" sz="1100" dirty="0">
                          <a:solidFill>
                            <a:schemeClr val="tx2"/>
                          </a:solidFill>
                        </a:rPr>
                        <a:t>3 objects  |  19 attributes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Benchmarks, their assignment to products by role, and track record reference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b="1" dirty="0">
                          <a:solidFill>
                            <a:schemeClr val="tx1"/>
                          </a:solidFill>
                        </a:rPr>
                        <a:t>Benchmark, </a:t>
                      </a:r>
                      <a:pPr indent="0" marL="0">
                        <a:buNone/>
                      </a:pPr>
                      <a:r>
                        <a:rPr lang="en-US" sz="1200" b="1" dirty="0">
                          <a:solidFill>
                            <a:schemeClr val="tx1"/>
                          </a:solidFill>
                        </a:rPr>
                        <a:t>Product Benchmark Assignment, </a:t>
                      </a:r>
                      <a:pPr indent="0" marL="0">
                        <a:buNone/>
                      </a:pPr>
                      <a:r>
                        <a:rPr lang="en-US" sz="1200" dirty="0">
                          <a:solidFill>
                            <a:schemeClr val="tx1"/>
                          </a:solidFill>
                        </a:rPr>
                        <a:t>Performance Track Record</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Benchmark Name, Benchmark Role, Return Type, Performance Inception Date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749808">
                <a:tc>
                  <a:txBody>
                    <a:bodyPr/>
                    <a:lstStyle/>
                    <a:p>
                      <a:pPr indent="0" marL="0">
                        <a:buNone/>
                      </a:pPr>
                      <a:r>
                        <a:rPr lang="en-US" sz="1200" b="1" dirty="0">
                          <a:solidFill>
                            <a:schemeClr val="tx1"/>
                          </a:solidFill>
                        </a:rPr>
                        <a:t>Fees, Charges &amp; Costs</a:t>
                      </a:r>
                      <a:endParaRPr lang="en-US" sz="1200" dirty="0"/>
                    </a:p>
                    <a:p>
                      <a:pPr indent="0" marL="0">
                        <a:buNone/>
                      </a:pPr>
                      <a:r>
                        <a:rPr lang="en-US" sz="1100" dirty="0">
                          <a:solidFill>
                            <a:schemeClr val="tx2"/>
                          </a:solidFill>
                        </a:rPr>
                        <a:t>5 objects  |  29 attributes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Fee terms set by the product and the cost figures disclosed to investors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Management Fee, </a:t>
                      </a:r>
                      <a:pPr indent="0" marL="0">
                        <a:buNone/>
                      </a:pPr>
                      <a:r>
                        <a:rPr lang="en-US" sz="1200" dirty="0">
                          <a:solidFill>
                            <a:schemeClr val="tx1"/>
                          </a:solidFill>
                        </a:rPr>
                        <a:t>Other Ongoing Fees, </a:t>
                      </a:r>
                      <a:pPr indent="0" marL="0">
                        <a:buNone/>
                      </a:pPr>
                      <a:r>
                        <a:rPr lang="en-US" sz="1200" dirty="0">
                          <a:solidFill>
                            <a:schemeClr val="tx1"/>
                          </a:solidFill>
                        </a:rPr>
                        <a:t>Performance Fee, </a:t>
                      </a:r>
                      <a:pPr indent="0" marL="0">
                        <a:buNone/>
                      </a:pPr>
                      <a:r>
                        <a:rPr lang="en-US" sz="1200" dirty="0">
                          <a:solidFill>
                            <a:schemeClr val="tx1"/>
                          </a:solidFill>
                        </a:rPr>
                        <a:t>Investor Transaction Charge, </a:t>
                      </a:r>
                      <a:pPr indent="0" marL="0">
                        <a:buNone/>
                      </a:pPr>
                      <a:r>
                        <a:rPr lang="en-US" sz="1200" b="1" dirty="0">
                          <a:solidFill>
                            <a:schemeClr val="tx1"/>
                          </a:solidFill>
                        </a:rPr>
                        <a:t>Cost Disclosure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Management Fee Rate, Distribution (12b-1) Fee Rate, Net Expense Ratio</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bl>
          </a:graphicData>
        </a:graphic>
      </p:graphicFrame>
      <p:sp>
        <p:nvSpPr>
          <p:cNvPr id="6" name="Text 2"/>
          <p:cNvSpPr txBox="1"/>
          <p:nvPr/>
        </p:nvSpPr>
        <p:spPr>
          <a:xfrm>
            <a:off x="548640" y="5961888"/>
            <a:ext cx="11091672" cy="274320"/>
          </a:xfrm>
          <a:prstGeom prst="rect">
            <a:avLst/>
          </a:prstGeom>
          <a:noFill/>
          <a:ln/>
        </p:spPr>
        <p:txBody>
          <a:bodyPr wrap="square" lIns="0" tIns="0" rIns="0" bIns="0" rtlCol="0" anchor="ctr"/>
          <a:lstStyle/>
          <a:p>
            <a:pPr algn="l" indent="0" marL="0">
              <a:buNone/>
            </a:pPr>
            <a:r>
              <a:rPr lang="en-US" sz="1200" dirty="0">
                <a:solidFill>
                  <a:schemeClr val="tx2"/>
                </a:solidFill>
              </a:rPr>
              <a:t>Bold = business object with its own key. Regular = attribute group held on its parent product or share class.</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WHAT IS INCLUDED  |  GROUP 3 OF 3</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Operations, distribution and governance</a:t>
            </a:r>
            <a:endParaRPr lang="en-US" sz="3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2377440"/>
                <a:gridCol w="2926080"/>
                <a:gridCol w="3017520"/>
                <a:gridCol w="2770632"/>
              </a:tblGrid>
              <a:tr h="365760">
                <a:tc>
                  <a:txBody>
                    <a:bodyPr/>
                    <a:lstStyle/>
                    <a:p>
                      <a:pPr indent="0" marL="0">
                        <a:buNone/>
                      </a:pPr>
                      <a:r>
                        <a:rPr lang="en-US" sz="1200" b="1" dirty="0">
                          <a:solidFill>
                            <a:schemeClr val="bg1"/>
                          </a:solidFill>
                        </a:rPr>
                        <a:t>Family</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it holds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Objects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Example attributes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solidFill>
                      <a:schemeClr val="tx1"/>
                    </a:solidFill>
                  </a:tcPr>
                </a:tc>
              </a:tr>
              <a:tr h="640080">
                <a:tc>
                  <a:txBody>
                    <a:bodyPr/>
                    <a:lstStyle/>
                    <a:p>
                      <a:pPr indent="0" marL="0">
                        <a:buNone/>
                      </a:pPr>
                      <a:r>
                        <a:rPr lang="en-US" sz="1200" b="1" dirty="0">
                          <a:solidFill>
                            <a:schemeClr val="tx1"/>
                          </a:solidFill>
                        </a:rPr>
                        <a:t>Dealing, Valuation &amp; Listing</a:t>
                      </a:r>
                      <a:endParaRPr lang="en-US" sz="1200" dirty="0"/>
                    </a:p>
                    <a:p>
                      <a:pPr indent="0" marL="0">
                        <a:buNone/>
                      </a:pPr>
                      <a:r>
                        <a:rPr lang="en-US" sz="1100" dirty="0">
                          <a:solidFill>
                            <a:schemeClr val="tx2"/>
                          </a:solidFill>
                        </a:rPr>
                        <a:t>4 objects  |  25 attributes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How investors deal, how the product is valued and where it trades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Dealing Terms, </a:t>
                      </a:r>
                      <a:pPr indent="0" marL="0">
                        <a:buNone/>
                      </a:pPr>
                      <a:r>
                        <a:rPr lang="en-US" sz="1200" dirty="0">
                          <a:solidFill>
                            <a:schemeClr val="tx1"/>
                          </a:solidFill>
                        </a:rPr>
                        <a:t>Valuation Terms, </a:t>
                      </a:r>
                      <a:pPr indent="0" marL="0">
                        <a:buNone/>
                      </a:pPr>
                      <a:r>
                        <a:rPr lang="en-US" sz="1200" b="1" dirty="0">
                          <a:solidFill>
                            <a:schemeClr val="tx1"/>
                          </a:solidFill>
                        </a:rPr>
                        <a:t>Listing, </a:t>
                      </a:r>
                      <a:pPr indent="0" marL="0">
                        <a:buNone/>
                      </a:pPr>
                      <a:r>
                        <a:rPr lang="en-US" sz="1200" dirty="0">
                          <a:solidFill>
                            <a:schemeClr val="tx1"/>
                          </a:solidFill>
                        </a:rPr>
                        <a:t>ETF Characteristics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Dealing Cut-off Time, Redemption Notice Period, Valuation Point, Exchange Ticker</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640080">
                <a:tc>
                  <a:txBody>
                    <a:bodyPr/>
                    <a:lstStyle/>
                    <a:p>
                      <a:pPr indent="0" marL="0">
                        <a:buNone/>
                      </a:pPr>
                      <a:r>
                        <a:rPr lang="en-US" sz="1200" b="1" dirty="0">
                          <a:solidFill>
                            <a:schemeClr val="tx1"/>
                          </a:solidFill>
                        </a:rPr>
                        <a:t>Product Parties &amp; Roles</a:t>
                      </a:r>
                      <a:endParaRPr lang="en-US" sz="1200" dirty="0"/>
                    </a:p>
                    <a:p>
                      <a:pPr indent="0" marL="0">
                        <a:buNone/>
                      </a:pPr>
                      <a:r>
                        <a:rPr lang="en-US" sz="1100" dirty="0">
                          <a:solidFill>
                            <a:schemeClr val="tx2"/>
                          </a:solidFill>
                        </a:rPr>
                        <a:t>2 objects  |  11 attributes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Service providers, delegates and portfolio managers assigned to a product over time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b="1" dirty="0">
                          <a:solidFill>
                            <a:schemeClr val="tx1"/>
                          </a:solidFill>
                        </a:rPr>
                        <a:t>Product Party Role, </a:t>
                      </a:r>
                      <a:pPr indent="0" marL="0">
                        <a:buNone/>
                      </a:pPr>
                      <a:r>
                        <a:rPr lang="en-US" sz="1200" b="1" dirty="0">
                          <a:solidFill>
                            <a:schemeClr val="tx1"/>
                          </a:solidFill>
                        </a:rPr>
                        <a:t>Portfolio Manager Assignment</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Party Role Type, Delegated Function Indicator, Portfolio Manager Role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640080">
                <a:tc>
                  <a:txBody>
                    <a:bodyPr/>
                    <a:lstStyle/>
                    <a:p>
                      <a:pPr indent="0" marL="0">
                        <a:buNone/>
                      </a:pPr>
                      <a:r>
                        <a:rPr lang="en-US" sz="1200" b="1" dirty="0">
                          <a:solidFill>
                            <a:schemeClr val="tx1"/>
                          </a:solidFill>
                        </a:rPr>
                        <a:t>Distribution &amp; Registration</a:t>
                      </a:r>
                      <a:endParaRPr lang="en-US" sz="1200" dirty="0"/>
                    </a:p>
                    <a:p>
                      <a:pPr indent="0" marL="0">
                        <a:buNone/>
                      </a:pPr>
                      <a:r>
                        <a:rPr lang="en-US" sz="1100" dirty="0">
                          <a:solidFill>
                            <a:schemeClr val="tx2"/>
                          </a:solidFill>
                        </a:rPr>
                        <a:t>3 objects  |  18 attributes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Where, to whom and through which channels a product may be marketed and sold</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b="1" dirty="0">
                          <a:solidFill>
                            <a:schemeClr val="tx1"/>
                          </a:solidFill>
                        </a:rPr>
                        <a:t>Country Registration, </a:t>
                      </a:r>
                      <a:pPr indent="0" marL="0">
                        <a:buNone/>
                      </a:pPr>
                      <a:r>
                        <a:rPr lang="en-US" sz="1200" dirty="0">
                          <a:solidFill>
                            <a:schemeClr val="tx1"/>
                          </a:solidFill>
                        </a:rPr>
                        <a:t>Target Market, </a:t>
                      </a:r>
                      <a:pPr indent="0" marL="0">
                        <a:buNone/>
                      </a:pPr>
                      <a:r>
                        <a:rPr lang="en-US" sz="1200" dirty="0">
                          <a:solidFill>
                            <a:schemeClr val="tx1"/>
                          </a:solidFill>
                        </a:rPr>
                        <a:t>Distribution Availability</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Registration Status, Permitted Investor Type, Negative Target Market</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640080">
                <a:tc>
                  <a:txBody>
                    <a:bodyPr/>
                    <a:lstStyle/>
                    <a:p>
                      <a:pPr indent="0" marL="0">
                        <a:buNone/>
                      </a:pPr>
                      <a:r>
                        <a:rPr lang="en-US" sz="1200" b="1" dirty="0">
                          <a:solidFill>
                            <a:schemeClr val="tx1"/>
                          </a:solidFill>
                        </a:rPr>
                        <a:t>Regulatory, Tax &amp; Disclosure</a:t>
                      </a:r>
                      <a:endParaRPr lang="en-US" sz="1200" dirty="0"/>
                    </a:p>
                    <a:p>
                      <a:pPr indent="0" marL="0">
                        <a:buNone/>
                      </a:pPr>
                      <a:r>
                        <a:rPr lang="en-US" sz="1100" dirty="0">
                          <a:solidFill>
                            <a:schemeClr val="tx2"/>
                          </a:solidFill>
                        </a:rPr>
                        <a:t>4 objects  |  18 attributes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Regulatory authorization, required documents and tax status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Regulatory Authorization, </a:t>
                      </a:r>
                      <a:pPr indent="0" marL="0">
                        <a:buNone/>
                      </a:pPr>
                      <a:r>
                        <a:rPr lang="en-US" sz="1200" b="1" dirty="0">
                          <a:solidFill>
                            <a:schemeClr val="tx1"/>
                          </a:solidFill>
                        </a:rPr>
                        <a:t>Product Document, </a:t>
                      </a:r>
                      <a:pPr indent="0" marL="0">
                        <a:buNone/>
                      </a:pPr>
                      <a:r>
                        <a:rPr lang="en-US" sz="1200" dirty="0">
                          <a:solidFill>
                            <a:schemeClr val="tx1"/>
                          </a:solidFill>
                        </a:rPr>
                        <a:t>Product Tax Status, </a:t>
                      </a:r>
                      <a:pPr indent="0" marL="0">
                        <a:buNone/>
                      </a:pPr>
                      <a:r>
                        <a:rPr lang="en-US" sz="1200" dirty="0">
                          <a:solidFill>
                            <a:schemeClr val="tx1"/>
                          </a:solidFill>
                        </a:rPr>
                        <a:t>Share Class Tax Reporting</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Competent Authority, Document Type, US Tax Classification, UK Reporting Fund Status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640080">
                <a:tc>
                  <a:txBody>
                    <a:bodyPr/>
                    <a:lstStyle/>
                    <a:p>
                      <a:pPr indent="0" marL="0">
                        <a:buNone/>
                      </a:pPr>
                      <a:r>
                        <a:rPr lang="en-US" sz="1200" b="1" dirty="0">
                          <a:solidFill>
                            <a:schemeClr val="tx1"/>
                          </a:solidFill>
                        </a:rPr>
                        <a:t>Investment Commentary</a:t>
                      </a:r>
                      <a:endParaRPr lang="en-US" sz="1200" dirty="0"/>
                    </a:p>
                    <a:p>
                      <a:pPr indent="0" marL="0">
                        <a:buNone/>
                      </a:pPr>
                      <a:r>
                        <a:rPr lang="en-US" sz="1100" dirty="0">
                          <a:solidFill>
                            <a:schemeClr val="tx2"/>
                          </a:solidFill>
                        </a:rPr>
                        <a:t>2 objects  |  20 attributes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Market and investment commentary by the investment teams, per subject and period</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b="1" dirty="0">
                          <a:solidFill>
                            <a:schemeClr val="tx1"/>
                          </a:solidFill>
                        </a:rPr>
                        <a:t>Investment Commentary, </a:t>
                      </a:r>
                      <a:pPr indent="0" marL="0">
                        <a:buNone/>
                      </a:pPr>
                      <a:r>
                        <a:rPr lang="en-US" sz="1200" dirty="0">
                          <a:solidFill>
                            <a:schemeClr val="tx1"/>
                          </a:solidFill>
                        </a:rPr>
                        <a:t>Commentary Approval</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Commentary Type, Commentary Scope, Period End Date, Permitted Audience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640080">
                <a:tc>
                  <a:txBody>
                    <a:bodyPr/>
                    <a:lstStyle/>
                    <a:p>
                      <a:pPr indent="0" marL="0">
                        <a:buNone/>
                      </a:pPr>
                      <a:r>
                        <a:rPr lang="en-US" sz="1200" b="1" dirty="0">
                          <a:solidFill>
                            <a:schemeClr val="tx1"/>
                          </a:solidFill>
                        </a:rPr>
                        <a:t>Lifecycle &amp; Governance</a:t>
                      </a:r>
                      <a:endParaRPr lang="en-US" sz="1200" dirty="0"/>
                    </a:p>
                    <a:p>
                      <a:pPr indent="0" marL="0">
                        <a:buNone/>
                      </a:pPr>
                      <a:r>
                        <a:rPr lang="en-US" sz="1100" dirty="0">
                          <a:solidFill>
                            <a:schemeClr val="tx2"/>
                          </a:solidFill>
                        </a:rPr>
                        <a:t>2 objects  |  13 attributes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Events that change status or structure, and product approval and review</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b="1" dirty="0">
                          <a:solidFill>
                            <a:schemeClr val="tx1"/>
                          </a:solidFill>
                        </a:rPr>
                        <a:t>Lifecycle Event, </a:t>
                      </a:r>
                      <a:pPr indent="0" marL="0">
                        <a:buNone/>
                      </a:pPr>
                      <a:r>
                        <a:rPr lang="en-US" sz="1200" dirty="0">
                          <a:solidFill>
                            <a:schemeClr val="tx1"/>
                          </a:solidFill>
                        </a:rPr>
                        <a:t>Product Governance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Lifecycle Event Type, Successor Product / Share Class, Next Product Review Date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bl>
          </a:graphicData>
        </a:graphic>
      </p:graphicFrame>
      <p:sp>
        <p:nvSpPr>
          <p:cNvPr id="6" name="Text 2"/>
          <p:cNvSpPr txBox="1"/>
          <p:nvPr/>
        </p:nvSpPr>
        <p:spPr>
          <a:xfrm>
            <a:off x="548640" y="6053328"/>
            <a:ext cx="11091672" cy="274320"/>
          </a:xfrm>
          <a:prstGeom prst="rect">
            <a:avLst/>
          </a:prstGeom>
          <a:noFill/>
          <a:ln/>
        </p:spPr>
        <p:txBody>
          <a:bodyPr wrap="square" lIns="0" tIns="0" rIns="0" bIns="0" rtlCol="0" anchor="ctr"/>
          <a:lstStyle/>
          <a:p>
            <a:pPr algn="l" indent="0" marL="0">
              <a:buNone/>
            </a:pPr>
            <a:r>
              <a:rPr lang="en-US" sz="1200" dirty="0">
                <a:solidFill>
                  <a:schemeClr val="tx2"/>
                </a:solidFill>
              </a:rPr>
              <a:t>Bold = business object with its own key. Regular = attribute group held on its parent product or share class.</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WHAT IS INCLUDED  |  WHERE THE DEFINITIONS COME FROM</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Built on industry standards, not invented</a:t>
            </a:r>
            <a:endParaRPr lang="en-US" sz="3600" dirty="0"/>
          </a:p>
        </p:txBody>
      </p:sp>
      <p:graphicFrame>
        <p:nvGraphicFramePr>
          <p:cNvPr id="5" name="Chart 0" descr=""/>
          <p:cNvGraphicFramePr/>
          <p:nvPr/>
        </p:nvGraphicFramePr>
        <p:xfrm>
          <a:off x="548640" y="1783080"/>
          <a:ext cx="6400800" cy="40690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 y="5870448"/>
            <a:ext cx="6400800" cy="411480"/>
          </a:xfrm>
          <a:prstGeom prst="rect">
            <a:avLst/>
          </a:prstGeom>
          <a:noFill/>
          <a:ln/>
        </p:spPr>
        <p:txBody>
          <a:bodyPr wrap="square" lIns="0" tIns="0" rIns="0" bIns="0" rtlCol="0" anchor="t"/>
          <a:lstStyle/>
          <a:p>
            <a:pPr algn="l" indent="0" marL="0">
              <a:buNone/>
            </a:pPr>
            <a:r>
              <a:rPr lang="en-US" sz="1100" dirty="0">
                <a:solidFill>
                  <a:schemeClr val="tx2"/>
                </a:solidFill>
              </a:rPr>
              <a:t>Internal = no authoritative external definition exists. Other includes ESMA guidelines, PRIIPs, AIFMD, ISO, exchange and vendor schemes.</a:t>
            </a:r>
            <a:endParaRPr lang="en-US" sz="1100" dirty="0"/>
          </a:p>
        </p:txBody>
      </p:sp>
      <p:sp>
        <p:nvSpPr>
          <p:cNvPr id="7" name="Shape 3"/>
          <p:cNvSpPr/>
          <p:nvPr/>
        </p:nvSpPr>
        <p:spPr>
          <a:xfrm>
            <a:off x="7315200" y="1783080"/>
            <a:ext cx="4325112" cy="1280160"/>
          </a:xfrm>
          <a:prstGeom prst="roundRect">
            <a:avLst>
              <a:gd name="adj" fmla="val 5714"/>
            </a:avLst>
          </a:prstGeom>
          <a:solidFill>
            <a:schemeClr val="bg2"/>
          </a:solidFill>
          <a:ln/>
        </p:spPr>
      </p:sp>
      <p:sp>
        <p:nvSpPr>
          <p:cNvPr id="8" name="Text 4"/>
          <p:cNvSpPr txBox="1"/>
          <p:nvPr/>
        </p:nvSpPr>
        <p:spPr>
          <a:xfrm>
            <a:off x="7543800" y="1892808"/>
            <a:ext cx="3867912" cy="548640"/>
          </a:xfrm>
          <a:prstGeom prst="rect">
            <a:avLst/>
          </a:prstGeom>
          <a:noFill/>
          <a:ln/>
        </p:spPr>
        <p:txBody>
          <a:bodyPr wrap="square" lIns="0" tIns="0" rIns="0" bIns="0" rtlCol="0" anchor="ctr"/>
          <a:lstStyle/>
          <a:p>
            <a:pPr algn="l" indent="0" marL="0">
              <a:buNone/>
            </a:pPr>
            <a:r>
              <a:rPr lang="en-US" sz="3200" b="1" dirty="0">
                <a:solidFill>
                  <a:schemeClr val="accent1"/>
                </a:solidFill>
              </a:rPr>
              <a:t>60%</a:t>
            </a:r>
            <a:endParaRPr lang="en-US" sz="3200" dirty="0"/>
          </a:p>
        </p:txBody>
      </p:sp>
      <p:sp>
        <p:nvSpPr>
          <p:cNvPr id="9" name="Text 5"/>
          <p:cNvSpPr txBox="1"/>
          <p:nvPr/>
        </p:nvSpPr>
        <p:spPr>
          <a:xfrm>
            <a:off x="7543800" y="2459736"/>
            <a:ext cx="3867912" cy="502920"/>
          </a:xfrm>
          <a:prstGeom prst="rect">
            <a:avLst/>
          </a:prstGeom>
          <a:noFill/>
          <a:ln/>
        </p:spPr>
        <p:txBody>
          <a:bodyPr wrap="square" lIns="0" tIns="0" rIns="0" bIns="0" rtlCol="0" anchor="t"/>
          <a:lstStyle/>
          <a:p>
            <a:pPr algn="l" indent="0" marL="0">
              <a:buNone/>
            </a:pPr>
            <a:r>
              <a:rPr lang="en-US" sz="1300" dirty="0">
                <a:solidFill>
                  <a:schemeClr val="tx1"/>
                </a:solidFill>
              </a:rPr>
              <a:t>of attributes (183 of 307) align to an external standard or regulation</a:t>
            </a:r>
            <a:endParaRPr lang="en-US" sz="1300" dirty="0"/>
          </a:p>
        </p:txBody>
      </p:sp>
      <p:sp>
        <p:nvSpPr>
          <p:cNvPr id="10" name="Shape 6"/>
          <p:cNvSpPr/>
          <p:nvPr/>
        </p:nvSpPr>
        <p:spPr>
          <a:xfrm>
            <a:off x="7315200" y="3246120"/>
            <a:ext cx="4325112" cy="1280160"/>
          </a:xfrm>
          <a:prstGeom prst="roundRect">
            <a:avLst>
              <a:gd name="adj" fmla="val 5714"/>
            </a:avLst>
          </a:prstGeom>
          <a:solidFill>
            <a:schemeClr val="bg2"/>
          </a:solidFill>
          <a:ln/>
        </p:spPr>
      </p:sp>
      <p:sp>
        <p:nvSpPr>
          <p:cNvPr id="11" name="Text 7"/>
          <p:cNvSpPr txBox="1"/>
          <p:nvPr/>
        </p:nvSpPr>
        <p:spPr>
          <a:xfrm>
            <a:off x="7543800" y="3355848"/>
            <a:ext cx="3867912" cy="548640"/>
          </a:xfrm>
          <a:prstGeom prst="rect">
            <a:avLst/>
          </a:prstGeom>
          <a:noFill/>
          <a:ln/>
        </p:spPr>
        <p:txBody>
          <a:bodyPr wrap="square" lIns="0" tIns="0" rIns="0" bIns="0" rtlCol="0" anchor="ctr"/>
          <a:lstStyle/>
          <a:p>
            <a:pPr algn="l" indent="0" marL="0">
              <a:buNone/>
            </a:pPr>
            <a:r>
              <a:rPr lang="en-US" sz="3200" b="1" dirty="0">
                <a:solidFill>
                  <a:schemeClr val="accent1"/>
                </a:solidFill>
              </a:rPr>
              <a:t>101</a:t>
            </a:r>
            <a:endParaRPr lang="en-US" sz="3200" dirty="0"/>
          </a:p>
        </p:txBody>
      </p:sp>
      <p:sp>
        <p:nvSpPr>
          <p:cNvPr id="12" name="Text 8"/>
          <p:cNvSpPr txBox="1"/>
          <p:nvPr/>
        </p:nvSpPr>
        <p:spPr>
          <a:xfrm>
            <a:off x="7543800" y="3922776"/>
            <a:ext cx="3867912" cy="502920"/>
          </a:xfrm>
          <a:prstGeom prst="rect">
            <a:avLst/>
          </a:prstGeom>
          <a:noFill/>
          <a:ln/>
        </p:spPr>
        <p:txBody>
          <a:bodyPr wrap="square" lIns="0" tIns="0" rIns="0" bIns="0" rtlCol="0" anchor="t"/>
          <a:lstStyle/>
          <a:p>
            <a:pPr algn="l" indent="0" marL="0">
              <a:buNone/>
            </a:pPr>
            <a:r>
              <a:rPr lang="en-US" sz="1300" dirty="0">
                <a:solidFill>
                  <a:schemeClr val="tx1"/>
                </a:solidFill>
              </a:rPr>
              <a:t>attributes take their values from a controlled code list, not free text</a:t>
            </a:r>
            <a:endParaRPr lang="en-US" sz="1300" dirty="0"/>
          </a:p>
        </p:txBody>
      </p:sp>
      <p:sp>
        <p:nvSpPr>
          <p:cNvPr id="13" name="Shape 9"/>
          <p:cNvSpPr/>
          <p:nvPr/>
        </p:nvSpPr>
        <p:spPr>
          <a:xfrm>
            <a:off x="7315200" y="4709160"/>
            <a:ext cx="4325112" cy="1280160"/>
          </a:xfrm>
          <a:prstGeom prst="roundRect">
            <a:avLst>
              <a:gd name="adj" fmla="val 5714"/>
            </a:avLst>
          </a:prstGeom>
          <a:solidFill>
            <a:schemeClr val="bg2"/>
          </a:solidFill>
          <a:ln/>
        </p:spPr>
      </p:sp>
      <p:sp>
        <p:nvSpPr>
          <p:cNvPr id="14" name="Text 10"/>
          <p:cNvSpPr txBox="1"/>
          <p:nvPr/>
        </p:nvSpPr>
        <p:spPr>
          <a:xfrm>
            <a:off x="7543800" y="4818888"/>
            <a:ext cx="3867912" cy="548640"/>
          </a:xfrm>
          <a:prstGeom prst="rect">
            <a:avLst/>
          </a:prstGeom>
          <a:noFill/>
          <a:ln/>
        </p:spPr>
        <p:txBody>
          <a:bodyPr wrap="square" lIns="0" tIns="0" rIns="0" bIns="0" rtlCol="0" anchor="ctr"/>
          <a:lstStyle/>
          <a:p>
            <a:pPr algn="l" indent="0" marL="0">
              <a:buNone/>
            </a:pPr>
            <a:r>
              <a:rPr lang="en-US" sz="3200" b="1" dirty="0">
                <a:solidFill>
                  <a:schemeClr val="accent1"/>
                </a:solidFill>
              </a:rPr>
              <a:t>US + EU/UK</a:t>
            </a:r>
            <a:endParaRPr lang="en-US" sz="3200" dirty="0"/>
          </a:p>
        </p:txBody>
      </p:sp>
      <p:sp>
        <p:nvSpPr>
          <p:cNvPr id="15" name="Text 11"/>
          <p:cNvSpPr txBox="1"/>
          <p:nvPr/>
        </p:nvSpPr>
        <p:spPr>
          <a:xfrm>
            <a:off x="7543800" y="5385816"/>
            <a:ext cx="3867912" cy="502920"/>
          </a:xfrm>
          <a:prstGeom prst="rect">
            <a:avLst/>
          </a:prstGeom>
          <a:noFill/>
          <a:ln/>
        </p:spPr>
        <p:txBody>
          <a:bodyPr wrap="square" lIns="0" tIns="0" rIns="0" bIns="0" rtlCol="0" anchor="t"/>
          <a:lstStyle/>
          <a:p>
            <a:pPr algn="l" indent="0" marL="0">
              <a:buNone/>
            </a:pPr>
            <a:r>
              <a:rPr lang="en-US" sz="1300" dirty="0">
                <a:solidFill>
                  <a:schemeClr val="tx1"/>
                </a:solidFill>
              </a:rPr>
              <a:t>regimes in scope: SEC, UCITS, AIFMD, PRIIPs, MiFID II, SFDR and FCA rules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WHAT IS EXCLUDED  |  SCOPE BOUNDARY</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Out of scope by design, and where it lives</a:t>
            </a:r>
            <a:endParaRPr lang="en-US" sz="3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3840480"/>
                <a:gridCol w="3566160"/>
                <a:gridCol w="3685032"/>
              </a:tblGrid>
              <a:tr h="365760">
                <a:tc>
                  <a:txBody>
                    <a:bodyPr/>
                    <a:lstStyle/>
                    <a:p>
                      <a:pPr indent="0" marL="0">
                        <a:buNone/>
                      </a:pPr>
                      <a:r>
                        <a:rPr lang="en-US" sz="1200" b="1" dirty="0">
                          <a:solidFill>
                            <a:schemeClr val="bg1"/>
                          </a:solidFill>
                        </a:rPr>
                        <a:t>Not in this domain</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Where it lives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this domain keeps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solidFill>
                      <a:schemeClr val="tx1"/>
                    </a:solidFill>
                  </a:tcPr>
                </a:tc>
              </a:tr>
              <a:tr h="502920">
                <a:tc>
                  <a:txBody>
                    <a:bodyPr/>
                    <a:lstStyle/>
                    <a:p>
                      <a:pPr indent="0" marL="0">
                        <a:buNone/>
                      </a:pPr>
                      <a:r>
                        <a:rPr lang="en-US" sz="1200" b="1" dirty="0">
                          <a:solidFill>
                            <a:schemeClr val="tx1"/>
                          </a:solidFill>
                        </a:rPr>
                        <a:t>Clients, distributors and other external parties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Client &amp; Customer</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A party reference on mandates, party roles and paying agents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502920">
                <a:tc>
                  <a:txBody>
                    <a:bodyPr/>
                    <a:lstStyle/>
                    <a:p>
                      <a:pPr indent="0" marL="0">
                        <a:buNone/>
                      </a:pPr>
                      <a:r>
                        <a:rPr lang="en-US" sz="1200" b="1" dirty="0">
                          <a:solidFill>
                            <a:schemeClr val="tx1"/>
                          </a:solidFill>
                        </a:rPr>
                        <a:t>Distribution agreements and platform shelf status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Distribution Agreements &amp; Partners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A reference to platform availability</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502920">
                <a:tc>
                  <a:txBody>
                    <a:bodyPr/>
                    <a:lstStyle/>
                    <a:p>
                      <a:pPr indent="0" marL="0">
                        <a:buNone/>
                      </a:pPr>
                      <a:r>
                        <a:rPr lang="en-US" sz="1200" b="1" dirty="0">
                          <a:solidFill>
                            <a:schemeClr val="tx1"/>
                          </a:solidFill>
                        </a:rPr>
                        <a:t>Transactions, flows, positions and AUM</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Sales Transactions &amp; AUM Attribution</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Nothing. These facts point to the share class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502920">
                <a:tc>
                  <a:txBody>
                    <a:bodyPr/>
                    <a:lstStyle/>
                    <a:p>
                      <a:pPr indent="0" marL="0">
                        <a:buNone/>
                      </a:pPr>
                      <a:r>
                        <a:rPr lang="en-US" sz="1200" b="1" dirty="0">
                          <a:solidFill>
                            <a:schemeClr val="tx1"/>
                          </a:solidFill>
                        </a:rPr>
                        <a:t>Peer universes, ratings, awards and fee benchmarks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Market &amp; Competitive Intelligence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The external categories of our own share classes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502920">
                <a:tc>
                  <a:txBody>
                    <a:bodyPr/>
                    <a:lstStyle/>
                    <a:p>
                      <a:pPr indent="0" marL="0">
                        <a:buNone/>
                      </a:pPr>
                      <a:r>
                        <a:rPr lang="en-US" sz="1200" b="1" dirty="0">
                          <a:solidFill>
                            <a:schemeClr val="tx1"/>
                          </a:solidFill>
                        </a:rPr>
                        <a:t>Employees, internal legal entities and calendars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Shared &amp; Enterprise Reference Data</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References to the portfolio manager, product owner, governing body and dealing calendar</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502920">
                <a:tc>
                  <a:txBody>
                    <a:bodyPr/>
                    <a:lstStyle/>
                    <a:p>
                      <a:pPr indent="0" marL="0">
                        <a:buNone/>
                      </a:pPr>
                      <a:r>
                        <a:rPr lang="en-US" sz="1200" b="1" dirty="0">
                          <a:solidFill>
                            <a:schemeClr val="tx1"/>
                          </a:solidFill>
                        </a:rPr>
                        <a:t>Fee revenue, shareholder notices and index licenses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Distribution Finance, Investor Servicing, Third-Party Data</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Fee and waiver terms; a derived notice date and benchmark register status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502920">
                <a:tc>
                  <a:txBody>
                    <a:bodyPr/>
                    <a:lstStyle/>
                    <a:p>
                      <a:pPr indent="0" marL="0">
                        <a:buNone/>
                      </a:pPr>
                      <a:r>
                        <a:rPr lang="en-US" sz="1200" b="1" dirty="0">
                          <a:solidFill>
                            <a:schemeClr val="tx1"/>
                          </a:solidFill>
                        </a:rPr>
                        <a:t>NAV and performance return time series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Not modeled yet: open gap GAP-01-004</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Track record inception date and calculation basis only</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502920">
                <a:tc>
                  <a:txBody>
                    <a:bodyPr/>
                    <a:lstStyle/>
                    <a:p>
                      <a:pPr indent="0" marL="0">
                        <a:buNone/>
                      </a:pPr>
                      <a:r>
                        <a:rPr lang="en-US" sz="1200" b="1" dirty="0">
                          <a:solidFill>
                            <a:schemeClr val="tx1"/>
                          </a:solidFill>
                        </a:rPr>
                        <a:t>Security master for portfolio holdings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Outside the program's 14 domains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Nothing</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WHAT IS EXCLUDED  |  REFERENCED, NOT MASTERED</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287 attributes mastered, 20 borrowed</a:t>
            </a:r>
            <a:endParaRPr lang="en-US" sz="3600" dirty="0"/>
          </a:p>
        </p:txBody>
      </p:sp>
      <p:sp>
        <p:nvSpPr>
          <p:cNvPr id="5" name="Shape 2"/>
          <p:cNvSpPr/>
          <p:nvPr/>
        </p:nvSpPr>
        <p:spPr>
          <a:xfrm>
            <a:off x="548640" y="1783080"/>
            <a:ext cx="3291840" cy="3730752"/>
          </a:xfrm>
          <a:prstGeom prst="roundRect">
            <a:avLst>
              <a:gd name="adj" fmla="val 2222"/>
            </a:avLst>
          </a:prstGeom>
          <a:solidFill>
            <a:schemeClr val="tx1"/>
          </a:solidFill>
          <a:ln/>
        </p:spPr>
      </p:sp>
      <p:sp>
        <p:nvSpPr>
          <p:cNvPr id="6" name="Text 3"/>
          <p:cNvSpPr txBox="1"/>
          <p:nvPr/>
        </p:nvSpPr>
        <p:spPr>
          <a:xfrm>
            <a:off x="822960" y="2057400"/>
            <a:ext cx="2743200" cy="868680"/>
          </a:xfrm>
          <a:prstGeom prst="rect">
            <a:avLst/>
          </a:prstGeom>
          <a:noFill/>
          <a:ln/>
        </p:spPr>
        <p:txBody>
          <a:bodyPr wrap="square" lIns="0" tIns="0" rIns="0" bIns="0" rtlCol="0" anchor="ctr"/>
          <a:lstStyle/>
          <a:p>
            <a:pPr algn="l" indent="0" marL="0">
              <a:buNone/>
            </a:pPr>
            <a:r>
              <a:rPr lang="en-US" sz="6000" b="1" dirty="0">
                <a:solidFill>
                  <a:schemeClr val="accent6"/>
                </a:solidFill>
              </a:rPr>
              <a:t>287</a:t>
            </a:r>
            <a:endParaRPr lang="en-US" sz="6000" dirty="0"/>
          </a:p>
        </p:txBody>
      </p:sp>
      <p:sp>
        <p:nvSpPr>
          <p:cNvPr id="7" name="Text 4"/>
          <p:cNvSpPr txBox="1"/>
          <p:nvPr/>
        </p:nvSpPr>
        <p:spPr>
          <a:xfrm>
            <a:off x="822960" y="2971800"/>
            <a:ext cx="2743200" cy="548640"/>
          </a:xfrm>
          <a:prstGeom prst="rect">
            <a:avLst/>
          </a:prstGeom>
          <a:noFill/>
          <a:ln/>
        </p:spPr>
        <p:txBody>
          <a:bodyPr wrap="square" lIns="0" tIns="0" rIns="0" bIns="0" rtlCol="0" anchor="t"/>
          <a:lstStyle/>
          <a:p>
            <a:pPr algn="l" indent="0" marL="0">
              <a:buNone/>
            </a:pPr>
            <a:r>
              <a:rPr lang="en-US" sz="1400" dirty="0">
                <a:solidFill>
                  <a:schemeClr val="bg1"/>
                </a:solidFill>
              </a:rPr>
              <a:t>of 307 attributes are mastered in Investment Product</a:t>
            </a:r>
            <a:endParaRPr lang="en-US" sz="1400" dirty="0"/>
          </a:p>
        </p:txBody>
      </p:sp>
      <p:sp>
        <p:nvSpPr>
          <p:cNvPr id="8" name="Text 5"/>
          <p:cNvSpPr txBox="1"/>
          <p:nvPr/>
        </p:nvSpPr>
        <p:spPr>
          <a:xfrm>
            <a:off x="822960" y="3840480"/>
            <a:ext cx="2743200" cy="292608"/>
          </a:xfrm>
          <a:prstGeom prst="rect">
            <a:avLst/>
          </a:prstGeom>
          <a:noFill/>
          <a:ln/>
        </p:spPr>
        <p:txBody>
          <a:bodyPr wrap="square" lIns="0" tIns="0" rIns="0" bIns="0" rtlCol="0" anchor="ctr"/>
          <a:lstStyle/>
          <a:p>
            <a:pPr algn="l" indent="0" marL="0">
              <a:buNone/>
            </a:pPr>
            <a:r>
              <a:rPr lang="en-US" sz="1600" b="1" dirty="0">
                <a:solidFill>
                  <a:schemeClr val="bg1"/>
                </a:solidFill>
              </a:rPr>
              <a:t>16 references</a:t>
            </a:r>
            <a:endParaRPr lang="en-US" sz="1600" dirty="0"/>
          </a:p>
        </p:txBody>
      </p:sp>
      <p:sp>
        <p:nvSpPr>
          <p:cNvPr id="9" name="Text 6"/>
          <p:cNvSpPr txBox="1"/>
          <p:nvPr/>
        </p:nvSpPr>
        <p:spPr>
          <a:xfrm>
            <a:off x="822960" y="4133088"/>
            <a:ext cx="2743200" cy="411480"/>
          </a:xfrm>
          <a:prstGeom prst="rect">
            <a:avLst/>
          </a:prstGeom>
          <a:noFill/>
          <a:ln/>
        </p:spPr>
        <p:txBody>
          <a:bodyPr wrap="square" lIns="0" tIns="0" rIns="0" bIns="0" rtlCol="0" anchor="t"/>
          <a:lstStyle/>
          <a:p>
            <a:pPr algn="l" indent="0" marL="0">
              <a:buNone/>
            </a:pPr>
            <a:r>
              <a:rPr lang="en-US" sz="1200" dirty="0">
                <a:solidFill>
                  <a:schemeClr val="bg1"/>
                </a:solidFill>
              </a:rPr>
              <a:t>Hold only the ID of a record another domain masters</a:t>
            </a:r>
            <a:endParaRPr lang="en-US" sz="1200" dirty="0"/>
          </a:p>
        </p:txBody>
      </p:sp>
      <p:sp>
        <p:nvSpPr>
          <p:cNvPr id="10" name="Text 7"/>
          <p:cNvSpPr txBox="1"/>
          <p:nvPr/>
        </p:nvSpPr>
        <p:spPr>
          <a:xfrm>
            <a:off x="822960" y="4636008"/>
            <a:ext cx="2743200" cy="292608"/>
          </a:xfrm>
          <a:prstGeom prst="rect">
            <a:avLst/>
          </a:prstGeom>
          <a:noFill/>
          <a:ln/>
        </p:spPr>
        <p:txBody>
          <a:bodyPr wrap="square" lIns="0" tIns="0" rIns="0" bIns="0" rtlCol="0" anchor="ctr"/>
          <a:lstStyle/>
          <a:p>
            <a:pPr algn="l" indent="0" marL="0">
              <a:buNone/>
            </a:pPr>
            <a:r>
              <a:rPr lang="en-US" sz="1600" b="1" dirty="0">
                <a:solidFill>
                  <a:schemeClr val="bg1"/>
                </a:solidFill>
              </a:rPr>
              <a:t>4 derived copies</a:t>
            </a:r>
            <a:endParaRPr lang="en-US" sz="1600" dirty="0"/>
          </a:p>
        </p:txBody>
      </p:sp>
      <p:sp>
        <p:nvSpPr>
          <p:cNvPr id="11" name="Text 8"/>
          <p:cNvSpPr txBox="1"/>
          <p:nvPr/>
        </p:nvSpPr>
        <p:spPr>
          <a:xfrm>
            <a:off x="822960" y="4928616"/>
            <a:ext cx="2743200" cy="411480"/>
          </a:xfrm>
          <a:prstGeom prst="rect">
            <a:avLst/>
          </a:prstGeom>
          <a:noFill/>
          <a:ln/>
        </p:spPr>
        <p:txBody>
          <a:bodyPr wrap="square" lIns="0" tIns="0" rIns="0" bIns="0" rtlCol="0" anchor="t"/>
          <a:lstStyle/>
          <a:p>
            <a:pPr algn="l" indent="0" marL="0">
              <a:buNone/>
            </a:pPr>
            <a:r>
              <a:rPr lang="en-US" sz="1200" dirty="0">
                <a:solidFill>
                  <a:schemeClr val="bg1"/>
                </a:solidFill>
              </a:rPr>
              <a:t>Display only; never edited here</a:t>
            </a:r>
            <a:endParaRPr lang="en-US" sz="1200" dirty="0"/>
          </a:p>
        </p:txBody>
      </p:sp>
      <p:sp>
        <p:nvSpPr>
          <p:cNvPr id="12" name="Shape 9"/>
          <p:cNvSpPr/>
          <p:nvPr/>
        </p:nvSpPr>
        <p:spPr>
          <a:xfrm>
            <a:off x="4114800" y="1783080"/>
            <a:ext cx="7525512" cy="658368"/>
          </a:xfrm>
          <a:prstGeom prst="roundRect">
            <a:avLst>
              <a:gd name="adj" fmla="val 11111"/>
            </a:avLst>
          </a:prstGeom>
          <a:solidFill>
            <a:schemeClr val="bg2"/>
          </a:solidFill>
          <a:ln/>
        </p:spPr>
      </p:sp>
      <p:sp>
        <p:nvSpPr>
          <p:cNvPr id="13" name="Text 10"/>
          <p:cNvSpPr txBox="1"/>
          <p:nvPr/>
        </p:nvSpPr>
        <p:spPr>
          <a:xfrm>
            <a:off x="4343400" y="1783080"/>
            <a:ext cx="2697480" cy="658368"/>
          </a:xfrm>
          <a:prstGeom prst="rect">
            <a:avLst/>
          </a:prstGeom>
          <a:noFill/>
          <a:ln/>
        </p:spPr>
        <p:txBody>
          <a:bodyPr wrap="square" lIns="0" tIns="0" rIns="0" bIns="0" rtlCol="0" anchor="ctr"/>
          <a:lstStyle/>
          <a:p>
            <a:pPr algn="l" indent="0" marL="0">
              <a:buNone/>
            </a:pPr>
            <a:r>
              <a:rPr lang="en-US" sz="1200" b="1" dirty="0">
                <a:solidFill>
                  <a:schemeClr val="tx1"/>
                </a:solidFill>
              </a:rPr>
              <a:t>Shared &amp; Enterprise Reference Data</a:t>
            </a:r>
            <a:endParaRPr lang="en-US" sz="1200" dirty="0"/>
          </a:p>
        </p:txBody>
      </p:sp>
      <p:sp>
        <p:nvSpPr>
          <p:cNvPr id="14" name="Text 11"/>
          <p:cNvSpPr txBox="1"/>
          <p:nvPr/>
        </p:nvSpPr>
        <p:spPr>
          <a:xfrm>
            <a:off x="7132320" y="1783080"/>
            <a:ext cx="1234440" cy="658368"/>
          </a:xfrm>
          <a:prstGeom prst="rect">
            <a:avLst/>
          </a:prstGeom>
          <a:noFill/>
          <a:ln/>
        </p:spPr>
        <p:txBody>
          <a:bodyPr wrap="square" lIns="0" tIns="0" rIns="0" bIns="0" rtlCol="0" anchor="ctr"/>
          <a:lstStyle/>
          <a:p>
            <a:pPr algn="l" indent="0" marL="0">
              <a:buNone/>
            </a:pPr>
            <a:r>
              <a:rPr lang="en-US" sz="1200" b="1" dirty="0">
                <a:solidFill>
                  <a:schemeClr val="accent1"/>
                </a:solidFill>
              </a:rPr>
              <a:t>9 references</a:t>
            </a:r>
            <a:endParaRPr lang="en-US" sz="1200" dirty="0"/>
          </a:p>
        </p:txBody>
      </p:sp>
      <p:sp>
        <p:nvSpPr>
          <p:cNvPr id="15" name="Text 12"/>
          <p:cNvSpPr txBox="1"/>
          <p:nvPr/>
        </p:nvSpPr>
        <p:spPr>
          <a:xfrm>
            <a:off x="8458200" y="1783080"/>
            <a:ext cx="3063240" cy="658368"/>
          </a:xfrm>
          <a:prstGeom prst="rect">
            <a:avLst/>
          </a:prstGeom>
          <a:noFill/>
          <a:ln/>
        </p:spPr>
        <p:txBody>
          <a:bodyPr wrap="square" lIns="0" tIns="0" rIns="0" bIns="0" rtlCol="0" anchor="ctr"/>
          <a:lstStyle/>
          <a:p>
            <a:pPr algn="l" indent="0" marL="0">
              <a:buNone/>
            </a:pPr>
            <a:r>
              <a:rPr lang="en-US" sz="1100" dirty="0">
                <a:solidFill>
                  <a:schemeClr val="tx1"/>
                </a:solidFill>
              </a:rPr>
              <a:t>Investment team, portfolio managers, commentary author and sign-off, boutique, product owner, governing body, dealing calendar</a:t>
            </a:r>
            <a:endParaRPr lang="en-US" sz="1100" dirty="0"/>
          </a:p>
        </p:txBody>
      </p:sp>
      <p:sp>
        <p:nvSpPr>
          <p:cNvPr id="16" name="Shape 13"/>
          <p:cNvSpPr/>
          <p:nvPr/>
        </p:nvSpPr>
        <p:spPr>
          <a:xfrm>
            <a:off x="4114800" y="2551176"/>
            <a:ext cx="7525512" cy="658368"/>
          </a:xfrm>
          <a:prstGeom prst="roundRect">
            <a:avLst>
              <a:gd name="adj" fmla="val 11111"/>
            </a:avLst>
          </a:prstGeom>
          <a:solidFill>
            <a:schemeClr val="bg2"/>
          </a:solidFill>
          <a:ln/>
        </p:spPr>
      </p:sp>
      <p:sp>
        <p:nvSpPr>
          <p:cNvPr id="17" name="Text 14"/>
          <p:cNvSpPr txBox="1"/>
          <p:nvPr/>
        </p:nvSpPr>
        <p:spPr>
          <a:xfrm>
            <a:off x="4343400" y="2551176"/>
            <a:ext cx="2697480" cy="658368"/>
          </a:xfrm>
          <a:prstGeom prst="rect">
            <a:avLst/>
          </a:prstGeom>
          <a:noFill/>
          <a:ln/>
        </p:spPr>
        <p:txBody>
          <a:bodyPr wrap="square" lIns="0" tIns="0" rIns="0" bIns="0" rtlCol="0" anchor="ctr"/>
          <a:lstStyle/>
          <a:p>
            <a:pPr algn="l" indent="0" marL="0">
              <a:buNone/>
            </a:pPr>
            <a:r>
              <a:rPr lang="en-US" sz="1200" b="1" dirty="0">
                <a:solidFill>
                  <a:schemeClr val="tx1"/>
                </a:solidFill>
              </a:rPr>
              <a:t>Client &amp; Customer</a:t>
            </a:r>
            <a:endParaRPr lang="en-US" sz="1200" dirty="0"/>
          </a:p>
        </p:txBody>
      </p:sp>
      <p:sp>
        <p:nvSpPr>
          <p:cNvPr id="18" name="Text 15"/>
          <p:cNvSpPr txBox="1"/>
          <p:nvPr/>
        </p:nvSpPr>
        <p:spPr>
          <a:xfrm>
            <a:off x="7132320" y="2551176"/>
            <a:ext cx="1234440" cy="658368"/>
          </a:xfrm>
          <a:prstGeom prst="rect">
            <a:avLst/>
          </a:prstGeom>
          <a:noFill/>
          <a:ln/>
        </p:spPr>
        <p:txBody>
          <a:bodyPr wrap="square" lIns="0" tIns="0" rIns="0" bIns="0" rtlCol="0" anchor="ctr"/>
          <a:lstStyle/>
          <a:p>
            <a:pPr algn="l" indent="0" marL="0">
              <a:buNone/>
            </a:pPr>
            <a:r>
              <a:rPr lang="en-US" sz="1200" b="1" dirty="0">
                <a:solidFill>
                  <a:schemeClr val="accent1"/>
                </a:solidFill>
              </a:rPr>
              <a:t>6 references, 2 copies</a:t>
            </a:r>
            <a:endParaRPr lang="en-US" sz="1200" dirty="0"/>
          </a:p>
        </p:txBody>
      </p:sp>
      <p:sp>
        <p:nvSpPr>
          <p:cNvPr id="19" name="Text 16"/>
          <p:cNvSpPr txBox="1"/>
          <p:nvPr/>
        </p:nvSpPr>
        <p:spPr>
          <a:xfrm>
            <a:off x="8458200" y="2551176"/>
            <a:ext cx="3063240" cy="658368"/>
          </a:xfrm>
          <a:prstGeom prst="rect">
            <a:avLst/>
          </a:prstGeom>
          <a:noFill/>
          <a:ln/>
        </p:spPr>
        <p:txBody>
          <a:bodyPr wrap="square" lIns="0" tIns="0" rIns="0" bIns="0" rtlCol="0" anchor="ctr"/>
          <a:lstStyle/>
          <a:p>
            <a:pPr algn="l" indent="0" marL="0">
              <a:buNone/>
            </a:pPr>
            <a:r>
              <a:rPr lang="en-US" sz="1100" dirty="0">
                <a:solidFill>
                  <a:schemeClr val="tx1"/>
                </a:solidFill>
              </a:rPr>
              <a:t>Mandate client, model sponsor, benchmark administrator, service providers, paying agent, regulator; party name and LEI copied</a:t>
            </a:r>
            <a:endParaRPr lang="en-US" sz="1100" dirty="0"/>
          </a:p>
        </p:txBody>
      </p:sp>
      <p:sp>
        <p:nvSpPr>
          <p:cNvPr id="20" name="Shape 17"/>
          <p:cNvSpPr/>
          <p:nvPr/>
        </p:nvSpPr>
        <p:spPr>
          <a:xfrm>
            <a:off x="4114800" y="3319272"/>
            <a:ext cx="7525512" cy="658368"/>
          </a:xfrm>
          <a:prstGeom prst="roundRect">
            <a:avLst>
              <a:gd name="adj" fmla="val 11111"/>
            </a:avLst>
          </a:prstGeom>
          <a:solidFill>
            <a:schemeClr val="bg2"/>
          </a:solidFill>
          <a:ln/>
        </p:spPr>
      </p:sp>
      <p:sp>
        <p:nvSpPr>
          <p:cNvPr id="21" name="Text 18"/>
          <p:cNvSpPr txBox="1"/>
          <p:nvPr/>
        </p:nvSpPr>
        <p:spPr>
          <a:xfrm>
            <a:off x="4343400" y="3319272"/>
            <a:ext cx="2697480" cy="658368"/>
          </a:xfrm>
          <a:prstGeom prst="rect">
            <a:avLst/>
          </a:prstGeom>
          <a:noFill/>
          <a:ln/>
        </p:spPr>
        <p:txBody>
          <a:bodyPr wrap="square" lIns="0" tIns="0" rIns="0" bIns="0" rtlCol="0" anchor="ctr"/>
          <a:lstStyle/>
          <a:p>
            <a:pPr algn="l" indent="0" marL="0">
              <a:buNone/>
            </a:pPr>
            <a:r>
              <a:rPr lang="en-US" sz="1200" b="1" dirty="0">
                <a:solidFill>
                  <a:schemeClr val="tx1"/>
                </a:solidFill>
              </a:rPr>
              <a:t>Distribution Agreements &amp; Partners</a:t>
            </a:r>
            <a:endParaRPr lang="en-US" sz="1200" dirty="0"/>
          </a:p>
        </p:txBody>
      </p:sp>
      <p:sp>
        <p:nvSpPr>
          <p:cNvPr id="22" name="Text 19"/>
          <p:cNvSpPr txBox="1"/>
          <p:nvPr/>
        </p:nvSpPr>
        <p:spPr>
          <a:xfrm>
            <a:off x="7132320" y="3319272"/>
            <a:ext cx="1234440" cy="658368"/>
          </a:xfrm>
          <a:prstGeom prst="rect">
            <a:avLst/>
          </a:prstGeom>
          <a:noFill/>
          <a:ln/>
        </p:spPr>
        <p:txBody>
          <a:bodyPr wrap="square" lIns="0" tIns="0" rIns="0" bIns="0" rtlCol="0" anchor="ctr"/>
          <a:lstStyle/>
          <a:p>
            <a:pPr algn="l" indent="0" marL="0">
              <a:buNone/>
            </a:pPr>
            <a:r>
              <a:rPr lang="en-US" sz="1200" b="1" dirty="0">
                <a:solidFill>
                  <a:schemeClr val="accent1"/>
                </a:solidFill>
              </a:rPr>
              <a:t>1 reference</a:t>
            </a:r>
            <a:endParaRPr lang="en-US" sz="1200" dirty="0"/>
          </a:p>
        </p:txBody>
      </p:sp>
      <p:sp>
        <p:nvSpPr>
          <p:cNvPr id="23" name="Text 20"/>
          <p:cNvSpPr txBox="1"/>
          <p:nvPr/>
        </p:nvSpPr>
        <p:spPr>
          <a:xfrm>
            <a:off x="8458200" y="3319272"/>
            <a:ext cx="3063240" cy="658368"/>
          </a:xfrm>
          <a:prstGeom prst="rect">
            <a:avLst/>
          </a:prstGeom>
          <a:noFill/>
          <a:ln/>
        </p:spPr>
        <p:txBody>
          <a:bodyPr wrap="square" lIns="0" tIns="0" rIns="0" bIns="0" rtlCol="0" anchor="ctr"/>
          <a:lstStyle/>
          <a:p>
            <a:pPr algn="l" indent="0" marL="0">
              <a:buNone/>
            </a:pPr>
            <a:r>
              <a:rPr lang="en-US" sz="1100" dirty="0">
                <a:solidFill>
                  <a:schemeClr val="tx1"/>
                </a:solidFill>
              </a:rPr>
              <a:t>Platform availability, taken from shelf placement</a:t>
            </a:r>
            <a:endParaRPr lang="en-US" sz="1100" dirty="0"/>
          </a:p>
        </p:txBody>
      </p:sp>
      <p:sp>
        <p:nvSpPr>
          <p:cNvPr id="24" name="Shape 21"/>
          <p:cNvSpPr/>
          <p:nvPr/>
        </p:nvSpPr>
        <p:spPr>
          <a:xfrm>
            <a:off x="4114800" y="4087368"/>
            <a:ext cx="7525512" cy="658368"/>
          </a:xfrm>
          <a:prstGeom prst="roundRect">
            <a:avLst>
              <a:gd name="adj" fmla="val 11111"/>
            </a:avLst>
          </a:prstGeom>
          <a:solidFill>
            <a:schemeClr val="bg2"/>
          </a:solidFill>
          <a:ln/>
        </p:spPr>
      </p:sp>
      <p:sp>
        <p:nvSpPr>
          <p:cNvPr id="25" name="Text 22"/>
          <p:cNvSpPr txBox="1"/>
          <p:nvPr/>
        </p:nvSpPr>
        <p:spPr>
          <a:xfrm>
            <a:off x="4343400" y="4087368"/>
            <a:ext cx="2697480" cy="658368"/>
          </a:xfrm>
          <a:prstGeom prst="rect">
            <a:avLst/>
          </a:prstGeom>
          <a:noFill/>
          <a:ln/>
        </p:spPr>
        <p:txBody>
          <a:bodyPr wrap="square" lIns="0" tIns="0" rIns="0" bIns="0" rtlCol="0" anchor="ctr"/>
          <a:lstStyle/>
          <a:p>
            <a:pPr algn="l" indent="0" marL="0">
              <a:buNone/>
            </a:pPr>
            <a:r>
              <a:rPr lang="en-US" sz="1200" b="1" dirty="0">
                <a:solidFill>
                  <a:schemeClr val="tx1"/>
                </a:solidFill>
              </a:rPr>
              <a:t>Investor Servicing &amp; Shareholder Communications</a:t>
            </a:r>
            <a:endParaRPr lang="en-US" sz="1200" dirty="0"/>
          </a:p>
        </p:txBody>
      </p:sp>
      <p:sp>
        <p:nvSpPr>
          <p:cNvPr id="26" name="Text 23"/>
          <p:cNvSpPr txBox="1"/>
          <p:nvPr/>
        </p:nvSpPr>
        <p:spPr>
          <a:xfrm>
            <a:off x="7132320" y="4087368"/>
            <a:ext cx="1234440" cy="658368"/>
          </a:xfrm>
          <a:prstGeom prst="rect">
            <a:avLst/>
          </a:prstGeom>
          <a:noFill/>
          <a:ln/>
        </p:spPr>
        <p:txBody>
          <a:bodyPr wrap="square" lIns="0" tIns="0" rIns="0" bIns="0" rtlCol="0" anchor="ctr"/>
          <a:lstStyle/>
          <a:p>
            <a:pPr algn="l" indent="0" marL="0">
              <a:buNone/>
            </a:pPr>
            <a:r>
              <a:rPr lang="en-US" sz="1200" b="1" dirty="0">
                <a:solidFill>
                  <a:schemeClr val="accent1"/>
                </a:solidFill>
              </a:rPr>
              <a:t>1 copy</a:t>
            </a:r>
            <a:endParaRPr lang="en-US" sz="1200" dirty="0"/>
          </a:p>
        </p:txBody>
      </p:sp>
      <p:sp>
        <p:nvSpPr>
          <p:cNvPr id="27" name="Text 24"/>
          <p:cNvSpPr txBox="1"/>
          <p:nvPr/>
        </p:nvSpPr>
        <p:spPr>
          <a:xfrm>
            <a:off x="8458200" y="4087368"/>
            <a:ext cx="3063240" cy="658368"/>
          </a:xfrm>
          <a:prstGeom prst="rect">
            <a:avLst/>
          </a:prstGeom>
          <a:noFill/>
          <a:ln/>
        </p:spPr>
        <p:txBody>
          <a:bodyPr wrap="square" lIns="0" tIns="0" rIns="0" bIns="0" rtlCol="0" anchor="ctr"/>
          <a:lstStyle/>
          <a:p>
            <a:pPr algn="l" indent="0" marL="0">
              <a:buNone/>
            </a:pPr>
            <a:r>
              <a:rPr lang="en-US" sz="1100" dirty="0">
                <a:solidFill>
                  <a:schemeClr val="tx1"/>
                </a:solidFill>
              </a:rPr>
              <a:t>Investor notice date on a lifecycle event</a:t>
            </a:r>
            <a:endParaRPr lang="en-US" sz="1100" dirty="0"/>
          </a:p>
        </p:txBody>
      </p:sp>
      <p:sp>
        <p:nvSpPr>
          <p:cNvPr id="28" name="Shape 25"/>
          <p:cNvSpPr/>
          <p:nvPr/>
        </p:nvSpPr>
        <p:spPr>
          <a:xfrm>
            <a:off x="4114800" y="4855464"/>
            <a:ext cx="7525512" cy="658368"/>
          </a:xfrm>
          <a:prstGeom prst="roundRect">
            <a:avLst>
              <a:gd name="adj" fmla="val 11111"/>
            </a:avLst>
          </a:prstGeom>
          <a:solidFill>
            <a:schemeClr val="bg2"/>
          </a:solidFill>
          <a:ln/>
        </p:spPr>
      </p:sp>
      <p:sp>
        <p:nvSpPr>
          <p:cNvPr id="29" name="Text 26"/>
          <p:cNvSpPr txBox="1"/>
          <p:nvPr/>
        </p:nvSpPr>
        <p:spPr>
          <a:xfrm>
            <a:off x="4343400" y="4855464"/>
            <a:ext cx="2697480" cy="658368"/>
          </a:xfrm>
          <a:prstGeom prst="rect">
            <a:avLst/>
          </a:prstGeom>
          <a:noFill/>
          <a:ln/>
        </p:spPr>
        <p:txBody>
          <a:bodyPr wrap="square" lIns="0" tIns="0" rIns="0" bIns="0" rtlCol="0" anchor="ctr"/>
          <a:lstStyle/>
          <a:p>
            <a:pPr algn="l" indent="0" marL="0">
              <a:buNone/>
            </a:pPr>
            <a:r>
              <a:rPr lang="en-US" sz="1200" b="1" dirty="0">
                <a:solidFill>
                  <a:schemeClr val="tx1"/>
                </a:solidFill>
              </a:rPr>
              <a:t>Third-Party Data &amp; Licensing</a:t>
            </a:r>
            <a:endParaRPr lang="en-US" sz="1200" dirty="0"/>
          </a:p>
        </p:txBody>
      </p:sp>
      <p:sp>
        <p:nvSpPr>
          <p:cNvPr id="30" name="Text 27"/>
          <p:cNvSpPr txBox="1"/>
          <p:nvPr/>
        </p:nvSpPr>
        <p:spPr>
          <a:xfrm>
            <a:off x="7132320" y="4855464"/>
            <a:ext cx="1234440" cy="658368"/>
          </a:xfrm>
          <a:prstGeom prst="rect">
            <a:avLst/>
          </a:prstGeom>
          <a:noFill/>
          <a:ln/>
        </p:spPr>
        <p:txBody>
          <a:bodyPr wrap="square" lIns="0" tIns="0" rIns="0" bIns="0" rtlCol="0" anchor="ctr"/>
          <a:lstStyle/>
          <a:p>
            <a:pPr algn="l" indent="0" marL="0">
              <a:buNone/>
            </a:pPr>
            <a:r>
              <a:rPr lang="en-US" sz="1200" b="1" dirty="0">
                <a:solidFill>
                  <a:schemeClr val="accent1"/>
                </a:solidFill>
              </a:rPr>
              <a:t>1 copy</a:t>
            </a:r>
            <a:endParaRPr lang="en-US" sz="1200" dirty="0"/>
          </a:p>
        </p:txBody>
      </p:sp>
      <p:sp>
        <p:nvSpPr>
          <p:cNvPr id="31" name="Text 28"/>
          <p:cNvSpPr txBox="1"/>
          <p:nvPr/>
        </p:nvSpPr>
        <p:spPr>
          <a:xfrm>
            <a:off x="8458200" y="4855464"/>
            <a:ext cx="3063240" cy="658368"/>
          </a:xfrm>
          <a:prstGeom prst="rect">
            <a:avLst/>
          </a:prstGeom>
          <a:noFill/>
          <a:ln/>
        </p:spPr>
        <p:txBody>
          <a:bodyPr wrap="square" lIns="0" tIns="0" rIns="0" bIns="0" rtlCol="0" anchor="ctr"/>
          <a:lstStyle/>
          <a:p>
            <a:pPr algn="l" indent="0" marL="0">
              <a:buNone/>
            </a:pPr>
            <a:r>
              <a:rPr lang="en-US" sz="1100" dirty="0">
                <a:solidFill>
                  <a:schemeClr val="tx1"/>
                </a:solidFill>
              </a:rPr>
              <a:t>Benchmark administrator register status</a:t>
            </a:r>
            <a:endParaRPr lang="en-US" sz="1100" dirty="0"/>
          </a:p>
        </p:txBody>
      </p:sp>
      <p:sp>
        <p:nvSpPr>
          <p:cNvPr id="32" name="Shape 29"/>
          <p:cNvSpPr/>
          <p:nvPr/>
        </p:nvSpPr>
        <p:spPr>
          <a:xfrm>
            <a:off x="548640" y="5687568"/>
            <a:ext cx="11091672" cy="530352"/>
          </a:xfrm>
          <a:prstGeom prst="roundRect">
            <a:avLst>
              <a:gd name="adj" fmla="val 13793"/>
            </a:avLst>
          </a:prstGeom>
          <a:solidFill>
            <a:schemeClr val="bg2"/>
          </a:solidFill>
          <a:ln/>
        </p:spPr>
      </p:sp>
      <p:sp>
        <p:nvSpPr>
          <p:cNvPr id="33" name="Text 30"/>
          <p:cNvSpPr txBox="1"/>
          <p:nvPr/>
        </p:nvSpPr>
        <p:spPr>
          <a:xfrm>
            <a:off x="777240" y="5687568"/>
            <a:ext cx="10634472" cy="530352"/>
          </a:xfrm>
          <a:prstGeom prst="rect">
            <a:avLst/>
          </a:prstGeom>
          <a:noFill/>
          <a:ln/>
        </p:spPr>
        <p:txBody>
          <a:bodyPr wrap="square" lIns="0" tIns="0" rIns="0" bIns="0" rtlCol="0" anchor="ctr"/>
          <a:lstStyle/>
          <a:p>
            <a:pPr algn="l" indent="0" marL="0">
              <a:buNone/>
            </a:pPr>
            <a:r>
              <a:rPr lang="en-US" sz="1200" dirty="0">
                <a:solidFill>
                  <a:schemeClr val="tx1"/>
                </a:solidFill>
              </a:rPr>
              <a:t>Also excluded from every view: Record Metadata (data owner, steward, system of record, effective dates). The program documents it separately.</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WHAT IS EXCLUDED  |  NOT YET COVERED</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Not yet covered: 15 open gaps</a:t>
            </a:r>
            <a:endParaRPr lang="en-US" sz="3600" dirty="0"/>
          </a:p>
        </p:txBody>
      </p:sp>
      <p:sp>
        <p:nvSpPr>
          <p:cNvPr id="5" name="Shape 2"/>
          <p:cNvSpPr/>
          <p:nvPr/>
        </p:nvSpPr>
        <p:spPr>
          <a:xfrm>
            <a:off x="548640" y="1783080"/>
            <a:ext cx="3017520" cy="4187952"/>
          </a:xfrm>
          <a:prstGeom prst="roundRect">
            <a:avLst>
              <a:gd name="adj" fmla="val 2424"/>
            </a:avLst>
          </a:prstGeom>
          <a:solidFill>
            <a:schemeClr val="bg2"/>
          </a:solidFill>
          <a:ln/>
        </p:spPr>
      </p:sp>
      <p:sp>
        <p:nvSpPr>
          <p:cNvPr id="6" name="Text 3"/>
          <p:cNvSpPr txBox="1"/>
          <p:nvPr/>
        </p:nvSpPr>
        <p:spPr>
          <a:xfrm>
            <a:off x="822960" y="2011680"/>
            <a:ext cx="2468880" cy="777240"/>
          </a:xfrm>
          <a:prstGeom prst="rect">
            <a:avLst/>
          </a:prstGeom>
          <a:noFill/>
          <a:ln/>
        </p:spPr>
        <p:txBody>
          <a:bodyPr wrap="square" lIns="0" tIns="0" rIns="0" bIns="0" rtlCol="0" anchor="ctr"/>
          <a:lstStyle/>
          <a:p>
            <a:pPr algn="l" indent="0" marL="0">
              <a:buNone/>
            </a:pPr>
            <a:r>
              <a:rPr lang="en-US" sz="5400" b="1" dirty="0">
                <a:solidFill>
                  <a:schemeClr val="accent1"/>
                </a:solidFill>
              </a:rPr>
              <a:t>20</a:t>
            </a:r>
            <a:endParaRPr lang="en-US" sz="5400" dirty="0"/>
          </a:p>
        </p:txBody>
      </p:sp>
      <p:sp>
        <p:nvSpPr>
          <p:cNvPr id="7" name="Text 4"/>
          <p:cNvSpPr txBox="1"/>
          <p:nvPr/>
        </p:nvSpPr>
        <p:spPr>
          <a:xfrm>
            <a:off x="822960" y="2834640"/>
            <a:ext cx="2468880" cy="822960"/>
          </a:xfrm>
          <a:prstGeom prst="rect">
            <a:avLst/>
          </a:prstGeom>
          <a:noFill/>
          <a:ln/>
        </p:spPr>
        <p:txBody>
          <a:bodyPr wrap="square" lIns="0" tIns="0" rIns="0" bIns="0" rtlCol="0" anchor="t"/>
          <a:lstStyle/>
          <a:p>
            <a:pPr algn="l" indent="0" marL="0">
              <a:buNone/>
            </a:pPr>
            <a:r>
              <a:rPr lang="en-US" sz="1300" dirty="0">
                <a:solidFill>
                  <a:schemeClr val="tx1"/>
                </a:solidFill>
              </a:rPr>
              <a:t>gaps raised against Investment Product while specifying and modeling data products</a:t>
            </a:r>
            <a:endParaRPr lang="en-US" sz="1300" dirty="0"/>
          </a:p>
        </p:txBody>
      </p:sp>
      <p:sp>
        <p:nvSpPr>
          <p:cNvPr id="8" name="Text 5"/>
          <p:cNvSpPr txBox="1"/>
          <p:nvPr/>
        </p:nvSpPr>
        <p:spPr>
          <a:xfrm>
            <a:off x="822960" y="3886200"/>
            <a:ext cx="2468880" cy="320040"/>
          </a:xfrm>
          <a:prstGeom prst="rect">
            <a:avLst/>
          </a:prstGeom>
          <a:noFill/>
          <a:ln/>
        </p:spPr>
        <p:txBody>
          <a:bodyPr wrap="square" lIns="0" tIns="0" rIns="0" bIns="0" rtlCol="0" anchor="ctr"/>
          <a:lstStyle/>
          <a:p>
            <a:pPr algn="l" indent="0" marL="0">
              <a:buNone/>
            </a:pPr>
            <a:r>
              <a:rPr lang="en-US" sz="1600" b="1" dirty="0">
                <a:solidFill>
                  <a:schemeClr val="accent5"/>
                </a:solidFill>
              </a:rPr>
              <a:t>5 resolved</a:t>
            </a:r>
            <a:endParaRPr lang="en-US" sz="1600" dirty="0"/>
          </a:p>
        </p:txBody>
      </p:sp>
      <p:sp>
        <p:nvSpPr>
          <p:cNvPr id="9" name="Text 6"/>
          <p:cNvSpPr txBox="1"/>
          <p:nvPr/>
        </p:nvSpPr>
        <p:spPr>
          <a:xfrm>
            <a:off x="822960" y="4389120"/>
            <a:ext cx="2468880" cy="320040"/>
          </a:xfrm>
          <a:prstGeom prst="rect">
            <a:avLst/>
          </a:prstGeom>
          <a:noFill/>
          <a:ln/>
        </p:spPr>
        <p:txBody>
          <a:bodyPr wrap="square" lIns="0" tIns="0" rIns="0" bIns="0" rtlCol="0" anchor="ctr"/>
          <a:lstStyle/>
          <a:p>
            <a:pPr algn="l" indent="0" marL="0">
              <a:buNone/>
            </a:pPr>
            <a:r>
              <a:rPr lang="en-US" sz="1600" b="1" dirty="0">
                <a:solidFill>
                  <a:schemeClr val="accent4"/>
                </a:solidFill>
              </a:rPr>
              <a:t>15 proposed</a:t>
            </a:r>
            <a:endParaRPr lang="en-US" sz="1600" dirty="0"/>
          </a:p>
        </p:txBody>
      </p:sp>
      <p:sp>
        <p:nvSpPr>
          <p:cNvPr id="10" name="Text 7"/>
          <p:cNvSpPr txBox="1"/>
          <p:nvPr/>
        </p:nvSpPr>
        <p:spPr>
          <a:xfrm>
            <a:off x="822960" y="4709160"/>
            <a:ext cx="2468880" cy="274320"/>
          </a:xfrm>
          <a:prstGeom prst="rect">
            <a:avLst/>
          </a:prstGeom>
          <a:noFill/>
          <a:ln/>
        </p:spPr>
        <p:txBody>
          <a:bodyPr wrap="square" lIns="0" tIns="0" rIns="0" bIns="0" rtlCol="0" anchor="ctr"/>
          <a:lstStyle/>
          <a:p>
            <a:pPr algn="l" indent="0" marL="0">
              <a:buNone/>
            </a:pPr>
            <a:r>
              <a:rPr lang="en-US" sz="1200" dirty="0">
                <a:solidFill>
                  <a:schemeClr val="tx2"/>
                </a:solidFill>
              </a:rPr>
              <a:t>3 high, 3 medium, 9 low priority</a:t>
            </a:r>
            <a:endParaRPr lang="en-US" sz="1200" dirty="0"/>
          </a:p>
        </p:txBody>
      </p:sp>
      <p:sp>
        <p:nvSpPr>
          <p:cNvPr id="11" name="Shape 8"/>
          <p:cNvSpPr/>
          <p:nvPr/>
        </p:nvSpPr>
        <p:spPr>
          <a:xfrm>
            <a:off x="3840480" y="1783080"/>
            <a:ext cx="7799832" cy="621792"/>
          </a:xfrm>
          <a:prstGeom prst="roundRect">
            <a:avLst>
              <a:gd name="adj" fmla="val 11765"/>
            </a:avLst>
          </a:prstGeom>
          <a:solidFill>
            <a:schemeClr val="bg2"/>
          </a:solidFill>
          <a:ln/>
        </p:spPr>
      </p:sp>
      <p:sp>
        <p:nvSpPr>
          <p:cNvPr id="12" name="Text 9"/>
          <p:cNvSpPr/>
          <p:nvPr/>
        </p:nvSpPr>
        <p:spPr>
          <a:xfrm>
            <a:off x="3977640" y="1938528"/>
            <a:ext cx="868680" cy="310896"/>
          </a:xfrm>
          <a:prstGeom prst="roundRect">
            <a:avLst>
              <a:gd name="adj" fmla="val 17647"/>
            </a:avLst>
          </a:prstGeom>
          <a:solidFill>
            <a:schemeClr val="accent4"/>
          </a:solidFill>
          <a:ln/>
        </p:spPr>
        <p:txBody>
          <a:bodyPr wrap="square" lIns="0" tIns="0" rIns="0" bIns="0" rtlCol="0" anchor="ctr"/>
          <a:lstStyle/>
          <a:p>
            <a:pPr algn="ctr" indent="0" marL="0">
              <a:buNone/>
            </a:pPr>
            <a:r>
              <a:rPr lang="en-US" sz="1100" b="1" dirty="0">
                <a:solidFill>
                  <a:schemeClr val="bg1"/>
                </a:solidFill>
              </a:rPr>
              <a:t>High</a:t>
            </a:r>
            <a:endParaRPr lang="en-US" sz="1100" dirty="0"/>
          </a:p>
        </p:txBody>
      </p:sp>
      <p:sp>
        <p:nvSpPr>
          <p:cNvPr id="13" name="Text 10"/>
          <p:cNvSpPr txBox="1"/>
          <p:nvPr/>
        </p:nvSpPr>
        <p:spPr>
          <a:xfrm>
            <a:off x="4983480" y="1783080"/>
            <a:ext cx="1097280" cy="621792"/>
          </a:xfrm>
          <a:prstGeom prst="rect">
            <a:avLst/>
          </a:prstGeom>
          <a:noFill/>
          <a:ln/>
        </p:spPr>
        <p:txBody>
          <a:bodyPr wrap="square" lIns="0" tIns="0" rIns="0" bIns="0" rtlCol="0" anchor="ctr"/>
          <a:lstStyle/>
          <a:p>
            <a:pPr algn="l" indent="0" marL="0">
              <a:buNone/>
            </a:pPr>
            <a:r>
              <a:rPr lang="en-US" sz="1200" b="1" dirty="0">
                <a:solidFill>
                  <a:schemeClr val="tx1"/>
                </a:solidFill>
              </a:rPr>
              <a:t>GAP-01-001</a:t>
            </a:r>
            <a:endParaRPr lang="en-US" sz="1200" dirty="0"/>
          </a:p>
        </p:txBody>
      </p:sp>
      <p:sp>
        <p:nvSpPr>
          <p:cNvPr id="14" name="Text 11"/>
          <p:cNvSpPr txBox="1"/>
          <p:nvPr/>
        </p:nvSpPr>
        <p:spPr>
          <a:xfrm>
            <a:off x="6126480" y="1783080"/>
            <a:ext cx="5349240" cy="621792"/>
          </a:xfrm>
          <a:prstGeom prst="rect">
            <a:avLst/>
          </a:prstGeom>
          <a:noFill/>
          <a:ln/>
        </p:spPr>
        <p:txBody>
          <a:bodyPr wrap="square" lIns="0" tIns="0" rIns="0" bIns="0" rtlCol="0" anchor="ctr"/>
          <a:lstStyle/>
          <a:p>
            <a:pPr algn="l" indent="0" marL="0">
              <a:buNone/>
            </a:pPr>
            <a:r>
              <a:rPr lang="en-US" sz="1200" dirty="0">
                <a:solidFill>
                  <a:schemeClr val="tx1"/>
                </a:solidFill>
              </a:rPr>
              <a:t>Four child objects, such as Lifecycle Event and Product Document, have no attribute naming the product or share class they belong to</a:t>
            </a:r>
            <a:endParaRPr lang="en-US" sz="1200" dirty="0"/>
          </a:p>
        </p:txBody>
      </p:sp>
      <p:sp>
        <p:nvSpPr>
          <p:cNvPr id="15" name="Shape 12"/>
          <p:cNvSpPr/>
          <p:nvPr/>
        </p:nvSpPr>
        <p:spPr>
          <a:xfrm>
            <a:off x="3840480" y="2496312"/>
            <a:ext cx="7799832" cy="621792"/>
          </a:xfrm>
          <a:prstGeom prst="roundRect">
            <a:avLst>
              <a:gd name="adj" fmla="val 11765"/>
            </a:avLst>
          </a:prstGeom>
          <a:solidFill>
            <a:schemeClr val="bg2"/>
          </a:solidFill>
          <a:ln/>
        </p:spPr>
      </p:sp>
      <p:sp>
        <p:nvSpPr>
          <p:cNvPr id="16" name="Text 13"/>
          <p:cNvSpPr/>
          <p:nvPr/>
        </p:nvSpPr>
        <p:spPr>
          <a:xfrm>
            <a:off x="3977640" y="2651760"/>
            <a:ext cx="868680" cy="310896"/>
          </a:xfrm>
          <a:prstGeom prst="roundRect">
            <a:avLst>
              <a:gd name="adj" fmla="val 17647"/>
            </a:avLst>
          </a:prstGeom>
          <a:solidFill>
            <a:schemeClr val="accent4"/>
          </a:solidFill>
          <a:ln/>
        </p:spPr>
        <p:txBody>
          <a:bodyPr wrap="square" lIns="0" tIns="0" rIns="0" bIns="0" rtlCol="0" anchor="ctr"/>
          <a:lstStyle/>
          <a:p>
            <a:pPr algn="ctr" indent="0" marL="0">
              <a:buNone/>
            </a:pPr>
            <a:r>
              <a:rPr lang="en-US" sz="1100" b="1" dirty="0">
                <a:solidFill>
                  <a:schemeClr val="bg1"/>
                </a:solidFill>
              </a:rPr>
              <a:t>High</a:t>
            </a:r>
            <a:endParaRPr lang="en-US" sz="1100" dirty="0"/>
          </a:p>
        </p:txBody>
      </p:sp>
      <p:sp>
        <p:nvSpPr>
          <p:cNvPr id="17" name="Text 14"/>
          <p:cNvSpPr txBox="1"/>
          <p:nvPr/>
        </p:nvSpPr>
        <p:spPr>
          <a:xfrm>
            <a:off x="4983480" y="2496312"/>
            <a:ext cx="1097280" cy="621792"/>
          </a:xfrm>
          <a:prstGeom prst="rect">
            <a:avLst/>
          </a:prstGeom>
          <a:noFill/>
          <a:ln/>
        </p:spPr>
        <p:txBody>
          <a:bodyPr wrap="square" lIns="0" tIns="0" rIns="0" bIns="0" rtlCol="0" anchor="ctr"/>
          <a:lstStyle/>
          <a:p>
            <a:pPr algn="l" indent="0" marL="0">
              <a:buNone/>
            </a:pPr>
            <a:r>
              <a:rPr lang="en-US" sz="1200" b="1" dirty="0">
                <a:solidFill>
                  <a:schemeClr val="tx1"/>
                </a:solidFill>
              </a:rPr>
              <a:t>GAP-01-003</a:t>
            </a:r>
            <a:endParaRPr lang="en-US" sz="1200" dirty="0"/>
          </a:p>
        </p:txBody>
      </p:sp>
      <p:sp>
        <p:nvSpPr>
          <p:cNvPr id="18" name="Text 15"/>
          <p:cNvSpPr txBox="1"/>
          <p:nvPr/>
        </p:nvSpPr>
        <p:spPr>
          <a:xfrm>
            <a:off x="6126480" y="2496312"/>
            <a:ext cx="5349240" cy="621792"/>
          </a:xfrm>
          <a:prstGeom prst="rect">
            <a:avLst/>
          </a:prstGeom>
          <a:noFill/>
          <a:ln/>
        </p:spPr>
        <p:txBody>
          <a:bodyPr wrap="square" lIns="0" tIns="0" rIns="0" bIns="0" rtlCol="0" anchor="ctr"/>
          <a:lstStyle/>
          <a:p>
            <a:pPr algn="l" indent="0" marL="0">
              <a:buNone/>
            </a:pPr>
            <a:r>
              <a:rPr lang="en-US" sz="1200" dirty="0">
                <a:solidFill>
                  <a:schemeClr val="tx1"/>
                </a:solidFill>
              </a:rPr>
              <a:t>No versioned fee schedule with breakpoint tiers. Affects pricing, breakpoint monitoring and fee billing (DP-059, DP-060, DP-067)</a:t>
            </a:r>
            <a:endParaRPr lang="en-US" sz="1200" dirty="0"/>
          </a:p>
        </p:txBody>
      </p:sp>
      <p:sp>
        <p:nvSpPr>
          <p:cNvPr id="19" name="Shape 16"/>
          <p:cNvSpPr/>
          <p:nvPr/>
        </p:nvSpPr>
        <p:spPr>
          <a:xfrm>
            <a:off x="3840480" y="3209544"/>
            <a:ext cx="7799832" cy="621792"/>
          </a:xfrm>
          <a:prstGeom prst="roundRect">
            <a:avLst>
              <a:gd name="adj" fmla="val 11765"/>
            </a:avLst>
          </a:prstGeom>
          <a:solidFill>
            <a:schemeClr val="bg2"/>
          </a:solidFill>
          <a:ln/>
        </p:spPr>
      </p:sp>
      <p:sp>
        <p:nvSpPr>
          <p:cNvPr id="20" name="Text 17"/>
          <p:cNvSpPr/>
          <p:nvPr/>
        </p:nvSpPr>
        <p:spPr>
          <a:xfrm>
            <a:off x="3977640" y="3364992"/>
            <a:ext cx="868680" cy="310896"/>
          </a:xfrm>
          <a:prstGeom prst="roundRect">
            <a:avLst>
              <a:gd name="adj" fmla="val 17647"/>
            </a:avLst>
          </a:prstGeom>
          <a:solidFill>
            <a:schemeClr val="accent4"/>
          </a:solidFill>
          <a:ln/>
        </p:spPr>
        <p:txBody>
          <a:bodyPr wrap="square" lIns="0" tIns="0" rIns="0" bIns="0" rtlCol="0" anchor="ctr"/>
          <a:lstStyle/>
          <a:p>
            <a:pPr algn="ctr" indent="0" marL="0">
              <a:buNone/>
            </a:pPr>
            <a:r>
              <a:rPr lang="en-US" sz="1100" b="1" dirty="0">
                <a:solidFill>
                  <a:schemeClr val="bg1"/>
                </a:solidFill>
              </a:rPr>
              <a:t>High</a:t>
            </a:r>
            <a:endParaRPr lang="en-US" sz="1100" dirty="0"/>
          </a:p>
        </p:txBody>
      </p:sp>
      <p:sp>
        <p:nvSpPr>
          <p:cNvPr id="21" name="Text 18"/>
          <p:cNvSpPr txBox="1"/>
          <p:nvPr/>
        </p:nvSpPr>
        <p:spPr>
          <a:xfrm>
            <a:off x="4983480" y="3209544"/>
            <a:ext cx="1097280" cy="621792"/>
          </a:xfrm>
          <a:prstGeom prst="rect">
            <a:avLst/>
          </a:prstGeom>
          <a:noFill/>
          <a:ln/>
        </p:spPr>
        <p:txBody>
          <a:bodyPr wrap="square" lIns="0" tIns="0" rIns="0" bIns="0" rtlCol="0" anchor="ctr"/>
          <a:lstStyle/>
          <a:p>
            <a:pPr algn="l" indent="0" marL="0">
              <a:buNone/>
            </a:pPr>
            <a:r>
              <a:rPr lang="en-US" sz="1200" b="1" dirty="0">
                <a:solidFill>
                  <a:schemeClr val="tx1"/>
                </a:solidFill>
              </a:rPr>
              <a:t>GAP-01-004</a:t>
            </a:r>
            <a:endParaRPr lang="en-US" sz="1200" dirty="0"/>
          </a:p>
        </p:txBody>
      </p:sp>
      <p:sp>
        <p:nvSpPr>
          <p:cNvPr id="22" name="Text 19"/>
          <p:cNvSpPr txBox="1"/>
          <p:nvPr/>
        </p:nvSpPr>
        <p:spPr>
          <a:xfrm>
            <a:off x="6126480" y="3209544"/>
            <a:ext cx="5349240" cy="621792"/>
          </a:xfrm>
          <a:prstGeom prst="rect">
            <a:avLst/>
          </a:prstGeom>
          <a:noFill/>
          <a:ln/>
        </p:spPr>
        <p:txBody>
          <a:bodyPr wrap="square" lIns="0" tIns="0" rIns="0" bIns="0" rtlCol="0" anchor="ctr"/>
          <a:lstStyle/>
          <a:p>
            <a:pPr algn="l" indent="0" marL="0">
              <a:buNone/>
            </a:pPr>
            <a:r>
              <a:rPr lang="en-US" sz="1200" dirty="0">
                <a:solidFill>
                  <a:schemeClr val="tx1"/>
                </a:solidFill>
              </a:rPr>
              <a:t>No own performance returns for share classes, models or mandates (DP-030, DP-047, DP-050, DP-092)</a:t>
            </a:r>
            <a:endParaRPr lang="en-US" sz="1200" dirty="0"/>
          </a:p>
        </p:txBody>
      </p:sp>
      <p:sp>
        <p:nvSpPr>
          <p:cNvPr id="23" name="Shape 20"/>
          <p:cNvSpPr/>
          <p:nvPr/>
        </p:nvSpPr>
        <p:spPr>
          <a:xfrm>
            <a:off x="3840480" y="3922776"/>
            <a:ext cx="7799832" cy="621792"/>
          </a:xfrm>
          <a:prstGeom prst="roundRect">
            <a:avLst>
              <a:gd name="adj" fmla="val 11765"/>
            </a:avLst>
          </a:prstGeom>
          <a:solidFill>
            <a:schemeClr val="bg2"/>
          </a:solidFill>
          <a:ln/>
        </p:spPr>
      </p:sp>
      <p:sp>
        <p:nvSpPr>
          <p:cNvPr id="24" name="Text 21"/>
          <p:cNvSpPr/>
          <p:nvPr/>
        </p:nvSpPr>
        <p:spPr>
          <a:xfrm>
            <a:off x="3977640" y="4078224"/>
            <a:ext cx="868680" cy="310896"/>
          </a:xfrm>
          <a:prstGeom prst="roundRect">
            <a:avLst>
              <a:gd name="adj" fmla="val 17647"/>
            </a:avLst>
          </a:prstGeom>
          <a:solidFill>
            <a:schemeClr val="accent2"/>
          </a:solidFill>
          <a:ln/>
        </p:spPr>
        <p:txBody>
          <a:bodyPr wrap="square" lIns="0" tIns="0" rIns="0" bIns="0" rtlCol="0" anchor="ctr"/>
          <a:lstStyle/>
          <a:p>
            <a:pPr algn="ctr" indent="0" marL="0">
              <a:buNone/>
            </a:pPr>
            <a:r>
              <a:rPr lang="en-US" sz="1100" b="1" dirty="0">
                <a:solidFill>
                  <a:schemeClr val="bg1"/>
                </a:solidFill>
              </a:rPr>
              <a:t>Medium</a:t>
            </a:r>
            <a:endParaRPr lang="en-US" sz="1100" dirty="0"/>
          </a:p>
        </p:txBody>
      </p:sp>
      <p:sp>
        <p:nvSpPr>
          <p:cNvPr id="25" name="Text 22"/>
          <p:cNvSpPr txBox="1"/>
          <p:nvPr/>
        </p:nvSpPr>
        <p:spPr>
          <a:xfrm>
            <a:off x="4983480" y="3922776"/>
            <a:ext cx="1097280" cy="621792"/>
          </a:xfrm>
          <a:prstGeom prst="rect">
            <a:avLst/>
          </a:prstGeom>
          <a:noFill/>
          <a:ln/>
        </p:spPr>
        <p:txBody>
          <a:bodyPr wrap="square" lIns="0" tIns="0" rIns="0" bIns="0" rtlCol="0" anchor="ctr"/>
          <a:lstStyle/>
          <a:p>
            <a:pPr algn="l" indent="0" marL="0">
              <a:buNone/>
            </a:pPr>
            <a:r>
              <a:rPr lang="en-US" sz="1200" b="1" dirty="0">
                <a:solidFill>
                  <a:schemeClr val="tx1"/>
                </a:solidFill>
              </a:rPr>
              <a:t>GAP-01-006</a:t>
            </a:r>
            <a:endParaRPr lang="en-US" sz="1200" dirty="0"/>
          </a:p>
        </p:txBody>
      </p:sp>
      <p:sp>
        <p:nvSpPr>
          <p:cNvPr id="26" name="Text 23"/>
          <p:cNvSpPr txBox="1"/>
          <p:nvPr/>
        </p:nvSpPr>
        <p:spPr>
          <a:xfrm>
            <a:off x="6126480" y="3922776"/>
            <a:ext cx="5349240" cy="621792"/>
          </a:xfrm>
          <a:prstGeom prst="rect">
            <a:avLst/>
          </a:prstGeom>
          <a:noFill/>
          <a:ln/>
        </p:spPr>
        <p:txBody>
          <a:bodyPr wrap="square" lIns="0" tIns="0" rIns="0" bIns="0" rtlCol="0" anchor="ctr"/>
          <a:lstStyle/>
          <a:p>
            <a:pPr algn="l" indent="0" marL="0">
              <a:buNone/>
            </a:pPr>
            <a:r>
              <a:rPr lang="en-US" sz="1200" dirty="0">
                <a:solidFill>
                  <a:schemeClr val="tx1"/>
                </a:solidFill>
              </a:rPr>
              <a:t>PRIIPs KID data for the European PRIIPs Template is not modeled (DP-064)</a:t>
            </a:r>
            <a:endParaRPr lang="en-US" sz="1200" dirty="0"/>
          </a:p>
        </p:txBody>
      </p:sp>
      <p:sp>
        <p:nvSpPr>
          <p:cNvPr id="27" name="Shape 24"/>
          <p:cNvSpPr/>
          <p:nvPr/>
        </p:nvSpPr>
        <p:spPr>
          <a:xfrm>
            <a:off x="3840480" y="4636008"/>
            <a:ext cx="7799832" cy="621792"/>
          </a:xfrm>
          <a:prstGeom prst="roundRect">
            <a:avLst>
              <a:gd name="adj" fmla="val 11765"/>
            </a:avLst>
          </a:prstGeom>
          <a:solidFill>
            <a:schemeClr val="bg2"/>
          </a:solidFill>
          <a:ln/>
        </p:spPr>
      </p:sp>
      <p:sp>
        <p:nvSpPr>
          <p:cNvPr id="28" name="Text 25"/>
          <p:cNvSpPr/>
          <p:nvPr/>
        </p:nvSpPr>
        <p:spPr>
          <a:xfrm>
            <a:off x="3977640" y="4791456"/>
            <a:ext cx="868680" cy="310896"/>
          </a:xfrm>
          <a:prstGeom prst="roundRect">
            <a:avLst>
              <a:gd name="adj" fmla="val 17647"/>
            </a:avLst>
          </a:prstGeom>
          <a:solidFill>
            <a:schemeClr val="accent2"/>
          </a:solidFill>
          <a:ln/>
        </p:spPr>
        <p:txBody>
          <a:bodyPr wrap="square" lIns="0" tIns="0" rIns="0" bIns="0" rtlCol="0" anchor="ctr"/>
          <a:lstStyle/>
          <a:p>
            <a:pPr algn="ctr" indent="0" marL="0">
              <a:buNone/>
            </a:pPr>
            <a:r>
              <a:rPr lang="en-US" sz="1100" b="1" dirty="0">
                <a:solidFill>
                  <a:schemeClr val="bg1"/>
                </a:solidFill>
              </a:rPr>
              <a:t>Medium</a:t>
            </a:r>
            <a:endParaRPr lang="en-US" sz="1100" dirty="0"/>
          </a:p>
        </p:txBody>
      </p:sp>
      <p:sp>
        <p:nvSpPr>
          <p:cNvPr id="29" name="Text 26"/>
          <p:cNvSpPr txBox="1"/>
          <p:nvPr/>
        </p:nvSpPr>
        <p:spPr>
          <a:xfrm>
            <a:off x="4983480" y="4636008"/>
            <a:ext cx="1097280" cy="621792"/>
          </a:xfrm>
          <a:prstGeom prst="rect">
            <a:avLst/>
          </a:prstGeom>
          <a:noFill/>
          <a:ln/>
        </p:spPr>
        <p:txBody>
          <a:bodyPr wrap="square" lIns="0" tIns="0" rIns="0" bIns="0" rtlCol="0" anchor="ctr"/>
          <a:lstStyle/>
          <a:p>
            <a:pPr algn="l" indent="0" marL="0">
              <a:buNone/>
            </a:pPr>
            <a:r>
              <a:rPr lang="en-US" sz="1200" b="1" dirty="0">
                <a:solidFill>
                  <a:schemeClr val="tx1"/>
                </a:solidFill>
              </a:rPr>
              <a:t>GAP-01-007</a:t>
            </a:r>
            <a:endParaRPr lang="en-US" sz="1200" dirty="0"/>
          </a:p>
        </p:txBody>
      </p:sp>
      <p:sp>
        <p:nvSpPr>
          <p:cNvPr id="30" name="Text 27"/>
          <p:cNvSpPr txBox="1"/>
          <p:nvPr/>
        </p:nvSpPr>
        <p:spPr>
          <a:xfrm>
            <a:off x="6126480" y="4636008"/>
            <a:ext cx="5349240" cy="621792"/>
          </a:xfrm>
          <a:prstGeom prst="rect">
            <a:avLst/>
          </a:prstGeom>
          <a:noFill/>
          <a:ln/>
        </p:spPr>
        <p:txBody>
          <a:bodyPr wrap="square" lIns="0" tIns="0" rIns="0" bIns="0" rtlCol="0" anchor="ctr"/>
          <a:lstStyle/>
          <a:p>
            <a:pPr algn="l" indent="0" marL="0">
              <a:buNone/>
            </a:pPr>
            <a:r>
              <a:rPr lang="en-US" sz="1200" dirty="0">
                <a:solidFill>
                  <a:schemeClr val="tx1"/>
                </a:solidFill>
              </a:rPr>
              <a:t>ESG Classification lacks the detail the European ESG Template needs: adverse impacts, taxonomy alignment, exclusions (DP-064)</a:t>
            </a:r>
            <a:endParaRPr lang="en-US" sz="1200" dirty="0"/>
          </a:p>
        </p:txBody>
      </p:sp>
      <p:sp>
        <p:nvSpPr>
          <p:cNvPr id="31" name="Shape 28"/>
          <p:cNvSpPr/>
          <p:nvPr/>
        </p:nvSpPr>
        <p:spPr>
          <a:xfrm>
            <a:off x="3840480" y="5349240"/>
            <a:ext cx="7799832" cy="621792"/>
          </a:xfrm>
          <a:prstGeom prst="roundRect">
            <a:avLst>
              <a:gd name="adj" fmla="val 11765"/>
            </a:avLst>
          </a:prstGeom>
          <a:solidFill>
            <a:schemeClr val="bg2"/>
          </a:solidFill>
          <a:ln/>
        </p:spPr>
      </p:sp>
      <p:sp>
        <p:nvSpPr>
          <p:cNvPr id="32" name="Text 29"/>
          <p:cNvSpPr/>
          <p:nvPr/>
        </p:nvSpPr>
        <p:spPr>
          <a:xfrm>
            <a:off x="3977640" y="5504688"/>
            <a:ext cx="868680" cy="310896"/>
          </a:xfrm>
          <a:prstGeom prst="roundRect">
            <a:avLst>
              <a:gd name="adj" fmla="val 17647"/>
            </a:avLst>
          </a:prstGeom>
          <a:solidFill>
            <a:schemeClr val="accent2"/>
          </a:solidFill>
          <a:ln/>
        </p:spPr>
        <p:txBody>
          <a:bodyPr wrap="square" lIns="0" tIns="0" rIns="0" bIns="0" rtlCol="0" anchor="ctr"/>
          <a:lstStyle/>
          <a:p>
            <a:pPr algn="ctr" indent="0" marL="0">
              <a:buNone/>
            </a:pPr>
            <a:r>
              <a:rPr lang="en-US" sz="1100" b="1" dirty="0">
                <a:solidFill>
                  <a:schemeClr val="bg1"/>
                </a:solidFill>
              </a:rPr>
              <a:t>Medium</a:t>
            </a:r>
            <a:endParaRPr lang="en-US" sz="1100" dirty="0"/>
          </a:p>
        </p:txBody>
      </p:sp>
      <p:sp>
        <p:nvSpPr>
          <p:cNvPr id="33" name="Text 30"/>
          <p:cNvSpPr txBox="1"/>
          <p:nvPr/>
        </p:nvSpPr>
        <p:spPr>
          <a:xfrm>
            <a:off x="4983480" y="5349240"/>
            <a:ext cx="1097280" cy="621792"/>
          </a:xfrm>
          <a:prstGeom prst="rect">
            <a:avLst/>
          </a:prstGeom>
          <a:noFill/>
          <a:ln/>
        </p:spPr>
        <p:txBody>
          <a:bodyPr wrap="square" lIns="0" tIns="0" rIns="0" bIns="0" rtlCol="0" anchor="ctr"/>
          <a:lstStyle/>
          <a:p>
            <a:pPr algn="l" indent="0" marL="0">
              <a:buNone/>
            </a:pPr>
            <a:r>
              <a:rPr lang="en-US" sz="1200" b="1" dirty="0">
                <a:solidFill>
                  <a:schemeClr val="tx1"/>
                </a:solidFill>
              </a:rPr>
              <a:t>GAP-01-009</a:t>
            </a:r>
            <a:endParaRPr lang="en-US" sz="1200" dirty="0"/>
          </a:p>
        </p:txBody>
      </p:sp>
      <p:sp>
        <p:nvSpPr>
          <p:cNvPr id="34" name="Text 31"/>
          <p:cNvSpPr txBox="1"/>
          <p:nvPr/>
        </p:nvSpPr>
        <p:spPr>
          <a:xfrm>
            <a:off x="6126480" y="5349240"/>
            <a:ext cx="5349240" cy="621792"/>
          </a:xfrm>
          <a:prstGeom prst="rect">
            <a:avLst/>
          </a:prstGeom>
          <a:noFill/>
          <a:ln/>
        </p:spPr>
        <p:txBody>
          <a:bodyPr wrap="square" lIns="0" tIns="0" rIns="0" bIns="0" rtlCol="0" anchor="ctr"/>
          <a:lstStyle/>
          <a:p>
            <a:pPr algn="l" indent="0" marL="0">
              <a:buNone/>
            </a:pPr>
            <a:r>
              <a:rPr lang="en-US" sz="1200" dirty="0">
                <a:solidFill>
                  <a:schemeClr val="tx1"/>
                </a:solidFill>
              </a:rPr>
              <a:t>Ex-post costs and charges per share class are not modeled; Cost Disclosure is ex-ante only (DP-064)</a:t>
            </a:r>
            <a:endParaRPr lang="en-US" sz="1200" dirty="0"/>
          </a:p>
        </p:txBody>
      </p:sp>
      <p:sp>
        <p:nvSpPr>
          <p:cNvPr id="35" name="Text 32"/>
          <p:cNvSpPr txBox="1"/>
          <p:nvPr/>
        </p:nvSpPr>
        <p:spPr>
          <a:xfrm>
            <a:off x="3840480" y="6062472"/>
            <a:ext cx="7799832" cy="274320"/>
          </a:xfrm>
          <a:prstGeom prst="rect">
            <a:avLst/>
          </a:prstGeom>
          <a:noFill/>
          <a:ln/>
        </p:spPr>
        <p:txBody>
          <a:bodyPr wrap="square" lIns="0" tIns="0" rIns="0" bIns="0" rtlCol="0" anchor="ctr"/>
          <a:lstStyle/>
          <a:p>
            <a:pPr algn="l" indent="0" marL="0">
              <a:buNone/>
            </a:pPr>
            <a:r>
              <a:rPr lang="en-US" sz="1200" dirty="0">
                <a:solidFill>
                  <a:schemeClr val="tx2"/>
                </a:solidFill>
              </a:rPr>
              <a:t>Each gap has a proposed resolution and a decision owner in Gap_Register.xlsx.</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HOW IT IS USED</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The taxonomy does four jobs</a:t>
            </a:r>
            <a:endParaRPr lang="en-US" sz="3600" dirty="0"/>
          </a:p>
        </p:txBody>
      </p:sp>
      <p:sp>
        <p:nvSpPr>
          <p:cNvPr id="5" name="Shape 2"/>
          <p:cNvSpPr/>
          <p:nvPr/>
        </p:nvSpPr>
        <p:spPr>
          <a:xfrm>
            <a:off x="548640" y="1783080"/>
            <a:ext cx="2560320" cy="2971800"/>
          </a:xfrm>
          <a:prstGeom prst="roundRect">
            <a:avLst>
              <a:gd name="adj" fmla="val 2857"/>
            </a:avLst>
          </a:prstGeom>
          <a:solidFill>
            <a:schemeClr val="bg2"/>
          </a:solidFill>
          <a:ln/>
        </p:spPr>
      </p:sp>
      <p:sp>
        <p:nvSpPr>
          <p:cNvPr id="6" name="Text 3"/>
          <p:cNvSpPr/>
          <p:nvPr/>
        </p:nvSpPr>
        <p:spPr>
          <a:xfrm>
            <a:off x="777240" y="201168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777240" y="2560320"/>
            <a:ext cx="2103120" cy="365760"/>
          </a:xfrm>
          <a:prstGeom prst="rect">
            <a:avLst/>
          </a:prstGeom>
          <a:noFill/>
          <a:ln/>
        </p:spPr>
        <p:txBody>
          <a:bodyPr wrap="square" lIns="0" tIns="0" rIns="0" bIns="0" rtlCol="0" anchor="ctr"/>
          <a:lstStyle/>
          <a:p>
            <a:pPr algn="l" indent="0" marL="0">
              <a:buNone/>
            </a:pPr>
            <a:r>
              <a:rPr lang="en-US" sz="1600" b="1" dirty="0">
                <a:solidFill>
                  <a:schemeClr val="tx1"/>
                </a:solidFill>
              </a:rPr>
              <a:t>Mapping target</a:t>
            </a:r>
            <a:endParaRPr lang="en-US" sz="1600" dirty="0"/>
          </a:p>
        </p:txBody>
      </p:sp>
      <p:sp>
        <p:nvSpPr>
          <p:cNvPr id="8" name="Text 5"/>
          <p:cNvSpPr txBox="1"/>
          <p:nvPr/>
        </p:nvSpPr>
        <p:spPr>
          <a:xfrm>
            <a:off x="777240" y="2971800"/>
            <a:ext cx="2103120" cy="1645920"/>
          </a:xfrm>
          <a:prstGeom prst="rect">
            <a:avLst/>
          </a:prstGeom>
          <a:noFill/>
          <a:ln/>
        </p:spPr>
        <p:txBody>
          <a:bodyPr wrap="square" lIns="0" tIns="0" rIns="0" bIns="0" rtlCol="0" anchor="t"/>
          <a:lstStyle/>
          <a:p>
            <a:pPr algn="l" indent="0" marL="0">
              <a:buNone/>
            </a:pPr>
            <a:r>
              <a:rPr lang="en-US" sz="1300" dirty="0">
                <a:solidFill>
                  <a:schemeClr val="tx1"/>
                </a:solidFill>
              </a:rPr>
              <a:t>Fund administration, transfer agent, document and vendor sources each map to one definition per field. Source mapping is Phase D and is not yet done.</a:t>
            </a:r>
            <a:endParaRPr lang="en-US" sz="1300" dirty="0"/>
          </a:p>
        </p:txBody>
      </p:sp>
      <p:sp>
        <p:nvSpPr>
          <p:cNvPr id="9" name="Shape 6"/>
          <p:cNvSpPr/>
          <p:nvPr/>
        </p:nvSpPr>
        <p:spPr>
          <a:xfrm>
            <a:off x="3392424" y="1783080"/>
            <a:ext cx="2560320" cy="2971800"/>
          </a:xfrm>
          <a:prstGeom prst="roundRect">
            <a:avLst>
              <a:gd name="adj" fmla="val 2857"/>
            </a:avLst>
          </a:prstGeom>
          <a:solidFill>
            <a:schemeClr val="bg2"/>
          </a:solidFill>
          <a:ln/>
        </p:spPr>
      </p:sp>
      <p:sp>
        <p:nvSpPr>
          <p:cNvPr id="10" name="Text 7"/>
          <p:cNvSpPr/>
          <p:nvPr/>
        </p:nvSpPr>
        <p:spPr>
          <a:xfrm>
            <a:off x="3621024" y="201168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8"/>
          <p:cNvSpPr txBox="1"/>
          <p:nvPr/>
        </p:nvSpPr>
        <p:spPr>
          <a:xfrm>
            <a:off x="3621024" y="2560320"/>
            <a:ext cx="2103120" cy="365760"/>
          </a:xfrm>
          <a:prstGeom prst="rect">
            <a:avLst/>
          </a:prstGeom>
          <a:noFill/>
          <a:ln/>
        </p:spPr>
        <p:txBody>
          <a:bodyPr wrap="square" lIns="0" tIns="0" rIns="0" bIns="0" rtlCol="0" anchor="ctr"/>
          <a:lstStyle/>
          <a:p>
            <a:pPr algn="l" indent="0" marL="0">
              <a:buNone/>
            </a:pPr>
            <a:r>
              <a:rPr lang="en-US" sz="1600" b="1" dirty="0">
                <a:solidFill>
                  <a:schemeClr val="tx1"/>
                </a:solidFill>
              </a:rPr>
              <a:t>Bill of materials</a:t>
            </a:r>
            <a:endParaRPr lang="en-US" sz="1600" dirty="0"/>
          </a:p>
        </p:txBody>
      </p:sp>
      <p:sp>
        <p:nvSpPr>
          <p:cNvPr id="12" name="Text 9"/>
          <p:cNvSpPr txBox="1"/>
          <p:nvPr/>
        </p:nvSpPr>
        <p:spPr>
          <a:xfrm>
            <a:off x="3621024" y="2971800"/>
            <a:ext cx="2103120" cy="1645920"/>
          </a:xfrm>
          <a:prstGeom prst="rect">
            <a:avLst/>
          </a:prstGeom>
          <a:noFill/>
          <a:ln/>
        </p:spPr>
        <p:txBody>
          <a:bodyPr wrap="square" lIns="0" tIns="0" rIns="0" bIns="0" rtlCol="0" anchor="t"/>
          <a:lstStyle/>
          <a:p>
            <a:pPr algn="l" indent="0" marL="0">
              <a:buNone/>
            </a:pPr>
            <a:r>
              <a:rPr lang="en-US" sz="1300" dirty="0">
                <a:solidFill>
                  <a:schemeClr val="tx1"/>
                </a:solidFill>
              </a:rPr>
              <a:t>Each data product lists the exact objects and attributes it uses. The build fails if one does not exist in the taxonomy.</a:t>
            </a:r>
            <a:endParaRPr lang="en-US" sz="1300" dirty="0"/>
          </a:p>
        </p:txBody>
      </p:sp>
      <p:sp>
        <p:nvSpPr>
          <p:cNvPr id="13" name="Shape 10"/>
          <p:cNvSpPr/>
          <p:nvPr/>
        </p:nvSpPr>
        <p:spPr>
          <a:xfrm>
            <a:off x="6236208" y="1783080"/>
            <a:ext cx="2560320" cy="2971800"/>
          </a:xfrm>
          <a:prstGeom prst="roundRect">
            <a:avLst>
              <a:gd name="adj" fmla="val 2857"/>
            </a:avLst>
          </a:prstGeom>
          <a:solidFill>
            <a:schemeClr val="bg2"/>
          </a:solidFill>
          <a:ln/>
        </p:spPr>
      </p:sp>
      <p:sp>
        <p:nvSpPr>
          <p:cNvPr id="14" name="Text 11"/>
          <p:cNvSpPr/>
          <p:nvPr/>
        </p:nvSpPr>
        <p:spPr>
          <a:xfrm>
            <a:off x="6464808" y="2011680"/>
            <a:ext cx="411480" cy="411480"/>
          </a:xfrm>
          <a:prstGeom prst="ellipse">
            <a:avLst/>
          </a:prstGeom>
          <a:solidFill>
            <a:schemeClr val="accent4"/>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2"/>
          <p:cNvSpPr txBox="1"/>
          <p:nvPr/>
        </p:nvSpPr>
        <p:spPr>
          <a:xfrm>
            <a:off x="6464808" y="2560320"/>
            <a:ext cx="2103120" cy="365760"/>
          </a:xfrm>
          <a:prstGeom prst="rect">
            <a:avLst/>
          </a:prstGeom>
          <a:noFill/>
          <a:ln/>
        </p:spPr>
        <p:txBody>
          <a:bodyPr wrap="square" lIns="0" tIns="0" rIns="0" bIns="0" rtlCol="0" anchor="ctr"/>
          <a:lstStyle/>
          <a:p>
            <a:pPr algn="l" indent="0" marL="0">
              <a:buNone/>
            </a:pPr>
            <a:r>
              <a:rPr lang="en-US" sz="1600" b="1" dirty="0">
                <a:solidFill>
                  <a:schemeClr val="tx1"/>
                </a:solidFill>
              </a:rPr>
              <a:t>Shared dimension</a:t>
            </a:r>
            <a:endParaRPr lang="en-US" sz="1600" dirty="0"/>
          </a:p>
        </p:txBody>
      </p:sp>
      <p:sp>
        <p:nvSpPr>
          <p:cNvPr id="16" name="Text 13"/>
          <p:cNvSpPr txBox="1"/>
          <p:nvPr/>
        </p:nvSpPr>
        <p:spPr>
          <a:xfrm>
            <a:off x="6464808" y="2971800"/>
            <a:ext cx="2103120" cy="1645920"/>
          </a:xfrm>
          <a:prstGeom prst="rect">
            <a:avLst/>
          </a:prstGeom>
          <a:noFill/>
          <a:ln/>
        </p:spPr>
        <p:txBody>
          <a:bodyPr wrap="square" lIns="0" tIns="0" rIns="0" bIns="0" rtlCol="0" anchor="t"/>
          <a:lstStyle/>
          <a:p>
            <a:pPr algn="l" indent="0" marL="0">
              <a:buNone/>
            </a:pPr>
            <a:r>
              <a:rPr lang="en-US" sz="1300" dirty="0">
                <a:solidFill>
                  <a:schemeClr val="tx1"/>
                </a:solidFill>
              </a:rPr>
              <a:t>Product and share class are published once, in SM-00 Shared Dimensions, and every subject-area semantic model joins to them.</a:t>
            </a:r>
            <a:endParaRPr lang="en-US" sz="1300" dirty="0"/>
          </a:p>
        </p:txBody>
      </p:sp>
      <p:sp>
        <p:nvSpPr>
          <p:cNvPr id="17" name="Shape 14"/>
          <p:cNvSpPr/>
          <p:nvPr/>
        </p:nvSpPr>
        <p:spPr>
          <a:xfrm>
            <a:off x="9079992" y="1783080"/>
            <a:ext cx="2560320" cy="2971800"/>
          </a:xfrm>
          <a:prstGeom prst="roundRect">
            <a:avLst>
              <a:gd name="adj" fmla="val 2857"/>
            </a:avLst>
          </a:prstGeom>
          <a:solidFill>
            <a:schemeClr val="bg2"/>
          </a:solidFill>
          <a:ln/>
        </p:spPr>
      </p:sp>
      <p:sp>
        <p:nvSpPr>
          <p:cNvPr id="18" name="Text 15"/>
          <p:cNvSpPr/>
          <p:nvPr/>
        </p:nvSpPr>
        <p:spPr>
          <a:xfrm>
            <a:off x="9308592" y="2011680"/>
            <a:ext cx="411480" cy="411480"/>
          </a:xfrm>
          <a:prstGeom prst="ellipse">
            <a:avLst/>
          </a:prstGeom>
          <a:solidFill>
            <a:schemeClr val="accent5"/>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Text 16"/>
          <p:cNvSpPr txBox="1"/>
          <p:nvPr/>
        </p:nvSpPr>
        <p:spPr>
          <a:xfrm>
            <a:off x="9308592" y="2560320"/>
            <a:ext cx="2103120" cy="365760"/>
          </a:xfrm>
          <a:prstGeom prst="rect">
            <a:avLst/>
          </a:prstGeom>
          <a:noFill/>
          <a:ln/>
        </p:spPr>
        <p:txBody>
          <a:bodyPr wrap="square" lIns="0" tIns="0" rIns="0" bIns="0" rtlCol="0" anchor="ctr"/>
          <a:lstStyle/>
          <a:p>
            <a:pPr algn="l" indent="0" marL="0">
              <a:buNone/>
            </a:pPr>
            <a:r>
              <a:rPr lang="en-US" sz="1600" b="1" dirty="0">
                <a:solidFill>
                  <a:schemeClr val="tx1"/>
                </a:solidFill>
              </a:rPr>
              <a:t>Governance focus</a:t>
            </a:r>
            <a:endParaRPr lang="en-US" sz="1600" dirty="0"/>
          </a:p>
        </p:txBody>
      </p:sp>
      <p:sp>
        <p:nvSpPr>
          <p:cNvPr id="20" name="Text 17"/>
          <p:cNvSpPr txBox="1"/>
          <p:nvPr/>
        </p:nvSpPr>
        <p:spPr>
          <a:xfrm>
            <a:off x="9308592" y="2971800"/>
            <a:ext cx="2103120" cy="1645920"/>
          </a:xfrm>
          <a:prstGeom prst="rect">
            <a:avLst/>
          </a:prstGeom>
          <a:noFill/>
          <a:ln/>
        </p:spPr>
        <p:txBody>
          <a:bodyPr wrap="square" lIns="0" tIns="0" rIns="0" bIns="0" rtlCol="0" anchor="t"/>
          <a:lstStyle/>
          <a:p>
            <a:pPr algn="l" indent="0" marL="0">
              <a:buNone/>
            </a:pPr>
            <a:r>
              <a:rPr lang="en-US" sz="1300" dirty="0">
                <a:solidFill>
                  <a:schemeClr val="tx1"/>
                </a:solidFill>
              </a:rPr>
              <a:t>A named owning domain for every attribute and 99 proposed critical data elements show stewards where to put data quality effort.</a:t>
            </a:r>
            <a:endParaRPr lang="en-US" sz="1300" dirty="0"/>
          </a:p>
        </p:txBody>
      </p:sp>
      <p:sp>
        <p:nvSpPr>
          <p:cNvPr id="21" name="Text 18"/>
          <p:cNvSpPr txBox="1"/>
          <p:nvPr/>
        </p:nvSpPr>
        <p:spPr>
          <a:xfrm>
            <a:off x="548640" y="4937760"/>
            <a:ext cx="5486400" cy="256032"/>
          </a:xfrm>
          <a:prstGeom prst="rect">
            <a:avLst/>
          </a:prstGeom>
          <a:noFill/>
          <a:ln/>
        </p:spPr>
        <p:txBody>
          <a:bodyPr wrap="square" lIns="0" tIns="0" rIns="0" bIns="0" rtlCol="0" anchor="ctr"/>
          <a:lstStyle/>
          <a:p>
            <a:pPr algn="l" indent="0" marL="0">
              <a:buNone/>
            </a:pPr>
            <a:r>
              <a:rPr lang="en-US" sz="1200" b="1" spc="150" kern="0" dirty="0">
                <a:solidFill>
                  <a:schemeClr val="tx2"/>
                </a:solidFill>
              </a:rPr>
              <a:t>WHERE THE DEFINITIONS TRAVEL</a:t>
            </a:r>
            <a:endParaRPr lang="en-US" sz="1200" dirty="0"/>
          </a:p>
        </p:txBody>
      </p:sp>
      <p:sp>
        <p:nvSpPr>
          <p:cNvPr id="22" name="Text 19"/>
          <p:cNvSpPr/>
          <p:nvPr/>
        </p:nvSpPr>
        <p:spPr>
          <a:xfrm>
            <a:off x="548640" y="5257800"/>
            <a:ext cx="1618488" cy="868680"/>
          </a:xfrm>
          <a:prstGeom prst="roundRect">
            <a:avLst>
              <a:gd name="adj" fmla="val 8421"/>
            </a:avLst>
          </a:prstGeom>
          <a:solidFill>
            <a:schemeClr val="bg2"/>
          </a:solidFill>
          <a:ln/>
        </p:spPr>
        <p:txBody>
          <a:bodyPr wrap="square" lIns="1016" tIns="1016" rIns="1016" bIns="1016" rtlCol="0" anchor="ctr"/>
          <a:lstStyle/>
          <a:p>
            <a:pPr algn="ctr" indent="0" marL="0">
              <a:buNone/>
            </a:pPr>
            <a:r>
              <a:rPr lang="en-US" sz="1200" b="1" dirty="0">
                <a:solidFill>
                  <a:schemeClr val="tx1"/>
                </a:solidFill>
              </a:rPr>
              <a:t>Product sources</a:t>
            </a:r>
            <a:endParaRPr lang="en-US" sz="1200" dirty="0"/>
          </a:p>
        </p:txBody>
      </p:sp>
      <p:sp>
        <p:nvSpPr>
          <p:cNvPr id="23" name="Shape 20"/>
          <p:cNvSpPr/>
          <p:nvPr/>
        </p:nvSpPr>
        <p:spPr>
          <a:xfrm>
            <a:off x="2203704" y="5692140"/>
            <a:ext cx="202997" cy="0"/>
          </a:xfrm>
          <a:prstGeom prst="line">
            <a:avLst/>
          </a:prstGeom>
          <a:noFill/>
          <a:ln w="19050">
            <a:solidFill>
              <a:schemeClr val="tx2"/>
            </a:solidFill>
            <a:prstDash val="solid"/>
            <a:tailEnd type="triangle"/>
          </a:ln>
        </p:spPr>
      </p:sp>
      <p:sp>
        <p:nvSpPr>
          <p:cNvPr id="24" name="Text 21"/>
          <p:cNvSpPr/>
          <p:nvPr/>
        </p:nvSpPr>
        <p:spPr>
          <a:xfrm>
            <a:off x="2443277" y="5257800"/>
            <a:ext cx="1618488" cy="868680"/>
          </a:xfrm>
          <a:prstGeom prst="roundRect">
            <a:avLst>
              <a:gd name="adj" fmla="val 8421"/>
            </a:avLst>
          </a:prstGeom>
          <a:solidFill>
            <a:schemeClr val="accent1"/>
          </a:solidFill>
          <a:ln/>
        </p:spPr>
        <p:txBody>
          <a:bodyPr wrap="square" lIns="1016" tIns="1016" rIns="1016" bIns="1016" rtlCol="0" anchor="ctr"/>
          <a:lstStyle/>
          <a:p>
            <a:pPr algn="ctr" indent="0" marL="0">
              <a:buNone/>
            </a:pPr>
            <a:r>
              <a:rPr lang="en-US" sz="1200" b="1" dirty="0">
                <a:solidFill>
                  <a:schemeClr val="bg1"/>
                </a:solidFill>
              </a:rPr>
              <a:t>Investment Product definitions</a:t>
            </a:r>
            <a:endParaRPr lang="en-US" sz="1200" dirty="0"/>
          </a:p>
        </p:txBody>
      </p:sp>
      <p:sp>
        <p:nvSpPr>
          <p:cNvPr id="25" name="Shape 22"/>
          <p:cNvSpPr/>
          <p:nvPr/>
        </p:nvSpPr>
        <p:spPr>
          <a:xfrm>
            <a:off x="4098341" y="5692140"/>
            <a:ext cx="202997" cy="0"/>
          </a:xfrm>
          <a:prstGeom prst="line">
            <a:avLst/>
          </a:prstGeom>
          <a:noFill/>
          <a:ln w="19050">
            <a:solidFill>
              <a:schemeClr val="tx2"/>
            </a:solidFill>
            <a:prstDash val="solid"/>
            <a:tailEnd type="triangle"/>
          </a:ln>
        </p:spPr>
      </p:sp>
      <p:sp>
        <p:nvSpPr>
          <p:cNvPr id="26" name="Text 23"/>
          <p:cNvSpPr/>
          <p:nvPr/>
        </p:nvSpPr>
        <p:spPr>
          <a:xfrm>
            <a:off x="4337914" y="5257800"/>
            <a:ext cx="1618488" cy="868680"/>
          </a:xfrm>
          <a:prstGeom prst="roundRect">
            <a:avLst>
              <a:gd name="adj" fmla="val 8421"/>
            </a:avLst>
          </a:prstGeom>
          <a:solidFill>
            <a:schemeClr val="bg2"/>
          </a:solidFill>
          <a:ln/>
        </p:spPr>
        <p:txBody>
          <a:bodyPr wrap="square" lIns="1016" tIns="1016" rIns="1016" bIns="1016" rtlCol="0" anchor="ctr"/>
          <a:lstStyle/>
          <a:p>
            <a:pPr algn="ctr" indent="0" marL="0">
              <a:buNone/>
            </a:pPr>
            <a:r>
              <a:rPr lang="en-US" sz="1200" b="1" dirty="0">
                <a:solidFill>
                  <a:schemeClr val="tx1"/>
                </a:solidFill>
              </a:rPr>
              <a:t>DP-004 foundational product</a:t>
            </a:r>
            <a:endParaRPr lang="en-US" sz="1200" dirty="0"/>
          </a:p>
        </p:txBody>
      </p:sp>
      <p:sp>
        <p:nvSpPr>
          <p:cNvPr id="27" name="Shape 24"/>
          <p:cNvSpPr/>
          <p:nvPr/>
        </p:nvSpPr>
        <p:spPr>
          <a:xfrm>
            <a:off x="5992978" y="5692140"/>
            <a:ext cx="202997" cy="0"/>
          </a:xfrm>
          <a:prstGeom prst="line">
            <a:avLst/>
          </a:prstGeom>
          <a:noFill/>
          <a:ln w="19050">
            <a:solidFill>
              <a:schemeClr val="tx2"/>
            </a:solidFill>
            <a:prstDash val="solid"/>
            <a:tailEnd type="triangle"/>
          </a:ln>
        </p:spPr>
      </p:sp>
      <p:sp>
        <p:nvSpPr>
          <p:cNvPr id="28" name="Text 25"/>
          <p:cNvSpPr/>
          <p:nvPr/>
        </p:nvSpPr>
        <p:spPr>
          <a:xfrm>
            <a:off x="6232550" y="5257800"/>
            <a:ext cx="1618488" cy="868680"/>
          </a:xfrm>
          <a:prstGeom prst="roundRect">
            <a:avLst>
              <a:gd name="adj" fmla="val 8421"/>
            </a:avLst>
          </a:prstGeom>
          <a:solidFill>
            <a:schemeClr val="bg2"/>
          </a:solidFill>
          <a:ln/>
        </p:spPr>
        <p:txBody>
          <a:bodyPr wrap="square" lIns="1016" tIns="1016" rIns="1016" bIns="1016" rtlCol="0" anchor="ctr"/>
          <a:lstStyle/>
          <a:p>
            <a:pPr algn="ctr" indent="0" marL="0">
              <a:buNone/>
            </a:pPr>
            <a:r>
              <a:rPr lang="en-US" sz="1200" b="1" dirty="0">
                <a:solidFill>
                  <a:schemeClr val="tx1"/>
                </a:solidFill>
              </a:rPr>
              <a:t>Consumer data products</a:t>
            </a:r>
            <a:endParaRPr lang="en-US" sz="1200" dirty="0"/>
          </a:p>
        </p:txBody>
      </p:sp>
      <p:sp>
        <p:nvSpPr>
          <p:cNvPr id="29" name="Shape 26"/>
          <p:cNvSpPr/>
          <p:nvPr/>
        </p:nvSpPr>
        <p:spPr>
          <a:xfrm>
            <a:off x="7887614" y="5692140"/>
            <a:ext cx="202997" cy="0"/>
          </a:xfrm>
          <a:prstGeom prst="line">
            <a:avLst/>
          </a:prstGeom>
          <a:noFill/>
          <a:ln w="19050">
            <a:solidFill>
              <a:schemeClr val="tx2"/>
            </a:solidFill>
            <a:prstDash val="solid"/>
            <a:tailEnd type="triangle"/>
          </a:ln>
        </p:spPr>
      </p:sp>
      <p:sp>
        <p:nvSpPr>
          <p:cNvPr id="30" name="Text 27"/>
          <p:cNvSpPr/>
          <p:nvPr/>
        </p:nvSpPr>
        <p:spPr>
          <a:xfrm>
            <a:off x="8127187" y="5257800"/>
            <a:ext cx="1618488" cy="868680"/>
          </a:xfrm>
          <a:prstGeom prst="roundRect">
            <a:avLst>
              <a:gd name="adj" fmla="val 8421"/>
            </a:avLst>
          </a:prstGeom>
          <a:solidFill>
            <a:schemeClr val="bg2"/>
          </a:solidFill>
          <a:ln/>
        </p:spPr>
        <p:txBody>
          <a:bodyPr wrap="square" lIns="1016" tIns="1016" rIns="1016" bIns="1016" rtlCol="0" anchor="ctr"/>
          <a:lstStyle/>
          <a:p>
            <a:pPr algn="ctr" indent="0" marL="0">
              <a:buNone/>
            </a:pPr>
            <a:r>
              <a:rPr lang="en-US" sz="1200" b="1" dirty="0">
                <a:solidFill>
                  <a:schemeClr val="tx1"/>
                </a:solidFill>
              </a:rPr>
              <a:t>Semantic models</a:t>
            </a:r>
            <a:endParaRPr lang="en-US" sz="1200" dirty="0"/>
          </a:p>
        </p:txBody>
      </p:sp>
      <p:sp>
        <p:nvSpPr>
          <p:cNvPr id="31" name="Shape 28"/>
          <p:cNvSpPr/>
          <p:nvPr/>
        </p:nvSpPr>
        <p:spPr>
          <a:xfrm>
            <a:off x="9782251" y="5692140"/>
            <a:ext cx="202997" cy="0"/>
          </a:xfrm>
          <a:prstGeom prst="line">
            <a:avLst/>
          </a:prstGeom>
          <a:noFill/>
          <a:ln w="19050">
            <a:solidFill>
              <a:schemeClr val="tx2"/>
            </a:solidFill>
            <a:prstDash val="solid"/>
            <a:tailEnd type="triangle"/>
          </a:ln>
        </p:spPr>
      </p:sp>
      <p:sp>
        <p:nvSpPr>
          <p:cNvPr id="32" name="Text 29"/>
          <p:cNvSpPr/>
          <p:nvPr/>
        </p:nvSpPr>
        <p:spPr>
          <a:xfrm>
            <a:off x="10021824" y="5257800"/>
            <a:ext cx="1618488" cy="868680"/>
          </a:xfrm>
          <a:prstGeom prst="roundRect">
            <a:avLst>
              <a:gd name="adj" fmla="val 8421"/>
            </a:avLst>
          </a:prstGeom>
          <a:solidFill>
            <a:schemeClr val="bg2"/>
          </a:solidFill>
          <a:ln/>
        </p:spPr>
        <p:txBody>
          <a:bodyPr wrap="square" lIns="1016" tIns="1016" rIns="1016" bIns="1016" rtlCol="0" anchor="ctr"/>
          <a:lstStyle/>
          <a:p>
            <a:pPr algn="ctr" indent="0" marL="0">
              <a:buNone/>
            </a:pPr>
            <a:r>
              <a:rPr lang="en-US" sz="1200" b="1" dirty="0">
                <a:solidFill>
                  <a:schemeClr val="tx1"/>
                </a:solidFill>
              </a:rPr>
              <a:t>Dashboards, feeds, AI assistants</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HOW IT IS USED  |  THE FOUNDATIONAL PRODUCT</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DP-004 turns the domain into one record</a:t>
            </a:r>
            <a:endParaRPr lang="en-US" sz="3600" dirty="0"/>
          </a:p>
        </p:txBody>
      </p:sp>
      <p:sp>
        <p:nvSpPr>
          <p:cNvPr id="5" name="Text 2"/>
          <p:cNvSpPr/>
          <p:nvPr/>
        </p:nvSpPr>
        <p:spPr>
          <a:xfrm>
            <a:off x="548640" y="1783080"/>
            <a:ext cx="1005840" cy="384048"/>
          </a:xfrm>
          <a:prstGeom prst="roundRect">
            <a:avLst>
              <a:gd name="adj" fmla="val 14286"/>
            </a:avLst>
          </a:prstGeom>
          <a:solidFill>
            <a:schemeClr val="accent1"/>
          </a:solidFill>
          <a:ln/>
        </p:spPr>
        <p:txBody>
          <a:bodyPr wrap="square" lIns="0" tIns="0" rIns="0" bIns="0" rtlCol="0" anchor="ctr"/>
          <a:lstStyle/>
          <a:p>
            <a:pPr algn="ctr" indent="0" marL="0">
              <a:buNone/>
            </a:pPr>
            <a:r>
              <a:rPr lang="en-US" sz="1300" b="1" dirty="0">
                <a:solidFill>
                  <a:schemeClr val="bg1"/>
                </a:solidFill>
              </a:rPr>
              <a:t>DP-004</a:t>
            </a:r>
            <a:endParaRPr lang="en-US" sz="1300" dirty="0"/>
          </a:p>
        </p:txBody>
      </p:sp>
      <p:sp>
        <p:nvSpPr>
          <p:cNvPr id="6" name="Text 3"/>
          <p:cNvSpPr txBox="1"/>
          <p:nvPr/>
        </p:nvSpPr>
        <p:spPr>
          <a:xfrm>
            <a:off x="1737360" y="1783080"/>
            <a:ext cx="5486400" cy="384048"/>
          </a:xfrm>
          <a:prstGeom prst="rect">
            <a:avLst/>
          </a:prstGeom>
          <a:noFill/>
          <a:ln/>
        </p:spPr>
        <p:txBody>
          <a:bodyPr wrap="square" lIns="0" tIns="0" rIns="0" bIns="0" rtlCol="0" anchor="ctr"/>
          <a:lstStyle/>
          <a:p>
            <a:pPr algn="l" indent="0" marL="0">
              <a:buNone/>
            </a:pPr>
            <a:r>
              <a:rPr lang="en-US" sz="1800" b="1" dirty="0">
                <a:solidFill>
                  <a:schemeClr val="tx1"/>
                </a:solidFill>
              </a:rPr>
              <a:t>Product &amp; Share Class Distribution Reference</a:t>
            </a:r>
            <a:endParaRPr lang="en-US" sz="1800" dirty="0"/>
          </a:p>
        </p:txBody>
      </p:sp>
      <p:sp>
        <p:nvSpPr>
          <p:cNvPr id="7" name="Text 4"/>
          <p:cNvSpPr txBox="1"/>
          <p:nvPr/>
        </p:nvSpPr>
        <p:spPr>
          <a:xfrm>
            <a:off x="548640" y="2258568"/>
            <a:ext cx="6675120" cy="274320"/>
          </a:xfrm>
          <a:prstGeom prst="rect">
            <a:avLst/>
          </a:prstGeom>
          <a:noFill/>
          <a:ln/>
        </p:spPr>
        <p:txBody>
          <a:bodyPr wrap="square" lIns="0" tIns="0" rIns="0" bIns="0" rtlCol="0" anchor="ctr"/>
          <a:lstStyle/>
          <a:p>
            <a:pPr algn="l" indent="0" marL="0">
              <a:buNone/>
            </a:pPr>
            <a:r>
              <a:rPr lang="en-US" sz="1200" dirty="0">
                <a:solidFill>
                  <a:schemeClr val="tx2"/>
                </a:solidFill>
              </a:rPr>
              <a:t>Foundational  |  Master &amp; Reference  |  Owner: Head of Product Data</a:t>
            </a:r>
            <a:endParaRPr lang="en-US" sz="1200" dirty="0"/>
          </a:p>
        </p:txBody>
      </p:sp>
      <p:sp>
        <p:nvSpPr>
          <p:cNvPr id="8" name="Shape 5"/>
          <p:cNvSpPr/>
          <p:nvPr/>
        </p:nvSpPr>
        <p:spPr>
          <a:xfrm>
            <a:off x="548640" y="2697480"/>
            <a:ext cx="6675120" cy="0"/>
          </a:xfrm>
          <a:prstGeom prst="line">
            <a:avLst/>
          </a:prstGeom>
          <a:noFill/>
          <a:ln w="9525">
            <a:solidFill>
              <a:srgbClr val="D5D9E1"/>
            </a:solidFill>
            <a:prstDash val="solid"/>
          </a:ln>
        </p:spPr>
      </p:sp>
      <p:sp>
        <p:nvSpPr>
          <p:cNvPr id="9" name="Text 6"/>
          <p:cNvSpPr txBox="1"/>
          <p:nvPr/>
        </p:nvSpPr>
        <p:spPr>
          <a:xfrm>
            <a:off x="548640" y="2697480"/>
            <a:ext cx="1188720" cy="65836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GRAIN</a:t>
            </a:r>
            <a:endParaRPr lang="en-US" sz="1200" dirty="0"/>
          </a:p>
        </p:txBody>
      </p:sp>
      <p:sp>
        <p:nvSpPr>
          <p:cNvPr id="10" name="Text 7"/>
          <p:cNvSpPr txBox="1"/>
          <p:nvPr/>
        </p:nvSpPr>
        <p:spPr>
          <a:xfrm>
            <a:off x="1828800" y="2697480"/>
            <a:ext cx="5394960" cy="658368"/>
          </a:xfrm>
          <a:prstGeom prst="rect">
            <a:avLst/>
          </a:prstGeom>
          <a:noFill/>
          <a:ln/>
        </p:spPr>
        <p:txBody>
          <a:bodyPr wrap="square" lIns="0" tIns="0" rIns="0" bIns="0" rtlCol="0" anchor="ctr"/>
          <a:lstStyle/>
          <a:p>
            <a:pPr algn="l" indent="0" marL="0">
              <a:buNone/>
            </a:pPr>
            <a:r>
              <a:rPr lang="en-US" sz="1300" dirty="0">
                <a:solidFill>
                  <a:schemeClr val="tx1"/>
                </a:solidFill>
              </a:rPr>
              <a:t>One row per share class and effective period, with child rows for registrations, system codes, lifecycle events, relationships and manager assignments</a:t>
            </a:r>
            <a:endParaRPr lang="en-US" sz="1300" dirty="0"/>
          </a:p>
        </p:txBody>
      </p:sp>
      <p:sp>
        <p:nvSpPr>
          <p:cNvPr id="11" name="Shape 8"/>
          <p:cNvSpPr/>
          <p:nvPr/>
        </p:nvSpPr>
        <p:spPr>
          <a:xfrm>
            <a:off x="548640" y="3355848"/>
            <a:ext cx="6675120" cy="0"/>
          </a:xfrm>
          <a:prstGeom prst="line">
            <a:avLst/>
          </a:prstGeom>
          <a:noFill/>
          <a:ln w="9525">
            <a:solidFill>
              <a:srgbClr val="D5D9E1"/>
            </a:solidFill>
            <a:prstDash val="solid"/>
          </a:ln>
        </p:spPr>
      </p:sp>
      <p:sp>
        <p:nvSpPr>
          <p:cNvPr id="12" name="Text 9"/>
          <p:cNvSpPr txBox="1"/>
          <p:nvPr/>
        </p:nvSpPr>
        <p:spPr>
          <a:xfrm>
            <a:off x="548640" y="3355848"/>
            <a:ext cx="1188720" cy="65836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INPUTS</a:t>
            </a:r>
            <a:endParaRPr lang="en-US" sz="1200" dirty="0"/>
          </a:p>
        </p:txBody>
      </p:sp>
      <p:sp>
        <p:nvSpPr>
          <p:cNvPr id="13" name="Text 10"/>
          <p:cNvSpPr txBox="1"/>
          <p:nvPr/>
        </p:nvSpPr>
        <p:spPr>
          <a:xfrm>
            <a:off x="1828800" y="3355848"/>
            <a:ext cx="5394960" cy="658368"/>
          </a:xfrm>
          <a:prstGeom prst="rect">
            <a:avLst/>
          </a:prstGeom>
          <a:noFill/>
          <a:ln/>
        </p:spPr>
        <p:txBody>
          <a:bodyPr wrap="square" lIns="0" tIns="0" rIns="0" bIns="0" rtlCol="0" anchor="ctr"/>
          <a:lstStyle/>
          <a:p>
            <a:pPr algn="l" indent="0" marL="0">
              <a:buNone/>
            </a:pPr>
            <a:r>
              <a:rPr lang="en-US" sz="1300" dirty="0">
                <a:solidFill>
                  <a:schemeClr val="tx1"/>
                </a:solidFill>
              </a:rPr>
              <a:t>97 attributes from 20 of the 48 Investment Product objects</a:t>
            </a:r>
            <a:endParaRPr lang="en-US" sz="1300" dirty="0"/>
          </a:p>
        </p:txBody>
      </p:sp>
      <p:sp>
        <p:nvSpPr>
          <p:cNvPr id="14" name="Shape 11"/>
          <p:cNvSpPr/>
          <p:nvPr/>
        </p:nvSpPr>
        <p:spPr>
          <a:xfrm>
            <a:off x="548640" y="4014216"/>
            <a:ext cx="6675120" cy="0"/>
          </a:xfrm>
          <a:prstGeom prst="line">
            <a:avLst/>
          </a:prstGeom>
          <a:noFill/>
          <a:ln w="9525">
            <a:solidFill>
              <a:srgbClr val="D5D9E1"/>
            </a:solidFill>
            <a:prstDash val="solid"/>
          </a:ln>
        </p:spPr>
      </p:sp>
      <p:sp>
        <p:nvSpPr>
          <p:cNvPr id="15" name="Text 12"/>
          <p:cNvSpPr txBox="1"/>
          <p:nvPr/>
        </p:nvSpPr>
        <p:spPr>
          <a:xfrm>
            <a:off x="548640" y="4014216"/>
            <a:ext cx="1188720" cy="65836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REFRESH</a:t>
            </a:r>
            <a:endParaRPr lang="en-US" sz="1200" dirty="0"/>
          </a:p>
        </p:txBody>
      </p:sp>
      <p:sp>
        <p:nvSpPr>
          <p:cNvPr id="16" name="Text 13"/>
          <p:cNvSpPr txBox="1"/>
          <p:nvPr/>
        </p:nvSpPr>
        <p:spPr>
          <a:xfrm>
            <a:off x="1828800" y="4014216"/>
            <a:ext cx="5394960" cy="658368"/>
          </a:xfrm>
          <a:prstGeom prst="rect">
            <a:avLst/>
          </a:prstGeom>
          <a:noFill/>
          <a:ln/>
        </p:spPr>
        <p:txBody>
          <a:bodyPr wrap="square" lIns="0" tIns="0" rIns="0" bIns="0" rtlCol="0" anchor="ctr"/>
          <a:lstStyle/>
          <a:p>
            <a:pPr algn="l" indent="0" marL="0">
              <a:buNone/>
            </a:pPr>
            <a:r>
              <a:rPr lang="en-US" sz="1300" dirty="0">
                <a:solidFill>
                  <a:schemeClr val="tx1"/>
                </a:solidFill>
              </a:rPr>
              <a:t>Daily by 6am ET. New share classes at least 5 business days before launch</a:t>
            </a:r>
            <a:endParaRPr lang="en-US" sz="1300" dirty="0"/>
          </a:p>
        </p:txBody>
      </p:sp>
      <p:sp>
        <p:nvSpPr>
          <p:cNvPr id="17" name="Shape 14"/>
          <p:cNvSpPr/>
          <p:nvPr/>
        </p:nvSpPr>
        <p:spPr>
          <a:xfrm>
            <a:off x="548640" y="4672584"/>
            <a:ext cx="6675120" cy="0"/>
          </a:xfrm>
          <a:prstGeom prst="line">
            <a:avLst/>
          </a:prstGeom>
          <a:noFill/>
          <a:ln w="9525">
            <a:solidFill>
              <a:srgbClr val="D5D9E1"/>
            </a:solidFill>
            <a:prstDash val="solid"/>
          </a:ln>
        </p:spPr>
      </p:sp>
      <p:sp>
        <p:nvSpPr>
          <p:cNvPr id="18" name="Text 15"/>
          <p:cNvSpPr txBox="1"/>
          <p:nvPr/>
        </p:nvSpPr>
        <p:spPr>
          <a:xfrm>
            <a:off x="548640" y="4672584"/>
            <a:ext cx="1188720" cy="65836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HISTORY</a:t>
            </a:r>
            <a:endParaRPr lang="en-US" sz="1200" dirty="0"/>
          </a:p>
        </p:txBody>
      </p:sp>
      <p:sp>
        <p:nvSpPr>
          <p:cNvPr id="19" name="Text 16"/>
          <p:cNvSpPr txBox="1"/>
          <p:nvPr/>
        </p:nvSpPr>
        <p:spPr>
          <a:xfrm>
            <a:off x="1828800" y="4672584"/>
            <a:ext cx="5394960" cy="658368"/>
          </a:xfrm>
          <a:prstGeom prst="rect">
            <a:avLst/>
          </a:prstGeom>
          <a:noFill/>
          <a:ln/>
        </p:spPr>
        <p:txBody>
          <a:bodyPr wrap="square" lIns="0" tIns="0" rIns="0" bIns="0" rtlCol="0" anchor="ctr"/>
          <a:lstStyle/>
          <a:p>
            <a:pPr algn="l" indent="0" marL="0">
              <a:buNone/>
            </a:pPr>
            <a:r>
              <a:rPr lang="en-US" sz="1300" dirty="0">
                <a:solidFill>
                  <a:schemeClr val="tx1"/>
                </a:solidFill>
              </a:rPr>
              <a:t>Every change kept since inception. Closed and merged classes kept with their successor link</a:t>
            </a:r>
            <a:endParaRPr lang="en-US" sz="1300" dirty="0"/>
          </a:p>
        </p:txBody>
      </p:sp>
      <p:sp>
        <p:nvSpPr>
          <p:cNvPr id="20" name="Shape 17"/>
          <p:cNvSpPr/>
          <p:nvPr/>
        </p:nvSpPr>
        <p:spPr>
          <a:xfrm>
            <a:off x="548640" y="5330952"/>
            <a:ext cx="6675120" cy="0"/>
          </a:xfrm>
          <a:prstGeom prst="line">
            <a:avLst/>
          </a:prstGeom>
          <a:noFill/>
          <a:ln w="9525">
            <a:solidFill>
              <a:srgbClr val="D5D9E1"/>
            </a:solidFill>
            <a:prstDash val="solid"/>
          </a:ln>
        </p:spPr>
      </p:sp>
      <p:sp>
        <p:nvSpPr>
          <p:cNvPr id="21" name="Text 18"/>
          <p:cNvSpPr txBox="1"/>
          <p:nvPr/>
        </p:nvSpPr>
        <p:spPr>
          <a:xfrm>
            <a:off x="548640" y="5330952"/>
            <a:ext cx="1188720" cy="65836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ACCESS</a:t>
            </a:r>
            <a:endParaRPr lang="en-US" sz="1200" dirty="0"/>
          </a:p>
        </p:txBody>
      </p:sp>
      <p:sp>
        <p:nvSpPr>
          <p:cNvPr id="22" name="Text 19"/>
          <p:cNvSpPr txBox="1"/>
          <p:nvPr/>
        </p:nvSpPr>
        <p:spPr>
          <a:xfrm>
            <a:off x="1828800" y="5330952"/>
            <a:ext cx="5394960" cy="658368"/>
          </a:xfrm>
          <a:prstGeom prst="rect">
            <a:avLst/>
          </a:prstGeom>
          <a:noFill/>
          <a:ln/>
        </p:spPr>
        <p:txBody>
          <a:bodyPr wrap="square" lIns="0" tIns="0" rIns="0" bIns="0" rtlCol="0" anchor="ctr"/>
          <a:lstStyle/>
          <a:p>
            <a:pPr algn="l" indent="0" marL="0">
              <a:buNone/>
            </a:pPr>
            <a:r>
              <a:rPr lang="en-US" sz="1300" dirty="0">
                <a:solidFill>
                  <a:schemeClr val="tx1"/>
                </a:solidFill>
              </a:rPr>
              <a:t>Internal. Unannounced closures, mergers and fee changes are withheld until announced</a:t>
            </a:r>
            <a:endParaRPr lang="en-US" sz="1300" dirty="0"/>
          </a:p>
        </p:txBody>
      </p:sp>
      <p:sp>
        <p:nvSpPr>
          <p:cNvPr id="23" name="Shape 20"/>
          <p:cNvSpPr/>
          <p:nvPr/>
        </p:nvSpPr>
        <p:spPr>
          <a:xfrm>
            <a:off x="7589520" y="1783080"/>
            <a:ext cx="1933956" cy="1600200"/>
          </a:xfrm>
          <a:prstGeom prst="roundRect">
            <a:avLst>
              <a:gd name="adj" fmla="val 4571"/>
            </a:avLst>
          </a:prstGeom>
          <a:solidFill>
            <a:schemeClr val="tx1"/>
          </a:solidFill>
          <a:ln/>
        </p:spPr>
      </p:sp>
      <p:sp>
        <p:nvSpPr>
          <p:cNvPr id="24" name="Text 21"/>
          <p:cNvSpPr txBox="1"/>
          <p:nvPr/>
        </p:nvSpPr>
        <p:spPr>
          <a:xfrm>
            <a:off x="7772400" y="1920240"/>
            <a:ext cx="1572768" cy="594360"/>
          </a:xfrm>
          <a:prstGeom prst="rect">
            <a:avLst/>
          </a:prstGeom>
          <a:noFill/>
          <a:ln/>
        </p:spPr>
        <p:txBody>
          <a:bodyPr wrap="square" lIns="0" tIns="0" rIns="0" bIns="0" rtlCol="0" anchor="ctr"/>
          <a:lstStyle/>
          <a:p>
            <a:pPr algn="l" indent="0" marL="0">
              <a:buNone/>
            </a:pPr>
            <a:r>
              <a:rPr lang="en-US" sz="2800" b="1" dirty="0">
                <a:solidFill>
                  <a:schemeClr val="accent6"/>
                </a:solidFill>
              </a:rPr>
              <a:t>69</a:t>
            </a:r>
            <a:endParaRPr lang="en-US" sz="2800" dirty="0"/>
          </a:p>
        </p:txBody>
      </p:sp>
      <p:sp>
        <p:nvSpPr>
          <p:cNvPr id="25" name="Text 22"/>
          <p:cNvSpPr txBox="1"/>
          <p:nvPr/>
        </p:nvSpPr>
        <p:spPr>
          <a:xfrm>
            <a:off x="7772400" y="2560320"/>
            <a:ext cx="1572768" cy="731520"/>
          </a:xfrm>
          <a:prstGeom prst="rect">
            <a:avLst/>
          </a:prstGeom>
          <a:noFill/>
          <a:ln/>
        </p:spPr>
        <p:txBody>
          <a:bodyPr wrap="square" lIns="0" tIns="0" rIns="0" bIns="0" rtlCol="0" anchor="t"/>
          <a:lstStyle/>
          <a:p>
            <a:pPr algn="l" indent="0" marL="0">
              <a:buNone/>
            </a:pPr>
            <a:r>
              <a:rPr lang="en-US" sz="1200" dirty="0">
                <a:solidFill>
                  <a:schemeClr val="bg1"/>
                </a:solidFill>
              </a:rPr>
              <a:t>other products name DP-004 as a direct upstream</a:t>
            </a:r>
            <a:endParaRPr lang="en-US" sz="1200" dirty="0"/>
          </a:p>
        </p:txBody>
      </p:sp>
      <p:sp>
        <p:nvSpPr>
          <p:cNvPr id="26" name="Shape 23"/>
          <p:cNvSpPr/>
          <p:nvPr/>
        </p:nvSpPr>
        <p:spPr>
          <a:xfrm>
            <a:off x="9706356" y="1783080"/>
            <a:ext cx="1933956" cy="1600200"/>
          </a:xfrm>
          <a:prstGeom prst="roundRect">
            <a:avLst>
              <a:gd name="adj" fmla="val 4571"/>
            </a:avLst>
          </a:prstGeom>
          <a:solidFill>
            <a:schemeClr val="tx1"/>
          </a:solidFill>
          <a:ln/>
        </p:spPr>
      </p:sp>
      <p:sp>
        <p:nvSpPr>
          <p:cNvPr id="27" name="Text 24"/>
          <p:cNvSpPr txBox="1"/>
          <p:nvPr/>
        </p:nvSpPr>
        <p:spPr>
          <a:xfrm>
            <a:off x="9889236" y="1920240"/>
            <a:ext cx="1572768" cy="594360"/>
          </a:xfrm>
          <a:prstGeom prst="rect">
            <a:avLst/>
          </a:prstGeom>
          <a:noFill/>
          <a:ln/>
        </p:spPr>
        <p:txBody>
          <a:bodyPr wrap="square" lIns="0" tIns="0" rIns="0" bIns="0" rtlCol="0" anchor="ctr"/>
          <a:lstStyle/>
          <a:p>
            <a:pPr algn="l" indent="0" marL="0">
              <a:buNone/>
            </a:pPr>
            <a:r>
              <a:rPr lang="en-US" sz="2800" b="1" dirty="0">
                <a:solidFill>
                  <a:schemeClr val="accent6"/>
                </a:solidFill>
              </a:rPr>
              <a:t>87 of 91</a:t>
            </a:r>
            <a:endParaRPr lang="en-US" sz="2800" dirty="0"/>
          </a:p>
        </p:txBody>
      </p:sp>
      <p:sp>
        <p:nvSpPr>
          <p:cNvPr id="28" name="Text 25"/>
          <p:cNvSpPr txBox="1"/>
          <p:nvPr/>
        </p:nvSpPr>
        <p:spPr>
          <a:xfrm>
            <a:off x="9889236" y="2560320"/>
            <a:ext cx="1572768" cy="731520"/>
          </a:xfrm>
          <a:prstGeom prst="rect">
            <a:avLst/>
          </a:prstGeom>
          <a:noFill/>
          <a:ln/>
        </p:spPr>
        <p:txBody>
          <a:bodyPr wrap="square" lIns="0" tIns="0" rIns="0" bIns="0" rtlCol="0" anchor="t"/>
          <a:lstStyle/>
          <a:p>
            <a:pPr algn="l" indent="0" marL="0">
              <a:buNone/>
            </a:pPr>
            <a:r>
              <a:rPr lang="en-US" sz="1200" dirty="0">
                <a:solidFill>
                  <a:schemeClr val="bg1"/>
                </a:solidFill>
              </a:rPr>
              <a:t>other products depend on it directly or indirectly</a:t>
            </a:r>
            <a:endParaRPr lang="en-US" sz="1200" dirty="0"/>
          </a:p>
        </p:txBody>
      </p:sp>
      <p:sp>
        <p:nvSpPr>
          <p:cNvPr id="29" name="Text 26"/>
          <p:cNvSpPr txBox="1"/>
          <p:nvPr/>
        </p:nvSpPr>
        <p:spPr>
          <a:xfrm>
            <a:off x="7589520" y="3657600"/>
            <a:ext cx="4050792" cy="256032"/>
          </a:xfrm>
          <a:prstGeom prst="rect">
            <a:avLst/>
          </a:prstGeom>
          <a:noFill/>
          <a:ln/>
        </p:spPr>
        <p:txBody>
          <a:bodyPr wrap="square" lIns="0" tIns="0" rIns="0" bIns="0" rtlCol="0" anchor="ctr"/>
          <a:lstStyle/>
          <a:p>
            <a:pPr algn="l" indent="0" marL="0">
              <a:buNone/>
            </a:pPr>
            <a:r>
              <a:rPr lang="en-US" sz="1200" b="1" spc="150" kern="0" dirty="0">
                <a:solidFill>
                  <a:schemeClr val="tx2"/>
                </a:solidFill>
              </a:rPr>
              <a:t>QUALITY RULES, FOR EXAMPLE</a:t>
            </a:r>
            <a:endParaRPr lang="en-US" sz="1200" dirty="0"/>
          </a:p>
        </p:txBody>
      </p:sp>
      <p:sp>
        <p:nvSpPr>
          <p:cNvPr id="30" name="Text 27"/>
          <p:cNvSpPr txBox="1"/>
          <p:nvPr/>
        </p:nvSpPr>
        <p:spPr>
          <a:xfrm>
            <a:off x="7589520" y="3995928"/>
            <a:ext cx="4050792" cy="20116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Every share class has exactly one parent product, and every product exactly one strategy</a:t>
            </a:r>
            <a:endParaRPr lang="en-US" sz="1300" dirty="0"/>
          </a:p>
          <a:p>
            <a:pPr marL="177800" indent="-177800">
              <a:spcAft>
                <a:spcPts val="600"/>
              </a:spcAft>
              <a:buSzPct val="100000"/>
              <a:buChar char="•"/>
            </a:pPr>
            <a:r>
              <a:rPr lang="en-US" sz="1300" dirty="0">
                <a:solidFill>
                  <a:schemeClr val="tx1"/>
                </a:solidFill>
              </a:rPr>
              <a:t>ISIN is unique across active share classes and passes its check digit</a:t>
            </a:r>
            <a:endParaRPr lang="en-US" sz="1300" dirty="0"/>
          </a:p>
          <a:p>
            <a:pPr marL="177800" indent="-177800">
              <a:spcAft>
                <a:spcPts val="600"/>
              </a:spcAft>
              <a:buSzPct val="100000"/>
              <a:buChar char="•"/>
            </a:pPr>
            <a:r>
              <a:rPr lang="en-US" sz="1300" dirty="0">
                <a:solidFill>
                  <a:schemeClr val="tx1"/>
                </a:solidFill>
              </a:rPr>
              <a:t>Net expense ratio is never above gross expense ratio</a:t>
            </a:r>
            <a:endParaRPr lang="en-US" sz="1300" dirty="0"/>
          </a:p>
          <a:p>
            <a:pPr marL="177800" indent="-177800">
              <a:spcAft>
                <a:spcPts val="600"/>
              </a:spcAft>
              <a:buSzPct val="100000"/>
              <a:buChar char="•"/>
            </a:pPr>
            <a:r>
              <a:rPr lang="en-US" sz="1300" dirty="0">
                <a:solidFill>
                  <a:schemeClr val="tx1"/>
                </a:solidFill>
              </a:rPr>
              <a:t>A closed or merged share class has a lifecycle event</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DATA PRODUCTS  |  REACH</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32 of 92 data products read it directly</a:t>
            </a:r>
            <a:endParaRPr lang="en-US" sz="3600" dirty="0"/>
          </a:p>
        </p:txBody>
      </p:sp>
      <p:graphicFrame>
        <p:nvGraphicFramePr>
          <p:cNvPr id="5" name="Chart 0" descr=""/>
          <p:cNvGraphicFramePr/>
          <p:nvPr/>
        </p:nvGraphicFramePr>
        <p:xfrm>
          <a:off x="548640" y="1783080"/>
          <a:ext cx="6217920" cy="43434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132320" y="1783080"/>
            <a:ext cx="2116836" cy="1691640"/>
          </a:xfrm>
          <a:prstGeom prst="roundRect">
            <a:avLst>
              <a:gd name="adj" fmla="val 4324"/>
            </a:avLst>
          </a:prstGeom>
          <a:solidFill>
            <a:schemeClr val="bg2"/>
          </a:solidFill>
          <a:ln/>
        </p:spPr>
      </p:sp>
      <p:sp>
        <p:nvSpPr>
          <p:cNvPr id="7" name="Text 3"/>
          <p:cNvSpPr txBox="1"/>
          <p:nvPr/>
        </p:nvSpPr>
        <p:spPr>
          <a:xfrm>
            <a:off x="7315200" y="1920240"/>
            <a:ext cx="1755648" cy="548640"/>
          </a:xfrm>
          <a:prstGeom prst="rect">
            <a:avLst/>
          </a:prstGeom>
          <a:noFill/>
          <a:ln/>
        </p:spPr>
        <p:txBody>
          <a:bodyPr wrap="square" lIns="0" tIns="0" rIns="0" bIns="0" rtlCol="0" anchor="ctr"/>
          <a:lstStyle/>
          <a:p>
            <a:pPr algn="l" indent="0" marL="0">
              <a:buNone/>
            </a:pPr>
            <a:r>
              <a:rPr lang="en-US" sz="2800" b="1" dirty="0">
                <a:solidFill>
                  <a:schemeClr val="accent1"/>
                </a:solidFill>
              </a:rPr>
              <a:t>32</a:t>
            </a:r>
            <a:endParaRPr lang="en-US" sz="2800" dirty="0"/>
          </a:p>
        </p:txBody>
      </p:sp>
      <p:sp>
        <p:nvSpPr>
          <p:cNvPr id="8" name="Text 4"/>
          <p:cNvSpPr txBox="1"/>
          <p:nvPr/>
        </p:nvSpPr>
        <p:spPr>
          <a:xfrm>
            <a:off x="7315200" y="2514600"/>
            <a:ext cx="1755648" cy="868680"/>
          </a:xfrm>
          <a:prstGeom prst="rect">
            <a:avLst/>
          </a:prstGeom>
          <a:noFill/>
          <a:ln/>
        </p:spPr>
        <p:txBody>
          <a:bodyPr wrap="square" lIns="0" tIns="0" rIns="0" bIns="0" rtlCol="0" anchor="t"/>
          <a:lstStyle/>
          <a:p>
            <a:pPr algn="l" indent="0" marL="0">
              <a:buNone/>
            </a:pPr>
            <a:r>
              <a:rPr lang="en-US" sz="1200" dirty="0">
                <a:solidFill>
                  <a:schemeClr val="tx1"/>
                </a:solidFill>
              </a:rPr>
              <a:t>products read this domain directly: 2 foundational and 30 consumer-aligned</a:t>
            </a:r>
            <a:endParaRPr lang="en-US" sz="1200" dirty="0"/>
          </a:p>
        </p:txBody>
      </p:sp>
      <p:sp>
        <p:nvSpPr>
          <p:cNvPr id="9" name="Shape 5"/>
          <p:cNvSpPr/>
          <p:nvPr/>
        </p:nvSpPr>
        <p:spPr>
          <a:xfrm>
            <a:off x="9523476" y="1783080"/>
            <a:ext cx="2116836" cy="1691640"/>
          </a:xfrm>
          <a:prstGeom prst="roundRect">
            <a:avLst>
              <a:gd name="adj" fmla="val 4324"/>
            </a:avLst>
          </a:prstGeom>
          <a:solidFill>
            <a:schemeClr val="bg2"/>
          </a:solidFill>
          <a:ln/>
        </p:spPr>
      </p:sp>
      <p:sp>
        <p:nvSpPr>
          <p:cNvPr id="10" name="Text 6"/>
          <p:cNvSpPr txBox="1"/>
          <p:nvPr/>
        </p:nvSpPr>
        <p:spPr>
          <a:xfrm>
            <a:off x="9706356" y="1920240"/>
            <a:ext cx="1755648" cy="548640"/>
          </a:xfrm>
          <a:prstGeom prst="rect">
            <a:avLst/>
          </a:prstGeom>
          <a:noFill/>
          <a:ln/>
        </p:spPr>
        <p:txBody>
          <a:bodyPr wrap="square" lIns="0" tIns="0" rIns="0" bIns="0" rtlCol="0" anchor="ctr"/>
          <a:lstStyle/>
          <a:p>
            <a:pPr algn="l" indent="0" marL="0">
              <a:buNone/>
            </a:pPr>
            <a:r>
              <a:rPr lang="en-US" sz="2800" b="1" dirty="0">
                <a:solidFill>
                  <a:schemeClr val="accent1"/>
                </a:solidFill>
              </a:rPr>
              <a:t>46 of 48</a:t>
            </a:r>
            <a:endParaRPr lang="en-US" sz="2800" dirty="0"/>
          </a:p>
        </p:txBody>
      </p:sp>
      <p:sp>
        <p:nvSpPr>
          <p:cNvPr id="11" name="Text 7"/>
          <p:cNvSpPr txBox="1"/>
          <p:nvPr/>
        </p:nvSpPr>
        <p:spPr>
          <a:xfrm>
            <a:off x="9706356" y="2514600"/>
            <a:ext cx="1755648" cy="868680"/>
          </a:xfrm>
          <a:prstGeom prst="rect">
            <a:avLst/>
          </a:prstGeom>
          <a:noFill/>
          <a:ln/>
        </p:spPr>
        <p:txBody>
          <a:bodyPr wrap="square" lIns="0" tIns="0" rIns="0" bIns="0" rtlCol="0" anchor="t"/>
          <a:lstStyle/>
          <a:p>
            <a:pPr algn="l" indent="0" marL="0">
              <a:buNone/>
            </a:pPr>
            <a:r>
              <a:rPr lang="en-US" sz="1200" dirty="0">
                <a:solidFill>
                  <a:schemeClr val="tx1"/>
                </a:solidFill>
              </a:rPr>
              <a:t>objects are used by a product; the two commentary objects are not yet</a:t>
            </a:r>
            <a:endParaRPr lang="en-US" sz="1200" dirty="0"/>
          </a:p>
        </p:txBody>
      </p:sp>
      <p:sp>
        <p:nvSpPr>
          <p:cNvPr id="12" name="Shape 8"/>
          <p:cNvSpPr/>
          <p:nvPr/>
        </p:nvSpPr>
        <p:spPr>
          <a:xfrm>
            <a:off x="7132320" y="3657600"/>
            <a:ext cx="2116836" cy="1691640"/>
          </a:xfrm>
          <a:prstGeom prst="roundRect">
            <a:avLst>
              <a:gd name="adj" fmla="val 4324"/>
            </a:avLst>
          </a:prstGeom>
          <a:solidFill>
            <a:schemeClr val="bg2"/>
          </a:solidFill>
          <a:ln/>
        </p:spPr>
      </p:sp>
      <p:sp>
        <p:nvSpPr>
          <p:cNvPr id="13" name="Text 9"/>
          <p:cNvSpPr txBox="1"/>
          <p:nvPr/>
        </p:nvSpPr>
        <p:spPr>
          <a:xfrm>
            <a:off x="7315200" y="3794760"/>
            <a:ext cx="1755648" cy="548640"/>
          </a:xfrm>
          <a:prstGeom prst="rect">
            <a:avLst/>
          </a:prstGeom>
          <a:noFill/>
          <a:ln/>
        </p:spPr>
        <p:txBody>
          <a:bodyPr wrap="square" lIns="0" tIns="0" rIns="0" bIns="0" rtlCol="0" anchor="ctr"/>
          <a:lstStyle/>
          <a:p>
            <a:pPr algn="l" indent="0" marL="0">
              <a:buNone/>
            </a:pPr>
            <a:r>
              <a:rPr lang="en-US" sz="2800" b="1" dirty="0">
                <a:solidFill>
                  <a:schemeClr val="accent1"/>
                </a:solidFill>
              </a:rPr>
              <a:t>79%</a:t>
            </a:r>
            <a:endParaRPr lang="en-US" sz="2800" dirty="0"/>
          </a:p>
        </p:txBody>
      </p:sp>
      <p:sp>
        <p:nvSpPr>
          <p:cNvPr id="14" name="Text 10"/>
          <p:cNvSpPr txBox="1"/>
          <p:nvPr/>
        </p:nvSpPr>
        <p:spPr>
          <a:xfrm>
            <a:off x="7315200" y="4389120"/>
            <a:ext cx="1755648" cy="868680"/>
          </a:xfrm>
          <a:prstGeom prst="rect">
            <a:avLst/>
          </a:prstGeom>
          <a:noFill/>
          <a:ln/>
        </p:spPr>
        <p:txBody>
          <a:bodyPr wrap="square" lIns="0" tIns="0" rIns="0" bIns="0" rtlCol="0" anchor="t"/>
          <a:lstStyle/>
          <a:p>
            <a:pPr algn="l" indent="0" marL="0">
              <a:buNone/>
            </a:pPr>
            <a:r>
              <a:rPr lang="en-US" sz="1200" dirty="0">
                <a:solidFill>
                  <a:schemeClr val="tx1"/>
                </a:solidFill>
              </a:rPr>
              <a:t>of attributes (242 of 307) appear in a product specification</a:t>
            </a:r>
            <a:endParaRPr lang="en-US" sz="1200" dirty="0"/>
          </a:p>
        </p:txBody>
      </p:sp>
      <p:sp>
        <p:nvSpPr>
          <p:cNvPr id="15" name="Shape 11"/>
          <p:cNvSpPr/>
          <p:nvPr/>
        </p:nvSpPr>
        <p:spPr>
          <a:xfrm>
            <a:off x="9523476" y="3657600"/>
            <a:ext cx="2116836" cy="1691640"/>
          </a:xfrm>
          <a:prstGeom prst="roundRect">
            <a:avLst>
              <a:gd name="adj" fmla="val 4324"/>
            </a:avLst>
          </a:prstGeom>
          <a:solidFill>
            <a:schemeClr val="bg2"/>
          </a:solidFill>
          <a:ln/>
        </p:spPr>
      </p:sp>
      <p:sp>
        <p:nvSpPr>
          <p:cNvPr id="16" name="Text 12"/>
          <p:cNvSpPr txBox="1"/>
          <p:nvPr/>
        </p:nvSpPr>
        <p:spPr>
          <a:xfrm>
            <a:off x="9706356" y="3794760"/>
            <a:ext cx="1755648" cy="548640"/>
          </a:xfrm>
          <a:prstGeom prst="rect">
            <a:avLst/>
          </a:prstGeom>
          <a:noFill/>
          <a:ln/>
        </p:spPr>
        <p:txBody>
          <a:bodyPr wrap="square" lIns="0" tIns="0" rIns="0" bIns="0" rtlCol="0" anchor="ctr"/>
          <a:lstStyle/>
          <a:p>
            <a:pPr algn="l" indent="0" marL="0">
              <a:buNone/>
            </a:pPr>
            <a:r>
              <a:rPr lang="en-US" sz="2800" b="1" dirty="0">
                <a:solidFill>
                  <a:schemeClr val="accent1"/>
                </a:solidFill>
              </a:rPr>
              <a:t>13</a:t>
            </a:r>
            <a:endParaRPr lang="en-US" sz="2800" dirty="0"/>
          </a:p>
        </p:txBody>
      </p:sp>
      <p:sp>
        <p:nvSpPr>
          <p:cNvPr id="17" name="Text 13"/>
          <p:cNvSpPr txBox="1"/>
          <p:nvPr/>
        </p:nvSpPr>
        <p:spPr>
          <a:xfrm>
            <a:off x="9706356" y="4389120"/>
            <a:ext cx="1755648" cy="868680"/>
          </a:xfrm>
          <a:prstGeom prst="rect">
            <a:avLst/>
          </a:prstGeom>
          <a:noFill/>
          <a:ln/>
        </p:spPr>
        <p:txBody>
          <a:bodyPr wrap="square" lIns="0" tIns="0" rIns="0" bIns="0" rtlCol="0" anchor="t"/>
          <a:lstStyle/>
          <a:p>
            <a:pPr algn="l" indent="0" marL="0">
              <a:buNone/>
            </a:pPr>
            <a:r>
              <a:rPr lang="en-US" sz="1200" dirty="0">
                <a:solidFill>
                  <a:schemeClr val="tx1"/>
                </a:solidFill>
              </a:rPr>
              <a:t>are regulatory and control products, the largest group of the 32</a:t>
            </a:r>
            <a:endParaRPr lang="en-US" sz="1200" dirty="0"/>
          </a:p>
        </p:txBody>
      </p:sp>
      <p:sp>
        <p:nvSpPr>
          <p:cNvPr id="18" name="Text 14"/>
          <p:cNvSpPr txBox="1"/>
          <p:nvPr/>
        </p:nvSpPr>
        <p:spPr>
          <a:xfrm>
            <a:off x="7132320" y="5623560"/>
            <a:ext cx="4507992" cy="457200"/>
          </a:xfrm>
          <a:prstGeom prst="rect">
            <a:avLst/>
          </a:prstGeom>
          <a:noFill/>
          <a:ln/>
        </p:spPr>
        <p:txBody>
          <a:bodyPr wrap="square" lIns="0" tIns="0" rIns="0" bIns="0" rtlCol="0" anchor="t"/>
          <a:lstStyle/>
          <a:p>
            <a:pPr algn="l" indent="0" marL="0">
              <a:buNone/>
            </a:pPr>
            <a:r>
              <a:rPr lang="en-US" sz="1200" dirty="0">
                <a:solidFill>
                  <a:schemeClr val="tx2"/>
                </a:solidFill>
              </a:rPr>
              <a:t>By type: 13 regulatory and control, 11 analytical, 6 operational, 2 master and reference.</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DATA PRODUCTS  |  OWNED BY THIS DOMAIN</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Five products are owned by this domain</a:t>
            </a:r>
            <a:endParaRPr lang="en-US" sz="3600" dirty="0"/>
          </a:p>
        </p:txBody>
      </p:sp>
      <p:sp>
        <p:nvSpPr>
          <p:cNvPr id="5" name="Text 2"/>
          <p:cNvSpPr txBox="1"/>
          <p:nvPr/>
        </p:nvSpPr>
        <p:spPr>
          <a:xfrm>
            <a:off x="9326880" y="1764792"/>
            <a:ext cx="2313432" cy="228600"/>
          </a:xfrm>
          <a:prstGeom prst="rect">
            <a:avLst/>
          </a:prstGeom>
          <a:noFill/>
          <a:ln/>
        </p:spPr>
        <p:txBody>
          <a:bodyPr wrap="square" lIns="0" tIns="0" rIns="0" bIns="0" rtlCol="0" anchor="ctr"/>
          <a:lstStyle/>
          <a:p>
            <a:pPr algn="l" indent="0" marL="0">
              <a:buNone/>
            </a:pPr>
            <a:r>
              <a:rPr lang="en-US" sz="1000" b="1" spc="100" kern="0" dirty="0">
                <a:solidFill>
                  <a:schemeClr val="tx2"/>
                </a:solidFill>
              </a:rPr>
              <a:t>INPUTS FROM THIS DOMAIN</a:t>
            </a:r>
            <a:endParaRPr lang="en-US" sz="1000" dirty="0"/>
          </a:p>
        </p:txBody>
      </p:sp>
      <p:sp>
        <p:nvSpPr>
          <p:cNvPr id="6" name="Shape 3"/>
          <p:cNvSpPr/>
          <p:nvPr/>
        </p:nvSpPr>
        <p:spPr>
          <a:xfrm>
            <a:off x="548640" y="2057400"/>
            <a:ext cx="11091672" cy="731520"/>
          </a:xfrm>
          <a:prstGeom prst="roundRect">
            <a:avLst>
              <a:gd name="adj" fmla="val 10000"/>
            </a:avLst>
          </a:prstGeom>
          <a:solidFill>
            <a:schemeClr val="bg2"/>
          </a:solidFill>
          <a:ln/>
        </p:spPr>
      </p:sp>
      <p:sp>
        <p:nvSpPr>
          <p:cNvPr id="7" name="Text 4"/>
          <p:cNvSpPr/>
          <p:nvPr/>
        </p:nvSpPr>
        <p:spPr>
          <a:xfrm>
            <a:off x="731520" y="2249424"/>
            <a:ext cx="914400" cy="347472"/>
          </a:xfrm>
          <a:prstGeom prst="roundRect">
            <a:avLst>
              <a:gd name="adj" fmla="val 15789"/>
            </a:avLst>
          </a:prstGeom>
          <a:solidFill>
            <a:schemeClr val="accent1"/>
          </a:solidFill>
          <a:ln/>
        </p:spPr>
        <p:txBody>
          <a:bodyPr wrap="square" lIns="0" tIns="0" rIns="0" bIns="0" rtlCol="0" anchor="ctr"/>
          <a:lstStyle/>
          <a:p>
            <a:pPr algn="ctr" indent="0" marL="0">
              <a:buNone/>
            </a:pPr>
            <a:r>
              <a:rPr lang="en-US" sz="1200" b="1" dirty="0">
                <a:solidFill>
                  <a:schemeClr val="bg1"/>
                </a:solidFill>
              </a:rPr>
              <a:t>DP-004</a:t>
            </a:r>
            <a:endParaRPr lang="en-US" sz="1200" dirty="0"/>
          </a:p>
        </p:txBody>
      </p:sp>
      <p:sp>
        <p:nvSpPr>
          <p:cNvPr id="8" name="Text 5"/>
          <p:cNvSpPr txBox="1"/>
          <p:nvPr/>
        </p:nvSpPr>
        <p:spPr>
          <a:xfrm>
            <a:off x="1828800" y="2112264"/>
            <a:ext cx="3749040" cy="420624"/>
          </a:xfrm>
          <a:prstGeom prst="rect">
            <a:avLst/>
          </a:prstGeom>
          <a:noFill/>
          <a:ln/>
        </p:spPr>
        <p:txBody>
          <a:bodyPr wrap="square" lIns="0" tIns="0" rIns="0" bIns="0" rtlCol="0" anchor="ctr"/>
          <a:lstStyle/>
          <a:p>
            <a:pPr algn="l" indent="0" marL="0">
              <a:buNone/>
            </a:pPr>
            <a:r>
              <a:rPr lang="en-US" sz="1300" b="1" dirty="0">
                <a:solidFill>
                  <a:schemeClr val="tx1"/>
                </a:solidFill>
              </a:rPr>
              <a:t>Product &amp; Share Class Distribution Reference</a:t>
            </a:r>
            <a:endParaRPr lang="en-US" sz="1300" dirty="0"/>
          </a:p>
        </p:txBody>
      </p:sp>
      <p:sp>
        <p:nvSpPr>
          <p:cNvPr id="9" name="Text 6"/>
          <p:cNvSpPr txBox="1"/>
          <p:nvPr/>
        </p:nvSpPr>
        <p:spPr>
          <a:xfrm>
            <a:off x="1828800" y="2532888"/>
            <a:ext cx="3749040" cy="201168"/>
          </a:xfrm>
          <a:prstGeom prst="rect">
            <a:avLst/>
          </a:prstGeom>
          <a:noFill/>
          <a:ln/>
        </p:spPr>
        <p:txBody>
          <a:bodyPr wrap="square" lIns="0" tIns="0" rIns="0" bIns="0" rtlCol="0" anchor="ctr"/>
          <a:lstStyle/>
          <a:p>
            <a:pPr algn="l" indent="0" marL="0">
              <a:buNone/>
            </a:pPr>
            <a:r>
              <a:rPr lang="en-US" sz="1000" dirty="0">
                <a:solidFill>
                  <a:schemeClr val="tx2"/>
                </a:solidFill>
              </a:rPr>
              <a:t>Foundational  |  Product management</a:t>
            </a:r>
            <a:endParaRPr lang="en-US" sz="1000" dirty="0"/>
          </a:p>
        </p:txBody>
      </p:sp>
      <p:sp>
        <p:nvSpPr>
          <p:cNvPr id="10" name="Text 7"/>
          <p:cNvSpPr txBox="1"/>
          <p:nvPr/>
        </p:nvSpPr>
        <p:spPr>
          <a:xfrm>
            <a:off x="5760720" y="2057400"/>
            <a:ext cx="3383280" cy="731520"/>
          </a:xfrm>
          <a:prstGeom prst="rect">
            <a:avLst/>
          </a:prstGeom>
          <a:noFill/>
          <a:ln/>
        </p:spPr>
        <p:txBody>
          <a:bodyPr wrap="square" lIns="0" tIns="0" rIns="0" bIns="0" rtlCol="0" anchor="ctr"/>
          <a:lstStyle/>
          <a:p>
            <a:pPr algn="l" indent="0" marL="0">
              <a:buNone/>
            </a:pPr>
            <a:r>
              <a:rPr lang="en-US" sz="1200" dirty="0">
                <a:solidFill>
                  <a:schemeClr val="tx1"/>
                </a:solidFill>
              </a:rPr>
              <a:t>The conformed record of every strategy, product and share class, reused by other products.</a:t>
            </a:r>
            <a:endParaRPr lang="en-US" sz="1200" dirty="0"/>
          </a:p>
        </p:txBody>
      </p:sp>
      <p:sp>
        <p:nvSpPr>
          <p:cNvPr id="11" name="Shape 8"/>
          <p:cNvSpPr/>
          <p:nvPr/>
        </p:nvSpPr>
        <p:spPr>
          <a:xfrm>
            <a:off x="9326880" y="2359152"/>
            <a:ext cx="1371600" cy="128016"/>
          </a:xfrm>
          <a:prstGeom prst="rect">
            <a:avLst/>
          </a:prstGeom>
          <a:solidFill>
            <a:schemeClr val="bg1"/>
          </a:solidFill>
          <a:ln/>
        </p:spPr>
      </p:sp>
      <p:sp>
        <p:nvSpPr>
          <p:cNvPr id="12" name="Shape 9"/>
          <p:cNvSpPr/>
          <p:nvPr/>
        </p:nvSpPr>
        <p:spPr>
          <a:xfrm>
            <a:off x="9326880" y="2359152"/>
            <a:ext cx="1371600" cy="128016"/>
          </a:xfrm>
          <a:prstGeom prst="rect">
            <a:avLst/>
          </a:prstGeom>
          <a:solidFill>
            <a:schemeClr val="accent1"/>
          </a:solidFill>
          <a:ln/>
        </p:spPr>
      </p:sp>
      <p:sp>
        <p:nvSpPr>
          <p:cNvPr id="13" name="Text 10"/>
          <p:cNvSpPr txBox="1"/>
          <p:nvPr/>
        </p:nvSpPr>
        <p:spPr>
          <a:xfrm>
            <a:off x="10789920" y="2057400"/>
            <a:ext cx="822960" cy="731520"/>
          </a:xfrm>
          <a:prstGeom prst="rect">
            <a:avLst/>
          </a:prstGeom>
          <a:noFill/>
          <a:ln/>
        </p:spPr>
        <p:txBody>
          <a:bodyPr wrap="square" lIns="0" tIns="0" rIns="0" bIns="0" rtlCol="0" anchor="ctr"/>
          <a:lstStyle/>
          <a:p>
            <a:pPr algn="l" indent="0" marL="0">
              <a:buNone/>
            </a:pPr>
            <a:r>
              <a:rPr lang="en-US" sz="1200" b="1" dirty="0">
                <a:solidFill>
                  <a:schemeClr val="tx1"/>
                </a:solidFill>
              </a:rPr>
              <a:t>97 of 97</a:t>
            </a:r>
            <a:endParaRPr lang="en-US" sz="1200" dirty="0"/>
          </a:p>
        </p:txBody>
      </p:sp>
      <p:sp>
        <p:nvSpPr>
          <p:cNvPr id="14" name="Shape 11"/>
          <p:cNvSpPr/>
          <p:nvPr/>
        </p:nvSpPr>
        <p:spPr>
          <a:xfrm>
            <a:off x="548640" y="2880360"/>
            <a:ext cx="11091672" cy="731520"/>
          </a:xfrm>
          <a:prstGeom prst="roundRect">
            <a:avLst>
              <a:gd name="adj" fmla="val 10000"/>
            </a:avLst>
          </a:prstGeom>
          <a:solidFill>
            <a:schemeClr val="bg2"/>
          </a:solidFill>
          <a:ln/>
        </p:spPr>
      </p:sp>
      <p:sp>
        <p:nvSpPr>
          <p:cNvPr id="15" name="Text 12"/>
          <p:cNvSpPr/>
          <p:nvPr/>
        </p:nvSpPr>
        <p:spPr>
          <a:xfrm>
            <a:off x="731520" y="3072384"/>
            <a:ext cx="914400" cy="347472"/>
          </a:xfrm>
          <a:prstGeom prst="roundRect">
            <a:avLst>
              <a:gd name="adj" fmla="val 15789"/>
            </a:avLst>
          </a:prstGeom>
          <a:solidFill>
            <a:schemeClr val="accent1"/>
          </a:solidFill>
          <a:ln/>
        </p:spPr>
        <p:txBody>
          <a:bodyPr wrap="square" lIns="0" tIns="0" rIns="0" bIns="0" rtlCol="0" anchor="ctr"/>
          <a:lstStyle/>
          <a:p>
            <a:pPr algn="ctr" indent="0" marL="0">
              <a:buNone/>
            </a:pPr>
            <a:r>
              <a:rPr lang="en-US" sz="1200" b="1" dirty="0">
                <a:solidFill>
                  <a:schemeClr val="bg1"/>
                </a:solidFill>
              </a:rPr>
              <a:t>DP-079</a:t>
            </a:r>
            <a:endParaRPr lang="en-US" sz="1200" dirty="0"/>
          </a:p>
        </p:txBody>
      </p:sp>
      <p:sp>
        <p:nvSpPr>
          <p:cNvPr id="16" name="Text 13"/>
          <p:cNvSpPr txBox="1"/>
          <p:nvPr/>
        </p:nvSpPr>
        <p:spPr>
          <a:xfrm>
            <a:off x="1828800" y="2935224"/>
            <a:ext cx="3749040" cy="420624"/>
          </a:xfrm>
          <a:prstGeom prst="rect">
            <a:avLst/>
          </a:prstGeom>
          <a:noFill/>
          <a:ln/>
        </p:spPr>
        <p:txBody>
          <a:bodyPr wrap="square" lIns="0" tIns="0" rIns="0" bIns="0" rtlCol="0" anchor="ctr"/>
          <a:lstStyle/>
          <a:p>
            <a:pPr algn="l" indent="0" marL="0">
              <a:buNone/>
            </a:pPr>
            <a:r>
              <a:rPr lang="en-US" sz="1300" b="1" dirty="0">
                <a:solidFill>
                  <a:schemeClr val="tx1"/>
                </a:solidFill>
              </a:rPr>
              <a:t>Fund Dealing &amp; Operational Reference for Intermediaries</a:t>
            </a:r>
            <a:endParaRPr lang="en-US" sz="1300" dirty="0"/>
          </a:p>
        </p:txBody>
      </p:sp>
      <p:sp>
        <p:nvSpPr>
          <p:cNvPr id="17" name="Text 14"/>
          <p:cNvSpPr txBox="1"/>
          <p:nvPr/>
        </p:nvSpPr>
        <p:spPr>
          <a:xfrm>
            <a:off x="1828800" y="3355848"/>
            <a:ext cx="3749040" cy="201168"/>
          </a:xfrm>
          <a:prstGeom prst="rect">
            <a:avLst/>
          </a:prstGeom>
          <a:noFill/>
          <a:ln/>
        </p:spPr>
        <p:txBody>
          <a:bodyPr wrap="square" lIns="0" tIns="0" rIns="0" bIns="0" rtlCol="0" anchor="ctr"/>
          <a:lstStyle/>
          <a:p>
            <a:pPr algn="l" indent="0" marL="0">
              <a:buNone/>
            </a:pPr>
            <a:r>
              <a:rPr lang="en-US" sz="1000" dirty="0">
                <a:solidFill>
                  <a:schemeClr val="tx2"/>
                </a:solidFill>
              </a:rPr>
              <a:t>Operational  |  Investor servicing and fund operations</a:t>
            </a:r>
            <a:endParaRPr lang="en-US" sz="1000" dirty="0"/>
          </a:p>
        </p:txBody>
      </p:sp>
      <p:sp>
        <p:nvSpPr>
          <p:cNvPr id="18" name="Text 15"/>
          <p:cNvSpPr txBox="1"/>
          <p:nvPr/>
        </p:nvSpPr>
        <p:spPr>
          <a:xfrm>
            <a:off x="5760720" y="2880360"/>
            <a:ext cx="3383280" cy="731520"/>
          </a:xfrm>
          <a:prstGeom prst="rect">
            <a:avLst/>
          </a:prstGeom>
          <a:noFill/>
          <a:ln/>
        </p:spPr>
        <p:txBody>
          <a:bodyPr wrap="square" lIns="0" tIns="0" rIns="0" bIns="0" rtlCol="0" anchor="ctr"/>
          <a:lstStyle/>
          <a:p>
            <a:pPr algn="l" indent="0" marL="0">
              <a:buNone/>
            </a:pPr>
            <a:r>
              <a:rPr lang="en-US" sz="1200" dirty="0">
                <a:solidFill>
                  <a:schemeClr val="tx1"/>
                </a:solidFill>
              </a:rPr>
              <a:t>The dealing, settlement, valuation, listing and tax terms an intermediary needs to trade each share class.</a:t>
            </a:r>
            <a:endParaRPr lang="en-US" sz="1200" dirty="0"/>
          </a:p>
        </p:txBody>
      </p:sp>
      <p:sp>
        <p:nvSpPr>
          <p:cNvPr id="19" name="Shape 16"/>
          <p:cNvSpPr/>
          <p:nvPr/>
        </p:nvSpPr>
        <p:spPr>
          <a:xfrm>
            <a:off x="9326880" y="3182112"/>
            <a:ext cx="1371600" cy="128016"/>
          </a:xfrm>
          <a:prstGeom prst="rect">
            <a:avLst/>
          </a:prstGeom>
          <a:solidFill>
            <a:schemeClr val="bg1"/>
          </a:solidFill>
          <a:ln/>
        </p:spPr>
      </p:sp>
      <p:sp>
        <p:nvSpPr>
          <p:cNvPr id="20" name="Shape 17"/>
          <p:cNvSpPr/>
          <p:nvPr/>
        </p:nvSpPr>
        <p:spPr>
          <a:xfrm>
            <a:off x="9326880" y="3182112"/>
            <a:ext cx="914400" cy="128016"/>
          </a:xfrm>
          <a:prstGeom prst="rect">
            <a:avLst/>
          </a:prstGeom>
          <a:solidFill>
            <a:schemeClr val="accent1"/>
          </a:solidFill>
          <a:ln/>
        </p:spPr>
      </p:sp>
      <p:sp>
        <p:nvSpPr>
          <p:cNvPr id="21" name="Text 18"/>
          <p:cNvSpPr txBox="1"/>
          <p:nvPr/>
        </p:nvSpPr>
        <p:spPr>
          <a:xfrm>
            <a:off x="10789920" y="2880360"/>
            <a:ext cx="822960" cy="731520"/>
          </a:xfrm>
          <a:prstGeom prst="rect">
            <a:avLst/>
          </a:prstGeom>
          <a:noFill/>
          <a:ln/>
        </p:spPr>
        <p:txBody>
          <a:bodyPr wrap="square" lIns="0" tIns="0" rIns="0" bIns="0" rtlCol="0" anchor="ctr"/>
          <a:lstStyle/>
          <a:p>
            <a:pPr algn="l" indent="0" marL="0">
              <a:buNone/>
            </a:pPr>
            <a:r>
              <a:rPr lang="en-US" sz="1200" b="1" dirty="0">
                <a:solidFill>
                  <a:schemeClr val="tx1"/>
                </a:solidFill>
              </a:rPr>
              <a:t>58 of 87</a:t>
            </a:r>
            <a:endParaRPr lang="en-US" sz="1200" dirty="0"/>
          </a:p>
        </p:txBody>
      </p:sp>
      <p:sp>
        <p:nvSpPr>
          <p:cNvPr id="22" name="Shape 19"/>
          <p:cNvSpPr/>
          <p:nvPr/>
        </p:nvSpPr>
        <p:spPr>
          <a:xfrm>
            <a:off x="548640" y="3703320"/>
            <a:ext cx="11091672" cy="731520"/>
          </a:xfrm>
          <a:prstGeom prst="roundRect">
            <a:avLst>
              <a:gd name="adj" fmla="val 10000"/>
            </a:avLst>
          </a:prstGeom>
          <a:solidFill>
            <a:schemeClr val="bg2"/>
          </a:solidFill>
          <a:ln/>
        </p:spPr>
      </p:sp>
      <p:sp>
        <p:nvSpPr>
          <p:cNvPr id="23" name="Text 20"/>
          <p:cNvSpPr/>
          <p:nvPr/>
        </p:nvSpPr>
        <p:spPr>
          <a:xfrm>
            <a:off x="731520" y="3895344"/>
            <a:ext cx="914400" cy="347472"/>
          </a:xfrm>
          <a:prstGeom prst="roundRect">
            <a:avLst>
              <a:gd name="adj" fmla="val 15789"/>
            </a:avLst>
          </a:prstGeom>
          <a:solidFill>
            <a:schemeClr val="accent1"/>
          </a:solidFill>
          <a:ln/>
        </p:spPr>
        <p:txBody>
          <a:bodyPr wrap="square" lIns="0" tIns="0" rIns="0" bIns="0" rtlCol="0" anchor="ctr"/>
          <a:lstStyle/>
          <a:p>
            <a:pPr algn="ctr" indent="0" marL="0">
              <a:buNone/>
            </a:pPr>
            <a:r>
              <a:rPr lang="en-US" sz="1200" b="1" dirty="0">
                <a:solidFill>
                  <a:schemeClr val="bg1"/>
                </a:solidFill>
              </a:rPr>
              <a:t>DP-064</a:t>
            </a:r>
            <a:endParaRPr lang="en-US" sz="1200" dirty="0"/>
          </a:p>
        </p:txBody>
      </p:sp>
      <p:sp>
        <p:nvSpPr>
          <p:cNvPr id="24" name="Text 21"/>
          <p:cNvSpPr txBox="1"/>
          <p:nvPr/>
        </p:nvSpPr>
        <p:spPr>
          <a:xfrm>
            <a:off x="1828800" y="3758184"/>
            <a:ext cx="3749040" cy="420624"/>
          </a:xfrm>
          <a:prstGeom prst="rect">
            <a:avLst/>
          </a:prstGeom>
          <a:noFill/>
          <a:ln/>
        </p:spPr>
        <p:txBody>
          <a:bodyPr wrap="square" lIns="0" tIns="0" rIns="0" bIns="0" rtlCol="0" anchor="ctr"/>
          <a:lstStyle/>
          <a:p>
            <a:pPr algn="l" indent="0" marL="0">
              <a:buNone/>
            </a:pPr>
            <a:r>
              <a:rPr lang="en-US" sz="1300" b="1" dirty="0">
                <a:solidFill>
                  <a:schemeClr val="tx1"/>
                </a:solidFill>
              </a:rPr>
              <a:t>FinDatEx EMT / EPT / EET Distributor Feed</a:t>
            </a:r>
            <a:endParaRPr lang="en-US" sz="1300" dirty="0"/>
          </a:p>
        </p:txBody>
      </p:sp>
      <p:sp>
        <p:nvSpPr>
          <p:cNvPr id="25" name="Text 22"/>
          <p:cNvSpPr txBox="1"/>
          <p:nvPr/>
        </p:nvSpPr>
        <p:spPr>
          <a:xfrm>
            <a:off x="1828800" y="4178808"/>
            <a:ext cx="3749040" cy="201168"/>
          </a:xfrm>
          <a:prstGeom prst="rect">
            <a:avLst/>
          </a:prstGeom>
          <a:noFill/>
          <a:ln/>
        </p:spPr>
        <p:txBody>
          <a:bodyPr wrap="square" lIns="0" tIns="0" rIns="0" bIns="0" rtlCol="0" anchor="ctr"/>
          <a:lstStyle/>
          <a:p>
            <a:pPr algn="l" indent="0" marL="0">
              <a:buNone/>
            </a:pPr>
            <a:r>
              <a:rPr lang="en-US" sz="1000" dirty="0">
                <a:solidFill>
                  <a:schemeClr val="tx2"/>
                </a:solidFill>
              </a:rPr>
              <a:t>Operational  |  EU / UK cross-border distribution</a:t>
            </a:r>
            <a:endParaRPr lang="en-US" sz="1000" dirty="0"/>
          </a:p>
        </p:txBody>
      </p:sp>
      <p:sp>
        <p:nvSpPr>
          <p:cNvPr id="26" name="Text 23"/>
          <p:cNvSpPr txBox="1"/>
          <p:nvPr/>
        </p:nvSpPr>
        <p:spPr>
          <a:xfrm>
            <a:off x="5760720" y="3703320"/>
            <a:ext cx="3383280" cy="731520"/>
          </a:xfrm>
          <a:prstGeom prst="rect">
            <a:avLst/>
          </a:prstGeom>
          <a:noFill/>
          <a:ln/>
        </p:spPr>
        <p:txBody>
          <a:bodyPr wrap="square" lIns="0" tIns="0" rIns="0" bIns="0" rtlCol="0" anchor="ctr"/>
          <a:lstStyle/>
          <a:p>
            <a:pPr algn="l" indent="0" marL="0">
              <a:buNone/>
            </a:pPr>
            <a:r>
              <a:rPr lang="en-US" sz="1200" dirty="0">
                <a:solidFill>
                  <a:schemeClr val="tx1"/>
                </a:solidFill>
              </a:rPr>
              <a:t>Validated EMT, EPT and EET template data for each share class distributed in the EEA and UK.</a:t>
            </a:r>
            <a:endParaRPr lang="en-US" sz="1200" dirty="0"/>
          </a:p>
        </p:txBody>
      </p:sp>
      <p:sp>
        <p:nvSpPr>
          <p:cNvPr id="27" name="Shape 24"/>
          <p:cNvSpPr/>
          <p:nvPr/>
        </p:nvSpPr>
        <p:spPr>
          <a:xfrm>
            <a:off x="9326880" y="4005072"/>
            <a:ext cx="1371600" cy="128016"/>
          </a:xfrm>
          <a:prstGeom prst="rect">
            <a:avLst/>
          </a:prstGeom>
          <a:solidFill>
            <a:schemeClr val="bg1"/>
          </a:solidFill>
          <a:ln/>
        </p:spPr>
      </p:sp>
      <p:sp>
        <p:nvSpPr>
          <p:cNvPr id="28" name="Shape 25"/>
          <p:cNvSpPr/>
          <p:nvPr/>
        </p:nvSpPr>
        <p:spPr>
          <a:xfrm>
            <a:off x="9326880" y="4005072"/>
            <a:ext cx="1224643" cy="128016"/>
          </a:xfrm>
          <a:prstGeom prst="rect">
            <a:avLst/>
          </a:prstGeom>
          <a:solidFill>
            <a:schemeClr val="accent1"/>
          </a:solidFill>
          <a:ln/>
        </p:spPr>
      </p:sp>
      <p:sp>
        <p:nvSpPr>
          <p:cNvPr id="29" name="Text 26"/>
          <p:cNvSpPr txBox="1"/>
          <p:nvPr/>
        </p:nvSpPr>
        <p:spPr>
          <a:xfrm>
            <a:off x="10789920" y="3703320"/>
            <a:ext cx="822960" cy="731520"/>
          </a:xfrm>
          <a:prstGeom prst="rect">
            <a:avLst/>
          </a:prstGeom>
          <a:noFill/>
          <a:ln/>
        </p:spPr>
        <p:txBody>
          <a:bodyPr wrap="square" lIns="0" tIns="0" rIns="0" bIns="0" rtlCol="0" anchor="ctr"/>
          <a:lstStyle/>
          <a:p>
            <a:pPr algn="l" indent="0" marL="0">
              <a:buNone/>
            </a:pPr>
            <a:r>
              <a:rPr lang="en-US" sz="1200" b="1" dirty="0">
                <a:solidFill>
                  <a:schemeClr val="tx1"/>
                </a:solidFill>
              </a:rPr>
              <a:t>50 of 56</a:t>
            </a:r>
            <a:endParaRPr lang="en-US" sz="1200" dirty="0"/>
          </a:p>
        </p:txBody>
      </p:sp>
      <p:sp>
        <p:nvSpPr>
          <p:cNvPr id="30" name="Shape 27"/>
          <p:cNvSpPr/>
          <p:nvPr/>
        </p:nvSpPr>
        <p:spPr>
          <a:xfrm>
            <a:off x="548640" y="4526280"/>
            <a:ext cx="11091672" cy="731520"/>
          </a:xfrm>
          <a:prstGeom prst="roundRect">
            <a:avLst>
              <a:gd name="adj" fmla="val 10000"/>
            </a:avLst>
          </a:prstGeom>
          <a:solidFill>
            <a:schemeClr val="bg2"/>
          </a:solidFill>
          <a:ln/>
        </p:spPr>
      </p:sp>
      <p:sp>
        <p:nvSpPr>
          <p:cNvPr id="31" name="Text 28"/>
          <p:cNvSpPr/>
          <p:nvPr/>
        </p:nvSpPr>
        <p:spPr>
          <a:xfrm>
            <a:off x="731520" y="4718304"/>
            <a:ext cx="914400" cy="347472"/>
          </a:xfrm>
          <a:prstGeom prst="roundRect">
            <a:avLst>
              <a:gd name="adj" fmla="val 15789"/>
            </a:avLst>
          </a:prstGeom>
          <a:solidFill>
            <a:schemeClr val="accent1"/>
          </a:solidFill>
          <a:ln/>
        </p:spPr>
        <p:txBody>
          <a:bodyPr wrap="square" lIns="0" tIns="0" rIns="0" bIns="0" rtlCol="0" anchor="ctr"/>
          <a:lstStyle/>
          <a:p>
            <a:pPr algn="ctr" indent="0" marL="0">
              <a:buNone/>
            </a:pPr>
            <a:r>
              <a:rPr lang="en-US" sz="1200" b="1" dirty="0">
                <a:solidFill>
                  <a:schemeClr val="bg1"/>
                </a:solidFill>
              </a:rPr>
              <a:t>DP-058</a:t>
            </a:r>
            <a:endParaRPr lang="en-US" sz="1200" dirty="0"/>
          </a:p>
        </p:txBody>
      </p:sp>
      <p:sp>
        <p:nvSpPr>
          <p:cNvPr id="32" name="Text 29"/>
          <p:cNvSpPr txBox="1"/>
          <p:nvPr/>
        </p:nvSpPr>
        <p:spPr>
          <a:xfrm>
            <a:off x="1828800" y="4581144"/>
            <a:ext cx="3749040" cy="420624"/>
          </a:xfrm>
          <a:prstGeom prst="rect">
            <a:avLst/>
          </a:prstGeom>
          <a:noFill/>
          <a:ln/>
        </p:spPr>
        <p:txBody>
          <a:bodyPr wrap="square" lIns="0" tIns="0" rIns="0" bIns="0" rtlCol="0" anchor="ctr"/>
          <a:lstStyle/>
          <a:p>
            <a:pPr algn="l" indent="0" marL="0">
              <a:buNone/>
            </a:pPr>
            <a:r>
              <a:rPr lang="en-US" sz="1300" b="1" dirty="0">
                <a:solidFill>
                  <a:schemeClr val="tx1"/>
                </a:solidFill>
              </a:rPr>
              <a:t>Product Launch Readiness &amp; Tracking</a:t>
            </a:r>
            <a:endParaRPr lang="en-US" sz="1300" dirty="0"/>
          </a:p>
        </p:txBody>
      </p:sp>
      <p:sp>
        <p:nvSpPr>
          <p:cNvPr id="33" name="Text 30"/>
          <p:cNvSpPr txBox="1"/>
          <p:nvPr/>
        </p:nvSpPr>
        <p:spPr>
          <a:xfrm>
            <a:off x="1828800" y="5001768"/>
            <a:ext cx="3749040" cy="201168"/>
          </a:xfrm>
          <a:prstGeom prst="rect">
            <a:avLst/>
          </a:prstGeom>
          <a:noFill/>
          <a:ln/>
        </p:spPr>
        <p:txBody>
          <a:bodyPr wrap="square" lIns="0" tIns="0" rIns="0" bIns="0" rtlCol="0" anchor="ctr"/>
          <a:lstStyle/>
          <a:p>
            <a:pPr algn="l" indent="0" marL="0">
              <a:buNone/>
            </a:pPr>
            <a:r>
              <a:rPr lang="en-US" sz="1000" dirty="0">
                <a:solidFill>
                  <a:schemeClr val="tx2"/>
                </a:solidFill>
              </a:rPr>
              <a:t>Operational  |  Product management</a:t>
            </a:r>
            <a:endParaRPr lang="en-US" sz="1000" dirty="0"/>
          </a:p>
        </p:txBody>
      </p:sp>
      <p:sp>
        <p:nvSpPr>
          <p:cNvPr id="34" name="Text 31"/>
          <p:cNvSpPr txBox="1"/>
          <p:nvPr/>
        </p:nvSpPr>
        <p:spPr>
          <a:xfrm>
            <a:off x="5760720" y="4526280"/>
            <a:ext cx="3383280" cy="731520"/>
          </a:xfrm>
          <a:prstGeom prst="rect">
            <a:avLst/>
          </a:prstGeom>
          <a:noFill/>
          <a:ln/>
        </p:spPr>
        <p:txBody>
          <a:bodyPr wrap="square" lIns="0" tIns="0" rIns="0" bIns="0" rtlCol="0" anchor="ctr"/>
          <a:lstStyle/>
          <a:p>
            <a:pPr algn="l" indent="0" marL="0">
              <a:buNone/>
            </a:pPr>
            <a:r>
              <a:rPr lang="en-US" sz="1200" dirty="0">
                <a:solidFill>
                  <a:schemeClr val="tx1"/>
                </a:solidFill>
              </a:rPr>
              <a:t>A daily launch tracker from approval to first sale: identifiers, registrations, documents, shelf.</a:t>
            </a:r>
            <a:endParaRPr lang="en-US" sz="1200" dirty="0"/>
          </a:p>
        </p:txBody>
      </p:sp>
      <p:sp>
        <p:nvSpPr>
          <p:cNvPr id="35" name="Shape 32"/>
          <p:cNvSpPr/>
          <p:nvPr/>
        </p:nvSpPr>
        <p:spPr>
          <a:xfrm>
            <a:off x="9326880" y="4828032"/>
            <a:ext cx="1371600" cy="128016"/>
          </a:xfrm>
          <a:prstGeom prst="rect">
            <a:avLst/>
          </a:prstGeom>
          <a:solidFill>
            <a:schemeClr val="bg1"/>
          </a:solidFill>
          <a:ln/>
        </p:spPr>
      </p:sp>
      <p:sp>
        <p:nvSpPr>
          <p:cNvPr id="36" name="Shape 33"/>
          <p:cNvSpPr/>
          <p:nvPr/>
        </p:nvSpPr>
        <p:spPr>
          <a:xfrm>
            <a:off x="9326880" y="4828032"/>
            <a:ext cx="629587" cy="128016"/>
          </a:xfrm>
          <a:prstGeom prst="rect">
            <a:avLst/>
          </a:prstGeom>
          <a:solidFill>
            <a:schemeClr val="accent1"/>
          </a:solidFill>
          <a:ln/>
        </p:spPr>
      </p:sp>
      <p:sp>
        <p:nvSpPr>
          <p:cNvPr id="37" name="Text 34"/>
          <p:cNvSpPr txBox="1"/>
          <p:nvPr/>
        </p:nvSpPr>
        <p:spPr>
          <a:xfrm>
            <a:off x="10789920" y="4526280"/>
            <a:ext cx="822960" cy="731520"/>
          </a:xfrm>
          <a:prstGeom prst="rect">
            <a:avLst/>
          </a:prstGeom>
          <a:noFill/>
          <a:ln/>
        </p:spPr>
        <p:txBody>
          <a:bodyPr wrap="square" lIns="0" tIns="0" rIns="0" bIns="0" rtlCol="0" anchor="ctr"/>
          <a:lstStyle/>
          <a:p>
            <a:pPr algn="l" indent="0" marL="0">
              <a:buNone/>
            </a:pPr>
            <a:r>
              <a:rPr lang="en-US" sz="1200" b="1" dirty="0">
                <a:solidFill>
                  <a:schemeClr val="tx1"/>
                </a:solidFill>
              </a:rPr>
              <a:t>28 of 61</a:t>
            </a:r>
            <a:endParaRPr lang="en-US" sz="1200" dirty="0"/>
          </a:p>
        </p:txBody>
      </p:sp>
      <p:sp>
        <p:nvSpPr>
          <p:cNvPr id="38" name="Shape 35"/>
          <p:cNvSpPr/>
          <p:nvPr/>
        </p:nvSpPr>
        <p:spPr>
          <a:xfrm>
            <a:off x="548640" y="5349240"/>
            <a:ext cx="11091672" cy="731520"/>
          </a:xfrm>
          <a:prstGeom prst="roundRect">
            <a:avLst>
              <a:gd name="adj" fmla="val 10000"/>
            </a:avLst>
          </a:prstGeom>
          <a:solidFill>
            <a:schemeClr val="bg2"/>
          </a:solidFill>
          <a:ln/>
        </p:spPr>
      </p:sp>
      <p:sp>
        <p:nvSpPr>
          <p:cNvPr id="39" name="Text 36"/>
          <p:cNvSpPr/>
          <p:nvPr/>
        </p:nvSpPr>
        <p:spPr>
          <a:xfrm>
            <a:off x="731520" y="5541264"/>
            <a:ext cx="914400" cy="347472"/>
          </a:xfrm>
          <a:prstGeom prst="roundRect">
            <a:avLst>
              <a:gd name="adj" fmla="val 15789"/>
            </a:avLst>
          </a:prstGeom>
          <a:solidFill>
            <a:schemeClr val="accent1"/>
          </a:solidFill>
          <a:ln/>
        </p:spPr>
        <p:txBody>
          <a:bodyPr wrap="square" lIns="0" tIns="0" rIns="0" bIns="0" rtlCol="0" anchor="ctr"/>
          <a:lstStyle/>
          <a:p>
            <a:pPr algn="ctr" indent="0" marL="0">
              <a:buNone/>
            </a:pPr>
            <a:r>
              <a:rPr lang="en-US" sz="1200" b="1" dirty="0">
                <a:solidFill>
                  <a:schemeClr val="bg1"/>
                </a:solidFill>
              </a:rPr>
              <a:t>DP-059</a:t>
            </a:r>
            <a:endParaRPr lang="en-US" sz="1200" dirty="0"/>
          </a:p>
        </p:txBody>
      </p:sp>
      <p:sp>
        <p:nvSpPr>
          <p:cNvPr id="40" name="Text 37"/>
          <p:cNvSpPr txBox="1"/>
          <p:nvPr/>
        </p:nvSpPr>
        <p:spPr>
          <a:xfrm>
            <a:off x="1828800" y="5404104"/>
            <a:ext cx="3749040" cy="420624"/>
          </a:xfrm>
          <a:prstGeom prst="rect">
            <a:avLst/>
          </a:prstGeom>
          <a:noFill/>
          <a:ln/>
        </p:spPr>
        <p:txBody>
          <a:bodyPr wrap="square" lIns="0" tIns="0" rIns="0" bIns="0" rtlCol="0" anchor="ctr"/>
          <a:lstStyle/>
          <a:p>
            <a:pPr algn="l" indent="0" marL="0">
              <a:buNone/>
            </a:pPr>
            <a:r>
              <a:rPr lang="en-US" sz="1300" b="1" dirty="0">
                <a:solidFill>
                  <a:schemeClr val="tx1"/>
                </a:solidFill>
              </a:rPr>
              <a:t>Pricing &amp; Fee Waiver Analytics</a:t>
            </a:r>
            <a:endParaRPr lang="en-US" sz="1300" dirty="0"/>
          </a:p>
        </p:txBody>
      </p:sp>
      <p:sp>
        <p:nvSpPr>
          <p:cNvPr id="41" name="Text 38"/>
          <p:cNvSpPr txBox="1"/>
          <p:nvPr/>
        </p:nvSpPr>
        <p:spPr>
          <a:xfrm>
            <a:off x="1828800" y="5824728"/>
            <a:ext cx="3749040" cy="201168"/>
          </a:xfrm>
          <a:prstGeom prst="rect">
            <a:avLst/>
          </a:prstGeom>
          <a:noFill/>
          <a:ln/>
        </p:spPr>
        <p:txBody>
          <a:bodyPr wrap="square" lIns="0" tIns="0" rIns="0" bIns="0" rtlCol="0" anchor="ctr"/>
          <a:lstStyle/>
          <a:p>
            <a:pPr algn="l" indent="0" marL="0">
              <a:buNone/>
            </a:pPr>
            <a:r>
              <a:rPr lang="en-US" sz="1000" dirty="0">
                <a:solidFill>
                  <a:schemeClr val="tx2"/>
                </a:solidFill>
              </a:rPr>
              <a:t>Analytical  |  Product management</a:t>
            </a:r>
            <a:endParaRPr lang="en-US" sz="1000" dirty="0"/>
          </a:p>
        </p:txBody>
      </p:sp>
      <p:sp>
        <p:nvSpPr>
          <p:cNvPr id="42" name="Text 39"/>
          <p:cNvSpPr txBox="1"/>
          <p:nvPr/>
        </p:nvSpPr>
        <p:spPr>
          <a:xfrm>
            <a:off x="5760720" y="5349240"/>
            <a:ext cx="3383280" cy="731520"/>
          </a:xfrm>
          <a:prstGeom prst="rect">
            <a:avLst/>
          </a:prstGeom>
          <a:noFill/>
          <a:ln/>
        </p:spPr>
        <p:txBody>
          <a:bodyPr wrap="square" lIns="0" tIns="0" rIns="0" bIns="0" rtlCol="0" anchor="ctr"/>
          <a:lstStyle/>
          <a:p>
            <a:pPr algn="l" indent="0" marL="0">
              <a:buNone/>
            </a:pPr>
            <a:r>
              <a:rPr lang="en-US" sz="1200" dirty="0">
                <a:solidFill>
                  <a:schemeClr val="tx1"/>
                </a:solidFill>
              </a:rPr>
              <a:t>Fees, expense ratios, caps and waivers set against peers, flows and revenue, for pricing decisions.</a:t>
            </a:r>
            <a:endParaRPr lang="en-US" sz="1200" dirty="0"/>
          </a:p>
        </p:txBody>
      </p:sp>
      <p:sp>
        <p:nvSpPr>
          <p:cNvPr id="43" name="Shape 40"/>
          <p:cNvSpPr/>
          <p:nvPr/>
        </p:nvSpPr>
        <p:spPr>
          <a:xfrm>
            <a:off x="9326880" y="5650992"/>
            <a:ext cx="1371600" cy="128016"/>
          </a:xfrm>
          <a:prstGeom prst="rect">
            <a:avLst/>
          </a:prstGeom>
          <a:solidFill>
            <a:schemeClr val="bg1"/>
          </a:solidFill>
          <a:ln/>
        </p:spPr>
      </p:sp>
      <p:sp>
        <p:nvSpPr>
          <p:cNvPr id="44" name="Shape 41"/>
          <p:cNvSpPr/>
          <p:nvPr/>
        </p:nvSpPr>
        <p:spPr>
          <a:xfrm>
            <a:off x="9326880" y="5650992"/>
            <a:ext cx="423582" cy="128016"/>
          </a:xfrm>
          <a:prstGeom prst="rect">
            <a:avLst/>
          </a:prstGeom>
          <a:solidFill>
            <a:schemeClr val="accent1"/>
          </a:solidFill>
          <a:ln/>
        </p:spPr>
      </p:sp>
      <p:sp>
        <p:nvSpPr>
          <p:cNvPr id="45" name="Text 42"/>
          <p:cNvSpPr txBox="1"/>
          <p:nvPr/>
        </p:nvSpPr>
        <p:spPr>
          <a:xfrm>
            <a:off x="10789920" y="5349240"/>
            <a:ext cx="822960" cy="731520"/>
          </a:xfrm>
          <a:prstGeom prst="rect">
            <a:avLst/>
          </a:prstGeom>
          <a:noFill/>
          <a:ln/>
        </p:spPr>
        <p:txBody>
          <a:bodyPr wrap="square" lIns="0" tIns="0" rIns="0" bIns="0" rtlCol="0" anchor="ctr"/>
          <a:lstStyle/>
          <a:p>
            <a:pPr algn="l" indent="0" marL="0">
              <a:buNone/>
            </a:pPr>
            <a:r>
              <a:rPr lang="en-US" sz="1200" b="1" dirty="0">
                <a:solidFill>
                  <a:schemeClr val="tx1"/>
                </a:solidFill>
              </a:rPr>
              <a:t>21 of 68</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DATA PRODUCTS  |  OWNED BY OTHER DOMAINS</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27 more rely on it for product context</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3200400"/>
                <a:gridCol w="3200400"/>
                <a:gridCol w="4690872"/>
              </a:tblGrid>
              <a:tr h="365760">
                <a:tc>
                  <a:txBody>
                    <a:bodyPr/>
                    <a:lstStyle/>
                    <a:p>
                      <a:pPr indent="0" marL="0">
                        <a:buNone/>
                      </a:pPr>
                      <a:r>
                        <a:rPr lang="en-US" sz="1200" b="1" dirty="0">
                          <a:solidFill>
                            <a:schemeClr val="bg1"/>
                          </a:solidFill>
                        </a:rPr>
                        <a:t>Who it serves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Products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this domain supplies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solidFill>
                      <a:schemeClr val="tx1"/>
                    </a:solidFill>
                  </a:tcPr>
                </a:tc>
              </a:tr>
              <a:tr h="512064">
                <a:tc>
                  <a:txBody>
                    <a:bodyPr/>
                    <a:lstStyle/>
                    <a:p>
                      <a:pPr indent="0" marL="0">
                        <a:buNone/>
                      </a:pPr>
                      <a:r>
                        <a:rPr lang="en-US" sz="1200" b="1" dirty="0">
                          <a:solidFill>
                            <a:schemeClr val="tx1"/>
                          </a:solidFill>
                        </a:rPr>
                        <a:t>Compliance and product governance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DP-040, DP-060, DP-061, DP-062, DP-063, DP-083, DP-084</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Target market, share class type and charges, track record and benchmark, product documents, authorization</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512064">
                <a:tc>
                  <a:txBody>
                    <a:bodyPr/>
                    <a:lstStyle/>
                    <a:p>
                      <a:pPr indent="0" marL="0">
                        <a:buNone/>
                      </a:pPr>
                      <a:r>
                        <a:rPr lang="en-US" sz="1200" b="1" dirty="0">
                          <a:solidFill>
                            <a:schemeClr val="tx1"/>
                          </a:solidFill>
                        </a:rPr>
                        <a:t>EU / UK cross-border distribution</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DP-041, DP-065</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Country registrations, investor eligibility, local documents, fee rates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512064">
                <a:tc>
                  <a:txBody>
                    <a:bodyPr/>
                    <a:lstStyle/>
                    <a:p>
                      <a:pPr indent="0" marL="0">
                        <a:buNone/>
                      </a:pPr>
                      <a:r>
                        <a:rPr lang="en-US" sz="1200" b="1" dirty="0">
                          <a:solidFill>
                            <a:schemeClr val="tx1"/>
                          </a:solidFill>
                        </a:rPr>
                        <a:t>Product strategy and market intelligence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DP-029, DP-030, DP-076, DP-088</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Product and share class identity, firm and external classifications, registrations, target market</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512064">
                <a:tc>
                  <a:txBody>
                    <a:bodyPr/>
                    <a:lstStyle/>
                    <a:p>
                      <a:pPr indent="0" marL="0">
                        <a:buNone/>
                      </a:pPr>
                      <a:r>
                        <a:rPr lang="en-US" sz="1200" b="1" dirty="0">
                          <a:solidFill>
                            <a:schemeClr val="tx1"/>
                          </a:solidFill>
                        </a:rPr>
                        <a:t>Partners, platforms and retirement</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DP-021, DP-024, DP-050</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Product and share class identity, model portfolios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512064">
                <a:tc>
                  <a:txBody>
                    <a:bodyPr/>
                    <a:lstStyle/>
                    <a:p>
                      <a:pPr indent="0" marL="0">
                        <a:buNone/>
                      </a:pPr>
                      <a:r>
                        <a:rPr lang="en-US" sz="1200" b="1" dirty="0">
                          <a:solidFill>
                            <a:schemeClr val="tx1"/>
                          </a:solidFill>
                        </a:rPr>
                        <a:t>Institutional sales and client service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DP-003, DP-023, DP-067, DP-086, DP-092</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Investment mandates, strategies, mandate fee terms, investment restrictions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512064">
                <a:tc>
                  <a:txBody>
                    <a:bodyPr/>
                    <a:lstStyle/>
                    <a:p>
                      <a:pPr indent="0" marL="0">
                        <a:buNone/>
                      </a:pPr>
                      <a:r>
                        <a:rPr lang="en-US" sz="1200" b="1" dirty="0">
                          <a:solidFill>
                            <a:schemeClr val="tx1"/>
                          </a:solidFill>
                        </a:rPr>
                        <a:t>Investor servicing and fund operations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DP-071, DP-091</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Share class identity, tax reporting status, legal structure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r h="512064">
                <a:tc>
                  <a:txBody>
                    <a:bodyPr/>
                    <a:lstStyle/>
                    <a:p>
                      <a:pPr indent="0" marL="0">
                        <a:buNone/>
                      </a:pPr>
                      <a:r>
                        <a:rPr lang="en-US" sz="1200" b="1" dirty="0">
                          <a:solidFill>
                            <a:schemeClr val="tx1"/>
                          </a:solidFill>
                        </a:rPr>
                        <a:t>Leadership, finance and data office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DP-015, DP-055, DP-072, DP-089</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c>
                  <a:txBody>
                    <a:bodyPr/>
                    <a:lstStyle/>
                    <a:p>
                      <a:pPr indent="0" marL="0">
                        <a:buNone/>
                      </a:pPr>
                      <a:r>
                        <a:rPr lang="en-US" sz="1200" dirty="0">
                          <a:solidFill>
                            <a:schemeClr val="tx1"/>
                          </a:solidFill>
                        </a:rPr>
                        <a:t>Business line and AUM category, transaction charges, benchmarks and tracked indices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5D9E1"/>
                      </a:solidFill>
                      <a:prstDash val="solid"/>
                      <a:round/>
                      <a:headEnd type="none" w="med" len="med"/>
                      <a:tailEnd type="none" w="med" len="med"/>
                    </a:lnB>
                  </a:tcPr>
                </a:tc>
              </a:tr>
            </a:tbl>
          </a:graphicData>
        </a:graphic>
      </p:graphicFrame>
      <p:sp>
        <p:nvSpPr>
          <p:cNvPr id="6" name="Text 2"/>
          <p:cNvSpPr txBox="1"/>
          <p:nvPr/>
        </p:nvSpPr>
        <p:spPr>
          <a:xfrm>
            <a:off x="548640" y="5897880"/>
            <a:ext cx="11091672" cy="274320"/>
          </a:xfrm>
          <a:prstGeom prst="rect">
            <a:avLst/>
          </a:prstGeom>
          <a:noFill/>
          <a:ln/>
        </p:spPr>
        <p:txBody>
          <a:bodyPr wrap="square" lIns="0" tIns="0" rIns="0" bIns="0" rtlCol="0" anchor="ctr"/>
          <a:lstStyle/>
          <a:p>
            <a:pPr algn="l" indent="0" marL="0">
              <a:buNone/>
            </a:pPr>
            <a:r>
              <a:rPr lang="en-US" sz="1200" dirty="0">
                <a:solidFill>
                  <a:schemeClr val="tx2"/>
                </a:solidFill>
              </a:rPr>
              <a:t>A further 56 products take product and share class only through DP-004, without reading Investment Product directly.</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DATA PRODUCTS  |  ONE ATTRIBUTE, END TO END</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One attribute, followed to an answer</a:t>
            </a:r>
            <a:endParaRPr lang="en-US" sz="3600" dirty="0"/>
          </a:p>
        </p:txBody>
      </p:sp>
      <p:sp>
        <p:nvSpPr>
          <p:cNvPr id="5" name="Shape 2"/>
          <p:cNvSpPr/>
          <p:nvPr/>
        </p:nvSpPr>
        <p:spPr>
          <a:xfrm>
            <a:off x="548640" y="1874520"/>
            <a:ext cx="1938528" cy="2514600"/>
          </a:xfrm>
          <a:prstGeom prst="roundRect">
            <a:avLst>
              <a:gd name="adj" fmla="val 3774"/>
            </a:avLst>
          </a:prstGeom>
          <a:solidFill>
            <a:schemeClr val="accent2"/>
          </a:solidFill>
          <a:ln/>
        </p:spPr>
      </p:sp>
      <p:sp>
        <p:nvSpPr>
          <p:cNvPr id="6" name="Text 3"/>
          <p:cNvSpPr txBox="1"/>
          <p:nvPr/>
        </p:nvSpPr>
        <p:spPr>
          <a:xfrm>
            <a:off x="731520" y="2057400"/>
            <a:ext cx="1572768" cy="228600"/>
          </a:xfrm>
          <a:prstGeom prst="rect">
            <a:avLst/>
          </a:prstGeom>
          <a:noFill/>
          <a:ln/>
        </p:spPr>
        <p:txBody>
          <a:bodyPr wrap="square" lIns="0" tIns="0" rIns="0" bIns="0" rtlCol="0" anchor="ctr"/>
          <a:lstStyle/>
          <a:p>
            <a:pPr algn="l" indent="0" marL="0">
              <a:buNone/>
            </a:pPr>
            <a:r>
              <a:rPr lang="en-US" sz="1100" b="1" spc="150" kern="0" dirty="0">
                <a:solidFill>
                  <a:schemeClr val="bg1"/>
                </a:solidFill>
              </a:rPr>
              <a:t>TAXONOMY</a:t>
            </a:r>
            <a:endParaRPr lang="en-US" sz="1100" dirty="0"/>
          </a:p>
        </p:txBody>
      </p:sp>
      <p:sp>
        <p:nvSpPr>
          <p:cNvPr id="7" name="Text 4"/>
          <p:cNvSpPr txBox="1"/>
          <p:nvPr/>
        </p:nvSpPr>
        <p:spPr>
          <a:xfrm>
            <a:off x="731520" y="2331720"/>
            <a:ext cx="1572768" cy="548640"/>
          </a:xfrm>
          <a:prstGeom prst="rect">
            <a:avLst/>
          </a:prstGeom>
          <a:noFill/>
          <a:ln/>
        </p:spPr>
        <p:txBody>
          <a:bodyPr wrap="square" lIns="0" tIns="0" rIns="0" bIns="0" rtlCol="0" anchor="ctr"/>
          <a:lstStyle/>
          <a:p>
            <a:pPr algn="l" indent="0" marL="0">
              <a:buNone/>
            </a:pPr>
            <a:r>
              <a:rPr lang="en-US" sz="1400" b="1" dirty="0">
                <a:solidFill>
                  <a:schemeClr val="bg1"/>
                </a:solidFill>
              </a:rPr>
              <a:t>Net Expense Ratio</a:t>
            </a:r>
            <a:endParaRPr lang="en-US" sz="1400" dirty="0"/>
          </a:p>
        </p:txBody>
      </p:sp>
      <p:sp>
        <p:nvSpPr>
          <p:cNvPr id="8" name="Text 5"/>
          <p:cNvSpPr txBox="1"/>
          <p:nvPr/>
        </p:nvSpPr>
        <p:spPr>
          <a:xfrm>
            <a:off x="731520" y="2971800"/>
            <a:ext cx="1572768" cy="1280160"/>
          </a:xfrm>
          <a:prstGeom prst="rect">
            <a:avLst/>
          </a:prstGeom>
          <a:noFill/>
          <a:ln/>
        </p:spPr>
        <p:txBody>
          <a:bodyPr wrap="square" lIns="0" tIns="0" rIns="0" bIns="0" rtlCol="0" anchor="t"/>
          <a:lstStyle/>
          <a:p>
            <a:pPr algn="l" indent="0" marL="0">
              <a:buNone/>
            </a:pPr>
            <a:r>
              <a:rPr lang="en-US" sz="1200" dirty="0">
                <a:solidFill>
                  <a:schemeClr val="bg1"/>
                </a:solidFill>
              </a:rPr>
              <a:t>Defined once, in the Cost Disclosure object: total annual fund operating expenses after waivers.</a:t>
            </a:r>
            <a:endParaRPr lang="en-US" sz="1200" dirty="0"/>
          </a:p>
        </p:txBody>
      </p:sp>
      <p:sp>
        <p:nvSpPr>
          <p:cNvPr id="9" name="Shape 6"/>
          <p:cNvSpPr/>
          <p:nvPr/>
        </p:nvSpPr>
        <p:spPr>
          <a:xfrm>
            <a:off x="2532888" y="3131820"/>
            <a:ext cx="258318" cy="0"/>
          </a:xfrm>
          <a:prstGeom prst="line">
            <a:avLst/>
          </a:prstGeom>
          <a:noFill/>
          <a:ln w="19050">
            <a:solidFill>
              <a:schemeClr val="tx2"/>
            </a:solidFill>
            <a:prstDash val="solid"/>
            <a:tailEnd type="triangle"/>
          </a:ln>
        </p:spPr>
      </p:sp>
      <p:sp>
        <p:nvSpPr>
          <p:cNvPr id="10" name="Shape 7"/>
          <p:cNvSpPr/>
          <p:nvPr/>
        </p:nvSpPr>
        <p:spPr>
          <a:xfrm>
            <a:off x="2836926" y="1874520"/>
            <a:ext cx="1938528" cy="2514600"/>
          </a:xfrm>
          <a:prstGeom prst="roundRect">
            <a:avLst>
              <a:gd name="adj" fmla="val 3774"/>
            </a:avLst>
          </a:prstGeom>
          <a:solidFill>
            <a:schemeClr val="bg2"/>
          </a:solidFill>
          <a:ln/>
        </p:spPr>
      </p:sp>
      <p:sp>
        <p:nvSpPr>
          <p:cNvPr id="11" name="Text 8"/>
          <p:cNvSpPr txBox="1"/>
          <p:nvPr/>
        </p:nvSpPr>
        <p:spPr>
          <a:xfrm>
            <a:off x="3019806" y="2057400"/>
            <a:ext cx="1572768" cy="228600"/>
          </a:xfrm>
          <a:prstGeom prst="rect">
            <a:avLst/>
          </a:prstGeom>
          <a:noFill/>
          <a:ln/>
        </p:spPr>
        <p:txBody>
          <a:bodyPr wrap="square" lIns="0" tIns="0" rIns="0" bIns="0" rtlCol="0" anchor="ctr"/>
          <a:lstStyle/>
          <a:p>
            <a:pPr algn="l" indent="0" marL="0">
              <a:buNone/>
            </a:pPr>
            <a:r>
              <a:rPr lang="en-US" sz="1100" b="1" spc="150" kern="0" dirty="0">
                <a:solidFill>
                  <a:schemeClr val="accent1"/>
                </a:solidFill>
              </a:rPr>
              <a:t>FOUNDATIONAL</a:t>
            </a:r>
            <a:endParaRPr lang="en-US" sz="1100" dirty="0"/>
          </a:p>
        </p:txBody>
      </p:sp>
      <p:sp>
        <p:nvSpPr>
          <p:cNvPr id="12" name="Text 9"/>
          <p:cNvSpPr txBox="1"/>
          <p:nvPr/>
        </p:nvSpPr>
        <p:spPr>
          <a:xfrm>
            <a:off x="3019806" y="2331720"/>
            <a:ext cx="1572768" cy="548640"/>
          </a:xfrm>
          <a:prstGeom prst="rect">
            <a:avLst/>
          </a:prstGeom>
          <a:noFill/>
          <a:ln/>
        </p:spPr>
        <p:txBody>
          <a:bodyPr wrap="square" lIns="0" tIns="0" rIns="0" bIns="0" rtlCol="0" anchor="ctr"/>
          <a:lstStyle/>
          <a:p>
            <a:pPr algn="l" indent="0" marL="0">
              <a:buNone/>
            </a:pPr>
            <a:r>
              <a:rPr lang="en-US" sz="1400" b="1" dirty="0">
                <a:solidFill>
                  <a:schemeClr val="tx1"/>
                </a:solidFill>
              </a:rPr>
              <a:t>DP-004</a:t>
            </a:r>
            <a:endParaRPr lang="en-US" sz="1400" dirty="0"/>
          </a:p>
        </p:txBody>
      </p:sp>
      <p:sp>
        <p:nvSpPr>
          <p:cNvPr id="13" name="Text 10"/>
          <p:cNvSpPr txBox="1"/>
          <p:nvPr/>
        </p:nvSpPr>
        <p:spPr>
          <a:xfrm>
            <a:off x="3019806" y="2971800"/>
            <a:ext cx="1572768" cy="1280160"/>
          </a:xfrm>
          <a:prstGeom prst="rect">
            <a:avLst/>
          </a:prstGeom>
          <a:noFill/>
          <a:ln/>
        </p:spPr>
        <p:txBody>
          <a:bodyPr wrap="square" lIns="0" tIns="0" rIns="0" bIns="0" rtlCol="0" anchor="t"/>
          <a:lstStyle/>
          <a:p>
            <a:pPr algn="l" indent="0" marL="0">
              <a:buNone/>
            </a:pPr>
            <a:r>
              <a:rPr lang="en-US" sz="1200" dirty="0">
                <a:solidFill>
                  <a:schemeClr val="tx1"/>
                </a:solidFill>
              </a:rPr>
              <a:t>Carries it per share class. Quality rule: net is never above gross.</a:t>
            </a:r>
            <a:endParaRPr lang="en-US" sz="1200" dirty="0"/>
          </a:p>
        </p:txBody>
      </p:sp>
      <p:sp>
        <p:nvSpPr>
          <p:cNvPr id="14" name="Shape 11"/>
          <p:cNvSpPr/>
          <p:nvPr/>
        </p:nvSpPr>
        <p:spPr>
          <a:xfrm>
            <a:off x="4821174" y="3131820"/>
            <a:ext cx="258318" cy="0"/>
          </a:xfrm>
          <a:prstGeom prst="line">
            <a:avLst/>
          </a:prstGeom>
          <a:noFill/>
          <a:ln w="19050">
            <a:solidFill>
              <a:schemeClr val="tx2"/>
            </a:solidFill>
            <a:prstDash val="solid"/>
            <a:tailEnd type="triangle"/>
          </a:ln>
        </p:spPr>
      </p:sp>
      <p:sp>
        <p:nvSpPr>
          <p:cNvPr id="15" name="Shape 12"/>
          <p:cNvSpPr/>
          <p:nvPr/>
        </p:nvSpPr>
        <p:spPr>
          <a:xfrm>
            <a:off x="5125212" y="1874520"/>
            <a:ext cx="1938528" cy="2514600"/>
          </a:xfrm>
          <a:prstGeom prst="roundRect">
            <a:avLst>
              <a:gd name="adj" fmla="val 3774"/>
            </a:avLst>
          </a:prstGeom>
          <a:solidFill>
            <a:schemeClr val="bg2"/>
          </a:solidFill>
          <a:ln/>
        </p:spPr>
      </p:sp>
      <p:sp>
        <p:nvSpPr>
          <p:cNvPr id="16" name="Text 13"/>
          <p:cNvSpPr txBox="1"/>
          <p:nvPr/>
        </p:nvSpPr>
        <p:spPr>
          <a:xfrm>
            <a:off x="5308092" y="2057400"/>
            <a:ext cx="1572768" cy="228600"/>
          </a:xfrm>
          <a:prstGeom prst="rect">
            <a:avLst/>
          </a:prstGeom>
          <a:noFill/>
          <a:ln/>
        </p:spPr>
        <p:txBody>
          <a:bodyPr wrap="square" lIns="0" tIns="0" rIns="0" bIns="0" rtlCol="0" anchor="ctr"/>
          <a:lstStyle/>
          <a:p>
            <a:pPr algn="l" indent="0" marL="0">
              <a:buNone/>
            </a:pPr>
            <a:r>
              <a:rPr lang="en-US" sz="1100" b="1" spc="150" kern="0" dirty="0">
                <a:solidFill>
                  <a:schemeClr val="accent1"/>
                </a:solidFill>
              </a:rPr>
              <a:t>CONSUMER</a:t>
            </a:r>
            <a:endParaRPr lang="en-US" sz="1100" dirty="0"/>
          </a:p>
        </p:txBody>
      </p:sp>
      <p:sp>
        <p:nvSpPr>
          <p:cNvPr id="17" name="Text 14"/>
          <p:cNvSpPr txBox="1"/>
          <p:nvPr/>
        </p:nvSpPr>
        <p:spPr>
          <a:xfrm>
            <a:off x="5308092" y="2331720"/>
            <a:ext cx="1572768" cy="548640"/>
          </a:xfrm>
          <a:prstGeom prst="rect">
            <a:avLst/>
          </a:prstGeom>
          <a:noFill/>
          <a:ln/>
        </p:spPr>
        <p:txBody>
          <a:bodyPr wrap="square" lIns="0" tIns="0" rIns="0" bIns="0" rtlCol="0" anchor="ctr"/>
          <a:lstStyle/>
          <a:p>
            <a:pPr algn="l" indent="0" marL="0">
              <a:buNone/>
            </a:pPr>
            <a:r>
              <a:rPr lang="en-US" sz="1400" b="1" dirty="0">
                <a:solidFill>
                  <a:schemeClr val="tx1"/>
                </a:solidFill>
              </a:rPr>
              <a:t>DP-030 and</a:t>
            </a:r>
            <a:endParaRPr lang="en-US" sz="1400" dirty="0"/>
          </a:p>
          <a:p>
            <a:pPr algn="l" indent="0" marL="0">
              <a:buNone/>
            </a:pPr>
            <a:r>
              <a:rPr lang="en-US" sz="1400" b="1" dirty="0">
                <a:solidFill>
                  <a:schemeClr val="tx1"/>
                </a:solidFill>
              </a:rPr>
              <a:t>DP-059</a:t>
            </a:r>
            <a:endParaRPr lang="en-US" sz="1400" dirty="0"/>
          </a:p>
        </p:txBody>
      </p:sp>
      <p:sp>
        <p:nvSpPr>
          <p:cNvPr id="18" name="Text 15"/>
          <p:cNvSpPr txBox="1"/>
          <p:nvPr/>
        </p:nvSpPr>
        <p:spPr>
          <a:xfrm>
            <a:off x="5308092" y="2971800"/>
            <a:ext cx="1572768" cy="1280160"/>
          </a:xfrm>
          <a:prstGeom prst="rect">
            <a:avLst/>
          </a:prstGeom>
          <a:noFill/>
          <a:ln/>
        </p:spPr>
        <p:txBody>
          <a:bodyPr wrap="square" lIns="0" tIns="0" rIns="0" bIns="0" rtlCol="0" anchor="t"/>
          <a:lstStyle/>
          <a:p>
            <a:pPr algn="l" indent="0" marL="0">
              <a:buNone/>
            </a:pPr>
            <a:r>
              <a:rPr lang="en-US" sz="1200" dirty="0">
                <a:solidFill>
                  <a:schemeClr val="tx1"/>
                </a:solidFill>
              </a:rPr>
              <a:t>Compare it with the peer median fee from Market &amp; Competitive Intelligence. They do not restate our fee.</a:t>
            </a:r>
            <a:endParaRPr lang="en-US" sz="1200" dirty="0"/>
          </a:p>
        </p:txBody>
      </p:sp>
      <p:sp>
        <p:nvSpPr>
          <p:cNvPr id="19" name="Shape 16"/>
          <p:cNvSpPr/>
          <p:nvPr/>
        </p:nvSpPr>
        <p:spPr>
          <a:xfrm>
            <a:off x="7109460" y="3131820"/>
            <a:ext cx="258318" cy="0"/>
          </a:xfrm>
          <a:prstGeom prst="line">
            <a:avLst/>
          </a:prstGeom>
          <a:noFill/>
          <a:ln w="19050">
            <a:solidFill>
              <a:schemeClr val="tx2"/>
            </a:solidFill>
            <a:prstDash val="solid"/>
            <a:tailEnd type="triangle"/>
          </a:ln>
        </p:spPr>
      </p:sp>
      <p:sp>
        <p:nvSpPr>
          <p:cNvPr id="20" name="Shape 17"/>
          <p:cNvSpPr/>
          <p:nvPr/>
        </p:nvSpPr>
        <p:spPr>
          <a:xfrm>
            <a:off x="7413498" y="1874520"/>
            <a:ext cx="1938528" cy="2514600"/>
          </a:xfrm>
          <a:prstGeom prst="roundRect">
            <a:avLst>
              <a:gd name="adj" fmla="val 3774"/>
            </a:avLst>
          </a:prstGeom>
          <a:solidFill>
            <a:schemeClr val="bg2"/>
          </a:solidFill>
          <a:ln/>
        </p:spPr>
      </p:sp>
      <p:sp>
        <p:nvSpPr>
          <p:cNvPr id="21" name="Text 18"/>
          <p:cNvSpPr txBox="1"/>
          <p:nvPr/>
        </p:nvSpPr>
        <p:spPr>
          <a:xfrm>
            <a:off x="7596378" y="2057400"/>
            <a:ext cx="1572768" cy="228600"/>
          </a:xfrm>
          <a:prstGeom prst="rect">
            <a:avLst/>
          </a:prstGeom>
          <a:noFill/>
          <a:ln/>
        </p:spPr>
        <p:txBody>
          <a:bodyPr wrap="square" lIns="0" tIns="0" rIns="0" bIns="0" rtlCol="0" anchor="ctr"/>
          <a:lstStyle/>
          <a:p>
            <a:pPr algn="l" indent="0" marL="0">
              <a:buNone/>
            </a:pPr>
            <a:r>
              <a:rPr lang="en-US" sz="1100" b="1" spc="150" kern="0" dirty="0">
                <a:solidFill>
                  <a:schemeClr val="accent1"/>
                </a:solidFill>
              </a:rPr>
              <a:t>SEMANTIC MODEL</a:t>
            </a:r>
            <a:endParaRPr lang="en-US" sz="1100" dirty="0"/>
          </a:p>
        </p:txBody>
      </p:sp>
      <p:sp>
        <p:nvSpPr>
          <p:cNvPr id="22" name="Text 19"/>
          <p:cNvSpPr txBox="1"/>
          <p:nvPr/>
        </p:nvSpPr>
        <p:spPr>
          <a:xfrm>
            <a:off x="7596378" y="2331720"/>
            <a:ext cx="1572768" cy="548640"/>
          </a:xfrm>
          <a:prstGeom prst="rect">
            <a:avLst/>
          </a:prstGeom>
          <a:noFill/>
          <a:ln/>
        </p:spPr>
        <p:txBody>
          <a:bodyPr wrap="square" lIns="0" tIns="0" rIns="0" bIns="0" rtlCol="0" anchor="ctr"/>
          <a:lstStyle/>
          <a:p>
            <a:pPr algn="l" indent="0" marL="0">
              <a:buNone/>
            </a:pPr>
            <a:r>
              <a:rPr lang="en-US" sz="1400" b="1" dirty="0">
                <a:solidFill>
                  <a:schemeClr val="tx1"/>
                </a:solidFill>
              </a:rPr>
              <a:t>SM-06 Product &amp; Market</a:t>
            </a:r>
            <a:endParaRPr lang="en-US" sz="1400" dirty="0"/>
          </a:p>
        </p:txBody>
      </p:sp>
      <p:sp>
        <p:nvSpPr>
          <p:cNvPr id="23" name="Text 20"/>
          <p:cNvSpPr txBox="1"/>
          <p:nvPr/>
        </p:nvSpPr>
        <p:spPr>
          <a:xfrm>
            <a:off x="7596378" y="2971800"/>
            <a:ext cx="1572768" cy="1280160"/>
          </a:xfrm>
          <a:prstGeom prst="rect">
            <a:avLst/>
          </a:prstGeom>
          <a:noFill/>
          <a:ln/>
        </p:spPr>
        <p:txBody>
          <a:bodyPr wrap="square" lIns="0" tIns="0" rIns="0" bIns="0" rtlCol="0" anchor="t"/>
          <a:lstStyle/>
          <a:p>
            <a:pPr algn="l" indent="0" marL="0">
              <a:buNone/>
            </a:pPr>
            <a:r>
              <a:rPr lang="en-US" sz="1200" dirty="0">
                <a:solidFill>
                  <a:schemeClr val="tx1"/>
                </a:solidFill>
              </a:rPr>
              <a:t>Publishes one metric, Fee Gap to Peer Median, beside certified net flows.</a:t>
            </a:r>
            <a:endParaRPr lang="en-US" sz="1200" dirty="0"/>
          </a:p>
        </p:txBody>
      </p:sp>
      <p:sp>
        <p:nvSpPr>
          <p:cNvPr id="24" name="Shape 21"/>
          <p:cNvSpPr/>
          <p:nvPr/>
        </p:nvSpPr>
        <p:spPr>
          <a:xfrm>
            <a:off x="9397746" y="3131820"/>
            <a:ext cx="258318" cy="0"/>
          </a:xfrm>
          <a:prstGeom prst="line">
            <a:avLst/>
          </a:prstGeom>
          <a:noFill/>
          <a:ln w="19050">
            <a:solidFill>
              <a:schemeClr val="tx2"/>
            </a:solidFill>
            <a:prstDash val="solid"/>
            <a:tailEnd type="triangle"/>
          </a:ln>
        </p:spPr>
      </p:sp>
      <p:sp>
        <p:nvSpPr>
          <p:cNvPr id="25" name="Shape 22"/>
          <p:cNvSpPr/>
          <p:nvPr/>
        </p:nvSpPr>
        <p:spPr>
          <a:xfrm>
            <a:off x="9701784" y="1874520"/>
            <a:ext cx="1938528" cy="2514600"/>
          </a:xfrm>
          <a:prstGeom prst="roundRect">
            <a:avLst>
              <a:gd name="adj" fmla="val 3774"/>
            </a:avLst>
          </a:prstGeom>
          <a:solidFill>
            <a:schemeClr val="bg2"/>
          </a:solidFill>
          <a:ln/>
        </p:spPr>
      </p:sp>
      <p:sp>
        <p:nvSpPr>
          <p:cNvPr id="26" name="Text 23"/>
          <p:cNvSpPr txBox="1"/>
          <p:nvPr/>
        </p:nvSpPr>
        <p:spPr>
          <a:xfrm>
            <a:off x="9884664" y="2057400"/>
            <a:ext cx="1572768" cy="228600"/>
          </a:xfrm>
          <a:prstGeom prst="rect">
            <a:avLst/>
          </a:prstGeom>
          <a:noFill/>
          <a:ln/>
        </p:spPr>
        <p:txBody>
          <a:bodyPr wrap="square" lIns="0" tIns="0" rIns="0" bIns="0" rtlCol="0" anchor="ctr"/>
          <a:lstStyle/>
          <a:p>
            <a:pPr algn="l" indent="0" marL="0">
              <a:buNone/>
            </a:pPr>
            <a:r>
              <a:rPr lang="en-US" sz="1100" b="1" spc="150" kern="0" dirty="0">
                <a:solidFill>
                  <a:schemeClr val="accent1"/>
                </a:solidFill>
              </a:rPr>
              <a:t>USE</a:t>
            </a:r>
            <a:endParaRPr lang="en-US" sz="1100" dirty="0"/>
          </a:p>
        </p:txBody>
      </p:sp>
      <p:sp>
        <p:nvSpPr>
          <p:cNvPr id="27" name="Text 24"/>
          <p:cNvSpPr txBox="1"/>
          <p:nvPr/>
        </p:nvSpPr>
        <p:spPr>
          <a:xfrm>
            <a:off x="9884664" y="2331720"/>
            <a:ext cx="1572768" cy="548640"/>
          </a:xfrm>
          <a:prstGeom prst="rect">
            <a:avLst/>
          </a:prstGeom>
          <a:noFill/>
          <a:ln/>
        </p:spPr>
        <p:txBody>
          <a:bodyPr wrap="square" lIns="0" tIns="0" rIns="0" bIns="0" rtlCol="0" anchor="ctr"/>
          <a:lstStyle/>
          <a:p>
            <a:pPr algn="l" indent="0" marL="0">
              <a:buNone/>
            </a:pPr>
            <a:r>
              <a:rPr lang="en-US" sz="1400" b="1" dirty="0">
                <a:solidFill>
                  <a:schemeClr val="tx1"/>
                </a:solidFill>
              </a:rPr>
              <a:t>Dashboard or AI assistant</a:t>
            </a:r>
            <a:endParaRPr lang="en-US" sz="1400" dirty="0"/>
          </a:p>
        </p:txBody>
      </p:sp>
      <p:sp>
        <p:nvSpPr>
          <p:cNvPr id="28" name="Text 25"/>
          <p:cNvSpPr txBox="1"/>
          <p:nvPr/>
        </p:nvSpPr>
        <p:spPr>
          <a:xfrm>
            <a:off x="9884664" y="2971800"/>
            <a:ext cx="1572768" cy="1280160"/>
          </a:xfrm>
          <a:prstGeom prst="rect">
            <a:avLst/>
          </a:prstGeom>
          <a:noFill/>
          <a:ln/>
        </p:spPr>
        <p:txBody>
          <a:bodyPr wrap="square" lIns="0" tIns="0" rIns="0" bIns="0" rtlCol="0" anchor="t"/>
          <a:lstStyle/>
          <a:p>
            <a:pPr algn="l" indent="0" marL="0">
              <a:buNone/>
            </a:pPr>
            <a:r>
              <a:rPr lang="en-US" sz="1200" dirty="0">
                <a:solidFill>
                  <a:schemeClr val="tx1"/>
                </a:solidFill>
              </a:rPr>
              <a:t>“Which share classes are priced above their peers and losing assets?”</a:t>
            </a:r>
            <a:endParaRPr lang="en-US" sz="1200" dirty="0"/>
          </a:p>
        </p:txBody>
      </p:sp>
      <p:sp>
        <p:nvSpPr>
          <p:cNvPr id="29" name="Shape 26"/>
          <p:cNvSpPr/>
          <p:nvPr/>
        </p:nvSpPr>
        <p:spPr>
          <a:xfrm>
            <a:off x="548640" y="4663440"/>
            <a:ext cx="11091672" cy="731520"/>
          </a:xfrm>
          <a:prstGeom prst="roundRect">
            <a:avLst>
              <a:gd name="adj" fmla="val 10000"/>
            </a:avLst>
          </a:prstGeom>
          <a:solidFill>
            <a:schemeClr val="tx1"/>
          </a:solidFill>
          <a:ln/>
        </p:spPr>
      </p:sp>
      <p:sp>
        <p:nvSpPr>
          <p:cNvPr id="30" name="Text 27"/>
          <p:cNvSpPr txBox="1"/>
          <p:nvPr/>
        </p:nvSpPr>
        <p:spPr>
          <a:xfrm>
            <a:off x="548640" y="4663440"/>
            <a:ext cx="11091672" cy="731520"/>
          </a:xfrm>
          <a:prstGeom prst="rect">
            <a:avLst/>
          </a:prstGeom>
          <a:noFill/>
          <a:ln/>
        </p:spPr>
        <p:txBody>
          <a:bodyPr wrap="square" lIns="0" tIns="0" rIns="0" bIns="0" rtlCol="0" anchor="ctr"/>
          <a:lstStyle/>
          <a:p>
            <a:pPr algn="ctr" indent="0" marL="0">
              <a:buNone/>
            </a:pPr>
            <a:r>
              <a:rPr lang="en-US" sz="1600" b="1" dirty="0">
                <a:solidFill>
                  <a:schemeClr val="bg1"/>
                </a:solidFill>
              </a:rPr>
              <a:t>Fee Gap to Peer Median (bps)  =  ( Own Fee Rate  −  Peer Median Fee )  ×  10,000</a:t>
            </a:r>
            <a:endParaRPr lang="en-US" sz="1600" dirty="0"/>
          </a:p>
        </p:txBody>
      </p:sp>
      <p:sp>
        <p:nvSpPr>
          <p:cNvPr id="31" name="Text 28"/>
          <p:cNvSpPr txBox="1"/>
          <p:nvPr/>
        </p:nvSpPr>
        <p:spPr>
          <a:xfrm>
            <a:off x="548640" y="5623560"/>
            <a:ext cx="11091672" cy="274320"/>
          </a:xfrm>
          <a:prstGeom prst="rect">
            <a:avLst/>
          </a:prstGeom>
          <a:noFill/>
          <a:ln/>
        </p:spPr>
        <p:txBody>
          <a:bodyPr wrap="square" lIns="0" tIns="0" rIns="0" bIns="0" rtlCol="0" anchor="ctr"/>
          <a:lstStyle/>
          <a:p>
            <a:pPr algn="l" indent="0" marL="0">
              <a:buNone/>
            </a:pPr>
            <a:r>
              <a:rPr lang="en-US" sz="1200" dirty="0">
                <a:solidFill>
                  <a:schemeClr val="tx2"/>
                </a:solidFill>
              </a:rPr>
              <a:t>The full trace of this question, level by level, is in Taxonomy_Talk_Through_Investment_Product.pptx.</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274320"/>
          </a:xfrm>
          <a:prstGeom prst="rect">
            <a:avLst/>
          </a:prstGeom>
          <a:noFill/>
          <a:ln/>
        </p:spPr>
        <p:txBody>
          <a:bodyPr wrap="square" lIns="0" tIns="0" rIns="0" bIns="0" rtlCol="0" anchor="ctr"/>
          <a:lstStyle/>
          <a:p>
            <a:pPr indent="0" marL="0">
              <a:buNone/>
            </a:pPr>
            <a:r>
              <a:rPr lang="en-US" sz="1200" b="1" spc="150" kern="0" dirty="0">
                <a:solidFill>
                  <a:schemeClr val="accent1"/>
                </a:solidFill>
              </a:rPr>
              <a:t>NEXT STEPS</a:t>
            </a:r>
            <a:endParaRPr lang="en-US" sz="1200" dirty="0"/>
          </a:p>
        </p:txBody>
      </p:sp>
      <p:sp>
        <p:nvSpPr>
          <p:cNvPr id="3" name="Text 0"/>
          <p:cNvSpPr/>
          <p:nvPr>
            <p:ph idx="101" type="title" hasCustomPrompt="1"/>
          </p:nvPr>
        </p:nvSpPr>
        <p:spPr>
          <a:xfrm>
            <a:off x="548640" y="749808"/>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What needs deciding next</a:t>
            </a:r>
            <a:endParaRPr lang="en-US" sz="3600" dirty="0"/>
          </a:p>
        </p:txBody>
      </p:sp>
      <p:sp>
        <p:nvSpPr>
          <p:cNvPr id="5" name="Text 2"/>
          <p:cNvSpPr txBox="1"/>
          <p:nvPr/>
        </p:nvSpPr>
        <p:spPr>
          <a:xfrm>
            <a:off x="548640" y="1783080"/>
            <a:ext cx="5303520" cy="256032"/>
          </a:xfrm>
          <a:prstGeom prst="rect">
            <a:avLst/>
          </a:prstGeom>
          <a:noFill/>
          <a:ln/>
        </p:spPr>
        <p:txBody>
          <a:bodyPr wrap="square" lIns="0" tIns="0" rIns="0" bIns="0" rtlCol="0" anchor="ctr"/>
          <a:lstStyle/>
          <a:p>
            <a:pPr algn="l" indent="0" marL="0">
              <a:buNone/>
            </a:pPr>
            <a:r>
              <a:rPr lang="en-US" sz="1200" b="1" spc="150" kern="0" dirty="0">
                <a:solidFill>
                  <a:schemeClr val="accent1"/>
                </a:solidFill>
              </a:rPr>
              <a:t>OPEN DECISIONS</a:t>
            </a:r>
            <a:endParaRPr lang="en-US" sz="1200" dirty="0"/>
          </a:p>
        </p:txBody>
      </p:sp>
      <p:sp>
        <p:nvSpPr>
          <p:cNvPr id="6" name="Shape 3"/>
          <p:cNvSpPr/>
          <p:nvPr/>
        </p:nvSpPr>
        <p:spPr>
          <a:xfrm>
            <a:off x="548640" y="2148840"/>
            <a:ext cx="5303520" cy="841248"/>
          </a:xfrm>
          <a:prstGeom prst="roundRect">
            <a:avLst>
              <a:gd name="adj" fmla="val 8696"/>
            </a:avLst>
          </a:prstGeom>
          <a:solidFill>
            <a:schemeClr val="bg2"/>
          </a:solidFill>
          <a:ln/>
        </p:spPr>
      </p:sp>
      <p:sp>
        <p:nvSpPr>
          <p:cNvPr id="7" name="Text 4"/>
          <p:cNvSpPr/>
          <p:nvPr/>
        </p:nvSpPr>
        <p:spPr>
          <a:xfrm>
            <a:off x="731520" y="2395728"/>
            <a:ext cx="1143000" cy="347472"/>
          </a:xfrm>
          <a:prstGeom prst="roundRect">
            <a:avLst>
              <a:gd name="adj" fmla="val 15789"/>
            </a:avLst>
          </a:prstGeom>
          <a:solidFill>
            <a:schemeClr val="accent4"/>
          </a:solidFill>
          <a:ln/>
        </p:spPr>
        <p:txBody>
          <a:bodyPr wrap="square" lIns="0" tIns="0" rIns="0" bIns="0" rtlCol="0" anchor="ctr"/>
          <a:lstStyle/>
          <a:p>
            <a:pPr algn="ctr" indent="0" marL="0">
              <a:buNone/>
            </a:pPr>
            <a:r>
              <a:rPr lang="en-US" sz="1100" b="1" dirty="0">
                <a:solidFill>
                  <a:schemeClr val="bg1"/>
                </a:solidFill>
              </a:rPr>
              <a:t>CD-022</a:t>
            </a:r>
            <a:endParaRPr lang="en-US" sz="1100" dirty="0"/>
          </a:p>
        </p:txBody>
      </p:sp>
      <p:sp>
        <p:nvSpPr>
          <p:cNvPr id="8" name="Text 5"/>
          <p:cNvSpPr txBox="1"/>
          <p:nvPr/>
        </p:nvSpPr>
        <p:spPr>
          <a:xfrm>
            <a:off x="2057400" y="2148840"/>
            <a:ext cx="3611880" cy="841248"/>
          </a:xfrm>
          <a:prstGeom prst="rect">
            <a:avLst/>
          </a:prstGeom>
          <a:noFill/>
          <a:ln/>
        </p:spPr>
        <p:txBody>
          <a:bodyPr wrap="square" lIns="0" tIns="0" rIns="0" bIns="0" rtlCol="0" anchor="ctr"/>
          <a:lstStyle/>
          <a:p>
            <a:pPr algn="l" indent="0" marL="0">
              <a:buNone/>
            </a:pPr>
            <a:r>
              <a:rPr lang="en-US" sz="1200" dirty="0">
                <a:solidFill>
                  <a:schemeClr val="tx1"/>
                </a:solidFill>
              </a:rPr>
              <a:t>Which domain owns the fund advisory and management agreement: Investment Product, Distribution Agreements &amp; Partners, or Distribution Finance &amp; Profitability.</a:t>
            </a:r>
            <a:endParaRPr lang="en-US" sz="1200" dirty="0"/>
          </a:p>
        </p:txBody>
      </p:sp>
      <p:sp>
        <p:nvSpPr>
          <p:cNvPr id="9" name="Shape 6"/>
          <p:cNvSpPr/>
          <p:nvPr/>
        </p:nvSpPr>
        <p:spPr>
          <a:xfrm>
            <a:off x="548640" y="3108960"/>
            <a:ext cx="5303520" cy="841248"/>
          </a:xfrm>
          <a:prstGeom prst="roundRect">
            <a:avLst>
              <a:gd name="adj" fmla="val 8696"/>
            </a:avLst>
          </a:prstGeom>
          <a:solidFill>
            <a:schemeClr val="bg2"/>
          </a:solidFill>
          <a:ln/>
        </p:spPr>
      </p:sp>
      <p:sp>
        <p:nvSpPr>
          <p:cNvPr id="10" name="Text 7"/>
          <p:cNvSpPr/>
          <p:nvPr/>
        </p:nvSpPr>
        <p:spPr>
          <a:xfrm>
            <a:off x="731520" y="3355848"/>
            <a:ext cx="1143000" cy="347472"/>
          </a:xfrm>
          <a:prstGeom prst="roundRect">
            <a:avLst>
              <a:gd name="adj" fmla="val 15789"/>
            </a:avLst>
          </a:prstGeom>
          <a:solidFill>
            <a:schemeClr val="accent4"/>
          </a:solidFill>
          <a:ln/>
        </p:spPr>
        <p:txBody>
          <a:bodyPr wrap="square" lIns="0" tIns="0" rIns="0" bIns="0" rtlCol="0" anchor="ctr"/>
          <a:lstStyle/>
          <a:p>
            <a:pPr algn="ctr" indent="0" marL="0">
              <a:buNone/>
            </a:pPr>
            <a:r>
              <a:rPr lang="en-US" sz="1100" b="1" dirty="0">
                <a:solidFill>
                  <a:schemeClr val="bg1"/>
                </a:solidFill>
              </a:rPr>
              <a:t>CD-023</a:t>
            </a:r>
            <a:endParaRPr lang="en-US" sz="1100" dirty="0"/>
          </a:p>
        </p:txBody>
      </p:sp>
      <p:sp>
        <p:nvSpPr>
          <p:cNvPr id="11" name="Text 8"/>
          <p:cNvSpPr txBox="1"/>
          <p:nvPr/>
        </p:nvSpPr>
        <p:spPr>
          <a:xfrm>
            <a:off x="2057400" y="3108960"/>
            <a:ext cx="3611880" cy="841248"/>
          </a:xfrm>
          <a:prstGeom prst="rect">
            <a:avLst/>
          </a:prstGeom>
          <a:noFill/>
          <a:ln/>
        </p:spPr>
        <p:txBody>
          <a:bodyPr wrap="square" lIns="0" tIns="0" rIns="0" bIns="0" rtlCol="0" anchor="ctr"/>
          <a:lstStyle/>
          <a:p>
            <a:pPr algn="l" indent="0" marL="0">
              <a:buNone/>
            </a:pPr>
            <a:r>
              <a:rPr lang="en-US" sz="1200" dirty="0">
                <a:solidFill>
                  <a:schemeClr val="tx1"/>
                </a:solidFill>
              </a:rPr>
              <a:t>Add a versioned fee schedule to Investment Product, so finance, billing and fee studies reference one record.</a:t>
            </a:r>
            <a:endParaRPr lang="en-US" sz="1200" dirty="0"/>
          </a:p>
        </p:txBody>
      </p:sp>
      <p:sp>
        <p:nvSpPr>
          <p:cNvPr id="12" name="Shape 9"/>
          <p:cNvSpPr/>
          <p:nvPr/>
        </p:nvSpPr>
        <p:spPr>
          <a:xfrm>
            <a:off x="548640" y="4069080"/>
            <a:ext cx="5303520" cy="841248"/>
          </a:xfrm>
          <a:prstGeom prst="roundRect">
            <a:avLst>
              <a:gd name="adj" fmla="val 8696"/>
            </a:avLst>
          </a:prstGeom>
          <a:solidFill>
            <a:schemeClr val="bg2"/>
          </a:solidFill>
          <a:ln/>
        </p:spPr>
      </p:sp>
      <p:sp>
        <p:nvSpPr>
          <p:cNvPr id="13" name="Text 10"/>
          <p:cNvSpPr/>
          <p:nvPr/>
        </p:nvSpPr>
        <p:spPr>
          <a:xfrm>
            <a:off x="731520" y="4315968"/>
            <a:ext cx="1143000" cy="347472"/>
          </a:xfrm>
          <a:prstGeom prst="roundRect">
            <a:avLst>
              <a:gd name="adj" fmla="val 15789"/>
            </a:avLst>
          </a:prstGeom>
          <a:solidFill>
            <a:schemeClr val="accent4"/>
          </a:solidFill>
          <a:ln/>
        </p:spPr>
        <p:txBody>
          <a:bodyPr wrap="square" lIns="0" tIns="0" rIns="0" bIns="0" rtlCol="0" anchor="ctr"/>
          <a:lstStyle/>
          <a:p>
            <a:pPr algn="ctr" indent="0" marL="0">
              <a:buNone/>
            </a:pPr>
            <a:r>
              <a:rPr lang="en-US" sz="1100" b="1" dirty="0">
                <a:solidFill>
                  <a:schemeClr val="bg1"/>
                </a:solidFill>
              </a:rPr>
              <a:t>GAP-01-004</a:t>
            </a:r>
            <a:endParaRPr lang="en-US" sz="1100" dirty="0"/>
          </a:p>
        </p:txBody>
      </p:sp>
      <p:sp>
        <p:nvSpPr>
          <p:cNvPr id="14" name="Text 11"/>
          <p:cNvSpPr txBox="1"/>
          <p:nvPr/>
        </p:nvSpPr>
        <p:spPr>
          <a:xfrm>
            <a:off x="2057400" y="4069080"/>
            <a:ext cx="3611880" cy="841248"/>
          </a:xfrm>
          <a:prstGeom prst="rect">
            <a:avLst/>
          </a:prstGeom>
          <a:noFill/>
          <a:ln/>
        </p:spPr>
        <p:txBody>
          <a:bodyPr wrap="square" lIns="0" tIns="0" rIns="0" bIns="0" rtlCol="0" anchor="ctr"/>
          <a:lstStyle/>
          <a:p>
            <a:pPr algn="l" indent="0" marL="0">
              <a:buNone/>
            </a:pPr>
            <a:r>
              <a:rPr lang="en-US" sz="1200" dirty="0">
                <a:solidFill>
                  <a:schemeClr val="tx1"/>
                </a:solidFill>
              </a:rPr>
              <a:t>Which domain masters our own performance returns. Recommended: a new Investment Product object.</a:t>
            </a:r>
            <a:endParaRPr lang="en-US" sz="1200" dirty="0"/>
          </a:p>
        </p:txBody>
      </p:sp>
      <p:sp>
        <p:nvSpPr>
          <p:cNvPr id="15" name="Shape 12"/>
          <p:cNvSpPr/>
          <p:nvPr/>
        </p:nvSpPr>
        <p:spPr>
          <a:xfrm>
            <a:off x="548640" y="5029200"/>
            <a:ext cx="5303520" cy="841248"/>
          </a:xfrm>
          <a:prstGeom prst="roundRect">
            <a:avLst>
              <a:gd name="adj" fmla="val 8696"/>
            </a:avLst>
          </a:prstGeom>
          <a:solidFill>
            <a:schemeClr val="bg2"/>
          </a:solidFill>
          <a:ln/>
        </p:spPr>
      </p:sp>
      <p:sp>
        <p:nvSpPr>
          <p:cNvPr id="16" name="Text 13"/>
          <p:cNvSpPr/>
          <p:nvPr/>
        </p:nvSpPr>
        <p:spPr>
          <a:xfrm>
            <a:off x="731520" y="5276088"/>
            <a:ext cx="1143000" cy="347472"/>
          </a:xfrm>
          <a:prstGeom prst="roundRect">
            <a:avLst>
              <a:gd name="adj" fmla="val 15789"/>
            </a:avLst>
          </a:prstGeom>
          <a:solidFill>
            <a:schemeClr val="accent4"/>
          </a:solidFill>
          <a:ln/>
        </p:spPr>
        <p:txBody>
          <a:bodyPr wrap="square" lIns="0" tIns="0" rIns="0" bIns="0" rtlCol="0" anchor="ctr"/>
          <a:lstStyle/>
          <a:p>
            <a:pPr algn="ctr" indent="0" marL="0">
              <a:buNone/>
            </a:pPr>
            <a:r>
              <a:rPr lang="en-US" sz="1100" b="1" dirty="0">
                <a:solidFill>
                  <a:schemeClr val="bg1"/>
                </a:solidFill>
              </a:rPr>
              <a:t>CD-122</a:t>
            </a:r>
            <a:endParaRPr lang="en-US" sz="1100" dirty="0"/>
          </a:p>
        </p:txBody>
      </p:sp>
      <p:sp>
        <p:nvSpPr>
          <p:cNvPr id="17" name="Text 14"/>
          <p:cNvSpPr txBox="1"/>
          <p:nvPr/>
        </p:nvSpPr>
        <p:spPr>
          <a:xfrm>
            <a:off x="2057400" y="5029200"/>
            <a:ext cx="3611880" cy="841248"/>
          </a:xfrm>
          <a:prstGeom prst="rect">
            <a:avLst/>
          </a:prstGeom>
          <a:noFill/>
          <a:ln/>
        </p:spPr>
        <p:txBody>
          <a:bodyPr wrap="square" lIns="0" tIns="0" rIns="0" bIns="0" rtlCol="0" anchor="ctr"/>
          <a:lstStyle/>
          <a:p>
            <a:pPr algn="l" indent="0" marL="0">
              <a:buNone/>
            </a:pPr>
            <a:r>
              <a:rPr lang="en-US" sz="1200" dirty="0">
                <a:solidFill>
                  <a:schemeClr val="tx1"/>
                </a:solidFill>
              </a:rPr>
              <a:t>Reference our own portfolio managers as employees, not as external parties.</a:t>
            </a:r>
            <a:endParaRPr lang="en-US" sz="1200" dirty="0"/>
          </a:p>
        </p:txBody>
      </p:sp>
      <p:sp>
        <p:nvSpPr>
          <p:cNvPr id="18" name="Text 15"/>
          <p:cNvSpPr txBox="1"/>
          <p:nvPr/>
        </p:nvSpPr>
        <p:spPr>
          <a:xfrm>
            <a:off x="6336792" y="1783080"/>
            <a:ext cx="5303520" cy="256032"/>
          </a:xfrm>
          <a:prstGeom prst="rect">
            <a:avLst/>
          </a:prstGeom>
          <a:noFill/>
          <a:ln/>
        </p:spPr>
        <p:txBody>
          <a:bodyPr wrap="square" lIns="0" tIns="0" rIns="0" bIns="0" rtlCol="0" anchor="ctr"/>
          <a:lstStyle/>
          <a:p>
            <a:pPr algn="l" indent="0" marL="0">
              <a:buNone/>
            </a:pPr>
            <a:r>
              <a:rPr lang="en-US" sz="1200" b="1" spc="150" kern="0" dirty="0">
                <a:solidFill>
                  <a:schemeClr val="accent1"/>
                </a:solidFill>
              </a:rPr>
              <a:t>NEXT STEPS</a:t>
            </a:r>
            <a:endParaRPr lang="en-US" sz="1200" dirty="0"/>
          </a:p>
        </p:txBody>
      </p:sp>
      <p:sp>
        <p:nvSpPr>
          <p:cNvPr id="19" name="Text 16"/>
          <p:cNvSpPr/>
          <p:nvPr/>
        </p:nvSpPr>
        <p:spPr>
          <a:xfrm>
            <a:off x="6336792" y="2240280"/>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0" name="Text 17"/>
          <p:cNvSpPr txBox="1"/>
          <p:nvPr/>
        </p:nvSpPr>
        <p:spPr>
          <a:xfrm>
            <a:off x="6903720" y="2148840"/>
            <a:ext cx="4736592" cy="566928"/>
          </a:xfrm>
          <a:prstGeom prst="rect">
            <a:avLst/>
          </a:prstGeom>
          <a:noFill/>
          <a:ln/>
        </p:spPr>
        <p:txBody>
          <a:bodyPr wrap="square" lIns="0" tIns="0" rIns="0" bIns="0" rtlCol="0" anchor="ctr"/>
          <a:lstStyle/>
          <a:p>
            <a:pPr algn="l" indent="0" marL="0">
              <a:buNone/>
            </a:pPr>
            <a:r>
              <a:rPr lang="en-US" sz="1300" dirty="0">
                <a:solidFill>
                  <a:schemeClr val="tx1"/>
                </a:solidFill>
              </a:rPr>
              <a:t>Validate the families, objects and 99 proposed critical data elements with Product, Distribution, Legal and Compliance, and Operations</a:t>
            </a:r>
            <a:endParaRPr lang="en-US" sz="1300" dirty="0"/>
          </a:p>
        </p:txBody>
      </p:sp>
      <p:sp>
        <p:nvSpPr>
          <p:cNvPr id="21" name="Text 18"/>
          <p:cNvSpPr/>
          <p:nvPr/>
        </p:nvSpPr>
        <p:spPr>
          <a:xfrm>
            <a:off x="6336792" y="3008376"/>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Text 19"/>
          <p:cNvSpPr txBox="1"/>
          <p:nvPr/>
        </p:nvSpPr>
        <p:spPr>
          <a:xfrm>
            <a:off x="6903720" y="2916936"/>
            <a:ext cx="4736592" cy="566928"/>
          </a:xfrm>
          <a:prstGeom prst="rect">
            <a:avLst/>
          </a:prstGeom>
          <a:noFill/>
          <a:ln/>
        </p:spPr>
        <p:txBody>
          <a:bodyPr wrap="square" lIns="0" tIns="0" rIns="0" bIns="0" rtlCol="0" anchor="ctr"/>
          <a:lstStyle/>
          <a:p>
            <a:pPr algn="l" indent="0" marL="0">
              <a:buNone/>
            </a:pPr>
            <a:r>
              <a:rPr lang="en-US" sz="1300" dirty="0">
                <a:solidFill>
                  <a:schemeClr val="tx1"/>
                </a:solidFill>
              </a:rPr>
              <a:t>Map attributes to source systems: fund administration, transfer agent, portfolio systems, CRM and document management (Phase D)</a:t>
            </a:r>
            <a:endParaRPr lang="en-US" sz="1300" dirty="0"/>
          </a:p>
        </p:txBody>
      </p:sp>
      <p:sp>
        <p:nvSpPr>
          <p:cNvPr id="23" name="Text 20"/>
          <p:cNvSpPr/>
          <p:nvPr/>
        </p:nvSpPr>
        <p:spPr>
          <a:xfrm>
            <a:off x="6336792" y="3776472"/>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Text 21"/>
          <p:cNvSpPr txBox="1"/>
          <p:nvPr/>
        </p:nvSpPr>
        <p:spPr>
          <a:xfrm>
            <a:off x="6903720" y="3685032"/>
            <a:ext cx="4736592" cy="566928"/>
          </a:xfrm>
          <a:prstGeom prst="rect">
            <a:avLst/>
          </a:prstGeom>
          <a:noFill/>
          <a:ln/>
        </p:spPr>
        <p:txBody>
          <a:bodyPr wrap="square" lIns="0" tIns="0" rIns="0" bIns="0" rtlCol="0" anchor="ctr"/>
          <a:lstStyle/>
          <a:p>
            <a:pPr algn="l" indent="0" marL="0">
              <a:buNone/>
            </a:pPr>
            <a:r>
              <a:rPr lang="en-US" sz="1300" dirty="0">
                <a:solidFill>
                  <a:schemeClr val="tx1"/>
                </a:solidFill>
              </a:rPr>
              <a:t>Map the openfunds- and FinDatEx-aligned attributes to their exact field IDs</a:t>
            </a:r>
            <a:endParaRPr lang="en-US" sz="1300" dirty="0"/>
          </a:p>
        </p:txBody>
      </p:sp>
      <p:sp>
        <p:nvSpPr>
          <p:cNvPr id="25" name="Text 22"/>
          <p:cNvSpPr/>
          <p:nvPr/>
        </p:nvSpPr>
        <p:spPr>
          <a:xfrm>
            <a:off x="6336792" y="4544568"/>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6" name="Text 23"/>
          <p:cNvSpPr txBox="1"/>
          <p:nvPr/>
        </p:nvSpPr>
        <p:spPr>
          <a:xfrm>
            <a:off x="6903720" y="4453128"/>
            <a:ext cx="4736592" cy="566928"/>
          </a:xfrm>
          <a:prstGeom prst="rect">
            <a:avLst/>
          </a:prstGeom>
          <a:noFill/>
          <a:ln/>
        </p:spPr>
        <p:txBody>
          <a:bodyPr wrap="square" lIns="0" tIns="0" rIns="0" bIns="0" rtlCol="0" anchor="ctr"/>
          <a:lstStyle/>
          <a:p>
            <a:pPr algn="l" indent="0" marL="0">
              <a:buNone/>
            </a:pPr>
            <a:r>
              <a:rPr lang="en-US" sz="1300" dirty="0">
                <a:solidFill>
                  <a:schemeClr val="tx1"/>
                </a:solidFill>
              </a:rPr>
              <a:t>Confirm a data owner and steward for each family</a:t>
            </a:r>
            <a:endParaRPr lang="en-US" sz="1300" dirty="0"/>
          </a:p>
        </p:txBody>
      </p:sp>
      <p:sp>
        <p:nvSpPr>
          <p:cNvPr id="27" name="Text 24"/>
          <p:cNvSpPr/>
          <p:nvPr/>
        </p:nvSpPr>
        <p:spPr>
          <a:xfrm>
            <a:off x="6336792" y="5312664"/>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8" name="Text 25"/>
          <p:cNvSpPr txBox="1"/>
          <p:nvPr/>
        </p:nvSpPr>
        <p:spPr>
          <a:xfrm>
            <a:off x="6903720" y="5221224"/>
            <a:ext cx="4736592" cy="566928"/>
          </a:xfrm>
          <a:prstGeom prst="rect">
            <a:avLst/>
          </a:prstGeom>
          <a:noFill/>
          <a:ln/>
        </p:spPr>
        <p:txBody>
          <a:bodyPr wrap="square" lIns="0" tIns="0" rIns="0" bIns="0" rtlCol="0" anchor="ctr"/>
          <a:lstStyle/>
          <a:p>
            <a:pPr algn="l" indent="0" marL="0">
              <a:buNone/>
            </a:pPr>
            <a:r>
              <a:rPr lang="en-US" sz="1300" dirty="0">
                <a:solidFill>
                  <a:schemeClr val="tx1"/>
                </a:solidFill>
              </a:rPr>
              <a:t>Decide the 15 open gaps, starting with the three high-priority ones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CG Taxonomy">
  <a:themeElements>
    <a:clrScheme name="CG Taxonomy">
      <a:dk1>
        <a:srgbClr val="0C233C"/>
      </a:dk1>
      <a:lt1>
        <a:srgbClr val="FFFFFF"/>
      </a:lt1>
      <a:dk2>
        <a:srgbClr val="535E6C"/>
      </a:dk2>
      <a:lt2>
        <a:srgbClr val="EEF1F8"/>
      </a:lt2>
      <a:accent1>
        <a:srgbClr val="1E49E2"/>
      </a:accent1>
      <a:accent2>
        <a:srgbClr val="7213EA"/>
      </a:accent2>
      <a:accent3>
        <a:srgbClr val="00B8F5"/>
      </a:accent3>
      <a:accent4>
        <a:srgbClr val="C8166F"/>
      </a:accent4>
      <a:accent5>
        <a:srgbClr val="00796F"/>
      </a:accent5>
      <a:accent6>
        <a:srgbClr val="ACEAFF"/>
      </a:accent6>
      <a:hlink>
        <a:srgbClr val="1E49E2"/>
      </a:hlink>
      <a:folHlink>
        <a:srgbClr val="7213EA"/>
      </a:folHlink>
    </a:clrScheme>
    <a:fontScheme name="CG Taxonom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Product taxonomy walkthrough</dc:title>
  <dc:subject>PptxGenJS Presentation</dc:subject>
  <dc:creator>Distribution Data Taxonomy Program</dc:creator>
  <cp:lastModifiedBy>Distribution Data Taxonomy Program</cp:lastModifiedBy>
  <cp:revision>1</cp:revision>
  <dcterms:created xsi:type="dcterms:W3CDTF">2026-10-05T21:53:15Z</dcterms:created>
  <dcterms:modified xsi:type="dcterms:W3CDTF">2026-10-05T21:53:15Z</dcterms:modified>
</cp:coreProperties>
</file>