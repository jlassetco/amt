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5bf8a27-3477-7733-ebcf-47619b70489b}">
          <p14:sldIdLst>
            <p14:sldId id="256"/>
            <p14:sldId id="257"/>
            <p14:sldId id="258"/>
            <p14:sldId id="259"/>
          </p14:sldIdLst>
        </p14:section>
        <p14:section name="What is included" id="{4941e186-e504-e022-bd6f-b73c1f03133f}">
          <p14:sldIdLst>
            <p14:sldId id="260"/>
            <p14:sldId id="261"/>
            <p14:sldId id="262"/>
            <p14:sldId id="263"/>
            <p14:sldId id="264"/>
          </p14:sldIdLst>
        </p14:section>
        <p14:section name="What is excluded" id="{b45d2f3c-6daf-b4da-3c42-9a2d8f3400a5}">
          <p14:sldIdLst>
            <p14:sldId id="265"/>
            <p14:sldId id="266"/>
            <p14:sldId id="267"/>
          </p14:sldIdLst>
        </p14:section>
        <p14:section name="How it is used" id="{a3837ba1-ca8a-e36f-8425-281fc387d219}">
          <p14:sldIdLst>
            <p14:sldId id="268"/>
            <p14:sldId id="269"/>
          </p14:sldIdLst>
        </p14:section>
        <p14:section name="Data products" id="{d76b9001-b2a4-a499-c284-c6416d65be84}">
          <p14:sldIdLst>
            <p14:sldId id="270"/>
            <p14:sldId id="271"/>
            <p14:sldId id="272"/>
            <p14:sldId id="273"/>
          </p14:sldIdLst>
        </p14:section>
        <p14:section name="Next steps" id="{5f399fd1-688b-e03a-6986-1e580c1dfbf8}">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openfunds</c:v>
                  </c:pt>
                  <c:pt idx="2">
                    <c:v>FinDatEx EMT / EET</c:v>
                  </c:pt>
                  <c:pt idx="3">
                    <c:v>SEC (Form N-1A, EDGAR)</c:v>
                  </c:pt>
                  <c:pt idx="4">
                    <c:v>GIPS</c:v>
                  </c:pt>
                  <c:pt idx="5">
                    <c:v>FIBO CIV</c:v>
                  </c:pt>
                  <c:pt idx="6">
                    <c:v>Other standards and regulation</c:v>
                  </c:pt>
                </c:lvl>
              </c:multiLvlStrCache>
            </c:multiLvlStrRef>
          </c:cat>
          <c:val>
            <c:numRef>
              <c:f>Sheet1!$B$2:$B$8</c:f>
              <c:numCache>
                <c:formatCode>General</c:formatCode>
                <c:ptCount val="7"/>
                <c:pt idx="0">
                  <c:v>104</c:v>
                </c:pt>
                <c:pt idx="1">
                  <c:v>67</c:v>
                </c:pt>
                <c:pt idx="2">
                  <c:v>16</c:v>
                </c:pt>
                <c:pt idx="3">
                  <c:v>11</c:v>
                </c:pt>
                <c:pt idx="4">
                  <c:v>11</c:v>
                </c:pt>
                <c:pt idx="5">
                  <c:v>11</c:v>
                </c:pt>
                <c:pt idx="6">
                  <c:v>67</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8 of 46)</a:t>
            </a:r>
          </a:p>
        </c:rich>
      </c:tx>
      <c:layout/>
      <c:overlay val="0"/>
    </c:title>
    <c:autoTitleDeleted val="0"/>
    <c:plotArea>
      <c:layout/>
      <c:barChart>
        <c:barDir val="bar"/>
        <c:grouping val="clustered"/>
        <c:varyColors val="0"/>
        <c:ser>
          <c:idx val="0"/>
          <c:order val="0"/>
          <c:tx>
            <c:strRef>
              <c:f>Sheet1!$B$1</c:f>
              <c:strCache>
                <c:ptCount val="1"/>
                <c:pt idx="0">
                  <c:v>Products reading each object (top 8 of 46)</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Share Class</c:v>
                  </c:pt>
                  <c:pt idx="1">
                    <c:v>Investment Product</c:v>
                  </c:pt>
                  <c:pt idx="2">
                    <c:v>Fund Legal Structure</c:v>
                  </c:pt>
                  <c:pt idx="3">
                    <c:v>Security Identifier</c:v>
                  </c:pt>
                  <c:pt idx="4">
                    <c:v>Country Registration</c:v>
                  </c:pt>
                  <c:pt idx="5">
                    <c:v>Investment Mandate</c:v>
                  </c:pt>
                  <c:pt idx="6">
                    <c:v>Management Fee</c:v>
                  </c:pt>
                  <c:pt idx="7">
                    <c:v>Investor Transaction Charge</c:v>
                  </c:pt>
                </c:lvl>
              </c:multiLvlStrCache>
            </c:multiLvlStrRef>
          </c:cat>
          <c:val>
            <c:numRef>
              <c:f>Sheet1!$B$2:$B$9</c:f>
              <c:numCache>
                <c:formatCode>General</c:formatCode>
                <c:ptCount val="8"/>
                <c:pt idx="0">
                  <c:v>21</c:v>
                </c:pt>
                <c:pt idx="1">
                  <c:v>9</c:v>
                </c:pt>
                <c:pt idx="2">
                  <c:v>5</c:v>
                </c:pt>
                <c:pt idx="3">
                  <c:v>5</c:v>
                </c:pt>
                <c:pt idx="4">
                  <c:v>5</c:v>
                </c:pt>
                <c:pt idx="5">
                  <c:v>4</c:v>
                </c:pt>
                <c:pt idx="6">
                  <c:v>4</c:v>
                </c:pt>
                <c:pt idx="7">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Investment Product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Investment Product is the reference data that describes our strategies, products and share classes. It is static, descriptive data. Anything that moves, such as transactions and AUM, or that belongs to another owner, such as clients, is left to the owning domain and referenced by ID. 32 of the 92 specified data products read the domain directly, and 87 of the other 91 depend on its foundational product, DP-004.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Investment Product is one of 14 domains. The purple text shows the path to one attribute, Net Expense Ratio, which we follow to an answer near the end of the deck.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domain is strategy, vehicle and share class. A strategy is what we manage, independent of any vehicle. It is implemented by one or more vehicles: a pooled product such as a fund, ETF or CIT, a client mandate, or a model portfolio. Only pooled products issue share classes. Most classification is set at strategy level and inherited. Most commercial terms sit at share class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13 data families. For this walkthrough they are grouped in three: the spine, which is strategy, vehicle and share class; identity, classification and terms; and operations, distribution and governance.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spine families hold 92 attributes. Investment Strategy describes the capability and its GIPS composites. Product and Vehicle describes funds, mandates and model portfolios, their legal structure and how products relate to each other, for example feeder to master. Share Class is the unit of investor ownership. Business objects, in bold, have their own key. Attribute groups are sets of attributes held on their parent product or share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110 attributes. Identifiers lets every system and counterparty recognize the same share class. Classification carries the firm's own categories alongside external, regulatory and ESG schemes. Policy and Risk holds the objective, restrictions and risk indicators. Benchmark holds the benchmark master and its assignment to products by role. Fees holds the fee terms and the disclosed cost figures, including gross and net expense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85 attributes. Dealing, Valuation and Listing holds the operational terms an intermediary needs to trade. Parties and Roles records which service providers and portfolio managers serve each product over time. Distribution and Registration records where and to whom a share class may be sold, including the MiFID II target market. Regulatory, Tax and Disclosure holds authorization, documents and tax status. Lifecycle and Governance records events such as launches, closures and mergers, and the product review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183 of the 287 attributes, 64 percent, align to an external standard or regulation. openfunds is the largest single source. 104 attributes are firm-defined because no authoritative external definition exists. 94 attributes take their values from a controlled code list. The exact field-level mapping to openfunds and FinDatEx field IDs is a Phase D task and has not been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Investment Product is reference data about the product. It deliberately leaves out anything that is a transaction or time series, and anything another domain masters. This table shows where each excluded subject lives and the small amount Investment Product keeps so it can point to it. Two subjects have no home yet: the security master for holdings is outside the program's 14 domains, and our own performance returns are an open gap, GAP-01-004.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269 of the 287 are mastered in Investment Product. 14 are references, which hold only the ID of a record mastered in another domain. 4 are derived copies, shown for convenience and never edited here. Record Metadata, the seven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20 gaps against Investment Product. Five are resolved. Fifteen are proposed and waiting for a decision: three high priority, three medium and nine low. The six shown here are the high and medium ones. Three of them come from one product, the FinDatEx distributor feed, which needs PRIIPs, ESG and ex-post cost detail the domain does not yet hold.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product source is mapped to. That mapping to the firm's actual systems is Phase D and has not been done. Second, it is the bill of materials for data products: each product lists the exact attributes it uses, and the build fails if one does not exist. Third, product and share class are published once as shared dimensions in the semantic layer. Fourth, the ownership flags and the 91 proposed critical data elements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DP-004, Product and Share Class Distribution Reference, is the foundational data product for this domain. It takes 97 attributes from 20 of the 46 objects and conforms identifiers and source system codes once, so that transactions, positions, agreements, shelf placements and reports all refer to the same share class. 69 other products name it as a direct upstream, and 87 of the other 91 depend on it directly or indirectly. Lifecycle events that are approved but not yet announced are withheld until the announcement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of the 92 specified data products list Investment Product objects among their inputs: 2 foundational and 30 consumer-aligned. Every one of the 46 objects is used by at least one product, and 242 of the 287 attributes, 84 percent, appear in a product specification. Share Class is by far the most used object, read by 21 products. Regulatory and control products are the largest group, which reflects how much product data regulators require distributors and manufacturers to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data products have Investment Product as their owning domain. DP-004 is the foundational reference. The other four are consumer-aligned: operational terms for intermediaries, the FinDatEx distributor feed for the EEA and UK, launch readiness tracking, and pricing and fee waiver analytics. The bar on the right shows how many of each product's input attributes come from Investment Product. The rest come from other domains, for example partner set-up from Distribution Agreements &amp; Partners or peer fees from Market &amp; Competitive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27 products are owned by other domains but read Investment Product attributes directly. They are grouped here by the business function they serve. Compliance and product governance is the largest group. Beyond these, 56 more products take product and share class only through DP-004,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Net Expense Ratio is defined once in Investment Product, in the Cost Disclosure object. DP-004 carries it per share class. DP-030 and DP-059 compare it with the peer median fee, which Market &amp; Competitive Intelligence masters, and neither restates our fee. The semantic model SM-06 publishes the resulting metric, Fee Gap to Peer Median, from DP-030. The same metric then answers the dashboard and a plain-English question. The companion deck, Taxonomy Talk Through Investment Product, walks this question level by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domain's boundary and are still open. Two concern fees: who owns the fund advisory agreement, and whether to add a versioned fee schedule. One concerns performance returns, and one how portfolio managers are referenced. The next steps on the right come from the taxonomy's own plan: validate with the business, map to source systems in Phase D, map to standard field IDs, confirm owners and stewards, and triage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Investment Product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INVESTMENT PRODUCT</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Investment Product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Investment Strategy</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manage</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Product &amp; Vehicle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How it is packaged</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Share Class</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How investors own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what we sell,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13</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46</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287</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91</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Strategies, products and vehicles, share classes, and the reference data that describes them: identifiers, classifications, fees, dealing terms, registrations, documents and lifecycle.</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Anything that moves or has another owner: transactions, flows, AUM and returns; clients and other parties; agreements and shelf status; the security master for holdings.</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product sources, the bill of materials for data products, and the product dimension that every semantic model shares.</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32 of the 92 data products read it directly. 87 of the other 91 depend on its foundational product, DP-004.</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Investment Product</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13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Fees, Charges &amp; Costs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46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Cost Disclosure</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287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Net Expense Ratio</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level it applies to: strategy, product, share class or mandate</a:t>
            </a:r>
            <a:endParaRPr lang="en-US" sz="1400" dirty="0"/>
          </a:p>
          <a:p>
            <a:pPr marL="177800" indent="-177800">
              <a:spcAft>
                <a:spcPts val="700"/>
              </a:spcAft>
              <a:buSzPct val="100000"/>
              <a:buChar char="•"/>
            </a:pPr>
            <a:r>
              <a:rPr lang="en-US" sz="1400" dirty="0">
                <a:solidFill>
                  <a:schemeClr val="tx1"/>
                </a:solidFill>
              </a:rPr>
              <a:t>The standard or regulation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has three levels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WE MANAGE</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HOW IT IS PACKAGED</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HOW INVESTORS OWN IT</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Investment Strategy</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The capability, independent of vehicle</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GIPS Composite</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Presents the strategy's performance</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strategy can be offered through many vehicles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Investment Product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Fund, sub-fund, ETF, CIT or other pooled vehicle</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Investment Mandate</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Segregated account or SMA for one client</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Model Portfolio</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Delivered to a platform or sponsor</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Share Class</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Currency, fees, hedging, eligibility</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One product issues one or more share classes. Mandates and models have none.</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Most classification is set at Strategy and inherited by Product. Most commercial terms (fees, currency, registration, identifiers) sit at Share Class: 110 of the 287 attributes apply to share class alone, and 86 to product alone.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13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Thirteen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12 objects  |  92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Investment Strategy</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27 attributes  |  9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Product &amp; Vehicle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43 attributes  |  21 critical</a:t>
            </a:r>
            <a:endParaRPr lang="en-US" sz="1100" dirty="0"/>
          </a:p>
        </p:txBody>
      </p:sp>
      <p:sp>
        <p:nvSpPr>
          <p:cNvPr id="14" name="Shape 11"/>
          <p:cNvSpPr/>
          <p:nvPr/>
        </p:nvSpPr>
        <p:spPr>
          <a:xfrm>
            <a:off x="548640" y="4123944"/>
            <a:ext cx="3511296" cy="612648"/>
          </a:xfrm>
          <a:prstGeom prst="roundRect">
            <a:avLst>
              <a:gd name="adj" fmla="val 11940"/>
            </a:avLst>
          </a:prstGeom>
          <a:solidFill>
            <a:schemeClr val="bg2"/>
          </a:solidFill>
          <a:ln/>
        </p:spPr>
      </p:sp>
      <p:sp>
        <p:nvSpPr>
          <p:cNvPr id="15" name="Text 12"/>
          <p:cNvSpPr txBox="1"/>
          <p:nvPr/>
        </p:nvSpPr>
        <p:spPr>
          <a:xfrm>
            <a:off x="731520"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Share Class</a:t>
            </a:r>
            <a:endParaRPr lang="en-US" sz="1300" dirty="0"/>
          </a:p>
        </p:txBody>
      </p:sp>
      <p:sp>
        <p:nvSpPr>
          <p:cNvPr id="16" name="Text 13"/>
          <p:cNvSpPr txBox="1"/>
          <p:nvPr/>
        </p:nvSpPr>
        <p:spPr>
          <a:xfrm>
            <a:off x="731520"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10 critical</a:t>
            </a:r>
            <a:endParaRPr lang="en-US" sz="1100" dirty="0"/>
          </a:p>
        </p:txBody>
      </p:sp>
      <p:sp>
        <p:nvSpPr>
          <p:cNvPr id="17" name="Shape 14"/>
          <p:cNvSpPr/>
          <p:nvPr/>
        </p:nvSpPr>
        <p:spPr>
          <a:xfrm>
            <a:off x="4338828" y="1783080"/>
            <a:ext cx="3511296" cy="777240"/>
          </a:xfrm>
          <a:prstGeom prst="roundRect">
            <a:avLst>
              <a:gd name="adj" fmla="val 9412"/>
            </a:avLst>
          </a:prstGeom>
          <a:solidFill>
            <a:schemeClr val="accent2"/>
          </a:solidFill>
          <a:ln/>
        </p:spPr>
      </p:sp>
      <p:sp>
        <p:nvSpPr>
          <p:cNvPr id="18" name="Text 15"/>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Identity, classification and terms</a:t>
            </a:r>
            <a:endParaRPr lang="en-US" sz="1400" dirty="0"/>
          </a:p>
        </p:txBody>
      </p:sp>
      <p:sp>
        <p:nvSpPr>
          <p:cNvPr id="19" name="Text 16"/>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19 objects  |  110 attributes</a:t>
            </a:r>
            <a:endParaRPr lang="en-US" sz="1200" dirty="0"/>
          </a:p>
        </p:txBody>
      </p:sp>
      <p:sp>
        <p:nvSpPr>
          <p:cNvPr id="20" name="Shape 17"/>
          <p:cNvSpPr/>
          <p:nvPr/>
        </p:nvSpPr>
        <p:spPr>
          <a:xfrm>
            <a:off x="4338828" y="2697480"/>
            <a:ext cx="3511296" cy="612648"/>
          </a:xfrm>
          <a:prstGeom prst="roundRect">
            <a:avLst>
              <a:gd name="adj" fmla="val 11940"/>
            </a:avLst>
          </a:prstGeom>
          <a:solidFill>
            <a:schemeClr val="bg2"/>
          </a:solidFill>
          <a:ln/>
        </p:spPr>
      </p:sp>
      <p:sp>
        <p:nvSpPr>
          <p:cNvPr id="21" name="Text 18"/>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Identifiers &amp; Cross-References</a:t>
            </a:r>
            <a:endParaRPr lang="en-US" sz="1300" dirty="0"/>
          </a:p>
        </p:txBody>
      </p:sp>
      <p:sp>
        <p:nvSpPr>
          <p:cNvPr id="22" name="Text 19"/>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19 attributes  |  3 critical</a:t>
            </a:r>
            <a:endParaRPr lang="en-US" sz="1100" dirty="0"/>
          </a:p>
        </p:txBody>
      </p:sp>
      <p:sp>
        <p:nvSpPr>
          <p:cNvPr id="23" name="Shape 20"/>
          <p:cNvSpPr/>
          <p:nvPr/>
        </p:nvSpPr>
        <p:spPr>
          <a:xfrm>
            <a:off x="4338828" y="3410712"/>
            <a:ext cx="3511296" cy="612648"/>
          </a:xfrm>
          <a:prstGeom prst="roundRect">
            <a:avLst>
              <a:gd name="adj" fmla="val 11940"/>
            </a:avLst>
          </a:prstGeom>
          <a:solidFill>
            <a:schemeClr val="bg2"/>
          </a:solidFill>
          <a:ln/>
        </p:spPr>
      </p:sp>
      <p:sp>
        <p:nvSpPr>
          <p:cNvPr id="24" name="Text 21"/>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Product Classification</a:t>
            </a:r>
            <a:endParaRPr lang="en-US" sz="1300" dirty="0"/>
          </a:p>
        </p:txBody>
      </p:sp>
      <p:sp>
        <p:nvSpPr>
          <p:cNvPr id="25" name="Text 22"/>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5 critical</a:t>
            </a:r>
            <a:endParaRPr lang="en-US" sz="1100" dirty="0"/>
          </a:p>
        </p:txBody>
      </p:sp>
      <p:sp>
        <p:nvSpPr>
          <p:cNvPr id="26" name="Shape 23"/>
          <p:cNvSpPr/>
          <p:nvPr/>
        </p:nvSpPr>
        <p:spPr>
          <a:xfrm>
            <a:off x="4338828" y="4123944"/>
            <a:ext cx="3511296" cy="612648"/>
          </a:xfrm>
          <a:prstGeom prst="roundRect">
            <a:avLst>
              <a:gd name="adj" fmla="val 11940"/>
            </a:avLst>
          </a:prstGeom>
          <a:solidFill>
            <a:schemeClr val="bg2"/>
          </a:solidFill>
          <a:ln/>
        </p:spPr>
      </p:sp>
      <p:sp>
        <p:nvSpPr>
          <p:cNvPr id="27" name="Text 24"/>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Investment Policy &amp; Risk</a:t>
            </a:r>
            <a:endParaRPr lang="en-US" sz="1300" dirty="0"/>
          </a:p>
        </p:txBody>
      </p:sp>
      <p:sp>
        <p:nvSpPr>
          <p:cNvPr id="28" name="Text 25"/>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21 attributes  |  5 critical</a:t>
            </a:r>
            <a:endParaRPr lang="en-US" sz="1100" dirty="0"/>
          </a:p>
        </p:txBody>
      </p:sp>
      <p:sp>
        <p:nvSpPr>
          <p:cNvPr id="29" name="Shape 26"/>
          <p:cNvSpPr/>
          <p:nvPr/>
        </p:nvSpPr>
        <p:spPr>
          <a:xfrm>
            <a:off x="4338828" y="4837176"/>
            <a:ext cx="3511296" cy="612648"/>
          </a:xfrm>
          <a:prstGeom prst="roundRect">
            <a:avLst>
              <a:gd name="adj" fmla="val 11940"/>
            </a:avLst>
          </a:prstGeom>
          <a:solidFill>
            <a:schemeClr val="bg2"/>
          </a:solidFill>
          <a:ln/>
        </p:spPr>
      </p:sp>
      <p:sp>
        <p:nvSpPr>
          <p:cNvPr id="30" name="Text 27"/>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Benchmark &amp; Performance Reference</a:t>
            </a:r>
            <a:endParaRPr lang="en-US" sz="1300" dirty="0"/>
          </a:p>
        </p:txBody>
      </p:sp>
      <p:sp>
        <p:nvSpPr>
          <p:cNvPr id="31" name="Text 28"/>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7 critical</a:t>
            </a:r>
            <a:endParaRPr lang="en-US" sz="1100" dirty="0"/>
          </a:p>
        </p:txBody>
      </p:sp>
      <p:sp>
        <p:nvSpPr>
          <p:cNvPr id="32" name="Shape 29"/>
          <p:cNvSpPr/>
          <p:nvPr/>
        </p:nvSpPr>
        <p:spPr>
          <a:xfrm>
            <a:off x="4338828" y="5550408"/>
            <a:ext cx="3511296" cy="612648"/>
          </a:xfrm>
          <a:prstGeom prst="roundRect">
            <a:avLst>
              <a:gd name="adj" fmla="val 11940"/>
            </a:avLst>
          </a:prstGeom>
          <a:solidFill>
            <a:schemeClr val="bg2"/>
          </a:solidFill>
          <a:ln/>
        </p:spPr>
      </p:sp>
      <p:sp>
        <p:nvSpPr>
          <p:cNvPr id="33" name="Text 30"/>
          <p:cNvSpPr txBox="1"/>
          <p:nvPr/>
        </p:nvSpPr>
        <p:spPr>
          <a:xfrm>
            <a:off x="4521708"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Fees, Charges &amp; Costs</a:t>
            </a:r>
            <a:endParaRPr lang="en-US" sz="1300" dirty="0"/>
          </a:p>
        </p:txBody>
      </p:sp>
      <p:sp>
        <p:nvSpPr>
          <p:cNvPr id="34" name="Text 31"/>
          <p:cNvSpPr txBox="1"/>
          <p:nvPr/>
        </p:nvSpPr>
        <p:spPr>
          <a:xfrm>
            <a:off x="4521708"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29 attributes  |  5 critical</a:t>
            </a:r>
            <a:endParaRPr lang="en-US" sz="1100" dirty="0"/>
          </a:p>
        </p:txBody>
      </p:sp>
      <p:sp>
        <p:nvSpPr>
          <p:cNvPr id="35" name="Shape 32"/>
          <p:cNvSpPr/>
          <p:nvPr/>
        </p:nvSpPr>
        <p:spPr>
          <a:xfrm>
            <a:off x="8129016" y="1783080"/>
            <a:ext cx="3511296" cy="777240"/>
          </a:xfrm>
          <a:prstGeom prst="roundRect">
            <a:avLst>
              <a:gd name="adj" fmla="val 9412"/>
            </a:avLst>
          </a:prstGeom>
          <a:solidFill>
            <a:schemeClr val="accent5"/>
          </a:solidFill>
          <a:ln/>
        </p:spPr>
      </p:sp>
      <p:sp>
        <p:nvSpPr>
          <p:cNvPr id="36" name="Text 33"/>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Operate, distribute and govern</a:t>
            </a:r>
            <a:endParaRPr lang="en-US" sz="1400" dirty="0"/>
          </a:p>
        </p:txBody>
      </p:sp>
      <p:sp>
        <p:nvSpPr>
          <p:cNvPr id="37" name="Text 34"/>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15 objects  |  85 attributes</a:t>
            </a:r>
            <a:endParaRPr lang="en-US" sz="1200" dirty="0"/>
          </a:p>
        </p:txBody>
      </p:sp>
      <p:sp>
        <p:nvSpPr>
          <p:cNvPr id="38" name="Shape 35"/>
          <p:cNvSpPr/>
          <p:nvPr/>
        </p:nvSpPr>
        <p:spPr>
          <a:xfrm>
            <a:off x="8129016" y="2697480"/>
            <a:ext cx="3511296" cy="612648"/>
          </a:xfrm>
          <a:prstGeom prst="roundRect">
            <a:avLst>
              <a:gd name="adj" fmla="val 11940"/>
            </a:avLst>
          </a:prstGeom>
          <a:solidFill>
            <a:schemeClr val="bg2"/>
          </a:solidFill>
          <a:ln/>
        </p:spPr>
      </p:sp>
      <p:sp>
        <p:nvSpPr>
          <p:cNvPr id="39" name="Text 36"/>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Dealing, Valuation &amp; Listing</a:t>
            </a:r>
            <a:endParaRPr lang="en-US" sz="1300" dirty="0"/>
          </a:p>
        </p:txBody>
      </p:sp>
      <p:sp>
        <p:nvSpPr>
          <p:cNvPr id="40" name="Text 37"/>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8 critical</a:t>
            </a:r>
            <a:endParaRPr lang="en-US" sz="1100" dirty="0"/>
          </a:p>
        </p:txBody>
      </p:sp>
      <p:sp>
        <p:nvSpPr>
          <p:cNvPr id="41" name="Shape 38"/>
          <p:cNvSpPr/>
          <p:nvPr/>
        </p:nvSpPr>
        <p:spPr>
          <a:xfrm>
            <a:off x="8129016" y="3410712"/>
            <a:ext cx="3511296" cy="612648"/>
          </a:xfrm>
          <a:prstGeom prst="roundRect">
            <a:avLst>
              <a:gd name="adj" fmla="val 11940"/>
            </a:avLst>
          </a:prstGeom>
          <a:solidFill>
            <a:schemeClr val="bg2"/>
          </a:solidFill>
          <a:ln/>
        </p:spPr>
      </p:sp>
      <p:sp>
        <p:nvSpPr>
          <p:cNvPr id="42" name="Text 39"/>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Product Parties &amp; Roles</a:t>
            </a:r>
            <a:endParaRPr lang="en-US" sz="1300" dirty="0"/>
          </a:p>
        </p:txBody>
      </p:sp>
      <p:sp>
        <p:nvSpPr>
          <p:cNvPr id="43" name="Text 40"/>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11 attributes  |  5 critical</a:t>
            </a:r>
            <a:endParaRPr lang="en-US" sz="1100" dirty="0"/>
          </a:p>
        </p:txBody>
      </p:sp>
      <p:sp>
        <p:nvSpPr>
          <p:cNvPr id="44" name="Shape 41"/>
          <p:cNvSpPr/>
          <p:nvPr/>
        </p:nvSpPr>
        <p:spPr>
          <a:xfrm>
            <a:off x="8129016" y="4123944"/>
            <a:ext cx="3511296" cy="612648"/>
          </a:xfrm>
          <a:prstGeom prst="roundRect">
            <a:avLst>
              <a:gd name="adj" fmla="val 11940"/>
            </a:avLst>
          </a:prstGeom>
          <a:solidFill>
            <a:schemeClr val="bg2"/>
          </a:solidFill>
          <a:ln/>
        </p:spPr>
      </p:sp>
      <p:sp>
        <p:nvSpPr>
          <p:cNvPr id="45" name="Text 42"/>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Distribution &amp; Registration</a:t>
            </a:r>
            <a:endParaRPr lang="en-US" sz="1300" dirty="0"/>
          </a:p>
        </p:txBody>
      </p:sp>
      <p:sp>
        <p:nvSpPr>
          <p:cNvPr id="46" name="Text 43"/>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18 attributes  |  4 critical</a:t>
            </a:r>
            <a:endParaRPr lang="en-US" sz="1100" dirty="0"/>
          </a:p>
        </p:txBody>
      </p:sp>
      <p:sp>
        <p:nvSpPr>
          <p:cNvPr id="47" name="Shape 44"/>
          <p:cNvSpPr/>
          <p:nvPr/>
        </p:nvSpPr>
        <p:spPr>
          <a:xfrm>
            <a:off x="8129016" y="4837176"/>
            <a:ext cx="3511296" cy="612648"/>
          </a:xfrm>
          <a:prstGeom prst="roundRect">
            <a:avLst>
              <a:gd name="adj" fmla="val 11940"/>
            </a:avLst>
          </a:prstGeom>
          <a:solidFill>
            <a:schemeClr val="bg2"/>
          </a:solidFill>
          <a:ln/>
        </p:spPr>
      </p:sp>
      <p:sp>
        <p:nvSpPr>
          <p:cNvPr id="48" name="Text 45"/>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Regulatory, Tax &amp; Disclosure</a:t>
            </a:r>
            <a:endParaRPr lang="en-US" sz="1300" dirty="0"/>
          </a:p>
        </p:txBody>
      </p:sp>
      <p:sp>
        <p:nvSpPr>
          <p:cNvPr id="49" name="Text 46"/>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18 attributes  |  4 critical</a:t>
            </a:r>
            <a:endParaRPr lang="en-US" sz="1100" dirty="0"/>
          </a:p>
        </p:txBody>
      </p:sp>
      <p:sp>
        <p:nvSpPr>
          <p:cNvPr id="50" name="Shape 47"/>
          <p:cNvSpPr/>
          <p:nvPr/>
        </p:nvSpPr>
        <p:spPr>
          <a:xfrm>
            <a:off x="8129016" y="5550408"/>
            <a:ext cx="3511296" cy="612648"/>
          </a:xfrm>
          <a:prstGeom prst="roundRect">
            <a:avLst>
              <a:gd name="adj" fmla="val 11940"/>
            </a:avLst>
          </a:prstGeom>
          <a:solidFill>
            <a:schemeClr val="bg2"/>
          </a:solidFill>
          <a:ln/>
        </p:spPr>
      </p:sp>
      <p:sp>
        <p:nvSpPr>
          <p:cNvPr id="51" name="Text 48"/>
          <p:cNvSpPr txBox="1"/>
          <p:nvPr/>
        </p:nvSpPr>
        <p:spPr>
          <a:xfrm>
            <a:off x="8311896"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Lifecycle &amp; Governance</a:t>
            </a:r>
            <a:endParaRPr lang="en-US" sz="1300" dirty="0"/>
          </a:p>
        </p:txBody>
      </p:sp>
      <p:sp>
        <p:nvSpPr>
          <p:cNvPr id="52" name="Text 49"/>
          <p:cNvSpPr txBox="1"/>
          <p:nvPr/>
        </p:nvSpPr>
        <p:spPr>
          <a:xfrm>
            <a:off x="8311896"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13 attributes  |  5 critical</a:t>
            </a:r>
            <a:endParaRPr lang="en-US" sz="1100" dirty="0"/>
          </a:p>
        </p:txBody>
      </p:sp>
      <p:sp>
        <p:nvSpPr>
          <p:cNvPr id="53" name="Text 50"/>
          <p:cNvSpPr txBox="1"/>
          <p:nvPr/>
        </p:nvSpPr>
        <p:spPr>
          <a:xfrm>
            <a:off x="548640" y="4974336"/>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what we manage, package and sell</a:t>
            </a:r>
            <a:endParaRPr lang="en-US" sz="3600" dirty="0"/>
          </a:p>
        </p:txBody>
      </p:sp>
      <p:sp>
        <p:nvSpPr>
          <p:cNvPr id="5" name="Shape 2"/>
          <p:cNvSpPr/>
          <p:nvPr/>
        </p:nvSpPr>
        <p:spPr>
          <a:xfrm>
            <a:off x="548640" y="1783080"/>
            <a:ext cx="3511296" cy="4069080"/>
          </a:xfrm>
          <a:prstGeom prst="roundRect">
            <a:avLst>
              <a:gd name="adj" fmla="val 2083"/>
            </a:avLst>
          </a:prstGeom>
          <a:solidFill>
            <a:schemeClr val="bg2"/>
          </a:solidFill>
          <a:ln/>
        </p:spPr>
      </p:sp>
      <p:sp>
        <p:nvSpPr>
          <p:cNvPr id="6" name="Text 3"/>
          <p:cNvSpPr txBox="1"/>
          <p:nvPr/>
        </p:nvSpPr>
        <p:spPr>
          <a:xfrm>
            <a:off x="777240" y="1965960"/>
            <a:ext cx="3054096" cy="365760"/>
          </a:xfrm>
          <a:prstGeom prst="rect">
            <a:avLst/>
          </a:prstGeom>
          <a:noFill/>
          <a:ln/>
        </p:spPr>
        <p:txBody>
          <a:bodyPr wrap="square" lIns="0" tIns="0" rIns="0" bIns="0" rtlCol="0" anchor="ctr"/>
          <a:lstStyle/>
          <a:p>
            <a:pPr algn="l" indent="0" marL="0">
              <a:buNone/>
            </a:pPr>
            <a:r>
              <a:rPr lang="en-US" sz="1800" b="1" dirty="0">
                <a:solidFill>
                  <a:schemeClr val="accent1"/>
                </a:solidFill>
              </a:rPr>
              <a:t>Investment Strategy</a:t>
            </a:r>
            <a:endParaRPr lang="en-US" sz="1800" dirty="0"/>
          </a:p>
        </p:txBody>
      </p:sp>
      <p:sp>
        <p:nvSpPr>
          <p:cNvPr id="7" name="Text 4"/>
          <p:cNvSpPr txBox="1"/>
          <p:nvPr/>
        </p:nvSpPr>
        <p:spPr>
          <a:xfrm>
            <a:off x="777240"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3 objects  |  27 attributes  |  9 critical</a:t>
            </a:r>
            <a:endParaRPr lang="en-US" sz="1200" dirty="0"/>
          </a:p>
        </p:txBody>
      </p:sp>
      <p:sp>
        <p:nvSpPr>
          <p:cNvPr id="8" name="Text 5"/>
          <p:cNvSpPr txBox="1"/>
          <p:nvPr/>
        </p:nvSpPr>
        <p:spPr>
          <a:xfrm>
            <a:off x="777240"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investment capability the firm manages, independent of the vehicles it is offered through.</a:t>
            </a:r>
            <a:endParaRPr lang="en-US" sz="1300" dirty="0"/>
          </a:p>
        </p:txBody>
      </p:sp>
      <p:sp>
        <p:nvSpPr>
          <p:cNvPr id="9" name="Text 6"/>
          <p:cNvSpPr txBox="1"/>
          <p:nvPr/>
        </p:nvSpPr>
        <p:spPr>
          <a:xfrm>
            <a:off x="777240"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Investment Strategy, </a:t>
            </a:r>
            <a:pPr indent="0" marL="0">
              <a:buNone/>
            </a:pPr>
            <a:r>
              <a:rPr lang="en-US" sz="1300" dirty="0">
                <a:solidFill>
                  <a:schemeClr val="tx1"/>
                </a:solidFill>
              </a:rPr>
              <a:t>Strategy Classification, </a:t>
            </a:r>
            <a:pPr indent="0" marL="0">
              <a:buNone/>
            </a:pPr>
            <a:r>
              <a:rPr lang="en-US" sz="1300" b="1" dirty="0">
                <a:solidFill>
                  <a:schemeClr val="tx1"/>
                </a:solidFill>
              </a:rPr>
              <a:t>GIPS Composite</a:t>
            </a:r>
            <a:endParaRPr lang="en-US" sz="1300" dirty="0"/>
          </a:p>
        </p:txBody>
      </p:sp>
      <p:sp>
        <p:nvSpPr>
          <p:cNvPr id="11" name="Text 8"/>
          <p:cNvSpPr txBox="1"/>
          <p:nvPr/>
        </p:nvSpPr>
        <p:spPr>
          <a:xfrm>
            <a:off x="777240"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Strategy ID, Asset Class, Investment Approach, Geographic Focus, Composite ID</a:t>
            </a:r>
            <a:endParaRPr lang="en-US" sz="1300" dirty="0"/>
          </a:p>
        </p:txBody>
      </p:sp>
      <p:sp>
        <p:nvSpPr>
          <p:cNvPr id="13" name="Shape 10"/>
          <p:cNvSpPr/>
          <p:nvPr/>
        </p:nvSpPr>
        <p:spPr>
          <a:xfrm>
            <a:off x="4338828" y="1783080"/>
            <a:ext cx="3511296" cy="4069080"/>
          </a:xfrm>
          <a:prstGeom prst="roundRect">
            <a:avLst>
              <a:gd name="adj" fmla="val 2083"/>
            </a:avLst>
          </a:prstGeom>
          <a:solidFill>
            <a:schemeClr val="bg2"/>
          </a:solidFill>
          <a:ln/>
        </p:spPr>
      </p:sp>
      <p:sp>
        <p:nvSpPr>
          <p:cNvPr id="14" name="Text 11"/>
          <p:cNvSpPr txBox="1"/>
          <p:nvPr/>
        </p:nvSpPr>
        <p:spPr>
          <a:xfrm>
            <a:off x="4567428" y="1965960"/>
            <a:ext cx="3054096" cy="365760"/>
          </a:xfrm>
          <a:prstGeom prst="rect">
            <a:avLst/>
          </a:prstGeom>
          <a:noFill/>
          <a:ln/>
        </p:spPr>
        <p:txBody>
          <a:bodyPr wrap="square" lIns="0" tIns="0" rIns="0" bIns="0" rtlCol="0" anchor="ctr"/>
          <a:lstStyle/>
          <a:p>
            <a:pPr algn="l" indent="0" marL="0">
              <a:buNone/>
            </a:pPr>
            <a:r>
              <a:rPr lang="en-US" sz="1800" b="1" dirty="0">
                <a:solidFill>
                  <a:schemeClr val="accent2"/>
                </a:solidFill>
              </a:rPr>
              <a:t>Product &amp; Vehicle</a:t>
            </a:r>
            <a:endParaRPr lang="en-US" sz="1800" dirty="0"/>
          </a:p>
        </p:txBody>
      </p:sp>
      <p:sp>
        <p:nvSpPr>
          <p:cNvPr id="15" name="Text 12"/>
          <p:cNvSpPr txBox="1"/>
          <p:nvPr/>
        </p:nvSpPr>
        <p:spPr>
          <a:xfrm>
            <a:off x="4567428"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5 objects  |  43 attributes  |  21 critical</a:t>
            </a:r>
            <a:endParaRPr lang="en-US" sz="1200" dirty="0"/>
          </a:p>
        </p:txBody>
      </p:sp>
      <p:sp>
        <p:nvSpPr>
          <p:cNvPr id="16" name="Text 13"/>
          <p:cNvSpPr txBox="1"/>
          <p:nvPr/>
        </p:nvSpPr>
        <p:spPr>
          <a:xfrm>
            <a:off x="4567428"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legal or contractual vehicle a strategy is offered through: pooled funds, mandates and model portfolios.</a:t>
            </a:r>
            <a:endParaRPr lang="en-US" sz="1300" dirty="0"/>
          </a:p>
        </p:txBody>
      </p:sp>
      <p:sp>
        <p:nvSpPr>
          <p:cNvPr id="17" name="Text 14"/>
          <p:cNvSpPr txBox="1"/>
          <p:nvPr/>
        </p:nvSpPr>
        <p:spPr>
          <a:xfrm>
            <a:off x="4567428"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4567428"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Investment Product, </a:t>
            </a:r>
            <a:pPr indent="0" marL="0">
              <a:buNone/>
            </a:pPr>
            <a:r>
              <a:rPr lang="en-US" sz="1300" dirty="0">
                <a:solidFill>
                  <a:schemeClr val="tx1"/>
                </a:solidFill>
              </a:rPr>
              <a:t>Fund Legal Structure, </a:t>
            </a:r>
            <a:pPr indent="0" marL="0">
              <a:buNone/>
            </a:pPr>
            <a:r>
              <a:rPr lang="en-US" sz="1300" b="1" dirty="0">
                <a:solidFill>
                  <a:schemeClr val="tx1"/>
                </a:solidFill>
              </a:rPr>
              <a:t>Investment Mandate, </a:t>
            </a:r>
            <a:pPr indent="0" marL="0">
              <a:buNone/>
            </a:pPr>
            <a:r>
              <a:rPr lang="en-US" sz="1300" b="1" dirty="0">
                <a:solidFill>
                  <a:schemeClr val="tx1"/>
                </a:solidFill>
              </a:rPr>
              <a:t>Model Portfolio, </a:t>
            </a:r>
            <a:pPr indent="0" marL="0">
              <a:buNone/>
            </a:pPr>
            <a:r>
              <a:rPr lang="en-US" sz="1300" b="1" dirty="0">
                <a:solidFill>
                  <a:schemeClr val="tx1"/>
                </a:solidFill>
              </a:rPr>
              <a:t>Product Relationship</a:t>
            </a:r>
            <a:endParaRPr lang="en-US" sz="1300" dirty="0"/>
          </a:p>
        </p:txBody>
      </p:sp>
      <p:sp>
        <p:nvSpPr>
          <p:cNvPr id="19" name="Text 16"/>
          <p:cNvSpPr txBox="1"/>
          <p:nvPr/>
        </p:nvSpPr>
        <p:spPr>
          <a:xfrm>
            <a:off x="4567428"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4567428"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Vehicle Type, Legal Form, Regulatory Regime, Fund Domicile, Master-Feeder Role</a:t>
            </a:r>
            <a:endParaRPr lang="en-US" sz="1300" dirty="0"/>
          </a:p>
        </p:txBody>
      </p:sp>
      <p:sp>
        <p:nvSpPr>
          <p:cNvPr id="21" name="Shape 18"/>
          <p:cNvSpPr/>
          <p:nvPr/>
        </p:nvSpPr>
        <p:spPr>
          <a:xfrm>
            <a:off x="8129016" y="1783080"/>
            <a:ext cx="3511296" cy="4069080"/>
          </a:xfrm>
          <a:prstGeom prst="roundRect">
            <a:avLst>
              <a:gd name="adj" fmla="val 2083"/>
            </a:avLst>
          </a:prstGeom>
          <a:solidFill>
            <a:schemeClr val="bg2"/>
          </a:solidFill>
          <a:ln/>
        </p:spPr>
      </p:sp>
      <p:sp>
        <p:nvSpPr>
          <p:cNvPr id="22" name="Text 19"/>
          <p:cNvSpPr txBox="1"/>
          <p:nvPr/>
        </p:nvSpPr>
        <p:spPr>
          <a:xfrm>
            <a:off x="8357616" y="1965960"/>
            <a:ext cx="3054096" cy="365760"/>
          </a:xfrm>
          <a:prstGeom prst="rect">
            <a:avLst/>
          </a:prstGeom>
          <a:noFill/>
          <a:ln/>
        </p:spPr>
        <p:txBody>
          <a:bodyPr wrap="square" lIns="0" tIns="0" rIns="0" bIns="0" rtlCol="0" anchor="ctr"/>
          <a:lstStyle/>
          <a:p>
            <a:pPr algn="l" indent="0" marL="0">
              <a:buNone/>
            </a:pPr>
            <a:r>
              <a:rPr lang="en-US" sz="1800" b="1" dirty="0">
                <a:solidFill>
                  <a:schemeClr val="accent4"/>
                </a:solidFill>
              </a:rPr>
              <a:t>Share Class</a:t>
            </a:r>
            <a:endParaRPr lang="en-US" sz="1800" dirty="0"/>
          </a:p>
        </p:txBody>
      </p:sp>
      <p:sp>
        <p:nvSpPr>
          <p:cNvPr id="23" name="Text 20"/>
          <p:cNvSpPr txBox="1"/>
          <p:nvPr/>
        </p:nvSpPr>
        <p:spPr>
          <a:xfrm>
            <a:off x="8357616"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22 attributes  |  10 critical</a:t>
            </a:r>
            <a:endParaRPr lang="en-US" sz="1200" dirty="0"/>
          </a:p>
        </p:txBody>
      </p:sp>
      <p:sp>
        <p:nvSpPr>
          <p:cNvPr id="24" name="Text 21"/>
          <p:cNvSpPr txBox="1"/>
          <p:nvPr/>
        </p:nvSpPr>
        <p:spPr>
          <a:xfrm>
            <a:off x="8357616"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unit of investor ownership, set apart by currency, fees, distribution policy, hedging and eligibility.</a:t>
            </a:r>
            <a:endParaRPr lang="en-US" sz="1300" dirty="0"/>
          </a:p>
        </p:txBody>
      </p:sp>
      <p:sp>
        <p:nvSpPr>
          <p:cNvPr id="25" name="Text 22"/>
          <p:cNvSpPr txBox="1"/>
          <p:nvPr/>
        </p:nvSpPr>
        <p:spPr>
          <a:xfrm>
            <a:off x="8357616"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26" name="Text 23"/>
          <p:cNvSpPr txBox="1"/>
          <p:nvPr/>
        </p:nvSpPr>
        <p:spPr>
          <a:xfrm>
            <a:off x="8357616"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Share Class, </a:t>
            </a:r>
            <a:pPr indent="0" marL="0">
              <a:buNone/>
            </a:pPr>
            <a:r>
              <a:rPr lang="en-US" sz="1300" dirty="0">
                <a:solidFill>
                  <a:schemeClr val="tx1"/>
                </a:solidFill>
              </a:rPr>
              <a:t>Currency Hedging, </a:t>
            </a:r>
            <a:pPr indent="0" marL="0">
              <a:buNone/>
            </a:pPr>
            <a:r>
              <a:rPr lang="en-US" sz="1300" dirty="0">
                <a:solidFill>
                  <a:schemeClr val="tx1"/>
                </a:solidFill>
              </a:rPr>
              <a:t>Income Distribution, </a:t>
            </a:r>
            <a:pPr indent="0" marL="0">
              <a:buNone/>
            </a:pPr>
            <a:r>
              <a:rPr lang="en-US" sz="1300" dirty="0">
                <a:solidFill>
                  <a:schemeClr val="tx1"/>
                </a:solidFill>
              </a:rPr>
              <a:t>Investor Eligibility</a:t>
            </a:r>
            <a:endParaRPr lang="en-US" sz="1300" dirty="0"/>
          </a:p>
        </p:txBody>
      </p:sp>
      <p:sp>
        <p:nvSpPr>
          <p:cNvPr id="27" name="Text 24"/>
          <p:cNvSpPr txBox="1"/>
          <p:nvPr/>
        </p:nvSpPr>
        <p:spPr>
          <a:xfrm>
            <a:off x="8357616"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8" name="Text 25"/>
          <p:cNvSpPr txBox="1"/>
          <p:nvPr/>
        </p:nvSpPr>
        <p:spPr>
          <a:xfrm>
            <a:off x="8357616"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Share Class Type, Share Class Status, Distribution Policy, Minimum Initial Investment</a:t>
            </a:r>
            <a:endParaRPr lang="en-US" sz="1300" dirty="0"/>
          </a:p>
        </p:txBody>
      </p:sp>
      <p:sp>
        <p:nvSpPr>
          <p:cNvPr id="29" name="Text 26"/>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product or share class.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Identity, classification and terms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926080"/>
                <a:gridCol w="301752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Identifiers &amp; Cross-References</a:t>
                      </a:r>
                      <a:endParaRPr lang="en-US" sz="1200" dirty="0"/>
                    </a:p>
                    <a:p>
                      <a:pPr indent="0" marL="0">
                        <a:buNone/>
                      </a:pPr>
                      <a:r>
                        <a:rPr lang="en-US" sz="1100" dirty="0">
                          <a:solidFill>
                            <a:schemeClr val="tx2"/>
                          </a:solidFill>
                        </a:rPr>
                        <a:t>4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vendor and internal identifiers that recognize a product or share class across systems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Security Identifier, </a:t>
                      </a:r>
                      <a:pPr indent="0" marL="0">
                        <a:buNone/>
                      </a:pPr>
                      <a:r>
                        <a:rPr lang="en-US" sz="1200" dirty="0">
                          <a:solidFill>
                            <a:schemeClr val="tx1"/>
                          </a:solidFill>
                        </a:rPr>
                        <a:t>Regulatory Filing Identifier, </a:t>
                      </a:r>
                      <a:pPr indent="0" marL="0">
                        <a:buNone/>
                      </a:pPr>
                      <a:r>
                        <a:rPr lang="en-US" sz="1200" dirty="0">
                          <a:solidFill>
                            <a:schemeClr val="tx1"/>
                          </a:solidFill>
                        </a:rPr>
                        <a:t>External Cross-Reference, </a:t>
                      </a:r>
                      <a:pPr indent="0" marL="0">
                        <a:buNone/>
                      </a:pPr>
                      <a:r>
                        <a:rPr lang="en-US" sz="1200" b="1" dirty="0">
                          <a:solidFill>
                            <a:schemeClr val="tx1"/>
                          </a:solidFill>
                        </a:rPr>
                        <a:t>System Cross-Reference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ISIN, CUSIP, SEC Series ID, Morningstar SecId, DTCC Fund/SERV Code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Product Classification</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Firm, industry, regulatory and sustainability classifications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Firm Product Classification, </a:t>
                      </a:r>
                      <a:pPr indent="0" marL="0">
                        <a:buNone/>
                      </a:pPr>
                      <a:r>
                        <a:rPr lang="en-US" sz="1200" dirty="0">
                          <a:solidFill>
                            <a:schemeClr val="tx1"/>
                          </a:solidFill>
                        </a:rPr>
                        <a:t>External Classification, </a:t>
                      </a:r>
                      <a:pPr indent="0" marL="0">
                        <a:buNone/>
                      </a:pPr>
                      <a:r>
                        <a:rPr lang="en-US" sz="1200" dirty="0">
                          <a:solidFill>
                            <a:schemeClr val="tx1"/>
                          </a:solidFill>
                        </a:rPr>
                        <a:t>Regulatory Classification, </a:t>
                      </a:r>
                      <a:pPr indent="0" marL="0">
                        <a:buNone/>
                      </a:pPr>
                      <a:r>
                        <a:rPr lang="en-US" sz="1200" dirty="0">
                          <a:solidFill>
                            <a:schemeClr val="tx1"/>
                          </a:solidFill>
                        </a:rPr>
                        <a:t>ESG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Business Line, Morningstar Category, MiFID Complexity, SFDR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Investment Policy &amp; Risk</a:t>
                      </a:r>
                      <a:endParaRPr lang="en-US" sz="1200" dirty="0"/>
                    </a:p>
                    <a:p>
                      <a:pPr indent="0" marL="0">
                        <a:buNone/>
                      </a:pPr>
                      <a:r>
                        <a:rPr lang="en-US" sz="1100" dirty="0">
                          <a:solidFill>
                            <a:schemeClr val="tx2"/>
                          </a:solidFill>
                        </a:rPr>
                        <a:t>3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documented objective, policy, restrictions and risk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Objective &amp; Policy, </a:t>
                      </a:r>
                      <a:pPr indent="0" marL="0">
                        <a:buNone/>
                      </a:pPr>
                      <a:r>
                        <a:rPr lang="en-US" sz="1200" b="1" dirty="0">
                          <a:solidFill>
                            <a:schemeClr val="tx1"/>
                          </a:solidFill>
                        </a:rPr>
                        <a:t>Investment Restriction, </a:t>
                      </a:r>
                      <a:pPr indent="0" marL="0">
                        <a:buNone/>
                      </a:pPr>
                      <a:r>
                        <a:rPr lang="en-US" sz="1200" dirty="0">
                          <a:solidFill>
                            <a:schemeClr val="tx1"/>
                          </a:solidFill>
                        </a:rPr>
                        <a:t>Product Risk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Objective, Benchmark Usage Type, Limit Type, Summary Risk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Benchmark &amp; Performance Reference</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Benchmarks, their assignment to products by role, and track record reference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Benchmark, </a:t>
                      </a:r>
                      <a:pPr indent="0" marL="0">
                        <a:buNone/>
                      </a:pPr>
                      <a:r>
                        <a:rPr lang="en-US" sz="1200" b="1" dirty="0">
                          <a:solidFill>
                            <a:schemeClr val="tx1"/>
                          </a:solidFill>
                        </a:rPr>
                        <a:t>Product Benchmark Assignment, </a:t>
                      </a:r>
                      <a:pPr indent="0" marL="0">
                        <a:buNone/>
                      </a:pPr>
                      <a:r>
                        <a:rPr lang="en-US" sz="1200" dirty="0">
                          <a:solidFill>
                            <a:schemeClr val="tx1"/>
                          </a:solidFill>
                        </a:rPr>
                        <a:t>Performance Track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Benchmark Name, Benchmark Role, Return Type, Performance Inception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Fees, Charges &amp; Costs</a:t>
                      </a:r>
                      <a:endParaRPr lang="en-US" sz="1200" dirty="0"/>
                    </a:p>
                    <a:p>
                      <a:pPr indent="0" marL="0">
                        <a:buNone/>
                      </a:pPr>
                      <a:r>
                        <a:rPr lang="en-US" sz="1100" dirty="0">
                          <a:solidFill>
                            <a:schemeClr val="tx2"/>
                          </a:solidFill>
                        </a:rPr>
                        <a:t>5 objects  |  29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terms set by the product and the cost figures disclosed to investors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Management Fee, </a:t>
                      </a:r>
                      <a:pPr indent="0" marL="0">
                        <a:buNone/>
                      </a:pPr>
                      <a:r>
                        <a:rPr lang="en-US" sz="1200" dirty="0">
                          <a:solidFill>
                            <a:schemeClr val="tx1"/>
                          </a:solidFill>
                        </a:rPr>
                        <a:t>Other Ongoing Fees, </a:t>
                      </a:r>
                      <a:pPr indent="0" marL="0">
                        <a:buNone/>
                      </a:pPr>
                      <a:r>
                        <a:rPr lang="en-US" sz="1200" dirty="0">
                          <a:solidFill>
                            <a:schemeClr val="tx1"/>
                          </a:solidFill>
                        </a:rPr>
                        <a:t>Performance Fee, </a:t>
                      </a:r>
                      <a:pPr indent="0" marL="0">
                        <a:buNone/>
                      </a:pPr>
                      <a:r>
                        <a:rPr lang="en-US" sz="1200" dirty="0">
                          <a:solidFill>
                            <a:schemeClr val="tx1"/>
                          </a:solidFill>
                        </a:rPr>
                        <a:t>Investor Transaction Charge, </a:t>
                      </a:r>
                      <a:pPr indent="0" marL="0">
                        <a:buNone/>
                      </a:pPr>
                      <a:r>
                        <a:rPr lang="en-US" sz="1200" b="1" dirty="0">
                          <a:solidFill>
                            <a:schemeClr val="tx1"/>
                          </a:solidFill>
                        </a:rPr>
                        <a:t>Cost Disclosure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Management Fee Rate, Distribution (12b-1) Fee Rate, Net Expense Ratio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product or share class.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Operations, distribution and governance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926080"/>
                <a:gridCol w="301752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Dealing, Valuation &amp; Listing</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investors deal, how the product is valued and where it trades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Dealing Terms, </a:t>
                      </a:r>
                      <a:pPr indent="0" marL="0">
                        <a:buNone/>
                      </a:pPr>
                      <a:r>
                        <a:rPr lang="en-US" sz="1200" dirty="0">
                          <a:solidFill>
                            <a:schemeClr val="tx1"/>
                          </a:solidFill>
                        </a:rPr>
                        <a:t>Valuation Terms, </a:t>
                      </a:r>
                      <a:pPr indent="0" marL="0">
                        <a:buNone/>
                      </a:pPr>
                      <a:r>
                        <a:rPr lang="en-US" sz="1200" b="1" dirty="0">
                          <a:solidFill>
                            <a:schemeClr val="tx1"/>
                          </a:solidFill>
                        </a:rPr>
                        <a:t>Listing, </a:t>
                      </a:r>
                      <a:pPr indent="0" marL="0">
                        <a:buNone/>
                      </a:pPr>
                      <a:r>
                        <a:rPr lang="en-US" sz="1200" dirty="0">
                          <a:solidFill>
                            <a:schemeClr val="tx1"/>
                          </a:solidFill>
                        </a:rPr>
                        <a:t>ETF Characteristics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Dealing Cut-off Time, Redemption Notice Period, Valuation Point, Exchange Ticker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Product Parties &amp; Roles</a:t>
                      </a:r>
                      <a:endParaRPr lang="en-US" sz="1200" dirty="0"/>
                    </a:p>
                    <a:p>
                      <a:pPr indent="0" marL="0">
                        <a:buNone/>
                      </a:pPr>
                      <a:r>
                        <a:rPr lang="en-US" sz="1100" dirty="0">
                          <a:solidFill>
                            <a:schemeClr val="tx2"/>
                          </a:solidFill>
                        </a:rPr>
                        <a:t>2 objects  |  11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providers, delegates and portfolio managers assigned to a product over time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Product Party Role, </a:t>
                      </a:r>
                      <a:pPr indent="0" marL="0">
                        <a:buNone/>
                      </a:pPr>
                      <a:r>
                        <a:rPr lang="en-US" sz="1200" b="1" dirty="0">
                          <a:solidFill>
                            <a:schemeClr val="tx1"/>
                          </a:solidFill>
                        </a:rPr>
                        <a:t>Portfolio Manager Assignment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Party Role Type, Delegated Function Indicator, Portfolio Manager Role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Distribution &amp; Registration</a:t>
                      </a:r>
                      <a:endParaRPr lang="en-US" sz="1200" dirty="0"/>
                    </a:p>
                    <a:p>
                      <a:pPr indent="0" marL="0">
                        <a:buNone/>
                      </a:pPr>
                      <a:r>
                        <a:rPr lang="en-US" sz="1100" dirty="0">
                          <a:solidFill>
                            <a:schemeClr val="tx2"/>
                          </a:solidFill>
                        </a:rPr>
                        <a:t>3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Where, to whom and through which channels a product may be marketed and sold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Country Registration, </a:t>
                      </a:r>
                      <a:pPr indent="0" marL="0">
                        <a:buNone/>
                      </a:pPr>
                      <a:r>
                        <a:rPr lang="en-US" sz="1200" dirty="0">
                          <a:solidFill>
                            <a:schemeClr val="tx1"/>
                          </a:solidFill>
                        </a:rPr>
                        <a:t>Target Market, </a:t>
                      </a:r>
                      <a:pPr indent="0" marL="0">
                        <a:buNone/>
                      </a:pPr>
                      <a:r>
                        <a:rPr lang="en-US" sz="1200" dirty="0">
                          <a:solidFill>
                            <a:schemeClr val="tx1"/>
                          </a:solidFill>
                        </a:rPr>
                        <a:t>Distribution Availability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Registration Status, Permitted Investor Type, Negative Target Market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Regulatory, Tax &amp; Disclosure</a:t>
                      </a:r>
                      <a:endParaRPr lang="en-US" sz="1200" dirty="0"/>
                    </a:p>
                    <a:p>
                      <a:pPr indent="0" marL="0">
                        <a:buNone/>
                      </a:pPr>
                      <a:r>
                        <a:rPr lang="en-US" sz="1100" dirty="0">
                          <a:solidFill>
                            <a:schemeClr val="tx2"/>
                          </a:solidFill>
                        </a:rPr>
                        <a:t>4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authorization, required documents and tax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Authorization, </a:t>
                      </a:r>
                      <a:pPr indent="0" marL="0">
                        <a:buNone/>
                      </a:pPr>
                      <a:r>
                        <a:rPr lang="en-US" sz="1200" b="1" dirty="0">
                          <a:solidFill>
                            <a:schemeClr val="tx1"/>
                          </a:solidFill>
                        </a:rPr>
                        <a:t>Product Document, </a:t>
                      </a:r>
                      <a:pPr indent="0" marL="0">
                        <a:buNone/>
                      </a:pPr>
                      <a:r>
                        <a:rPr lang="en-US" sz="1200" dirty="0">
                          <a:solidFill>
                            <a:schemeClr val="tx1"/>
                          </a:solidFill>
                        </a:rPr>
                        <a:t>Product Tax Status, </a:t>
                      </a:r>
                      <a:pPr indent="0" marL="0">
                        <a:buNone/>
                      </a:pPr>
                      <a:r>
                        <a:rPr lang="en-US" sz="1200" dirty="0">
                          <a:solidFill>
                            <a:schemeClr val="tx1"/>
                          </a:solidFill>
                        </a:rPr>
                        <a:t>Share Class Tax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Competent Authority, Document Type, US Tax Classification, UK Reporting Fund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Lifecycle &amp; Governance</a:t>
                      </a:r>
                      <a:endParaRPr lang="en-US" sz="1200" dirty="0"/>
                    </a:p>
                    <a:p>
                      <a:pPr indent="0" marL="0">
                        <a:buNone/>
                      </a:pPr>
                      <a:r>
                        <a:rPr lang="en-US" sz="1100" dirty="0">
                          <a:solidFill>
                            <a:schemeClr val="tx2"/>
                          </a:solidFill>
                        </a:rPr>
                        <a:t>2 objects  |  13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Events that change status or structure, and product approval and review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Lifecycle Event, </a:t>
                      </a:r>
                      <a:pPr indent="0" marL="0">
                        <a:buNone/>
                      </a:pPr>
                      <a:r>
                        <a:rPr lang="en-US" sz="1200" dirty="0">
                          <a:solidFill>
                            <a:schemeClr val="tx1"/>
                          </a:solidFill>
                        </a:rPr>
                        <a:t>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Lifecycle Event Type, Successor Product / Share Class, Next Product Review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product or share class.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industry standards, not invented</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ESMA guidelines, PRIIPs, AIFMD, ISO, exchange and vendor schemes.</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64%</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(183 of 287) align to an external standard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94</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US + EU/UK</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regimes in scope: SEC, UCITS, AIFMD, PRIIPs, MiFID II, SFDR and FCA rules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Clients, distributors and other external parties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party reference on mandates, party roles and paying agents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Distribution agreements and platform shelf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reference to platform availability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flows, positions and AUM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These facts point to the share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Peer universes, ratings, awards and fee benchmarks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&amp; Competitive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external categories of our own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internal legal entities and calendars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portfolio manager, product owner, governing body and dealing calendar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Fee revenue, shareholder notices and index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Investor Servicing, Third-Party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and waiver terms; a derived notice date and benchmark register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NAV and performance return time series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 modeled yet: open gap GAP-01-004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Track record inception date and calculation basis only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Security master for portfolio holdings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Outside the program's 14 domains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269 attributes mastered, 18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269</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287 attributes are mastered in Investment Product</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14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7 references</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Investment team, portfolio managers, boutique, product owner, governing body, dealing calendar</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6 references, 2 copies</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Mandate client, model sponsor, benchmark administrator, service providers, paying agent, regulator; party name and LEI copied</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Platform availability, taken from shelf placement</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Investor Servicing &amp; Shareholder Communications</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copy</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Investor notice date on a lifecycle event</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copy</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Benchmark administrator register status</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Also excluded from every view: Record Metadata (data owner, steward, system of record, effective dates). The program documents it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15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20</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Investment Product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5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15 proposed</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3 high, 3 medium, 9 low priority</a:t>
            </a:r>
            <a:endParaRPr lang="en-US" sz="1200" dirty="0"/>
          </a:p>
        </p:txBody>
      </p:sp>
      <p:sp>
        <p:nvSpPr>
          <p:cNvPr id="11" name="Shape 8"/>
          <p:cNvSpPr/>
          <p:nvPr/>
        </p:nvSpPr>
        <p:spPr>
          <a:xfrm>
            <a:off x="3840480" y="1783080"/>
            <a:ext cx="7799832" cy="621792"/>
          </a:xfrm>
          <a:prstGeom prst="roundRect">
            <a:avLst>
              <a:gd name="adj" fmla="val 11765"/>
            </a:avLst>
          </a:prstGeom>
          <a:solidFill>
            <a:schemeClr val="bg2"/>
          </a:solidFill>
          <a:ln/>
        </p:spPr>
      </p:sp>
      <p:sp>
        <p:nvSpPr>
          <p:cNvPr id="12" name="Text 9"/>
          <p:cNvSpPr/>
          <p:nvPr/>
        </p:nvSpPr>
        <p:spPr>
          <a:xfrm>
            <a:off x="3977640" y="19385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GAP-01-001</a:t>
            </a:r>
            <a:endParaRPr lang="en-US" sz="1200" dirty="0"/>
          </a:p>
        </p:txBody>
      </p:sp>
      <p:sp>
        <p:nvSpPr>
          <p:cNvPr id="14" name="Text 11"/>
          <p:cNvSpPr txBox="1"/>
          <p:nvPr/>
        </p:nvSpPr>
        <p:spPr>
          <a:xfrm>
            <a:off x="6126480" y="178308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Four child objects, such as Lifecycle Event and Product Document, have no attribute naming the product or share class they belong to</a:t>
            </a:r>
            <a:endParaRPr lang="en-US" sz="1200" dirty="0"/>
          </a:p>
        </p:txBody>
      </p:sp>
      <p:sp>
        <p:nvSpPr>
          <p:cNvPr id="15" name="Shape 12"/>
          <p:cNvSpPr/>
          <p:nvPr/>
        </p:nvSpPr>
        <p:spPr>
          <a:xfrm>
            <a:off x="3840480" y="2496312"/>
            <a:ext cx="7799832" cy="621792"/>
          </a:xfrm>
          <a:prstGeom prst="roundRect">
            <a:avLst>
              <a:gd name="adj" fmla="val 11765"/>
            </a:avLst>
          </a:prstGeom>
          <a:solidFill>
            <a:schemeClr val="bg2"/>
          </a:solidFill>
          <a:ln/>
        </p:spPr>
      </p:sp>
      <p:sp>
        <p:nvSpPr>
          <p:cNvPr id="16" name="Text 13"/>
          <p:cNvSpPr/>
          <p:nvPr/>
        </p:nvSpPr>
        <p:spPr>
          <a:xfrm>
            <a:off x="3977640" y="265176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496312"/>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GAP-01-003</a:t>
            </a:r>
            <a:endParaRPr lang="en-US" sz="1200" dirty="0"/>
          </a:p>
        </p:txBody>
      </p:sp>
      <p:sp>
        <p:nvSpPr>
          <p:cNvPr id="18" name="Text 15"/>
          <p:cNvSpPr txBox="1"/>
          <p:nvPr/>
        </p:nvSpPr>
        <p:spPr>
          <a:xfrm>
            <a:off x="6126480" y="2496312"/>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No versioned fee schedule with breakpoint tiers. Affects pricing, breakpoint monitoring and fee billing (DP-059, DP-060, DP-067)</a:t>
            </a:r>
            <a:endParaRPr lang="en-US" sz="1200" dirty="0"/>
          </a:p>
        </p:txBody>
      </p:sp>
      <p:sp>
        <p:nvSpPr>
          <p:cNvPr id="19" name="Shape 16"/>
          <p:cNvSpPr/>
          <p:nvPr/>
        </p:nvSpPr>
        <p:spPr>
          <a:xfrm>
            <a:off x="3840480" y="3209544"/>
            <a:ext cx="7799832" cy="621792"/>
          </a:xfrm>
          <a:prstGeom prst="roundRect">
            <a:avLst>
              <a:gd name="adj" fmla="val 11765"/>
            </a:avLst>
          </a:prstGeom>
          <a:solidFill>
            <a:schemeClr val="bg2"/>
          </a:solidFill>
          <a:ln/>
        </p:spPr>
      </p:sp>
      <p:sp>
        <p:nvSpPr>
          <p:cNvPr id="20" name="Text 17"/>
          <p:cNvSpPr/>
          <p:nvPr/>
        </p:nvSpPr>
        <p:spPr>
          <a:xfrm>
            <a:off x="3977640" y="336499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3209544"/>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GAP-01-004</a:t>
            </a:r>
            <a:endParaRPr lang="en-US" sz="1200" dirty="0"/>
          </a:p>
        </p:txBody>
      </p:sp>
      <p:sp>
        <p:nvSpPr>
          <p:cNvPr id="22" name="Text 19"/>
          <p:cNvSpPr txBox="1"/>
          <p:nvPr/>
        </p:nvSpPr>
        <p:spPr>
          <a:xfrm>
            <a:off x="6126480" y="3209544"/>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No own performance returns for share classes, models or mandates (DP-030, DP-047, DP-050, DP-092)</a:t>
            </a:r>
            <a:endParaRPr lang="en-US" sz="1200" dirty="0"/>
          </a:p>
        </p:txBody>
      </p:sp>
      <p:sp>
        <p:nvSpPr>
          <p:cNvPr id="23" name="Shape 20"/>
          <p:cNvSpPr/>
          <p:nvPr/>
        </p:nvSpPr>
        <p:spPr>
          <a:xfrm>
            <a:off x="3840480" y="3922776"/>
            <a:ext cx="7799832" cy="621792"/>
          </a:xfrm>
          <a:prstGeom prst="roundRect">
            <a:avLst>
              <a:gd name="adj" fmla="val 11765"/>
            </a:avLst>
          </a:prstGeom>
          <a:solidFill>
            <a:schemeClr val="bg2"/>
          </a:solidFill>
          <a:ln/>
        </p:spPr>
      </p:sp>
      <p:sp>
        <p:nvSpPr>
          <p:cNvPr id="24" name="Text 21"/>
          <p:cNvSpPr/>
          <p:nvPr/>
        </p:nvSpPr>
        <p:spPr>
          <a:xfrm>
            <a:off x="3977640" y="40782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922776"/>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GAP-01-006</a:t>
            </a:r>
            <a:endParaRPr lang="en-US" sz="1200" dirty="0"/>
          </a:p>
        </p:txBody>
      </p:sp>
      <p:sp>
        <p:nvSpPr>
          <p:cNvPr id="26" name="Text 23"/>
          <p:cNvSpPr txBox="1"/>
          <p:nvPr/>
        </p:nvSpPr>
        <p:spPr>
          <a:xfrm>
            <a:off x="6126480" y="3922776"/>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PRIIPs KID data for the European PRIIPs Template is not modeled (DP-064)</a:t>
            </a:r>
            <a:endParaRPr lang="en-US" sz="1200" dirty="0"/>
          </a:p>
        </p:txBody>
      </p:sp>
      <p:sp>
        <p:nvSpPr>
          <p:cNvPr id="27" name="Shape 24"/>
          <p:cNvSpPr/>
          <p:nvPr/>
        </p:nvSpPr>
        <p:spPr>
          <a:xfrm>
            <a:off x="3840480" y="4636008"/>
            <a:ext cx="7799832" cy="621792"/>
          </a:xfrm>
          <a:prstGeom prst="roundRect">
            <a:avLst>
              <a:gd name="adj" fmla="val 11765"/>
            </a:avLst>
          </a:prstGeom>
          <a:solidFill>
            <a:schemeClr val="bg2"/>
          </a:solidFill>
          <a:ln/>
        </p:spPr>
      </p:sp>
      <p:sp>
        <p:nvSpPr>
          <p:cNvPr id="28" name="Text 25"/>
          <p:cNvSpPr/>
          <p:nvPr/>
        </p:nvSpPr>
        <p:spPr>
          <a:xfrm>
            <a:off x="3977640" y="479145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636008"/>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GAP-01-007</a:t>
            </a:r>
            <a:endParaRPr lang="en-US" sz="1200" dirty="0"/>
          </a:p>
        </p:txBody>
      </p:sp>
      <p:sp>
        <p:nvSpPr>
          <p:cNvPr id="30" name="Text 27"/>
          <p:cNvSpPr txBox="1"/>
          <p:nvPr/>
        </p:nvSpPr>
        <p:spPr>
          <a:xfrm>
            <a:off x="6126480" y="4636008"/>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ESG Classification lacks the detail the European ESG Template needs: adverse impacts, taxonomy alignment, exclusions (DP-064)</a:t>
            </a:r>
            <a:endParaRPr lang="en-US" sz="1200" dirty="0"/>
          </a:p>
        </p:txBody>
      </p:sp>
      <p:sp>
        <p:nvSpPr>
          <p:cNvPr id="31" name="Shape 28"/>
          <p:cNvSpPr/>
          <p:nvPr/>
        </p:nvSpPr>
        <p:spPr>
          <a:xfrm>
            <a:off x="3840480" y="5349240"/>
            <a:ext cx="7799832" cy="621792"/>
          </a:xfrm>
          <a:prstGeom prst="roundRect">
            <a:avLst>
              <a:gd name="adj" fmla="val 11765"/>
            </a:avLst>
          </a:prstGeom>
          <a:solidFill>
            <a:schemeClr val="bg2"/>
          </a:solidFill>
          <a:ln/>
        </p:spPr>
      </p:sp>
      <p:sp>
        <p:nvSpPr>
          <p:cNvPr id="32" name="Text 29"/>
          <p:cNvSpPr/>
          <p:nvPr/>
        </p:nvSpPr>
        <p:spPr>
          <a:xfrm>
            <a:off x="3977640" y="550468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534924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GAP-01-009</a:t>
            </a:r>
            <a:endParaRPr lang="en-US" sz="1200" dirty="0"/>
          </a:p>
        </p:txBody>
      </p:sp>
      <p:sp>
        <p:nvSpPr>
          <p:cNvPr id="34" name="Text 31"/>
          <p:cNvSpPr txBox="1"/>
          <p:nvPr/>
        </p:nvSpPr>
        <p:spPr>
          <a:xfrm>
            <a:off x="6126480" y="534924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Ex-post costs and charges per share class are not modeled; Cost Disclosure is ex-ante only (DP-064)</a:t>
            </a:r>
            <a:endParaRPr lang="en-US" sz="1200" dirty="0"/>
          </a:p>
        </p:txBody>
      </p:sp>
      <p:sp>
        <p:nvSpPr>
          <p:cNvPr id="35" name="Text 32"/>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Fund administration, transfer agent, document and vendor sources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Product and share class are published once, in SM-00 Shared Dimensions, and every subject-area semantic model joins to them.</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and 91 proposed critical data elements show stewards where to put data quality effort.</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Product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Investment Product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DP-004 foundational product</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DP-004 turns the domain into one record</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DP-004</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Product &amp; Share Class Distribution Reference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Master &amp; Reference  |  Owner: Head of Product Data</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share class and effective period, with child rows for registrations, system codes, lifecycle events, relationships and manager assignments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97 attributes from 20 of the 46 Investment Product objects</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6am ET. New share classes at least 5 business days before launch</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Every change kept since inception. Closed and merged classes kept with their successor link</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Internal. Unannounced closures, mergers and fee changes are withheld until announced</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69</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DP-004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87 of 91</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share class has exactly one parent product, and every product exactly one strategy</a:t>
            </a:r>
            <a:endParaRPr lang="en-US" sz="1300" dirty="0"/>
          </a:p>
          <a:p>
            <a:pPr marL="177800" indent="-177800">
              <a:spcAft>
                <a:spcPts val="600"/>
              </a:spcAft>
              <a:buSzPct val="100000"/>
              <a:buChar char="•"/>
            </a:pPr>
            <a:r>
              <a:rPr lang="en-US" sz="1300" dirty="0">
                <a:solidFill>
                  <a:schemeClr val="tx1"/>
                </a:solidFill>
              </a:rPr>
              <a:t>ISIN is unique across active share classes and passes its check digit</a:t>
            </a:r>
            <a:endParaRPr lang="en-US" sz="1300" dirty="0"/>
          </a:p>
          <a:p>
            <a:pPr marL="177800" indent="-177800">
              <a:spcAft>
                <a:spcPts val="600"/>
              </a:spcAft>
              <a:buSzPct val="100000"/>
              <a:buChar char="•"/>
            </a:pPr>
            <a:r>
              <a:rPr lang="en-US" sz="1300" dirty="0">
                <a:solidFill>
                  <a:schemeClr val="tx1"/>
                </a:solidFill>
              </a:rPr>
              <a:t>Net expense ratio is never above gross expense ratio</a:t>
            </a:r>
            <a:endParaRPr lang="en-US" sz="1300" dirty="0"/>
          </a:p>
          <a:p>
            <a:pPr marL="177800" indent="-177800">
              <a:spcAft>
                <a:spcPts val="600"/>
              </a:spcAft>
              <a:buSzPct val="100000"/>
              <a:buChar char="•"/>
            </a:pPr>
            <a:r>
              <a:rPr lang="en-US" sz="1300" dirty="0">
                <a:solidFill>
                  <a:schemeClr val="tx1"/>
                </a:solidFill>
              </a:rPr>
              <a:t>A closed or merged share class has a lifecycle event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32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32</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30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46 of 46</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84%</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(242 of 287)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13</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32</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13 regulatory and control, 11 analytical, 6 operational, 2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Five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4942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DP-004</a:t>
            </a:r>
            <a:endParaRPr lang="en-US" sz="1200" dirty="0"/>
          </a:p>
        </p:txBody>
      </p:sp>
      <p:sp>
        <p:nvSpPr>
          <p:cNvPr id="8" name="Text 5"/>
          <p:cNvSpPr txBox="1"/>
          <p:nvPr/>
        </p:nvSpPr>
        <p:spPr>
          <a:xfrm>
            <a:off x="1828800" y="211226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Product &amp; Share Class Distribution Reference</a:t>
            </a:r>
            <a:endParaRPr lang="en-US" sz="1300" dirty="0"/>
          </a:p>
        </p:txBody>
      </p:sp>
      <p:sp>
        <p:nvSpPr>
          <p:cNvPr id="9" name="Text 6"/>
          <p:cNvSpPr txBox="1"/>
          <p:nvPr/>
        </p:nvSpPr>
        <p:spPr>
          <a:xfrm>
            <a:off x="1828800" y="253288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Product management</a:t>
            </a:r>
            <a:endParaRPr lang="en-US" sz="1000" dirty="0"/>
          </a:p>
        </p:txBody>
      </p:sp>
      <p:sp>
        <p:nvSpPr>
          <p:cNvPr id="10" name="Text 7"/>
          <p:cNvSpPr txBox="1"/>
          <p:nvPr/>
        </p:nvSpPr>
        <p:spPr>
          <a:xfrm>
            <a:off x="5760720" y="205740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The conformed record of every strategy, product and share class, reused by other products.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37160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97 of 97</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238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DP-079</a:t>
            </a:r>
            <a:endParaRPr lang="en-US" sz="1200" dirty="0"/>
          </a:p>
        </p:txBody>
      </p:sp>
      <p:sp>
        <p:nvSpPr>
          <p:cNvPr id="16" name="Text 13"/>
          <p:cNvSpPr txBox="1"/>
          <p:nvPr/>
        </p:nvSpPr>
        <p:spPr>
          <a:xfrm>
            <a:off x="1828800" y="293522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Fund Dealing &amp; Operational Reference for Intermediaries</a:t>
            </a:r>
            <a:endParaRPr lang="en-US" sz="1300" dirty="0"/>
          </a:p>
        </p:txBody>
      </p:sp>
      <p:sp>
        <p:nvSpPr>
          <p:cNvPr id="17" name="Text 14"/>
          <p:cNvSpPr txBox="1"/>
          <p:nvPr/>
        </p:nvSpPr>
        <p:spPr>
          <a:xfrm>
            <a:off x="1828800" y="335584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Investor servicing and fund operations</a:t>
            </a:r>
            <a:endParaRPr lang="en-US" sz="1000" dirty="0"/>
          </a:p>
        </p:txBody>
      </p:sp>
      <p:sp>
        <p:nvSpPr>
          <p:cNvPr id="18" name="Text 15"/>
          <p:cNvSpPr txBox="1"/>
          <p:nvPr/>
        </p:nvSpPr>
        <p:spPr>
          <a:xfrm>
            <a:off x="5760720" y="288036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The dealing, settlement, valuation, listing and tax terms an intermediary needs to trade each share class.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91440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58 of 87</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534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DP-064</a:t>
            </a:r>
            <a:endParaRPr lang="en-US" sz="1200" dirty="0"/>
          </a:p>
        </p:txBody>
      </p:sp>
      <p:sp>
        <p:nvSpPr>
          <p:cNvPr id="24" name="Text 21"/>
          <p:cNvSpPr txBox="1"/>
          <p:nvPr/>
        </p:nvSpPr>
        <p:spPr>
          <a:xfrm>
            <a:off x="1828800" y="375818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FinDatEx EMT / EPT / EET Distributor Feed</a:t>
            </a:r>
            <a:endParaRPr lang="en-US" sz="1300" dirty="0"/>
          </a:p>
        </p:txBody>
      </p:sp>
      <p:sp>
        <p:nvSpPr>
          <p:cNvPr id="25" name="Text 22"/>
          <p:cNvSpPr txBox="1"/>
          <p:nvPr/>
        </p:nvSpPr>
        <p:spPr>
          <a:xfrm>
            <a:off x="1828800" y="417880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EU / UK cross-border distribution</a:t>
            </a:r>
            <a:endParaRPr lang="en-US" sz="1000" dirty="0"/>
          </a:p>
        </p:txBody>
      </p:sp>
      <p:sp>
        <p:nvSpPr>
          <p:cNvPr id="26" name="Text 23"/>
          <p:cNvSpPr txBox="1"/>
          <p:nvPr/>
        </p:nvSpPr>
        <p:spPr>
          <a:xfrm>
            <a:off x="5760720" y="370332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Validated EMT, EPT and EET template data for each share class distributed in the EEA and UK.</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224643"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50 of 56</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1830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DP-058</a:t>
            </a:r>
            <a:endParaRPr lang="en-US" sz="1200" dirty="0"/>
          </a:p>
        </p:txBody>
      </p:sp>
      <p:sp>
        <p:nvSpPr>
          <p:cNvPr id="32" name="Text 29"/>
          <p:cNvSpPr txBox="1"/>
          <p:nvPr/>
        </p:nvSpPr>
        <p:spPr>
          <a:xfrm>
            <a:off x="1828800" y="458114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Product Launch Readiness &amp; Tracking</a:t>
            </a:r>
            <a:endParaRPr lang="en-US" sz="1300" dirty="0"/>
          </a:p>
        </p:txBody>
      </p:sp>
      <p:sp>
        <p:nvSpPr>
          <p:cNvPr id="33" name="Text 30"/>
          <p:cNvSpPr txBox="1"/>
          <p:nvPr/>
        </p:nvSpPr>
        <p:spPr>
          <a:xfrm>
            <a:off x="1828800" y="500176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Product management</a:t>
            </a:r>
            <a:endParaRPr lang="en-US" sz="1000" dirty="0"/>
          </a:p>
        </p:txBody>
      </p:sp>
      <p:sp>
        <p:nvSpPr>
          <p:cNvPr id="34" name="Text 31"/>
          <p:cNvSpPr txBox="1"/>
          <p:nvPr/>
        </p:nvSpPr>
        <p:spPr>
          <a:xfrm>
            <a:off x="5760720" y="452628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A daily launch tracker from approval to first sale: identifiers, registrations, documents, shelf.</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629587"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28 of 61</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126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DP-059</a:t>
            </a:r>
            <a:endParaRPr lang="en-US" sz="1200" dirty="0"/>
          </a:p>
        </p:txBody>
      </p:sp>
      <p:sp>
        <p:nvSpPr>
          <p:cNvPr id="40" name="Text 37"/>
          <p:cNvSpPr txBox="1"/>
          <p:nvPr/>
        </p:nvSpPr>
        <p:spPr>
          <a:xfrm>
            <a:off x="1828800" y="540410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Pricing &amp; Fee Waiver Analytics</a:t>
            </a:r>
            <a:endParaRPr lang="en-US" sz="1300" dirty="0"/>
          </a:p>
        </p:txBody>
      </p:sp>
      <p:sp>
        <p:nvSpPr>
          <p:cNvPr id="41" name="Text 38"/>
          <p:cNvSpPr txBox="1"/>
          <p:nvPr/>
        </p:nvSpPr>
        <p:spPr>
          <a:xfrm>
            <a:off x="1828800" y="582472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Product management</a:t>
            </a:r>
            <a:endParaRPr lang="en-US" sz="1000" dirty="0"/>
          </a:p>
        </p:txBody>
      </p:sp>
      <p:sp>
        <p:nvSpPr>
          <p:cNvPr id="42" name="Text 39"/>
          <p:cNvSpPr txBox="1"/>
          <p:nvPr/>
        </p:nvSpPr>
        <p:spPr>
          <a:xfrm>
            <a:off x="5760720" y="534924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Fees, expense ratios, caps and waivers set against peers, flows and revenue, for pricing decisions.</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423582"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21 of 68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27 more rely on it for product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DP-040, DP-060, DP-061, DP-062, DP-063, DP-083, DP-084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Target market, share class type and charges, track record and benchmark, product documents, authorization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EU / UK cross-border distribution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DP-041, DP-065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Country registrations, investor eligibility, local documents, fee rates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strategy and market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DP-029, DP-030, DP-076, DP-088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Product and share class identity, firm and external classifications, registrations, target market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Partners, platforms and retirement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DP-021, DP-024, DP-050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Product and share class identity, model portfolios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and client service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DP-003, DP-023, DP-067, DP-086,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mandates, strategies, mandate fee terms, investment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Investor servicing and fund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DP-071, DP-091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 class identity, tax reporting status, legal structure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Leadership, finance and data office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DP-015, DP-055, DP-072, DP-089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Business line and AUM category, transaction charges, benchmarks and tracked indices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56 products take product and share class only through DP-004, without reading Investment Product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Net Expense Ratio</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Cost Disclosure object: total annual fund operating expenses after waivers.</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DP-004</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Carries it per share class. Quality rule: net is never above gross.</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DP-030 and</a:t>
            </a:r>
            <a:endParaRPr lang="en-US" sz="1400" dirty="0"/>
          </a:p>
          <a:p>
            <a:pPr algn="l" indent="0" marL="0">
              <a:buNone/>
            </a:pPr>
            <a:r>
              <a:rPr lang="en-US" sz="1400" b="1" dirty="0">
                <a:solidFill>
                  <a:schemeClr val="tx1"/>
                </a:solidFill>
              </a:rPr>
              <a:t>DP-059</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Compare it with the peer median fee from Market &amp; Competitive Intelligence. They do not restate our fee.</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SM-06 Product &amp; Market</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one metric, Fee Gap to Peer Median, beside certified net flows.</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share classes are priced above their peers and losing assets?”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Fee Gap to Peer Median (bps)  =  ( Own Fee Rate  −  Peer Median Fee )  ×  10,000</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full trace of this question, level by level, is in Taxonomy_Talk_Through_Investment_Product.pptx.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CD-022</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domain owns the fund advisory and management agreement: Investment Product, Distribution Agreements &amp; Partners, or Distribution Finance &amp; Profitability.</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CD-023</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versioned fee schedule to Investment Product, so finance, billing and fee studies reference one record.</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GAP-01-004</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domain masters our own performance returns. Recommended: a new Investment Product object.</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CD-122</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Reference our own portfolio managers as employees, not as external parties.</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Validate the families, objects and 91 proposed critical data elements with Product, Distribution, Legal and Compliance, and Operations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source systems: fund administration, transfer agent, portfolio systems, CRM and document management (Phase 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the openfunds- and FinDatEx-aligned attributes to their exact field IDs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a data owner and steward for each family</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15 open gaps, starting with the three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 Product taxonomy walkthrough</dc:title>
  <dc:subject>PptxGenJS Presentation</dc:subject>
  <dc:creator>Distribution Data Taxonomy Program</dc:creator>
  <cp:lastModifiedBy>Distribution Data Taxonomy Program</cp:lastModifiedBy>
  <cp:revision>1</cp:revision>
  <dcterms:created xsi:type="dcterms:W3CDTF">2026-10-05T13:21:29Z</dcterms:created>
  <dcterms:modified xsi:type="dcterms:W3CDTF">2026-10-05T13:21:29Z</dcterms:modified>
</cp:coreProperties>
</file>