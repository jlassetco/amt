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charts/chart2.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verview" id="{33ab68be-5ddc-fd25-31b0-29de77250d96}">
          <p14:sldIdLst>
            <p14:sldId id="256"/>
            <p14:sldId id="257"/>
            <p14:sldId id="258"/>
            <p14:sldId id="259"/>
          </p14:sldIdLst>
        </p14:section>
        <p14:section name="What is included" id="{194bf6c9-11c9-f02d-9fcf-db08a159a83f}">
          <p14:sldIdLst>
            <p14:sldId id="260"/>
            <p14:sldId id="261"/>
            <p14:sldId id="262"/>
            <p14:sldId id="263"/>
            <p14:sldId id="264"/>
          </p14:sldIdLst>
        </p14:section>
        <p14:section name="What is excluded" id="{21f85cde-964d-25ad-c18b-240b1a6c128f}">
          <p14:sldIdLst>
            <p14:sldId id="265"/>
            <p14:sldId id="266"/>
            <p14:sldId id="267"/>
          </p14:sldIdLst>
        </p14:section>
        <p14:section name="How it is used" id="{ba6ac462-3900-cea1-a365-fe5f4ce36139}">
          <p14:sldIdLst>
            <p14:sldId id="268"/>
            <p14:sldId id="269"/>
          </p14:sldIdLst>
        </p14:section>
        <p14:section name="Data products" id="{6fb8d621-2f72-b847-3f18-97d37a88bd2f}">
          <p14:sldIdLst>
            <p14:sldId id="270"/>
            <p14:sldId id="271"/>
            <p14:sldId id="272"/>
            <p14:sldId id="273"/>
          </p14:sldIdLst>
        </p14:section>
        <p14:section name="Next steps" id="{f478f145-7214-9b10-256c-7e85ea458096}">
          <p14:sldIdLst>
            <p14:sldId id="27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C233C"/>
                </a:solidFill>
                <a:latin typeface="+mn-lt"/>
              </a:defRPr>
            </a:pPr>
            <a:r>
              <a:rPr sz="1300" b="0" i="0" u="none" strike="noStrike">
                <a:solidFill>
                  <a:srgbClr val="0C233C"/>
                </a:solidFill>
                <a:latin typeface="+mn-lt"/>
              </a:rPr>
              <a:t>Attributes by primary reference standard</a:t>
            </a:r>
          </a:p>
        </c:rich>
      </c:tx>
      <c:layout/>
      <c:overlay val="0"/>
    </c:title>
    <c:autoTitleDeleted val="0"/>
    <c:plotArea>
      <c:layout/>
      <c:barChart>
        <c:barDir val="bar"/>
        <c:grouping val="clustered"/>
        <c:varyColors val="0"/>
        <c:ser>
          <c:idx val="0"/>
          <c:order val="0"/>
          <c:tx>
            <c:strRef>
              <c:f>Sheet1!$B$1</c:f>
              <c:strCache>
                <c:ptCount val="1"/>
                <c:pt idx="0">
                  <c:v>Attributes by primary reference standard</c:v>
                </c:pt>
              </c:strCache>
            </c:strRef>
          </c:tx>
          <c:spPr>
            <a:solidFill>
              <a:srgbClr val="1E49E2"/>
            </a:solidFill>
            <a:effectLst/>
          </c:spPr>
          <c:invertIfNegative val="0"/>
          <c:dLbls>
            <c:numFmt formatCode="#,##0" sourceLinked="0"/>
            <c:txPr>
              <a:bodyPr/>
              <a:lstStyle/>
              <a:p>
                <a:pPr>
                  <a:defRPr b="0" i="0" strike="noStrike" sz="1200" u="none">
                    <a:solidFill>
                      <a:srgbClr val="0C233C"/>
                    </a:solidFill>
                    <a:latin typeface="+mn-lt"/>
                  </a:defRPr>
                </a:pPr>
              </a:p>
            </c:txPr>
            <c:showLegendKey val="0"/>
            <c:showVal val="1"/>
            <c:showCatName val="0"/>
            <c:showSerName val="0"/>
            <c:showPercent val="0"/>
            <c:showBubbleSize val="0"/>
            <c:showLeaderLines val="0"/>
          </c:dLbls>
          <c:cat>
            <c:multiLvlStrRef>
              <c:f>Sheet1!$A$2:$A$7</c:f>
              <c:multiLvlStrCache>
                <c:ptCount val="6"/>
                <c:lvl>
                  <c:pt idx="0">
                    <c:v>Internal (firm-defined)</c:v>
                  </c:pt>
                  <c:pt idx="1">
                    <c:v>SEC rules, forms and releases</c:v>
                  </c:pt>
                  <c:pt idx="2">
                    <c:v>IRS information return rules</c:v>
                  </c:pt>
                  <c:pt idx="3">
                    <c:v>UK and EU rules</c:v>
                  </c:pt>
                  <c:pt idx="4">
                    <c:v>US state unclaimed property law</c:v>
                  </c:pt>
                  <c:pt idx="5">
                    <c:v>Other standards and regulation</c:v>
                  </c:pt>
                </c:lvl>
              </c:multiLvlStrCache>
            </c:multiLvlStrRef>
          </c:cat>
          <c:val>
            <c:numRef>
              <c:f>Sheet1!$B$2:$B$7</c:f>
              <c:numCache>
                <c:formatCode>General</c:formatCode>
                <c:ptCount val="6"/>
                <c:pt idx="0">
                  <c:v>152</c:v>
                </c:pt>
                <c:pt idx="1">
                  <c:v>43</c:v>
                </c:pt>
                <c:pt idx="2">
                  <c:v>14</c:v>
                </c:pt>
                <c:pt idx="3">
                  <c:v>12</c:v>
                </c:pt>
                <c:pt idx="4">
                  <c:v>11</c:v>
                </c:pt>
                <c:pt idx="5">
                  <c:v>6</c:v>
                </c:pt>
              </c:numCache>
            </c:numRef>
          </c:val>
        </c:ser>
        <c:dLbls>
          <c:numFmt formatCode="#,##0" sourceLinked="0"/>
          <c:txPr>
            <a:bodyPr/>
            <a:lstStyle/>
            <a:p>
              <a:pPr>
                <a:defRPr b="0" i="0" strike="noStrike" sz="1200" u="none">
                  <a:solidFill>
                    <a:srgbClr val="0C233C"/>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0C233C"/>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C233C"/>
                </a:solidFill>
                <a:latin typeface="+mn-lt"/>
              </a:defRPr>
            </a:pPr>
            <a:r>
              <a:rPr sz="1300" b="0" i="0" u="none" strike="noStrike">
                <a:solidFill>
                  <a:srgbClr val="0C233C"/>
                </a:solidFill>
                <a:latin typeface="+mn-lt"/>
              </a:rPr>
              <a:t>Products reading each object (top 10 of 42)</a:t>
            </a:r>
          </a:p>
        </c:rich>
      </c:tx>
      <c:layout/>
      <c:overlay val="0"/>
    </c:title>
    <c:autoTitleDeleted val="0"/>
    <c:plotArea>
      <c:layout/>
      <c:barChart>
        <c:barDir val="bar"/>
        <c:grouping val="clustered"/>
        <c:varyColors val="0"/>
        <c:ser>
          <c:idx val="0"/>
          <c:order val="0"/>
          <c:tx>
            <c:strRef>
              <c:f>Sheet1!$B$1</c:f>
              <c:strCache>
                <c:ptCount val="1"/>
                <c:pt idx="0">
                  <c:v>Products reading each object (top 10 of 42)</c:v>
                </c:pt>
              </c:strCache>
            </c:strRef>
          </c:tx>
          <c:spPr>
            <a:solidFill>
              <a:srgbClr val="1E49E2"/>
            </a:solidFill>
            <a:effectLst/>
          </c:spPr>
          <c:invertIfNegative val="0"/>
          <c:dLbls>
            <c:numFmt formatCode="#,##0" sourceLinked="0"/>
            <c:txPr>
              <a:bodyPr/>
              <a:lstStyle/>
              <a:p>
                <a:pPr>
                  <a:defRPr b="0" i="0" strike="noStrike" sz="1200" u="none">
                    <a:solidFill>
                      <a:srgbClr val="0C233C"/>
                    </a:solidFill>
                    <a:latin typeface="+mn-lt"/>
                  </a:defRPr>
                </a:pPr>
              </a:p>
            </c:txPr>
            <c:showLegendKey val="0"/>
            <c:showVal val="1"/>
            <c:showCatName val="0"/>
            <c:showSerName val="0"/>
            <c:showPercent val="0"/>
            <c:showBubbleSize val="0"/>
            <c:showLeaderLines val="0"/>
          </c:dLbls>
          <c:cat>
            <c:multiLvlStrRef>
              <c:f>Sheet1!$A$2:$A$11</c:f>
              <c:multiLvlStrCache>
                <c:ptCount val="10"/>
                <c:lvl>
                  <c:pt idx="0">
                    <c:v>Service Request</c:v>
                  </c:pt>
                  <c:pt idx="1">
                    <c:v>Contact Center Interaction</c:v>
                  </c:pt>
                  <c:pt idx="2">
                    <c:v>Intermediary Distribution Request</c:v>
                  </c:pt>
                  <c:pt idx="3">
                    <c:v>Tax Form Record</c:v>
                  </c:pt>
                  <c:pt idx="4">
                    <c:v>Shareholder Communication</c:v>
                  </c:pt>
                  <c:pt idx="5">
                    <c:v>Production Run</c:v>
                  </c:pt>
                  <c:pt idx="6">
                    <c:v>Investor Document</c:v>
                  </c:pt>
                  <c:pt idx="7">
                    <c:v>Intermediary Communication Fee Invoice</c:v>
                  </c:pt>
                  <c:pt idx="8">
                    <c:v>E-Delivery Election</c:v>
                  </c:pt>
                  <c:pt idx="9">
                    <c:v>Communication Distribution</c:v>
                  </c:pt>
                </c:lvl>
              </c:multiLvlStrCache>
            </c:multiLvlStrRef>
          </c:cat>
          <c:val>
            <c:numRef>
              <c:f>Sheet1!$B$2:$B$11</c:f>
              <c:numCache>
                <c:formatCode>General</c:formatCode>
                <c:ptCount val="10"/>
                <c:pt idx="0">
                  <c:v>5</c:v>
                </c:pt>
                <c:pt idx="1">
                  <c:v>4</c:v>
                </c:pt>
                <c:pt idx="2">
                  <c:v>3</c:v>
                </c:pt>
                <c:pt idx="3">
                  <c:v>2</c:v>
                </c:pt>
                <c:pt idx="4">
                  <c:v>2</c:v>
                </c:pt>
                <c:pt idx="5">
                  <c:v>2</c:v>
                </c:pt>
                <c:pt idx="6">
                  <c:v>2</c:v>
                </c:pt>
                <c:pt idx="7">
                  <c:v>2</c:v>
                </c:pt>
                <c:pt idx="8">
                  <c:v>2</c:v>
                </c:pt>
                <c:pt idx="9">
                  <c:v>2</c:v>
                </c:pt>
              </c:numCache>
            </c:numRef>
          </c:val>
        </c:ser>
        <c:dLbls>
          <c:numFmt formatCode="#,##0" sourceLinked="0"/>
          <c:txPr>
            <a:bodyPr/>
            <a:lstStyle/>
            <a:p>
              <a:pPr>
                <a:defRPr b="0" i="0" strike="noStrike" sz="1200" u="none">
                  <a:solidFill>
                    <a:srgbClr val="0C233C"/>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0C233C"/>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walks through the Investor Servicing &amp; Shareholder Communications data domain. It answers four questions: what is in the domain, what is deliberately left out, how the taxonomy is used, and which data products it helps define. All counts come from the current drafts of the taxonomy, the data product specifications and the gap register.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short version. Investor Servicing &amp; Shareholder Communications describes what the fund and its transfer agent must do for shareholders, and how the firm oversees that work. It covers service requests, statements, confirmations and tax forms, regulatory reports and notices, delivery elections, fund proxy votes, escheatment, and oversight of the transfer agent. It does not master the account, the product or the transaction. Those belong to other domains and are referenced by ID. The domain has 8 families, 42 business objects and 238 attributes. 9 of the 92 specified data products read it directly: 6 that it owns and 3 owned by other domains. It owns no foundational product.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taxonomy has four levels: data domain, data family, business object and attribute. Investor Servicing &amp; Shareholder Communications is one of 14 domains. The purple text shows the path to one attribute, Recipient Delivery Method, which we follow to an answer near the end of the deck. It records how one communication reached one recipient account, for example in print or electronically. For every attribute the taxonomy records its meaning and its owner. It does not hold data values or system field names.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model starts from the shareholder account, which is mastered in Client &amp; Customer and referenced here by ID. Three kinds of record describe what is done for that account. A service request is something the shareholder asks for. A shareholder communication is a report, prospectus or notice that regulation requires. An investor document is a statement, confirmation or tax form issued for the account. The communication is kept separate from its distribution: the communication says what must be sent and by when, and the distribution job says to whom, how and when it went. Registered holders and beneficial owners are two delivery paths for the same communication. Every record carries the servicing provider, so service levels and errors can be attributed.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domain has 8 data families. For this walkthrough they are grouped in three. The spine is what shareholders ask for and what each account receives: service requests, and statements, confirmations and tax documents. The second group is the communications that regulation requires and how they reach every holder: delivery elections, distribution through intermediaries to beneficial owners, and proxy solicitation. The third is what happens when a holder is lost, and how the firm oversees its servicing providers. The three-way grouping is a presentation aid and is not a level in the taxonomy. The next three slides take each group in turn.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two spine families hold 82 of the 238 attributes. Shareholder Service Requests and Interactions holds each request from intake through good-order review to completion, with extra detail for account maintenance and for ownership transfers and estates. It also holds the contact center interactions in which requests arise, standing instructions such as systematic plans and distribution options, and quality reviews. Statements, Confirmations and Tax Documents holds the catalog of investor documents, each document issued to a shareholder of record, tax form amounts by box, cost basis elections, and the production runs in which a vendor prints or posts them. Business objects, in bold, have their own key. Attribute groups are held on their parent.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families, 99 attributes. Regulatory Shareholder Communications holds tailored shareholder reports, prospectus delivery and notices, each distribution job, and the delivery outcome for each recipient. Delivery Elections and Householding holds each shareholder's consent to electronic delivery with its evidence, the householding groups that receive one copy at a shared address, and mail holds. The delivery household is distinct from the relationship household in Client &amp; Customer. Beneficial-Owner Communications via Intermediaries covers investors who hold through brokers, banks, platforms and nominees: broker searches, distribution requests, platform cascades in the EU and UK, and the fee invoices for that distribution. Proxy Solicitation and Shareholder Meetings covers fund shareholders voting on fund matters, not the firm voting the securities its funds hold.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families, 57 attributes. Escheatment, Unclaimed Property and Dormancy follows an account from lost shareholder status, through the two database searches that SEC Rule 17Ad-17 requires, to the state dormancy assessment, the due diligence letter, and the report and remittance to the state. It also holds transfers to the UK reclaim fund and reclaims by owners. TA Oversight and Servicing Quality is the firm's view of its outsourced providers: the engagement and its oversight rating, agreed service levels and their measurement each period, servicing errors including NAV errors, and the remediation paid to each affected account. The appointed transfer agent itself is recorded in Investment Product. This domain holds the oversight 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attribute definition names the rule or source it is aligned to. 86 of the 238 attributes, 36 percent, align to an external rule or regulation. SEC rules, forms and releases are the largest external source with 43 attributes, led by the e-delivery releases, the householding rule and the lost securityholder rule. IRS information return rules account for 14, UK and EU rules for 12 and US state unclaimed property law for 11. 152 attributes are firm-defined, because no authoritative external definition exists for them. 69 attributes take their values from a controlled code list, and 72 are proposed critical data elements. Several rule details were stated from memory during drafting. They are listed in the Source Notes and still need confirming.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domain records the servicing work and deliberately leaves the master data to others. The table shows where each excluded subject lives and what this domain keeps so that it can point to it. Three boundaries are worth calling out. A service request records what was asked and points to the Client &amp; Customer record it updated; it does not hold the new address. Product documents and lifecycle events stay in Investment Product; this domain owns the delivery, the audience, the deadline and the proof of delivery. Complaints stay in Distribution Compliance; a request or interaction carries only a dissatisfaction indicator and a reference. One subject is outside the program altogether: the firm voting proxies of the companies its funds hold.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attribute carries an ownership flag. 197 of the 238 are mastered in this domain. 35 are references, which hold only the ID of a record mastered in another domain, and 6 are derived copies. Client &amp; Customer supplies 28 of those 41, mostly the account, the party and the servicing provider. That is expected: servicing is done for accounts and parties that are mastered elsewhere. The traffic in the other direction is light. Only one attribute in another domain references this one, the Investor Notice Date on the Investment Product lifecycle event. Record Metadata, the governance attributes such as data owner and system of record, is excluded from every taxonomy view and documented separately by the program.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Specifying and modeling the data products surfaced 23 gaps against this domain. One is resolved and 22 are open, all proposed and waiting for a decision. None is high priority: 8 are medium and the other 14 are low. The table shows seven of the eight medium-priority gaps. The eighth, GAP-13-008, is that tax filing due dates and UK reporting fund reports to HMRC are not recorded. Most are the same kind of problem: an object that does not name the account, provider or parent record it belongs to, so the product has to borrow the key. The tax gaps are different: cost basis lots, transfer statements and withholding status are not modeled at all. Each gap has a proposed resolution and a decision owner in the gap register.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taxonomy is used in four ways. First, it is the target that servicing sources are mapped to, starting with transfer agent record layouts and Broadridge job reports. That mapping has not been done. Second, it is the bill of materials for data products: each product lists the exact attributes it uses, and the build fails if one does not exist. Third, where other domains publish shared dimensions, this domain supplies regulatory evidence. Each deadline is stored as a date with the rule behind it, so a product can test whether a form, report, notice or search was on time. Fourth, the ownership flags, the 72 proposed critical data elements and the 24 personal data flags tell stewards where to focus.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domain owns no foundational product. Its anchor is DP-043, Shareholder Servicing and TA Oversight, a Wave 1 regulatory and control product owned by the Head of TA Oversight. It is the oversight evidence for the transfer agent and other servicing providers: service levels against contract, request turnaround and not-in-good-order rates, contact center quality, servicing errors with remediation, and the timeliness of tax forms and regulatory communications. 65 of its 71 attributes come from 11 of this domain's 42 objects. It refreshes monthly, by business day 10. Four products name it as a direct upstream, including three of the other five that this domain owns, and five depend on it directly or indirectly.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of the 92 specified data products list this domain's objects among their inputs. All 9 are consumer-aligned; none is foundational. Every one of the 42 objects is used by at least one product, and 227 of the 238 attributes, 95 percent, appear in a product specification. Service Request is the most used object, read by 5 products, followed by Contact Center Interaction with 4 and Intermediary Distribution Request with 3. Seven objects are read by 2 products and the remaining 32 by one. Five of the 9 readers are regulatory and control products, which reflects how much of this domain exists to evidence that obligations to shareholders were met.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data products have this domain as their owning domain. All are consumer-aligned and all serve investor servicing and fund operations. DP-043 is the anchor and the only Wave 1 product. Three more are in Wave 2: communications delivery and cost, escheatment and lost shareholder monitoring, and fund proxy solicitation tracking. Two are in Wave 3: account maintenance and fraud monitoring, and shareholder tax and cost basis reporting. The bar on the right shows how many of each product's input attributes come from this domain. The rest come from other domains, for example accounts from Client &amp; Customer, positions and transactions from Sales Transactions &amp; AUM Attribution, or cost items from Distribution Finance &amp; Profitability.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Only three products owned by other domains read this domain directly, so this table is short. Unified Engagement Timeline, owned by Sales, takes 8 attributes of the service request so that servicing contacts appear on the engagement timeline. Complaints and Conduct Analytics, owned by Distribution Compliance, takes 11 attributes of service requests and contact center interactions, including the dissatisfaction indicator and the escalated complaint. End-Investor Look-Through Insights, owned by Sales Transactions &amp; AUM Attribution, takes 10 attributes of intermediary distribution requests and shareholder communications, and uses the beneficial owner position count to measure look-through coverage. Because this domain owns no foundational product, no other product depends on it through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make this concrete, follow one attribute. Recipient Delivery Method is defined once, on the Recipient Delivery Record: how one communication reached one recipient account. DP-069, Shareholder Communications Delivery and Cost, counts pieces by delivery method and checks that the pieces for a job add up to its audience, with no account counted twice. It then prices the pieces that were not printed: electronic, householded and suppressed pieces times the print and postage cost per piece. The semantic model SM-07, Finance and Profitability, publishes the delivery method as a dimension with the pieces and avoided cost measures, and hides the recipient account because it is personal data. Finance can then ask what e-delivery and householding saved. The compliance rates, such as deadline met, stay in the DP-069 dashboard.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decisions are still open. The most important needs a business decision: whether oversight of servicing vendors here and risk assessment of data vendors in Third-Party Data &amp; Licensing should sit under one enterprise third-party risk framework. The other three are proposed resolutions waiting for sign-off: keeping consent, marketing preferences and delivery elections with three separate owners, making the servicing error the master record for NAV errors, and keeping account status in Client &amp; Customer while this domain owns the escheatment workflow. The next steps on the right come from the Source Notes: validate with the business, map to transfer agent and Broadridge sources, load the state dormancy rules, confirm system ownership, and decide the 22 open gaps.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0C233C"/>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1371600"/>
            <a:ext cx="6583680" cy="274320"/>
          </a:xfrm>
          <a:prstGeom prst="rect">
            <a:avLst/>
          </a:prstGeom>
          <a:noFill/>
          <a:ln/>
        </p:spPr>
        <p:txBody>
          <a:bodyPr wrap="square" rtlCol="0"/>
          <a:lstStyle>
            <a:lvl1pPr indent="0" marL="0">
              <a:buNone/>
              <a:defRPr lang="en-US" sz="1200" b="1" spc="150" kern="0" dirty="0">
                <a:solidFill>
                  <a:schemeClr val="accent6"/>
                </a:solidFill>
              </a:defRPr>
            </a:lvl1pPr>
          </a:lstStyle>
          <a:p>
            <a:pPr indent="0" marL="0">
              <a:buNone/>
            </a:pPr>
            <a:endParaRPr lang="en-US" sz="1200" dirty="0"/>
          </a:p>
        </p:txBody>
      </p:sp>
      <p:sp>
        <p:nvSpPr>
          <p:cNvPr id="3" name="Text 0"/>
          <p:cNvSpPr/>
          <p:nvPr>
            <p:ph idx="101" type="title" hasCustomPrompt="1"/>
          </p:nvPr>
        </p:nvSpPr>
        <p:spPr>
          <a:xfrm>
            <a:off x="548640" y="1828800"/>
            <a:ext cx="6583680" cy="2011680"/>
          </a:xfrm>
          <a:prstGeom prst="rect">
            <a:avLst/>
          </a:prstGeom>
          <a:noFill/>
          <a:ln/>
        </p:spPr>
        <p:txBody>
          <a:bodyPr wrap="square" rtlCol="0"/>
          <a:lstStyle>
            <a:lvl1pPr algn="l" indent="0" marL="0">
              <a:buNone/>
              <a:defRPr lang="en-US" sz="3000" b="1" dirty="0">
                <a:solidFill>
                  <a:schemeClr val="bg1"/>
                </a:solidFill>
              </a:defRPr>
            </a:lvl1pPr>
          </a:lstStyle>
          <a:p>
            <a:pPr algn="l" indent="0" marL="0">
              <a:buNone/>
            </a:pPr>
            <a:endParaRPr lang="en-US" sz="3000" dirty="0"/>
          </a:p>
        </p:txBody>
      </p:sp>
      <p:sp>
        <p:nvSpPr>
          <p:cNvPr id="4" name="Text 0"/>
          <p:cNvSpPr/>
          <p:nvPr>
            <p:ph idx="102" type="body" hasCustomPrompt="1"/>
          </p:nvPr>
        </p:nvSpPr>
        <p:spPr>
          <a:xfrm>
            <a:off x="548640" y="3977640"/>
            <a:ext cx="6400800" cy="1005840"/>
          </a:xfrm>
          <a:prstGeom prst="rect">
            <a:avLst/>
          </a:prstGeom>
          <a:noFill/>
          <a:ln/>
        </p:spPr>
        <p:txBody>
          <a:bodyPr wrap="square" rtlCol="0"/>
          <a:lstStyle>
            <a:lvl1pPr indent="0" marL="0">
              <a:buNone/>
              <a:defRPr lang="en-US" sz="1800" dirty="0">
                <a:solidFill>
                  <a:schemeClr val="bg1"/>
                </a:solidFill>
              </a:defRPr>
            </a:lvl1pPr>
          </a:lstStyle>
          <a:p>
            <a:pPr indent="0" marL="0">
              <a:buNone/>
            </a:pPr>
            <a:endParaRPr lang="en-US" sz="1800" dirty="0"/>
          </a:p>
        </p:txBody>
      </p:sp>
      <p:sp>
        <p:nvSpPr>
          <p:cNvPr id="5" name="Text 0"/>
          <p:cNvSpPr/>
          <p:nvPr/>
        </p:nvSpPr>
        <p:spPr>
          <a:xfrm>
            <a:off x="548640" y="6035040"/>
            <a:ext cx="8229600" cy="274320"/>
          </a:xfrm>
          <a:prstGeom prst="rect">
            <a:avLst/>
          </a:prstGeom>
          <a:noFill/>
          <a:ln/>
        </p:spPr>
        <p:txBody>
          <a:bodyPr wrap="square" lIns="0" tIns="0" rIns="0" bIns="0" rtlCol="0" anchor="ctr"/>
          <a:lstStyle/>
          <a:p>
            <a:pPr indent="0" marL="0">
              <a:buNone/>
            </a:pPr>
            <a:r>
              <a:rPr lang="en-US" sz="1200" dirty="0">
                <a:solidFill>
                  <a:schemeClr val="accent6"/>
                </a:solidFill>
              </a:rPr>
              <a:t>Distribution Data Taxonomy Program  |  Draft, October 2026  |  Counts are taken from the current drafts</a:t>
            </a:r>
            <a:endParaRPr lang="en-US" sz="1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rtlCol="0"/>
          <a:lstStyle>
            <a:lvl1pPr indent="0" marL="0">
              <a:buNone/>
              <a:defRPr lang="en-US" sz="1200" b="1" spc="150" kern="0" dirty="0">
                <a:solidFill>
                  <a:schemeClr val="accent1"/>
                </a:solidFill>
              </a:defRPr>
            </a:lvl1pPr>
          </a:lstStyle>
          <a:p>
            <a:pPr indent="0" marL="0">
              <a:buNone/>
            </a:pP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rtlCol="0"/>
          <a:lstStyle>
            <a:lvl1pPr algn="l" indent="0" marL="0">
              <a:buNone/>
              <a:defRPr lang="en-US" sz="3600" b="1" dirty="0">
                <a:solidFill>
                  <a:schemeClr val="tx1"/>
                </a:solidFill>
              </a:defRPr>
            </a:lvl1pPr>
          </a:lstStyle>
          <a:p>
            <a:pPr algn="l" indent="0" marL="0">
              <a:buNone/>
            </a:pPr>
            <a:endParaRPr lang="en-US" sz="3600" dirty="0"/>
          </a:p>
        </p:txBody>
      </p:sp>
      <p:sp>
        <p:nvSpPr>
          <p:cNvPr id="4" name="Text 0"/>
          <p:cNvSpPr/>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chemeClr val="tx2"/>
                </a:solidFill>
              </a:rPr>
              <a:t>Investor Servicing &amp; Shareholder Communications taxonomy walkthrough  |  Draft, October 2026</a:t>
            </a:r>
            <a:endParaRPr lang="en-US" sz="10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548640" y="1371600"/>
            <a:ext cx="6583680" cy="274320"/>
          </a:xfrm>
          <a:prstGeom prst="rect">
            <a:avLst/>
          </a:prstGeom>
          <a:noFill/>
          <a:ln/>
        </p:spPr>
        <p:txBody>
          <a:bodyPr wrap="square" lIns="0" tIns="0" rIns="0" bIns="0" rtlCol="0" anchor="ctr"/>
          <a:lstStyle/>
          <a:p>
            <a:pPr indent="0" marL="0">
              <a:buNone/>
            </a:pPr>
            <a:r>
              <a:rPr lang="en-US" sz="1200" b="1" spc="150" kern="0" dirty="0">
                <a:solidFill>
                  <a:schemeClr val="accent6"/>
                </a:solidFill>
              </a:rPr>
              <a:t>DATA DOMAIN  |  INVESTOR SERVICING &amp; SHAREHOLDER COMMUNICATIONS</a:t>
            </a:r>
            <a:endParaRPr lang="en-US" sz="1200" dirty="0"/>
          </a:p>
        </p:txBody>
      </p:sp>
      <p:sp>
        <p:nvSpPr>
          <p:cNvPr id="3" name="Text 0"/>
          <p:cNvSpPr/>
          <p:nvPr>
            <p:ph idx="101" type="title" hasCustomPrompt="1"/>
          </p:nvPr>
        </p:nvSpPr>
        <p:spPr>
          <a:xfrm>
            <a:off x="548640" y="1828800"/>
            <a:ext cx="6583680" cy="2011680"/>
          </a:xfrm>
          <a:prstGeom prst="rect">
            <a:avLst/>
          </a:prstGeom>
          <a:noFill/>
          <a:ln/>
        </p:spPr>
        <p:txBody>
          <a:bodyPr wrap="square" lIns="0" tIns="0" rIns="0" bIns="0" rtlCol="0" anchor="t"/>
          <a:lstStyle/>
          <a:p>
            <a:pPr algn="l" indent="0" marL="0">
              <a:buNone/>
            </a:pPr>
            <a:r>
              <a:rPr lang="en-US" sz="3000" b="1" dirty="0">
                <a:solidFill>
                  <a:schemeClr val="bg1"/>
                </a:solidFill>
              </a:rPr>
              <a:t>The Investor Servicing &amp; Shareholder Communications taxonomy: a walkthrough</a:t>
            </a:r>
            <a:endParaRPr lang="en-US" sz="3000" dirty="0"/>
          </a:p>
        </p:txBody>
      </p:sp>
      <p:sp>
        <p:nvSpPr>
          <p:cNvPr id="4" name="Text 0"/>
          <p:cNvSpPr/>
          <p:nvPr>
            <p:ph idx="102" type="body" hasCustomPrompt="1"/>
          </p:nvPr>
        </p:nvSpPr>
        <p:spPr>
          <a:xfrm>
            <a:off x="548640" y="3977640"/>
            <a:ext cx="6400800" cy="1005840"/>
          </a:xfrm>
          <a:prstGeom prst="rect">
            <a:avLst/>
          </a:prstGeom>
          <a:noFill/>
          <a:ln/>
        </p:spPr>
        <p:txBody>
          <a:bodyPr wrap="square" lIns="0" tIns="0" rIns="0" bIns="0" rtlCol="0" anchor="t"/>
          <a:lstStyle/>
          <a:p>
            <a:pPr indent="0" marL="0">
              <a:buNone/>
            </a:pPr>
            <a:r>
              <a:rPr lang="en-US" sz="1800" dirty="0">
                <a:solidFill>
                  <a:schemeClr val="bg1"/>
                </a:solidFill>
              </a:rPr>
              <a:t>What the domain includes, what it leaves out, how it is used, and the data products it helps define</a:t>
            </a:r>
            <a:endParaRPr lang="en-US" sz="1800" dirty="0"/>
          </a:p>
        </p:txBody>
      </p:sp>
      <p:sp>
        <p:nvSpPr>
          <p:cNvPr id="5" name="Shape 3"/>
          <p:cNvSpPr/>
          <p:nvPr/>
        </p:nvSpPr>
        <p:spPr>
          <a:xfrm>
            <a:off x="8138160" y="1554480"/>
            <a:ext cx="3291840" cy="960120"/>
          </a:xfrm>
          <a:prstGeom prst="roundRect">
            <a:avLst>
              <a:gd name="adj" fmla="val 7619"/>
            </a:avLst>
          </a:prstGeom>
          <a:solidFill>
            <a:schemeClr val="accent1"/>
          </a:solidFill>
          <a:ln/>
        </p:spPr>
      </p:sp>
      <p:sp>
        <p:nvSpPr>
          <p:cNvPr id="6" name="Text 4"/>
          <p:cNvSpPr txBox="1"/>
          <p:nvPr/>
        </p:nvSpPr>
        <p:spPr>
          <a:xfrm>
            <a:off x="8412480" y="1719072"/>
            <a:ext cx="2743200" cy="347472"/>
          </a:xfrm>
          <a:prstGeom prst="rect">
            <a:avLst/>
          </a:prstGeom>
          <a:noFill/>
          <a:ln/>
        </p:spPr>
        <p:txBody>
          <a:bodyPr wrap="square" lIns="0" tIns="0" rIns="0" bIns="0" rtlCol="0" anchor="ctr"/>
          <a:lstStyle/>
          <a:p>
            <a:pPr algn="l" indent="0" marL="0">
              <a:buNone/>
            </a:pPr>
            <a:r>
              <a:rPr lang="en-US" sz="1800" b="1" dirty="0">
                <a:solidFill>
                  <a:schemeClr val="bg1"/>
                </a:solidFill>
              </a:rPr>
              <a:t>Service Request</a:t>
            </a:r>
            <a:endParaRPr lang="en-US" sz="1800" dirty="0"/>
          </a:p>
        </p:txBody>
      </p:sp>
      <p:sp>
        <p:nvSpPr>
          <p:cNvPr id="7" name="Text 5"/>
          <p:cNvSpPr txBox="1"/>
          <p:nvPr/>
        </p:nvSpPr>
        <p:spPr>
          <a:xfrm>
            <a:off x="8412480" y="2066544"/>
            <a:ext cx="2743200" cy="274320"/>
          </a:xfrm>
          <a:prstGeom prst="rect">
            <a:avLst/>
          </a:prstGeom>
          <a:noFill/>
          <a:ln/>
        </p:spPr>
        <p:txBody>
          <a:bodyPr wrap="square" lIns="0" tIns="0" rIns="0" bIns="0" rtlCol="0" anchor="ctr"/>
          <a:lstStyle/>
          <a:p>
            <a:pPr algn="l" indent="0" marL="0">
              <a:buNone/>
            </a:pPr>
            <a:r>
              <a:rPr lang="en-US" sz="1300" dirty="0">
                <a:solidFill>
                  <a:schemeClr val="bg1"/>
                </a:solidFill>
              </a:rPr>
              <a:t>What a shareholder asks for</a:t>
            </a:r>
            <a:endParaRPr lang="en-US" sz="1300" dirty="0"/>
          </a:p>
        </p:txBody>
      </p:sp>
      <p:sp>
        <p:nvSpPr>
          <p:cNvPr id="8" name="Shape 6"/>
          <p:cNvSpPr/>
          <p:nvPr/>
        </p:nvSpPr>
        <p:spPr>
          <a:xfrm>
            <a:off x="9784080" y="2514600"/>
            <a:ext cx="0" cy="411480"/>
          </a:xfrm>
          <a:prstGeom prst="line">
            <a:avLst/>
          </a:prstGeom>
          <a:noFill/>
          <a:ln w="19050">
            <a:solidFill>
              <a:schemeClr val="accent6"/>
            </a:solidFill>
            <a:prstDash val="solid"/>
            <a:tailEnd type="triangle"/>
          </a:ln>
        </p:spPr>
      </p:sp>
      <p:sp>
        <p:nvSpPr>
          <p:cNvPr id="9" name="Shape 7"/>
          <p:cNvSpPr/>
          <p:nvPr/>
        </p:nvSpPr>
        <p:spPr>
          <a:xfrm>
            <a:off x="8138160" y="2926080"/>
            <a:ext cx="3291840" cy="960120"/>
          </a:xfrm>
          <a:prstGeom prst="roundRect">
            <a:avLst>
              <a:gd name="adj" fmla="val 7619"/>
            </a:avLst>
          </a:prstGeom>
          <a:solidFill>
            <a:schemeClr val="accent2"/>
          </a:solidFill>
          <a:ln/>
        </p:spPr>
      </p:sp>
      <p:sp>
        <p:nvSpPr>
          <p:cNvPr id="10" name="Text 8"/>
          <p:cNvSpPr txBox="1"/>
          <p:nvPr/>
        </p:nvSpPr>
        <p:spPr>
          <a:xfrm>
            <a:off x="8412480" y="3090672"/>
            <a:ext cx="2743200" cy="347472"/>
          </a:xfrm>
          <a:prstGeom prst="rect">
            <a:avLst/>
          </a:prstGeom>
          <a:noFill/>
          <a:ln/>
        </p:spPr>
        <p:txBody>
          <a:bodyPr wrap="square" lIns="0" tIns="0" rIns="0" bIns="0" rtlCol="0" anchor="ctr"/>
          <a:lstStyle/>
          <a:p>
            <a:pPr algn="l" indent="0" marL="0">
              <a:buNone/>
            </a:pPr>
            <a:r>
              <a:rPr lang="en-US" sz="1800" b="1" dirty="0">
                <a:solidFill>
                  <a:schemeClr val="bg1"/>
                </a:solidFill>
              </a:rPr>
              <a:t>Investor Document</a:t>
            </a:r>
            <a:endParaRPr lang="en-US" sz="1800" dirty="0"/>
          </a:p>
        </p:txBody>
      </p:sp>
      <p:sp>
        <p:nvSpPr>
          <p:cNvPr id="11" name="Text 9"/>
          <p:cNvSpPr txBox="1"/>
          <p:nvPr/>
        </p:nvSpPr>
        <p:spPr>
          <a:xfrm>
            <a:off x="8412480" y="3438144"/>
            <a:ext cx="2743200" cy="274320"/>
          </a:xfrm>
          <a:prstGeom prst="rect">
            <a:avLst/>
          </a:prstGeom>
          <a:noFill/>
          <a:ln/>
        </p:spPr>
        <p:txBody>
          <a:bodyPr wrap="square" lIns="0" tIns="0" rIns="0" bIns="0" rtlCol="0" anchor="ctr"/>
          <a:lstStyle/>
          <a:p>
            <a:pPr algn="l" indent="0" marL="0">
              <a:buNone/>
            </a:pPr>
            <a:r>
              <a:rPr lang="en-US" sz="1300" dirty="0">
                <a:solidFill>
                  <a:schemeClr val="bg1"/>
                </a:solidFill>
              </a:rPr>
              <a:t>What each account receives</a:t>
            </a:r>
            <a:endParaRPr lang="en-US" sz="1300" dirty="0"/>
          </a:p>
        </p:txBody>
      </p:sp>
      <p:sp>
        <p:nvSpPr>
          <p:cNvPr id="12" name="Shape 10"/>
          <p:cNvSpPr/>
          <p:nvPr/>
        </p:nvSpPr>
        <p:spPr>
          <a:xfrm>
            <a:off x="9784080" y="3886200"/>
            <a:ext cx="0" cy="411480"/>
          </a:xfrm>
          <a:prstGeom prst="line">
            <a:avLst/>
          </a:prstGeom>
          <a:noFill/>
          <a:ln w="19050">
            <a:solidFill>
              <a:schemeClr val="accent6"/>
            </a:solidFill>
            <a:prstDash val="solid"/>
            <a:tailEnd type="triangle"/>
          </a:ln>
        </p:spPr>
      </p:sp>
      <p:sp>
        <p:nvSpPr>
          <p:cNvPr id="13" name="Shape 11"/>
          <p:cNvSpPr/>
          <p:nvPr/>
        </p:nvSpPr>
        <p:spPr>
          <a:xfrm>
            <a:off x="8138160" y="4297680"/>
            <a:ext cx="3291840" cy="960120"/>
          </a:xfrm>
          <a:prstGeom prst="roundRect">
            <a:avLst>
              <a:gd name="adj" fmla="val 7619"/>
            </a:avLst>
          </a:prstGeom>
          <a:solidFill>
            <a:schemeClr val="accent4"/>
          </a:solidFill>
          <a:ln/>
        </p:spPr>
      </p:sp>
      <p:sp>
        <p:nvSpPr>
          <p:cNvPr id="14" name="Text 12"/>
          <p:cNvSpPr txBox="1"/>
          <p:nvPr/>
        </p:nvSpPr>
        <p:spPr>
          <a:xfrm>
            <a:off x="8412480" y="4462272"/>
            <a:ext cx="2743200" cy="347472"/>
          </a:xfrm>
          <a:prstGeom prst="rect">
            <a:avLst/>
          </a:prstGeom>
          <a:noFill/>
          <a:ln/>
        </p:spPr>
        <p:txBody>
          <a:bodyPr wrap="square" lIns="0" tIns="0" rIns="0" bIns="0" rtlCol="0" anchor="ctr"/>
          <a:lstStyle/>
          <a:p>
            <a:pPr algn="l" indent="0" marL="0">
              <a:buNone/>
            </a:pPr>
            <a:r>
              <a:rPr lang="en-US" sz="1800" b="1" dirty="0">
                <a:solidFill>
                  <a:schemeClr val="bg1"/>
                </a:solidFill>
              </a:rPr>
              <a:t>Communication</a:t>
            </a:r>
            <a:endParaRPr lang="en-US" sz="1800" dirty="0"/>
          </a:p>
        </p:txBody>
      </p:sp>
      <p:sp>
        <p:nvSpPr>
          <p:cNvPr id="15" name="Text 13"/>
          <p:cNvSpPr txBox="1"/>
          <p:nvPr/>
        </p:nvSpPr>
        <p:spPr>
          <a:xfrm>
            <a:off x="8412480" y="4809744"/>
            <a:ext cx="2743200" cy="274320"/>
          </a:xfrm>
          <a:prstGeom prst="rect">
            <a:avLst/>
          </a:prstGeom>
          <a:noFill/>
          <a:ln/>
        </p:spPr>
        <p:txBody>
          <a:bodyPr wrap="square" lIns="0" tIns="0" rIns="0" bIns="0" rtlCol="0" anchor="ctr"/>
          <a:lstStyle/>
          <a:p>
            <a:pPr algn="l" indent="0" marL="0">
              <a:buNone/>
            </a:pPr>
            <a:r>
              <a:rPr lang="en-US" sz="1300" dirty="0">
                <a:solidFill>
                  <a:schemeClr val="bg1"/>
                </a:solidFill>
              </a:rPr>
              <a:t>What regulation requires sent</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SUMMARY</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This domain defines investor servicing, once</a:t>
            </a:r>
            <a:endParaRPr lang="en-US" sz="3600" dirty="0"/>
          </a:p>
        </p:txBody>
      </p:sp>
      <p:sp>
        <p:nvSpPr>
          <p:cNvPr id="5" name="Shape 2"/>
          <p:cNvSpPr/>
          <p:nvPr/>
        </p:nvSpPr>
        <p:spPr>
          <a:xfrm>
            <a:off x="548640" y="1783080"/>
            <a:ext cx="2651760" cy="4434840"/>
          </a:xfrm>
          <a:prstGeom prst="roundRect">
            <a:avLst>
              <a:gd name="adj" fmla="val 2759"/>
            </a:avLst>
          </a:prstGeom>
          <a:solidFill>
            <a:schemeClr val="tx1"/>
          </a:solidFill>
          <a:ln/>
        </p:spPr>
      </p:sp>
      <p:sp>
        <p:nvSpPr>
          <p:cNvPr id="6" name="Text 3"/>
          <p:cNvSpPr txBox="1"/>
          <p:nvPr/>
        </p:nvSpPr>
        <p:spPr>
          <a:xfrm>
            <a:off x="822960" y="2011680"/>
            <a:ext cx="2103120" cy="548640"/>
          </a:xfrm>
          <a:prstGeom prst="rect">
            <a:avLst/>
          </a:prstGeom>
          <a:noFill/>
          <a:ln/>
        </p:spPr>
        <p:txBody>
          <a:bodyPr wrap="square" lIns="0" tIns="0" rIns="0" bIns="0" rtlCol="0" anchor="ctr"/>
          <a:lstStyle/>
          <a:p>
            <a:pPr algn="l" indent="0" marL="0">
              <a:buNone/>
            </a:pPr>
            <a:r>
              <a:rPr lang="en-US" sz="3600" b="1" dirty="0">
                <a:solidFill>
                  <a:schemeClr val="accent6"/>
                </a:solidFill>
              </a:rPr>
              <a:t>8</a:t>
            </a:r>
            <a:endParaRPr lang="en-US" sz="3600" dirty="0"/>
          </a:p>
        </p:txBody>
      </p:sp>
      <p:sp>
        <p:nvSpPr>
          <p:cNvPr id="7" name="Text 4"/>
          <p:cNvSpPr txBox="1"/>
          <p:nvPr/>
        </p:nvSpPr>
        <p:spPr>
          <a:xfrm>
            <a:off x="822960" y="2560320"/>
            <a:ext cx="2103120" cy="274320"/>
          </a:xfrm>
          <a:prstGeom prst="rect">
            <a:avLst/>
          </a:prstGeom>
          <a:noFill/>
          <a:ln/>
        </p:spPr>
        <p:txBody>
          <a:bodyPr wrap="square" lIns="0" tIns="0" rIns="0" bIns="0" rtlCol="0" anchor="ctr"/>
          <a:lstStyle/>
          <a:p>
            <a:pPr algn="l" indent="0" marL="0">
              <a:buNone/>
            </a:pPr>
            <a:r>
              <a:rPr lang="en-US" sz="1300" dirty="0">
                <a:solidFill>
                  <a:schemeClr val="bg1"/>
                </a:solidFill>
              </a:rPr>
              <a:t>data families</a:t>
            </a:r>
            <a:endParaRPr lang="en-US" sz="1300" dirty="0"/>
          </a:p>
        </p:txBody>
      </p:sp>
      <p:sp>
        <p:nvSpPr>
          <p:cNvPr id="8" name="Text 5"/>
          <p:cNvSpPr txBox="1"/>
          <p:nvPr/>
        </p:nvSpPr>
        <p:spPr>
          <a:xfrm>
            <a:off x="822960" y="3044952"/>
            <a:ext cx="2103120" cy="548640"/>
          </a:xfrm>
          <a:prstGeom prst="rect">
            <a:avLst/>
          </a:prstGeom>
          <a:noFill/>
          <a:ln/>
        </p:spPr>
        <p:txBody>
          <a:bodyPr wrap="square" lIns="0" tIns="0" rIns="0" bIns="0" rtlCol="0" anchor="ctr"/>
          <a:lstStyle/>
          <a:p>
            <a:pPr algn="l" indent="0" marL="0">
              <a:buNone/>
            </a:pPr>
            <a:r>
              <a:rPr lang="en-US" sz="3600" b="1" dirty="0">
                <a:solidFill>
                  <a:schemeClr val="accent6"/>
                </a:solidFill>
              </a:rPr>
              <a:t>42</a:t>
            </a:r>
            <a:endParaRPr lang="en-US" sz="3600" dirty="0"/>
          </a:p>
        </p:txBody>
      </p:sp>
      <p:sp>
        <p:nvSpPr>
          <p:cNvPr id="9" name="Text 6"/>
          <p:cNvSpPr txBox="1"/>
          <p:nvPr/>
        </p:nvSpPr>
        <p:spPr>
          <a:xfrm>
            <a:off x="822960" y="3593592"/>
            <a:ext cx="2103120" cy="274320"/>
          </a:xfrm>
          <a:prstGeom prst="rect">
            <a:avLst/>
          </a:prstGeom>
          <a:noFill/>
          <a:ln/>
        </p:spPr>
        <p:txBody>
          <a:bodyPr wrap="square" lIns="0" tIns="0" rIns="0" bIns="0" rtlCol="0" anchor="ctr"/>
          <a:lstStyle/>
          <a:p>
            <a:pPr algn="l" indent="0" marL="0">
              <a:buNone/>
            </a:pPr>
            <a:r>
              <a:rPr lang="en-US" sz="1300" dirty="0">
                <a:solidFill>
                  <a:schemeClr val="bg1"/>
                </a:solidFill>
              </a:rPr>
              <a:t>objects</a:t>
            </a:r>
            <a:endParaRPr lang="en-US" sz="1300" dirty="0"/>
          </a:p>
        </p:txBody>
      </p:sp>
      <p:sp>
        <p:nvSpPr>
          <p:cNvPr id="10" name="Text 7"/>
          <p:cNvSpPr txBox="1"/>
          <p:nvPr/>
        </p:nvSpPr>
        <p:spPr>
          <a:xfrm>
            <a:off x="822960" y="4078224"/>
            <a:ext cx="2103120" cy="548640"/>
          </a:xfrm>
          <a:prstGeom prst="rect">
            <a:avLst/>
          </a:prstGeom>
          <a:noFill/>
          <a:ln/>
        </p:spPr>
        <p:txBody>
          <a:bodyPr wrap="square" lIns="0" tIns="0" rIns="0" bIns="0" rtlCol="0" anchor="ctr"/>
          <a:lstStyle/>
          <a:p>
            <a:pPr algn="l" indent="0" marL="0">
              <a:buNone/>
            </a:pPr>
            <a:r>
              <a:rPr lang="en-US" sz="3600" b="1" dirty="0">
                <a:solidFill>
                  <a:schemeClr val="accent6"/>
                </a:solidFill>
              </a:rPr>
              <a:t>238</a:t>
            </a:r>
            <a:endParaRPr lang="en-US" sz="3600" dirty="0"/>
          </a:p>
        </p:txBody>
      </p:sp>
      <p:sp>
        <p:nvSpPr>
          <p:cNvPr id="11" name="Text 8"/>
          <p:cNvSpPr txBox="1"/>
          <p:nvPr/>
        </p:nvSpPr>
        <p:spPr>
          <a:xfrm>
            <a:off x="822960" y="4626864"/>
            <a:ext cx="2103120" cy="274320"/>
          </a:xfrm>
          <a:prstGeom prst="rect">
            <a:avLst/>
          </a:prstGeom>
          <a:noFill/>
          <a:ln/>
        </p:spPr>
        <p:txBody>
          <a:bodyPr wrap="square" lIns="0" tIns="0" rIns="0" bIns="0" rtlCol="0" anchor="ctr"/>
          <a:lstStyle/>
          <a:p>
            <a:pPr algn="l" indent="0" marL="0">
              <a:buNone/>
            </a:pPr>
            <a:r>
              <a:rPr lang="en-US" sz="1300" dirty="0">
                <a:solidFill>
                  <a:schemeClr val="bg1"/>
                </a:solidFill>
              </a:rPr>
              <a:t>attributes</a:t>
            </a:r>
            <a:endParaRPr lang="en-US" sz="1300" dirty="0"/>
          </a:p>
        </p:txBody>
      </p:sp>
      <p:sp>
        <p:nvSpPr>
          <p:cNvPr id="12" name="Text 9"/>
          <p:cNvSpPr txBox="1"/>
          <p:nvPr/>
        </p:nvSpPr>
        <p:spPr>
          <a:xfrm>
            <a:off x="822960" y="5111496"/>
            <a:ext cx="2103120" cy="548640"/>
          </a:xfrm>
          <a:prstGeom prst="rect">
            <a:avLst/>
          </a:prstGeom>
          <a:noFill/>
          <a:ln/>
        </p:spPr>
        <p:txBody>
          <a:bodyPr wrap="square" lIns="0" tIns="0" rIns="0" bIns="0" rtlCol="0" anchor="ctr"/>
          <a:lstStyle/>
          <a:p>
            <a:pPr algn="l" indent="0" marL="0">
              <a:buNone/>
            </a:pPr>
            <a:r>
              <a:rPr lang="en-US" sz="3600" b="1" dirty="0">
                <a:solidFill>
                  <a:schemeClr val="accent6"/>
                </a:solidFill>
              </a:rPr>
              <a:t>72</a:t>
            </a:r>
            <a:endParaRPr lang="en-US" sz="3600" dirty="0"/>
          </a:p>
        </p:txBody>
      </p:sp>
      <p:sp>
        <p:nvSpPr>
          <p:cNvPr id="13" name="Text 10"/>
          <p:cNvSpPr txBox="1"/>
          <p:nvPr/>
        </p:nvSpPr>
        <p:spPr>
          <a:xfrm>
            <a:off x="822960" y="5660136"/>
            <a:ext cx="2103120" cy="274320"/>
          </a:xfrm>
          <a:prstGeom prst="rect">
            <a:avLst/>
          </a:prstGeom>
          <a:noFill/>
          <a:ln/>
        </p:spPr>
        <p:txBody>
          <a:bodyPr wrap="square" lIns="0" tIns="0" rIns="0" bIns="0" rtlCol="0" anchor="ctr"/>
          <a:lstStyle/>
          <a:p>
            <a:pPr algn="l" indent="0" marL="0">
              <a:buNone/>
            </a:pPr>
            <a:r>
              <a:rPr lang="en-US" sz="1300" dirty="0">
                <a:solidFill>
                  <a:schemeClr val="bg1"/>
                </a:solidFill>
              </a:rPr>
              <a:t>proposed critical data elements</a:t>
            </a:r>
            <a:endParaRPr lang="en-US" sz="1300" dirty="0"/>
          </a:p>
        </p:txBody>
      </p:sp>
      <p:sp>
        <p:nvSpPr>
          <p:cNvPr id="14" name="Shape 11"/>
          <p:cNvSpPr/>
          <p:nvPr/>
        </p:nvSpPr>
        <p:spPr>
          <a:xfrm>
            <a:off x="3474720" y="1783080"/>
            <a:ext cx="3945636" cy="2080260"/>
          </a:xfrm>
          <a:prstGeom prst="roundRect">
            <a:avLst>
              <a:gd name="adj" fmla="val 3516"/>
            </a:avLst>
          </a:prstGeom>
          <a:solidFill>
            <a:schemeClr val="bg2"/>
          </a:solidFill>
          <a:ln/>
        </p:spPr>
      </p:sp>
      <p:sp>
        <p:nvSpPr>
          <p:cNvPr id="15" name="Text 12"/>
          <p:cNvSpPr/>
          <p:nvPr/>
        </p:nvSpPr>
        <p:spPr>
          <a:xfrm>
            <a:off x="3703320" y="2011680"/>
            <a:ext cx="384048" cy="384048"/>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16" name="Text 13"/>
          <p:cNvSpPr txBox="1"/>
          <p:nvPr/>
        </p:nvSpPr>
        <p:spPr>
          <a:xfrm>
            <a:off x="4224528" y="2011680"/>
            <a:ext cx="2985516" cy="384048"/>
          </a:xfrm>
          <a:prstGeom prst="rect">
            <a:avLst/>
          </a:prstGeom>
          <a:noFill/>
          <a:ln/>
        </p:spPr>
        <p:txBody>
          <a:bodyPr wrap="square" lIns="0" tIns="0" rIns="0" bIns="0" rtlCol="0" anchor="ctr"/>
          <a:lstStyle/>
          <a:p>
            <a:pPr algn="l" indent="0" marL="0">
              <a:buNone/>
            </a:pPr>
            <a:r>
              <a:rPr lang="en-US" sz="1600" b="1" dirty="0">
                <a:solidFill>
                  <a:schemeClr val="tx1"/>
                </a:solidFill>
              </a:rPr>
              <a:t>What is included</a:t>
            </a:r>
            <a:endParaRPr lang="en-US" sz="1600" dirty="0"/>
          </a:p>
        </p:txBody>
      </p:sp>
      <p:sp>
        <p:nvSpPr>
          <p:cNvPr id="17" name="Text 14"/>
          <p:cNvSpPr txBox="1"/>
          <p:nvPr/>
        </p:nvSpPr>
        <p:spPr>
          <a:xfrm>
            <a:off x="3703320" y="2560320"/>
            <a:ext cx="3488436" cy="1143000"/>
          </a:xfrm>
          <a:prstGeom prst="rect">
            <a:avLst/>
          </a:prstGeom>
          <a:noFill/>
          <a:ln/>
        </p:spPr>
        <p:txBody>
          <a:bodyPr wrap="square" lIns="0" tIns="0" rIns="0" bIns="0" rtlCol="0" anchor="t"/>
          <a:lstStyle/>
          <a:p>
            <a:pPr algn="l" indent="0" marL="0">
              <a:buNone/>
            </a:pPr>
            <a:r>
              <a:rPr lang="en-US" sz="1300" dirty="0">
                <a:solidFill>
                  <a:schemeClr val="tx1"/>
                </a:solidFill>
              </a:rPr>
              <a:t>Shareholder service requests, statements, confirmations and tax forms, regulatory reports and notices, delivery elections, fund proxy votes, escheatment, and oversight of the transfer agent.</a:t>
            </a:r>
            <a:endParaRPr lang="en-US" sz="1300" dirty="0"/>
          </a:p>
        </p:txBody>
      </p:sp>
      <p:sp>
        <p:nvSpPr>
          <p:cNvPr id="18" name="Shape 15"/>
          <p:cNvSpPr/>
          <p:nvPr/>
        </p:nvSpPr>
        <p:spPr>
          <a:xfrm>
            <a:off x="7694676" y="1783080"/>
            <a:ext cx="3945636" cy="2080260"/>
          </a:xfrm>
          <a:prstGeom prst="roundRect">
            <a:avLst>
              <a:gd name="adj" fmla="val 3516"/>
            </a:avLst>
          </a:prstGeom>
          <a:solidFill>
            <a:schemeClr val="bg2"/>
          </a:solidFill>
          <a:ln/>
        </p:spPr>
      </p:sp>
      <p:sp>
        <p:nvSpPr>
          <p:cNvPr id="19" name="Text 16"/>
          <p:cNvSpPr/>
          <p:nvPr/>
        </p:nvSpPr>
        <p:spPr>
          <a:xfrm>
            <a:off x="7923276" y="2011680"/>
            <a:ext cx="384048" cy="384048"/>
          </a:xfrm>
          <a:prstGeom prst="ellipse">
            <a:avLst/>
          </a:prstGeom>
          <a:solidFill>
            <a:schemeClr val="accent4"/>
          </a:solid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20" name="Text 17"/>
          <p:cNvSpPr txBox="1"/>
          <p:nvPr/>
        </p:nvSpPr>
        <p:spPr>
          <a:xfrm>
            <a:off x="8444484" y="2011680"/>
            <a:ext cx="2985516" cy="384048"/>
          </a:xfrm>
          <a:prstGeom prst="rect">
            <a:avLst/>
          </a:prstGeom>
          <a:noFill/>
          <a:ln/>
        </p:spPr>
        <p:txBody>
          <a:bodyPr wrap="square" lIns="0" tIns="0" rIns="0" bIns="0" rtlCol="0" anchor="ctr"/>
          <a:lstStyle/>
          <a:p>
            <a:pPr algn="l" indent="0" marL="0">
              <a:buNone/>
            </a:pPr>
            <a:r>
              <a:rPr lang="en-US" sz="1600" b="1" dirty="0">
                <a:solidFill>
                  <a:schemeClr val="tx1"/>
                </a:solidFill>
              </a:rPr>
              <a:t>What is excluded</a:t>
            </a:r>
            <a:endParaRPr lang="en-US" sz="1600" dirty="0"/>
          </a:p>
        </p:txBody>
      </p:sp>
      <p:sp>
        <p:nvSpPr>
          <p:cNvPr id="21" name="Text 18"/>
          <p:cNvSpPr txBox="1"/>
          <p:nvPr/>
        </p:nvSpPr>
        <p:spPr>
          <a:xfrm>
            <a:off x="7923276" y="2560320"/>
            <a:ext cx="3488436" cy="1143000"/>
          </a:xfrm>
          <a:prstGeom prst="rect">
            <a:avLst/>
          </a:prstGeom>
          <a:noFill/>
          <a:ln/>
        </p:spPr>
        <p:txBody>
          <a:bodyPr wrap="square" lIns="0" tIns="0" rIns="0" bIns="0" rtlCol="0" anchor="t"/>
          <a:lstStyle/>
          <a:p>
            <a:pPr algn="l" indent="0" marL="0">
              <a:buNone/>
            </a:pPr>
            <a:r>
              <a:rPr lang="en-US" sz="1300" dirty="0">
                <a:solidFill>
                  <a:schemeClr val="tx1"/>
                </a:solidFill>
              </a:rPr>
              <a:t>Parties, accounts and contact points; product documents and lifecycle events; transactions and positions; complaints; sub-TA and networking payments; institutional client reporting.</a:t>
            </a:r>
            <a:endParaRPr lang="en-US" sz="1300" dirty="0"/>
          </a:p>
        </p:txBody>
      </p:sp>
      <p:sp>
        <p:nvSpPr>
          <p:cNvPr id="22" name="Shape 19"/>
          <p:cNvSpPr/>
          <p:nvPr/>
        </p:nvSpPr>
        <p:spPr>
          <a:xfrm>
            <a:off x="3474720" y="4137660"/>
            <a:ext cx="3945636" cy="2080260"/>
          </a:xfrm>
          <a:prstGeom prst="roundRect">
            <a:avLst>
              <a:gd name="adj" fmla="val 3516"/>
            </a:avLst>
          </a:prstGeom>
          <a:solidFill>
            <a:schemeClr val="bg2"/>
          </a:solidFill>
          <a:ln/>
        </p:spPr>
      </p:sp>
      <p:sp>
        <p:nvSpPr>
          <p:cNvPr id="23" name="Text 20"/>
          <p:cNvSpPr/>
          <p:nvPr/>
        </p:nvSpPr>
        <p:spPr>
          <a:xfrm>
            <a:off x="3703320" y="4366260"/>
            <a:ext cx="384048" cy="384048"/>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24" name="Text 21"/>
          <p:cNvSpPr txBox="1"/>
          <p:nvPr/>
        </p:nvSpPr>
        <p:spPr>
          <a:xfrm>
            <a:off x="4224528" y="4366260"/>
            <a:ext cx="2985516" cy="384048"/>
          </a:xfrm>
          <a:prstGeom prst="rect">
            <a:avLst/>
          </a:prstGeom>
          <a:noFill/>
          <a:ln/>
        </p:spPr>
        <p:txBody>
          <a:bodyPr wrap="square" lIns="0" tIns="0" rIns="0" bIns="0" rtlCol="0" anchor="ctr"/>
          <a:lstStyle/>
          <a:p>
            <a:pPr algn="l" indent="0" marL="0">
              <a:buNone/>
            </a:pPr>
            <a:r>
              <a:rPr lang="en-US" sz="1600" b="1" dirty="0">
                <a:solidFill>
                  <a:schemeClr val="tx1"/>
                </a:solidFill>
              </a:rPr>
              <a:t>How it is used</a:t>
            </a:r>
            <a:endParaRPr lang="en-US" sz="1600" dirty="0"/>
          </a:p>
        </p:txBody>
      </p:sp>
      <p:sp>
        <p:nvSpPr>
          <p:cNvPr id="25" name="Text 22"/>
          <p:cNvSpPr txBox="1"/>
          <p:nvPr/>
        </p:nvSpPr>
        <p:spPr>
          <a:xfrm>
            <a:off x="3703320" y="4914900"/>
            <a:ext cx="3488436" cy="1143000"/>
          </a:xfrm>
          <a:prstGeom prst="rect">
            <a:avLst/>
          </a:prstGeom>
          <a:noFill/>
          <a:ln/>
        </p:spPr>
        <p:txBody>
          <a:bodyPr wrap="square" lIns="0" tIns="0" rIns="0" bIns="0" rtlCol="0" anchor="t"/>
          <a:lstStyle/>
          <a:p>
            <a:pPr algn="l" indent="0" marL="0">
              <a:buNone/>
            </a:pPr>
            <a:r>
              <a:rPr lang="en-US" sz="1300" dirty="0">
                <a:solidFill>
                  <a:schemeClr val="tx1"/>
                </a:solidFill>
              </a:rPr>
              <a:t>As the mapping target for transfer agent and Broadridge sources, the bill of materials for nine data products, and the evidence that servicing deadlines and service levels were met.</a:t>
            </a:r>
            <a:endParaRPr lang="en-US" sz="1300" dirty="0"/>
          </a:p>
        </p:txBody>
      </p:sp>
      <p:sp>
        <p:nvSpPr>
          <p:cNvPr id="26" name="Shape 23"/>
          <p:cNvSpPr/>
          <p:nvPr/>
        </p:nvSpPr>
        <p:spPr>
          <a:xfrm>
            <a:off x="7694676" y="4137660"/>
            <a:ext cx="3945636" cy="2080260"/>
          </a:xfrm>
          <a:prstGeom prst="roundRect">
            <a:avLst>
              <a:gd name="adj" fmla="val 3516"/>
            </a:avLst>
          </a:prstGeom>
          <a:solidFill>
            <a:schemeClr val="bg2"/>
          </a:solidFill>
          <a:ln/>
        </p:spPr>
      </p:sp>
      <p:sp>
        <p:nvSpPr>
          <p:cNvPr id="27" name="Text 24"/>
          <p:cNvSpPr/>
          <p:nvPr/>
        </p:nvSpPr>
        <p:spPr>
          <a:xfrm>
            <a:off x="7923276" y="4366260"/>
            <a:ext cx="384048" cy="384048"/>
          </a:xfrm>
          <a:prstGeom prst="ellipse">
            <a:avLst/>
          </a:prstGeom>
          <a:solidFill>
            <a:schemeClr val="accent5"/>
          </a:solid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8" name="Text 25"/>
          <p:cNvSpPr txBox="1"/>
          <p:nvPr/>
        </p:nvSpPr>
        <p:spPr>
          <a:xfrm>
            <a:off x="8444484" y="4366260"/>
            <a:ext cx="2985516" cy="384048"/>
          </a:xfrm>
          <a:prstGeom prst="rect">
            <a:avLst/>
          </a:prstGeom>
          <a:noFill/>
          <a:ln/>
        </p:spPr>
        <p:txBody>
          <a:bodyPr wrap="square" lIns="0" tIns="0" rIns="0" bIns="0" rtlCol="0" anchor="ctr"/>
          <a:lstStyle/>
          <a:p>
            <a:pPr algn="l" indent="0" marL="0">
              <a:buNone/>
            </a:pPr>
            <a:r>
              <a:rPr lang="en-US" sz="1600" b="1" dirty="0">
                <a:solidFill>
                  <a:schemeClr val="tx1"/>
                </a:solidFill>
              </a:rPr>
              <a:t>What it helps define</a:t>
            </a:r>
            <a:endParaRPr lang="en-US" sz="1600" dirty="0"/>
          </a:p>
        </p:txBody>
      </p:sp>
      <p:sp>
        <p:nvSpPr>
          <p:cNvPr id="29" name="Text 26"/>
          <p:cNvSpPr txBox="1"/>
          <p:nvPr/>
        </p:nvSpPr>
        <p:spPr>
          <a:xfrm>
            <a:off x="7923276" y="4914900"/>
            <a:ext cx="3488436" cy="1143000"/>
          </a:xfrm>
          <a:prstGeom prst="rect">
            <a:avLst/>
          </a:prstGeom>
          <a:noFill/>
          <a:ln/>
        </p:spPr>
        <p:txBody>
          <a:bodyPr wrap="square" lIns="0" tIns="0" rIns="0" bIns="0" rtlCol="0" anchor="t"/>
          <a:lstStyle/>
          <a:p>
            <a:pPr algn="l" indent="0" marL="0">
              <a:buNone/>
            </a:pPr>
            <a:r>
              <a:rPr lang="en-US" sz="1300" dirty="0">
                <a:solidFill>
                  <a:schemeClr val="tx1"/>
                </a:solidFill>
              </a:rPr>
              <a:t>9 of the 92 data products read it directly: 6 it owns and 3 owned by other domains. 41 of its 238 attributes point to records mastered elsewhere, 28 of them in Client &amp; Customer.</a:t>
            </a:r>
            <a:endParaRPr lang="en-US" sz="13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CONTEXT  |  WHERE THE DOMAIN SITS</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One of 14 data domains, four levels deep</a:t>
            </a:r>
            <a:endParaRPr lang="en-US" sz="3600" dirty="0"/>
          </a:p>
        </p:txBody>
      </p:sp>
      <p:sp>
        <p:nvSpPr>
          <p:cNvPr id="5" name="Shape 2"/>
          <p:cNvSpPr/>
          <p:nvPr/>
        </p:nvSpPr>
        <p:spPr>
          <a:xfrm>
            <a:off x="548640" y="1783080"/>
            <a:ext cx="6126480" cy="868680"/>
          </a:xfrm>
          <a:prstGeom prst="roundRect">
            <a:avLst>
              <a:gd name="adj" fmla="val 8421"/>
            </a:avLst>
          </a:prstGeom>
          <a:solidFill>
            <a:schemeClr val="bg2"/>
          </a:solidFill>
          <a:ln/>
        </p:spPr>
      </p:sp>
      <p:sp>
        <p:nvSpPr>
          <p:cNvPr id="6" name="Text 3"/>
          <p:cNvSpPr/>
          <p:nvPr/>
        </p:nvSpPr>
        <p:spPr>
          <a:xfrm>
            <a:off x="731520" y="2011680"/>
            <a:ext cx="548640" cy="411480"/>
          </a:xfrm>
          <a:prstGeom prst="roundRect">
            <a:avLst>
              <a:gd name="adj" fmla="val 13333"/>
            </a:avLst>
          </a:prstGeom>
          <a:solidFill>
            <a:schemeClr val="tx1"/>
          </a:solidFill>
          <a:ln/>
        </p:spPr>
        <p:txBody>
          <a:bodyPr wrap="square" lIns="0" tIns="0" rIns="0" bIns="0" rtlCol="0" anchor="ctr"/>
          <a:lstStyle/>
          <a:p>
            <a:pPr algn="ctr" indent="0" marL="0">
              <a:buNone/>
            </a:pPr>
            <a:r>
              <a:rPr lang="en-US" sz="1300" b="1" dirty="0">
                <a:solidFill>
                  <a:schemeClr val="bg1"/>
                </a:solidFill>
              </a:rPr>
              <a:t>L1</a:t>
            </a:r>
            <a:endParaRPr lang="en-US" sz="1300" dirty="0"/>
          </a:p>
        </p:txBody>
      </p:sp>
      <p:sp>
        <p:nvSpPr>
          <p:cNvPr id="7" name="Text 4"/>
          <p:cNvSpPr txBox="1"/>
          <p:nvPr/>
        </p:nvSpPr>
        <p:spPr>
          <a:xfrm>
            <a:off x="1463040" y="1911096"/>
            <a:ext cx="2011680" cy="329184"/>
          </a:xfrm>
          <a:prstGeom prst="rect">
            <a:avLst/>
          </a:prstGeom>
          <a:noFill/>
          <a:ln/>
        </p:spPr>
        <p:txBody>
          <a:bodyPr wrap="square" lIns="0" tIns="0" rIns="0" bIns="0" rtlCol="0" anchor="ctr"/>
          <a:lstStyle/>
          <a:p>
            <a:pPr algn="l" indent="0" marL="0">
              <a:buNone/>
            </a:pPr>
            <a:r>
              <a:rPr lang="en-US" sz="1600" b="1" dirty="0">
                <a:solidFill>
                  <a:schemeClr val="tx1"/>
                </a:solidFill>
              </a:rPr>
              <a:t>Data Domain</a:t>
            </a:r>
            <a:endParaRPr lang="en-US" sz="1600" dirty="0"/>
          </a:p>
        </p:txBody>
      </p:sp>
      <p:sp>
        <p:nvSpPr>
          <p:cNvPr id="8" name="Text 5"/>
          <p:cNvSpPr txBox="1"/>
          <p:nvPr/>
        </p:nvSpPr>
        <p:spPr>
          <a:xfrm>
            <a:off x="1463040" y="2240280"/>
            <a:ext cx="2011680" cy="274320"/>
          </a:xfrm>
          <a:prstGeom prst="rect">
            <a:avLst/>
          </a:prstGeom>
          <a:noFill/>
          <a:ln/>
        </p:spPr>
        <p:txBody>
          <a:bodyPr wrap="square" lIns="0" tIns="0" rIns="0" bIns="0" rtlCol="0" anchor="ctr"/>
          <a:lstStyle/>
          <a:p>
            <a:pPr algn="l" indent="0" marL="0">
              <a:buNone/>
            </a:pPr>
            <a:r>
              <a:rPr lang="en-US" sz="1200" dirty="0">
                <a:solidFill>
                  <a:schemeClr val="tx2"/>
                </a:solidFill>
              </a:rPr>
              <a:t>1 of 14</a:t>
            </a:r>
            <a:endParaRPr lang="en-US" sz="1200" dirty="0"/>
          </a:p>
        </p:txBody>
      </p:sp>
      <p:sp>
        <p:nvSpPr>
          <p:cNvPr id="9" name="Text 6"/>
          <p:cNvSpPr txBox="1"/>
          <p:nvPr/>
        </p:nvSpPr>
        <p:spPr>
          <a:xfrm>
            <a:off x="3474720" y="1911096"/>
            <a:ext cx="3017520" cy="612648"/>
          </a:xfrm>
          <a:prstGeom prst="rect">
            <a:avLst/>
          </a:prstGeom>
          <a:noFill/>
          <a:ln/>
        </p:spPr>
        <p:txBody>
          <a:bodyPr wrap="square" lIns="0" tIns="0" rIns="0" bIns="0" rtlCol="0" anchor="ctr"/>
          <a:lstStyle/>
          <a:p>
            <a:pPr algn="l" indent="0" marL="0">
              <a:buNone/>
            </a:pPr>
            <a:r>
              <a:rPr lang="en-US" sz="1400" b="1" dirty="0">
                <a:solidFill>
                  <a:schemeClr val="accent2"/>
                </a:solidFill>
              </a:rPr>
              <a:t>Investor Servicing &amp; Shareholder Communications</a:t>
            </a:r>
            <a:endParaRPr lang="en-US" sz="1400" dirty="0"/>
          </a:p>
        </p:txBody>
      </p:sp>
      <p:sp>
        <p:nvSpPr>
          <p:cNvPr id="10" name="Shape 7"/>
          <p:cNvSpPr/>
          <p:nvPr/>
        </p:nvSpPr>
        <p:spPr>
          <a:xfrm>
            <a:off x="822960" y="2788920"/>
            <a:ext cx="5852160" cy="868680"/>
          </a:xfrm>
          <a:prstGeom prst="roundRect">
            <a:avLst>
              <a:gd name="adj" fmla="val 8421"/>
            </a:avLst>
          </a:prstGeom>
          <a:solidFill>
            <a:schemeClr val="bg2"/>
          </a:solidFill>
          <a:ln/>
        </p:spPr>
      </p:sp>
      <p:sp>
        <p:nvSpPr>
          <p:cNvPr id="11" name="Text 8"/>
          <p:cNvSpPr/>
          <p:nvPr/>
        </p:nvSpPr>
        <p:spPr>
          <a:xfrm>
            <a:off x="1005840" y="3017520"/>
            <a:ext cx="548640" cy="411480"/>
          </a:xfrm>
          <a:prstGeom prst="roundRect">
            <a:avLst>
              <a:gd name="adj" fmla="val 13333"/>
            </a:avLst>
          </a:prstGeom>
          <a:solidFill>
            <a:schemeClr val="tx1"/>
          </a:solidFill>
          <a:ln/>
        </p:spPr>
        <p:txBody>
          <a:bodyPr wrap="square" lIns="0" tIns="0" rIns="0" bIns="0" rtlCol="0" anchor="ctr"/>
          <a:lstStyle/>
          <a:p>
            <a:pPr algn="ctr" indent="0" marL="0">
              <a:buNone/>
            </a:pPr>
            <a:r>
              <a:rPr lang="en-US" sz="1300" b="1" dirty="0">
                <a:solidFill>
                  <a:schemeClr val="bg1"/>
                </a:solidFill>
              </a:rPr>
              <a:t>L2</a:t>
            </a:r>
            <a:endParaRPr lang="en-US" sz="1300" dirty="0"/>
          </a:p>
        </p:txBody>
      </p:sp>
      <p:sp>
        <p:nvSpPr>
          <p:cNvPr id="12" name="Text 9"/>
          <p:cNvSpPr txBox="1"/>
          <p:nvPr/>
        </p:nvSpPr>
        <p:spPr>
          <a:xfrm>
            <a:off x="1737360" y="2916936"/>
            <a:ext cx="2011680" cy="329184"/>
          </a:xfrm>
          <a:prstGeom prst="rect">
            <a:avLst/>
          </a:prstGeom>
          <a:noFill/>
          <a:ln/>
        </p:spPr>
        <p:txBody>
          <a:bodyPr wrap="square" lIns="0" tIns="0" rIns="0" bIns="0" rtlCol="0" anchor="ctr"/>
          <a:lstStyle/>
          <a:p>
            <a:pPr algn="l" indent="0" marL="0">
              <a:buNone/>
            </a:pPr>
            <a:r>
              <a:rPr lang="en-US" sz="1600" b="1" dirty="0">
                <a:solidFill>
                  <a:schemeClr val="tx1"/>
                </a:solidFill>
              </a:rPr>
              <a:t>Data Family</a:t>
            </a:r>
            <a:endParaRPr lang="en-US" sz="1600" dirty="0"/>
          </a:p>
        </p:txBody>
      </p:sp>
      <p:sp>
        <p:nvSpPr>
          <p:cNvPr id="13" name="Text 10"/>
          <p:cNvSpPr txBox="1"/>
          <p:nvPr/>
        </p:nvSpPr>
        <p:spPr>
          <a:xfrm>
            <a:off x="1737360" y="3246120"/>
            <a:ext cx="2011680" cy="274320"/>
          </a:xfrm>
          <a:prstGeom prst="rect">
            <a:avLst/>
          </a:prstGeom>
          <a:noFill/>
          <a:ln/>
        </p:spPr>
        <p:txBody>
          <a:bodyPr wrap="square" lIns="0" tIns="0" rIns="0" bIns="0" rtlCol="0" anchor="ctr"/>
          <a:lstStyle/>
          <a:p>
            <a:pPr algn="l" indent="0" marL="0">
              <a:buNone/>
            </a:pPr>
            <a:r>
              <a:rPr lang="en-US" sz="1200" dirty="0">
                <a:solidFill>
                  <a:schemeClr val="tx2"/>
                </a:solidFill>
              </a:rPr>
              <a:t>8 families</a:t>
            </a:r>
            <a:endParaRPr lang="en-US" sz="1200" dirty="0"/>
          </a:p>
        </p:txBody>
      </p:sp>
      <p:sp>
        <p:nvSpPr>
          <p:cNvPr id="14" name="Text 11"/>
          <p:cNvSpPr txBox="1"/>
          <p:nvPr/>
        </p:nvSpPr>
        <p:spPr>
          <a:xfrm>
            <a:off x="3749040" y="2916936"/>
            <a:ext cx="2743200" cy="612648"/>
          </a:xfrm>
          <a:prstGeom prst="rect">
            <a:avLst/>
          </a:prstGeom>
          <a:noFill/>
          <a:ln/>
        </p:spPr>
        <p:txBody>
          <a:bodyPr wrap="square" lIns="0" tIns="0" rIns="0" bIns="0" rtlCol="0" anchor="ctr"/>
          <a:lstStyle/>
          <a:p>
            <a:pPr algn="l" indent="0" marL="0">
              <a:buNone/>
            </a:pPr>
            <a:r>
              <a:rPr lang="en-US" sz="1400" b="1" dirty="0">
                <a:solidFill>
                  <a:schemeClr val="accent2"/>
                </a:solidFill>
              </a:rPr>
              <a:t>Regulatory Shareholder Communications</a:t>
            </a:r>
            <a:endParaRPr lang="en-US" sz="1400" dirty="0"/>
          </a:p>
        </p:txBody>
      </p:sp>
      <p:sp>
        <p:nvSpPr>
          <p:cNvPr id="15" name="Shape 12"/>
          <p:cNvSpPr/>
          <p:nvPr/>
        </p:nvSpPr>
        <p:spPr>
          <a:xfrm>
            <a:off x="1097280" y="3794760"/>
            <a:ext cx="5577840" cy="868680"/>
          </a:xfrm>
          <a:prstGeom prst="roundRect">
            <a:avLst>
              <a:gd name="adj" fmla="val 8421"/>
            </a:avLst>
          </a:prstGeom>
          <a:solidFill>
            <a:schemeClr val="bg2"/>
          </a:solidFill>
          <a:ln/>
        </p:spPr>
      </p:sp>
      <p:sp>
        <p:nvSpPr>
          <p:cNvPr id="16" name="Text 13"/>
          <p:cNvSpPr/>
          <p:nvPr/>
        </p:nvSpPr>
        <p:spPr>
          <a:xfrm>
            <a:off x="1280160" y="4023360"/>
            <a:ext cx="548640" cy="411480"/>
          </a:xfrm>
          <a:prstGeom prst="roundRect">
            <a:avLst>
              <a:gd name="adj" fmla="val 13333"/>
            </a:avLst>
          </a:prstGeom>
          <a:solidFill>
            <a:schemeClr val="tx1"/>
          </a:solidFill>
          <a:ln/>
        </p:spPr>
        <p:txBody>
          <a:bodyPr wrap="square" lIns="0" tIns="0" rIns="0" bIns="0" rtlCol="0" anchor="ctr"/>
          <a:lstStyle/>
          <a:p>
            <a:pPr algn="ctr" indent="0" marL="0">
              <a:buNone/>
            </a:pPr>
            <a:r>
              <a:rPr lang="en-US" sz="1300" b="1" dirty="0">
                <a:solidFill>
                  <a:schemeClr val="bg1"/>
                </a:solidFill>
              </a:rPr>
              <a:t>L3</a:t>
            </a:r>
            <a:endParaRPr lang="en-US" sz="1300" dirty="0"/>
          </a:p>
        </p:txBody>
      </p:sp>
      <p:sp>
        <p:nvSpPr>
          <p:cNvPr id="17" name="Text 14"/>
          <p:cNvSpPr txBox="1"/>
          <p:nvPr/>
        </p:nvSpPr>
        <p:spPr>
          <a:xfrm>
            <a:off x="2011680" y="3922776"/>
            <a:ext cx="2011680" cy="329184"/>
          </a:xfrm>
          <a:prstGeom prst="rect">
            <a:avLst/>
          </a:prstGeom>
          <a:noFill/>
          <a:ln/>
        </p:spPr>
        <p:txBody>
          <a:bodyPr wrap="square" lIns="0" tIns="0" rIns="0" bIns="0" rtlCol="0" anchor="ctr"/>
          <a:lstStyle/>
          <a:p>
            <a:pPr algn="l" indent="0" marL="0">
              <a:buNone/>
            </a:pPr>
            <a:r>
              <a:rPr lang="en-US" sz="1600" b="1" dirty="0">
                <a:solidFill>
                  <a:schemeClr val="tx1"/>
                </a:solidFill>
              </a:rPr>
              <a:t>Business Object</a:t>
            </a:r>
            <a:endParaRPr lang="en-US" sz="1600" dirty="0"/>
          </a:p>
        </p:txBody>
      </p:sp>
      <p:sp>
        <p:nvSpPr>
          <p:cNvPr id="18" name="Text 15"/>
          <p:cNvSpPr txBox="1"/>
          <p:nvPr/>
        </p:nvSpPr>
        <p:spPr>
          <a:xfrm>
            <a:off x="2011680" y="4251960"/>
            <a:ext cx="2011680" cy="274320"/>
          </a:xfrm>
          <a:prstGeom prst="rect">
            <a:avLst/>
          </a:prstGeom>
          <a:noFill/>
          <a:ln/>
        </p:spPr>
        <p:txBody>
          <a:bodyPr wrap="square" lIns="0" tIns="0" rIns="0" bIns="0" rtlCol="0" anchor="ctr"/>
          <a:lstStyle/>
          <a:p>
            <a:pPr algn="l" indent="0" marL="0">
              <a:buNone/>
            </a:pPr>
            <a:r>
              <a:rPr lang="en-US" sz="1200" dirty="0">
                <a:solidFill>
                  <a:schemeClr val="tx2"/>
                </a:solidFill>
              </a:rPr>
              <a:t>42 objects</a:t>
            </a:r>
            <a:endParaRPr lang="en-US" sz="1200" dirty="0"/>
          </a:p>
        </p:txBody>
      </p:sp>
      <p:sp>
        <p:nvSpPr>
          <p:cNvPr id="19" name="Text 16"/>
          <p:cNvSpPr txBox="1"/>
          <p:nvPr/>
        </p:nvSpPr>
        <p:spPr>
          <a:xfrm>
            <a:off x="4023360" y="3922776"/>
            <a:ext cx="2468880" cy="612648"/>
          </a:xfrm>
          <a:prstGeom prst="rect">
            <a:avLst/>
          </a:prstGeom>
          <a:noFill/>
          <a:ln/>
        </p:spPr>
        <p:txBody>
          <a:bodyPr wrap="square" lIns="0" tIns="0" rIns="0" bIns="0" rtlCol="0" anchor="ctr"/>
          <a:lstStyle/>
          <a:p>
            <a:pPr algn="l" indent="0" marL="0">
              <a:buNone/>
            </a:pPr>
            <a:r>
              <a:rPr lang="en-US" sz="1400" b="1" dirty="0">
                <a:solidFill>
                  <a:schemeClr val="accent2"/>
                </a:solidFill>
              </a:rPr>
              <a:t>Recipient Delivery Record</a:t>
            </a:r>
            <a:endParaRPr lang="en-US" sz="1400" dirty="0"/>
          </a:p>
        </p:txBody>
      </p:sp>
      <p:sp>
        <p:nvSpPr>
          <p:cNvPr id="20" name="Shape 17"/>
          <p:cNvSpPr/>
          <p:nvPr/>
        </p:nvSpPr>
        <p:spPr>
          <a:xfrm>
            <a:off x="1371600" y="4800600"/>
            <a:ext cx="5303520" cy="868680"/>
          </a:xfrm>
          <a:prstGeom prst="roundRect">
            <a:avLst>
              <a:gd name="adj" fmla="val 8421"/>
            </a:avLst>
          </a:prstGeom>
          <a:solidFill>
            <a:schemeClr val="bg2"/>
          </a:solidFill>
          <a:ln/>
        </p:spPr>
      </p:sp>
      <p:sp>
        <p:nvSpPr>
          <p:cNvPr id="21" name="Text 18"/>
          <p:cNvSpPr/>
          <p:nvPr/>
        </p:nvSpPr>
        <p:spPr>
          <a:xfrm>
            <a:off x="1554480" y="5029200"/>
            <a:ext cx="548640" cy="411480"/>
          </a:xfrm>
          <a:prstGeom prst="roundRect">
            <a:avLst>
              <a:gd name="adj" fmla="val 13333"/>
            </a:avLst>
          </a:prstGeom>
          <a:solidFill>
            <a:schemeClr val="tx1"/>
          </a:solidFill>
          <a:ln/>
        </p:spPr>
        <p:txBody>
          <a:bodyPr wrap="square" lIns="0" tIns="0" rIns="0" bIns="0" rtlCol="0" anchor="ctr"/>
          <a:lstStyle/>
          <a:p>
            <a:pPr algn="ctr" indent="0" marL="0">
              <a:buNone/>
            </a:pPr>
            <a:r>
              <a:rPr lang="en-US" sz="1300" b="1" dirty="0">
                <a:solidFill>
                  <a:schemeClr val="bg1"/>
                </a:solidFill>
              </a:rPr>
              <a:t>L4</a:t>
            </a:r>
            <a:endParaRPr lang="en-US" sz="1300" dirty="0"/>
          </a:p>
        </p:txBody>
      </p:sp>
      <p:sp>
        <p:nvSpPr>
          <p:cNvPr id="22" name="Text 19"/>
          <p:cNvSpPr txBox="1"/>
          <p:nvPr/>
        </p:nvSpPr>
        <p:spPr>
          <a:xfrm>
            <a:off x="2286000" y="4928616"/>
            <a:ext cx="2011680" cy="329184"/>
          </a:xfrm>
          <a:prstGeom prst="rect">
            <a:avLst/>
          </a:prstGeom>
          <a:noFill/>
          <a:ln/>
        </p:spPr>
        <p:txBody>
          <a:bodyPr wrap="square" lIns="0" tIns="0" rIns="0" bIns="0" rtlCol="0" anchor="ctr"/>
          <a:lstStyle/>
          <a:p>
            <a:pPr algn="l" indent="0" marL="0">
              <a:buNone/>
            </a:pPr>
            <a:r>
              <a:rPr lang="en-US" sz="1600" b="1" dirty="0">
                <a:solidFill>
                  <a:schemeClr val="tx1"/>
                </a:solidFill>
              </a:rPr>
              <a:t>Attribute</a:t>
            </a:r>
            <a:endParaRPr lang="en-US" sz="1600" dirty="0"/>
          </a:p>
        </p:txBody>
      </p:sp>
      <p:sp>
        <p:nvSpPr>
          <p:cNvPr id="23" name="Text 20"/>
          <p:cNvSpPr txBox="1"/>
          <p:nvPr/>
        </p:nvSpPr>
        <p:spPr>
          <a:xfrm>
            <a:off x="2286000" y="5257800"/>
            <a:ext cx="2011680" cy="274320"/>
          </a:xfrm>
          <a:prstGeom prst="rect">
            <a:avLst/>
          </a:prstGeom>
          <a:noFill/>
          <a:ln/>
        </p:spPr>
        <p:txBody>
          <a:bodyPr wrap="square" lIns="0" tIns="0" rIns="0" bIns="0" rtlCol="0" anchor="ctr"/>
          <a:lstStyle/>
          <a:p>
            <a:pPr algn="l" indent="0" marL="0">
              <a:buNone/>
            </a:pPr>
            <a:r>
              <a:rPr lang="en-US" sz="1200" dirty="0">
                <a:solidFill>
                  <a:schemeClr val="tx2"/>
                </a:solidFill>
              </a:rPr>
              <a:t>238 attributes</a:t>
            </a:r>
            <a:endParaRPr lang="en-US" sz="1200" dirty="0"/>
          </a:p>
        </p:txBody>
      </p:sp>
      <p:sp>
        <p:nvSpPr>
          <p:cNvPr id="24" name="Text 21"/>
          <p:cNvSpPr txBox="1"/>
          <p:nvPr/>
        </p:nvSpPr>
        <p:spPr>
          <a:xfrm>
            <a:off x="4297680" y="4928616"/>
            <a:ext cx="2194560" cy="612648"/>
          </a:xfrm>
          <a:prstGeom prst="rect">
            <a:avLst/>
          </a:prstGeom>
          <a:noFill/>
          <a:ln/>
        </p:spPr>
        <p:txBody>
          <a:bodyPr wrap="square" lIns="0" tIns="0" rIns="0" bIns="0" rtlCol="0" anchor="ctr"/>
          <a:lstStyle/>
          <a:p>
            <a:pPr algn="l" indent="0" marL="0">
              <a:buNone/>
            </a:pPr>
            <a:r>
              <a:rPr lang="en-US" sz="1400" b="1" dirty="0">
                <a:solidFill>
                  <a:schemeClr val="accent2"/>
                </a:solidFill>
              </a:rPr>
              <a:t>Recipient Delivery Method</a:t>
            </a:r>
            <a:endParaRPr lang="en-US" sz="1400" dirty="0"/>
          </a:p>
        </p:txBody>
      </p:sp>
      <p:sp>
        <p:nvSpPr>
          <p:cNvPr id="25" name="Text 22"/>
          <p:cNvSpPr txBox="1"/>
          <p:nvPr/>
        </p:nvSpPr>
        <p:spPr>
          <a:xfrm>
            <a:off x="548640" y="5852160"/>
            <a:ext cx="6126480" cy="274320"/>
          </a:xfrm>
          <a:prstGeom prst="rect">
            <a:avLst/>
          </a:prstGeom>
          <a:noFill/>
          <a:ln/>
        </p:spPr>
        <p:txBody>
          <a:bodyPr wrap="square" lIns="0" tIns="0" rIns="0" bIns="0" rtlCol="0" anchor="ctr"/>
          <a:lstStyle/>
          <a:p>
            <a:pPr algn="l" indent="0" marL="0">
              <a:buNone/>
            </a:pPr>
            <a:r>
              <a:rPr lang="en-US" sz="1200" dirty="0">
                <a:solidFill>
                  <a:schemeClr val="accent2"/>
                </a:solidFill>
              </a:rPr>
              <a:t>Purple text: the path to one attribute followed later in this deck</a:t>
            </a:r>
            <a:endParaRPr lang="en-US" sz="1200" dirty="0"/>
          </a:p>
        </p:txBody>
      </p:sp>
      <p:sp>
        <p:nvSpPr>
          <p:cNvPr id="26" name="Text 23"/>
          <p:cNvSpPr txBox="1"/>
          <p:nvPr/>
        </p:nvSpPr>
        <p:spPr>
          <a:xfrm>
            <a:off x="7040880" y="1783080"/>
            <a:ext cx="4572000" cy="256032"/>
          </a:xfrm>
          <a:prstGeom prst="rect">
            <a:avLst/>
          </a:prstGeom>
          <a:noFill/>
          <a:ln/>
        </p:spPr>
        <p:txBody>
          <a:bodyPr wrap="square" lIns="0" tIns="0" rIns="0" bIns="0" rtlCol="0" anchor="ctr"/>
          <a:lstStyle/>
          <a:p>
            <a:pPr algn="l" indent="0" marL="0">
              <a:buNone/>
            </a:pPr>
            <a:r>
              <a:rPr lang="en-US" sz="1200" b="1" spc="150" kern="0" dirty="0">
                <a:solidFill>
                  <a:schemeClr val="accent1"/>
                </a:solidFill>
              </a:rPr>
              <a:t>FOR EVERY ATTRIBUTE, IT RECORDS</a:t>
            </a:r>
            <a:endParaRPr lang="en-US" sz="1200" dirty="0"/>
          </a:p>
        </p:txBody>
      </p:sp>
      <p:sp>
        <p:nvSpPr>
          <p:cNvPr id="27" name="Text 24"/>
          <p:cNvSpPr txBox="1"/>
          <p:nvPr/>
        </p:nvSpPr>
        <p:spPr>
          <a:xfrm>
            <a:off x="7040880" y="2148840"/>
            <a:ext cx="4599432" cy="2514600"/>
          </a:xfrm>
          <a:prstGeom prst="rect">
            <a:avLst/>
          </a:prstGeom>
          <a:noFill/>
          <a:ln/>
        </p:spPr>
        <p:txBody>
          <a:bodyPr wrap="square" lIns="0" tIns="0" rIns="0" bIns="0" rtlCol="0" anchor="t"/>
          <a:lstStyle/>
          <a:p>
            <a:pPr marL="177800" indent="-177800">
              <a:spcAft>
                <a:spcPts val="700"/>
              </a:spcAft>
              <a:buSzPct val="100000"/>
              <a:buChar char="•"/>
            </a:pPr>
            <a:r>
              <a:rPr lang="en-US" sz="1400" dirty="0">
                <a:solidFill>
                  <a:schemeClr val="tx1"/>
                </a:solidFill>
              </a:rPr>
              <a:t>One definition, with an example value</a:t>
            </a:r>
            <a:endParaRPr lang="en-US" sz="1400" dirty="0"/>
          </a:p>
          <a:p>
            <a:pPr marL="177800" indent="-177800">
              <a:spcAft>
                <a:spcPts val="700"/>
              </a:spcAft>
              <a:buSzPct val="100000"/>
              <a:buChar char="•"/>
            </a:pPr>
            <a:r>
              <a:rPr lang="en-US" sz="1400" dirty="0">
                <a:solidFill>
                  <a:schemeClr val="tx1"/>
                </a:solidFill>
              </a:rPr>
              <a:t>The data type and, where coded, the code list</a:t>
            </a:r>
            <a:endParaRPr lang="en-US" sz="1400" dirty="0"/>
          </a:p>
          <a:p>
            <a:pPr marL="177800" indent="-177800">
              <a:spcAft>
                <a:spcPts val="700"/>
              </a:spcAft>
              <a:buSzPct val="100000"/>
              <a:buChar char="•"/>
            </a:pPr>
            <a:r>
              <a:rPr lang="en-US" sz="1400" dirty="0">
                <a:solidFill>
                  <a:schemeClr val="tx1"/>
                </a:solidFill>
              </a:rPr>
              <a:t>The request, document, communication or record it applies to</a:t>
            </a:r>
            <a:endParaRPr lang="en-US" sz="1400" dirty="0"/>
          </a:p>
          <a:p>
            <a:pPr marL="177800" indent="-177800">
              <a:spcAft>
                <a:spcPts val="700"/>
              </a:spcAft>
              <a:buSzPct val="100000"/>
              <a:buChar char="•"/>
            </a:pPr>
            <a:r>
              <a:rPr lang="en-US" sz="1400" dirty="0">
                <a:solidFill>
                  <a:schemeClr val="tx1"/>
                </a:solidFill>
              </a:rPr>
              <a:t>The standard, regulation or source it aligns to</a:t>
            </a:r>
            <a:endParaRPr lang="en-US" sz="1400" dirty="0"/>
          </a:p>
          <a:p>
            <a:pPr marL="177800" indent="-177800">
              <a:spcAft>
                <a:spcPts val="700"/>
              </a:spcAft>
              <a:buSzPct val="100000"/>
              <a:buChar char="•"/>
            </a:pPr>
            <a:r>
              <a:rPr lang="en-US" sz="1400" dirty="0">
                <a:solidFill>
                  <a:schemeClr val="tx1"/>
                </a:solidFill>
              </a:rPr>
              <a:t>Whether it is a proposed critical data element</a:t>
            </a:r>
            <a:endParaRPr lang="en-US" sz="1400" dirty="0"/>
          </a:p>
          <a:p>
            <a:pPr marL="177800" indent="-177800">
              <a:spcAft>
                <a:spcPts val="700"/>
              </a:spcAft>
              <a:buSzPct val="100000"/>
              <a:buChar char="•"/>
            </a:pPr>
            <a:r>
              <a:rPr lang="en-US" sz="1400" dirty="0">
                <a:solidFill>
                  <a:schemeClr val="tx1"/>
                </a:solidFill>
              </a:rPr>
              <a:t>Whether it is mastered here, referenced or a derived copy</a:t>
            </a:r>
            <a:endParaRPr lang="en-US" sz="1400" dirty="0"/>
          </a:p>
        </p:txBody>
      </p:sp>
      <p:sp>
        <p:nvSpPr>
          <p:cNvPr id="28" name="Shape 25"/>
          <p:cNvSpPr/>
          <p:nvPr/>
        </p:nvSpPr>
        <p:spPr>
          <a:xfrm>
            <a:off x="7040880" y="4800600"/>
            <a:ext cx="4599432" cy="914400"/>
          </a:xfrm>
          <a:prstGeom prst="roundRect">
            <a:avLst>
              <a:gd name="adj" fmla="val 8000"/>
            </a:avLst>
          </a:prstGeom>
          <a:solidFill>
            <a:schemeClr val="bg2"/>
          </a:solidFill>
          <a:ln/>
        </p:spPr>
      </p:sp>
      <p:sp>
        <p:nvSpPr>
          <p:cNvPr id="29" name="Text 26"/>
          <p:cNvSpPr txBox="1"/>
          <p:nvPr/>
        </p:nvSpPr>
        <p:spPr>
          <a:xfrm>
            <a:off x="7269480" y="4800600"/>
            <a:ext cx="4142232" cy="914400"/>
          </a:xfrm>
          <a:prstGeom prst="rect">
            <a:avLst/>
          </a:prstGeom>
          <a:noFill/>
          <a:ln/>
        </p:spPr>
        <p:txBody>
          <a:bodyPr wrap="square" lIns="0" tIns="0" rIns="0" bIns="0" rtlCol="0" anchor="ctr"/>
          <a:lstStyle/>
          <a:p>
            <a:pPr algn="l" indent="0" marL="0">
              <a:buNone/>
            </a:pPr>
            <a:r>
              <a:rPr lang="en-US" sz="1400" b="1" dirty="0">
                <a:solidFill>
                  <a:schemeClr val="tx1"/>
                </a:solidFill>
              </a:rPr>
              <a:t>It defines meaning and ownership. It does not hold data values or system field names.</a:t>
            </a:r>
            <a:endParaRPr lang="en-US" sz="14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CONTEXT  |  THE CORE MODEL</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The core model: one account, three records</a:t>
            </a:r>
            <a:endParaRPr lang="en-US" sz="3600" dirty="0"/>
          </a:p>
        </p:txBody>
      </p:sp>
      <p:sp>
        <p:nvSpPr>
          <p:cNvPr id="5" name="Text 2"/>
          <p:cNvSpPr txBox="1"/>
          <p:nvPr/>
        </p:nvSpPr>
        <p:spPr>
          <a:xfrm>
            <a:off x="548640" y="1783080"/>
            <a:ext cx="3017520" cy="256032"/>
          </a:xfrm>
          <a:prstGeom prst="rect">
            <a:avLst/>
          </a:prstGeom>
          <a:noFill/>
          <a:ln/>
        </p:spPr>
        <p:txBody>
          <a:bodyPr wrap="square" lIns="0" tIns="0" rIns="0" bIns="0" rtlCol="0" anchor="ctr"/>
          <a:lstStyle/>
          <a:p>
            <a:pPr algn="l" indent="0" marL="0">
              <a:buNone/>
            </a:pPr>
            <a:r>
              <a:rPr lang="en-US" sz="1200" b="1" spc="150" kern="0" dirty="0">
                <a:solidFill>
                  <a:schemeClr val="accent1"/>
                </a:solidFill>
              </a:rPr>
              <a:t>WHO IS SERVICED</a:t>
            </a:r>
            <a:endParaRPr lang="en-US" sz="1200" dirty="0"/>
          </a:p>
        </p:txBody>
      </p:sp>
      <p:sp>
        <p:nvSpPr>
          <p:cNvPr id="6" name="Text 3"/>
          <p:cNvSpPr txBox="1"/>
          <p:nvPr/>
        </p:nvSpPr>
        <p:spPr>
          <a:xfrm>
            <a:off x="4480560" y="1783080"/>
            <a:ext cx="3291840" cy="256032"/>
          </a:xfrm>
          <a:prstGeom prst="rect">
            <a:avLst/>
          </a:prstGeom>
          <a:noFill/>
          <a:ln/>
        </p:spPr>
        <p:txBody>
          <a:bodyPr wrap="square" lIns="0" tIns="0" rIns="0" bIns="0" rtlCol="0" anchor="ctr"/>
          <a:lstStyle/>
          <a:p>
            <a:pPr algn="l" indent="0" marL="0">
              <a:buNone/>
            </a:pPr>
            <a:r>
              <a:rPr lang="en-US" sz="1200" b="1" spc="150" kern="0" dirty="0">
                <a:solidFill>
                  <a:schemeClr val="accent2"/>
                </a:solidFill>
              </a:rPr>
              <a:t>WHAT IS DONE FOR THEM</a:t>
            </a:r>
            <a:endParaRPr lang="en-US" sz="1200" dirty="0"/>
          </a:p>
        </p:txBody>
      </p:sp>
      <p:sp>
        <p:nvSpPr>
          <p:cNvPr id="7" name="Text 4"/>
          <p:cNvSpPr txBox="1"/>
          <p:nvPr/>
        </p:nvSpPr>
        <p:spPr>
          <a:xfrm>
            <a:off x="8686800" y="1783080"/>
            <a:ext cx="2953512" cy="256032"/>
          </a:xfrm>
          <a:prstGeom prst="rect">
            <a:avLst/>
          </a:prstGeom>
          <a:noFill/>
          <a:ln/>
        </p:spPr>
        <p:txBody>
          <a:bodyPr wrap="square" lIns="0" tIns="0" rIns="0" bIns="0" rtlCol="0" anchor="ctr"/>
          <a:lstStyle/>
          <a:p>
            <a:pPr algn="l" indent="0" marL="0">
              <a:buNone/>
            </a:pPr>
            <a:r>
              <a:rPr lang="en-US" sz="1200" b="1" spc="150" kern="0" dirty="0">
                <a:solidFill>
                  <a:schemeClr val="accent4"/>
                </a:solidFill>
              </a:rPr>
              <a:t>HOW IT REACHES THEM</a:t>
            </a:r>
            <a:endParaRPr lang="en-US" sz="1200" dirty="0"/>
          </a:p>
        </p:txBody>
      </p:sp>
      <p:sp>
        <p:nvSpPr>
          <p:cNvPr id="8" name="Shape 5"/>
          <p:cNvSpPr/>
          <p:nvPr/>
        </p:nvSpPr>
        <p:spPr>
          <a:xfrm>
            <a:off x="548640" y="2788920"/>
            <a:ext cx="3017520" cy="914400"/>
          </a:xfrm>
          <a:prstGeom prst="roundRect">
            <a:avLst>
              <a:gd name="adj" fmla="val 8000"/>
            </a:avLst>
          </a:prstGeom>
          <a:solidFill>
            <a:schemeClr val="accent1"/>
          </a:solidFill>
          <a:ln/>
        </p:spPr>
      </p:sp>
      <p:sp>
        <p:nvSpPr>
          <p:cNvPr id="9" name="Text 6"/>
          <p:cNvSpPr txBox="1"/>
          <p:nvPr/>
        </p:nvSpPr>
        <p:spPr>
          <a:xfrm>
            <a:off x="777240" y="2880360"/>
            <a:ext cx="2560320" cy="365760"/>
          </a:xfrm>
          <a:prstGeom prst="rect">
            <a:avLst/>
          </a:prstGeom>
          <a:noFill/>
          <a:ln/>
        </p:spPr>
        <p:txBody>
          <a:bodyPr wrap="square" lIns="0" tIns="0" rIns="0" bIns="0" rtlCol="0" anchor="ctr"/>
          <a:lstStyle/>
          <a:p>
            <a:pPr algn="l" indent="0" marL="0">
              <a:buNone/>
            </a:pPr>
            <a:r>
              <a:rPr lang="en-US" sz="1600" b="1" dirty="0">
                <a:solidFill>
                  <a:schemeClr val="bg1"/>
                </a:solidFill>
              </a:rPr>
              <a:t>Account</a:t>
            </a:r>
            <a:endParaRPr lang="en-US" sz="1600" dirty="0"/>
          </a:p>
        </p:txBody>
      </p:sp>
      <p:sp>
        <p:nvSpPr>
          <p:cNvPr id="10" name="Text 7"/>
          <p:cNvSpPr txBox="1"/>
          <p:nvPr/>
        </p:nvSpPr>
        <p:spPr>
          <a:xfrm>
            <a:off x="777240" y="3246120"/>
            <a:ext cx="2560320" cy="274320"/>
          </a:xfrm>
          <a:prstGeom prst="rect">
            <a:avLst/>
          </a:prstGeom>
          <a:noFill/>
          <a:ln/>
        </p:spPr>
        <p:txBody>
          <a:bodyPr wrap="square" lIns="0" tIns="0" rIns="0" bIns="0" rtlCol="0" anchor="ctr"/>
          <a:lstStyle/>
          <a:p>
            <a:pPr algn="l" indent="0" marL="0">
              <a:buNone/>
            </a:pPr>
            <a:r>
              <a:rPr lang="en-US" sz="1200" dirty="0">
                <a:solidFill>
                  <a:schemeClr val="bg1"/>
                </a:solidFill>
              </a:rPr>
              <a:t>Shareholder account, ACC-</a:t>
            </a:r>
            <a:endParaRPr lang="en-US" sz="1200" dirty="0"/>
          </a:p>
        </p:txBody>
      </p:sp>
      <p:sp>
        <p:nvSpPr>
          <p:cNvPr id="11" name="Shape 8"/>
          <p:cNvSpPr/>
          <p:nvPr/>
        </p:nvSpPr>
        <p:spPr>
          <a:xfrm>
            <a:off x="2057400" y="3703320"/>
            <a:ext cx="0" cy="457200"/>
          </a:xfrm>
          <a:prstGeom prst="line">
            <a:avLst/>
          </a:prstGeom>
          <a:noFill/>
          <a:ln w="19050">
            <a:solidFill>
              <a:schemeClr val="tx2"/>
            </a:solidFill>
            <a:prstDash val="solid"/>
            <a:tailEnd type="triangle"/>
          </a:ln>
        </p:spPr>
      </p:sp>
      <p:sp>
        <p:nvSpPr>
          <p:cNvPr id="12" name="Shape 9"/>
          <p:cNvSpPr/>
          <p:nvPr/>
        </p:nvSpPr>
        <p:spPr>
          <a:xfrm>
            <a:off x="548640" y="4160520"/>
            <a:ext cx="3017520" cy="822960"/>
          </a:xfrm>
          <a:prstGeom prst="roundRect">
            <a:avLst>
              <a:gd name="adj" fmla="val 8889"/>
            </a:avLst>
          </a:prstGeom>
          <a:solidFill>
            <a:schemeClr val="bg2"/>
          </a:solidFill>
          <a:ln/>
        </p:spPr>
      </p:sp>
      <p:sp>
        <p:nvSpPr>
          <p:cNvPr id="13" name="Text 10"/>
          <p:cNvSpPr txBox="1"/>
          <p:nvPr/>
        </p:nvSpPr>
        <p:spPr>
          <a:xfrm>
            <a:off x="777240" y="4224528"/>
            <a:ext cx="2560320" cy="329184"/>
          </a:xfrm>
          <a:prstGeom prst="rect">
            <a:avLst/>
          </a:prstGeom>
          <a:noFill/>
          <a:ln/>
        </p:spPr>
        <p:txBody>
          <a:bodyPr wrap="square" lIns="0" tIns="0" rIns="0" bIns="0" rtlCol="0" anchor="ctr"/>
          <a:lstStyle/>
          <a:p>
            <a:pPr algn="l" indent="0" marL="0">
              <a:buNone/>
            </a:pPr>
            <a:r>
              <a:rPr lang="en-US" sz="1400" b="1" dirty="0">
                <a:solidFill>
                  <a:schemeClr val="tx1"/>
                </a:solidFill>
              </a:rPr>
              <a:t>Servicing Provider</a:t>
            </a:r>
            <a:endParaRPr lang="en-US" sz="1400" dirty="0"/>
          </a:p>
        </p:txBody>
      </p:sp>
      <p:sp>
        <p:nvSpPr>
          <p:cNvPr id="14" name="Text 11"/>
          <p:cNvSpPr txBox="1"/>
          <p:nvPr/>
        </p:nvSpPr>
        <p:spPr>
          <a:xfrm>
            <a:off x="777240" y="4553712"/>
            <a:ext cx="2560320" cy="274320"/>
          </a:xfrm>
          <a:prstGeom prst="rect">
            <a:avLst/>
          </a:prstGeom>
          <a:noFill/>
          <a:ln/>
        </p:spPr>
        <p:txBody>
          <a:bodyPr wrap="square" lIns="0" tIns="0" rIns="0" bIns="0" rtlCol="0" anchor="ctr"/>
          <a:lstStyle/>
          <a:p>
            <a:pPr algn="l" indent="0" marL="0">
              <a:buNone/>
            </a:pPr>
            <a:r>
              <a:rPr lang="en-US" sz="1200" dirty="0">
                <a:solidFill>
                  <a:schemeClr val="tx2"/>
                </a:solidFill>
              </a:rPr>
              <a:t>Transfer agent or vendor</a:t>
            </a:r>
            <a:endParaRPr lang="en-US" sz="1200" dirty="0"/>
          </a:p>
        </p:txBody>
      </p:sp>
      <p:sp>
        <p:nvSpPr>
          <p:cNvPr id="15" name="Text 12"/>
          <p:cNvSpPr txBox="1"/>
          <p:nvPr/>
        </p:nvSpPr>
        <p:spPr>
          <a:xfrm>
            <a:off x="548640" y="2194560"/>
            <a:ext cx="3017520" cy="457200"/>
          </a:xfrm>
          <a:prstGeom prst="rect">
            <a:avLst/>
          </a:prstGeom>
          <a:noFill/>
          <a:ln/>
        </p:spPr>
        <p:txBody>
          <a:bodyPr wrap="square" lIns="0" tIns="0" rIns="0" bIns="0" rtlCol="0" anchor="ctr"/>
          <a:lstStyle/>
          <a:p>
            <a:pPr algn="l" indent="0" marL="0">
              <a:buNone/>
            </a:pPr>
            <a:r>
              <a:rPr lang="en-US" sz="1200" dirty="0">
                <a:solidFill>
                  <a:schemeClr val="tx2"/>
                </a:solidFill>
              </a:rPr>
              <a:t>Mastered in Client &amp; Customer; referenced here</a:t>
            </a:r>
            <a:endParaRPr lang="en-US" sz="1200" dirty="0"/>
          </a:p>
        </p:txBody>
      </p:sp>
      <p:sp>
        <p:nvSpPr>
          <p:cNvPr id="16" name="Shape 13"/>
          <p:cNvSpPr/>
          <p:nvPr/>
        </p:nvSpPr>
        <p:spPr>
          <a:xfrm>
            <a:off x="4480560" y="2240280"/>
            <a:ext cx="3291840" cy="822960"/>
          </a:xfrm>
          <a:prstGeom prst="roundRect">
            <a:avLst>
              <a:gd name="adj" fmla="val 8889"/>
            </a:avLst>
          </a:prstGeom>
          <a:solidFill>
            <a:schemeClr val="accent2"/>
          </a:solidFill>
          <a:ln/>
        </p:spPr>
      </p:sp>
      <p:sp>
        <p:nvSpPr>
          <p:cNvPr id="17" name="Text 14"/>
          <p:cNvSpPr txBox="1"/>
          <p:nvPr/>
        </p:nvSpPr>
        <p:spPr>
          <a:xfrm>
            <a:off x="4709160" y="2313432"/>
            <a:ext cx="2834640" cy="329184"/>
          </a:xfrm>
          <a:prstGeom prst="rect">
            <a:avLst/>
          </a:prstGeom>
          <a:noFill/>
          <a:ln/>
        </p:spPr>
        <p:txBody>
          <a:bodyPr wrap="square" lIns="0" tIns="0" rIns="0" bIns="0" rtlCol="0" anchor="ctr"/>
          <a:lstStyle/>
          <a:p>
            <a:pPr algn="l" indent="0" marL="0">
              <a:buNone/>
            </a:pPr>
            <a:r>
              <a:rPr lang="en-US" sz="1400" b="1" dirty="0">
                <a:solidFill>
                  <a:schemeClr val="bg1"/>
                </a:solidFill>
              </a:rPr>
              <a:t>Service Request</a:t>
            </a:r>
            <a:endParaRPr lang="en-US" sz="1400" dirty="0"/>
          </a:p>
        </p:txBody>
      </p:sp>
      <p:sp>
        <p:nvSpPr>
          <p:cNvPr id="18" name="Text 15"/>
          <p:cNvSpPr txBox="1"/>
          <p:nvPr/>
        </p:nvSpPr>
        <p:spPr>
          <a:xfrm>
            <a:off x="4709160" y="2642616"/>
            <a:ext cx="2834640" cy="329184"/>
          </a:xfrm>
          <a:prstGeom prst="rect">
            <a:avLst/>
          </a:prstGeom>
          <a:noFill/>
          <a:ln/>
        </p:spPr>
        <p:txBody>
          <a:bodyPr wrap="square" lIns="0" tIns="0" rIns="0" bIns="0" rtlCol="0" anchor="ctr"/>
          <a:lstStyle/>
          <a:p>
            <a:pPr algn="l" indent="0" marL="0">
              <a:buNone/>
            </a:pPr>
            <a:r>
              <a:rPr lang="en-US" sz="1200" dirty="0">
                <a:solidFill>
                  <a:schemeClr val="bg1"/>
                </a:solidFill>
              </a:rPr>
              <a:t>What a shareholder asks for, SRQ-</a:t>
            </a:r>
            <a:endParaRPr lang="en-US" sz="1200" dirty="0"/>
          </a:p>
        </p:txBody>
      </p:sp>
      <p:sp>
        <p:nvSpPr>
          <p:cNvPr id="19" name="Shape 16"/>
          <p:cNvSpPr/>
          <p:nvPr/>
        </p:nvSpPr>
        <p:spPr>
          <a:xfrm>
            <a:off x="4480560" y="3246120"/>
            <a:ext cx="3291840" cy="822960"/>
          </a:xfrm>
          <a:prstGeom prst="roundRect">
            <a:avLst>
              <a:gd name="adj" fmla="val 8889"/>
            </a:avLst>
          </a:prstGeom>
          <a:solidFill>
            <a:schemeClr val="bg2"/>
          </a:solidFill>
          <a:ln/>
        </p:spPr>
      </p:sp>
      <p:sp>
        <p:nvSpPr>
          <p:cNvPr id="20" name="Text 17"/>
          <p:cNvSpPr txBox="1"/>
          <p:nvPr/>
        </p:nvSpPr>
        <p:spPr>
          <a:xfrm>
            <a:off x="4709160" y="3319272"/>
            <a:ext cx="2834640" cy="329184"/>
          </a:xfrm>
          <a:prstGeom prst="rect">
            <a:avLst/>
          </a:prstGeom>
          <a:noFill/>
          <a:ln/>
        </p:spPr>
        <p:txBody>
          <a:bodyPr wrap="square" lIns="0" tIns="0" rIns="0" bIns="0" rtlCol="0" anchor="ctr"/>
          <a:lstStyle/>
          <a:p>
            <a:pPr algn="l" indent="0" marL="0">
              <a:buNone/>
            </a:pPr>
            <a:r>
              <a:rPr lang="en-US" sz="1400" b="1" dirty="0">
                <a:solidFill>
                  <a:schemeClr val="tx1"/>
                </a:solidFill>
              </a:rPr>
              <a:t>Shareholder Communication</a:t>
            </a:r>
            <a:endParaRPr lang="en-US" sz="1400" dirty="0"/>
          </a:p>
        </p:txBody>
      </p:sp>
      <p:sp>
        <p:nvSpPr>
          <p:cNvPr id="21" name="Text 18"/>
          <p:cNvSpPr txBox="1"/>
          <p:nvPr/>
        </p:nvSpPr>
        <p:spPr>
          <a:xfrm>
            <a:off x="4709160" y="3648456"/>
            <a:ext cx="2834640" cy="329184"/>
          </a:xfrm>
          <a:prstGeom prst="rect">
            <a:avLst/>
          </a:prstGeom>
          <a:noFill/>
          <a:ln/>
        </p:spPr>
        <p:txBody>
          <a:bodyPr wrap="square" lIns="0" tIns="0" rIns="0" bIns="0" rtlCol="0" anchor="ctr"/>
          <a:lstStyle/>
          <a:p>
            <a:pPr algn="l" indent="0" marL="0">
              <a:buNone/>
            </a:pPr>
            <a:r>
              <a:rPr lang="en-US" sz="1200" dirty="0">
                <a:solidFill>
                  <a:schemeClr val="tx2"/>
                </a:solidFill>
              </a:rPr>
              <a:t>Required report or notice, COMM-</a:t>
            </a:r>
            <a:endParaRPr lang="en-US" sz="1200" dirty="0"/>
          </a:p>
        </p:txBody>
      </p:sp>
      <p:sp>
        <p:nvSpPr>
          <p:cNvPr id="22" name="Shape 19"/>
          <p:cNvSpPr/>
          <p:nvPr/>
        </p:nvSpPr>
        <p:spPr>
          <a:xfrm>
            <a:off x="4480560" y="4251960"/>
            <a:ext cx="3291840" cy="822960"/>
          </a:xfrm>
          <a:prstGeom prst="roundRect">
            <a:avLst>
              <a:gd name="adj" fmla="val 8889"/>
            </a:avLst>
          </a:prstGeom>
          <a:solidFill>
            <a:schemeClr val="bg2"/>
          </a:solidFill>
          <a:ln/>
        </p:spPr>
      </p:sp>
      <p:sp>
        <p:nvSpPr>
          <p:cNvPr id="23" name="Text 20"/>
          <p:cNvSpPr txBox="1"/>
          <p:nvPr/>
        </p:nvSpPr>
        <p:spPr>
          <a:xfrm>
            <a:off x="4709160" y="4325112"/>
            <a:ext cx="2834640" cy="329184"/>
          </a:xfrm>
          <a:prstGeom prst="rect">
            <a:avLst/>
          </a:prstGeom>
          <a:noFill/>
          <a:ln/>
        </p:spPr>
        <p:txBody>
          <a:bodyPr wrap="square" lIns="0" tIns="0" rIns="0" bIns="0" rtlCol="0" anchor="ctr"/>
          <a:lstStyle/>
          <a:p>
            <a:pPr algn="l" indent="0" marL="0">
              <a:buNone/>
            </a:pPr>
            <a:r>
              <a:rPr lang="en-US" sz="1400" b="1" dirty="0">
                <a:solidFill>
                  <a:schemeClr val="tx1"/>
                </a:solidFill>
              </a:rPr>
              <a:t>Investor Document</a:t>
            </a:r>
            <a:endParaRPr lang="en-US" sz="1400" dirty="0"/>
          </a:p>
        </p:txBody>
      </p:sp>
      <p:sp>
        <p:nvSpPr>
          <p:cNvPr id="24" name="Text 21"/>
          <p:cNvSpPr txBox="1"/>
          <p:nvPr/>
        </p:nvSpPr>
        <p:spPr>
          <a:xfrm>
            <a:off x="4709160" y="4654296"/>
            <a:ext cx="2834640" cy="329184"/>
          </a:xfrm>
          <a:prstGeom prst="rect">
            <a:avLst/>
          </a:prstGeom>
          <a:noFill/>
          <a:ln/>
        </p:spPr>
        <p:txBody>
          <a:bodyPr wrap="square" lIns="0" tIns="0" rIns="0" bIns="0" rtlCol="0" anchor="ctr"/>
          <a:lstStyle/>
          <a:p>
            <a:pPr algn="l" indent="0" marL="0">
              <a:buNone/>
            </a:pPr>
            <a:r>
              <a:rPr lang="en-US" sz="1200" dirty="0">
                <a:solidFill>
                  <a:schemeClr val="tx2"/>
                </a:solidFill>
              </a:rPr>
              <a:t>Statement, confirmation, tax form</a:t>
            </a:r>
            <a:endParaRPr lang="en-US" sz="1200" dirty="0"/>
          </a:p>
        </p:txBody>
      </p:sp>
      <p:sp>
        <p:nvSpPr>
          <p:cNvPr id="25" name="Shape 22"/>
          <p:cNvSpPr/>
          <p:nvPr/>
        </p:nvSpPr>
        <p:spPr>
          <a:xfrm flipV="1">
            <a:off x="3566160" y="2651760"/>
            <a:ext cx="914400" cy="594360"/>
          </a:xfrm>
          <a:prstGeom prst="line">
            <a:avLst/>
          </a:prstGeom>
          <a:noFill/>
          <a:ln w="19050">
            <a:solidFill>
              <a:schemeClr val="tx2"/>
            </a:solidFill>
            <a:prstDash val="solid"/>
            <a:tailEnd type="triangle"/>
          </a:ln>
        </p:spPr>
      </p:sp>
      <p:sp>
        <p:nvSpPr>
          <p:cNvPr id="26" name="Shape 23"/>
          <p:cNvSpPr/>
          <p:nvPr/>
        </p:nvSpPr>
        <p:spPr>
          <a:xfrm>
            <a:off x="3566160" y="3246120"/>
            <a:ext cx="914400" cy="411480"/>
          </a:xfrm>
          <a:prstGeom prst="line">
            <a:avLst/>
          </a:prstGeom>
          <a:noFill/>
          <a:ln w="19050">
            <a:solidFill>
              <a:schemeClr val="tx2"/>
            </a:solidFill>
            <a:prstDash val="solid"/>
            <a:tailEnd type="triangle"/>
          </a:ln>
        </p:spPr>
      </p:sp>
      <p:sp>
        <p:nvSpPr>
          <p:cNvPr id="27" name="Shape 24"/>
          <p:cNvSpPr/>
          <p:nvPr/>
        </p:nvSpPr>
        <p:spPr>
          <a:xfrm>
            <a:off x="3566160" y="3246120"/>
            <a:ext cx="914400" cy="1417320"/>
          </a:xfrm>
          <a:prstGeom prst="line">
            <a:avLst/>
          </a:prstGeom>
          <a:noFill/>
          <a:ln w="19050">
            <a:solidFill>
              <a:schemeClr val="tx2"/>
            </a:solidFill>
            <a:prstDash val="solid"/>
            <a:tailEnd type="triangle"/>
          </a:ln>
        </p:spPr>
      </p:sp>
      <p:sp>
        <p:nvSpPr>
          <p:cNvPr id="28" name="Shape 25"/>
          <p:cNvSpPr/>
          <p:nvPr/>
        </p:nvSpPr>
        <p:spPr>
          <a:xfrm>
            <a:off x="7772400" y="3657600"/>
            <a:ext cx="914400" cy="0"/>
          </a:xfrm>
          <a:prstGeom prst="line">
            <a:avLst/>
          </a:prstGeom>
          <a:noFill/>
          <a:ln w="19050">
            <a:solidFill>
              <a:schemeClr val="tx2"/>
            </a:solidFill>
            <a:prstDash val="solid"/>
            <a:tailEnd type="triangle"/>
          </a:ln>
        </p:spPr>
      </p:sp>
      <p:sp>
        <p:nvSpPr>
          <p:cNvPr id="29" name="Shape 26"/>
          <p:cNvSpPr/>
          <p:nvPr/>
        </p:nvSpPr>
        <p:spPr>
          <a:xfrm>
            <a:off x="8686800" y="3246120"/>
            <a:ext cx="2953512" cy="822960"/>
          </a:xfrm>
          <a:prstGeom prst="roundRect">
            <a:avLst>
              <a:gd name="adj" fmla="val 8889"/>
            </a:avLst>
          </a:prstGeom>
          <a:solidFill>
            <a:schemeClr val="accent4"/>
          </a:solidFill>
          <a:ln/>
        </p:spPr>
      </p:sp>
      <p:sp>
        <p:nvSpPr>
          <p:cNvPr id="30" name="Text 27"/>
          <p:cNvSpPr txBox="1"/>
          <p:nvPr/>
        </p:nvSpPr>
        <p:spPr>
          <a:xfrm>
            <a:off x="8915400" y="3319272"/>
            <a:ext cx="2496312" cy="329184"/>
          </a:xfrm>
          <a:prstGeom prst="rect">
            <a:avLst/>
          </a:prstGeom>
          <a:noFill/>
          <a:ln/>
        </p:spPr>
        <p:txBody>
          <a:bodyPr wrap="square" lIns="0" tIns="0" rIns="0" bIns="0" rtlCol="0" anchor="ctr"/>
          <a:lstStyle/>
          <a:p>
            <a:pPr algn="l" indent="0" marL="0">
              <a:buNone/>
            </a:pPr>
            <a:r>
              <a:rPr lang="en-US" sz="1400" b="1" dirty="0">
                <a:solidFill>
                  <a:schemeClr val="bg1"/>
                </a:solidFill>
              </a:rPr>
              <a:t>Communication Distribution</a:t>
            </a:r>
            <a:endParaRPr lang="en-US" sz="1400" dirty="0"/>
          </a:p>
        </p:txBody>
      </p:sp>
      <p:sp>
        <p:nvSpPr>
          <p:cNvPr id="31" name="Text 28"/>
          <p:cNvSpPr txBox="1"/>
          <p:nvPr/>
        </p:nvSpPr>
        <p:spPr>
          <a:xfrm>
            <a:off x="8915400" y="3648456"/>
            <a:ext cx="2496312" cy="329184"/>
          </a:xfrm>
          <a:prstGeom prst="rect">
            <a:avLst/>
          </a:prstGeom>
          <a:noFill/>
          <a:ln/>
        </p:spPr>
        <p:txBody>
          <a:bodyPr wrap="square" lIns="0" tIns="0" rIns="0" bIns="0" rtlCol="0" anchor="ctr"/>
          <a:lstStyle/>
          <a:p>
            <a:pPr algn="l" indent="0" marL="0">
              <a:buNone/>
            </a:pPr>
            <a:r>
              <a:rPr lang="en-US" sz="1200" dirty="0">
                <a:solidFill>
                  <a:schemeClr val="bg1"/>
                </a:solidFill>
              </a:rPr>
              <a:t>To whom, how and when, MAIL-</a:t>
            </a:r>
            <a:endParaRPr lang="en-US" sz="1200" dirty="0"/>
          </a:p>
        </p:txBody>
      </p:sp>
      <p:sp>
        <p:nvSpPr>
          <p:cNvPr id="32" name="Text 29"/>
          <p:cNvSpPr txBox="1"/>
          <p:nvPr/>
        </p:nvSpPr>
        <p:spPr>
          <a:xfrm>
            <a:off x="8686800" y="4206240"/>
            <a:ext cx="2953512" cy="640080"/>
          </a:xfrm>
          <a:prstGeom prst="rect">
            <a:avLst/>
          </a:prstGeom>
          <a:noFill/>
          <a:ln/>
        </p:spPr>
        <p:txBody>
          <a:bodyPr wrap="square" lIns="0" tIns="0" rIns="0" bIns="0" rtlCol="0" anchor="t"/>
          <a:lstStyle/>
          <a:p>
            <a:pPr algn="l" indent="0" marL="0">
              <a:buNone/>
            </a:pPr>
            <a:r>
              <a:rPr lang="en-US" sz="1200" dirty="0">
                <a:solidFill>
                  <a:schemeClr val="tx2"/>
                </a:solidFill>
              </a:rPr>
              <a:t>Registered holders get a distribution job. Beneficial owners are reached through intermediaries.</a:t>
            </a:r>
            <a:endParaRPr lang="en-US" sz="1200" dirty="0"/>
          </a:p>
        </p:txBody>
      </p:sp>
      <p:sp>
        <p:nvSpPr>
          <p:cNvPr id="33" name="Shape 30"/>
          <p:cNvSpPr/>
          <p:nvPr/>
        </p:nvSpPr>
        <p:spPr>
          <a:xfrm>
            <a:off x="548640" y="5303520"/>
            <a:ext cx="11091672" cy="868680"/>
          </a:xfrm>
          <a:prstGeom prst="roundRect">
            <a:avLst>
              <a:gd name="adj" fmla="val 8421"/>
            </a:avLst>
          </a:prstGeom>
          <a:solidFill>
            <a:schemeClr val="bg2"/>
          </a:solidFill>
          <a:ln/>
        </p:spPr>
      </p:sp>
      <p:sp>
        <p:nvSpPr>
          <p:cNvPr id="34" name="Text 31"/>
          <p:cNvSpPr txBox="1"/>
          <p:nvPr/>
        </p:nvSpPr>
        <p:spPr>
          <a:xfrm>
            <a:off x="822960" y="5303520"/>
            <a:ext cx="10543032" cy="868680"/>
          </a:xfrm>
          <a:prstGeom prst="rect">
            <a:avLst/>
          </a:prstGeom>
          <a:noFill/>
          <a:ln/>
        </p:spPr>
        <p:txBody>
          <a:bodyPr wrap="square" lIns="0" tIns="0" rIns="0" bIns="0" rtlCol="0" anchor="ctr"/>
          <a:lstStyle/>
          <a:p>
            <a:pPr algn="l" indent="0" marL="0">
              <a:buNone/>
            </a:pPr>
            <a:r>
              <a:rPr lang="en-US" sz="1400" dirty="0">
                <a:solidFill>
                  <a:schemeClr val="tx1"/>
                </a:solidFill>
              </a:rPr>
              <a:t>Servicing records point to accounts, parties, products and transactions by ID and never copy them. Each regulatory deadline is stored as a date with the rule behind it, so timeliness can be measured.</a:t>
            </a:r>
            <a:endParaRPr lang="en-US" sz="14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WHAT IS INCLUDED  |  THE 8 FAMILIES</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Eight families in three groups</a:t>
            </a:r>
            <a:endParaRPr lang="en-US" sz="3600" dirty="0"/>
          </a:p>
        </p:txBody>
      </p:sp>
      <p:sp>
        <p:nvSpPr>
          <p:cNvPr id="5" name="Shape 2"/>
          <p:cNvSpPr/>
          <p:nvPr/>
        </p:nvSpPr>
        <p:spPr>
          <a:xfrm>
            <a:off x="548640" y="1783080"/>
            <a:ext cx="3511296" cy="777240"/>
          </a:xfrm>
          <a:prstGeom prst="roundRect">
            <a:avLst>
              <a:gd name="adj" fmla="val 9412"/>
            </a:avLst>
          </a:prstGeom>
          <a:solidFill>
            <a:schemeClr val="accent1"/>
          </a:solidFill>
          <a:ln/>
        </p:spPr>
      </p:sp>
      <p:sp>
        <p:nvSpPr>
          <p:cNvPr id="6" name="Text 3"/>
          <p:cNvSpPr txBox="1"/>
          <p:nvPr/>
        </p:nvSpPr>
        <p:spPr>
          <a:xfrm>
            <a:off x="731520" y="1856232"/>
            <a:ext cx="3145536" cy="347472"/>
          </a:xfrm>
          <a:prstGeom prst="rect">
            <a:avLst/>
          </a:prstGeom>
          <a:noFill/>
          <a:ln/>
        </p:spPr>
        <p:txBody>
          <a:bodyPr wrap="square" lIns="0" tIns="0" rIns="0" bIns="0" rtlCol="0" anchor="ctr"/>
          <a:lstStyle/>
          <a:p>
            <a:pPr algn="l" indent="0" marL="0">
              <a:buNone/>
            </a:pPr>
            <a:r>
              <a:rPr lang="en-US" sz="1400" b="1" dirty="0">
                <a:solidFill>
                  <a:schemeClr val="bg1"/>
                </a:solidFill>
              </a:rPr>
              <a:t>The spine</a:t>
            </a:r>
            <a:endParaRPr lang="en-US" sz="1400" dirty="0"/>
          </a:p>
        </p:txBody>
      </p:sp>
      <p:sp>
        <p:nvSpPr>
          <p:cNvPr id="7" name="Text 4"/>
          <p:cNvSpPr txBox="1"/>
          <p:nvPr/>
        </p:nvSpPr>
        <p:spPr>
          <a:xfrm>
            <a:off x="731520" y="2203704"/>
            <a:ext cx="3145536" cy="274320"/>
          </a:xfrm>
          <a:prstGeom prst="rect">
            <a:avLst/>
          </a:prstGeom>
          <a:noFill/>
          <a:ln/>
        </p:spPr>
        <p:txBody>
          <a:bodyPr wrap="square" lIns="0" tIns="0" rIns="0" bIns="0" rtlCol="0" anchor="ctr"/>
          <a:lstStyle/>
          <a:p>
            <a:pPr algn="l" indent="0" marL="0">
              <a:buNone/>
            </a:pPr>
            <a:r>
              <a:rPr lang="en-US" sz="1200" dirty="0">
                <a:solidFill>
                  <a:schemeClr val="bg1"/>
                </a:solidFill>
              </a:rPr>
              <a:t>2 families  |  14 objects  |  82 attributes</a:t>
            </a:r>
            <a:endParaRPr lang="en-US" sz="1200" dirty="0"/>
          </a:p>
        </p:txBody>
      </p:sp>
      <p:sp>
        <p:nvSpPr>
          <p:cNvPr id="8" name="Shape 5"/>
          <p:cNvSpPr/>
          <p:nvPr/>
        </p:nvSpPr>
        <p:spPr>
          <a:xfrm>
            <a:off x="548640" y="2697480"/>
            <a:ext cx="3511296" cy="612648"/>
          </a:xfrm>
          <a:prstGeom prst="roundRect">
            <a:avLst>
              <a:gd name="adj" fmla="val 11940"/>
            </a:avLst>
          </a:prstGeom>
          <a:solidFill>
            <a:schemeClr val="bg2"/>
          </a:solidFill>
          <a:ln/>
        </p:spPr>
      </p:sp>
      <p:sp>
        <p:nvSpPr>
          <p:cNvPr id="9" name="Text 6"/>
          <p:cNvSpPr txBox="1"/>
          <p:nvPr/>
        </p:nvSpPr>
        <p:spPr>
          <a:xfrm>
            <a:off x="731520" y="2734056"/>
            <a:ext cx="3145536" cy="329184"/>
          </a:xfrm>
          <a:prstGeom prst="rect">
            <a:avLst/>
          </a:prstGeom>
          <a:noFill/>
          <a:ln/>
        </p:spPr>
        <p:txBody>
          <a:bodyPr wrap="square" lIns="0" tIns="0" rIns="0" bIns="0" rtlCol="0" anchor="ctr"/>
          <a:lstStyle/>
          <a:p>
            <a:pPr algn="l" indent="0" marL="0">
              <a:buNone/>
            </a:pPr>
            <a:r>
              <a:rPr lang="en-US" sz="1000" b="1" dirty="0">
                <a:solidFill>
                  <a:schemeClr val="tx1"/>
                </a:solidFill>
              </a:rPr>
              <a:t>Shareholder Service Requests &amp; Interactions</a:t>
            </a:r>
            <a:endParaRPr lang="en-US" sz="1000" dirty="0"/>
          </a:p>
        </p:txBody>
      </p:sp>
      <p:sp>
        <p:nvSpPr>
          <p:cNvPr id="10" name="Text 7"/>
          <p:cNvSpPr txBox="1"/>
          <p:nvPr/>
        </p:nvSpPr>
        <p:spPr>
          <a:xfrm>
            <a:off x="731520" y="3081528"/>
            <a:ext cx="3145536" cy="182880"/>
          </a:xfrm>
          <a:prstGeom prst="rect">
            <a:avLst/>
          </a:prstGeom>
          <a:noFill/>
          <a:ln/>
        </p:spPr>
        <p:txBody>
          <a:bodyPr wrap="square" lIns="0" tIns="0" rIns="0" bIns="0" rtlCol="0" anchor="ctr"/>
          <a:lstStyle/>
          <a:p>
            <a:pPr algn="l" indent="0" marL="0">
              <a:buNone/>
            </a:pPr>
            <a:r>
              <a:rPr lang="en-US" sz="1000" dirty="0">
                <a:solidFill>
                  <a:schemeClr val="tx2"/>
                </a:solidFill>
              </a:rPr>
              <a:t>7 objects  |  41 attributes  |  10 critical</a:t>
            </a:r>
            <a:endParaRPr lang="en-US" sz="1000" dirty="0"/>
          </a:p>
        </p:txBody>
      </p:sp>
      <p:sp>
        <p:nvSpPr>
          <p:cNvPr id="11" name="Shape 8"/>
          <p:cNvSpPr/>
          <p:nvPr/>
        </p:nvSpPr>
        <p:spPr>
          <a:xfrm>
            <a:off x="548640" y="3410712"/>
            <a:ext cx="3511296" cy="612648"/>
          </a:xfrm>
          <a:prstGeom prst="roundRect">
            <a:avLst>
              <a:gd name="adj" fmla="val 11940"/>
            </a:avLst>
          </a:prstGeom>
          <a:solidFill>
            <a:schemeClr val="bg2"/>
          </a:solidFill>
          <a:ln/>
        </p:spPr>
      </p:sp>
      <p:sp>
        <p:nvSpPr>
          <p:cNvPr id="12" name="Text 9"/>
          <p:cNvSpPr txBox="1"/>
          <p:nvPr/>
        </p:nvSpPr>
        <p:spPr>
          <a:xfrm>
            <a:off x="731520" y="3465576"/>
            <a:ext cx="3145536" cy="274320"/>
          </a:xfrm>
          <a:prstGeom prst="rect">
            <a:avLst/>
          </a:prstGeom>
          <a:noFill/>
          <a:ln/>
        </p:spPr>
        <p:txBody>
          <a:bodyPr wrap="square" lIns="0" tIns="0" rIns="0" bIns="0" rtlCol="0" anchor="ctr"/>
          <a:lstStyle/>
          <a:p>
            <a:pPr algn="l" indent="0" marL="0">
              <a:buNone/>
            </a:pPr>
            <a:r>
              <a:rPr lang="en-US" sz="1100" b="1" dirty="0">
                <a:solidFill>
                  <a:schemeClr val="tx1"/>
                </a:solidFill>
              </a:rPr>
              <a:t>Statements, Confirmations &amp; Tax Documents</a:t>
            </a:r>
            <a:endParaRPr lang="en-US" sz="1100" dirty="0"/>
          </a:p>
        </p:txBody>
      </p:sp>
      <p:sp>
        <p:nvSpPr>
          <p:cNvPr id="13" name="Text 10"/>
          <p:cNvSpPr txBox="1"/>
          <p:nvPr/>
        </p:nvSpPr>
        <p:spPr>
          <a:xfrm>
            <a:off x="731520" y="3730752"/>
            <a:ext cx="3145536" cy="237744"/>
          </a:xfrm>
          <a:prstGeom prst="rect">
            <a:avLst/>
          </a:prstGeom>
          <a:noFill/>
          <a:ln/>
        </p:spPr>
        <p:txBody>
          <a:bodyPr wrap="square" lIns="0" tIns="0" rIns="0" bIns="0" rtlCol="0" anchor="ctr"/>
          <a:lstStyle/>
          <a:p>
            <a:pPr algn="l" indent="0" marL="0">
              <a:buNone/>
            </a:pPr>
            <a:r>
              <a:rPr lang="en-US" sz="1100" dirty="0">
                <a:solidFill>
                  <a:schemeClr val="tx2"/>
                </a:solidFill>
              </a:rPr>
              <a:t>7 objects  |  41 attributes  |  12 critical</a:t>
            </a:r>
            <a:endParaRPr lang="en-US" sz="1100" dirty="0"/>
          </a:p>
        </p:txBody>
      </p:sp>
      <p:sp>
        <p:nvSpPr>
          <p:cNvPr id="14" name="Shape 11"/>
          <p:cNvSpPr/>
          <p:nvPr/>
        </p:nvSpPr>
        <p:spPr>
          <a:xfrm>
            <a:off x="4338828" y="1783080"/>
            <a:ext cx="3511296" cy="777240"/>
          </a:xfrm>
          <a:prstGeom prst="roundRect">
            <a:avLst>
              <a:gd name="adj" fmla="val 9412"/>
            </a:avLst>
          </a:prstGeom>
          <a:solidFill>
            <a:schemeClr val="accent2"/>
          </a:solidFill>
          <a:ln/>
        </p:spPr>
      </p:sp>
      <p:sp>
        <p:nvSpPr>
          <p:cNvPr id="15" name="Text 12"/>
          <p:cNvSpPr txBox="1"/>
          <p:nvPr/>
        </p:nvSpPr>
        <p:spPr>
          <a:xfrm>
            <a:off x="4521708" y="1856232"/>
            <a:ext cx="3145536" cy="347472"/>
          </a:xfrm>
          <a:prstGeom prst="rect">
            <a:avLst/>
          </a:prstGeom>
          <a:noFill/>
          <a:ln/>
        </p:spPr>
        <p:txBody>
          <a:bodyPr wrap="square" lIns="0" tIns="0" rIns="0" bIns="0" rtlCol="0" anchor="ctr"/>
          <a:lstStyle/>
          <a:p>
            <a:pPr algn="l" indent="0" marL="0">
              <a:buNone/>
            </a:pPr>
            <a:r>
              <a:rPr lang="en-US" sz="1400" b="1" dirty="0">
                <a:solidFill>
                  <a:schemeClr val="bg1"/>
                </a:solidFill>
              </a:rPr>
              <a:t>Communications and delivery</a:t>
            </a:r>
            <a:endParaRPr lang="en-US" sz="1400" dirty="0"/>
          </a:p>
        </p:txBody>
      </p:sp>
      <p:sp>
        <p:nvSpPr>
          <p:cNvPr id="16" name="Text 13"/>
          <p:cNvSpPr txBox="1"/>
          <p:nvPr/>
        </p:nvSpPr>
        <p:spPr>
          <a:xfrm>
            <a:off x="4521708" y="2203704"/>
            <a:ext cx="3145536" cy="274320"/>
          </a:xfrm>
          <a:prstGeom prst="rect">
            <a:avLst/>
          </a:prstGeom>
          <a:noFill/>
          <a:ln/>
        </p:spPr>
        <p:txBody>
          <a:bodyPr wrap="square" lIns="0" tIns="0" rIns="0" bIns="0" rtlCol="0" anchor="ctr"/>
          <a:lstStyle/>
          <a:p>
            <a:pPr algn="l" indent="0" marL="0">
              <a:buNone/>
            </a:pPr>
            <a:r>
              <a:rPr lang="en-US" sz="1200" dirty="0">
                <a:solidFill>
                  <a:schemeClr val="bg1"/>
                </a:solidFill>
              </a:rPr>
              <a:t>4 families  |  18 objects  |  99 attributes</a:t>
            </a:r>
            <a:endParaRPr lang="en-US" sz="1200" dirty="0"/>
          </a:p>
        </p:txBody>
      </p:sp>
      <p:sp>
        <p:nvSpPr>
          <p:cNvPr id="17" name="Shape 14"/>
          <p:cNvSpPr/>
          <p:nvPr/>
        </p:nvSpPr>
        <p:spPr>
          <a:xfrm>
            <a:off x="4338828" y="2697480"/>
            <a:ext cx="3511296" cy="612648"/>
          </a:xfrm>
          <a:prstGeom prst="roundRect">
            <a:avLst>
              <a:gd name="adj" fmla="val 11940"/>
            </a:avLst>
          </a:prstGeom>
          <a:solidFill>
            <a:schemeClr val="bg2"/>
          </a:solidFill>
          <a:ln/>
        </p:spPr>
      </p:sp>
      <p:sp>
        <p:nvSpPr>
          <p:cNvPr id="18" name="Text 15"/>
          <p:cNvSpPr txBox="1"/>
          <p:nvPr/>
        </p:nvSpPr>
        <p:spPr>
          <a:xfrm>
            <a:off x="4521708" y="2752344"/>
            <a:ext cx="3145536" cy="274320"/>
          </a:xfrm>
          <a:prstGeom prst="rect">
            <a:avLst/>
          </a:prstGeom>
          <a:noFill/>
          <a:ln/>
        </p:spPr>
        <p:txBody>
          <a:bodyPr wrap="square" lIns="0" tIns="0" rIns="0" bIns="0" rtlCol="0" anchor="ctr"/>
          <a:lstStyle/>
          <a:p>
            <a:pPr algn="l" indent="0" marL="0">
              <a:buNone/>
            </a:pPr>
            <a:r>
              <a:rPr lang="en-US" sz="1100" b="1" dirty="0">
                <a:solidFill>
                  <a:schemeClr val="tx1"/>
                </a:solidFill>
              </a:rPr>
              <a:t>Regulatory Shareholder Communications</a:t>
            </a:r>
            <a:endParaRPr lang="en-US" sz="1100" dirty="0"/>
          </a:p>
        </p:txBody>
      </p:sp>
      <p:sp>
        <p:nvSpPr>
          <p:cNvPr id="19" name="Text 16"/>
          <p:cNvSpPr txBox="1"/>
          <p:nvPr/>
        </p:nvSpPr>
        <p:spPr>
          <a:xfrm>
            <a:off x="4521708" y="3017520"/>
            <a:ext cx="3145536" cy="237744"/>
          </a:xfrm>
          <a:prstGeom prst="rect">
            <a:avLst/>
          </a:prstGeom>
          <a:noFill/>
          <a:ln/>
        </p:spPr>
        <p:txBody>
          <a:bodyPr wrap="square" lIns="0" tIns="0" rIns="0" bIns="0" rtlCol="0" anchor="ctr"/>
          <a:lstStyle/>
          <a:p>
            <a:pPr algn="l" indent="0" marL="0">
              <a:buNone/>
            </a:pPr>
            <a:r>
              <a:rPr lang="en-US" sz="1100" dirty="0">
                <a:solidFill>
                  <a:schemeClr val="tx2"/>
                </a:solidFill>
              </a:rPr>
              <a:t>7 objects  |  32 attributes  |  9 critical</a:t>
            </a:r>
            <a:endParaRPr lang="en-US" sz="1100" dirty="0"/>
          </a:p>
        </p:txBody>
      </p:sp>
      <p:sp>
        <p:nvSpPr>
          <p:cNvPr id="20" name="Shape 17"/>
          <p:cNvSpPr/>
          <p:nvPr/>
        </p:nvSpPr>
        <p:spPr>
          <a:xfrm>
            <a:off x="4338828" y="3410712"/>
            <a:ext cx="3511296" cy="612648"/>
          </a:xfrm>
          <a:prstGeom prst="roundRect">
            <a:avLst>
              <a:gd name="adj" fmla="val 11940"/>
            </a:avLst>
          </a:prstGeom>
          <a:solidFill>
            <a:schemeClr val="bg2"/>
          </a:solidFill>
          <a:ln/>
        </p:spPr>
      </p:sp>
      <p:sp>
        <p:nvSpPr>
          <p:cNvPr id="21" name="Text 18"/>
          <p:cNvSpPr txBox="1"/>
          <p:nvPr/>
        </p:nvSpPr>
        <p:spPr>
          <a:xfrm>
            <a:off x="4521708" y="3465576"/>
            <a:ext cx="3145536" cy="274320"/>
          </a:xfrm>
          <a:prstGeom prst="rect">
            <a:avLst/>
          </a:prstGeom>
          <a:noFill/>
          <a:ln/>
        </p:spPr>
        <p:txBody>
          <a:bodyPr wrap="square" lIns="0" tIns="0" rIns="0" bIns="0" rtlCol="0" anchor="ctr"/>
          <a:lstStyle/>
          <a:p>
            <a:pPr algn="l" indent="0" marL="0">
              <a:buNone/>
            </a:pPr>
            <a:r>
              <a:rPr lang="en-US" sz="1300" b="1" dirty="0">
                <a:solidFill>
                  <a:schemeClr val="tx1"/>
                </a:solidFill>
              </a:rPr>
              <a:t>Delivery Elections &amp; Householding</a:t>
            </a:r>
            <a:endParaRPr lang="en-US" sz="1300" dirty="0"/>
          </a:p>
        </p:txBody>
      </p:sp>
      <p:sp>
        <p:nvSpPr>
          <p:cNvPr id="22" name="Text 19"/>
          <p:cNvSpPr txBox="1"/>
          <p:nvPr/>
        </p:nvSpPr>
        <p:spPr>
          <a:xfrm>
            <a:off x="4521708" y="3730752"/>
            <a:ext cx="3145536" cy="237744"/>
          </a:xfrm>
          <a:prstGeom prst="rect">
            <a:avLst/>
          </a:prstGeom>
          <a:noFill/>
          <a:ln/>
        </p:spPr>
        <p:txBody>
          <a:bodyPr wrap="square" lIns="0" tIns="0" rIns="0" bIns="0" rtlCol="0" anchor="ctr"/>
          <a:lstStyle/>
          <a:p>
            <a:pPr algn="l" indent="0" marL="0">
              <a:buNone/>
            </a:pPr>
            <a:r>
              <a:rPr lang="en-US" sz="1100" dirty="0">
                <a:solidFill>
                  <a:schemeClr val="tx2"/>
                </a:solidFill>
              </a:rPr>
              <a:t>3 objects  |  21 attributes  |  8 critical</a:t>
            </a:r>
            <a:endParaRPr lang="en-US" sz="1100" dirty="0"/>
          </a:p>
        </p:txBody>
      </p:sp>
      <p:sp>
        <p:nvSpPr>
          <p:cNvPr id="23" name="Shape 20"/>
          <p:cNvSpPr/>
          <p:nvPr/>
        </p:nvSpPr>
        <p:spPr>
          <a:xfrm>
            <a:off x="4338828" y="4123944"/>
            <a:ext cx="3511296" cy="612648"/>
          </a:xfrm>
          <a:prstGeom prst="roundRect">
            <a:avLst>
              <a:gd name="adj" fmla="val 11940"/>
            </a:avLst>
          </a:prstGeom>
          <a:solidFill>
            <a:schemeClr val="bg2"/>
          </a:solidFill>
          <a:ln/>
        </p:spPr>
      </p:sp>
      <p:sp>
        <p:nvSpPr>
          <p:cNvPr id="24" name="Text 21"/>
          <p:cNvSpPr txBox="1"/>
          <p:nvPr/>
        </p:nvSpPr>
        <p:spPr>
          <a:xfrm>
            <a:off x="4521708" y="4160520"/>
            <a:ext cx="3145536" cy="329184"/>
          </a:xfrm>
          <a:prstGeom prst="rect">
            <a:avLst/>
          </a:prstGeom>
          <a:noFill/>
          <a:ln/>
        </p:spPr>
        <p:txBody>
          <a:bodyPr wrap="square" lIns="0" tIns="0" rIns="0" bIns="0" rtlCol="0" anchor="ctr"/>
          <a:lstStyle/>
          <a:p>
            <a:pPr algn="l" indent="0" marL="0">
              <a:buNone/>
            </a:pPr>
            <a:r>
              <a:rPr lang="en-US" sz="1000" b="1" dirty="0">
                <a:solidFill>
                  <a:schemeClr val="tx1"/>
                </a:solidFill>
              </a:rPr>
              <a:t>Beneficial-Owner Communications via Intermediaries</a:t>
            </a:r>
            <a:endParaRPr lang="en-US" sz="1000" dirty="0"/>
          </a:p>
        </p:txBody>
      </p:sp>
      <p:sp>
        <p:nvSpPr>
          <p:cNvPr id="25" name="Text 22"/>
          <p:cNvSpPr txBox="1"/>
          <p:nvPr/>
        </p:nvSpPr>
        <p:spPr>
          <a:xfrm>
            <a:off x="4521708" y="4507992"/>
            <a:ext cx="3145536" cy="182880"/>
          </a:xfrm>
          <a:prstGeom prst="rect">
            <a:avLst/>
          </a:prstGeom>
          <a:noFill/>
          <a:ln/>
        </p:spPr>
        <p:txBody>
          <a:bodyPr wrap="square" lIns="0" tIns="0" rIns="0" bIns="0" rtlCol="0" anchor="ctr"/>
          <a:lstStyle/>
          <a:p>
            <a:pPr algn="l" indent="0" marL="0">
              <a:buNone/>
            </a:pPr>
            <a:r>
              <a:rPr lang="en-US" sz="1000" dirty="0">
                <a:solidFill>
                  <a:schemeClr val="tx2"/>
                </a:solidFill>
              </a:rPr>
              <a:t>4 objects  |  20 attributes  |  5 critical</a:t>
            </a:r>
            <a:endParaRPr lang="en-US" sz="1000" dirty="0"/>
          </a:p>
        </p:txBody>
      </p:sp>
      <p:sp>
        <p:nvSpPr>
          <p:cNvPr id="26" name="Shape 23"/>
          <p:cNvSpPr/>
          <p:nvPr/>
        </p:nvSpPr>
        <p:spPr>
          <a:xfrm>
            <a:off x="4338828" y="4837176"/>
            <a:ext cx="3511296" cy="612648"/>
          </a:xfrm>
          <a:prstGeom prst="roundRect">
            <a:avLst>
              <a:gd name="adj" fmla="val 11940"/>
            </a:avLst>
          </a:prstGeom>
          <a:solidFill>
            <a:schemeClr val="bg2"/>
          </a:solidFill>
          <a:ln/>
        </p:spPr>
      </p:sp>
      <p:sp>
        <p:nvSpPr>
          <p:cNvPr id="27" name="Text 24"/>
          <p:cNvSpPr txBox="1"/>
          <p:nvPr/>
        </p:nvSpPr>
        <p:spPr>
          <a:xfrm>
            <a:off x="4521708" y="4892040"/>
            <a:ext cx="3145536" cy="274320"/>
          </a:xfrm>
          <a:prstGeom prst="rect">
            <a:avLst/>
          </a:prstGeom>
          <a:noFill/>
          <a:ln/>
        </p:spPr>
        <p:txBody>
          <a:bodyPr wrap="square" lIns="0" tIns="0" rIns="0" bIns="0" rtlCol="0" anchor="ctr"/>
          <a:lstStyle/>
          <a:p>
            <a:pPr algn="l" indent="0" marL="0">
              <a:buNone/>
            </a:pPr>
            <a:r>
              <a:rPr lang="en-US" sz="1100" b="1" dirty="0">
                <a:solidFill>
                  <a:schemeClr val="tx1"/>
                </a:solidFill>
              </a:rPr>
              <a:t>Proxy Solicitation &amp; Shareholder Meetings</a:t>
            </a:r>
            <a:endParaRPr lang="en-US" sz="1100" dirty="0"/>
          </a:p>
        </p:txBody>
      </p:sp>
      <p:sp>
        <p:nvSpPr>
          <p:cNvPr id="28" name="Text 25"/>
          <p:cNvSpPr txBox="1"/>
          <p:nvPr/>
        </p:nvSpPr>
        <p:spPr>
          <a:xfrm>
            <a:off x="4521708" y="5157216"/>
            <a:ext cx="3145536" cy="237744"/>
          </a:xfrm>
          <a:prstGeom prst="rect">
            <a:avLst/>
          </a:prstGeom>
          <a:noFill/>
          <a:ln/>
        </p:spPr>
        <p:txBody>
          <a:bodyPr wrap="square" lIns="0" tIns="0" rIns="0" bIns="0" rtlCol="0" anchor="ctr"/>
          <a:lstStyle/>
          <a:p>
            <a:pPr algn="l" indent="0" marL="0">
              <a:buNone/>
            </a:pPr>
            <a:r>
              <a:rPr lang="en-US" sz="1100" dirty="0">
                <a:solidFill>
                  <a:schemeClr val="tx2"/>
                </a:solidFill>
              </a:rPr>
              <a:t>4 objects  |  26 attributes  |  8 critical</a:t>
            </a:r>
            <a:endParaRPr lang="en-US" sz="1100" dirty="0"/>
          </a:p>
        </p:txBody>
      </p:sp>
      <p:sp>
        <p:nvSpPr>
          <p:cNvPr id="29" name="Shape 26"/>
          <p:cNvSpPr/>
          <p:nvPr/>
        </p:nvSpPr>
        <p:spPr>
          <a:xfrm>
            <a:off x="8129016" y="1783080"/>
            <a:ext cx="3511296" cy="777240"/>
          </a:xfrm>
          <a:prstGeom prst="roundRect">
            <a:avLst>
              <a:gd name="adj" fmla="val 9412"/>
            </a:avLst>
          </a:prstGeom>
          <a:solidFill>
            <a:schemeClr val="accent5"/>
          </a:solidFill>
          <a:ln/>
        </p:spPr>
      </p:sp>
      <p:sp>
        <p:nvSpPr>
          <p:cNvPr id="30" name="Text 27"/>
          <p:cNvSpPr txBox="1"/>
          <p:nvPr/>
        </p:nvSpPr>
        <p:spPr>
          <a:xfrm>
            <a:off x="8311896" y="1856232"/>
            <a:ext cx="3145536" cy="347472"/>
          </a:xfrm>
          <a:prstGeom prst="rect">
            <a:avLst/>
          </a:prstGeom>
          <a:noFill/>
          <a:ln/>
        </p:spPr>
        <p:txBody>
          <a:bodyPr wrap="square" lIns="0" tIns="0" rIns="0" bIns="0" rtlCol="0" anchor="ctr"/>
          <a:lstStyle/>
          <a:p>
            <a:pPr algn="l" indent="0" marL="0">
              <a:buNone/>
            </a:pPr>
            <a:r>
              <a:rPr lang="en-US" sz="1400" b="1" dirty="0">
                <a:solidFill>
                  <a:schemeClr val="bg1"/>
                </a:solidFill>
              </a:rPr>
              <a:t>Lost holders and provider oversight</a:t>
            </a:r>
            <a:endParaRPr lang="en-US" sz="1400" dirty="0"/>
          </a:p>
        </p:txBody>
      </p:sp>
      <p:sp>
        <p:nvSpPr>
          <p:cNvPr id="31" name="Text 28"/>
          <p:cNvSpPr txBox="1"/>
          <p:nvPr/>
        </p:nvSpPr>
        <p:spPr>
          <a:xfrm>
            <a:off x="8311896" y="2203704"/>
            <a:ext cx="3145536" cy="274320"/>
          </a:xfrm>
          <a:prstGeom prst="rect">
            <a:avLst/>
          </a:prstGeom>
          <a:noFill/>
          <a:ln/>
        </p:spPr>
        <p:txBody>
          <a:bodyPr wrap="square" lIns="0" tIns="0" rIns="0" bIns="0" rtlCol="0" anchor="ctr"/>
          <a:lstStyle/>
          <a:p>
            <a:pPr algn="l" indent="0" marL="0">
              <a:buNone/>
            </a:pPr>
            <a:r>
              <a:rPr lang="en-US" sz="1200" dirty="0">
                <a:solidFill>
                  <a:schemeClr val="bg1"/>
                </a:solidFill>
              </a:rPr>
              <a:t>2 families  |  10 objects  |  57 attributes</a:t>
            </a:r>
            <a:endParaRPr lang="en-US" sz="1200" dirty="0"/>
          </a:p>
        </p:txBody>
      </p:sp>
      <p:sp>
        <p:nvSpPr>
          <p:cNvPr id="32" name="Shape 29"/>
          <p:cNvSpPr/>
          <p:nvPr/>
        </p:nvSpPr>
        <p:spPr>
          <a:xfrm>
            <a:off x="8129016" y="2697480"/>
            <a:ext cx="3511296" cy="612648"/>
          </a:xfrm>
          <a:prstGeom prst="roundRect">
            <a:avLst>
              <a:gd name="adj" fmla="val 11940"/>
            </a:avLst>
          </a:prstGeom>
          <a:solidFill>
            <a:schemeClr val="bg2"/>
          </a:solidFill>
          <a:ln/>
        </p:spPr>
      </p:sp>
      <p:sp>
        <p:nvSpPr>
          <p:cNvPr id="33" name="Text 30"/>
          <p:cNvSpPr txBox="1"/>
          <p:nvPr/>
        </p:nvSpPr>
        <p:spPr>
          <a:xfrm>
            <a:off x="8311896" y="2752344"/>
            <a:ext cx="3145536" cy="274320"/>
          </a:xfrm>
          <a:prstGeom prst="rect">
            <a:avLst/>
          </a:prstGeom>
          <a:noFill/>
          <a:ln/>
        </p:spPr>
        <p:txBody>
          <a:bodyPr wrap="square" lIns="0" tIns="0" rIns="0" bIns="0" rtlCol="0" anchor="ctr"/>
          <a:lstStyle/>
          <a:p>
            <a:pPr algn="l" indent="0" marL="0">
              <a:buNone/>
            </a:pPr>
            <a:r>
              <a:rPr lang="en-US" sz="1100" b="1" dirty="0">
                <a:solidFill>
                  <a:schemeClr val="tx1"/>
                </a:solidFill>
              </a:rPr>
              <a:t>Escheatment, Unclaimed Property &amp; Dormancy</a:t>
            </a:r>
            <a:endParaRPr lang="en-US" sz="1100" dirty="0"/>
          </a:p>
        </p:txBody>
      </p:sp>
      <p:sp>
        <p:nvSpPr>
          <p:cNvPr id="34" name="Text 31"/>
          <p:cNvSpPr txBox="1"/>
          <p:nvPr/>
        </p:nvSpPr>
        <p:spPr>
          <a:xfrm>
            <a:off x="8311896" y="3017520"/>
            <a:ext cx="3145536" cy="237744"/>
          </a:xfrm>
          <a:prstGeom prst="rect">
            <a:avLst/>
          </a:prstGeom>
          <a:noFill/>
          <a:ln/>
        </p:spPr>
        <p:txBody>
          <a:bodyPr wrap="square" lIns="0" tIns="0" rIns="0" bIns="0" rtlCol="0" anchor="ctr"/>
          <a:lstStyle/>
          <a:p>
            <a:pPr algn="l" indent="0" marL="0">
              <a:buNone/>
            </a:pPr>
            <a:r>
              <a:rPr lang="en-US" sz="1100" dirty="0">
                <a:solidFill>
                  <a:schemeClr val="tx2"/>
                </a:solidFill>
              </a:rPr>
              <a:t>5 objects  |  28 attributes  |  10 critical</a:t>
            </a:r>
            <a:endParaRPr lang="en-US" sz="1100" dirty="0"/>
          </a:p>
        </p:txBody>
      </p:sp>
      <p:sp>
        <p:nvSpPr>
          <p:cNvPr id="35" name="Shape 32"/>
          <p:cNvSpPr/>
          <p:nvPr/>
        </p:nvSpPr>
        <p:spPr>
          <a:xfrm>
            <a:off x="8129016" y="3410712"/>
            <a:ext cx="3511296" cy="612648"/>
          </a:xfrm>
          <a:prstGeom prst="roundRect">
            <a:avLst>
              <a:gd name="adj" fmla="val 11940"/>
            </a:avLst>
          </a:prstGeom>
          <a:solidFill>
            <a:schemeClr val="bg2"/>
          </a:solidFill>
          <a:ln/>
        </p:spPr>
      </p:sp>
      <p:sp>
        <p:nvSpPr>
          <p:cNvPr id="36" name="Text 33"/>
          <p:cNvSpPr txBox="1"/>
          <p:nvPr/>
        </p:nvSpPr>
        <p:spPr>
          <a:xfrm>
            <a:off x="8311896" y="3465576"/>
            <a:ext cx="3145536" cy="274320"/>
          </a:xfrm>
          <a:prstGeom prst="rect">
            <a:avLst/>
          </a:prstGeom>
          <a:noFill/>
          <a:ln/>
        </p:spPr>
        <p:txBody>
          <a:bodyPr wrap="square" lIns="0" tIns="0" rIns="0" bIns="0" rtlCol="0" anchor="ctr"/>
          <a:lstStyle/>
          <a:p>
            <a:pPr algn="l" indent="0" marL="0">
              <a:buNone/>
            </a:pPr>
            <a:r>
              <a:rPr lang="en-US" sz="1300" b="1" dirty="0">
                <a:solidFill>
                  <a:schemeClr val="tx1"/>
                </a:solidFill>
              </a:rPr>
              <a:t>TA Oversight &amp; Servicing Quality</a:t>
            </a:r>
            <a:endParaRPr lang="en-US" sz="1300" dirty="0"/>
          </a:p>
        </p:txBody>
      </p:sp>
      <p:sp>
        <p:nvSpPr>
          <p:cNvPr id="37" name="Text 34"/>
          <p:cNvSpPr txBox="1"/>
          <p:nvPr/>
        </p:nvSpPr>
        <p:spPr>
          <a:xfrm>
            <a:off x="8311896" y="3730752"/>
            <a:ext cx="3145536" cy="237744"/>
          </a:xfrm>
          <a:prstGeom prst="rect">
            <a:avLst/>
          </a:prstGeom>
          <a:noFill/>
          <a:ln/>
        </p:spPr>
        <p:txBody>
          <a:bodyPr wrap="square" lIns="0" tIns="0" rIns="0" bIns="0" rtlCol="0" anchor="ctr"/>
          <a:lstStyle/>
          <a:p>
            <a:pPr algn="l" indent="0" marL="0">
              <a:buNone/>
            </a:pPr>
            <a:r>
              <a:rPr lang="en-US" sz="1100" dirty="0">
                <a:solidFill>
                  <a:schemeClr val="tx2"/>
                </a:solidFill>
              </a:rPr>
              <a:t>5 objects  |  29 attributes  |  10 critical</a:t>
            </a:r>
            <a:endParaRPr lang="en-US" sz="1100" dirty="0"/>
          </a:p>
        </p:txBody>
      </p:sp>
      <p:sp>
        <p:nvSpPr>
          <p:cNvPr id="38" name="Text 35"/>
          <p:cNvSpPr txBox="1"/>
          <p:nvPr/>
        </p:nvSpPr>
        <p:spPr>
          <a:xfrm>
            <a:off x="548640" y="4261104"/>
            <a:ext cx="3511296" cy="914400"/>
          </a:xfrm>
          <a:prstGeom prst="rect">
            <a:avLst/>
          </a:prstGeom>
          <a:noFill/>
          <a:ln/>
        </p:spPr>
        <p:txBody>
          <a:bodyPr wrap="square" lIns="0" tIns="0" rIns="0" bIns="0" rtlCol="0" anchor="t"/>
          <a:lstStyle/>
          <a:p>
            <a:pPr algn="l" indent="0" marL="0">
              <a:buNone/>
            </a:pPr>
            <a:r>
              <a:rPr lang="en-US" sz="1200" dirty="0">
                <a:solidFill>
                  <a:schemeClr val="tx2"/>
                </a:solidFill>
              </a:rPr>
              <a:t>The three groups are a presentation aid for this walkthrough. In the taxonomy, families sit directly under the domain.</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WHAT IS INCLUDED  |  GROUP 1 OF 3</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The spine: requests and documents</a:t>
            </a:r>
            <a:endParaRPr lang="en-US" sz="3600" dirty="0"/>
          </a:p>
        </p:txBody>
      </p:sp>
      <p:sp>
        <p:nvSpPr>
          <p:cNvPr id="5" name="Shape 2"/>
          <p:cNvSpPr/>
          <p:nvPr/>
        </p:nvSpPr>
        <p:spPr>
          <a:xfrm>
            <a:off x="548640" y="1783080"/>
            <a:ext cx="5406390" cy="4069080"/>
          </a:xfrm>
          <a:prstGeom prst="roundRect">
            <a:avLst>
              <a:gd name="adj" fmla="val 1798"/>
            </a:avLst>
          </a:prstGeom>
          <a:solidFill>
            <a:schemeClr val="bg2"/>
          </a:solidFill>
          <a:ln/>
        </p:spPr>
      </p:sp>
      <p:sp>
        <p:nvSpPr>
          <p:cNvPr id="6" name="Text 3"/>
          <p:cNvSpPr txBox="1"/>
          <p:nvPr/>
        </p:nvSpPr>
        <p:spPr>
          <a:xfrm>
            <a:off x="777240" y="1965960"/>
            <a:ext cx="4949190" cy="365760"/>
          </a:xfrm>
          <a:prstGeom prst="rect">
            <a:avLst/>
          </a:prstGeom>
          <a:noFill/>
          <a:ln/>
        </p:spPr>
        <p:txBody>
          <a:bodyPr wrap="square" lIns="0" tIns="0" rIns="0" bIns="0" rtlCol="0" anchor="ctr"/>
          <a:lstStyle/>
          <a:p>
            <a:pPr algn="l" indent="0" marL="0">
              <a:buNone/>
            </a:pPr>
            <a:r>
              <a:rPr lang="en-US" sz="1500" b="1" dirty="0">
                <a:solidFill>
                  <a:schemeClr val="accent1"/>
                </a:solidFill>
              </a:rPr>
              <a:t>Shareholder Service Requests &amp; Interactions</a:t>
            </a:r>
            <a:endParaRPr lang="en-US" sz="1500" dirty="0"/>
          </a:p>
        </p:txBody>
      </p:sp>
      <p:sp>
        <p:nvSpPr>
          <p:cNvPr id="7" name="Text 4"/>
          <p:cNvSpPr txBox="1"/>
          <p:nvPr/>
        </p:nvSpPr>
        <p:spPr>
          <a:xfrm>
            <a:off x="777240" y="2331720"/>
            <a:ext cx="4949190" cy="256032"/>
          </a:xfrm>
          <a:prstGeom prst="rect">
            <a:avLst/>
          </a:prstGeom>
          <a:noFill/>
          <a:ln/>
        </p:spPr>
        <p:txBody>
          <a:bodyPr wrap="square" lIns="0" tIns="0" rIns="0" bIns="0" rtlCol="0" anchor="ctr"/>
          <a:lstStyle/>
          <a:p>
            <a:pPr algn="l" indent="0" marL="0">
              <a:buNone/>
            </a:pPr>
            <a:r>
              <a:rPr lang="en-US" sz="1200" dirty="0">
                <a:solidFill>
                  <a:schemeClr val="tx2"/>
                </a:solidFill>
              </a:rPr>
              <a:t>7 objects  |  41 attributes  |  10 critical</a:t>
            </a:r>
            <a:endParaRPr lang="en-US" sz="1200" dirty="0"/>
          </a:p>
        </p:txBody>
      </p:sp>
      <p:sp>
        <p:nvSpPr>
          <p:cNvPr id="8" name="Text 5"/>
          <p:cNvSpPr txBox="1"/>
          <p:nvPr/>
        </p:nvSpPr>
        <p:spPr>
          <a:xfrm>
            <a:off x="777240" y="2697480"/>
            <a:ext cx="4949190" cy="822960"/>
          </a:xfrm>
          <a:prstGeom prst="rect">
            <a:avLst/>
          </a:prstGeom>
          <a:noFill/>
          <a:ln/>
        </p:spPr>
        <p:txBody>
          <a:bodyPr wrap="square" lIns="0" tIns="0" rIns="0" bIns="0" rtlCol="0" anchor="t"/>
          <a:lstStyle/>
          <a:p>
            <a:pPr algn="l" indent="0" marL="0">
              <a:buNone/>
            </a:pPr>
            <a:r>
              <a:rPr lang="en-US" sz="1300" dirty="0">
                <a:solidFill>
                  <a:schemeClr val="tx1"/>
                </a:solidFill>
              </a:rPr>
              <a:t>What shareholders ask the transfer agent to do, the contacts in which they ask, and standing instructions.</a:t>
            </a:r>
            <a:endParaRPr lang="en-US" sz="1300" dirty="0"/>
          </a:p>
        </p:txBody>
      </p:sp>
      <p:sp>
        <p:nvSpPr>
          <p:cNvPr id="9" name="Text 6"/>
          <p:cNvSpPr txBox="1"/>
          <p:nvPr/>
        </p:nvSpPr>
        <p:spPr>
          <a:xfrm>
            <a:off x="777240" y="3566160"/>
            <a:ext cx="4949190" cy="256032"/>
          </a:xfrm>
          <a:prstGeom prst="rect">
            <a:avLst/>
          </a:prstGeom>
          <a:noFill/>
          <a:ln/>
        </p:spPr>
        <p:txBody>
          <a:bodyPr wrap="square" lIns="0" tIns="0" rIns="0" bIns="0" rtlCol="0" anchor="ctr"/>
          <a:lstStyle/>
          <a:p>
            <a:pPr algn="l" indent="0" marL="0">
              <a:buNone/>
            </a:pPr>
            <a:r>
              <a:rPr lang="en-US" sz="1200" b="1" spc="150" kern="0" dirty="0">
                <a:solidFill>
                  <a:schemeClr val="tx2"/>
                </a:solidFill>
              </a:rPr>
              <a:t>OBJECTS</a:t>
            </a:r>
            <a:endParaRPr lang="en-US" sz="1200" dirty="0"/>
          </a:p>
        </p:txBody>
      </p:sp>
      <p:sp>
        <p:nvSpPr>
          <p:cNvPr id="10" name="Text 7"/>
          <p:cNvSpPr txBox="1"/>
          <p:nvPr/>
        </p:nvSpPr>
        <p:spPr>
          <a:xfrm>
            <a:off x="777240" y="3840480"/>
            <a:ext cx="4949190" cy="822960"/>
          </a:xfrm>
          <a:prstGeom prst="rect">
            <a:avLst/>
          </a:prstGeom>
          <a:noFill/>
          <a:ln/>
        </p:spPr>
        <p:txBody>
          <a:bodyPr wrap="square" lIns="0" tIns="0" rIns="0" bIns="0" rtlCol="0" anchor="t"/>
          <a:lstStyle/>
          <a:p>
            <a:pPr indent="0" marL="0">
              <a:buNone/>
            </a:pPr>
            <a:r>
              <a:rPr lang="en-US" sz="1300" b="1" dirty="0">
                <a:solidFill>
                  <a:schemeClr val="tx1"/>
                </a:solidFill>
              </a:rPr>
              <a:t>Service Request, </a:t>
            </a:r>
            <a:pPr indent="0" marL="0">
              <a:buNone/>
            </a:pPr>
            <a:r>
              <a:rPr lang="en-US" sz="1300" dirty="0">
                <a:solidFill>
                  <a:schemeClr val="tx1"/>
                </a:solidFill>
              </a:rPr>
              <a:t>Request Controls, </a:t>
            </a:r>
            <a:pPr indent="0" marL="0">
              <a:buNone/>
            </a:pPr>
            <a:r>
              <a:rPr lang="en-US" sz="1300" dirty="0">
                <a:solidFill>
                  <a:schemeClr val="tx1"/>
                </a:solidFill>
              </a:rPr>
              <a:t>Account Maintenance Change, </a:t>
            </a:r>
            <a:pPr indent="0" marL="0">
              <a:buNone/>
            </a:pPr>
            <a:r>
              <a:rPr lang="en-US" sz="1300" dirty="0">
                <a:solidFill>
                  <a:schemeClr val="tx1"/>
                </a:solidFill>
              </a:rPr>
              <a:t>Transfer of Ownership &amp; Estate, </a:t>
            </a:r>
            <a:pPr indent="0" marL="0">
              <a:buNone/>
            </a:pPr>
            <a:r>
              <a:rPr lang="en-US" sz="1300" b="1" dirty="0">
                <a:solidFill>
                  <a:schemeClr val="tx1"/>
                </a:solidFill>
              </a:rPr>
              <a:t>Account Standing Instruction, </a:t>
            </a:r>
            <a:pPr indent="0" marL="0">
              <a:buNone/>
            </a:pPr>
            <a:r>
              <a:rPr lang="en-US" sz="1300" b="1" dirty="0">
                <a:solidFill>
                  <a:schemeClr val="tx1"/>
                </a:solidFill>
              </a:rPr>
              <a:t>Contact Center Interaction, </a:t>
            </a:r>
            <a:pPr indent="0" marL="0">
              <a:buNone/>
            </a:pPr>
            <a:r>
              <a:rPr lang="en-US" sz="1300" b="1" dirty="0">
                <a:solidFill>
                  <a:schemeClr val="tx1"/>
                </a:solidFill>
              </a:rPr>
              <a:t>QA Review</a:t>
            </a:r>
            <a:endParaRPr lang="en-US" sz="1300" dirty="0"/>
          </a:p>
        </p:txBody>
      </p:sp>
      <p:sp>
        <p:nvSpPr>
          <p:cNvPr id="11" name="Text 8"/>
          <p:cNvSpPr txBox="1"/>
          <p:nvPr/>
        </p:nvSpPr>
        <p:spPr>
          <a:xfrm>
            <a:off x="777240" y="4709160"/>
            <a:ext cx="4949190" cy="256032"/>
          </a:xfrm>
          <a:prstGeom prst="rect">
            <a:avLst/>
          </a:prstGeom>
          <a:noFill/>
          <a:ln/>
        </p:spPr>
        <p:txBody>
          <a:bodyPr wrap="square" lIns="0" tIns="0" rIns="0" bIns="0" rtlCol="0" anchor="ctr"/>
          <a:lstStyle/>
          <a:p>
            <a:pPr algn="l" indent="0" marL="0">
              <a:buNone/>
            </a:pPr>
            <a:r>
              <a:rPr lang="en-US" sz="1200" b="1" spc="150" kern="0" dirty="0">
                <a:solidFill>
                  <a:schemeClr val="tx2"/>
                </a:solidFill>
              </a:rPr>
              <a:t>EXAMPLE ATTRIBUTES</a:t>
            </a:r>
            <a:endParaRPr lang="en-US" sz="1200" dirty="0"/>
          </a:p>
        </p:txBody>
      </p:sp>
      <p:sp>
        <p:nvSpPr>
          <p:cNvPr id="12" name="Text 9"/>
          <p:cNvSpPr txBox="1"/>
          <p:nvPr/>
        </p:nvSpPr>
        <p:spPr>
          <a:xfrm>
            <a:off x="777240" y="4983480"/>
            <a:ext cx="4949190" cy="731520"/>
          </a:xfrm>
          <a:prstGeom prst="rect">
            <a:avLst/>
          </a:prstGeom>
          <a:noFill/>
          <a:ln/>
        </p:spPr>
        <p:txBody>
          <a:bodyPr wrap="square" lIns="0" tIns="0" rIns="0" bIns="0" rtlCol="0" anchor="t"/>
          <a:lstStyle/>
          <a:p>
            <a:pPr algn="l" indent="0" marL="0">
              <a:buNone/>
            </a:pPr>
            <a:r>
              <a:rPr lang="en-US" sz="1300" dirty="0">
                <a:solidFill>
                  <a:schemeClr val="tx1"/>
                </a:solidFill>
              </a:rPr>
              <a:t>Request Type, Good Order Status, NIGO Reason, Instruction Type, Contact Reason</a:t>
            </a:r>
            <a:endParaRPr lang="en-US" sz="1300" dirty="0"/>
          </a:p>
        </p:txBody>
      </p:sp>
      <p:sp>
        <p:nvSpPr>
          <p:cNvPr id="13" name="Shape 10"/>
          <p:cNvSpPr/>
          <p:nvPr/>
        </p:nvSpPr>
        <p:spPr>
          <a:xfrm>
            <a:off x="6233922" y="1783080"/>
            <a:ext cx="5406390" cy="4069080"/>
          </a:xfrm>
          <a:prstGeom prst="roundRect">
            <a:avLst>
              <a:gd name="adj" fmla="val 1798"/>
            </a:avLst>
          </a:prstGeom>
          <a:solidFill>
            <a:schemeClr val="bg2"/>
          </a:solidFill>
          <a:ln/>
        </p:spPr>
      </p:sp>
      <p:sp>
        <p:nvSpPr>
          <p:cNvPr id="14" name="Text 11"/>
          <p:cNvSpPr txBox="1"/>
          <p:nvPr/>
        </p:nvSpPr>
        <p:spPr>
          <a:xfrm>
            <a:off x="6462522" y="1965960"/>
            <a:ext cx="4949190" cy="365760"/>
          </a:xfrm>
          <a:prstGeom prst="rect">
            <a:avLst/>
          </a:prstGeom>
          <a:noFill/>
          <a:ln/>
        </p:spPr>
        <p:txBody>
          <a:bodyPr wrap="square" lIns="0" tIns="0" rIns="0" bIns="0" rtlCol="0" anchor="ctr"/>
          <a:lstStyle/>
          <a:p>
            <a:pPr algn="l" indent="0" marL="0">
              <a:buNone/>
            </a:pPr>
            <a:r>
              <a:rPr lang="en-US" sz="1500" b="1" dirty="0">
                <a:solidFill>
                  <a:schemeClr val="accent2"/>
                </a:solidFill>
              </a:rPr>
              <a:t>Statements, Confirmations &amp; Tax Documents</a:t>
            </a:r>
            <a:endParaRPr lang="en-US" sz="1500" dirty="0"/>
          </a:p>
        </p:txBody>
      </p:sp>
      <p:sp>
        <p:nvSpPr>
          <p:cNvPr id="15" name="Text 12"/>
          <p:cNvSpPr txBox="1"/>
          <p:nvPr/>
        </p:nvSpPr>
        <p:spPr>
          <a:xfrm>
            <a:off x="6462522" y="2331720"/>
            <a:ext cx="4949190" cy="256032"/>
          </a:xfrm>
          <a:prstGeom prst="rect">
            <a:avLst/>
          </a:prstGeom>
          <a:noFill/>
          <a:ln/>
        </p:spPr>
        <p:txBody>
          <a:bodyPr wrap="square" lIns="0" tIns="0" rIns="0" bIns="0" rtlCol="0" anchor="ctr"/>
          <a:lstStyle/>
          <a:p>
            <a:pPr algn="l" indent="0" marL="0">
              <a:buNone/>
            </a:pPr>
            <a:r>
              <a:rPr lang="en-US" sz="1200" dirty="0">
                <a:solidFill>
                  <a:schemeClr val="tx2"/>
                </a:solidFill>
              </a:rPr>
              <a:t>7 objects  |  41 attributes  |  12 critical</a:t>
            </a:r>
            <a:endParaRPr lang="en-US" sz="1200" dirty="0"/>
          </a:p>
        </p:txBody>
      </p:sp>
      <p:sp>
        <p:nvSpPr>
          <p:cNvPr id="16" name="Text 13"/>
          <p:cNvSpPr txBox="1"/>
          <p:nvPr/>
        </p:nvSpPr>
        <p:spPr>
          <a:xfrm>
            <a:off x="6462522" y="2697480"/>
            <a:ext cx="4949190" cy="822960"/>
          </a:xfrm>
          <a:prstGeom prst="rect">
            <a:avLst/>
          </a:prstGeom>
          <a:noFill/>
          <a:ln/>
        </p:spPr>
        <p:txBody>
          <a:bodyPr wrap="square" lIns="0" tIns="0" rIns="0" bIns="0" rtlCol="0" anchor="t"/>
          <a:lstStyle/>
          <a:p>
            <a:pPr algn="l" indent="0" marL="0">
              <a:buNone/>
            </a:pPr>
            <a:r>
              <a:rPr lang="en-US" sz="1300" dirty="0">
                <a:solidFill>
                  <a:schemeClr val="tx1"/>
                </a:solidFill>
              </a:rPr>
              <a:t>Statements, trade confirmations and tax forms issued to shareholders of record, and how they are produced.</a:t>
            </a:r>
            <a:endParaRPr lang="en-US" sz="1300" dirty="0"/>
          </a:p>
        </p:txBody>
      </p:sp>
      <p:sp>
        <p:nvSpPr>
          <p:cNvPr id="17" name="Text 14"/>
          <p:cNvSpPr txBox="1"/>
          <p:nvPr/>
        </p:nvSpPr>
        <p:spPr>
          <a:xfrm>
            <a:off x="6462522" y="3566160"/>
            <a:ext cx="4949190" cy="256032"/>
          </a:xfrm>
          <a:prstGeom prst="rect">
            <a:avLst/>
          </a:prstGeom>
          <a:noFill/>
          <a:ln/>
        </p:spPr>
        <p:txBody>
          <a:bodyPr wrap="square" lIns="0" tIns="0" rIns="0" bIns="0" rtlCol="0" anchor="ctr"/>
          <a:lstStyle/>
          <a:p>
            <a:pPr algn="l" indent="0" marL="0">
              <a:buNone/>
            </a:pPr>
            <a:r>
              <a:rPr lang="en-US" sz="1200" b="1" spc="150" kern="0" dirty="0">
                <a:solidFill>
                  <a:schemeClr val="tx2"/>
                </a:solidFill>
              </a:rPr>
              <a:t>OBJECTS</a:t>
            </a:r>
            <a:endParaRPr lang="en-US" sz="1200" dirty="0"/>
          </a:p>
        </p:txBody>
      </p:sp>
      <p:sp>
        <p:nvSpPr>
          <p:cNvPr id="18" name="Text 15"/>
          <p:cNvSpPr txBox="1"/>
          <p:nvPr/>
        </p:nvSpPr>
        <p:spPr>
          <a:xfrm>
            <a:off x="6462522" y="3840480"/>
            <a:ext cx="4949190" cy="822960"/>
          </a:xfrm>
          <a:prstGeom prst="rect">
            <a:avLst/>
          </a:prstGeom>
          <a:noFill/>
          <a:ln/>
        </p:spPr>
        <p:txBody>
          <a:bodyPr wrap="square" lIns="0" tIns="0" rIns="0" bIns="0" rtlCol="0" anchor="t"/>
          <a:lstStyle/>
          <a:p>
            <a:pPr indent="0" marL="0">
              <a:buNone/>
            </a:pPr>
            <a:r>
              <a:rPr lang="en-US" sz="1300" b="1" dirty="0">
                <a:solidFill>
                  <a:schemeClr val="tx1"/>
                </a:solidFill>
              </a:rPr>
              <a:t>Investor Document Definition, </a:t>
            </a:r>
            <a:pPr indent="0" marL="0">
              <a:buNone/>
            </a:pPr>
            <a:r>
              <a:rPr lang="en-US" sz="1300" b="1" dirty="0">
                <a:solidFill>
                  <a:schemeClr val="tx1"/>
                </a:solidFill>
              </a:rPr>
              <a:t>Investor Document, </a:t>
            </a:r>
            <a:pPr indent="0" marL="0">
              <a:buNone/>
            </a:pPr>
            <a:r>
              <a:rPr lang="en-US" sz="1300" dirty="0">
                <a:solidFill>
                  <a:schemeClr val="tx1"/>
                </a:solidFill>
              </a:rPr>
              <a:t>Trade Confirmation, </a:t>
            </a:r>
            <a:pPr indent="0" marL="0">
              <a:buNone/>
            </a:pPr>
            <a:r>
              <a:rPr lang="en-US" sz="1300" b="1" dirty="0">
                <a:solidFill>
                  <a:schemeClr val="tx1"/>
                </a:solidFill>
              </a:rPr>
              <a:t>Tax Form Record, </a:t>
            </a:r>
            <a:pPr indent="0" marL="0">
              <a:buNone/>
            </a:pPr>
            <a:r>
              <a:rPr lang="en-US" sz="1300" b="1" dirty="0">
                <a:solidFill>
                  <a:schemeClr val="tx1"/>
                </a:solidFill>
              </a:rPr>
              <a:t>Cost Basis Election, </a:t>
            </a:r>
            <a:pPr indent="0" marL="0">
              <a:buNone/>
            </a:pPr>
            <a:r>
              <a:rPr lang="en-US" sz="1300" dirty="0">
                <a:solidFill>
                  <a:schemeClr val="tx1"/>
                </a:solidFill>
              </a:rPr>
              <a:t>UK &amp; EU Tax Document, </a:t>
            </a:r>
            <a:pPr indent="0" marL="0">
              <a:buNone/>
            </a:pPr>
            <a:r>
              <a:rPr lang="en-US" sz="1300" b="1" dirty="0">
                <a:solidFill>
                  <a:schemeClr val="tx1"/>
                </a:solidFill>
              </a:rPr>
              <a:t>Production Run</a:t>
            </a:r>
            <a:endParaRPr lang="en-US" sz="1300" dirty="0"/>
          </a:p>
        </p:txBody>
      </p:sp>
      <p:sp>
        <p:nvSpPr>
          <p:cNvPr id="19" name="Text 16"/>
          <p:cNvSpPr txBox="1"/>
          <p:nvPr/>
        </p:nvSpPr>
        <p:spPr>
          <a:xfrm>
            <a:off x="6462522" y="4709160"/>
            <a:ext cx="4949190" cy="256032"/>
          </a:xfrm>
          <a:prstGeom prst="rect">
            <a:avLst/>
          </a:prstGeom>
          <a:noFill/>
          <a:ln/>
        </p:spPr>
        <p:txBody>
          <a:bodyPr wrap="square" lIns="0" tIns="0" rIns="0" bIns="0" rtlCol="0" anchor="ctr"/>
          <a:lstStyle/>
          <a:p>
            <a:pPr algn="l" indent="0" marL="0">
              <a:buNone/>
            </a:pPr>
            <a:r>
              <a:rPr lang="en-US" sz="1200" b="1" spc="150" kern="0" dirty="0">
                <a:solidFill>
                  <a:schemeClr val="tx2"/>
                </a:solidFill>
              </a:rPr>
              <a:t>EXAMPLE ATTRIBUTES</a:t>
            </a:r>
            <a:endParaRPr lang="en-US" sz="1200" dirty="0"/>
          </a:p>
        </p:txBody>
      </p:sp>
      <p:sp>
        <p:nvSpPr>
          <p:cNvPr id="20" name="Text 17"/>
          <p:cNvSpPr txBox="1"/>
          <p:nvPr/>
        </p:nvSpPr>
        <p:spPr>
          <a:xfrm>
            <a:off x="6462522" y="4983480"/>
            <a:ext cx="4949190" cy="731520"/>
          </a:xfrm>
          <a:prstGeom prst="rect">
            <a:avLst/>
          </a:prstGeom>
          <a:noFill/>
          <a:ln/>
        </p:spPr>
        <p:txBody>
          <a:bodyPr wrap="square" lIns="0" tIns="0" rIns="0" bIns="0" rtlCol="0" anchor="t"/>
          <a:lstStyle/>
          <a:p>
            <a:pPr algn="l" indent="0" marL="0">
              <a:buNone/>
            </a:pPr>
            <a:r>
              <a:rPr lang="en-US" sz="1300" dirty="0">
                <a:solidFill>
                  <a:schemeClr val="tx1"/>
                </a:solidFill>
              </a:rPr>
              <a:t>Period End Date, Delivery Method, Tax Document Type, Furnished Date, Cost Basis Method</a:t>
            </a:r>
            <a:endParaRPr lang="en-US" sz="1300" dirty="0"/>
          </a:p>
        </p:txBody>
      </p:sp>
      <p:sp>
        <p:nvSpPr>
          <p:cNvPr id="21" name="Text 18"/>
          <p:cNvSpPr txBox="1"/>
          <p:nvPr/>
        </p:nvSpPr>
        <p:spPr>
          <a:xfrm>
            <a:off x="548640" y="5961888"/>
            <a:ext cx="11091672" cy="274320"/>
          </a:xfrm>
          <a:prstGeom prst="rect">
            <a:avLst/>
          </a:prstGeom>
          <a:noFill/>
          <a:ln/>
        </p:spPr>
        <p:txBody>
          <a:bodyPr wrap="square" lIns="0" tIns="0" rIns="0" bIns="0" rtlCol="0" anchor="ctr"/>
          <a:lstStyle/>
          <a:p>
            <a:pPr algn="l" indent="0" marL="0">
              <a:buNone/>
            </a:pPr>
            <a:r>
              <a:rPr lang="en-US" sz="1200" dirty="0">
                <a:solidFill>
                  <a:schemeClr val="tx2"/>
                </a:solidFill>
              </a:rPr>
              <a:t>Bold = business object with its own key. Regular = attribute group held on its parent request, document or communication.</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WHAT IS INCLUDED  |  GROUP 2 OF 3</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Required communications and delivery</a:t>
            </a:r>
            <a:endParaRPr lang="en-US" sz="36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11091672" cy="914400"/>
        </p:xfrm>
        <a:graphic>
          <a:graphicData uri="http://schemas.openxmlformats.org/drawingml/2006/table">
            <a:tbl>
              <a:tblPr/>
              <a:tblGrid>
                <a:gridCol w="2377440"/>
                <a:gridCol w="2743200"/>
                <a:gridCol w="3200400"/>
                <a:gridCol w="2770632"/>
              </a:tblGrid>
              <a:tr h="365760">
                <a:tc>
                  <a:txBody>
                    <a:bodyPr/>
                    <a:lstStyle/>
                    <a:p>
                      <a:pPr indent="0" marL="0">
                        <a:buNone/>
                      </a:pPr>
                      <a:r>
                        <a:rPr lang="en-US" sz="1200" b="1" dirty="0">
                          <a:solidFill>
                            <a:schemeClr val="bg1"/>
                          </a:solidFill>
                        </a:rPr>
                        <a:t>Family</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What it holds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Objects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Example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r>
              <a:tr h="749808">
                <a:tc>
                  <a:txBody>
                    <a:bodyPr/>
                    <a:lstStyle/>
                    <a:p>
                      <a:pPr indent="0" marL="0">
                        <a:buNone/>
                      </a:pPr>
                      <a:r>
                        <a:rPr lang="en-US" sz="1200" b="1" dirty="0">
                          <a:solidFill>
                            <a:schemeClr val="tx1"/>
                          </a:solidFill>
                        </a:rPr>
                        <a:t>Regulatory Shareholder Communications</a:t>
                      </a:r>
                      <a:endParaRPr lang="en-US" sz="1200" dirty="0"/>
                    </a:p>
                    <a:p>
                      <a:pPr indent="0" marL="0">
                        <a:buNone/>
                      </a:pPr>
                      <a:r>
                        <a:rPr lang="en-US" sz="1100" dirty="0">
                          <a:solidFill>
                            <a:schemeClr val="tx2"/>
                          </a:solidFill>
                        </a:rPr>
                        <a:t>7 objects  |  32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Required reports, prospectuses and notices, who each was sent to, and how it was delivered</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b="1" dirty="0">
                          <a:solidFill>
                            <a:schemeClr val="tx1"/>
                          </a:solidFill>
                        </a:rPr>
                        <a:t>Shareholder Communication, </a:t>
                      </a:r>
                      <a:pPr indent="0" marL="0">
                        <a:buNone/>
                      </a:pPr>
                      <a:r>
                        <a:rPr lang="en-US" sz="1200" dirty="0">
                          <a:solidFill>
                            <a:schemeClr val="tx1"/>
                          </a:solidFill>
                        </a:rPr>
                        <a:t>Shareholder Notice, </a:t>
                      </a:r>
                      <a:pPr indent="0" marL="0">
                        <a:buNone/>
                      </a:pPr>
                      <a:r>
                        <a:rPr lang="en-US" sz="1200" b="1" dirty="0">
                          <a:solidFill>
                            <a:schemeClr val="tx1"/>
                          </a:solidFill>
                        </a:rPr>
                        <a:t>Communication Distribution, </a:t>
                      </a:r>
                      <a:pPr indent="0" marL="0">
                        <a:buNone/>
                      </a:pPr>
                      <a:r>
                        <a:rPr lang="en-US" sz="1200" b="1" dirty="0">
                          <a:solidFill>
                            <a:schemeClr val="tx1"/>
                          </a:solidFill>
                        </a:rPr>
                        <a:t>Recipient Delivery Record, </a:t>
                      </a:r>
                      <a:pPr indent="0" marL="0">
                        <a:buNone/>
                      </a:pPr>
                      <a:r>
                        <a:rPr lang="en-US" sz="1200" dirty="0">
                          <a:solidFill>
                            <a:schemeClr val="tx1"/>
                          </a:solidFill>
                        </a:rPr>
                        <a:t>and 3 more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Communication Type, Required Delivery Deadline, Mail Date, Recipient Delivery Method</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749808">
                <a:tc>
                  <a:txBody>
                    <a:bodyPr/>
                    <a:lstStyle/>
                    <a:p>
                      <a:pPr indent="0" marL="0">
                        <a:buNone/>
                      </a:pPr>
                      <a:r>
                        <a:rPr lang="en-US" sz="1200" b="1" dirty="0">
                          <a:solidFill>
                            <a:schemeClr val="tx1"/>
                          </a:solidFill>
                        </a:rPr>
                        <a:t>Delivery Elections &amp; Householding</a:t>
                      </a:r>
                      <a:endParaRPr lang="en-US" sz="1200" dirty="0"/>
                    </a:p>
                    <a:p>
                      <a:pPr indent="0" marL="0">
                        <a:buNone/>
                      </a:pPr>
                      <a:r>
                        <a:rPr lang="en-US" sz="1100" dirty="0">
                          <a:solidFill>
                            <a:schemeClr val="tx2"/>
                          </a:solidFill>
                        </a:rPr>
                        <a:t>3 objects  |  21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E-delivery consent, householding of shared addresses and mail holds, with their evidence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b="1" dirty="0">
                          <a:solidFill>
                            <a:schemeClr val="tx1"/>
                          </a:solidFill>
                        </a:rPr>
                        <a:t>E-Delivery Election, </a:t>
                      </a:r>
                      <a:pPr indent="0" marL="0">
                        <a:buNone/>
                      </a:pPr>
                      <a:r>
                        <a:rPr lang="en-US" sz="1200" b="1" dirty="0">
                          <a:solidFill>
                            <a:schemeClr val="tx1"/>
                          </a:solidFill>
                        </a:rPr>
                        <a:t>Householding Group, </a:t>
                      </a:r>
                      <a:pPr indent="0" marL="0">
                        <a:buNone/>
                      </a:pPr>
                      <a:r>
                        <a:rPr lang="en-US" sz="1200" dirty="0">
                          <a:solidFill>
                            <a:schemeClr val="tx1"/>
                          </a:solidFill>
                        </a:rPr>
                        <a:t>Mail Hold</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Delivery Preference, E-Delivery Consent Type, Householding Status, Mail Hold Reason</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749808">
                <a:tc>
                  <a:txBody>
                    <a:bodyPr/>
                    <a:lstStyle/>
                    <a:p>
                      <a:pPr indent="0" marL="0">
                        <a:buNone/>
                      </a:pPr>
                      <a:r>
                        <a:rPr lang="en-US" sz="1200" b="1" dirty="0">
                          <a:solidFill>
                            <a:schemeClr val="tx1"/>
                          </a:solidFill>
                        </a:rPr>
                        <a:t>Beneficial-Owner Communications via Intermediaries</a:t>
                      </a:r>
                      <a:endParaRPr lang="en-US" sz="1200" dirty="0"/>
                    </a:p>
                    <a:p>
                      <a:pPr indent="0" marL="0">
                        <a:buNone/>
                      </a:pPr>
                      <a:r>
                        <a:rPr lang="en-US" sz="1100" dirty="0">
                          <a:solidFill>
                            <a:schemeClr val="tx2"/>
                          </a:solidFill>
                        </a:rPr>
                        <a:t>4 objects  |  20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Distribution to investors who hold through brokers, platforms and nominees, and its fees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b="1" dirty="0">
                          <a:solidFill>
                            <a:schemeClr val="tx1"/>
                          </a:solidFill>
                        </a:rPr>
                        <a:t>Intermediary Distribution Request, </a:t>
                      </a:r>
                      <a:pPr indent="0" marL="0">
                        <a:buNone/>
                      </a:pPr>
                      <a:r>
                        <a:rPr lang="en-US" sz="1200" dirty="0">
                          <a:solidFill>
                            <a:schemeClr val="tx1"/>
                          </a:solidFill>
                        </a:rPr>
                        <a:t>NOBO List Request, </a:t>
                      </a:r>
                      <a:pPr indent="0" marL="0">
                        <a:buNone/>
                      </a:pPr>
                      <a:r>
                        <a:rPr lang="en-US" sz="1200" dirty="0">
                          <a:solidFill>
                            <a:schemeClr val="tx1"/>
                          </a:solidFill>
                        </a:rPr>
                        <a:t>Notice Cascade, </a:t>
                      </a:r>
                      <a:pPr indent="0" marL="0">
                        <a:buNone/>
                      </a:pPr>
                      <a:r>
                        <a:rPr lang="en-US" sz="1200" b="1" dirty="0">
                          <a:solidFill>
                            <a:schemeClr val="tx1"/>
                          </a:solidFill>
                        </a:rPr>
                        <a:t>Intermediary Communication Fee Invoice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Holding Model, Broker Search Date, Cascade Method, Fee Type, Invoice Amount</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749808">
                <a:tc>
                  <a:txBody>
                    <a:bodyPr/>
                    <a:lstStyle/>
                    <a:p>
                      <a:pPr indent="0" marL="0">
                        <a:buNone/>
                      </a:pPr>
                      <a:r>
                        <a:rPr lang="en-US" sz="1200" b="1" dirty="0">
                          <a:solidFill>
                            <a:schemeClr val="tx1"/>
                          </a:solidFill>
                        </a:rPr>
                        <a:t>Proxy Solicitation &amp; Shareholder Meetings</a:t>
                      </a:r>
                      <a:endParaRPr lang="en-US" sz="1200" dirty="0"/>
                    </a:p>
                    <a:p>
                      <a:pPr indent="0" marL="0">
                        <a:buNone/>
                      </a:pPr>
                      <a:r>
                        <a:rPr lang="en-US" sz="1100" dirty="0">
                          <a:solidFill>
                            <a:schemeClr val="tx2"/>
                          </a:solidFill>
                        </a:rPr>
                        <a:t>4 objects  |  26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Fund shareholder meetings, the proposals put to a vote and the running vote counts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b="1" dirty="0">
                          <a:solidFill>
                            <a:schemeClr val="tx1"/>
                          </a:solidFill>
                        </a:rPr>
                        <a:t>Proxy Campaign, </a:t>
                      </a:r>
                      <a:pPr indent="0" marL="0">
                        <a:buNone/>
                      </a:pPr>
                      <a:r>
                        <a:rPr lang="en-US" sz="1200" b="1" dirty="0">
                          <a:solidFill>
                            <a:schemeClr val="tx1"/>
                          </a:solidFill>
                        </a:rPr>
                        <a:t>Proxy Proposal, </a:t>
                      </a:r>
                      <a:pPr indent="0" marL="0">
                        <a:buNone/>
                      </a:pPr>
                      <a:r>
                        <a:rPr lang="en-US" sz="1200" b="1" dirty="0">
                          <a:solidFill>
                            <a:schemeClr val="tx1"/>
                          </a:solidFill>
                        </a:rPr>
                        <a:t>Vote Tally, </a:t>
                      </a:r>
                      <a:pPr indent="0" marL="0">
                        <a:buNone/>
                      </a:pPr>
                      <a:r>
                        <a:rPr lang="en-US" sz="1200" b="1" dirty="0">
                          <a:solidFill>
                            <a:schemeClr val="tx1"/>
                          </a:solidFill>
                        </a:rPr>
                        <a:t>Intermediary Vote Instruction</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Record Date, Quorum Requirement, Vote Standard, Shares Voted For, Broker Non-Votes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bl>
          </a:graphicData>
        </a:graphic>
      </p:graphicFrame>
      <p:sp>
        <p:nvSpPr>
          <p:cNvPr id="6" name="Text 2"/>
          <p:cNvSpPr txBox="1"/>
          <p:nvPr/>
        </p:nvSpPr>
        <p:spPr>
          <a:xfrm>
            <a:off x="548640" y="5961888"/>
            <a:ext cx="11091672" cy="274320"/>
          </a:xfrm>
          <a:prstGeom prst="rect">
            <a:avLst/>
          </a:prstGeom>
          <a:noFill/>
          <a:ln/>
        </p:spPr>
        <p:txBody>
          <a:bodyPr wrap="square" lIns="0" tIns="0" rIns="0" bIns="0" rtlCol="0" anchor="ctr"/>
          <a:lstStyle/>
          <a:p>
            <a:pPr algn="l" indent="0" marL="0">
              <a:buNone/>
            </a:pPr>
            <a:r>
              <a:rPr lang="en-US" sz="1200" dirty="0">
                <a:solidFill>
                  <a:schemeClr val="tx2"/>
                </a:solidFill>
              </a:rPr>
              <a:t>Bold = business object with its own key. Regular = attribute group held on its parent request, document or communication.</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WHAT IS INCLUDED  |  GROUP 3 OF 3</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Lost holders and provider oversight</a:t>
            </a:r>
            <a:endParaRPr lang="en-US" sz="36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11091672" cy="914400"/>
        </p:xfrm>
        <a:graphic>
          <a:graphicData uri="http://schemas.openxmlformats.org/drawingml/2006/table">
            <a:tbl>
              <a:tblPr/>
              <a:tblGrid>
                <a:gridCol w="2377440"/>
                <a:gridCol w="2743200"/>
                <a:gridCol w="3200400"/>
                <a:gridCol w="2770632"/>
              </a:tblGrid>
              <a:tr h="365760">
                <a:tc>
                  <a:txBody>
                    <a:bodyPr/>
                    <a:lstStyle/>
                    <a:p>
                      <a:pPr indent="0" marL="0">
                        <a:buNone/>
                      </a:pPr>
                      <a:r>
                        <a:rPr lang="en-US" sz="1200" b="1" dirty="0">
                          <a:solidFill>
                            <a:schemeClr val="bg1"/>
                          </a:solidFill>
                        </a:rPr>
                        <a:t>Family</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What it holds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Objects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Example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r>
              <a:tr h="749808">
                <a:tc>
                  <a:txBody>
                    <a:bodyPr/>
                    <a:lstStyle/>
                    <a:p>
                      <a:pPr indent="0" marL="0">
                        <a:buNone/>
                      </a:pPr>
                      <a:r>
                        <a:rPr lang="en-US" sz="1200" b="1" dirty="0">
                          <a:solidFill>
                            <a:schemeClr val="tx1"/>
                          </a:solidFill>
                        </a:rPr>
                        <a:t>Escheatment, Unclaimed Property &amp; Dormancy</a:t>
                      </a:r>
                      <a:endParaRPr lang="en-US" sz="1200" dirty="0"/>
                    </a:p>
                    <a:p>
                      <a:pPr indent="0" marL="0">
                        <a:buNone/>
                      </a:pPr>
                      <a:r>
                        <a:rPr lang="en-US" sz="1100" dirty="0">
                          <a:solidFill>
                            <a:schemeClr val="tx2"/>
                          </a:solidFill>
                        </a:rPr>
                        <a:t>5 objects  |  28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Lost shareholders, state dormancy and escheatment, UK dormant assets, and reclaims by owners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b="1" dirty="0">
                          <a:solidFill>
                            <a:schemeClr val="tx1"/>
                          </a:solidFill>
                        </a:rPr>
                        <a:t>Lost Shareholder Status, </a:t>
                      </a:r>
                      <a:pPr indent="0" marL="0">
                        <a:buNone/>
                      </a:pPr>
                      <a:r>
                        <a:rPr lang="en-US" sz="1200" b="1" dirty="0">
                          <a:solidFill>
                            <a:schemeClr val="tx1"/>
                          </a:solidFill>
                        </a:rPr>
                        <a:t>Dormancy Assessment, </a:t>
                      </a:r>
                      <a:pPr indent="0" marL="0">
                        <a:buNone/>
                      </a:pPr>
                      <a:r>
                        <a:rPr lang="en-US" sz="1200" b="1" dirty="0">
                          <a:solidFill>
                            <a:schemeClr val="tx1"/>
                          </a:solidFill>
                        </a:rPr>
                        <a:t>Escheatment Report &amp; Remittance, </a:t>
                      </a:r>
                      <a:pPr indent="0" marL="0">
                        <a:buNone/>
                      </a:pPr>
                      <a:r>
                        <a:rPr lang="en-US" sz="1200" dirty="0">
                          <a:solidFill>
                            <a:schemeClr val="tx1"/>
                          </a:solidFill>
                        </a:rPr>
                        <a:t>UK Dormant Asset Transfer, </a:t>
                      </a:r>
                      <a:pPr indent="0" marL="0">
                        <a:buNone/>
                      </a:pPr>
                      <a:r>
                        <a:rPr lang="en-US" sz="1200" b="1" dirty="0">
                          <a:solidFill>
                            <a:schemeClr val="tx1"/>
                          </a:solidFill>
                        </a:rPr>
                        <a:t>Unclaimed Property Reclaim</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Lost Securityholder Indicator, Presumed Abandoned Date, Reporting State, Reclaim Status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749808">
                <a:tc>
                  <a:txBody>
                    <a:bodyPr/>
                    <a:lstStyle/>
                    <a:p>
                      <a:pPr indent="0" marL="0">
                        <a:buNone/>
                      </a:pPr>
                      <a:r>
                        <a:rPr lang="en-US" sz="1200" b="1" dirty="0">
                          <a:solidFill>
                            <a:schemeClr val="tx1"/>
                          </a:solidFill>
                        </a:rPr>
                        <a:t>TA Oversight &amp; Servicing Quality</a:t>
                      </a:r>
                      <a:endParaRPr lang="en-US" sz="1200" dirty="0"/>
                    </a:p>
                    <a:p>
                      <a:pPr indent="0" marL="0">
                        <a:buNone/>
                      </a:pPr>
                      <a:r>
                        <a:rPr lang="en-US" sz="1100" dirty="0">
                          <a:solidFill>
                            <a:schemeClr val="tx2"/>
                          </a:solidFill>
                        </a:rPr>
                        <a:t>5 objects  |  29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Service levels of the transfer agent and vendors, servicing errors and shareholder remediation</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b="1" dirty="0">
                          <a:solidFill>
                            <a:schemeClr val="tx1"/>
                          </a:solidFill>
                        </a:rPr>
                        <a:t>Servicing Provider Engagement, </a:t>
                      </a:r>
                      <a:pPr indent="0" marL="0">
                        <a:buNone/>
                      </a:pPr>
                      <a:r>
                        <a:rPr lang="en-US" sz="1200" b="1" dirty="0">
                          <a:solidFill>
                            <a:schemeClr val="tx1"/>
                          </a:solidFill>
                        </a:rPr>
                        <a:t>Service Level Definition, </a:t>
                      </a:r>
                      <a:pPr indent="0" marL="0">
                        <a:buNone/>
                      </a:pPr>
                      <a:r>
                        <a:rPr lang="en-US" sz="1200" b="1" dirty="0">
                          <a:solidFill>
                            <a:schemeClr val="tx1"/>
                          </a:solidFill>
                        </a:rPr>
                        <a:t>Service Level Measurement, </a:t>
                      </a:r>
                      <a:pPr indent="0" marL="0">
                        <a:buNone/>
                      </a:pPr>
                      <a:r>
                        <a:rPr lang="en-US" sz="1200" b="1" dirty="0">
                          <a:solidFill>
                            <a:schemeClr val="tx1"/>
                          </a:solidFill>
                        </a:rPr>
                        <a:t>Servicing Error, </a:t>
                      </a:r>
                      <a:pPr indent="0" marL="0">
                        <a:buNone/>
                      </a:pPr>
                      <a:r>
                        <a:rPr lang="en-US" sz="1200" b="1" dirty="0">
                          <a:solidFill>
                            <a:schemeClr val="tx1"/>
                          </a:solidFill>
                        </a:rPr>
                        <a:t>Shareholder Remediation</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Oversight Rating, Target Value, SLA Met Indicator, NAV Error Magnitude, Compensation Amount</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bl>
          </a:graphicData>
        </a:graphic>
      </p:graphicFrame>
      <p:sp>
        <p:nvSpPr>
          <p:cNvPr id="6" name="Text 2"/>
          <p:cNvSpPr txBox="1"/>
          <p:nvPr/>
        </p:nvSpPr>
        <p:spPr>
          <a:xfrm>
            <a:off x="548640" y="5961888"/>
            <a:ext cx="11091672" cy="274320"/>
          </a:xfrm>
          <a:prstGeom prst="rect">
            <a:avLst/>
          </a:prstGeom>
          <a:noFill/>
          <a:ln/>
        </p:spPr>
        <p:txBody>
          <a:bodyPr wrap="square" lIns="0" tIns="0" rIns="0" bIns="0" rtlCol="0" anchor="ctr"/>
          <a:lstStyle/>
          <a:p>
            <a:pPr algn="l" indent="0" marL="0">
              <a:buNone/>
            </a:pPr>
            <a:r>
              <a:rPr lang="en-US" sz="1200" dirty="0">
                <a:solidFill>
                  <a:schemeClr val="tx2"/>
                </a:solidFill>
              </a:rPr>
              <a:t>Bold = business object with its own key. Regular = attribute group held on its parent request, document or communication.</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WHAT IS INCLUDED  |  WHERE THE DEFINITIONS COME FROM</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Built on the rules that drive the work</a:t>
            </a:r>
            <a:endParaRPr lang="en-US" sz="3600" dirty="0"/>
          </a:p>
        </p:txBody>
      </p:sp>
      <p:graphicFrame>
        <p:nvGraphicFramePr>
          <p:cNvPr id="5" name="Chart 0" descr=""/>
          <p:cNvGraphicFramePr/>
          <p:nvPr/>
        </p:nvGraphicFramePr>
        <p:xfrm>
          <a:off x="548640" y="1783080"/>
          <a:ext cx="6400800" cy="4069080"/>
        </p:xfrm>
        <a:graphic xmlns:a="http://schemas.openxmlformats.org/drawingml/2006/main">
          <a:graphicData uri="http://schemas.openxmlformats.org/drawingml/2006/chart">
            <c:chart xmlns:c="http://schemas.openxmlformats.org/drawingml/2006/chart" r:id="rId1"/>
          </a:graphicData>
        </a:graphic>
      </p:graphicFrame>
      <p:sp>
        <p:nvSpPr>
          <p:cNvPr id="6" name="Text 2"/>
          <p:cNvSpPr txBox="1"/>
          <p:nvPr/>
        </p:nvSpPr>
        <p:spPr>
          <a:xfrm>
            <a:off x="548640" y="5870448"/>
            <a:ext cx="6400800" cy="411480"/>
          </a:xfrm>
          <a:prstGeom prst="rect">
            <a:avLst/>
          </a:prstGeom>
          <a:noFill/>
          <a:ln/>
        </p:spPr>
        <p:txBody>
          <a:bodyPr wrap="square" lIns="0" tIns="0" rIns="0" bIns="0" rtlCol="0" anchor="t"/>
          <a:lstStyle/>
          <a:p>
            <a:pPr algn="l" indent="0" marL="0">
              <a:buNone/>
            </a:pPr>
            <a:r>
              <a:rPr lang="en-US" sz="1100" dirty="0">
                <a:solidFill>
                  <a:schemeClr val="tx2"/>
                </a:solidFill>
              </a:rPr>
              <a:t>Internal = no authoritative external definition exists. UK and EU = HMRC, FCA, Dormant Assets Act and UCITS. Other = the 1940 Act and NYSE Rules 451 and 452.</a:t>
            </a:r>
            <a:endParaRPr lang="en-US" sz="1100" dirty="0"/>
          </a:p>
        </p:txBody>
      </p:sp>
      <p:sp>
        <p:nvSpPr>
          <p:cNvPr id="7" name="Shape 3"/>
          <p:cNvSpPr/>
          <p:nvPr/>
        </p:nvSpPr>
        <p:spPr>
          <a:xfrm>
            <a:off x="7315200" y="1783080"/>
            <a:ext cx="4325112" cy="1280160"/>
          </a:xfrm>
          <a:prstGeom prst="roundRect">
            <a:avLst>
              <a:gd name="adj" fmla="val 5714"/>
            </a:avLst>
          </a:prstGeom>
          <a:solidFill>
            <a:schemeClr val="bg2"/>
          </a:solidFill>
          <a:ln/>
        </p:spPr>
      </p:sp>
      <p:sp>
        <p:nvSpPr>
          <p:cNvPr id="8" name="Text 4"/>
          <p:cNvSpPr txBox="1"/>
          <p:nvPr/>
        </p:nvSpPr>
        <p:spPr>
          <a:xfrm>
            <a:off x="7543800" y="1892808"/>
            <a:ext cx="3867912" cy="548640"/>
          </a:xfrm>
          <a:prstGeom prst="rect">
            <a:avLst/>
          </a:prstGeom>
          <a:noFill/>
          <a:ln/>
        </p:spPr>
        <p:txBody>
          <a:bodyPr wrap="square" lIns="0" tIns="0" rIns="0" bIns="0" rtlCol="0" anchor="ctr"/>
          <a:lstStyle/>
          <a:p>
            <a:pPr algn="l" indent="0" marL="0">
              <a:buNone/>
            </a:pPr>
            <a:r>
              <a:rPr lang="en-US" sz="3200" b="1" dirty="0">
                <a:solidFill>
                  <a:schemeClr val="accent1"/>
                </a:solidFill>
              </a:rPr>
              <a:t>36%</a:t>
            </a:r>
            <a:endParaRPr lang="en-US" sz="3200" dirty="0"/>
          </a:p>
        </p:txBody>
      </p:sp>
      <p:sp>
        <p:nvSpPr>
          <p:cNvPr id="9" name="Text 5"/>
          <p:cNvSpPr txBox="1"/>
          <p:nvPr/>
        </p:nvSpPr>
        <p:spPr>
          <a:xfrm>
            <a:off x="7543800" y="2459736"/>
            <a:ext cx="3867912" cy="502920"/>
          </a:xfrm>
          <a:prstGeom prst="rect">
            <a:avLst/>
          </a:prstGeom>
          <a:noFill/>
          <a:ln/>
        </p:spPr>
        <p:txBody>
          <a:bodyPr wrap="square" lIns="0" tIns="0" rIns="0" bIns="0" rtlCol="0" anchor="t"/>
          <a:lstStyle/>
          <a:p>
            <a:pPr algn="l" indent="0" marL="0">
              <a:buNone/>
            </a:pPr>
            <a:r>
              <a:rPr lang="en-US" sz="1300" dirty="0">
                <a:solidFill>
                  <a:schemeClr val="tx1"/>
                </a:solidFill>
              </a:rPr>
              <a:t>of attributes (86 of 238) align to an external rule, regulation or standard</a:t>
            </a:r>
            <a:endParaRPr lang="en-US" sz="1300" dirty="0"/>
          </a:p>
        </p:txBody>
      </p:sp>
      <p:sp>
        <p:nvSpPr>
          <p:cNvPr id="10" name="Shape 6"/>
          <p:cNvSpPr/>
          <p:nvPr/>
        </p:nvSpPr>
        <p:spPr>
          <a:xfrm>
            <a:off x="7315200" y="3246120"/>
            <a:ext cx="4325112" cy="1280160"/>
          </a:xfrm>
          <a:prstGeom prst="roundRect">
            <a:avLst>
              <a:gd name="adj" fmla="val 5714"/>
            </a:avLst>
          </a:prstGeom>
          <a:solidFill>
            <a:schemeClr val="bg2"/>
          </a:solidFill>
          <a:ln/>
        </p:spPr>
      </p:sp>
      <p:sp>
        <p:nvSpPr>
          <p:cNvPr id="11" name="Text 7"/>
          <p:cNvSpPr txBox="1"/>
          <p:nvPr/>
        </p:nvSpPr>
        <p:spPr>
          <a:xfrm>
            <a:off x="7543800" y="3355848"/>
            <a:ext cx="3867912" cy="548640"/>
          </a:xfrm>
          <a:prstGeom prst="rect">
            <a:avLst/>
          </a:prstGeom>
          <a:noFill/>
          <a:ln/>
        </p:spPr>
        <p:txBody>
          <a:bodyPr wrap="square" lIns="0" tIns="0" rIns="0" bIns="0" rtlCol="0" anchor="ctr"/>
          <a:lstStyle/>
          <a:p>
            <a:pPr algn="l" indent="0" marL="0">
              <a:buNone/>
            </a:pPr>
            <a:r>
              <a:rPr lang="en-US" sz="3200" b="1" dirty="0">
                <a:solidFill>
                  <a:schemeClr val="accent1"/>
                </a:solidFill>
              </a:rPr>
              <a:t>69</a:t>
            </a:r>
            <a:endParaRPr lang="en-US" sz="3200" dirty="0"/>
          </a:p>
        </p:txBody>
      </p:sp>
      <p:sp>
        <p:nvSpPr>
          <p:cNvPr id="12" name="Text 8"/>
          <p:cNvSpPr txBox="1"/>
          <p:nvPr/>
        </p:nvSpPr>
        <p:spPr>
          <a:xfrm>
            <a:off x="7543800" y="3922776"/>
            <a:ext cx="3867912" cy="502920"/>
          </a:xfrm>
          <a:prstGeom prst="rect">
            <a:avLst/>
          </a:prstGeom>
          <a:noFill/>
          <a:ln/>
        </p:spPr>
        <p:txBody>
          <a:bodyPr wrap="square" lIns="0" tIns="0" rIns="0" bIns="0" rtlCol="0" anchor="t"/>
          <a:lstStyle/>
          <a:p>
            <a:pPr algn="l" indent="0" marL="0">
              <a:buNone/>
            </a:pPr>
            <a:r>
              <a:rPr lang="en-US" sz="1300" dirty="0">
                <a:solidFill>
                  <a:schemeClr val="tx1"/>
                </a:solidFill>
              </a:rPr>
              <a:t>attributes take their values from a controlled code list, not free text</a:t>
            </a:r>
            <a:endParaRPr lang="en-US" sz="1300" dirty="0"/>
          </a:p>
        </p:txBody>
      </p:sp>
      <p:sp>
        <p:nvSpPr>
          <p:cNvPr id="13" name="Shape 9"/>
          <p:cNvSpPr/>
          <p:nvPr/>
        </p:nvSpPr>
        <p:spPr>
          <a:xfrm>
            <a:off x="7315200" y="4709160"/>
            <a:ext cx="4325112" cy="1280160"/>
          </a:xfrm>
          <a:prstGeom prst="roundRect">
            <a:avLst>
              <a:gd name="adj" fmla="val 5714"/>
            </a:avLst>
          </a:prstGeom>
          <a:solidFill>
            <a:schemeClr val="bg2"/>
          </a:solidFill>
          <a:ln/>
        </p:spPr>
      </p:sp>
      <p:sp>
        <p:nvSpPr>
          <p:cNvPr id="14" name="Text 10"/>
          <p:cNvSpPr txBox="1"/>
          <p:nvPr/>
        </p:nvSpPr>
        <p:spPr>
          <a:xfrm>
            <a:off x="7543800" y="4818888"/>
            <a:ext cx="3867912" cy="548640"/>
          </a:xfrm>
          <a:prstGeom prst="rect">
            <a:avLst/>
          </a:prstGeom>
          <a:noFill/>
          <a:ln/>
        </p:spPr>
        <p:txBody>
          <a:bodyPr wrap="square" lIns="0" tIns="0" rIns="0" bIns="0" rtlCol="0" anchor="ctr"/>
          <a:lstStyle/>
          <a:p>
            <a:pPr algn="l" indent="0" marL="0">
              <a:buNone/>
            </a:pPr>
            <a:r>
              <a:rPr lang="en-US" sz="3200" b="1" dirty="0">
                <a:solidFill>
                  <a:schemeClr val="accent1"/>
                </a:solidFill>
              </a:rPr>
              <a:t>72</a:t>
            </a:r>
            <a:endParaRPr lang="en-US" sz="3200" dirty="0"/>
          </a:p>
        </p:txBody>
      </p:sp>
      <p:sp>
        <p:nvSpPr>
          <p:cNvPr id="15" name="Text 11"/>
          <p:cNvSpPr txBox="1"/>
          <p:nvPr/>
        </p:nvSpPr>
        <p:spPr>
          <a:xfrm>
            <a:off x="7543800" y="5385816"/>
            <a:ext cx="3867912" cy="502920"/>
          </a:xfrm>
          <a:prstGeom prst="rect">
            <a:avLst/>
          </a:prstGeom>
          <a:noFill/>
          <a:ln/>
        </p:spPr>
        <p:txBody>
          <a:bodyPr wrap="square" lIns="0" tIns="0" rIns="0" bIns="0" rtlCol="0" anchor="t"/>
          <a:lstStyle/>
          <a:p>
            <a:pPr algn="l" indent="0" marL="0">
              <a:buNone/>
            </a:pPr>
            <a:r>
              <a:rPr lang="en-US" sz="1300" dirty="0">
                <a:solidFill>
                  <a:schemeClr val="tx1"/>
                </a:solidFill>
              </a:rPr>
              <a:t>attributes are proposed critical data elements; 24 are flagged as personal data</a:t>
            </a:r>
            <a:endParaRPr lang="en-US" sz="13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WHAT IS EXCLUDED  |  SCOPE BOUNDARY</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Out of scope by design, and where it lives</a:t>
            </a:r>
            <a:endParaRPr lang="en-US" sz="36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11091672" cy="914400"/>
        </p:xfrm>
        <a:graphic>
          <a:graphicData uri="http://schemas.openxmlformats.org/drawingml/2006/table">
            <a:tbl>
              <a:tblPr/>
              <a:tblGrid>
                <a:gridCol w="3840480"/>
                <a:gridCol w="3566160"/>
                <a:gridCol w="3685032"/>
              </a:tblGrid>
              <a:tr h="365760">
                <a:tc>
                  <a:txBody>
                    <a:bodyPr/>
                    <a:lstStyle/>
                    <a:p>
                      <a:pPr indent="0" marL="0">
                        <a:buNone/>
                      </a:pPr>
                      <a:r>
                        <a:rPr lang="en-US" sz="1200" b="1" dirty="0">
                          <a:solidFill>
                            <a:schemeClr val="bg1"/>
                          </a:solidFill>
                        </a:rPr>
                        <a:t>Not in this domain</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Where it lives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What this domain keeps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r>
              <a:tr h="502920">
                <a:tc>
                  <a:txBody>
                    <a:bodyPr/>
                    <a:lstStyle/>
                    <a:p>
                      <a:pPr indent="0" marL="0">
                        <a:buNone/>
                      </a:pPr>
                      <a:r>
                        <a:rPr lang="en-US" sz="1200" b="1" dirty="0">
                          <a:solidFill>
                            <a:schemeClr val="tx1"/>
                          </a:solidFill>
                        </a:rPr>
                        <a:t>Parties, accounts, account roles and contact points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Client &amp; Customer</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References by ID. An address change request points to the contact point it updated</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02920">
                <a:tc>
                  <a:txBody>
                    <a:bodyPr/>
                    <a:lstStyle/>
                    <a:p>
                      <a:pPr indent="0" marL="0">
                        <a:buNone/>
                      </a:pPr>
                      <a:r>
                        <a:rPr lang="en-US" sz="1200" b="1" dirty="0">
                          <a:solidFill>
                            <a:schemeClr val="tx1"/>
                          </a:solidFill>
                        </a:rPr>
                        <a:t>Product documents, share classes and lifecycle events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Investment Product</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The delivery of the document or notice: audience, deadline and proof of delivery</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02920">
                <a:tc>
                  <a:txBody>
                    <a:bodyPr/>
                    <a:lstStyle/>
                    <a:p>
                      <a:pPr indent="0" marL="0">
                        <a:buNone/>
                      </a:pPr>
                      <a:r>
                        <a:rPr lang="en-US" sz="1200" b="1" dirty="0">
                          <a:solidFill>
                            <a:schemeClr val="tx1"/>
                          </a:solidFill>
                        </a:rPr>
                        <a:t>Transactions, positions and correction trades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Sales Transactions &amp; AUM Attribution</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Standing instructions, and references to the transactions a request or error produced</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02920">
                <a:tc>
                  <a:txBody>
                    <a:bodyPr/>
                    <a:lstStyle/>
                    <a:p>
                      <a:pPr indent="0" marL="0">
                        <a:buNone/>
                      </a:pPr>
                      <a:r>
                        <a:rPr lang="en-US" sz="1200" b="1" dirty="0">
                          <a:solidFill>
                            <a:schemeClr val="tx1"/>
                          </a:solidFill>
                        </a:rPr>
                        <a:t>Complaints, marketing approval and records retention</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Distribution Compliance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A dissatisfaction indicator and a reference to the complaint that was raised</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02920">
                <a:tc>
                  <a:txBody>
                    <a:bodyPr/>
                    <a:lstStyle/>
                    <a:p>
                      <a:pPr indent="0" marL="0">
                        <a:buNone/>
                      </a:pPr>
                      <a:r>
                        <a:rPr lang="en-US" sz="1200" b="1" dirty="0">
                          <a:solidFill>
                            <a:schemeClr val="tx1"/>
                          </a:solidFill>
                        </a:rPr>
                        <a:t>Sub-TA, networking and other contractual payments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Distribution Agreements &amp; Partners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Invoices for beneficial-owner distribution fees, with a reference to any agreed rate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02920">
                <a:tc>
                  <a:txBody>
                    <a:bodyPr/>
                    <a:lstStyle/>
                    <a:p>
                      <a:pPr indent="0" marL="0">
                        <a:buNone/>
                      </a:pPr>
                      <a:r>
                        <a:rPr lang="en-US" sz="1200" b="1" dirty="0">
                          <a:solidFill>
                            <a:schemeClr val="tx1"/>
                          </a:solidFill>
                        </a:rPr>
                        <a:t>Accounting for servicing costs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Distribution Finance &amp; Profitability</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Nothing. Fee invoices are captured here; the accounting is done there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02920">
                <a:tc>
                  <a:txBody>
                    <a:bodyPr/>
                    <a:lstStyle/>
                    <a:p>
                      <a:pPr indent="0" marL="0">
                        <a:buNone/>
                      </a:pPr>
                      <a:r>
                        <a:rPr lang="en-US" sz="1200" b="1" dirty="0">
                          <a:solidFill>
                            <a:schemeClr val="tx1"/>
                          </a:solidFill>
                        </a:rPr>
                        <a:t>Institutional client reporting and service requests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Institutional Client Servicing &amp; Reporting</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Service requests of fund shareholders only</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02920">
                <a:tc>
                  <a:txBody>
                    <a:bodyPr/>
                    <a:lstStyle/>
                    <a:p>
                      <a:pPr indent="0" marL="0">
                        <a:buNone/>
                      </a:pPr>
                      <a:r>
                        <a:rPr lang="en-US" sz="1200" b="1" dirty="0">
                          <a:solidFill>
                            <a:schemeClr val="tx1"/>
                          </a:solidFill>
                        </a:rPr>
                        <a:t>Marketing preferences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Marketing &amp; Digital</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E-delivery and householding elections, as delivery instructions under SEC rules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WHAT IS EXCLUDED  |  REFERENCED, NOT MASTERED</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197 attributes mastered, 41 borrowed</a:t>
            </a:r>
            <a:endParaRPr lang="en-US" sz="3600" dirty="0"/>
          </a:p>
        </p:txBody>
      </p:sp>
      <p:sp>
        <p:nvSpPr>
          <p:cNvPr id="5" name="Shape 2"/>
          <p:cNvSpPr/>
          <p:nvPr/>
        </p:nvSpPr>
        <p:spPr>
          <a:xfrm>
            <a:off x="548640" y="1783080"/>
            <a:ext cx="3291840" cy="3730752"/>
          </a:xfrm>
          <a:prstGeom prst="roundRect">
            <a:avLst>
              <a:gd name="adj" fmla="val 2222"/>
            </a:avLst>
          </a:prstGeom>
          <a:solidFill>
            <a:schemeClr val="tx1"/>
          </a:solidFill>
          <a:ln/>
        </p:spPr>
      </p:sp>
      <p:sp>
        <p:nvSpPr>
          <p:cNvPr id="6" name="Text 3"/>
          <p:cNvSpPr txBox="1"/>
          <p:nvPr/>
        </p:nvSpPr>
        <p:spPr>
          <a:xfrm>
            <a:off x="822960" y="2057400"/>
            <a:ext cx="2743200" cy="868680"/>
          </a:xfrm>
          <a:prstGeom prst="rect">
            <a:avLst/>
          </a:prstGeom>
          <a:noFill/>
          <a:ln/>
        </p:spPr>
        <p:txBody>
          <a:bodyPr wrap="square" lIns="0" tIns="0" rIns="0" bIns="0" rtlCol="0" anchor="ctr"/>
          <a:lstStyle/>
          <a:p>
            <a:pPr algn="l" indent="0" marL="0">
              <a:buNone/>
            </a:pPr>
            <a:r>
              <a:rPr lang="en-US" sz="6000" b="1" dirty="0">
                <a:solidFill>
                  <a:schemeClr val="accent6"/>
                </a:solidFill>
              </a:rPr>
              <a:t>197</a:t>
            </a:r>
            <a:endParaRPr lang="en-US" sz="6000" dirty="0"/>
          </a:p>
        </p:txBody>
      </p:sp>
      <p:sp>
        <p:nvSpPr>
          <p:cNvPr id="7" name="Text 4"/>
          <p:cNvSpPr txBox="1"/>
          <p:nvPr/>
        </p:nvSpPr>
        <p:spPr>
          <a:xfrm>
            <a:off x="822960" y="2971800"/>
            <a:ext cx="2743200" cy="548640"/>
          </a:xfrm>
          <a:prstGeom prst="rect">
            <a:avLst/>
          </a:prstGeom>
          <a:noFill/>
          <a:ln/>
        </p:spPr>
        <p:txBody>
          <a:bodyPr wrap="square" lIns="0" tIns="0" rIns="0" bIns="0" rtlCol="0" anchor="t"/>
          <a:lstStyle/>
          <a:p>
            <a:pPr algn="l" indent="0" marL="0">
              <a:buNone/>
            </a:pPr>
            <a:r>
              <a:rPr lang="en-US" sz="1400" dirty="0">
                <a:solidFill>
                  <a:schemeClr val="bg1"/>
                </a:solidFill>
              </a:rPr>
              <a:t>of 238 attributes are mastered in this domain</a:t>
            </a:r>
            <a:endParaRPr lang="en-US" sz="1400" dirty="0"/>
          </a:p>
        </p:txBody>
      </p:sp>
      <p:sp>
        <p:nvSpPr>
          <p:cNvPr id="8" name="Text 5"/>
          <p:cNvSpPr txBox="1"/>
          <p:nvPr/>
        </p:nvSpPr>
        <p:spPr>
          <a:xfrm>
            <a:off x="822960" y="3840480"/>
            <a:ext cx="2743200" cy="292608"/>
          </a:xfrm>
          <a:prstGeom prst="rect">
            <a:avLst/>
          </a:prstGeom>
          <a:noFill/>
          <a:ln/>
        </p:spPr>
        <p:txBody>
          <a:bodyPr wrap="square" lIns="0" tIns="0" rIns="0" bIns="0" rtlCol="0" anchor="ctr"/>
          <a:lstStyle/>
          <a:p>
            <a:pPr algn="l" indent="0" marL="0">
              <a:buNone/>
            </a:pPr>
            <a:r>
              <a:rPr lang="en-US" sz="1600" b="1" dirty="0">
                <a:solidFill>
                  <a:schemeClr val="bg1"/>
                </a:solidFill>
              </a:rPr>
              <a:t>35 references</a:t>
            </a:r>
            <a:endParaRPr lang="en-US" sz="1600" dirty="0"/>
          </a:p>
        </p:txBody>
      </p:sp>
      <p:sp>
        <p:nvSpPr>
          <p:cNvPr id="9" name="Text 6"/>
          <p:cNvSpPr txBox="1"/>
          <p:nvPr/>
        </p:nvSpPr>
        <p:spPr>
          <a:xfrm>
            <a:off x="822960" y="4133088"/>
            <a:ext cx="2743200" cy="411480"/>
          </a:xfrm>
          <a:prstGeom prst="rect">
            <a:avLst/>
          </a:prstGeom>
          <a:noFill/>
          <a:ln/>
        </p:spPr>
        <p:txBody>
          <a:bodyPr wrap="square" lIns="0" tIns="0" rIns="0" bIns="0" rtlCol="0" anchor="t"/>
          <a:lstStyle/>
          <a:p>
            <a:pPr algn="l" indent="0" marL="0">
              <a:buNone/>
            </a:pPr>
            <a:r>
              <a:rPr lang="en-US" sz="1200" dirty="0">
                <a:solidFill>
                  <a:schemeClr val="bg1"/>
                </a:solidFill>
              </a:rPr>
              <a:t>Hold only the ID of a record another domain masters</a:t>
            </a:r>
            <a:endParaRPr lang="en-US" sz="1200" dirty="0"/>
          </a:p>
        </p:txBody>
      </p:sp>
      <p:sp>
        <p:nvSpPr>
          <p:cNvPr id="10" name="Text 7"/>
          <p:cNvSpPr txBox="1"/>
          <p:nvPr/>
        </p:nvSpPr>
        <p:spPr>
          <a:xfrm>
            <a:off x="822960" y="4636008"/>
            <a:ext cx="2743200" cy="292608"/>
          </a:xfrm>
          <a:prstGeom prst="rect">
            <a:avLst/>
          </a:prstGeom>
          <a:noFill/>
          <a:ln/>
        </p:spPr>
        <p:txBody>
          <a:bodyPr wrap="square" lIns="0" tIns="0" rIns="0" bIns="0" rtlCol="0" anchor="ctr"/>
          <a:lstStyle/>
          <a:p>
            <a:pPr algn="l" indent="0" marL="0">
              <a:buNone/>
            </a:pPr>
            <a:r>
              <a:rPr lang="en-US" sz="1600" b="1" dirty="0">
                <a:solidFill>
                  <a:schemeClr val="bg1"/>
                </a:solidFill>
              </a:rPr>
              <a:t>6 derived copies</a:t>
            </a:r>
            <a:endParaRPr lang="en-US" sz="1600" dirty="0"/>
          </a:p>
        </p:txBody>
      </p:sp>
      <p:sp>
        <p:nvSpPr>
          <p:cNvPr id="11" name="Text 8"/>
          <p:cNvSpPr txBox="1"/>
          <p:nvPr/>
        </p:nvSpPr>
        <p:spPr>
          <a:xfrm>
            <a:off x="822960" y="4928616"/>
            <a:ext cx="2743200" cy="411480"/>
          </a:xfrm>
          <a:prstGeom prst="rect">
            <a:avLst/>
          </a:prstGeom>
          <a:noFill/>
          <a:ln/>
        </p:spPr>
        <p:txBody>
          <a:bodyPr wrap="square" lIns="0" tIns="0" rIns="0" bIns="0" rtlCol="0" anchor="t"/>
          <a:lstStyle/>
          <a:p>
            <a:pPr algn="l" indent="0" marL="0">
              <a:buNone/>
            </a:pPr>
            <a:r>
              <a:rPr lang="en-US" sz="1200" dirty="0">
                <a:solidFill>
                  <a:schemeClr val="bg1"/>
                </a:solidFill>
              </a:rPr>
              <a:t>Display only; never edited here</a:t>
            </a:r>
            <a:endParaRPr lang="en-US" sz="1200" dirty="0"/>
          </a:p>
        </p:txBody>
      </p:sp>
      <p:sp>
        <p:nvSpPr>
          <p:cNvPr id="12" name="Shape 9"/>
          <p:cNvSpPr/>
          <p:nvPr/>
        </p:nvSpPr>
        <p:spPr>
          <a:xfrm>
            <a:off x="4114800" y="1783080"/>
            <a:ext cx="7525512" cy="658368"/>
          </a:xfrm>
          <a:prstGeom prst="roundRect">
            <a:avLst>
              <a:gd name="adj" fmla="val 11111"/>
            </a:avLst>
          </a:prstGeom>
          <a:solidFill>
            <a:schemeClr val="bg2"/>
          </a:solidFill>
          <a:ln/>
        </p:spPr>
      </p:sp>
      <p:sp>
        <p:nvSpPr>
          <p:cNvPr id="13" name="Text 10"/>
          <p:cNvSpPr txBox="1"/>
          <p:nvPr/>
        </p:nvSpPr>
        <p:spPr>
          <a:xfrm>
            <a:off x="4343400" y="1783080"/>
            <a:ext cx="2697480" cy="658368"/>
          </a:xfrm>
          <a:prstGeom prst="rect">
            <a:avLst/>
          </a:prstGeom>
          <a:noFill/>
          <a:ln/>
        </p:spPr>
        <p:txBody>
          <a:bodyPr wrap="square" lIns="0" tIns="0" rIns="0" bIns="0" rtlCol="0" anchor="ctr"/>
          <a:lstStyle/>
          <a:p>
            <a:pPr algn="l" indent="0" marL="0">
              <a:buNone/>
            </a:pPr>
            <a:r>
              <a:rPr lang="en-US" sz="1200" b="1" dirty="0">
                <a:solidFill>
                  <a:schemeClr val="tx1"/>
                </a:solidFill>
              </a:rPr>
              <a:t>Client &amp; Customer</a:t>
            </a:r>
            <a:endParaRPr lang="en-US" sz="1200" dirty="0"/>
          </a:p>
        </p:txBody>
      </p:sp>
      <p:sp>
        <p:nvSpPr>
          <p:cNvPr id="14" name="Text 11"/>
          <p:cNvSpPr txBox="1"/>
          <p:nvPr/>
        </p:nvSpPr>
        <p:spPr>
          <a:xfrm>
            <a:off x="7132320" y="1783080"/>
            <a:ext cx="1234440" cy="658368"/>
          </a:xfrm>
          <a:prstGeom prst="rect">
            <a:avLst/>
          </a:prstGeom>
          <a:noFill/>
          <a:ln/>
        </p:spPr>
        <p:txBody>
          <a:bodyPr wrap="square" lIns="0" tIns="0" rIns="0" bIns="0" rtlCol="0" anchor="ctr"/>
          <a:lstStyle/>
          <a:p>
            <a:pPr algn="l" indent="0" marL="0">
              <a:buNone/>
            </a:pPr>
            <a:r>
              <a:rPr lang="en-US" sz="1200" b="1" dirty="0">
                <a:solidFill>
                  <a:schemeClr val="accent1"/>
                </a:solidFill>
              </a:rPr>
              <a:t>25 references, 3 copies</a:t>
            </a:r>
            <a:endParaRPr lang="en-US" sz="1200" dirty="0"/>
          </a:p>
        </p:txBody>
      </p:sp>
      <p:sp>
        <p:nvSpPr>
          <p:cNvPr id="15" name="Text 12"/>
          <p:cNvSpPr txBox="1"/>
          <p:nvPr/>
        </p:nvSpPr>
        <p:spPr>
          <a:xfrm>
            <a:off x="8458200" y="1783080"/>
            <a:ext cx="3063240" cy="658368"/>
          </a:xfrm>
          <a:prstGeom prst="rect">
            <a:avLst/>
          </a:prstGeom>
          <a:noFill/>
          <a:ln/>
        </p:spPr>
        <p:txBody>
          <a:bodyPr wrap="square" lIns="0" tIns="0" rIns="0" bIns="0" rtlCol="0" anchor="ctr"/>
          <a:lstStyle/>
          <a:p>
            <a:pPr algn="l" indent="0" marL="0">
              <a:buNone/>
            </a:pPr>
            <a:r>
              <a:rPr lang="en-US" sz="1100" dirty="0">
                <a:solidFill>
                  <a:schemeClr val="tx1"/>
                </a:solidFill>
              </a:rPr>
              <a:t>Accounts, requesting and receiving parties, servicing providers and intermediaries; a masked TIN copy</a:t>
            </a:r>
            <a:endParaRPr lang="en-US" sz="1100" dirty="0"/>
          </a:p>
        </p:txBody>
      </p:sp>
      <p:sp>
        <p:nvSpPr>
          <p:cNvPr id="16" name="Shape 13"/>
          <p:cNvSpPr/>
          <p:nvPr/>
        </p:nvSpPr>
        <p:spPr>
          <a:xfrm>
            <a:off x="4114800" y="2551176"/>
            <a:ext cx="7525512" cy="658368"/>
          </a:xfrm>
          <a:prstGeom prst="roundRect">
            <a:avLst>
              <a:gd name="adj" fmla="val 11111"/>
            </a:avLst>
          </a:prstGeom>
          <a:solidFill>
            <a:schemeClr val="bg2"/>
          </a:solidFill>
          <a:ln/>
        </p:spPr>
      </p:sp>
      <p:sp>
        <p:nvSpPr>
          <p:cNvPr id="17" name="Text 14"/>
          <p:cNvSpPr txBox="1"/>
          <p:nvPr/>
        </p:nvSpPr>
        <p:spPr>
          <a:xfrm>
            <a:off x="4343400" y="2551176"/>
            <a:ext cx="2697480" cy="658368"/>
          </a:xfrm>
          <a:prstGeom prst="rect">
            <a:avLst/>
          </a:prstGeom>
          <a:noFill/>
          <a:ln/>
        </p:spPr>
        <p:txBody>
          <a:bodyPr wrap="square" lIns="0" tIns="0" rIns="0" bIns="0" rtlCol="0" anchor="ctr"/>
          <a:lstStyle/>
          <a:p>
            <a:pPr algn="l" indent="0" marL="0">
              <a:buNone/>
            </a:pPr>
            <a:r>
              <a:rPr lang="en-US" sz="1200" b="1" dirty="0">
                <a:solidFill>
                  <a:schemeClr val="tx1"/>
                </a:solidFill>
              </a:rPr>
              <a:t>Investment Product</a:t>
            </a:r>
            <a:endParaRPr lang="en-US" sz="1200" dirty="0"/>
          </a:p>
        </p:txBody>
      </p:sp>
      <p:sp>
        <p:nvSpPr>
          <p:cNvPr id="18" name="Text 15"/>
          <p:cNvSpPr txBox="1"/>
          <p:nvPr/>
        </p:nvSpPr>
        <p:spPr>
          <a:xfrm>
            <a:off x="7132320" y="2551176"/>
            <a:ext cx="1234440" cy="658368"/>
          </a:xfrm>
          <a:prstGeom prst="rect">
            <a:avLst/>
          </a:prstGeom>
          <a:noFill/>
          <a:ln/>
        </p:spPr>
        <p:txBody>
          <a:bodyPr wrap="square" lIns="0" tIns="0" rIns="0" bIns="0" rtlCol="0" anchor="ctr"/>
          <a:lstStyle/>
          <a:p>
            <a:pPr algn="l" indent="0" marL="0">
              <a:buNone/>
            </a:pPr>
            <a:r>
              <a:rPr lang="en-US" sz="1200" b="1" dirty="0">
                <a:solidFill>
                  <a:schemeClr val="accent1"/>
                </a:solidFill>
              </a:rPr>
              <a:t>5 references, 2 copies</a:t>
            </a:r>
            <a:endParaRPr lang="en-US" sz="1200" dirty="0"/>
          </a:p>
        </p:txBody>
      </p:sp>
      <p:sp>
        <p:nvSpPr>
          <p:cNvPr id="19" name="Text 16"/>
          <p:cNvSpPr txBox="1"/>
          <p:nvPr/>
        </p:nvSpPr>
        <p:spPr>
          <a:xfrm>
            <a:off x="8458200" y="2551176"/>
            <a:ext cx="3063240" cy="658368"/>
          </a:xfrm>
          <a:prstGeom prst="rect">
            <a:avLst/>
          </a:prstGeom>
          <a:noFill/>
          <a:ln/>
        </p:spPr>
        <p:txBody>
          <a:bodyPr wrap="square" lIns="0" tIns="0" rIns="0" bIns="0" rtlCol="0" anchor="ctr"/>
          <a:lstStyle/>
          <a:p>
            <a:pPr algn="l" indent="0" marL="0">
              <a:buNone/>
            </a:pPr>
            <a:r>
              <a:rPr lang="en-US" sz="1100" dirty="0">
                <a:solidFill>
                  <a:schemeClr val="tx1"/>
                </a:solidFill>
              </a:rPr>
              <a:t>Payer fund, covered share classes, source product document, triggering lifecycle event; two tax figures</a:t>
            </a:r>
            <a:endParaRPr lang="en-US" sz="1100" dirty="0"/>
          </a:p>
        </p:txBody>
      </p:sp>
      <p:sp>
        <p:nvSpPr>
          <p:cNvPr id="20" name="Shape 17"/>
          <p:cNvSpPr/>
          <p:nvPr/>
        </p:nvSpPr>
        <p:spPr>
          <a:xfrm>
            <a:off x="4114800" y="3319272"/>
            <a:ext cx="7525512" cy="658368"/>
          </a:xfrm>
          <a:prstGeom prst="roundRect">
            <a:avLst>
              <a:gd name="adj" fmla="val 11111"/>
            </a:avLst>
          </a:prstGeom>
          <a:solidFill>
            <a:schemeClr val="bg2"/>
          </a:solidFill>
          <a:ln/>
        </p:spPr>
      </p:sp>
      <p:sp>
        <p:nvSpPr>
          <p:cNvPr id="21" name="Text 18"/>
          <p:cNvSpPr txBox="1"/>
          <p:nvPr/>
        </p:nvSpPr>
        <p:spPr>
          <a:xfrm>
            <a:off x="4343400" y="3319272"/>
            <a:ext cx="2697480" cy="658368"/>
          </a:xfrm>
          <a:prstGeom prst="rect">
            <a:avLst/>
          </a:prstGeom>
          <a:noFill/>
          <a:ln/>
        </p:spPr>
        <p:txBody>
          <a:bodyPr wrap="square" lIns="0" tIns="0" rIns="0" bIns="0" rtlCol="0" anchor="ctr"/>
          <a:lstStyle/>
          <a:p>
            <a:pPr algn="l" indent="0" marL="0">
              <a:buNone/>
            </a:pPr>
            <a:r>
              <a:rPr lang="en-US" sz="1200" b="1" dirty="0">
                <a:solidFill>
                  <a:schemeClr val="tx1"/>
                </a:solidFill>
              </a:rPr>
              <a:t>Sales Transactions &amp; AUM Attribution</a:t>
            </a:r>
            <a:endParaRPr lang="en-US" sz="1200" dirty="0"/>
          </a:p>
        </p:txBody>
      </p:sp>
      <p:sp>
        <p:nvSpPr>
          <p:cNvPr id="22" name="Text 19"/>
          <p:cNvSpPr txBox="1"/>
          <p:nvPr/>
        </p:nvSpPr>
        <p:spPr>
          <a:xfrm>
            <a:off x="7132320" y="3319272"/>
            <a:ext cx="1234440" cy="658368"/>
          </a:xfrm>
          <a:prstGeom prst="rect">
            <a:avLst/>
          </a:prstGeom>
          <a:noFill/>
          <a:ln/>
        </p:spPr>
        <p:txBody>
          <a:bodyPr wrap="square" lIns="0" tIns="0" rIns="0" bIns="0" rtlCol="0" anchor="ctr"/>
          <a:lstStyle/>
          <a:p>
            <a:pPr algn="l" indent="0" marL="0">
              <a:buNone/>
            </a:pPr>
            <a:r>
              <a:rPr lang="en-US" sz="1200" b="1" dirty="0">
                <a:solidFill>
                  <a:schemeClr val="accent1"/>
                </a:solidFill>
              </a:rPr>
              <a:t>3 references, 1 copy</a:t>
            </a:r>
            <a:endParaRPr lang="en-US" sz="1200" dirty="0"/>
          </a:p>
        </p:txBody>
      </p:sp>
      <p:sp>
        <p:nvSpPr>
          <p:cNvPr id="23" name="Text 20"/>
          <p:cNvSpPr txBox="1"/>
          <p:nvPr/>
        </p:nvSpPr>
        <p:spPr>
          <a:xfrm>
            <a:off x="8458200" y="3319272"/>
            <a:ext cx="3063240" cy="658368"/>
          </a:xfrm>
          <a:prstGeom prst="rect">
            <a:avLst/>
          </a:prstGeom>
          <a:noFill/>
          <a:ln/>
        </p:spPr>
        <p:txBody>
          <a:bodyPr wrap="square" lIns="0" tIns="0" rIns="0" bIns="0" rtlCol="0" anchor="ctr"/>
          <a:lstStyle/>
          <a:p>
            <a:pPr algn="l" indent="0" marL="0">
              <a:buNone/>
            </a:pPr>
            <a:r>
              <a:rPr lang="en-US" sz="1100" dirty="0">
                <a:solidFill>
                  <a:schemeClr val="tx1"/>
                </a:solidFill>
              </a:rPr>
              <a:t>Resulting, confirmed and correction transactions; shares outstanding at the proxy record date</a:t>
            </a:r>
            <a:endParaRPr lang="en-US" sz="1100" dirty="0"/>
          </a:p>
        </p:txBody>
      </p:sp>
      <p:sp>
        <p:nvSpPr>
          <p:cNvPr id="24" name="Shape 21"/>
          <p:cNvSpPr/>
          <p:nvPr/>
        </p:nvSpPr>
        <p:spPr>
          <a:xfrm>
            <a:off x="4114800" y="4087368"/>
            <a:ext cx="7525512" cy="658368"/>
          </a:xfrm>
          <a:prstGeom prst="roundRect">
            <a:avLst>
              <a:gd name="adj" fmla="val 11111"/>
            </a:avLst>
          </a:prstGeom>
          <a:solidFill>
            <a:schemeClr val="bg2"/>
          </a:solidFill>
          <a:ln/>
        </p:spPr>
      </p:sp>
      <p:sp>
        <p:nvSpPr>
          <p:cNvPr id="25" name="Text 22"/>
          <p:cNvSpPr txBox="1"/>
          <p:nvPr/>
        </p:nvSpPr>
        <p:spPr>
          <a:xfrm>
            <a:off x="4343400" y="4087368"/>
            <a:ext cx="2697480" cy="658368"/>
          </a:xfrm>
          <a:prstGeom prst="rect">
            <a:avLst/>
          </a:prstGeom>
          <a:noFill/>
          <a:ln/>
        </p:spPr>
        <p:txBody>
          <a:bodyPr wrap="square" lIns="0" tIns="0" rIns="0" bIns="0" rtlCol="0" anchor="ctr"/>
          <a:lstStyle/>
          <a:p>
            <a:pPr algn="l" indent="0" marL="0">
              <a:buNone/>
            </a:pPr>
            <a:r>
              <a:rPr lang="en-US" sz="1200" b="1" dirty="0">
                <a:solidFill>
                  <a:schemeClr val="tx1"/>
                </a:solidFill>
              </a:rPr>
              <a:t>Distribution Compliance</a:t>
            </a:r>
            <a:endParaRPr lang="en-US" sz="1200" dirty="0"/>
          </a:p>
        </p:txBody>
      </p:sp>
      <p:sp>
        <p:nvSpPr>
          <p:cNvPr id="26" name="Text 23"/>
          <p:cNvSpPr txBox="1"/>
          <p:nvPr/>
        </p:nvSpPr>
        <p:spPr>
          <a:xfrm>
            <a:off x="7132320" y="4087368"/>
            <a:ext cx="1234440" cy="658368"/>
          </a:xfrm>
          <a:prstGeom prst="rect">
            <a:avLst/>
          </a:prstGeom>
          <a:noFill/>
          <a:ln/>
        </p:spPr>
        <p:txBody>
          <a:bodyPr wrap="square" lIns="0" tIns="0" rIns="0" bIns="0" rtlCol="0" anchor="ctr"/>
          <a:lstStyle/>
          <a:p>
            <a:pPr algn="l" indent="0" marL="0">
              <a:buNone/>
            </a:pPr>
            <a:r>
              <a:rPr lang="en-US" sz="1200" b="1" dirty="0">
                <a:solidFill>
                  <a:schemeClr val="accent1"/>
                </a:solidFill>
              </a:rPr>
              <a:t>1 reference</a:t>
            </a:r>
            <a:endParaRPr lang="en-US" sz="1200" dirty="0"/>
          </a:p>
        </p:txBody>
      </p:sp>
      <p:sp>
        <p:nvSpPr>
          <p:cNvPr id="27" name="Text 24"/>
          <p:cNvSpPr txBox="1"/>
          <p:nvPr/>
        </p:nvSpPr>
        <p:spPr>
          <a:xfrm>
            <a:off x="8458200" y="4087368"/>
            <a:ext cx="3063240" cy="658368"/>
          </a:xfrm>
          <a:prstGeom prst="rect">
            <a:avLst/>
          </a:prstGeom>
          <a:noFill/>
          <a:ln/>
        </p:spPr>
        <p:txBody>
          <a:bodyPr wrap="square" lIns="0" tIns="0" rIns="0" bIns="0" rtlCol="0" anchor="ctr"/>
          <a:lstStyle/>
          <a:p>
            <a:pPr algn="l" indent="0" marL="0">
              <a:buNone/>
            </a:pPr>
            <a:r>
              <a:rPr lang="en-US" sz="1100" dirty="0">
                <a:solidFill>
                  <a:schemeClr val="tx1"/>
                </a:solidFill>
              </a:rPr>
              <a:t>The complaint raised when a requester expresses dissatisfaction</a:t>
            </a:r>
            <a:endParaRPr lang="en-US" sz="1100" dirty="0"/>
          </a:p>
        </p:txBody>
      </p:sp>
      <p:sp>
        <p:nvSpPr>
          <p:cNvPr id="28" name="Shape 25"/>
          <p:cNvSpPr/>
          <p:nvPr/>
        </p:nvSpPr>
        <p:spPr>
          <a:xfrm>
            <a:off x="4114800" y="4855464"/>
            <a:ext cx="7525512" cy="658368"/>
          </a:xfrm>
          <a:prstGeom prst="roundRect">
            <a:avLst>
              <a:gd name="adj" fmla="val 11111"/>
            </a:avLst>
          </a:prstGeom>
          <a:solidFill>
            <a:schemeClr val="bg2"/>
          </a:solidFill>
          <a:ln/>
        </p:spPr>
      </p:sp>
      <p:sp>
        <p:nvSpPr>
          <p:cNvPr id="29" name="Text 26"/>
          <p:cNvSpPr txBox="1"/>
          <p:nvPr/>
        </p:nvSpPr>
        <p:spPr>
          <a:xfrm>
            <a:off x="4343400" y="4855464"/>
            <a:ext cx="2697480" cy="658368"/>
          </a:xfrm>
          <a:prstGeom prst="rect">
            <a:avLst/>
          </a:prstGeom>
          <a:noFill/>
          <a:ln/>
        </p:spPr>
        <p:txBody>
          <a:bodyPr wrap="square" lIns="0" tIns="0" rIns="0" bIns="0" rtlCol="0" anchor="ctr"/>
          <a:lstStyle/>
          <a:p>
            <a:pPr algn="l" indent="0" marL="0">
              <a:buNone/>
            </a:pPr>
            <a:r>
              <a:rPr lang="en-US" sz="1200" b="1" dirty="0">
                <a:solidFill>
                  <a:schemeClr val="tx1"/>
                </a:solidFill>
              </a:rPr>
              <a:t>Distribution Agreements &amp; Partners</a:t>
            </a:r>
            <a:endParaRPr lang="en-US" sz="1200" dirty="0"/>
          </a:p>
        </p:txBody>
      </p:sp>
      <p:sp>
        <p:nvSpPr>
          <p:cNvPr id="30" name="Text 27"/>
          <p:cNvSpPr txBox="1"/>
          <p:nvPr/>
        </p:nvSpPr>
        <p:spPr>
          <a:xfrm>
            <a:off x="7132320" y="4855464"/>
            <a:ext cx="1234440" cy="658368"/>
          </a:xfrm>
          <a:prstGeom prst="rect">
            <a:avLst/>
          </a:prstGeom>
          <a:noFill/>
          <a:ln/>
        </p:spPr>
        <p:txBody>
          <a:bodyPr wrap="square" lIns="0" tIns="0" rIns="0" bIns="0" rtlCol="0" anchor="ctr"/>
          <a:lstStyle/>
          <a:p>
            <a:pPr algn="l" indent="0" marL="0">
              <a:buNone/>
            </a:pPr>
            <a:r>
              <a:rPr lang="en-US" sz="1200" b="1" dirty="0">
                <a:solidFill>
                  <a:schemeClr val="accent1"/>
                </a:solidFill>
              </a:rPr>
              <a:t>1 reference</a:t>
            </a:r>
            <a:endParaRPr lang="en-US" sz="1200" dirty="0"/>
          </a:p>
        </p:txBody>
      </p:sp>
      <p:sp>
        <p:nvSpPr>
          <p:cNvPr id="31" name="Text 28"/>
          <p:cNvSpPr txBox="1"/>
          <p:nvPr/>
        </p:nvSpPr>
        <p:spPr>
          <a:xfrm>
            <a:off x="8458200" y="4855464"/>
            <a:ext cx="3063240" cy="658368"/>
          </a:xfrm>
          <a:prstGeom prst="rect">
            <a:avLst/>
          </a:prstGeom>
          <a:noFill/>
          <a:ln/>
        </p:spPr>
        <p:txBody>
          <a:bodyPr wrap="square" lIns="0" tIns="0" rIns="0" bIns="0" rtlCol="0" anchor="ctr"/>
          <a:lstStyle/>
          <a:p>
            <a:pPr algn="l" indent="0" marL="0">
              <a:buNone/>
            </a:pPr>
            <a:r>
              <a:rPr lang="en-US" sz="1100" dirty="0">
                <a:solidFill>
                  <a:schemeClr val="tx1"/>
                </a:solidFill>
              </a:rPr>
              <a:t>The agreement under which a negotiated communication fee rate applies</a:t>
            </a:r>
            <a:endParaRPr lang="en-US" sz="1100" dirty="0"/>
          </a:p>
        </p:txBody>
      </p:sp>
      <p:sp>
        <p:nvSpPr>
          <p:cNvPr id="32" name="Shape 29"/>
          <p:cNvSpPr/>
          <p:nvPr/>
        </p:nvSpPr>
        <p:spPr>
          <a:xfrm>
            <a:off x="548640" y="5687568"/>
            <a:ext cx="11091672" cy="530352"/>
          </a:xfrm>
          <a:prstGeom prst="roundRect">
            <a:avLst>
              <a:gd name="adj" fmla="val 13793"/>
            </a:avLst>
          </a:prstGeom>
          <a:solidFill>
            <a:schemeClr val="bg2"/>
          </a:solidFill>
          <a:ln/>
        </p:spPr>
      </p:sp>
      <p:sp>
        <p:nvSpPr>
          <p:cNvPr id="33" name="Text 30"/>
          <p:cNvSpPr txBox="1"/>
          <p:nvPr/>
        </p:nvSpPr>
        <p:spPr>
          <a:xfrm>
            <a:off x="777240" y="5687568"/>
            <a:ext cx="10634472" cy="530352"/>
          </a:xfrm>
          <a:prstGeom prst="rect">
            <a:avLst/>
          </a:prstGeom>
          <a:noFill/>
          <a:ln/>
        </p:spPr>
        <p:txBody>
          <a:bodyPr wrap="square" lIns="0" tIns="0" rIns="0" bIns="0" rtlCol="0" anchor="ctr"/>
          <a:lstStyle/>
          <a:p>
            <a:pPr algn="l" indent="0" marL="0">
              <a:buNone/>
            </a:pPr>
            <a:r>
              <a:rPr lang="en-US" sz="1200" dirty="0">
                <a:solidFill>
                  <a:schemeClr val="tx1"/>
                </a:solidFill>
              </a:rPr>
              <a:t>In the other direction, only 1 attribute in another domain references this one: Investor Notice Date in Investment Product. Record Metadata is excluded from every view and documented separately.</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WHAT IS EXCLUDED  |  NOT YET COVERED</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Not yet covered: 22 open gaps</a:t>
            </a:r>
            <a:endParaRPr lang="en-US" sz="3600" dirty="0"/>
          </a:p>
        </p:txBody>
      </p:sp>
      <p:sp>
        <p:nvSpPr>
          <p:cNvPr id="5" name="Shape 2"/>
          <p:cNvSpPr/>
          <p:nvPr/>
        </p:nvSpPr>
        <p:spPr>
          <a:xfrm>
            <a:off x="548640" y="1783080"/>
            <a:ext cx="3017520" cy="4187952"/>
          </a:xfrm>
          <a:prstGeom prst="roundRect">
            <a:avLst>
              <a:gd name="adj" fmla="val 2424"/>
            </a:avLst>
          </a:prstGeom>
          <a:solidFill>
            <a:schemeClr val="bg2"/>
          </a:solidFill>
          <a:ln/>
        </p:spPr>
      </p:sp>
      <p:sp>
        <p:nvSpPr>
          <p:cNvPr id="6" name="Text 3"/>
          <p:cNvSpPr txBox="1"/>
          <p:nvPr/>
        </p:nvSpPr>
        <p:spPr>
          <a:xfrm>
            <a:off x="822960" y="2011680"/>
            <a:ext cx="2468880" cy="777240"/>
          </a:xfrm>
          <a:prstGeom prst="rect">
            <a:avLst/>
          </a:prstGeom>
          <a:noFill/>
          <a:ln/>
        </p:spPr>
        <p:txBody>
          <a:bodyPr wrap="square" lIns="0" tIns="0" rIns="0" bIns="0" rtlCol="0" anchor="ctr"/>
          <a:lstStyle/>
          <a:p>
            <a:pPr algn="l" indent="0" marL="0">
              <a:buNone/>
            </a:pPr>
            <a:r>
              <a:rPr lang="en-US" sz="5400" b="1" dirty="0">
                <a:solidFill>
                  <a:schemeClr val="accent1"/>
                </a:solidFill>
              </a:rPr>
              <a:t>23</a:t>
            </a:r>
            <a:endParaRPr lang="en-US" sz="5400" dirty="0"/>
          </a:p>
        </p:txBody>
      </p:sp>
      <p:sp>
        <p:nvSpPr>
          <p:cNvPr id="7" name="Text 4"/>
          <p:cNvSpPr txBox="1"/>
          <p:nvPr/>
        </p:nvSpPr>
        <p:spPr>
          <a:xfrm>
            <a:off x="822960" y="2834640"/>
            <a:ext cx="2468880" cy="822960"/>
          </a:xfrm>
          <a:prstGeom prst="rect">
            <a:avLst/>
          </a:prstGeom>
          <a:noFill/>
          <a:ln/>
        </p:spPr>
        <p:txBody>
          <a:bodyPr wrap="square" lIns="0" tIns="0" rIns="0" bIns="0" rtlCol="0" anchor="t"/>
          <a:lstStyle/>
          <a:p>
            <a:pPr algn="l" indent="0" marL="0">
              <a:buNone/>
            </a:pPr>
            <a:r>
              <a:rPr lang="en-US" sz="1300" dirty="0">
                <a:solidFill>
                  <a:schemeClr val="tx1"/>
                </a:solidFill>
              </a:rPr>
              <a:t>gaps raised against this domain while specifying and modeling data products</a:t>
            </a:r>
            <a:endParaRPr lang="en-US" sz="1300" dirty="0"/>
          </a:p>
        </p:txBody>
      </p:sp>
      <p:sp>
        <p:nvSpPr>
          <p:cNvPr id="8" name="Text 5"/>
          <p:cNvSpPr txBox="1"/>
          <p:nvPr/>
        </p:nvSpPr>
        <p:spPr>
          <a:xfrm>
            <a:off x="822960" y="3886200"/>
            <a:ext cx="2468880" cy="320040"/>
          </a:xfrm>
          <a:prstGeom prst="rect">
            <a:avLst/>
          </a:prstGeom>
          <a:noFill/>
          <a:ln/>
        </p:spPr>
        <p:txBody>
          <a:bodyPr wrap="square" lIns="0" tIns="0" rIns="0" bIns="0" rtlCol="0" anchor="ctr"/>
          <a:lstStyle/>
          <a:p>
            <a:pPr algn="l" indent="0" marL="0">
              <a:buNone/>
            </a:pPr>
            <a:r>
              <a:rPr lang="en-US" sz="1600" b="1" dirty="0">
                <a:solidFill>
                  <a:schemeClr val="accent5"/>
                </a:solidFill>
              </a:rPr>
              <a:t>1 resolved</a:t>
            </a:r>
            <a:endParaRPr lang="en-US" sz="1600" dirty="0"/>
          </a:p>
        </p:txBody>
      </p:sp>
      <p:sp>
        <p:nvSpPr>
          <p:cNvPr id="9" name="Text 6"/>
          <p:cNvSpPr txBox="1"/>
          <p:nvPr/>
        </p:nvSpPr>
        <p:spPr>
          <a:xfrm>
            <a:off x="822960" y="4389120"/>
            <a:ext cx="2468880" cy="320040"/>
          </a:xfrm>
          <a:prstGeom prst="rect">
            <a:avLst/>
          </a:prstGeom>
          <a:noFill/>
          <a:ln/>
        </p:spPr>
        <p:txBody>
          <a:bodyPr wrap="square" lIns="0" tIns="0" rIns="0" bIns="0" rtlCol="0" anchor="ctr"/>
          <a:lstStyle/>
          <a:p>
            <a:pPr algn="l" indent="0" marL="0">
              <a:buNone/>
            </a:pPr>
            <a:r>
              <a:rPr lang="en-US" sz="1600" b="1" dirty="0">
                <a:solidFill>
                  <a:schemeClr val="accent4"/>
                </a:solidFill>
              </a:rPr>
              <a:t>22 open</a:t>
            </a:r>
            <a:endParaRPr lang="en-US" sz="1600" dirty="0"/>
          </a:p>
        </p:txBody>
      </p:sp>
      <p:sp>
        <p:nvSpPr>
          <p:cNvPr id="10" name="Text 7"/>
          <p:cNvSpPr txBox="1"/>
          <p:nvPr/>
        </p:nvSpPr>
        <p:spPr>
          <a:xfrm>
            <a:off x="822960" y="4709160"/>
            <a:ext cx="2468880" cy="274320"/>
          </a:xfrm>
          <a:prstGeom prst="rect">
            <a:avLst/>
          </a:prstGeom>
          <a:noFill/>
          <a:ln/>
        </p:spPr>
        <p:txBody>
          <a:bodyPr wrap="square" lIns="0" tIns="0" rIns="0" bIns="0" rtlCol="0" anchor="ctr"/>
          <a:lstStyle/>
          <a:p>
            <a:pPr algn="l" indent="0" marL="0">
              <a:buNone/>
            </a:pPr>
            <a:r>
              <a:rPr lang="en-US" sz="1200" dirty="0">
                <a:solidFill>
                  <a:schemeClr val="tx2"/>
                </a:solidFill>
              </a:rPr>
              <a:t>0 high, 8 medium, 14 low priority</a:t>
            </a:r>
            <a:endParaRPr lang="en-US" sz="1200" dirty="0"/>
          </a:p>
        </p:txBody>
      </p:sp>
      <p:sp>
        <p:nvSpPr>
          <p:cNvPr id="11" name="Shape 8"/>
          <p:cNvSpPr/>
          <p:nvPr/>
        </p:nvSpPr>
        <p:spPr>
          <a:xfrm>
            <a:off x="3840480" y="1783080"/>
            <a:ext cx="7799832" cy="530352"/>
          </a:xfrm>
          <a:prstGeom prst="roundRect">
            <a:avLst>
              <a:gd name="adj" fmla="val 13793"/>
            </a:avLst>
          </a:prstGeom>
          <a:solidFill>
            <a:schemeClr val="bg2"/>
          </a:solidFill>
          <a:ln/>
        </p:spPr>
      </p:sp>
      <p:sp>
        <p:nvSpPr>
          <p:cNvPr id="12" name="Text 9"/>
          <p:cNvSpPr/>
          <p:nvPr/>
        </p:nvSpPr>
        <p:spPr>
          <a:xfrm>
            <a:off x="3977640" y="1892808"/>
            <a:ext cx="868680" cy="310896"/>
          </a:xfrm>
          <a:prstGeom prst="roundRect">
            <a:avLst>
              <a:gd name="adj" fmla="val 17647"/>
            </a:avLst>
          </a:prstGeom>
          <a:solidFill>
            <a:schemeClr val="accent2"/>
          </a:solidFill>
          <a:ln/>
        </p:spPr>
        <p:txBody>
          <a:bodyPr wrap="square" lIns="0" tIns="0" rIns="0" bIns="0" rtlCol="0" anchor="ctr"/>
          <a:lstStyle/>
          <a:p>
            <a:pPr algn="ctr" indent="0" marL="0">
              <a:buNone/>
            </a:pPr>
            <a:r>
              <a:rPr lang="en-US" sz="1100" b="1" dirty="0">
                <a:solidFill>
                  <a:schemeClr val="bg1"/>
                </a:solidFill>
              </a:rPr>
              <a:t>Medium</a:t>
            </a:r>
            <a:endParaRPr lang="en-US" sz="1100" dirty="0"/>
          </a:p>
        </p:txBody>
      </p:sp>
      <p:sp>
        <p:nvSpPr>
          <p:cNvPr id="13" name="Text 10"/>
          <p:cNvSpPr txBox="1"/>
          <p:nvPr/>
        </p:nvSpPr>
        <p:spPr>
          <a:xfrm>
            <a:off x="4983480" y="1783080"/>
            <a:ext cx="1097280" cy="530352"/>
          </a:xfrm>
          <a:prstGeom prst="rect">
            <a:avLst/>
          </a:prstGeom>
          <a:noFill/>
          <a:ln/>
        </p:spPr>
        <p:txBody>
          <a:bodyPr wrap="square" lIns="0" tIns="0" rIns="0" bIns="0" rtlCol="0" anchor="ctr"/>
          <a:lstStyle/>
          <a:p>
            <a:pPr algn="l" indent="0" marL="0">
              <a:buNone/>
            </a:pPr>
            <a:r>
              <a:rPr lang="en-US" sz="1200" b="1" dirty="0">
                <a:solidFill>
                  <a:schemeClr val="tx1"/>
                </a:solidFill>
              </a:rPr>
              <a:t>GAP-13-001</a:t>
            </a:r>
            <a:endParaRPr lang="en-US" sz="1200" dirty="0"/>
          </a:p>
        </p:txBody>
      </p:sp>
      <p:sp>
        <p:nvSpPr>
          <p:cNvPr id="14" name="Text 11"/>
          <p:cNvSpPr txBox="1"/>
          <p:nvPr/>
        </p:nvSpPr>
        <p:spPr>
          <a:xfrm>
            <a:off x="6126480" y="1783080"/>
            <a:ext cx="5349240" cy="530352"/>
          </a:xfrm>
          <a:prstGeom prst="rect">
            <a:avLst/>
          </a:prstGeom>
          <a:noFill/>
          <a:ln/>
        </p:spPr>
        <p:txBody>
          <a:bodyPr wrap="square" lIns="0" tIns="0" rIns="0" bIns="0" rtlCol="0" anchor="ctr"/>
          <a:lstStyle/>
          <a:p>
            <a:pPr algn="l" indent="0" marL="0">
              <a:buNone/>
            </a:pPr>
            <a:r>
              <a:rPr lang="en-US" sz="1200" dirty="0">
                <a:solidFill>
                  <a:schemeClr val="tx1"/>
                </a:solidFill>
              </a:rPr>
              <a:t>Contact Center Interaction names no servicing provider and no calling party (DP-043, DP-053)</a:t>
            </a:r>
            <a:endParaRPr lang="en-US" sz="1200" dirty="0"/>
          </a:p>
        </p:txBody>
      </p:sp>
      <p:sp>
        <p:nvSpPr>
          <p:cNvPr id="15" name="Shape 12"/>
          <p:cNvSpPr/>
          <p:nvPr/>
        </p:nvSpPr>
        <p:spPr>
          <a:xfrm>
            <a:off x="3840480" y="2386584"/>
            <a:ext cx="7799832" cy="530352"/>
          </a:xfrm>
          <a:prstGeom prst="roundRect">
            <a:avLst>
              <a:gd name="adj" fmla="val 13793"/>
            </a:avLst>
          </a:prstGeom>
          <a:solidFill>
            <a:schemeClr val="bg2"/>
          </a:solidFill>
          <a:ln/>
        </p:spPr>
      </p:sp>
      <p:sp>
        <p:nvSpPr>
          <p:cNvPr id="16" name="Text 13"/>
          <p:cNvSpPr/>
          <p:nvPr/>
        </p:nvSpPr>
        <p:spPr>
          <a:xfrm>
            <a:off x="3977640" y="2496312"/>
            <a:ext cx="868680" cy="310896"/>
          </a:xfrm>
          <a:prstGeom prst="roundRect">
            <a:avLst>
              <a:gd name="adj" fmla="val 17647"/>
            </a:avLst>
          </a:prstGeom>
          <a:solidFill>
            <a:schemeClr val="accent2"/>
          </a:solidFill>
          <a:ln/>
        </p:spPr>
        <p:txBody>
          <a:bodyPr wrap="square" lIns="0" tIns="0" rIns="0" bIns="0" rtlCol="0" anchor="ctr"/>
          <a:lstStyle/>
          <a:p>
            <a:pPr algn="ctr" indent="0" marL="0">
              <a:buNone/>
            </a:pPr>
            <a:r>
              <a:rPr lang="en-US" sz="1100" b="1" dirty="0">
                <a:solidFill>
                  <a:schemeClr val="bg1"/>
                </a:solidFill>
              </a:rPr>
              <a:t>Medium</a:t>
            </a:r>
            <a:endParaRPr lang="en-US" sz="1100" dirty="0"/>
          </a:p>
        </p:txBody>
      </p:sp>
      <p:sp>
        <p:nvSpPr>
          <p:cNvPr id="17" name="Text 14"/>
          <p:cNvSpPr txBox="1"/>
          <p:nvPr/>
        </p:nvSpPr>
        <p:spPr>
          <a:xfrm>
            <a:off x="4983480" y="2386584"/>
            <a:ext cx="1097280" cy="530352"/>
          </a:xfrm>
          <a:prstGeom prst="rect">
            <a:avLst/>
          </a:prstGeom>
          <a:noFill/>
          <a:ln/>
        </p:spPr>
        <p:txBody>
          <a:bodyPr wrap="square" lIns="0" tIns="0" rIns="0" bIns="0" rtlCol="0" anchor="ctr"/>
          <a:lstStyle/>
          <a:p>
            <a:pPr algn="l" indent="0" marL="0">
              <a:buNone/>
            </a:pPr>
            <a:r>
              <a:rPr lang="en-US" sz="1200" b="1" dirty="0">
                <a:solidFill>
                  <a:schemeClr val="tx1"/>
                </a:solidFill>
              </a:rPr>
              <a:t>GAP-13-002</a:t>
            </a:r>
            <a:endParaRPr lang="en-US" sz="1200" dirty="0"/>
          </a:p>
        </p:txBody>
      </p:sp>
      <p:sp>
        <p:nvSpPr>
          <p:cNvPr id="18" name="Text 15"/>
          <p:cNvSpPr txBox="1"/>
          <p:nvPr/>
        </p:nvSpPr>
        <p:spPr>
          <a:xfrm>
            <a:off x="6126480" y="2386584"/>
            <a:ext cx="5349240" cy="530352"/>
          </a:xfrm>
          <a:prstGeom prst="rect">
            <a:avLst/>
          </a:prstGeom>
          <a:noFill/>
          <a:ln/>
        </p:spPr>
        <p:txBody>
          <a:bodyPr wrap="square" lIns="0" tIns="0" rIns="0" bIns="0" rtlCol="0" anchor="ctr"/>
          <a:lstStyle/>
          <a:p>
            <a:pPr algn="l" indent="0" marL="0">
              <a:buNone/>
            </a:pPr>
            <a:r>
              <a:rPr lang="en-US" sz="1200" dirty="0">
                <a:solidFill>
                  <a:schemeClr val="tx1"/>
                </a:solidFill>
              </a:rPr>
              <a:t>Escheatment Report &amp; Remittance has no link to the accounts it reports (DP-070)</a:t>
            </a:r>
            <a:endParaRPr lang="en-US" sz="1200" dirty="0"/>
          </a:p>
        </p:txBody>
      </p:sp>
      <p:sp>
        <p:nvSpPr>
          <p:cNvPr id="19" name="Shape 16"/>
          <p:cNvSpPr/>
          <p:nvPr/>
        </p:nvSpPr>
        <p:spPr>
          <a:xfrm>
            <a:off x="3840480" y="2990088"/>
            <a:ext cx="7799832" cy="530352"/>
          </a:xfrm>
          <a:prstGeom prst="roundRect">
            <a:avLst>
              <a:gd name="adj" fmla="val 13793"/>
            </a:avLst>
          </a:prstGeom>
          <a:solidFill>
            <a:schemeClr val="bg2"/>
          </a:solidFill>
          <a:ln/>
        </p:spPr>
      </p:sp>
      <p:sp>
        <p:nvSpPr>
          <p:cNvPr id="20" name="Text 17"/>
          <p:cNvSpPr/>
          <p:nvPr/>
        </p:nvSpPr>
        <p:spPr>
          <a:xfrm>
            <a:off x="3977640" y="3099816"/>
            <a:ext cx="868680" cy="310896"/>
          </a:xfrm>
          <a:prstGeom prst="roundRect">
            <a:avLst>
              <a:gd name="adj" fmla="val 17647"/>
            </a:avLst>
          </a:prstGeom>
          <a:solidFill>
            <a:schemeClr val="accent2"/>
          </a:solidFill>
          <a:ln/>
        </p:spPr>
        <p:txBody>
          <a:bodyPr wrap="square" lIns="0" tIns="0" rIns="0" bIns="0" rtlCol="0" anchor="ctr"/>
          <a:lstStyle/>
          <a:p>
            <a:pPr algn="ctr" indent="0" marL="0">
              <a:buNone/>
            </a:pPr>
            <a:r>
              <a:rPr lang="en-US" sz="1100" b="1" dirty="0">
                <a:solidFill>
                  <a:schemeClr val="bg1"/>
                </a:solidFill>
              </a:rPr>
              <a:t>Medium</a:t>
            </a:r>
            <a:endParaRPr lang="en-US" sz="1100" dirty="0"/>
          </a:p>
        </p:txBody>
      </p:sp>
      <p:sp>
        <p:nvSpPr>
          <p:cNvPr id="21" name="Text 18"/>
          <p:cNvSpPr txBox="1"/>
          <p:nvPr/>
        </p:nvSpPr>
        <p:spPr>
          <a:xfrm>
            <a:off x="4983480" y="2990088"/>
            <a:ext cx="1097280" cy="530352"/>
          </a:xfrm>
          <a:prstGeom prst="rect">
            <a:avLst/>
          </a:prstGeom>
          <a:noFill/>
          <a:ln/>
        </p:spPr>
        <p:txBody>
          <a:bodyPr wrap="square" lIns="0" tIns="0" rIns="0" bIns="0" rtlCol="0" anchor="ctr"/>
          <a:lstStyle/>
          <a:p>
            <a:pPr algn="l" indent="0" marL="0">
              <a:buNone/>
            </a:pPr>
            <a:r>
              <a:rPr lang="en-US" sz="1200" b="1" dirty="0">
                <a:solidFill>
                  <a:schemeClr val="tx1"/>
                </a:solidFill>
              </a:rPr>
              <a:t>GAP-13-003</a:t>
            </a:r>
            <a:endParaRPr lang="en-US" sz="1200" dirty="0"/>
          </a:p>
        </p:txBody>
      </p:sp>
      <p:sp>
        <p:nvSpPr>
          <p:cNvPr id="22" name="Text 19"/>
          <p:cNvSpPr txBox="1"/>
          <p:nvPr/>
        </p:nvSpPr>
        <p:spPr>
          <a:xfrm>
            <a:off x="6126480" y="2990088"/>
            <a:ext cx="5349240" cy="530352"/>
          </a:xfrm>
          <a:prstGeom prst="rect">
            <a:avLst/>
          </a:prstGeom>
          <a:noFill/>
          <a:ln/>
        </p:spPr>
        <p:txBody>
          <a:bodyPr wrap="square" lIns="0" tIns="0" rIns="0" bIns="0" rtlCol="0" anchor="ctr"/>
          <a:lstStyle/>
          <a:p>
            <a:pPr algn="l" indent="0" marL="0">
              <a:buNone/>
            </a:pPr>
            <a:r>
              <a:rPr lang="en-US" sz="1200" dirty="0">
                <a:solidFill>
                  <a:schemeClr val="tx1"/>
                </a:solidFill>
              </a:rPr>
              <a:t>Dormancy Assessment carries no account, as-of date or outreach outcome (DP-070)</a:t>
            </a:r>
            <a:endParaRPr lang="en-US" sz="1200" dirty="0"/>
          </a:p>
        </p:txBody>
      </p:sp>
      <p:sp>
        <p:nvSpPr>
          <p:cNvPr id="23" name="Shape 20"/>
          <p:cNvSpPr/>
          <p:nvPr/>
        </p:nvSpPr>
        <p:spPr>
          <a:xfrm>
            <a:off x="3840480" y="3593592"/>
            <a:ext cx="7799832" cy="530352"/>
          </a:xfrm>
          <a:prstGeom prst="roundRect">
            <a:avLst>
              <a:gd name="adj" fmla="val 13793"/>
            </a:avLst>
          </a:prstGeom>
          <a:solidFill>
            <a:schemeClr val="bg2"/>
          </a:solidFill>
          <a:ln/>
        </p:spPr>
      </p:sp>
      <p:sp>
        <p:nvSpPr>
          <p:cNvPr id="24" name="Text 21"/>
          <p:cNvSpPr/>
          <p:nvPr/>
        </p:nvSpPr>
        <p:spPr>
          <a:xfrm>
            <a:off x="3977640" y="3703320"/>
            <a:ext cx="868680" cy="310896"/>
          </a:xfrm>
          <a:prstGeom prst="roundRect">
            <a:avLst>
              <a:gd name="adj" fmla="val 17647"/>
            </a:avLst>
          </a:prstGeom>
          <a:solidFill>
            <a:schemeClr val="accent2"/>
          </a:solidFill>
          <a:ln/>
        </p:spPr>
        <p:txBody>
          <a:bodyPr wrap="square" lIns="0" tIns="0" rIns="0" bIns="0" rtlCol="0" anchor="ctr"/>
          <a:lstStyle/>
          <a:p>
            <a:pPr algn="ctr" indent="0" marL="0">
              <a:buNone/>
            </a:pPr>
            <a:r>
              <a:rPr lang="en-US" sz="1100" b="1" dirty="0">
                <a:solidFill>
                  <a:schemeClr val="bg1"/>
                </a:solidFill>
              </a:rPr>
              <a:t>Medium</a:t>
            </a:r>
            <a:endParaRPr lang="en-US" sz="1100" dirty="0"/>
          </a:p>
        </p:txBody>
      </p:sp>
      <p:sp>
        <p:nvSpPr>
          <p:cNvPr id="25" name="Text 22"/>
          <p:cNvSpPr txBox="1"/>
          <p:nvPr/>
        </p:nvSpPr>
        <p:spPr>
          <a:xfrm>
            <a:off x="4983480" y="3593592"/>
            <a:ext cx="1097280" cy="530352"/>
          </a:xfrm>
          <a:prstGeom prst="rect">
            <a:avLst/>
          </a:prstGeom>
          <a:noFill/>
          <a:ln/>
        </p:spPr>
        <p:txBody>
          <a:bodyPr wrap="square" lIns="0" tIns="0" rIns="0" bIns="0" rtlCol="0" anchor="ctr"/>
          <a:lstStyle/>
          <a:p>
            <a:pPr algn="l" indent="0" marL="0">
              <a:buNone/>
            </a:pPr>
            <a:r>
              <a:rPr lang="en-US" sz="1200" b="1" dirty="0">
                <a:solidFill>
                  <a:schemeClr val="tx1"/>
                </a:solidFill>
              </a:rPr>
              <a:t>GAP-13-004</a:t>
            </a:r>
            <a:endParaRPr lang="en-US" sz="1200" dirty="0"/>
          </a:p>
        </p:txBody>
      </p:sp>
      <p:sp>
        <p:nvSpPr>
          <p:cNvPr id="26" name="Text 23"/>
          <p:cNvSpPr txBox="1"/>
          <p:nvPr/>
        </p:nvSpPr>
        <p:spPr>
          <a:xfrm>
            <a:off x="6126480" y="3593592"/>
            <a:ext cx="5349240" cy="530352"/>
          </a:xfrm>
          <a:prstGeom prst="rect">
            <a:avLst/>
          </a:prstGeom>
          <a:noFill/>
          <a:ln/>
        </p:spPr>
        <p:txBody>
          <a:bodyPr wrap="square" lIns="0" tIns="0" rIns="0" bIns="0" rtlCol="0" anchor="ctr"/>
          <a:lstStyle/>
          <a:p>
            <a:pPr algn="l" indent="0" marL="0">
              <a:buNone/>
            </a:pPr>
            <a:r>
              <a:rPr lang="en-US" sz="1200" dirty="0">
                <a:solidFill>
                  <a:schemeClr val="tx1"/>
                </a:solidFill>
              </a:rPr>
              <a:t>Lost Shareholder Status has no date or amount for the unnegotiated payment, so notice timing cannot be tested (DP-070)</a:t>
            </a:r>
            <a:endParaRPr lang="en-US" sz="1200" dirty="0"/>
          </a:p>
        </p:txBody>
      </p:sp>
      <p:sp>
        <p:nvSpPr>
          <p:cNvPr id="27" name="Shape 24"/>
          <p:cNvSpPr/>
          <p:nvPr/>
        </p:nvSpPr>
        <p:spPr>
          <a:xfrm>
            <a:off x="3840480" y="4197096"/>
            <a:ext cx="7799832" cy="530352"/>
          </a:xfrm>
          <a:prstGeom prst="roundRect">
            <a:avLst>
              <a:gd name="adj" fmla="val 13793"/>
            </a:avLst>
          </a:prstGeom>
          <a:solidFill>
            <a:schemeClr val="bg2"/>
          </a:solidFill>
          <a:ln/>
        </p:spPr>
      </p:sp>
      <p:sp>
        <p:nvSpPr>
          <p:cNvPr id="28" name="Text 25"/>
          <p:cNvSpPr/>
          <p:nvPr/>
        </p:nvSpPr>
        <p:spPr>
          <a:xfrm>
            <a:off x="3977640" y="4306824"/>
            <a:ext cx="868680" cy="310896"/>
          </a:xfrm>
          <a:prstGeom prst="roundRect">
            <a:avLst>
              <a:gd name="adj" fmla="val 17647"/>
            </a:avLst>
          </a:prstGeom>
          <a:solidFill>
            <a:schemeClr val="accent2"/>
          </a:solidFill>
          <a:ln/>
        </p:spPr>
        <p:txBody>
          <a:bodyPr wrap="square" lIns="0" tIns="0" rIns="0" bIns="0" rtlCol="0" anchor="ctr"/>
          <a:lstStyle/>
          <a:p>
            <a:pPr algn="ctr" indent="0" marL="0">
              <a:buNone/>
            </a:pPr>
            <a:r>
              <a:rPr lang="en-US" sz="1100" b="1" dirty="0">
                <a:solidFill>
                  <a:schemeClr val="bg1"/>
                </a:solidFill>
              </a:rPr>
              <a:t>Medium</a:t>
            </a:r>
            <a:endParaRPr lang="en-US" sz="1100" dirty="0"/>
          </a:p>
        </p:txBody>
      </p:sp>
      <p:sp>
        <p:nvSpPr>
          <p:cNvPr id="29" name="Text 26"/>
          <p:cNvSpPr txBox="1"/>
          <p:nvPr/>
        </p:nvSpPr>
        <p:spPr>
          <a:xfrm>
            <a:off x="4983480" y="4197096"/>
            <a:ext cx="1097280" cy="530352"/>
          </a:xfrm>
          <a:prstGeom prst="rect">
            <a:avLst/>
          </a:prstGeom>
          <a:noFill/>
          <a:ln/>
        </p:spPr>
        <p:txBody>
          <a:bodyPr wrap="square" lIns="0" tIns="0" rIns="0" bIns="0" rtlCol="0" anchor="ctr"/>
          <a:lstStyle/>
          <a:p>
            <a:pPr algn="l" indent="0" marL="0">
              <a:buNone/>
            </a:pPr>
            <a:r>
              <a:rPr lang="en-US" sz="1200" b="1" dirty="0">
                <a:solidFill>
                  <a:schemeClr val="tx1"/>
                </a:solidFill>
              </a:rPr>
              <a:t>GAP-13-005</a:t>
            </a:r>
            <a:endParaRPr lang="en-US" sz="1200" dirty="0"/>
          </a:p>
        </p:txBody>
      </p:sp>
      <p:sp>
        <p:nvSpPr>
          <p:cNvPr id="30" name="Text 27"/>
          <p:cNvSpPr txBox="1"/>
          <p:nvPr/>
        </p:nvSpPr>
        <p:spPr>
          <a:xfrm>
            <a:off x="6126480" y="4197096"/>
            <a:ext cx="5349240" cy="530352"/>
          </a:xfrm>
          <a:prstGeom prst="rect">
            <a:avLst/>
          </a:prstGeom>
          <a:noFill/>
          <a:ln/>
        </p:spPr>
        <p:txBody>
          <a:bodyPr wrap="square" lIns="0" tIns="0" rIns="0" bIns="0" rtlCol="0" anchor="ctr"/>
          <a:lstStyle/>
          <a:p>
            <a:pPr algn="l" indent="0" marL="0">
              <a:buNone/>
            </a:pPr>
            <a:r>
              <a:rPr lang="en-US" sz="1200" dirty="0">
                <a:solidFill>
                  <a:schemeClr val="tx1"/>
                </a:solidFill>
              </a:rPr>
              <a:t>Tax Form Record and Cost Basis Election carry no account, fund or share class (DP-091)</a:t>
            </a:r>
            <a:endParaRPr lang="en-US" sz="1200" dirty="0"/>
          </a:p>
        </p:txBody>
      </p:sp>
      <p:sp>
        <p:nvSpPr>
          <p:cNvPr id="31" name="Shape 28"/>
          <p:cNvSpPr/>
          <p:nvPr/>
        </p:nvSpPr>
        <p:spPr>
          <a:xfrm>
            <a:off x="3840480" y="4800600"/>
            <a:ext cx="7799832" cy="530352"/>
          </a:xfrm>
          <a:prstGeom prst="roundRect">
            <a:avLst>
              <a:gd name="adj" fmla="val 13793"/>
            </a:avLst>
          </a:prstGeom>
          <a:solidFill>
            <a:schemeClr val="bg2"/>
          </a:solidFill>
          <a:ln/>
        </p:spPr>
      </p:sp>
      <p:sp>
        <p:nvSpPr>
          <p:cNvPr id="32" name="Text 29"/>
          <p:cNvSpPr/>
          <p:nvPr/>
        </p:nvSpPr>
        <p:spPr>
          <a:xfrm>
            <a:off x="3977640" y="4910328"/>
            <a:ext cx="868680" cy="310896"/>
          </a:xfrm>
          <a:prstGeom prst="roundRect">
            <a:avLst>
              <a:gd name="adj" fmla="val 17647"/>
            </a:avLst>
          </a:prstGeom>
          <a:solidFill>
            <a:schemeClr val="accent2"/>
          </a:solidFill>
          <a:ln/>
        </p:spPr>
        <p:txBody>
          <a:bodyPr wrap="square" lIns="0" tIns="0" rIns="0" bIns="0" rtlCol="0" anchor="ctr"/>
          <a:lstStyle/>
          <a:p>
            <a:pPr algn="ctr" indent="0" marL="0">
              <a:buNone/>
            </a:pPr>
            <a:r>
              <a:rPr lang="en-US" sz="1100" b="1" dirty="0">
                <a:solidFill>
                  <a:schemeClr val="bg1"/>
                </a:solidFill>
              </a:rPr>
              <a:t>Medium</a:t>
            </a:r>
            <a:endParaRPr lang="en-US" sz="1100" dirty="0"/>
          </a:p>
        </p:txBody>
      </p:sp>
      <p:sp>
        <p:nvSpPr>
          <p:cNvPr id="33" name="Text 30"/>
          <p:cNvSpPr txBox="1"/>
          <p:nvPr/>
        </p:nvSpPr>
        <p:spPr>
          <a:xfrm>
            <a:off x="4983480" y="4800600"/>
            <a:ext cx="1097280" cy="530352"/>
          </a:xfrm>
          <a:prstGeom prst="rect">
            <a:avLst/>
          </a:prstGeom>
          <a:noFill/>
          <a:ln/>
        </p:spPr>
        <p:txBody>
          <a:bodyPr wrap="square" lIns="0" tIns="0" rIns="0" bIns="0" rtlCol="0" anchor="ctr"/>
          <a:lstStyle/>
          <a:p>
            <a:pPr algn="l" indent="0" marL="0">
              <a:buNone/>
            </a:pPr>
            <a:r>
              <a:rPr lang="en-US" sz="1200" b="1" dirty="0">
                <a:solidFill>
                  <a:schemeClr val="tx1"/>
                </a:solidFill>
              </a:rPr>
              <a:t>GAP-13-006</a:t>
            </a:r>
            <a:endParaRPr lang="en-US" sz="1200" dirty="0"/>
          </a:p>
        </p:txBody>
      </p:sp>
      <p:sp>
        <p:nvSpPr>
          <p:cNvPr id="34" name="Text 31"/>
          <p:cNvSpPr txBox="1"/>
          <p:nvPr/>
        </p:nvSpPr>
        <p:spPr>
          <a:xfrm>
            <a:off x="6126480" y="4800600"/>
            <a:ext cx="5349240" cy="530352"/>
          </a:xfrm>
          <a:prstGeom prst="rect">
            <a:avLst/>
          </a:prstGeom>
          <a:noFill/>
          <a:ln/>
        </p:spPr>
        <p:txBody>
          <a:bodyPr wrap="square" lIns="0" tIns="0" rIns="0" bIns="0" rtlCol="0" anchor="ctr"/>
          <a:lstStyle/>
          <a:p>
            <a:pPr algn="l" indent="0" marL="0">
              <a:buNone/>
            </a:pPr>
            <a:r>
              <a:rPr lang="en-US" sz="1200" dirty="0">
                <a:solidFill>
                  <a:schemeClr val="tx1"/>
                </a:solidFill>
              </a:rPr>
              <a:t>Cost basis lots and method changes are not modeled, so Form 1099-B cost basis cannot be evidenced (DP-091)</a:t>
            </a:r>
            <a:endParaRPr lang="en-US" sz="1200" dirty="0"/>
          </a:p>
        </p:txBody>
      </p:sp>
      <p:sp>
        <p:nvSpPr>
          <p:cNvPr id="35" name="Shape 32"/>
          <p:cNvSpPr/>
          <p:nvPr/>
        </p:nvSpPr>
        <p:spPr>
          <a:xfrm>
            <a:off x="3840480" y="5404104"/>
            <a:ext cx="7799832" cy="530352"/>
          </a:xfrm>
          <a:prstGeom prst="roundRect">
            <a:avLst>
              <a:gd name="adj" fmla="val 13793"/>
            </a:avLst>
          </a:prstGeom>
          <a:solidFill>
            <a:schemeClr val="bg2"/>
          </a:solidFill>
          <a:ln/>
        </p:spPr>
      </p:sp>
      <p:sp>
        <p:nvSpPr>
          <p:cNvPr id="36" name="Text 33"/>
          <p:cNvSpPr/>
          <p:nvPr/>
        </p:nvSpPr>
        <p:spPr>
          <a:xfrm>
            <a:off x="3977640" y="5513832"/>
            <a:ext cx="868680" cy="310896"/>
          </a:xfrm>
          <a:prstGeom prst="roundRect">
            <a:avLst>
              <a:gd name="adj" fmla="val 17647"/>
            </a:avLst>
          </a:prstGeom>
          <a:solidFill>
            <a:schemeClr val="accent2"/>
          </a:solidFill>
          <a:ln/>
        </p:spPr>
        <p:txBody>
          <a:bodyPr wrap="square" lIns="0" tIns="0" rIns="0" bIns="0" rtlCol="0" anchor="ctr"/>
          <a:lstStyle/>
          <a:p>
            <a:pPr algn="ctr" indent="0" marL="0">
              <a:buNone/>
            </a:pPr>
            <a:r>
              <a:rPr lang="en-US" sz="1100" b="1" dirty="0">
                <a:solidFill>
                  <a:schemeClr val="bg1"/>
                </a:solidFill>
              </a:rPr>
              <a:t>Medium</a:t>
            </a:r>
            <a:endParaRPr lang="en-US" sz="1100" dirty="0"/>
          </a:p>
        </p:txBody>
      </p:sp>
      <p:sp>
        <p:nvSpPr>
          <p:cNvPr id="37" name="Text 34"/>
          <p:cNvSpPr txBox="1"/>
          <p:nvPr/>
        </p:nvSpPr>
        <p:spPr>
          <a:xfrm>
            <a:off x="4983480" y="5404104"/>
            <a:ext cx="1097280" cy="530352"/>
          </a:xfrm>
          <a:prstGeom prst="rect">
            <a:avLst/>
          </a:prstGeom>
          <a:noFill/>
          <a:ln/>
        </p:spPr>
        <p:txBody>
          <a:bodyPr wrap="square" lIns="0" tIns="0" rIns="0" bIns="0" rtlCol="0" anchor="ctr"/>
          <a:lstStyle/>
          <a:p>
            <a:pPr algn="l" indent="0" marL="0">
              <a:buNone/>
            </a:pPr>
            <a:r>
              <a:rPr lang="en-US" sz="1200" b="1" dirty="0">
                <a:solidFill>
                  <a:schemeClr val="tx1"/>
                </a:solidFill>
              </a:rPr>
              <a:t>GAP-13-007</a:t>
            </a:r>
            <a:endParaRPr lang="en-US" sz="1200" dirty="0"/>
          </a:p>
        </p:txBody>
      </p:sp>
      <p:sp>
        <p:nvSpPr>
          <p:cNvPr id="38" name="Text 35"/>
          <p:cNvSpPr txBox="1"/>
          <p:nvPr/>
        </p:nvSpPr>
        <p:spPr>
          <a:xfrm>
            <a:off x="6126480" y="5404104"/>
            <a:ext cx="5349240" cy="530352"/>
          </a:xfrm>
          <a:prstGeom prst="rect">
            <a:avLst/>
          </a:prstGeom>
          <a:noFill/>
          <a:ln/>
        </p:spPr>
        <p:txBody>
          <a:bodyPr wrap="square" lIns="0" tIns="0" rIns="0" bIns="0" rtlCol="0" anchor="ctr"/>
          <a:lstStyle/>
          <a:p>
            <a:pPr algn="l" indent="0" marL="0">
              <a:buNone/>
            </a:pPr>
            <a:r>
              <a:rPr lang="en-US" sz="1200" dirty="0">
                <a:solidFill>
                  <a:schemeClr val="tx1"/>
                </a:solidFill>
              </a:rPr>
              <a:t>No transfer statements, backup withholding status or Form 1042-S detail (DP-091)</a:t>
            </a:r>
            <a:endParaRPr lang="en-US" sz="1200" dirty="0"/>
          </a:p>
        </p:txBody>
      </p:sp>
      <p:sp>
        <p:nvSpPr>
          <p:cNvPr id="39" name="Text 36"/>
          <p:cNvSpPr txBox="1"/>
          <p:nvPr/>
        </p:nvSpPr>
        <p:spPr>
          <a:xfrm>
            <a:off x="3840480" y="6062472"/>
            <a:ext cx="7799832" cy="274320"/>
          </a:xfrm>
          <a:prstGeom prst="rect">
            <a:avLst/>
          </a:prstGeom>
          <a:noFill/>
          <a:ln/>
        </p:spPr>
        <p:txBody>
          <a:bodyPr wrap="square" lIns="0" tIns="0" rIns="0" bIns="0" rtlCol="0" anchor="ctr"/>
          <a:lstStyle/>
          <a:p>
            <a:pPr algn="l" indent="0" marL="0">
              <a:buNone/>
            </a:pPr>
            <a:r>
              <a:rPr lang="en-US" sz="1200" dirty="0">
                <a:solidFill>
                  <a:schemeClr val="tx2"/>
                </a:solidFill>
              </a:rPr>
              <a:t>Each gap has a proposed resolution and a decision owner in Gap_Register.xlsx.</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HOW IT IS USED</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The taxonomy does four jobs</a:t>
            </a:r>
            <a:endParaRPr lang="en-US" sz="3600" dirty="0"/>
          </a:p>
        </p:txBody>
      </p:sp>
      <p:sp>
        <p:nvSpPr>
          <p:cNvPr id="5" name="Shape 2"/>
          <p:cNvSpPr/>
          <p:nvPr/>
        </p:nvSpPr>
        <p:spPr>
          <a:xfrm>
            <a:off x="548640" y="1783080"/>
            <a:ext cx="2560320" cy="2971800"/>
          </a:xfrm>
          <a:prstGeom prst="roundRect">
            <a:avLst>
              <a:gd name="adj" fmla="val 2857"/>
            </a:avLst>
          </a:prstGeom>
          <a:solidFill>
            <a:schemeClr val="bg2"/>
          </a:solidFill>
          <a:ln/>
        </p:spPr>
      </p:sp>
      <p:sp>
        <p:nvSpPr>
          <p:cNvPr id="6" name="Text 3"/>
          <p:cNvSpPr/>
          <p:nvPr/>
        </p:nvSpPr>
        <p:spPr>
          <a:xfrm>
            <a:off x="777240" y="2011680"/>
            <a:ext cx="411480" cy="411480"/>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7" name="Text 4"/>
          <p:cNvSpPr txBox="1"/>
          <p:nvPr/>
        </p:nvSpPr>
        <p:spPr>
          <a:xfrm>
            <a:off x="777240" y="2560320"/>
            <a:ext cx="2103120" cy="365760"/>
          </a:xfrm>
          <a:prstGeom prst="rect">
            <a:avLst/>
          </a:prstGeom>
          <a:noFill/>
          <a:ln/>
        </p:spPr>
        <p:txBody>
          <a:bodyPr wrap="square" lIns="0" tIns="0" rIns="0" bIns="0" rtlCol="0" anchor="ctr"/>
          <a:lstStyle/>
          <a:p>
            <a:pPr algn="l" indent="0" marL="0">
              <a:buNone/>
            </a:pPr>
            <a:r>
              <a:rPr lang="en-US" sz="1600" b="1" dirty="0">
                <a:solidFill>
                  <a:schemeClr val="tx1"/>
                </a:solidFill>
              </a:rPr>
              <a:t>Mapping target</a:t>
            </a:r>
            <a:endParaRPr lang="en-US" sz="1600" dirty="0"/>
          </a:p>
        </p:txBody>
      </p:sp>
      <p:sp>
        <p:nvSpPr>
          <p:cNvPr id="8" name="Text 5"/>
          <p:cNvSpPr txBox="1"/>
          <p:nvPr/>
        </p:nvSpPr>
        <p:spPr>
          <a:xfrm>
            <a:off x="777240" y="2971800"/>
            <a:ext cx="2103120" cy="1645920"/>
          </a:xfrm>
          <a:prstGeom prst="rect">
            <a:avLst/>
          </a:prstGeom>
          <a:noFill/>
          <a:ln/>
        </p:spPr>
        <p:txBody>
          <a:bodyPr wrap="square" lIns="0" tIns="0" rIns="0" bIns="0" rtlCol="0" anchor="t"/>
          <a:lstStyle/>
          <a:p>
            <a:pPr algn="l" indent="0" marL="0">
              <a:buNone/>
            </a:pPr>
            <a:r>
              <a:rPr lang="en-US" sz="1300" dirty="0">
                <a:solidFill>
                  <a:schemeClr val="tx1"/>
                </a:solidFill>
              </a:rPr>
              <a:t>Transfer agent record layouts and Broadridge job reports each map to one definition per field. Source mapping to the firm's systems is not yet done.</a:t>
            </a:r>
            <a:endParaRPr lang="en-US" sz="1300" dirty="0"/>
          </a:p>
        </p:txBody>
      </p:sp>
      <p:sp>
        <p:nvSpPr>
          <p:cNvPr id="9" name="Shape 6"/>
          <p:cNvSpPr/>
          <p:nvPr/>
        </p:nvSpPr>
        <p:spPr>
          <a:xfrm>
            <a:off x="3392424" y="1783080"/>
            <a:ext cx="2560320" cy="2971800"/>
          </a:xfrm>
          <a:prstGeom prst="roundRect">
            <a:avLst>
              <a:gd name="adj" fmla="val 2857"/>
            </a:avLst>
          </a:prstGeom>
          <a:solidFill>
            <a:schemeClr val="bg2"/>
          </a:solidFill>
          <a:ln/>
        </p:spPr>
      </p:sp>
      <p:sp>
        <p:nvSpPr>
          <p:cNvPr id="10" name="Text 7"/>
          <p:cNvSpPr/>
          <p:nvPr/>
        </p:nvSpPr>
        <p:spPr>
          <a:xfrm>
            <a:off x="3621024" y="2011680"/>
            <a:ext cx="411480" cy="411480"/>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1" name="Text 8"/>
          <p:cNvSpPr txBox="1"/>
          <p:nvPr/>
        </p:nvSpPr>
        <p:spPr>
          <a:xfrm>
            <a:off x="3621024" y="2560320"/>
            <a:ext cx="2103120" cy="365760"/>
          </a:xfrm>
          <a:prstGeom prst="rect">
            <a:avLst/>
          </a:prstGeom>
          <a:noFill/>
          <a:ln/>
        </p:spPr>
        <p:txBody>
          <a:bodyPr wrap="square" lIns="0" tIns="0" rIns="0" bIns="0" rtlCol="0" anchor="ctr"/>
          <a:lstStyle/>
          <a:p>
            <a:pPr algn="l" indent="0" marL="0">
              <a:buNone/>
            </a:pPr>
            <a:r>
              <a:rPr lang="en-US" sz="1600" b="1" dirty="0">
                <a:solidFill>
                  <a:schemeClr val="tx1"/>
                </a:solidFill>
              </a:rPr>
              <a:t>Bill of materials</a:t>
            </a:r>
            <a:endParaRPr lang="en-US" sz="1600" dirty="0"/>
          </a:p>
        </p:txBody>
      </p:sp>
      <p:sp>
        <p:nvSpPr>
          <p:cNvPr id="12" name="Text 9"/>
          <p:cNvSpPr txBox="1"/>
          <p:nvPr/>
        </p:nvSpPr>
        <p:spPr>
          <a:xfrm>
            <a:off x="3621024" y="2971800"/>
            <a:ext cx="2103120" cy="1645920"/>
          </a:xfrm>
          <a:prstGeom prst="rect">
            <a:avLst/>
          </a:prstGeom>
          <a:noFill/>
          <a:ln/>
        </p:spPr>
        <p:txBody>
          <a:bodyPr wrap="square" lIns="0" tIns="0" rIns="0" bIns="0" rtlCol="0" anchor="t"/>
          <a:lstStyle/>
          <a:p>
            <a:pPr algn="l" indent="0" marL="0">
              <a:buNone/>
            </a:pPr>
            <a:r>
              <a:rPr lang="en-US" sz="1300" dirty="0">
                <a:solidFill>
                  <a:schemeClr val="tx1"/>
                </a:solidFill>
              </a:rPr>
              <a:t>Each data product lists the exact objects and attributes it uses. The build fails if one does not exist in the taxonomy.</a:t>
            </a:r>
            <a:endParaRPr lang="en-US" sz="1300" dirty="0"/>
          </a:p>
        </p:txBody>
      </p:sp>
      <p:sp>
        <p:nvSpPr>
          <p:cNvPr id="13" name="Shape 10"/>
          <p:cNvSpPr/>
          <p:nvPr/>
        </p:nvSpPr>
        <p:spPr>
          <a:xfrm>
            <a:off x="6236208" y="1783080"/>
            <a:ext cx="2560320" cy="2971800"/>
          </a:xfrm>
          <a:prstGeom prst="roundRect">
            <a:avLst>
              <a:gd name="adj" fmla="val 2857"/>
            </a:avLst>
          </a:prstGeom>
          <a:solidFill>
            <a:schemeClr val="bg2"/>
          </a:solidFill>
          <a:ln/>
        </p:spPr>
      </p:sp>
      <p:sp>
        <p:nvSpPr>
          <p:cNvPr id="14" name="Text 11"/>
          <p:cNvSpPr/>
          <p:nvPr/>
        </p:nvSpPr>
        <p:spPr>
          <a:xfrm>
            <a:off x="6464808" y="2011680"/>
            <a:ext cx="411480" cy="411480"/>
          </a:xfrm>
          <a:prstGeom prst="ellipse">
            <a:avLst/>
          </a:prstGeom>
          <a:solidFill>
            <a:schemeClr val="accent4"/>
          </a:solid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5" name="Text 12"/>
          <p:cNvSpPr txBox="1"/>
          <p:nvPr/>
        </p:nvSpPr>
        <p:spPr>
          <a:xfrm>
            <a:off x="6464808" y="2560320"/>
            <a:ext cx="2103120" cy="365760"/>
          </a:xfrm>
          <a:prstGeom prst="rect">
            <a:avLst/>
          </a:prstGeom>
          <a:noFill/>
          <a:ln/>
        </p:spPr>
        <p:txBody>
          <a:bodyPr wrap="square" lIns="0" tIns="0" rIns="0" bIns="0" rtlCol="0" anchor="ctr"/>
          <a:lstStyle/>
          <a:p>
            <a:pPr algn="l" indent="0" marL="0">
              <a:buNone/>
            </a:pPr>
            <a:r>
              <a:rPr lang="en-US" sz="1600" b="1" dirty="0">
                <a:solidFill>
                  <a:schemeClr val="tx1"/>
                </a:solidFill>
              </a:rPr>
              <a:t>Regulatory evidence</a:t>
            </a:r>
            <a:endParaRPr lang="en-US" sz="1600" dirty="0"/>
          </a:p>
        </p:txBody>
      </p:sp>
      <p:sp>
        <p:nvSpPr>
          <p:cNvPr id="16" name="Text 13"/>
          <p:cNvSpPr txBox="1"/>
          <p:nvPr/>
        </p:nvSpPr>
        <p:spPr>
          <a:xfrm>
            <a:off x="6464808" y="2971800"/>
            <a:ext cx="2103120" cy="1645920"/>
          </a:xfrm>
          <a:prstGeom prst="rect">
            <a:avLst/>
          </a:prstGeom>
          <a:noFill/>
          <a:ln/>
        </p:spPr>
        <p:txBody>
          <a:bodyPr wrap="square" lIns="0" tIns="0" rIns="0" bIns="0" rtlCol="0" anchor="t"/>
          <a:lstStyle/>
          <a:p>
            <a:pPr algn="l" indent="0" marL="0">
              <a:buNone/>
            </a:pPr>
            <a:r>
              <a:rPr lang="en-US" sz="1300" dirty="0">
                <a:solidFill>
                  <a:schemeClr val="tx1"/>
                </a:solidFill>
              </a:rPr>
              <a:t>Each regulatory deadline is a date stored with the rule that drives it, so products can test whether forms, reports, notices and searches were on time.</a:t>
            </a:r>
            <a:endParaRPr lang="en-US" sz="1300" dirty="0"/>
          </a:p>
        </p:txBody>
      </p:sp>
      <p:sp>
        <p:nvSpPr>
          <p:cNvPr id="17" name="Shape 14"/>
          <p:cNvSpPr/>
          <p:nvPr/>
        </p:nvSpPr>
        <p:spPr>
          <a:xfrm>
            <a:off x="9079992" y="1783080"/>
            <a:ext cx="2560320" cy="2971800"/>
          </a:xfrm>
          <a:prstGeom prst="roundRect">
            <a:avLst>
              <a:gd name="adj" fmla="val 2857"/>
            </a:avLst>
          </a:prstGeom>
          <a:solidFill>
            <a:schemeClr val="bg2"/>
          </a:solidFill>
          <a:ln/>
        </p:spPr>
      </p:sp>
      <p:sp>
        <p:nvSpPr>
          <p:cNvPr id="18" name="Text 15"/>
          <p:cNvSpPr/>
          <p:nvPr/>
        </p:nvSpPr>
        <p:spPr>
          <a:xfrm>
            <a:off x="9308592" y="2011680"/>
            <a:ext cx="411480" cy="411480"/>
          </a:xfrm>
          <a:prstGeom prst="ellipse">
            <a:avLst/>
          </a:prstGeom>
          <a:solidFill>
            <a:schemeClr val="accent5"/>
          </a:solid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19" name="Text 16"/>
          <p:cNvSpPr txBox="1"/>
          <p:nvPr/>
        </p:nvSpPr>
        <p:spPr>
          <a:xfrm>
            <a:off x="9308592" y="2560320"/>
            <a:ext cx="2103120" cy="365760"/>
          </a:xfrm>
          <a:prstGeom prst="rect">
            <a:avLst/>
          </a:prstGeom>
          <a:noFill/>
          <a:ln/>
        </p:spPr>
        <p:txBody>
          <a:bodyPr wrap="square" lIns="0" tIns="0" rIns="0" bIns="0" rtlCol="0" anchor="ctr"/>
          <a:lstStyle/>
          <a:p>
            <a:pPr algn="l" indent="0" marL="0">
              <a:buNone/>
            </a:pPr>
            <a:r>
              <a:rPr lang="en-US" sz="1600" b="1" dirty="0">
                <a:solidFill>
                  <a:schemeClr val="tx1"/>
                </a:solidFill>
              </a:rPr>
              <a:t>Governance focus</a:t>
            </a:r>
            <a:endParaRPr lang="en-US" sz="1600" dirty="0"/>
          </a:p>
        </p:txBody>
      </p:sp>
      <p:sp>
        <p:nvSpPr>
          <p:cNvPr id="20" name="Text 17"/>
          <p:cNvSpPr txBox="1"/>
          <p:nvPr/>
        </p:nvSpPr>
        <p:spPr>
          <a:xfrm>
            <a:off x="9308592" y="2971800"/>
            <a:ext cx="2103120" cy="1645920"/>
          </a:xfrm>
          <a:prstGeom prst="rect">
            <a:avLst/>
          </a:prstGeom>
          <a:noFill/>
          <a:ln/>
        </p:spPr>
        <p:txBody>
          <a:bodyPr wrap="square" lIns="0" tIns="0" rIns="0" bIns="0" rtlCol="0" anchor="t"/>
          <a:lstStyle/>
          <a:p>
            <a:pPr algn="l" indent="0" marL="0">
              <a:buNone/>
            </a:pPr>
            <a:r>
              <a:rPr lang="en-US" sz="1300" dirty="0">
                <a:solidFill>
                  <a:schemeClr val="tx1"/>
                </a:solidFill>
              </a:rPr>
              <a:t>A named owning domain for every attribute, 72 proposed critical data elements and 24 personal data flags show stewards where to focus.</a:t>
            </a:r>
            <a:endParaRPr lang="en-US" sz="1300" dirty="0"/>
          </a:p>
        </p:txBody>
      </p:sp>
      <p:sp>
        <p:nvSpPr>
          <p:cNvPr id="21" name="Text 18"/>
          <p:cNvSpPr txBox="1"/>
          <p:nvPr/>
        </p:nvSpPr>
        <p:spPr>
          <a:xfrm>
            <a:off x="548640" y="4937760"/>
            <a:ext cx="5486400" cy="256032"/>
          </a:xfrm>
          <a:prstGeom prst="rect">
            <a:avLst/>
          </a:prstGeom>
          <a:noFill/>
          <a:ln/>
        </p:spPr>
        <p:txBody>
          <a:bodyPr wrap="square" lIns="0" tIns="0" rIns="0" bIns="0" rtlCol="0" anchor="ctr"/>
          <a:lstStyle/>
          <a:p>
            <a:pPr algn="l" indent="0" marL="0">
              <a:buNone/>
            </a:pPr>
            <a:r>
              <a:rPr lang="en-US" sz="1200" b="1" spc="150" kern="0" dirty="0">
                <a:solidFill>
                  <a:schemeClr val="tx2"/>
                </a:solidFill>
              </a:rPr>
              <a:t>WHERE THE DEFINITIONS TRAVEL</a:t>
            </a:r>
            <a:endParaRPr lang="en-US" sz="1200" dirty="0"/>
          </a:p>
        </p:txBody>
      </p:sp>
      <p:sp>
        <p:nvSpPr>
          <p:cNvPr id="22" name="Text 19"/>
          <p:cNvSpPr/>
          <p:nvPr/>
        </p:nvSpPr>
        <p:spPr>
          <a:xfrm>
            <a:off x="548640" y="5257800"/>
            <a:ext cx="1618488" cy="868680"/>
          </a:xfrm>
          <a:prstGeom prst="roundRect">
            <a:avLst>
              <a:gd name="adj" fmla="val 8421"/>
            </a:avLst>
          </a:prstGeom>
          <a:solidFill>
            <a:schemeClr val="bg2"/>
          </a:solidFill>
          <a:ln/>
        </p:spPr>
        <p:txBody>
          <a:bodyPr wrap="square" lIns="1016" tIns="1016" rIns="1016" bIns="1016" rtlCol="0" anchor="ctr"/>
          <a:lstStyle/>
          <a:p>
            <a:pPr algn="ctr" indent="0" marL="0">
              <a:buNone/>
            </a:pPr>
            <a:r>
              <a:rPr lang="en-US" sz="1100" b="1" dirty="0">
                <a:solidFill>
                  <a:schemeClr val="tx1"/>
                </a:solidFill>
              </a:rPr>
              <a:t>Transfer agent and vendor sources</a:t>
            </a:r>
            <a:endParaRPr lang="en-US" sz="1100" dirty="0"/>
          </a:p>
        </p:txBody>
      </p:sp>
      <p:sp>
        <p:nvSpPr>
          <p:cNvPr id="23" name="Shape 20"/>
          <p:cNvSpPr/>
          <p:nvPr/>
        </p:nvSpPr>
        <p:spPr>
          <a:xfrm>
            <a:off x="2203704" y="5692140"/>
            <a:ext cx="202997" cy="0"/>
          </a:xfrm>
          <a:prstGeom prst="line">
            <a:avLst/>
          </a:prstGeom>
          <a:noFill/>
          <a:ln w="19050">
            <a:solidFill>
              <a:schemeClr val="tx2"/>
            </a:solidFill>
            <a:prstDash val="solid"/>
            <a:tailEnd type="triangle"/>
          </a:ln>
        </p:spPr>
      </p:sp>
      <p:sp>
        <p:nvSpPr>
          <p:cNvPr id="24" name="Text 21"/>
          <p:cNvSpPr/>
          <p:nvPr/>
        </p:nvSpPr>
        <p:spPr>
          <a:xfrm>
            <a:off x="2443277" y="5257800"/>
            <a:ext cx="1618488" cy="868680"/>
          </a:xfrm>
          <a:prstGeom prst="roundRect">
            <a:avLst>
              <a:gd name="adj" fmla="val 8421"/>
            </a:avLst>
          </a:prstGeom>
          <a:solidFill>
            <a:schemeClr val="accent1"/>
          </a:solidFill>
          <a:ln/>
        </p:spPr>
        <p:txBody>
          <a:bodyPr wrap="square" lIns="1016" tIns="1016" rIns="1016" bIns="1016" rtlCol="0" anchor="ctr"/>
          <a:lstStyle/>
          <a:p>
            <a:pPr algn="ctr" indent="0" marL="0">
              <a:buNone/>
            </a:pPr>
            <a:r>
              <a:rPr lang="en-US" sz="1200" b="1" dirty="0">
                <a:solidFill>
                  <a:schemeClr val="bg1"/>
                </a:solidFill>
              </a:rPr>
              <a:t>Investor Servicing definitions</a:t>
            </a:r>
            <a:endParaRPr lang="en-US" sz="1200" dirty="0"/>
          </a:p>
        </p:txBody>
      </p:sp>
      <p:sp>
        <p:nvSpPr>
          <p:cNvPr id="25" name="Shape 22"/>
          <p:cNvSpPr/>
          <p:nvPr/>
        </p:nvSpPr>
        <p:spPr>
          <a:xfrm>
            <a:off x="4098341" y="5692140"/>
            <a:ext cx="202997" cy="0"/>
          </a:xfrm>
          <a:prstGeom prst="line">
            <a:avLst/>
          </a:prstGeom>
          <a:noFill/>
          <a:ln w="19050">
            <a:solidFill>
              <a:schemeClr val="tx2"/>
            </a:solidFill>
            <a:prstDash val="solid"/>
            <a:tailEnd type="triangle"/>
          </a:ln>
        </p:spPr>
      </p:sp>
      <p:sp>
        <p:nvSpPr>
          <p:cNvPr id="26" name="Text 23"/>
          <p:cNvSpPr/>
          <p:nvPr/>
        </p:nvSpPr>
        <p:spPr>
          <a:xfrm>
            <a:off x="4337914" y="5257800"/>
            <a:ext cx="1618488" cy="868680"/>
          </a:xfrm>
          <a:prstGeom prst="roundRect">
            <a:avLst>
              <a:gd name="adj" fmla="val 8421"/>
            </a:avLst>
          </a:prstGeom>
          <a:solidFill>
            <a:schemeClr val="bg2"/>
          </a:solidFill>
          <a:ln/>
        </p:spPr>
        <p:txBody>
          <a:bodyPr wrap="square" lIns="1016" tIns="1016" rIns="1016" bIns="1016" rtlCol="0" anchor="ctr"/>
          <a:lstStyle/>
          <a:p>
            <a:pPr algn="ctr" indent="0" marL="0">
              <a:buNone/>
            </a:pPr>
            <a:r>
              <a:rPr lang="en-US" sz="1200" b="1" dirty="0">
                <a:solidFill>
                  <a:schemeClr val="tx1"/>
                </a:solidFill>
              </a:rPr>
              <a:t>DP-043 anchor product</a:t>
            </a:r>
            <a:endParaRPr lang="en-US" sz="1200" dirty="0"/>
          </a:p>
        </p:txBody>
      </p:sp>
      <p:sp>
        <p:nvSpPr>
          <p:cNvPr id="27" name="Shape 24"/>
          <p:cNvSpPr/>
          <p:nvPr/>
        </p:nvSpPr>
        <p:spPr>
          <a:xfrm>
            <a:off x="5992978" y="5692140"/>
            <a:ext cx="202997" cy="0"/>
          </a:xfrm>
          <a:prstGeom prst="line">
            <a:avLst/>
          </a:prstGeom>
          <a:noFill/>
          <a:ln w="19050">
            <a:solidFill>
              <a:schemeClr val="tx2"/>
            </a:solidFill>
            <a:prstDash val="solid"/>
            <a:tailEnd type="triangle"/>
          </a:ln>
        </p:spPr>
      </p:sp>
      <p:sp>
        <p:nvSpPr>
          <p:cNvPr id="28" name="Text 25"/>
          <p:cNvSpPr/>
          <p:nvPr/>
        </p:nvSpPr>
        <p:spPr>
          <a:xfrm>
            <a:off x="6232550" y="5257800"/>
            <a:ext cx="1618488" cy="868680"/>
          </a:xfrm>
          <a:prstGeom prst="roundRect">
            <a:avLst>
              <a:gd name="adj" fmla="val 8421"/>
            </a:avLst>
          </a:prstGeom>
          <a:solidFill>
            <a:schemeClr val="bg2"/>
          </a:solidFill>
          <a:ln/>
        </p:spPr>
        <p:txBody>
          <a:bodyPr wrap="square" lIns="1016" tIns="1016" rIns="1016" bIns="1016" rtlCol="0" anchor="ctr"/>
          <a:lstStyle/>
          <a:p>
            <a:pPr algn="ctr" indent="0" marL="0">
              <a:buNone/>
            </a:pPr>
            <a:r>
              <a:rPr lang="en-US" sz="1200" b="1" dirty="0">
                <a:solidFill>
                  <a:schemeClr val="tx1"/>
                </a:solidFill>
              </a:rPr>
              <a:t>Other servicing data products</a:t>
            </a:r>
            <a:endParaRPr lang="en-US" sz="1200" dirty="0"/>
          </a:p>
        </p:txBody>
      </p:sp>
      <p:sp>
        <p:nvSpPr>
          <p:cNvPr id="29" name="Shape 26"/>
          <p:cNvSpPr/>
          <p:nvPr/>
        </p:nvSpPr>
        <p:spPr>
          <a:xfrm>
            <a:off x="7887614" y="5692140"/>
            <a:ext cx="202997" cy="0"/>
          </a:xfrm>
          <a:prstGeom prst="line">
            <a:avLst/>
          </a:prstGeom>
          <a:noFill/>
          <a:ln w="19050">
            <a:solidFill>
              <a:schemeClr val="tx2"/>
            </a:solidFill>
            <a:prstDash val="solid"/>
            <a:tailEnd type="triangle"/>
          </a:ln>
        </p:spPr>
      </p:sp>
      <p:sp>
        <p:nvSpPr>
          <p:cNvPr id="30" name="Text 27"/>
          <p:cNvSpPr/>
          <p:nvPr/>
        </p:nvSpPr>
        <p:spPr>
          <a:xfrm>
            <a:off x="8127187" y="5257800"/>
            <a:ext cx="1618488" cy="868680"/>
          </a:xfrm>
          <a:prstGeom prst="roundRect">
            <a:avLst>
              <a:gd name="adj" fmla="val 8421"/>
            </a:avLst>
          </a:prstGeom>
          <a:solidFill>
            <a:schemeClr val="bg2"/>
          </a:solidFill>
          <a:ln/>
        </p:spPr>
        <p:txBody>
          <a:bodyPr wrap="square" lIns="1016" tIns="1016" rIns="1016" bIns="1016" rtlCol="0" anchor="ctr"/>
          <a:lstStyle/>
          <a:p>
            <a:pPr algn="ctr" indent="0" marL="0">
              <a:buNone/>
            </a:pPr>
            <a:r>
              <a:rPr lang="en-US" sz="1200" b="1" dirty="0">
                <a:solidFill>
                  <a:schemeClr val="tx1"/>
                </a:solidFill>
              </a:rPr>
              <a:t>Semantic models</a:t>
            </a:r>
            <a:endParaRPr lang="en-US" sz="1200" dirty="0"/>
          </a:p>
        </p:txBody>
      </p:sp>
      <p:sp>
        <p:nvSpPr>
          <p:cNvPr id="31" name="Shape 28"/>
          <p:cNvSpPr/>
          <p:nvPr/>
        </p:nvSpPr>
        <p:spPr>
          <a:xfrm>
            <a:off x="9782251" y="5692140"/>
            <a:ext cx="202997" cy="0"/>
          </a:xfrm>
          <a:prstGeom prst="line">
            <a:avLst/>
          </a:prstGeom>
          <a:noFill/>
          <a:ln w="19050">
            <a:solidFill>
              <a:schemeClr val="tx2"/>
            </a:solidFill>
            <a:prstDash val="solid"/>
            <a:tailEnd type="triangle"/>
          </a:ln>
        </p:spPr>
      </p:sp>
      <p:sp>
        <p:nvSpPr>
          <p:cNvPr id="32" name="Text 29"/>
          <p:cNvSpPr/>
          <p:nvPr/>
        </p:nvSpPr>
        <p:spPr>
          <a:xfrm>
            <a:off x="10021824" y="5257800"/>
            <a:ext cx="1618488" cy="868680"/>
          </a:xfrm>
          <a:prstGeom prst="roundRect">
            <a:avLst>
              <a:gd name="adj" fmla="val 8421"/>
            </a:avLst>
          </a:prstGeom>
          <a:solidFill>
            <a:schemeClr val="bg2"/>
          </a:solidFill>
          <a:ln/>
        </p:spPr>
        <p:txBody>
          <a:bodyPr wrap="square" lIns="1016" tIns="1016" rIns="1016" bIns="1016" rtlCol="0" anchor="ctr"/>
          <a:lstStyle/>
          <a:p>
            <a:pPr algn="ctr" indent="0" marL="0">
              <a:buNone/>
            </a:pPr>
            <a:r>
              <a:rPr lang="en-US" sz="1100" b="1" dirty="0">
                <a:solidFill>
                  <a:schemeClr val="tx1"/>
                </a:solidFill>
              </a:rPr>
              <a:t>Dashboards, board reports, AI assistants</a:t>
            </a:r>
            <a:endParaRPr lang="en-US" sz="11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HOW IT IS USED  |  THE ANCHOR PRODUCT</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One product anchors servicing oversight</a:t>
            </a:r>
            <a:endParaRPr lang="en-US" sz="3600" dirty="0"/>
          </a:p>
        </p:txBody>
      </p:sp>
      <p:sp>
        <p:nvSpPr>
          <p:cNvPr id="5" name="Text 2"/>
          <p:cNvSpPr/>
          <p:nvPr/>
        </p:nvSpPr>
        <p:spPr>
          <a:xfrm>
            <a:off x="548640" y="1783080"/>
            <a:ext cx="1005840" cy="384048"/>
          </a:xfrm>
          <a:prstGeom prst="roundRect">
            <a:avLst>
              <a:gd name="adj" fmla="val 14286"/>
            </a:avLst>
          </a:prstGeom>
          <a:solidFill>
            <a:schemeClr val="accent1"/>
          </a:solidFill>
          <a:ln/>
        </p:spPr>
        <p:txBody>
          <a:bodyPr wrap="square" lIns="0" tIns="0" rIns="0" bIns="0" rtlCol="0" anchor="ctr"/>
          <a:lstStyle/>
          <a:p>
            <a:pPr algn="ctr" indent="0" marL="0">
              <a:buNone/>
            </a:pPr>
            <a:r>
              <a:rPr lang="en-US" sz="1300" b="1" dirty="0">
                <a:solidFill>
                  <a:schemeClr val="bg1"/>
                </a:solidFill>
              </a:rPr>
              <a:t>DP-043</a:t>
            </a:r>
            <a:endParaRPr lang="en-US" sz="1300" dirty="0"/>
          </a:p>
        </p:txBody>
      </p:sp>
      <p:sp>
        <p:nvSpPr>
          <p:cNvPr id="6" name="Text 3"/>
          <p:cNvSpPr txBox="1"/>
          <p:nvPr/>
        </p:nvSpPr>
        <p:spPr>
          <a:xfrm>
            <a:off x="1737360" y="1783080"/>
            <a:ext cx="5486400" cy="384048"/>
          </a:xfrm>
          <a:prstGeom prst="rect">
            <a:avLst/>
          </a:prstGeom>
          <a:noFill/>
          <a:ln/>
        </p:spPr>
        <p:txBody>
          <a:bodyPr wrap="square" lIns="0" tIns="0" rIns="0" bIns="0" rtlCol="0" anchor="ctr"/>
          <a:lstStyle/>
          <a:p>
            <a:pPr algn="l" indent="0" marL="0">
              <a:buNone/>
            </a:pPr>
            <a:r>
              <a:rPr lang="en-US" sz="1800" b="1" dirty="0">
                <a:solidFill>
                  <a:schemeClr val="tx1"/>
                </a:solidFill>
              </a:rPr>
              <a:t>Shareholder Servicing &amp; TA Oversight</a:t>
            </a:r>
            <a:endParaRPr lang="en-US" sz="1800" dirty="0"/>
          </a:p>
        </p:txBody>
      </p:sp>
      <p:sp>
        <p:nvSpPr>
          <p:cNvPr id="7" name="Text 4"/>
          <p:cNvSpPr txBox="1"/>
          <p:nvPr/>
        </p:nvSpPr>
        <p:spPr>
          <a:xfrm>
            <a:off x="548640" y="2258568"/>
            <a:ext cx="6675120" cy="274320"/>
          </a:xfrm>
          <a:prstGeom prst="rect">
            <a:avLst/>
          </a:prstGeom>
          <a:noFill/>
          <a:ln/>
        </p:spPr>
        <p:txBody>
          <a:bodyPr wrap="square" lIns="0" tIns="0" rIns="0" bIns="0" rtlCol="0" anchor="ctr"/>
          <a:lstStyle/>
          <a:p>
            <a:pPr algn="l" indent="0" marL="0">
              <a:buNone/>
            </a:pPr>
            <a:r>
              <a:rPr lang="en-US" sz="1200" dirty="0">
                <a:solidFill>
                  <a:schemeClr val="tx2"/>
                </a:solidFill>
              </a:rPr>
              <a:t>Consumer-aligned  |  Regulatory &amp; Control  |  Owner: Head of TA Oversight</a:t>
            </a:r>
            <a:endParaRPr lang="en-US" sz="1200" dirty="0"/>
          </a:p>
        </p:txBody>
      </p:sp>
      <p:sp>
        <p:nvSpPr>
          <p:cNvPr id="8" name="Shape 5"/>
          <p:cNvSpPr/>
          <p:nvPr/>
        </p:nvSpPr>
        <p:spPr>
          <a:xfrm>
            <a:off x="548640" y="2697480"/>
            <a:ext cx="6675120" cy="0"/>
          </a:xfrm>
          <a:prstGeom prst="line">
            <a:avLst/>
          </a:prstGeom>
          <a:noFill/>
          <a:ln w="9525">
            <a:solidFill>
              <a:srgbClr val="D5D9E1"/>
            </a:solidFill>
            <a:prstDash val="solid"/>
          </a:ln>
        </p:spPr>
      </p:sp>
      <p:sp>
        <p:nvSpPr>
          <p:cNvPr id="9" name="Text 6"/>
          <p:cNvSpPr txBox="1"/>
          <p:nvPr/>
        </p:nvSpPr>
        <p:spPr>
          <a:xfrm>
            <a:off x="548640" y="2697480"/>
            <a:ext cx="1188720" cy="658368"/>
          </a:xfrm>
          <a:prstGeom prst="rect">
            <a:avLst/>
          </a:prstGeom>
          <a:noFill/>
          <a:ln/>
        </p:spPr>
        <p:txBody>
          <a:bodyPr wrap="square" lIns="0" tIns="0" rIns="0" bIns="0" rtlCol="0" anchor="ctr"/>
          <a:lstStyle/>
          <a:p>
            <a:pPr algn="l" indent="0" marL="0">
              <a:buNone/>
            </a:pPr>
            <a:r>
              <a:rPr lang="en-US" sz="1200" b="1" spc="150" kern="0" dirty="0">
                <a:solidFill>
                  <a:schemeClr val="accent1"/>
                </a:solidFill>
              </a:rPr>
              <a:t>GRAIN</a:t>
            </a:r>
            <a:endParaRPr lang="en-US" sz="1200" dirty="0"/>
          </a:p>
        </p:txBody>
      </p:sp>
      <p:sp>
        <p:nvSpPr>
          <p:cNvPr id="10" name="Text 7"/>
          <p:cNvSpPr txBox="1"/>
          <p:nvPr/>
        </p:nvSpPr>
        <p:spPr>
          <a:xfrm>
            <a:off x="1828800" y="2697480"/>
            <a:ext cx="5394960" cy="658368"/>
          </a:xfrm>
          <a:prstGeom prst="rect">
            <a:avLst/>
          </a:prstGeom>
          <a:noFill/>
          <a:ln/>
        </p:spPr>
        <p:txBody>
          <a:bodyPr wrap="square" lIns="0" tIns="0" rIns="0" bIns="0" rtlCol="0" anchor="ctr"/>
          <a:lstStyle/>
          <a:p>
            <a:pPr algn="l" indent="0" marL="0">
              <a:buNone/>
            </a:pPr>
            <a:r>
              <a:rPr lang="en-US" sz="1300" dirty="0">
                <a:solidFill>
                  <a:schemeClr val="tx1"/>
                </a:solidFill>
              </a:rPr>
              <a:t>One row per servicing provider, oversight metric and month, with drill-down to request, interaction, error and remediation events</a:t>
            </a:r>
            <a:endParaRPr lang="en-US" sz="1300" dirty="0"/>
          </a:p>
        </p:txBody>
      </p:sp>
      <p:sp>
        <p:nvSpPr>
          <p:cNvPr id="11" name="Shape 8"/>
          <p:cNvSpPr/>
          <p:nvPr/>
        </p:nvSpPr>
        <p:spPr>
          <a:xfrm>
            <a:off x="548640" y="3355848"/>
            <a:ext cx="6675120" cy="0"/>
          </a:xfrm>
          <a:prstGeom prst="line">
            <a:avLst/>
          </a:prstGeom>
          <a:noFill/>
          <a:ln w="9525">
            <a:solidFill>
              <a:srgbClr val="D5D9E1"/>
            </a:solidFill>
            <a:prstDash val="solid"/>
          </a:ln>
        </p:spPr>
      </p:sp>
      <p:sp>
        <p:nvSpPr>
          <p:cNvPr id="12" name="Text 9"/>
          <p:cNvSpPr txBox="1"/>
          <p:nvPr/>
        </p:nvSpPr>
        <p:spPr>
          <a:xfrm>
            <a:off x="548640" y="3355848"/>
            <a:ext cx="1188720" cy="658368"/>
          </a:xfrm>
          <a:prstGeom prst="rect">
            <a:avLst/>
          </a:prstGeom>
          <a:noFill/>
          <a:ln/>
        </p:spPr>
        <p:txBody>
          <a:bodyPr wrap="square" lIns="0" tIns="0" rIns="0" bIns="0" rtlCol="0" anchor="ctr"/>
          <a:lstStyle/>
          <a:p>
            <a:pPr algn="l" indent="0" marL="0">
              <a:buNone/>
            </a:pPr>
            <a:r>
              <a:rPr lang="en-US" sz="1200" b="1" spc="150" kern="0" dirty="0">
                <a:solidFill>
                  <a:schemeClr val="accent1"/>
                </a:solidFill>
              </a:rPr>
              <a:t>INPUTS</a:t>
            </a:r>
            <a:endParaRPr lang="en-US" sz="1200" dirty="0"/>
          </a:p>
        </p:txBody>
      </p:sp>
      <p:sp>
        <p:nvSpPr>
          <p:cNvPr id="13" name="Text 10"/>
          <p:cNvSpPr txBox="1"/>
          <p:nvPr/>
        </p:nvSpPr>
        <p:spPr>
          <a:xfrm>
            <a:off x="1828800" y="3355848"/>
            <a:ext cx="5394960" cy="658368"/>
          </a:xfrm>
          <a:prstGeom prst="rect">
            <a:avLst/>
          </a:prstGeom>
          <a:noFill/>
          <a:ln/>
        </p:spPr>
        <p:txBody>
          <a:bodyPr wrap="square" lIns="0" tIns="0" rIns="0" bIns="0" rtlCol="0" anchor="ctr"/>
          <a:lstStyle/>
          <a:p>
            <a:pPr algn="l" indent="0" marL="0">
              <a:buNone/>
            </a:pPr>
            <a:r>
              <a:rPr lang="en-US" sz="1300" dirty="0">
                <a:solidFill>
                  <a:schemeClr val="tx1"/>
                </a:solidFill>
              </a:rPr>
              <a:t>65 of its 71 attributes come from 11 of this domain's 42 objects. The other 6 are complaint attributes from Distribution Compliance</a:t>
            </a:r>
            <a:endParaRPr lang="en-US" sz="1300" dirty="0"/>
          </a:p>
        </p:txBody>
      </p:sp>
      <p:sp>
        <p:nvSpPr>
          <p:cNvPr id="14" name="Shape 11"/>
          <p:cNvSpPr/>
          <p:nvPr/>
        </p:nvSpPr>
        <p:spPr>
          <a:xfrm>
            <a:off x="548640" y="4014216"/>
            <a:ext cx="6675120" cy="0"/>
          </a:xfrm>
          <a:prstGeom prst="line">
            <a:avLst/>
          </a:prstGeom>
          <a:noFill/>
          <a:ln w="9525">
            <a:solidFill>
              <a:srgbClr val="D5D9E1"/>
            </a:solidFill>
            <a:prstDash val="solid"/>
          </a:ln>
        </p:spPr>
      </p:sp>
      <p:sp>
        <p:nvSpPr>
          <p:cNvPr id="15" name="Text 12"/>
          <p:cNvSpPr txBox="1"/>
          <p:nvPr/>
        </p:nvSpPr>
        <p:spPr>
          <a:xfrm>
            <a:off x="548640" y="4014216"/>
            <a:ext cx="1188720" cy="658368"/>
          </a:xfrm>
          <a:prstGeom prst="rect">
            <a:avLst/>
          </a:prstGeom>
          <a:noFill/>
          <a:ln/>
        </p:spPr>
        <p:txBody>
          <a:bodyPr wrap="square" lIns="0" tIns="0" rIns="0" bIns="0" rtlCol="0" anchor="ctr"/>
          <a:lstStyle/>
          <a:p>
            <a:pPr algn="l" indent="0" marL="0">
              <a:buNone/>
            </a:pPr>
            <a:r>
              <a:rPr lang="en-US" sz="1200" b="1" spc="150" kern="0" dirty="0">
                <a:solidFill>
                  <a:schemeClr val="accent1"/>
                </a:solidFill>
              </a:rPr>
              <a:t>REFRESH</a:t>
            </a:r>
            <a:endParaRPr lang="en-US" sz="1200" dirty="0"/>
          </a:p>
        </p:txBody>
      </p:sp>
      <p:sp>
        <p:nvSpPr>
          <p:cNvPr id="16" name="Text 13"/>
          <p:cNvSpPr txBox="1"/>
          <p:nvPr/>
        </p:nvSpPr>
        <p:spPr>
          <a:xfrm>
            <a:off x="1828800" y="4014216"/>
            <a:ext cx="5394960" cy="658368"/>
          </a:xfrm>
          <a:prstGeom prst="rect">
            <a:avLst/>
          </a:prstGeom>
          <a:noFill/>
          <a:ln/>
        </p:spPr>
        <p:txBody>
          <a:bodyPr wrap="square" lIns="0" tIns="0" rIns="0" bIns="0" rtlCol="0" anchor="ctr"/>
          <a:lstStyle/>
          <a:p>
            <a:pPr algn="l" indent="0" marL="0">
              <a:buNone/>
            </a:pPr>
            <a:r>
              <a:rPr lang="en-US" sz="1300" dirty="0">
                <a:solidFill>
                  <a:schemeClr val="tx1"/>
                </a:solidFill>
              </a:rPr>
              <a:t>Monthly, by business day 10 after month-end. Material servicing errors are added within 1 business day of being logged</a:t>
            </a:r>
            <a:endParaRPr lang="en-US" sz="1300" dirty="0"/>
          </a:p>
        </p:txBody>
      </p:sp>
      <p:sp>
        <p:nvSpPr>
          <p:cNvPr id="17" name="Shape 14"/>
          <p:cNvSpPr/>
          <p:nvPr/>
        </p:nvSpPr>
        <p:spPr>
          <a:xfrm>
            <a:off x="548640" y="4672584"/>
            <a:ext cx="6675120" cy="0"/>
          </a:xfrm>
          <a:prstGeom prst="line">
            <a:avLst/>
          </a:prstGeom>
          <a:noFill/>
          <a:ln w="9525">
            <a:solidFill>
              <a:srgbClr val="D5D9E1"/>
            </a:solidFill>
            <a:prstDash val="solid"/>
          </a:ln>
        </p:spPr>
      </p:sp>
      <p:sp>
        <p:nvSpPr>
          <p:cNvPr id="18" name="Text 15"/>
          <p:cNvSpPr txBox="1"/>
          <p:nvPr/>
        </p:nvSpPr>
        <p:spPr>
          <a:xfrm>
            <a:off x="548640" y="4672584"/>
            <a:ext cx="1188720" cy="658368"/>
          </a:xfrm>
          <a:prstGeom prst="rect">
            <a:avLst/>
          </a:prstGeom>
          <a:noFill/>
          <a:ln/>
        </p:spPr>
        <p:txBody>
          <a:bodyPr wrap="square" lIns="0" tIns="0" rIns="0" bIns="0" rtlCol="0" anchor="ctr"/>
          <a:lstStyle/>
          <a:p>
            <a:pPr algn="l" indent="0" marL="0">
              <a:buNone/>
            </a:pPr>
            <a:r>
              <a:rPr lang="en-US" sz="1200" b="1" spc="150" kern="0" dirty="0">
                <a:solidFill>
                  <a:schemeClr val="accent1"/>
                </a:solidFill>
              </a:rPr>
              <a:t>HISTORY</a:t>
            </a:r>
            <a:endParaRPr lang="en-US" sz="1200" dirty="0"/>
          </a:p>
        </p:txBody>
      </p:sp>
      <p:sp>
        <p:nvSpPr>
          <p:cNvPr id="19" name="Text 16"/>
          <p:cNvSpPr txBox="1"/>
          <p:nvPr/>
        </p:nvSpPr>
        <p:spPr>
          <a:xfrm>
            <a:off x="1828800" y="4672584"/>
            <a:ext cx="5394960" cy="658368"/>
          </a:xfrm>
          <a:prstGeom prst="rect">
            <a:avLst/>
          </a:prstGeom>
          <a:noFill/>
          <a:ln/>
        </p:spPr>
        <p:txBody>
          <a:bodyPr wrap="square" lIns="0" tIns="0" rIns="0" bIns="0" rtlCol="0" anchor="ctr"/>
          <a:lstStyle/>
          <a:p>
            <a:pPr algn="l" indent="0" marL="0">
              <a:buNone/>
            </a:pPr>
            <a:r>
              <a:rPr lang="en-US" sz="1300" dirty="0">
                <a:solidFill>
                  <a:schemeClr val="tx1"/>
                </a:solidFill>
              </a:rPr>
              <a:t>Monthly snapshots and all servicing errors and remediations are kept for 7 years</a:t>
            </a:r>
            <a:endParaRPr lang="en-US" sz="1300" dirty="0"/>
          </a:p>
        </p:txBody>
      </p:sp>
      <p:sp>
        <p:nvSpPr>
          <p:cNvPr id="20" name="Shape 17"/>
          <p:cNvSpPr/>
          <p:nvPr/>
        </p:nvSpPr>
        <p:spPr>
          <a:xfrm>
            <a:off x="548640" y="5330952"/>
            <a:ext cx="6675120" cy="0"/>
          </a:xfrm>
          <a:prstGeom prst="line">
            <a:avLst/>
          </a:prstGeom>
          <a:noFill/>
          <a:ln w="9525">
            <a:solidFill>
              <a:srgbClr val="D5D9E1"/>
            </a:solidFill>
            <a:prstDash val="solid"/>
          </a:ln>
        </p:spPr>
      </p:sp>
      <p:sp>
        <p:nvSpPr>
          <p:cNvPr id="21" name="Text 18"/>
          <p:cNvSpPr txBox="1"/>
          <p:nvPr/>
        </p:nvSpPr>
        <p:spPr>
          <a:xfrm>
            <a:off x="548640" y="5330952"/>
            <a:ext cx="1188720" cy="658368"/>
          </a:xfrm>
          <a:prstGeom prst="rect">
            <a:avLst/>
          </a:prstGeom>
          <a:noFill/>
          <a:ln/>
        </p:spPr>
        <p:txBody>
          <a:bodyPr wrap="square" lIns="0" tIns="0" rIns="0" bIns="0" rtlCol="0" anchor="ctr"/>
          <a:lstStyle/>
          <a:p>
            <a:pPr algn="l" indent="0" marL="0">
              <a:buNone/>
            </a:pPr>
            <a:r>
              <a:rPr lang="en-US" sz="1200" b="1" spc="150" kern="0" dirty="0">
                <a:solidFill>
                  <a:schemeClr val="accent1"/>
                </a:solidFill>
              </a:rPr>
              <a:t>ACCESS</a:t>
            </a:r>
            <a:endParaRPr lang="en-US" sz="1200" dirty="0"/>
          </a:p>
        </p:txBody>
      </p:sp>
      <p:sp>
        <p:nvSpPr>
          <p:cNvPr id="22" name="Text 19"/>
          <p:cNvSpPr txBox="1"/>
          <p:nvPr/>
        </p:nvSpPr>
        <p:spPr>
          <a:xfrm>
            <a:off x="1828800" y="5330952"/>
            <a:ext cx="5394960" cy="658368"/>
          </a:xfrm>
          <a:prstGeom prst="rect">
            <a:avLst/>
          </a:prstGeom>
          <a:noFill/>
          <a:ln/>
        </p:spPr>
        <p:txBody>
          <a:bodyPr wrap="square" lIns="0" tIns="0" rIns="0" bIns="0" rtlCol="0" anchor="ctr"/>
          <a:lstStyle/>
          <a:p>
            <a:pPr algn="l" indent="0" marL="0">
              <a:buNone/>
            </a:pPr>
            <a:r>
              <a:rPr lang="en-US" sz="1300" dirty="0">
                <a:solidFill>
                  <a:schemeClr val="tx1"/>
                </a:solidFill>
              </a:rPr>
              <a:t>Confidential, with personal data. Drill-down shows shareholder accounts; the dashboard and board pack use aggregates only</a:t>
            </a:r>
            <a:endParaRPr lang="en-US" sz="1300" dirty="0"/>
          </a:p>
        </p:txBody>
      </p:sp>
      <p:sp>
        <p:nvSpPr>
          <p:cNvPr id="23" name="Shape 20"/>
          <p:cNvSpPr/>
          <p:nvPr/>
        </p:nvSpPr>
        <p:spPr>
          <a:xfrm>
            <a:off x="7589520" y="1783080"/>
            <a:ext cx="1933956" cy="1600200"/>
          </a:xfrm>
          <a:prstGeom prst="roundRect">
            <a:avLst>
              <a:gd name="adj" fmla="val 4571"/>
            </a:avLst>
          </a:prstGeom>
          <a:solidFill>
            <a:schemeClr val="tx1"/>
          </a:solidFill>
          <a:ln/>
        </p:spPr>
      </p:sp>
      <p:sp>
        <p:nvSpPr>
          <p:cNvPr id="24" name="Text 21"/>
          <p:cNvSpPr txBox="1"/>
          <p:nvPr/>
        </p:nvSpPr>
        <p:spPr>
          <a:xfrm>
            <a:off x="7772400" y="1920240"/>
            <a:ext cx="1572768" cy="594360"/>
          </a:xfrm>
          <a:prstGeom prst="rect">
            <a:avLst/>
          </a:prstGeom>
          <a:noFill/>
          <a:ln/>
        </p:spPr>
        <p:txBody>
          <a:bodyPr wrap="square" lIns="0" tIns="0" rIns="0" bIns="0" rtlCol="0" anchor="ctr"/>
          <a:lstStyle/>
          <a:p>
            <a:pPr algn="l" indent="0" marL="0">
              <a:buNone/>
            </a:pPr>
            <a:r>
              <a:rPr lang="en-US" sz="2800" b="1" dirty="0">
                <a:solidFill>
                  <a:schemeClr val="accent6"/>
                </a:solidFill>
              </a:rPr>
              <a:t>4</a:t>
            </a:r>
            <a:endParaRPr lang="en-US" sz="2800" dirty="0"/>
          </a:p>
        </p:txBody>
      </p:sp>
      <p:sp>
        <p:nvSpPr>
          <p:cNvPr id="25" name="Text 22"/>
          <p:cNvSpPr txBox="1"/>
          <p:nvPr/>
        </p:nvSpPr>
        <p:spPr>
          <a:xfrm>
            <a:off x="7772400" y="2560320"/>
            <a:ext cx="1572768" cy="731520"/>
          </a:xfrm>
          <a:prstGeom prst="rect">
            <a:avLst/>
          </a:prstGeom>
          <a:noFill/>
          <a:ln/>
        </p:spPr>
        <p:txBody>
          <a:bodyPr wrap="square" lIns="0" tIns="0" rIns="0" bIns="0" rtlCol="0" anchor="t"/>
          <a:lstStyle/>
          <a:p>
            <a:pPr algn="l" indent="0" marL="0">
              <a:buNone/>
            </a:pPr>
            <a:r>
              <a:rPr lang="en-US" sz="1200" dirty="0">
                <a:solidFill>
                  <a:schemeClr val="bg1"/>
                </a:solidFill>
              </a:rPr>
              <a:t>products name it as a direct upstream</a:t>
            </a:r>
            <a:endParaRPr lang="en-US" sz="1200" dirty="0"/>
          </a:p>
        </p:txBody>
      </p:sp>
      <p:sp>
        <p:nvSpPr>
          <p:cNvPr id="26" name="Shape 23"/>
          <p:cNvSpPr/>
          <p:nvPr/>
        </p:nvSpPr>
        <p:spPr>
          <a:xfrm>
            <a:off x="9706356" y="1783080"/>
            <a:ext cx="1933956" cy="1600200"/>
          </a:xfrm>
          <a:prstGeom prst="roundRect">
            <a:avLst>
              <a:gd name="adj" fmla="val 4571"/>
            </a:avLst>
          </a:prstGeom>
          <a:solidFill>
            <a:schemeClr val="tx1"/>
          </a:solidFill>
          <a:ln/>
        </p:spPr>
      </p:sp>
      <p:sp>
        <p:nvSpPr>
          <p:cNvPr id="27" name="Text 24"/>
          <p:cNvSpPr txBox="1"/>
          <p:nvPr/>
        </p:nvSpPr>
        <p:spPr>
          <a:xfrm>
            <a:off x="9889236" y="1920240"/>
            <a:ext cx="1572768" cy="594360"/>
          </a:xfrm>
          <a:prstGeom prst="rect">
            <a:avLst/>
          </a:prstGeom>
          <a:noFill/>
          <a:ln/>
        </p:spPr>
        <p:txBody>
          <a:bodyPr wrap="square" lIns="0" tIns="0" rIns="0" bIns="0" rtlCol="0" anchor="ctr"/>
          <a:lstStyle/>
          <a:p>
            <a:pPr algn="l" indent="0" marL="0">
              <a:buNone/>
            </a:pPr>
            <a:r>
              <a:rPr lang="en-US" sz="2800" b="1" dirty="0">
                <a:solidFill>
                  <a:schemeClr val="accent6"/>
                </a:solidFill>
              </a:rPr>
              <a:t>5</a:t>
            </a:r>
            <a:endParaRPr lang="en-US" sz="2800" dirty="0"/>
          </a:p>
        </p:txBody>
      </p:sp>
      <p:sp>
        <p:nvSpPr>
          <p:cNvPr id="28" name="Text 25"/>
          <p:cNvSpPr txBox="1"/>
          <p:nvPr/>
        </p:nvSpPr>
        <p:spPr>
          <a:xfrm>
            <a:off x="9889236" y="2560320"/>
            <a:ext cx="1572768" cy="731520"/>
          </a:xfrm>
          <a:prstGeom prst="rect">
            <a:avLst/>
          </a:prstGeom>
          <a:noFill/>
          <a:ln/>
        </p:spPr>
        <p:txBody>
          <a:bodyPr wrap="square" lIns="0" tIns="0" rIns="0" bIns="0" rtlCol="0" anchor="t"/>
          <a:lstStyle/>
          <a:p>
            <a:pPr algn="l" indent="0" marL="0">
              <a:buNone/>
            </a:pPr>
            <a:r>
              <a:rPr lang="en-US" sz="1200" dirty="0">
                <a:solidFill>
                  <a:schemeClr val="bg1"/>
                </a:solidFill>
              </a:rPr>
              <a:t>products depend on it directly or indirectly</a:t>
            </a:r>
            <a:endParaRPr lang="en-US" sz="1200" dirty="0"/>
          </a:p>
        </p:txBody>
      </p:sp>
      <p:sp>
        <p:nvSpPr>
          <p:cNvPr id="29" name="Text 26"/>
          <p:cNvSpPr txBox="1"/>
          <p:nvPr/>
        </p:nvSpPr>
        <p:spPr>
          <a:xfrm>
            <a:off x="7589520" y="3657600"/>
            <a:ext cx="4050792" cy="256032"/>
          </a:xfrm>
          <a:prstGeom prst="rect">
            <a:avLst/>
          </a:prstGeom>
          <a:noFill/>
          <a:ln/>
        </p:spPr>
        <p:txBody>
          <a:bodyPr wrap="square" lIns="0" tIns="0" rIns="0" bIns="0" rtlCol="0" anchor="ctr"/>
          <a:lstStyle/>
          <a:p>
            <a:pPr algn="l" indent="0" marL="0">
              <a:buNone/>
            </a:pPr>
            <a:r>
              <a:rPr lang="en-US" sz="1200" b="1" spc="150" kern="0" dirty="0">
                <a:solidFill>
                  <a:schemeClr val="tx2"/>
                </a:solidFill>
              </a:rPr>
              <a:t>QUALITY RULES, FOR EXAMPLE</a:t>
            </a:r>
            <a:endParaRPr lang="en-US" sz="1200" dirty="0"/>
          </a:p>
        </p:txBody>
      </p:sp>
      <p:sp>
        <p:nvSpPr>
          <p:cNvPr id="30" name="Text 27"/>
          <p:cNvSpPr txBox="1"/>
          <p:nvPr/>
        </p:nvSpPr>
        <p:spPr>
          <a:xfrm>
            <a:off x="7589520" y="3995928"/>
            <a:ext cx="4050792" cy="201168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chemeClr val="tx1"/>
                </a:solidFill>
              </a:rPr>
              <a:t>Every service request has a servicing provider with an active engagement</a:t>
            </a:r>
            <a:endParaRPr lang="en-US" sz="1300" dirty="0"/>
          </a:p>
          <a:p>
            <a:pPr marL="177800" indent="-177800">
              <a:spcAft>
                <a:spcPts val="600"/>
              </a:spcAft>
              <a:buSzPct val="100000"/>
              <a:buChar char="•"/>
            </a:pPr>
            <a:r>
              <a:rPr lang="en-US" sz="1300" dirty="0">
                <a:solidFill>
                  <a:schemeClr val="tx1"/>
                </a:solidFill>
              </a:rPr>
              <a:t>Completed time is on or after received time for every completed request</a:t>
            </a:r>
            <a:endParaRPr lang="en-US" sz="1300" dirty="0"/>
          </a:p>
          <a:p>
            <a:pPr marL="177800" indent="-177800">
              <a:spcAft>
                <a:spcPts val="600"/>
              </a:spcAft>
              <a:buSzPct val="100000"/>
              <a:buChar char="•"/>
            </a:pPr>
            <a:r>
              <a:rPr lang="en-US" sz="1300" dirty="0">
                <a:solidFill>
                  <a:schemeClr val="tx1"/>
                </a:solidFill>
              </a:rPr>
              <a:t>Every material servicing error has a remediation or a documented no-harm conclusion</a:t>
            </a:r>
            <a:endParaRPr lang="en-US" sz="1300" dirty="0"/>
          </a:p>
          <a:p>
            <a:pPr marL="177800" indent="-177800">
              <a:spcAft>
                <a:spcPts val="600"/>
              </a:spcAft>
              <a:buSzPct val="100000"/>
              <a:buChar char="•"/>
            </a:pPr>
            <a:r>
              <a:rPr lang="en-US" sz="1300" dirty="0">
                <a:solidFill>
                  <a:schemeClr val="tx1"/>
                </a:solidFill>
              </a:rPr>
              <a:t>A missing result for a contractual service level is reported as not met</a:t>
            </a:r>
            <a:endParaRPr lang="en-US" sz="13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DATA PRODUCTS  |  REACH</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9 of 92 data products read it directly</a:t>
            </a:r>
            <a:endParaRPr lang="en-US" sz="3600" dirty="0"/>
          </a:p>
        </p:txBody>
      </p:sp>
      <p:graphicFrame>
        <p:nvGraphicFramePr>
          <p:cNvPr id="5" name="Chart 0" descr=""/>
          <p:cNvGraphicFramePr/>
          <p:nvPr/>
        </p:nvGraphicFramePr>
        <p:xfrm>
          <a:off x="548640" y="1783080"/>
          <a:ext cx="6217920" cy="4343400"/>
        </p:xfrm>
        <a:graphic xmlns:a="http://schemas.openxmlformats.org/drawingml/2006/main">
          <a:graphicData uri="http://schemas.openxmlformats.org/drawingml/2006/chart">
            <c:chart xmlns:c="http://schemas.openxmlformats.org/drawingml/2006/chart" r:id="rId1"/>
          </a:graphicData>
        </a:graphic>
      </p:graphicFrame>
      <p:sp>
        <p:nvSpPr>
          <p:cNvPr id="6" name="Shape 2"/>
          <p:cNvSpPr/>
          <p:nvPr/>
        </p:nvSpPr>
        <p:spPr>
          <a:xfrm>
            <a:off x="7132320" y="1783080"/>
            <a:ext cx="2116836" cy="1691640"/>
          </a:xfrm>
          <a:prstGeom prst="roundRect">
            <a:avLst>
              <a:gd name="adj" fmla="val 4324"/>
            </a:avLst>
          </a:prstGeom>
          <a:solidFill>
            <a:schemeClr val="bg2"/>
          </a:solidFill>
          <a:ln/>
        </p:spPr>
      </p:sp>
      <p:sp>
        <p:nvSpPr>
          <p:cNvPr id="7" name="Text 3"/>
          <p:cNvSpPr txBox="1"/>
          <p:nvPr/>
        </p:nvSpPr>
        <p:spPr>
          <a:xfrm>
            <a:off x="7315200" y="1920240"/>
            <a:ext cx="1755648" cy="548640"/>
          </a:xfrm>
          <a:prstGeom prst="rect">
            <a:avLst/>
          </a:prstGeom>
          <a:noFill/>
          <a:ln/>
        </p:spPr>
        <p:txBody>
          <a:bodyPr wrap="square" lIns="0" tIns="0" rIns="0" bIns="0" rtlCol="0" anchor="ctr"/>
          <a:lstStyle/>
          <a:p>
            <a:pPr algn="l" indent="0" marL="0">
              <a:buNone/>
            </a:pPr>
            <a:r>
              <a:rPr lang="en-US" sz="2800" b="1" dirty="0">
                <a:solidFill>
                  <a:schemeClr val="accent1"/>
                </a:solidFill>
              </a:rPr>
              <a:t>9</a:t>
            </a:r>
            <a:endParaRPr lang="en-US" sz="2800" dirty="0"/>
          </a:p>
        </p:txBody>
      </p:sp>
      <p:sp>
        <p:nvSpPr>
          <p:cNvPr id="8" name="Text 4"/>
          <p:cNvSpPr txBox="1"/>
          <p:nvPr/>
        </p:nvSpPr>
        <p:spPr>
          <a:xfrm>
            <a:off x="7315200" y="2514600"/>
            <a:ext cx="1755648" cy="868680"/>
          </a:xfrm>
          <a:prstGeom prst="rect">
            <a:avLst/>
          </a:prstGeom>
          <a:noFill/>
          <a:ln/>
        </p:spPr>
        <p:txBody>
          <a:bodyPr wrap="square" lIns="0" tIns="0" rIns="0" bIns="0" rtlCol="0" anchor="t"/>
          <a:lstStyle/>
          <a:p>
            <a:pPr algn="l" indent="0" marL="0">
              <a:buNone/>
            </a:pPr>
            <a:r>
              <a:rPr lang="en-US" sz="1200" dirty="0">
                <a:solidFill>
                  <a:schemeClr val="tx1"/>
                </a:solidFill>
              </a:rPr>
              <a:t>products read this domain directly: 0 foundational and 9 consumer-aligned</a:t>
            </a:r>
            <a:endParaRPr lang="en-US" sz="1200" dirty="0"/>
          </a:p>
        </p:txBody>
      </p:sp>
      <p:sp>
        <p:nvSpPr>
          <p:cNvPr id="9" name="Shape 5"/>
          <p:cNvSpPr/>
          <p:nvPr/>
        </p:nvSpPr>
        <p:spPr>
          <a:xfrm>
            <a:off x="9523476" y="1783080"/>
            <a:ext cx="2116836" cy="1691640"/>
          </a:xfrm>
          <a:prstGeom prst="roundRect">
            <a:avLst>
              <a:gd name="adj" fmla="val 4324"/>
            </a:avLst>
          </a:prstGeom>
          <a:solidFill>
            <a:schemeClr val="bg2"/>
          </a:solidFill>
          <a:ln/>
        </p:spPr>
      </p:sp>
      <p:sp>
        <p:nvSpPr>
          <p:cNvPr id="10" name="Text 6"/>
          <p:cNvSpPr txBox="1"/>
          <p:nvPr/>
        </p:nvSpPr>
        <p:spPr>
          <a:xfrm>
            <a:off x="9706356" y="1920240"/>
            <a:ext cx="1755648" cy="548640"/>
          </a:xfrm>
          <a:prstGeom prst="rect">
            <a:avLst/>
          </a:prstGeom>
          <a:noFill/>
          <a:ln/>
        </p:spPr>
        <p:txBody>
          <a:bodyPr wrap="square" lIns="0" tIns="0" rIns="0" bIns="0" rtlCol="0" anchor="ctr"/>
          <a:lstStyle/>
          <a:p>
            <a:pPr algn="l" indent="0" marL="0">
              <a:buNone/>
            </a:pPr>
            <a:r>
              <a:rPr lang="en-US" sz="2800" b="1" dirty="0">
                <a:solidFill>
                  <a:schemeClr val="accent1"/>
                </a:solidFill>
              </a:rPr>
              <a:t>42 of 42</a:t>
            </a:r>
            <a:endParaRPr lang="en-US" sz="2800" dirty="0"/>
          </a:p>
        </p:txBody>
      </p:sp>
      <p:sp>
        <p:nvSpPr>
          <p:cNvPr id="11" name="Text 7"/>
          <p:cNvSpPr txBox="1"/>
          <p:nvPr/>
        </p:nvSpPr>
        <p:spPr>
          <a:xfrm>
            <a:off x="9706356" y="2514600"/>
            <a:ext cx="1755648" cy="868680"/>
          </a:xfrm>
          <a:prstGeom prst="rect">
            <a:avLst/>
          </a:prstGeom>
          <a:noFill/>
          <a:ln/>
        </p:spPr>
        <p:txBody>
          <a:bodyPr wrap="square" lIns="0" tIns="0" rIns="0" bIns="0" rtlCol="0" anchor="t"/>
          <a:lstStyle/>
          <a:p>
            <a:pPr algn="l" indent="0" marL="0">
              <a:buNone/>
            </a:pPr>
            <a:r>
              <a:rPr lang="en-US" sz="1200" dirty="0">
                <a:solidFill>
                  <a:schemeClr val="tx1"/>
                </a:solidFill>
              </a:rPr>
              <a:t>objects are used by at least one product</a:t>
            </a:r>
            <a:endParaRPr lang="en-US" sz="1200" dirty="0"/>
          </a:p>
        </p:txBody>
      </p:sp>
      <p:sp>
        <p:nvSpPr>
          <p:cNvPr id="12" name="Shape 8"/>
          <p:cNvSpPr/>
          <p:nvPr/>
        </p:nvSpPr>
        <p:spPr>
          <a:xfrm>
            <a:off x="7132320" y="3657600"/>
            <a:ext cx="2116836" cy="1691640"/>
          </a:xfrm>
          <a:prstGeom prst="roundRect">
            <a:avLst>
              <a:gd name="adj" fmla="val 4324"/>
            </a:avLst>
          </a:prstGeom>
          <a:solidFill>
            <a:schemeClr val="bg2"/>
          </a:solidFill>
          <a:ln/>
        </p:spPr>
      </p:sp>
      <p:sp>
        <p:nvSpPr>
          <p:cNvPr id="13" name="Text 9"/>
          <p:cNvSpPr txBox="1"/>
          <p:nvPr/>
        </p:nvSpPr>
        <p:spPr>
          <a:xfrm>
            <a:off x="7315200" y="3794760"/>
            <a:ext cx="1755648" cy="548640"/>
          </a:xfrm>
          <a:prstGeom prst="rect">
            <a:avLst/>
          </a:prstGeom>
          <a:noFill/>
          <a:ln/>
        </p:spPr>
        <p:txBody>
          <a:bodyPr wrap="square" lIns="0" tIns="0" rIns="0" bIns="0" rtlCol="0" anchor="ctr"/>
          <a:lstStyle/>
          <a:p>
            <a:pPr algn="l" indent="0" marL="0">
              <a:buNone/>
            </a:pPr>
            <a:r>
              <a:rPr lang="en-US" sz="2800" b="1" dirty="0">
                <a:solidFill>
                  <a:schemeClr val="accent1"/>
                </a:solidFill>
              </a:rPr>
              <a:t>95%</a:t>
            </a:r>
            <a:endParaRPr lang="en-US" sz="2800" dirty="0"/>
          </a:p>
        </p:txBody>
      </p:sp>
      <p:sp>
        <p:nvSpPr>
          <p:cNvPr id="14" name="Text 10"/>
          <p:cNvSpPr txBox="1"/>
          <p:nvPr/>
        </p:nvSpPr>
        <p:spPr>
          <a:xfrm>
            <a:off x="7315200" y="4389120"/>
            <a:ext cx="1755648" cy="868680"/>
          </a:xfrm>
          <a:prstGeom prst="rect">
            <a:avLst/>
          </a:prstGeom>
          <a:noFill/>
          <a:ln/>
        </p:spPr>
        <p:txBody>
          <a:bodyPr wrap="square" lIns="0" tIns="0" rIns="0" bIns="0" rtlCol="0" anchor="t"/>
          <a:lstStyle/>
          <a:p>
            <a:pPr algn="l" indent="0" marL="0">
              <a:buNone/>
            </a:pPr>
            <a:r>
              <a:rPr lang="en-US" sz="1200" dirty="0">
                <a:solidFill>
                  <a:schemeClr val="tx1"/>
                </a:solidFill>
              </a:rPr>
              <a:t>of attributes (227 of 238) appear in a product specification</a:t>
            </a:r>
            <a:endParaRPr lang="en-US" sz="1200" dirty="0"/>
          </a:p>
        </p:txBody>
      </p:sp>
      <p:sp>
        <p:nvSpPr>
          <p:cNvPr id="15" name="Shape 11"/>
          <p:cNvSpPr/>
          <p:nvPr/>
        </p:nvSpPr>
        <p:spPr>
          <a:xfrm>
            <a:off x="9523476" y="3657600"/>
            <a:ext cx="2116836" cy="1691640"/>
          </a:xfrm>
          <a:prstGeom prst="roundRect">
            <a:avLst>
              <a:gd name="adj" fmla="val 4324"/>
            </a:avLst>
          </a:prstGeom>
          <a:solidFill>
            <a:schemeClr val="bg2"/>
          </a:solidFill>
          <a:ln/>
        </p:spPr>
      </p:sp>
      <p:sp>
        <p:nvSpPr>
          <p:cNvPr id="16" name="Text 12"/>
          <p:cNvSpPr txBox="1"/>
          <p:nvPr/>
        </p:nvSpPr>
        <p:spPr>
          <a:xfrm>
            <a:off x="9706356" y="3794760"/>
            <a:ext cx="1755648" cy="548640"/>
          </a:xfrm>
          <a:prstGeom prst="rect">
            <a:avLst/>
          </a:prstGeom>
          <a:noFill/>
          <a:ln/>
        </p:spPr>
        <p:txBody>
          <a:bodyPr wrap="square" lIns="0" tIns="0" rIns="0" bIns="0" rtlCol="0" anchor="ctr"/>
          <a:lstStyle/>
          <a:p>
            <a:pPr algn="l" indent="0" marL="0">
              <a:buNone/>
            </a:pPr>
            <a:r>
              <a:rPr lang="en-US" sz="2800" b="1" dirty="0">
                <a:solidFill>
                  <a:schemeClr val="accent1"/>
                </a:solidFill>
              </a:rPr>
              <a:t>5</a:t>
            </a:r>
            <a:endParaRPr lang="en-US" sz="2800" dirty="0"/>
          </a:p>
        </p:txBody>
      </p:sp>
      <p:sp>
        <p:nvSpPr>
          <p:cNvPr id="17" name="Text 13"/>
          <p:cNvSpPr txBox="1"/>
          <p:nvPr/>
        </p:nvSpPr>
        <p:spPr>
          <a:xfrm>
            <a:off x="9706356" y="4389120"/>
            <a:ext cx="1755648" cy="868680"/>
          </a:xfrm>
          <a:prstGeom prst="rect">
            <a:avLst/>
          </a:prstGeom>
          <a:noFill/>
          <a:ln/>
        </p:spPr>
        <p:txBody>
          <a:bodyPr wrap="square" lIns="0" tIns="0" rIns="0" bIns="0" rtlCol="0" anchor="t"/>
          <a:lstStyle/>
          <a:p>
            <a:pPr algn="l" indent="0" marL="0">
              <a:buNone/>
            </a:pPr>
            <a:r>
              <a:rPr lang="en-US" sz="1200" dirty="0">
                <a:solidFill>
                  <a:schemeClr val="tx1"/>
                </a:solidFill>
              </a:rPr>
              <a:t>are regulatory and control products, the largest group of the 9</a:t>
            </a:r>
            <a:endParaRPr lang="en-US" sz="1200" dirty="0"/>
          </a:p>
        </p:txBody>
      </p:sp>
      <p:sp>
        <p:nvSpPr>
          <p:cNvPr id="18" name="Text 14"/>
          <p:cNvSpPr txBox="1"/>
          <p:nvPr/>
        </p:nvSpPr>
        <p:spPr>
          <a:xfrm>
            <a:off x="7132320" y="5623560"/>
            <a:ext cx="4507992" cy="457200"/>
          </a:xfrm>
          <a:prstGeom prst="rect">
            <a:avLst/>
          </a:prstGeom>
          <a:noFill/>
          <a:ln/>
        </p:spPr>
        <p:txBody>
          <a:bodyPr wrap="square" lIns="0" tIns="0" rIns="0" bIns="0" rtlCol="0" anchor="t"/>
          <a:lstStyle/>
          <a:p>
            <a:pPr algn="l" indent="0" marL="0">
              <a:buNone/>
            </a:pPr>
            <a:r>
              <a:rPr lang="en-US" sz="1200" dirty="0">
                <a:solidFill>
                  <a:schemeClr val="tx2"/>
                </a:solidFill>
              </a:rPr>
              <a:t>By type: 5 regulatory and control, 2 operational, 2 analytical.</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DATA PRODUCTS  |  OWNED BY THIS DOMAIN</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Six products are owned by this domain</a:t>
            </a:r>
            <a:endParaRPr lang="en-US" sz="3600" dirty="0"/>
          </a:p>
        </p:txBody>
      </p:sp>
      <p:sp>
        <p:nvSpPr>
          <p:cNvPr id="5" name="Text 2"/>
          <p:cNvSpPr txBox="1"/>
          <p:nvPr/>
        </p:nvSpPr>
        <p:spPr>
          <a:xfrm>
            <a:off x="9326880" y="1764792"/>
            <a:ext cx="2313432" cy="228600"/>
          </a:xfrm>
          <a:prstGeom prst="rect">
            <a:avLst/>
          </a:prstGeom>
          <a:noFill/>
          <a:ln/>
        </p:spPr>
        <p:txBody>
          <a:bodyPr wrap="square" lIns="0" tIns="0" rIns="0" bIns="0" rtlCol="0" anchor="ctr"/>
          <a:lstStyle/>
          <a:p>
            <a:pPr algn="l" indent="0" marL="0">
              <a:buNone/>
            </a:pPr>
            <a:r>
              <a:rPr lang="en-US" sz="1000" b="1" spc="100" kern="0" dirty="0">
                <a:solidFill>
                  <a:schemeClr val="tx2"/>
                </a:solidFill>
              </a:rPr>
              <a:t>INPUTS FROM THIS DOMAIN</a:t>
            </a:r>
            <a:endParaRPr lang="en-US" sz="1000" dirty="0"/>
          </a:p>
        </p:txBody>
      </p:sp>
      <p:sp>
        <p:nvSpPr>
          <p:cNvPr id="6" name="Shape 3"/>
          <p:cNvSpPr/>
          <p:nvPr/>
        </p:nvSpPr>
        <p:spPr>
          <a:xfrm>
            <a:off x="548640" y="2057400"/>
            <a:ext cx="11091672" cy="530352"/>
          </a:xfrm>
          <a:prstGeom prst="roundRect">
            <a:avLst>
              <a:gd name="adj" fmla="val 13793"/>
            </a:avLst>
          </a:prstGeom>
          <a:solidFill>
            <a:schemeClr val="bg2"/>
          </a:solidFill>
          <a:ln/>
        </p:spPr>
      </p:sp>
      <p:sp>
        <p:nvSpPr>
          <p:cNvPr id="7" name="Text 4"/>
          <p:cNvSpPr/>
          <p:nvPr/>
        </p:nvSpPr>
        <p:spPr>
          <a:xfrm>
            <a:off x="731520" y="2153412"/>
            <a:ext cx="914400" cy="338328"/>
          </a:xfrm>
          <a:prstGeom prst="roundRect">
            <a:avLst>
              <a:gd name="adj" fmla="val 16216"/>
            </a:avLst>
          </a:prstGeom>
          <a:solidFill>
            <a:schemeClr val="accent1"/>
          </a:solidFill>
          <a:ln/>
        </p:spPr>
        <p:txBody>
          <a:bodyPr wrap="square" lIns="0" tIns="0" rIns="0" bIns="0" rtlCol="0" anchor="ctr"/>
          <a:lstStyle/>
          <a:p>
            <a:pPr algn="ctr" indent="0" marL="0">
              <a:buNone/>
            </a:pPr>
            <a:r>
              <a:rPr lang="en-US" sz="1200" b="1" dirty="0">
                <a:solidFill>
                  <a:schemeClr val="bg1"/>
                </a:solidFill>
              </a:rPr>
              <a:t>DP-043</a:t>
            </a:r>
            <a:endParaRPr lang="en-US" sz="1200" dirty="0"/>
          </a:p>
        </p:txBody>
      </p:sp>
      <p:sp>
        <p:nvSpPr>
          <p:cNvPr id="8" name="Text 5"/>
          <p:cNvSpPr txBox="1"/>
          <p:nvPr/>
        </p:nvSpPr>
        <p:spPr>
          <a:xfrm>
            <a:off x="1828800" y="2103120"/>
            <a:ext cx="3931920" cy="256032"/>
          </a:xfrm>
          <a:prstGeom prst="rect">
            <a:avLst/>
          </a:prstGeom>
          <a:noFill/>
          <a:ln/>
        </p:spPr>
        <p:txBody>
          <a:bodyPr wrap="square" lIns="0" tIns="0" rIns="0" bIns="0" rtlCol="0" anchor="ctr"/>
          <a:lstStyle/>
          <a:p>
            <a:pPr algn="l" indent="0" marL="0">
              <a:buNone/>
            </a:pPr>
            <a:r>
              <a:rPr lang="en-US" sz="1300" b="1" dirty="0">
                <a:solidFill>
                  <a:schemeClr val="tx1"/>
                </a:solidFill>
              </a:rPr>
              <a:t>Shareholder Servicing &amp; TA Oversight</a:t>
            </a:r>
            <a:endParaRPr lang="en-US" sz="1300" dirty="0"/>
          </a:p>
        </p:txBody>
      </p:sp>
      <p:sp>
        <p:nvSpPr>
          <p:cNvPr id="9" name="Text 6"/>
          <p:cNvSpPr txBox="1"/>
          <p:nvPr/>
        </p:nvSpPr>
        <p:spPr>
          <a:xfrm>
            <a:off x="1828800" y="2359152"/>
            <a:ext cx="3931920" cy="182880"/>
          </a:xfrm>
          <a:prstGeom prst="rect">
            <a:avLst/>
          </a:prstGeom>
          <a:noFill/>
          <a:ln/>
        </p:spPr>
        <p:txBody>
          <a:bodyPr wrap="square" lIns="0" tIns="0" rIns="0" bIns="0" rtlCol="0" anchor="ctr"/>
          <a:lstStyle/>
          <a:p>
            <a:pPr algn="l" indent="0" marL="0">
              <a:buNone/>
            </a:pPr>
            <a:r>
              <a:rPr lang="en-US" sz="1000" dirty="0">
                <a:solidFill>
                  <a:schemeClr val="tx2"/>
                </a:solidFill>
              </a:rPr>
              <a:t>Regulatory and control  |  Investor Servicing</a:t>
            </a:r>
            <a:endParaRPr lang="en-US" sz="1000" dirty="0"/>
          </a:p>
        </p:txBody>
      </p:sp>
      <p:sp>
        <p:nvSpPr>
          <p:cNvPr id="10" name="Text 7"/>
          <p:cNvSpPr txBox="1"/>
          <p:nvPr/>
        </p:nvSpPr>
        <p:spPr>
          <a:xfrm>
            <a:off x="5897880" y="2057400"/>
            <a:ext cx="3291840" cy="530352"/>
          </a:xfrm>
          <a:prstGeom prst="rect">
            <a:avLst/>
          </a:prstGeom>
          <a:noFill/>
          <a:ln/>
        </p:spPr>
        <p:txBody>
          <a:bodyPr wrap="square" lIns="0" tIns="0" rIns="0" bIns="0" rtlCol="0" anchor="ctr"/>
          <a:lstStyle/>
          <a:p>
            <a:pPr algn="l" indent="0" marL="0">
              <a:buNone/>
            </a:pPr>
            <a:r>
              <a:rPr lang="en-US" sz="1100" dirty="0">
                <a:solidFill>
                  <a:schemeClr val="tx1"/>
                </a:solidFill>
              </a:rPr>
              <a:t>Evidence that the transfer agent and other providers met service levels and fixed errors</a:t>
            </a:r>
            <a:endParaRPr lang="en-US" sz="1100" dirty="0"/>
          </a:p>
        </p:txBody>
      </p:sp>
      <p:sp>
        <p:nvSpPr>
          <p:cNvPr id="11" name="Shape 8"/>
          <p:cNvSpPr/>
          <p:nvPr/>
        </p:nvSpPr>
        <p:spPr>
          <a:xfrm>
            <a:off x="9326880" y="2258568"/>
            <a:ext cx="1371600" cy="128016"/>
          </a:xfrm>
          <a:prstGeom prst="rect">
            <a:avLst/>
          </a:prstGeom>
          <a:solidFill>
            <a:schemeClr val="bg1"/>
          </a:solidFill>
          <a:ln/>
        </p:spPr>
      </p:sp>
      <p:sp>
        <p:nvSpPr>
          <p:cNvPr id="12" name="Shape 9"/>
          <p:cNvSpPr/>
          <p:nvPr/>
        </p:nvSpPr>
        <p:spPr>
          <a:xfrm>
            <a:off x="9326880" y="2258568"/>
            <a:ext cx="1255690" cy="128016"/>
          </a:xfrm>
          <a:prstGeom prst="rect">
            <a:avLst/>
          </a:prstGeom>
          <a:solidFill>
            <a:schemeClr val="accent1"/>
          </a:solidFill>
          <a:ln/>
        </p:spPr>
      </p:sp>
      <p:sp>
        <p:nvSpPr>
          <p:cNvPr id="13" name="Text 10"/>
          <p:cNvSpPr txBox="1"/>
          <p:nvPr/>
        </p:nvSpPr>
        <p:spPr>
          <a:xfrm>
            <a:off x="10789920" y="2057400"/>
            <a:ext cx="822960" cy="530352"/>
          </a:xfrm>
          <a:prstGeom prst="rect">
            <a:avLst/>
          </a:prstGeom>
          <a:noFill/>
          <a:ln/>
        </p:spPr>
        <p:txBody>
          <a:bodyPr wrap="square" lIns="0" tIns="0" rIns="0" bIns="0" rtlCol="0" anchor="ctr"/>
          <a:lstStyle/>
          <a:p>
            <a:pPr algn="l" indent="0" marL="0">
              <a:buNone/>
            </a:pPr>
            <a:r>
              <a:rPr lang="en-US" sz="1200" b="1" dirty="0">
                <a:solidFill>
                  <a:schemeClr val="tx1"/>
                </a:solidFill>
              </a:rPr>
              <a:t>65 of 71</a:t>
            </a:r>
            <a:endParaRPr lang="en-US" sz="1200" dirty="0"/>
          </a:p>
        </p:txBody>
      </p:sp>
      <p:sp>
        <p:nvSpPr>
          <p:cNvPr id="14" name="Shape 11"/>
          <p:cNvSpPr/>
          <p:nvPr/>
        </p:nvSpPr>
        <p:spPr>
          <a:xfrm>
            <a:off x="548640" y="2660904"/>
            <a:ext cx="11091672" cy="530352"/>
          </a:xfrm>
          <a:prstGeom prst="roundRect">
            <a:avLst>
              <a:gd name="adj" fmla="val 13793"/>
            </a:avLst>
          </a:prstGeom>
          <a:solidFill>
            <a:schemeClr val="bg2"/>
          </a:solidFill>
          <a:ln/>
        </p:spPr>
      </p:sp>
      <p:sp>
        <p:nvSpPr>
          <p:cNvPr id="15" name="Text 12"/>
          <p:cNvSpPr/>
          <p:nvPr/>
        </p:nvSpPr>
        <p:spPr>
          <a:xfrm>
            <a:off x="731520" y="2756916"/>
            <a:ext cx="914400" cy="338328"/>
          </a:xfrm>
          <a:prstGeom prst="roundRect">
            <a:avLst>
              <a:gd name="adj" fmla="val 16216"/>
            </a:avLst>
          </a:prstGeom>
          <a:solidFill>
            <a:schemeClr val="accent1"/>
          </a:solidFill>
          <a:ln/>
        </p:spPr>
        <p:txBody>
          <a:bodyPr wrap="square" lIns="0" tIns="0" rIns="0" bIns="0" rtlCol="0" anchor="ctr"/>
          <a:lstStyle/>
          <a:p>
            <a:pPr algn="ctr" indent="0" marL="0">
              <a:buNone/>
            </a:pPr>
            <a:r>
              <a:rPr lang="en-US" sz="1200" b="1" dirty="0">
                <a:solidFill>
                  <a:schemeClr val="bg1"/>
                </a:solidFill>
              </a:rPr>
              <a:t>DP-069</a:t>
            </a:r>
            <a:endParaRPr lang="en-US" sz="1200" dirty="0"/>
          </a:p>
        </p:txBody>
      </p:sp>
      <p:sp>
        <p:nvSpPr>
          <p:cNvPr id="16" name="Text 13"/>
          <p:cNvSpPr txBox="1"/>
          <p:nvPr/>
        </p:nvSpPr>
        <p:spPr>
          <a:xfrm>
            <a:off x="1828800" y="2706624"/>
            <a:ext cx="3931920" cy="256032"/>
          </a:xfrm>
          <a:prstGeom prst="rect">
            <a:avLst/>
          </a:prstGeom>
          <a:noFill/>
          <a:ln/>
        </p:spPr>
        <p:txBody>
          <a:bodyPr wrap="square" lIns="0" tIns="0" rIns="0" bIns="0" rtlCol="0" anchor="ctr"/>
          <a:lstStyle/>
          <a:p>
            <a:pPr algn="l" indent="0" marL="0">
              <a:buNone/>
            </a:pPr>
            <a:r>
              <a:rPr lang="en-US" sz="1300" b="1" dirty="0">
                <a:solidFill>
                  <a:schemeClr val="tx1"/>
                </a:solidFill>
              </a:rPr>
              <a:t>Shareholder Communications Delivery &amp; Cost</a:t>
            </a:r>
            <a:endParaRPr lang="en-US" sz="1300" dirty="0"/>
          </a:p>
        </p:txBody>
      </p:sp>
      <p:sp>
        <p:nvSpPr>
          <p:cNvPr id="17" name="Text 14"/>
          <p:cNvSpPr txBox="1"/>
          <p:nvPr/>
        </p:nvSpPr>
        <p:spPr>
          <a:xfrm>
            <a:off x="1828800" y="2962656"/>
            <a:ext cx="3931920" cy="182880"/>
          </a:xfrm>
          <a:prstGeom prst="rect">
            <a:avLst/>
          </a:prstGeom>
          <a:noFill/>
          <a:ln/>
        </p:spPr>
        <p:txBody>
          <a:bodyPr wrap="square" lIns="0" tIns="0" rIns="0" bIns="0" rtlCol="0" anchor="ctr"/>
          <a:lstStyle/>
          <a:p>
            <a:pPr algn="l" indent="0" marL="0">
              <a:buNone/>
            </a:pPr>
            <a:r>
              <a:rPr lang="en-US" sz="1000" dirty="0">
                <a:solidFill>
                  <a:schemeClr val="tx2"/>
                </a:solidFill>
              </a:rPr>
              <a:t>Analytical  |  Investor Servicing and Fund Operations</a:t>
            </a:r>
            <a:endParaRPr lang="en-US" sz="1000" dirty="0"/>
          </a:p>
        </p:txBody>
      </p:sp>
      <p:sp>
        <p:nvSpPr>
          <p:cNvPr id="18" name="Text 15"/>
          <p:cNvSpPr txBox="1"/>
          <p:nvPr/>
        </p:nvSpPr>
        <p:spPr>
          <a:xfrm>
            <a:off x="5897880" y="2660904"/>
            <a:ext cx="3291840" cy="530352"/>
          </a:xfrm>
          <a:prstGeom prst="rect">
            <a:avLst/>
          </a:prstGeom>
          <a:noFill/>
          <a:ln/>
        </p:spPr>
        <p:txBody>
          <a:bodyPr wrap="square" lIns="0" tIns="0" rIns="0" bIns="0" rtlCol="0" anchor="ctr"/>
          <a:lstStyle/>
          <a:p>
            <a:pPr algn="l" indent="0" marL="0">
              <a:buNone/>
            </a:pPr>
            <a:r>
              <a:rPr lang="en-US" sz="1100" dirty="0">
                <a:solidFill>
                  <a:schemeClr val="tx1"/>
                </a:solidFill>
              </a:rPr>
              <a:t>How each shareholder communication was delivered, what it cost and whether it met its deadline</a:t>
            </a:r>
            <a:endParaRPr lang="en-US" sz="1100" dirty="0"/>
          </a:p>
        </p:txBody>
      </p:sp>
      <p:sp>
        <p:nvSpPr>
          <p:cNvPr id="19" name="Shape 16"/>
          <p:cNvSpPr/>
          <p:nvPr/>
        </p:nvSpPr>
        <p:spPr>
          <a:xfrm>
            <a:off x="9326880" y="2862072"/>
            <a:ext cx="1371600" cy="128016"/>
          </a:xfrm>
          <a:prstGeom prst="rect">
            <a:avLst/>
          </a:prstGeom>
          <a:solidFill>
            <a:schemeClr val="bg1"/>
          </a:solidFill>
          <a:ln/>
        </p:spPr>
      </p:sp>
      <p:sp>
        <p:nvSpPr>
          <p:cNvPr id="20" name="Shape 17"/>
          <p:cNvSpPr/>
          <p:nvPr/>
        </p:nvSpPr>
        <p:spPr>
          <a:xfrm>
            <a:off x="9326880" y="2862072"/>
            <a:ext cx="1192696" cy="128016"/>
          </a:xfrm>
          <a:prstGeom prst="rect">
            <a:avLst/>
          </a:prstGeom>
          <a:solidFill>
            <a:schemeClr val="accent1"/>
          </a:solidFill>
          <a:ln/>
        </p:spPr>
      </p:sp>
      <p:sp>
        <p:nvSpPr>
          <p:cNvPr id="21" name="Text 18"/>
          <p:cNvSpPr txBox="1"/>
          <p:nvPr/>
        </p:nvSpPr>
        <p:spPr>
          <a:xfrm>
            <a:off x="10789920" y="2660904"/>
            <a:ext cx="822960" cy="530352"/>
          </a:xfrm>
          <a:prstGeom prst="rect">
            <a:avLst/>
          </a:prstGeom>
          <a:noFill/>
          <a:ln/>
        </p:spPr>
        <p:txBody>
          <a:bodyPr wrap="square" lIns="0" tIns="0" rIns="0" bIns="0" rtlCol="0" anchor="ctr"/>
          <a:lstStyle/>
          <a:p>
            <a:pPr algn="l" indent="0" marL="0">
              <a:buNone/>
            </a:pPr>
            <a:r>
              <a:rPr lang="en-US" sz="1200" b="1" dirty="0">
                <a:solidFill>
                  <a:schemeClr val="tx1"/>
                </a:solidFill>
              </a:rPr>
              <a:t>80 of 92</a:t>
            </a:r>
            <a:endParaRPr lang="en-US" sz="1200" dirty="0"/>
          </a:p>
        </p:txBody>
      </p:sp>
      <p:sp>
        <p:nvSpPr>
          <p:cNvPr id="22" name="Shape 19"/>
          <p:cNvSpPr/>
          <p:nvPr/>
        </p:nvSpPr>
        <p:spPr>
          <a:xfrm>
            <a:off x="548640" y="3264408"/>
            <a:ext cx="11091672" cy="530352"/>
          </a:xfrm>
          <a:prstGeom prst="roundRect">
            <a:avLst>
              <a:gd name="adj" fmla="val 13793"/>
            </a:avLst>
          </a:prstGeom>
          <a:solidFill>
            <a:schemeClr val="bg2"/>
          </a:solidFill>
          <a:ln/>
        </p:spPr>
      </p:sp>
      <p:sp>
        <p:nvSpPr>
          <p:cNvPr id="23" name="Text 20"/>
          <p:cNvSpPr/>
          <p:nvPr/>
        </p:nvSpPr>
        <p:spPr>
          <a:xfrm>
            <a:off x="731520" y="3360420"/>
            <a:ext cx="914400" cy="338328"/>
          </a:xfrm>
          <a:prstGeom prst="roundRect">
            <a:avLst>
              <a:gd name="adj" fmla="val 16216"/>
            </a:avLst>
          </a:prstGeom>
          <a:solidFill>
            <a:schemeClr val="accent1"/>
          </a:solidFill>
          <a:ln/>
        </p:spPr>
        <p:txBody>
          <a:bodyPr wrap="square" lIns="0" tIns="0" rIns="0" bIns="0" rtlCol="0" anchor="ctr"/>
          <a:lstStyle/>
          <a:p>
            <a:pPr algn="ctr" indent="0" marL="0">
              <a:buNone/>
            </a:pPr>
            <a:r>
              <a:rPr lang="en-US" sz="1200" b="1" dirty="0">
                <a:solidFill>
                  <a:schemeClr val="bg1"/>
                </a:solidFill>
              </a:rPr>
              <a:t>DP-070</a:t>
            </a:r>
            <a:endParaRPr lang="en-US" sz="1200" dirty="0"/>
          </a:p>
        </p:txBody>
      </p:sp>
      <p:sp>
        <p:nvSpPr>
          <p:cNvPr id="24" name="Text 21"/>
          <p:cNvSpPr txBox="1"/>
          <p:nvPr/>
        </p:nvSpPr>
        <p:spPr>
          <a:xfrm>
            <a:off x="1828800" y="3310128"/>
            <a:ext cx="3931920" cy="256032"/>
          </a:xfrm>
          <a:prstGeom prst="rect">
            <a:avLst/>
          </a:prstGeom>
          <a:noFill/>
          <a:ln/>
        </p:spPr>
        <p:txBody>
          <a:bodyPr wrap="square" lIns="0" tIns="0" rIns="0" bIns="0" rtlCol="0" anchor="ctr"/>
          <a:lstStyle/>
          <a:p>
            <a:pPr algn="l" indent="0" marL="0">
              <a:buNone/>
            </a:pPr>
            <a:r>
              <a:rPr lang="en-US" sz="1300" b="1" dirty="0">
                <a:solidFill>
                  <a:schemeClr val="tx1"/>
                </a:solidFill>
              </a:rPr>
              <a:t>Escheatment &amp; Lost Shareholder Monitoring</a:t>
            </a:r>
            <a:endParaRPr lang="en-US" sz="1300" dirty="0"/>
          </a:p>
        </p:txBody>
      </p:sp>
      <p:sp>
        <p:nvSpPr>
          <p:cNvPr id="25" name="Text 22"/>
          <p:cNvSpPr txBox="1"/>
          <p:nvPr/>
        </p:nvSpPr>
        <p:spPr>
          <a:xfrm>
            <a:off x="1828800" y="3566160"/>
            <a:ext cx="3931920" cy="182880"/>
          </a:xfrm>
          <a:prstGeom prst="rect">
            <a:avLst/>
          </a:prstGeom>
          <a:noFill/>
          <a:ln/>
        </p:spPr>
        <p:txBody>
          <a:bodyPr wrap="square" lIns="0" tIns="0" rIns="0" bIns="0" rtlCol="0" anchor="ctr"/>
          <a:lstStyle/>
          <a:p>
            <a:pPr algn="l" indent="0" marL="0">
              <a:buNone/>
            </a:pPr>
            <a:r>
              <a:rPr lang="en-US" sz="1000" dirty="0">
                <a:solidFill>
                  <a:schemeClr val="tx2"/>
                </a:solidFill>
              </a:rPr>
              <a:t>Regulatory and control  |  Investor Servicing</a:t>
            </a:r>
            <a:endParaRPr lang="en-US" sz="1000" dirty="0"/>
          </a:p>
        </p:txBody>
      </p:sp>
      <p:sp>
        <p:nvSpPr>
          <p:cNvPr id="26" name="Text 23"/>
          <p:cNvSpPr txBox="1"/>
          <p:nvPr/>
        </p:nvSpPr>
        <p:spPr>
          <a:xfrm>
            <a:off x="5897880" y="3264408"/>
            <a:ext cx="3291840" cy="530352"/>
          </a:xfrm>
          <a:prstGeom prst="rect">
            <a:avLst/>
          </a:prstGeom>
          <a:noFill/>
          <a:ln/>
        </p:spPr>
        <p:txBody>
          <a:bodyPr wrap="square" lIns="0" tIns="0" rIns="0" bIns="0" rtlCol="0" anchor="ctr"/>
          <a:lstStyle/>
          <a:p>
            <a:pPr algn="l" indent="0" marL="0">
              <a:buNone/>
            </a:pPr>
            <a:r>
              <a:rPr lang="en-US" sz="1100" dirty="0">
                <a:solidFill>
                  <a:schemeClr val="tx1"/>
                </a:solidFill>
              </a:rPr>
              <a:t>Lost and dormant accounts moving toward escheatment, with searches, letters and state reports</a:t>
            </a:r>
            <a:endParaRPr lang="en-US" sz="1100" dirty="0"/>
          </a:p>
        </p:txBody>
      </p:sp>
      <p:sp>
        <p:nvSpPr>
          <p:cNvPr id="27" name="Shape 24"/>
          <p:cNvSpPr/>
          <p:nvPr/>
        </p:nvSpPr>
        <p:spPr>
          <a:xfrm>
            <a:off x="9326880" y="3465576"/>
            <a:ext cx="1371600" cy="128016"/>
          </a:xfrm>
          <a:prstGeom prst="rect">
            <a:avLst/>
          </a:prstGeom>
          <a:solidFill>
            <a:schemeClr val="bg1"/>
          </a:solidFill>
          <a:ln/>
        </p:spPr>
      </p:sp>
      <p:sp>
        <p:nvSpPr>
          <p:cNvPr id="28" name="Shape 25"/>
          <p:cNvSpPr/>
          <p:nvPr/>
        </p:nvSpPr>
        <p:spPr>
          <a:xfrm>
            <a:off x="9326880" y="3465576"/>
            <a:ext cx="868680" cy="128016"/>
          </a:xfrm>
          <a:prstGeom prst="rect">
            <a:avLst/>
          </a:prstGeom>
          <a:solidFill>
            <a:schemeClr val="accent1"/>
          </a:solidFill>
          <a:ln/>
        </p:spPr>
      </p:sp>
      <p:sp>
        <p:nvSpPr>
          <p:cNvPr id="29" name="Text 26"/>
          <p:cNvSpPr txBox="1"/>
          <p:nvPr/>
        </p:nvSpPr>
        <p:spPr>
          <a:xfrm>
            <a:off x="10789920" y="3264408"/>
            <a:ext cx="822960" cy="530352"/>
          </a:xfrm>
          <a:prstGeom prst="rect">
            <a:avLst/>
          </a:prstGeom>
          <a:noFill/>
          <a:ln/>
        </p:spPr>
        <p:txBody>
          <a:bodyPr wrap="square" lIns="0" tIns="0" rIns="0" bIns="0" rtlCol="0" anchor="ctr"/>
          <a:lstStyle/>
          <a:p>
            <a:pPr algn="l" indent="0" marL="0">
              <a:buNone/>
            </a:pPr>
            <a:r>
              <a:rPr lang="en-US" sz="1200" b="1" dirty="0">
                <a:solidFill>
                  <a:schemeClr val="tx1"/>
                </a:solidFill>
              </a:rPr>
              <a:t>38 of 60</a:t>
            </a:r>
            <a:endParaRPr lang="en-US" sz="1200" dirty="0"/>
          </a:p>
        </p:txBody>
      </p:sp>
      <p:sp>
        <p:nvSpPr>
          <p:cNvPr id="30" name="Shape 27"/>
          <p:cNvSpPr/>
          <p:nvPr/>
        </p:nvSpPr>
        <p:spPr>
          <a:xfrm>
            <a:off x="548640" y="3867912"/>
            <a:ext cx="11091672" cy="530352"/>
          </a:xfrm>
          <a:prstGeom prst="roundRect">
            <a:avLst>
              <a:gd name="adj" fmla="val 13793"/>
            </a:avLst>
          </a:prstGeom>
          <a:solidFill>
            <a:schemeClr val="bg2"/>
          </a:solidFill>
          <a:ln/>
        </p:spPr>
      </p:sp>
      <p:sp>
        <p:nvSpPr>
          <p:cNvPr id="31" name="Text 28"/>
          <p:cNvSpPr/>
          <p:nvPr/>
        </p:nvSpPr>
        <p:spPr>
          <a:xfrm>
            <a:off x="731520" y="3963924"/>
            <a:ext cx="914400" cy="338328"/>
          </a:xfrm>
          <a:prstGeom prst="roundRect">
            <a:avLst>
              <a:gd name="adj" fmla="val 16216"/>
            </a:avLst>
          </a:prstGeom>
          <a:solidFill>
            <a:schemeClr val="accent1"/>
          </a:solidFill>
          <a:ln/>
        </p:spPr>
        <p:txBody>
          <a:bodyPr wrap="square" lIns="0" tIns="0" rIns="0" bIns="0" rtlCol="0" anchor="ctr"/>
          <a:lstStyle/>
          <a:p>
            <a:pPr algn="ctr" indent="0" marL="0">
              <a:buNone/>
            </a:pPr>
            <a:r>
              <a:rPr lang="en-US" sz="1200" b="1" dirty="0">
                <a:solidFill>
                  <a:schemeClr val="bg1"/>
                </a:solidFill>
              </a:rPr>
              <a:t>DP-071</a:t>
            </a:r>
            <a:endParaRPr lang="en-US" sz="1200" dirty="0"/>
          </a:p>
        </p:txBody>
      </p:sp>
      <p:sp>
        <p:nvSpPr>
          <p:cNvPr id="32" name="Text 29"/>
          <p:cNvSpPr txBox="1"/>
          <p:nvPr/>
        </p:nvSpPr>
        <p:spPr>
          <a:xfrm>
            <a:off x="1828800" y="3913632"/>
            <a:ext cx="3931920" cy="256032"/>
          </a:xfrm>
          <a:prstGeom prst="rect">
            <a:avLst/>
          </a:prstGeom>
          <a:noFill/>
          <a:ln/>
        </p:spPr>
        <p:txBody>
          <a:bodyPr wrap="square" lIns="0" tIns="0" rIns="0" bIns="0" rtlCol="0" anchor="ctr"/>
          <a:lstStyle/>
          <a:p>
            <a:pPr algn="l" indent="0" marL="0">
              <a:buNone/>
            </a:pPr>
            <a:r>
              <a:rPr lang="en-US" sz="1300" b="1" dirty="0">
                <a:solidFill>
                  <a:schemeClr val="tx1"/>
                </a:solidFill>
              </a:rPr>
              <a:t>Fund Proxy Solicitation Tracking</a:t>
            </a:r>
            <a:endParaRPr lang="en-US" sz="1300" dirty="0"/>
          </a:p>
        </p:txBody>
      </p:sp>
      <p:sp>
        <p:nvSpPr>
          <p:cNvPr id="33" name="Text 30"/>
          <p:cNvSpPr txBox="1"/>
          <p:nvPr/>
        </p:nvSpPr>
        <p:spPr>
          <a:xfrm>
            <a:off x="1828800" y="4169664"/>
            <a:ext cx="3931920" cy="182880"/>
          </a:xfrm>
          <a:prstGeom prst="rect">
            <a:avLst/>
          </a:prstGeom>
          <a:noFill/>
          <a:ln/>
        </p:spPr>
        <p:txBody>
          <a:bodyPr wrap="square" lIns="0" tIns="0" rIns="0" bIns="0" rtlCol="0" anchor="ctr"/>
          <a:lstStyle/>
          <a:p>
            <a:pPr algn="l" indent="0" marL="0">
              <a:buNone/>
            </a:pPr>
            <a:r>
              <a:rPr lang="en-US" sz="1000" dirty="0">
                <a:solidFill>
                  <a:schemeClr val="tx2"/>
                </a:solidFill>
              </a:rPr>
              <a:t>Operational  |  Investor Servicing and Fund Operations</a:t>
            </a:r>
            <a:endParaRPr lang="en-US" sz="1000" dirty="0"/>
          </a:p>
        </p:txBody>
      </p:sp>
      <p:sp>
        <p:nvSpPr>
          <p:cNvPr id="34" name="Text 31"/>
          <p:cNvSpPr txBox="1"/>
          <p:nvPr/>
        </p:nvSpPr>
        <p:spPr>
          <a:xfrm>
            <a:off x="5897880" y="3867912"/>
            <a:ext cx="3291840" cy="530352"/>
          </a:xfrm>
          <a:prstGeom prst="rect">
            <a:avLst/>
          </a:prstGeom>
          <a:noFill/>
          <a:ln/>
        </p:spPr>
        <p:txBody>
          <a:bodyPr wrap="square" lIns="0" tIns="0" rIns="0" bIns="0" rtlCol="0" anchor="ctr"/>
          <a:lstStyle/>
          <a:p>
            <a:pPr algn="l" indent="0" marL="0">
              <a:buNone/>
            </a:pPr>
            <a:r>
              <a:rPr lang="en-US" sz="1100" dirty="0">
                <a:solidFill>
                  <a:schemeClr val="tx1"/>
                </a:solidFill>
              </a:rPr>
              <a:t>Daily vote status of each fund shareholder meeting against quorum, by voting intermediary</a:t>
            </a:r>
            <a:endParaRPr lang="en-US" sz="1100" dirty="0"/>
          </a:p>
        </p:txBody>
      </p:sp>
      <p:sp>
        <p:nvSpPr>
          <p:cNvPr id="35" name="Shape 32"/>
          <p:cNvSpPr/>
          <p:nvPr/>
        </p:nvSpPr>
        <p:spPr>
          <a:xfrm>
            <a:off x="9326880" y="4069080"/>
            <a:ext cx="1371600" cy="128016"/>
          </a:xfrm>
          <a:prstGeom prst="rect">
            <a:avLst/>
          </a:prstGeom>
          <a:solidFill>
            <a:schemeClr val="bg1"/>
          </a:solidFill>
          <a:ln/>
        </p:spPr>
      </p:sp>
      <p:sp>
        <p:nvSpPr>
          <p:cNvPr id="36" name="Shape 33"/>
          <p:cNvSpPr/>
          <p:nvPr/>
        </p:nvSpPr>
        <p:spPr>
          <a:xfrm>
            <a:off x="9326880" y="4069080"/>
            <a:ext cx="811369" cy="128016"/>
          </a:xfrm>
          <a:prstGeom prst="rect">
            <a:avLst/>
          </a:prstGeom>
          <a:solidFill>
            <a:schemeClr val="accent1"/>
          </a:solidFill>
          <a:ln/>
        </p:spPr>
      </p:sp>
      <p:sp>
        <p:nvSpPr>
          <p:cNvPr id="37" name="Text 34"/>
          <p:cNvSpPr txBox="1"/>
          <p:nvPr/>
        </p:nvSpPr>
        <p:spPr>
          <a:xfrm>
            <a:off x="10789920" y="3867912"/>
            <a:ext cx="822960" cy="530352"/>
          </a:xfrm>
          <a:prstGeom prst="rect">
            <a:avLst/>
          </a:prstGeom>
          <a:noFill/>
          <a:ln/>
        </p:spPr>
        <p:txBody>
          <a:bodyPr wrap="square" lIns="0" tIns="0" rIns="0" bIns="0" rtlCol="0" anchor="ctr"/>
          <a:lstStyle/>
          <a:p>
            <a:pPr algn="l" indent="0" marL="0">
              <a:buNone/>
            </a:pPr>
            <a:r>
              <a:rPr lang="en-US" sz="1200" b="1" dirty="0">
                <a:solidFill>
                  <a:schemeClr val="tx1"/>
                </a:solidFill>
              </a:rPr>
              <a:t>42 of 71</a:t>
            </a:r>
            <a:endParaRPr lang="en-US" sz="1200" dirty="0"/>
          </a:p>
        </p:txBody>
      </p:sp>
      <p:sp>
        <p:nvSpPr>
          <p:cNvPr id="38" name="Shape 35"/>
          <p:cNvSpPr/>
          <p:nvPr/>
        </p:nvSpPr>
        <p:spPr>
          <a:xfrm>
            <a:off x="548640" y="4471416"/>
            <a:ext cx="11091672" cy="530352"/>
          </a:xfrm>
          <a:prstGeom prst="roundRect">
            <a:avLst>
              <a:gd name="adj" fmla="val 13793"/>
            </a:avLst>
          </a:prstGeom>
          <a:solidFill>
            <a:schemeClr val="bg2"/>
          </a:solidFill>
          <a:ln/>
        </p:spPr>
      </p:sp>
      <p:sp>
        <p:nvSpPr>
          <p:cNvPr id="39" name="Text 36"/>
          <p:cNvSpPr/>
          <p:nvPr/>
        </p:nvSpPr>
        <p:spPr>
          <a:xfrm>
            <a:off x="731520" y="4567428"/>
            <a:ext cx="914400" cy="338328"/>
          </a:xfrm>
          <a:prstGeom prst="roundRect">
            <a:avLst>
              <a:gd name="adj" fmla="val 16216"/>
            </a:avLst>
          </a:prstGeom>
          <a:solidFill>
            <a:schemeClr val="accent1"/>
          </a:solidFill>
          <a:ln/>
        </p:spPr>
        <p:txBody>
          <a:bodyPr wrap="square" lIns="0" tIns="0" rIns="0" bIns="0" rtlCol="0" anchor="ctr"/>
          <a:lstStyle/>
          <a:p>
            <a:pPr algn="ctr" indent="0" marL="0">
              <a:buNone/>
            </a:pPr>
            <a:r>
              <a:rPr lang="en-US" sz="1200" b="1" dirty="0">
                <a:solidFill>
                  <a:schemeClr val="bg1"/>
                </a:solidFill>
              </a:rPr>
              <a:t>DP-085</a:t>
            </a:r>
            <a:endParaRPr lang="en-US" sz="1200" dirty="0"/>
          </a:p>
        </p:txBody>
      </p:sp>
      <p:sp>
        <p:nvSpPr>
          <p:cNvPr id="40" name="Text 37"/>
          <p:cNvSpPr txBox="1"/>
          <p:nvPr/>
        </p:nvSpPr>
        <p:spPr>
          <a:xfrm>
            <a:off x="1828800" y="4517136"/>
            <a:ext cx="3931920" cy="256032"/>
          </a:xfrm>
          <a:prstGeom prst="rect">
            <a:avLst/>
          </a:prstGeom>
          <a:noFill/>
          <a:ln/>
        </p:spPr>
        <p:txBody>
          <a:bodyPr wrap="square" lIns="0" tIns="0" rIns="0" bIns="0" rtlCol="0" anchor="ctr"/>
          <a:lstStyle/>
          <a:p>
            <a:pPr algn="l" indent="0" marL="0">
              <a:buNone/>
            </a:pPr>
            <a:r>
              <a:rPr lang="en-US" sz="1100" b="1" dirty="0">
                <a:solidFill>
                  <a:schemeClr val="tx1"/>
                </a:solidFill>
              </a:rPr>
              <a:t>Shareholder Account Maintenance &amp; Fraud Monitoring</a:t>
            </a:r>
            <a:endParaRPr lang="en-US" sz="1100" dirty="0"/>
          </a:p>
        </p:txBody>
      </p:sp>
      <p:sp>
        <p:nvSpPr>
          <p:cNvPr id="41" name="Text 38"/>
          <p:cNvSpPr txBox="1"/>
          <p:nvPr/>
        </p:nvSpPr>
        <p:spPr>
          <a:xfrm>
            <a:off x="1828800" y="4773168"/>
            <a:ext cx="3931920" cy="182880"/>
          </a:xfrm>
          <a:prstGeom prst="rect">
            <a:avLst/>
          </a:prstGeom>
          <a:noFill/>
          <a:ln/>
        </p:spPr>
        <p:txBody>
          <a:bodyPr wrap="square" lIns="0" tIns="0" rIns="0" bIns="0" rtlCol="0" anchor="ctr"/>
          <a:lstStyle/>
          <a:p>
            <a:pPr algn="l" indent="0" marL="0">
              <a:buNone/>
            </a:pPr>
            <a:r>
              <a:rPr lang="en-US" sz="1000" dirty="0">
                <a:solidFill>
                  <a:schemeClr val="tx2"/>
                </a:solidFill>
              </a:rPr>
              <a:t>Regulatory and control  |  Investor Servicing</a:t>
            </a:r>
            <a:endParaRPr lang="en-US" sz="1000" dirty="0"/>
          </a:p>
        </p:txBody>
      </p:sp>
      <p:sp>
        <p:nvSpPr>
          <p:cNvPr id="42" name="Text 39"/>
          <p:cNvSpPr txBox="1"/>
          <p:nvPr/>
        </p:nvSpPr>
        <p:spPr>
          <a:xfrm>
            <a:off x="5897880" y="4471416"/>
            <a:ext cx="3291840" cy="530352"/>
          </a:xfrm>
          <a:prstGeom prst="rect">
            <a:avLst/>
          </a:prstGeom>
          <a:noFill/>
          <a:ln/>
        </p:spPr>
        <p:txBody>
          <a:bodyPr wrap="square" lIns="0" tIns="0" rIns="0" bIns="0" rtlCol="0" anchor="ctr"/>
          <a:lstStyle/>
          <a:p>
            <a:pPr algn="l" indent="0" marL="0">
              <a:buNone/>
            </a:pPr>
            <a:r>
              <a:rPr lang="en-US" sz="1100" dirty="0">
                <a:solidFill>
                  <a:schemeClr val="tx1"/>
                </a:solidFill>
              </a:rPr>
              <a:t>Account changes with their control evidence, and flags for change-then-redeem fraud patterns</a:t>
            </a:r>
            <a:endParaRPr lang="en-US" sz="1100" dirty="0"/>
          </a:p>
        </p:txBody>
      </p:sp>
      <p:sp>
        <p:nvSpPr>
          <p:cNvPr id="43" name="Shape 40"/>
          <p:cNvSpPr/>
          <p:nvPr/>
        </p:nvSpPr>
        <p:spPr>
          <a:xfrm>
            <a:off x="9326880" y="4672584"/>
            <a:ext cx="1371600" cy="128016"/>
          </a:xfrm>
          <a:prstGeom prst="rect">
            <a:avLst/>
          </a:prstGeom>
          <a:solidFill>
            <a:schemeClr val="bg1"/>
          </a:solidFill>
          <a:ln/>
        </p:spPr>
      </p:sp>
      <p:sp>
        <p:nvSpPr>
          <p:cNvPr id="44" name="Shape 41"/>
          <p:cNvSpPr/>
          <p:nvPr/>
        </p:nvSpPr>
        <p:spPr>
          <a:xfrm>
            <a:off x="9326880" y="4672584"/>
            <a:ext cx="717452" cy="128016"/>
          </a:xfrm>
          <a:prstGeom prst="rect">
            <a:avLst/>
          </a:prstGeom>
          <a:solidFill>
            <a:schemeClr val="accent1"/>
          </a:solidFill>
          <a:ln/>
        </p:spPr>
      </p:sp>
      <p:sp>
        <p:nvSpPr>
          <p:cNvPr id="45" name="Text 42"/>
          <p:cNvSpPr txBox="1"/>
          <p:nvPr/>
        </p:nvSpPr>
        <p:spPr>
          <a:xfrm>
            <a:off x="10789920" y="4471416"/>
            <a:ext cx="822960" cy="530352"/>
          </a:xfrm>
          <a:prstGeom prst="rect">
            <a:avLst/>
          </a:prstGeom>
          <a:noFill/>
          <a:ln/>
        </p:spPr>
        <p:txBody>
          <a:bodyPr wrap="square" lIns="0" tIns="0" rIns="0" bIns="0" rtlCol="0" anchor="ctr"/>
          <a:lstStyle/>
          <a:p>
            <a:pPr algn="l" indent="0" marL="0">
              <a:buNone/>
            </a:pPr>
            <a:r>
              <a:rPr lang="en-US" sz="1200" b="1" dirty="0">
                <a:solidFill>
                  <a:schemeClr val="tx1"/>
                </a:solidFill>
              </a:rPr>
              <a:t>34 of 65</a:t>
            </a:r>
            <a:endParaRPr lang="en-US" sz="1200" dirty="0"/>
          </a:p>
        </p:txBody>
      </p:sp>
      <p:sp>
        <p:nvSpPr>
          <p:cNvPr id="46" name="Shape 43"/>
          <p:cNvSpPr/>
          <p:nvPr/>
        </p:nvSpPr>
        <p:spPr>
          <a:xfrm>
            <a:off x="548640" y="5074920"/>
            <a:ext cx="11091672" cy="530352"/>
          </a:xfrm>
          <a:prstGeom prst="roundRect">
            <a:avLst>
              <a:gd name="adj" fmla="val 13793"/>
            </a:avLst>
          </a:prstGeom>
          <a:solidFill>
            <a:schemeClr val="bg2"/>
          </a:solidFill>
          <a:ln/>
        </p:spPr>
      </p:sp>
      <p:sp>
        <p:nvSpPr>
          <p:cNvPr id="47" name="Text 44"/>
          <p:cNvSpPr/>
          <p:nvPr/>
        </p:nvSpPr>
        <p:spPr>
          <a:xfrm>
            <a:off x="731520" y="5170932"/>
            <a:ext cx="914400" cy="338328"/>
          </a:xfrm>
          <a:prstGeom prst="roundRect">
            <a:avLst>
              <a:gd name="adj" fmla="val 16216"/>
            </a:avLst>
          </a:prstGeom>
          <a:solidFill>
            <a:schemeClr val="accent1"/>
          </a:solidFill>
          <a:ln/>
        </p:spPr>
        <p:txBody>
          <a:bodyPr wrap="square" lIns="0" tIns="0" rIns="0" bIns="0" rtlCol="0" anchor="ctr"/>
          <a:lstStyle/>
          <a:p>
            <a:pPr algn="ctr" indent="0" marL="0">
              <a:buNone/>
            </a:pPr>
            <a:r>
              <a:rPr lang="en-US" sz="1200" b="1" dirty="0">
                <a:solidFill>
                  <a:schemeClr val="bg1"/>
                </a:solidFill>
              </a:rPr>
              <a:t>DP-091</a:t>
            </a:r>
            <a:endParaRPr lang="en-US" sz="1200" dirty="0"/>
          </a:p>
        </p:txBody>
      </p:sp>
      <p:sp>
        <p:nvSpPr>
          <p:cNvPr id="48" name="Text 45"/>
          <p:cNvSpPr txBox="1"/>
          <p:nvPr/>
        </p:nvSpPr>
        <p:spPr>
          <a:xfrm>
            <a:off x="1828800" y="5120640"/>
            <a:ext cx="3931920" cy="256032"/>
          </a:xfrm>
          <a:prstGeom prst="rect">
            <a:avLst/>
          </a:prstGeom>
          <a:noFill/>
          <a:ln/>
        </p:spPr>
        <p:txBody>
          <a:bodyPr wrap="square" lIns="0" tIns="0" rIns="0" bIns="0" rtlCol="0" anchor="ctr"/>
          <a:lstStyle/>
          <a:p>
            <a:pPr algn="l" indent="0" marL="0">
              <a:buNone/>
            </a:pPr>
            <a:r>
              <a:rPr lang="en-US" sz="1300" b="1" dirty="0">
                <a:solidFill>
                  <a:schemeClr val="tx1"/>
                </a:solidFill>
              </a:rPr>
              <a:t>Shareholder Tax &amp; Cost Basis Reporting</a:t>
            </a:r>
            <a:endParaRPr lang="en-US" sz="1300" dirty="0"/>
          </a:p>
        </p:txBody>
      </p:sp>
      <p:sp>
        <p:nvSpPr>
          <p:cNvPr id="49" name="Text 46"/>
          <p:cNvSpPr txBox="1"/>
          <p:nvPr/>
        </p:nvSpPr>
        <p:spPr>
          <a:xfrm>
            <a:off x="1828800" y="5376672"/>
            <a:ext cx="3931920" cy="182880"/>
          </a:xfrm>
          <a:prstGeom prst="rect">
            <a:avLst/>
          </a:prstGeom>
          <a:noFill/>
          <a:ln/>
        </p:spPr>
        <p:txBody>
          <a:bodyPr wrap="square" lIns="0" tIns="0" rIns="0" bIns="0" rtlCol="0" anchor="ctr"/>
          <a:lstStyle/>
          <a:p>
            <a:pPr algn="l" indent="0" marL="0">
              <a:buNone/>
            </a:pPr>
            <a:r>
              <a:rPr lang="en-US" sz="1000" dirty="0">
                <a:solidFill>
                  <a:schemeClr val="tx2"/>
                </a:solidFill>
              </a:rPr>
              <a:t>Regulatory and control  |  Investor Servicing</a:t>
            </a:r>
            <a:endParaRPr lang="en-US" sz="1000" dirty="0"/>
          </a:p>
        </p:txBody>
      </p:sp>
      <p:sp>
        <p:nvSpPr>
          <p:cNvPr id="50" name="Text 47"/>
          <p:cNvSpPr txBox="1"/>
          <p:nvPr/>
        </p:nvSpPr>
        <p:spPr>
          <a:xfrm>
            <a:off x="5897880" y="5074920"/>
            <a:ext cx="3291840" cy="530352"/>
          </a:xfrm>
          <a:prstGeom prst="rect">
            <a:avLst/>
          </a:prstGeom>
          <a:noFill/>
          <a:ln/>
        </p:spPr>
        <p:txBody>
          <a:bodyPr wrap="square" lIns="0" tIns="0" rIns="0" bIns="0" rtlCol="0" anchor="ctr"/>
          <a:lstStyle/>
          <a:p>
            <a:pPr algn="l" indent="0" marL="0">
              <a:buNone/>
            </a:pPr>
            <a:r>
              <a:rPr lang="en-US" sz="1100" dirty="0">
                <a:solidFill>
                  <a:schemeClr val="tx1"/>
                </a:solidFill>
              </a:rPr>
              <a:t>Whether tax forms, cost basis elections and trade confirmations were complete and on time</a:t>
            </a:r>
            <a:endParaRPr lang="en-US" sz="1100" dirty="0"/>
          </a:p>
        </p:txBody>
      </p:sp>
      <p:sp>
        <p:nvSpPr>
          <p:cNvPr id="51" name="Shape 48"/>
          <p:cNvSpPr/>
          <p:nvPr/>
        </p:nvSpPr>
        <p:spPr>
          <a:xfrm>
            <a:off x="9326880" y="5276088"/>
            <a:ext cx="1371600" cy="128016"/>
          </a:xfrm>
          <a:prstGeom prst="rect">
            <a:avLst/>
          </a:prstGeom>
          <a:solidFill>
            <a:schemeClr val="bg1"/>
          </a:solidFill>
          <a:ln/>
        </p:spPr>
      </p:sp>
      <p:sp>
        <p:nvSpPr>
          <p:cNvPr id="52" name="Shape 49"/>
          <p:cNvSpPr/>
          <p:nvPr/>
        </p:nvSpPr>
        <p:spPr>
          <a:xfrm>
            <a:off x="9326880" y="5276088"/>
            <a:ext cx="706582" cy="128016"/>
          </a:xfrm>
          <a:prstGeom prst="rect">
            <a:avLst/>
          </a:prstGeom>
          <a:solidFill>
            <a:schemeClr val="accent1"/>
          </a:solidFill>
          <a:ln/>
        </p:spPr>
      </p:sp>
      <p:sp>
        <p:nvSpPr>
          <p:cNvPr id="53" name="Text 50"/>
          <p:cNvSpPr txBox="1"/>
          <p:nvPr/>
        </p:nvSpPr>
        <p:spPr>
          <a:xfrm>
            <a:off x="10789920" y="5074920"/>
            <a:ext cx="822960" cy="530352"/>
          </a:xfrm>
          <a:prstGeom prst="rect">
            <a:avLst/>
          </a:prstGeom>
          <a:noFill/>
          <a:ln/>
        </p:spPr>
        <p:txBody>
          <a:bodyPr wrap="square" lIns="0" tIns="0" rIns="0" bIns="0" rtlCol="0" anchor="ctr"/>
          <a:lstStyle/>
          <a:p>
            <a:pPr algn="l" indent="0" marL="0">
              <a:buNone/>
            </a:pPr>
            <a:r>
              <a:rPr lang="en-US" sz="1200" b="1" dirty="0">
                <a:solidFill>
                  <a:schemeClr val="tx1"/>
                </a:solidFill>
              </a:rPr>
              <a:t>34 of 66</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DATA PRODUCTS  |  OWNED BY OTHER DOMAINS</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Three more read it for servicing context</a:t>
            </a:r>
            <a:endParaRPr lang="en-US" sz="36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11091672" cy="914400"/>
        </p:xfrm>
        <a:graphic>
          <a:graphicData uri="http://schemas.openxmlformats.org/drawingml/2006/table">
            <a:tbl>
              <a:tblPr/>
              <a:tblGrid>
                <a:gridCol w="3200400"/>
                <a:gridCol w="3200400"/>
                <a:gridCol w="4690872"/>
              </a:tblGrid>
              <a:tr h="365760">
                <a:tc>
                  <a:txBody>
                    <a:bodyPr/>
                    <a:lstStyle/>
                    <a:p>
                      <a:pPr indent="0" marL="0">
                        <a:buNone/>
                      </a:pPr>
                      <a:r>
                        <a:rPr lang="en-US" sz="1200" b="1" dirty="0">
                          <a:solidFill>
                            <a:schemeClr val="bg1"/>
                          </a:solidFill>
                        </a:rPr>
                        <a:t>Who it serves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Products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What this domain supplies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r>
              <a:tr h="512064">
                <a:tc>
                  <a:txBody>
                    <a:bodyPr/>
                    <a:lstStyle/>
                    <a:p>
                      <a:pPr indent="0" marL="0">
                        <a:buNone/>
                      </a:pPr>
                      <a:r>
                        <a:rPr lang="en-US" sz="1200" b="1" dirty="0">
                          <a:solidFill>
                            <a:schemeClr val="tx1"/>
                          </a:solidFill>
                        </a:rPr>
                        <a:t>Wholesalers and field sales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DP-053</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Service requests with requester, role, intake channel, status and timestamps, as engagement touchpoints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12064">
                <a:tc>
                  <a:txBody>
                    <a:bodyPr/>
                    <a:lstStyle/>
                    <a:p>
                      <a:pPr indent="0" marL="0">
                        <a:buNone/>
                      </a:pPr>
                      <a:r>
                        <a:rPr lang="en-US" sz="1200" b="1" dirty="0">
                          <a:solidFill>
                            <a:schemeClr val="tx1"/>
                          </a:solidFill>
                        </a:rPr>
                        <a:t>Compliance and product governance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DP-061</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Service requests and contact center interactions that expressed dissatisfaction or led to a complaint</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12064">
                <a:tc>
                  <a:txBody>
                    <a:bodyPr/>
                    <a:lstStyle/>
                    <a:p>
                      <a:pPr indent="0" marL="0">
                        <a:buNone/>
                      </a:pPr>
                      <a:r>
                        <a:rPr lang="en-US" sz="1200" b="1" dirty="0">
                          <a:solidFill>
                            <a:schemeClr val="tx1"/>
                          </a:solidFill>
                        </a:rPr>
                        <a:t>Product management and strategy</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DP-076</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Beneficial owner position counts and holding model by intermediary, and the communications they relate to</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bl>
          </a:graphicData>
        </a:graphic>
      </p:graphicFrame>
      <p:sp>
        <p:nvSpPr>
          <p:cNvPr id="6" name="Text 2"/>
          <p:cNvSpPr txBox="1"/>
          <p:nvPr/>
        </p:nvSpPr>
        <p:spPr>
          <a:xfrm>
            <a:off x="548640" y="5897880"/>
            <a:ext cx="11091672" cy="274320"/>
          </a:xfrm>
          <a:prstGeom prst="rect">
            <a:avLst/>
          </a:prstGeom>
          <a:noFill/>
          <a:ln/>
        </p:spPr>
        <p:txBody>
          <a:bodyPr wrap="square" lIns="0" tIns="0" rIns="0" bIns="0" rtlCol="0" anchor="ctr"/>
          <a:lstStyle/>
          <a:p>
            <a:pPr algn="l" indent="0" marL="0">
              <a:buNone/>
            </a:pPr>
            <a:r>
              <a:rPr lang="en-US" sz="1200" dirty="0">
                <a:solidFill>
                  <a:schemeClr val="tx2"/>
                </a:solidFill>
              </a:rPr>
              <a:t>This domain owns no foundational product, so no other product depends on it through one. All 9 direct readers are consumer-aligned.</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DATA PRODUCTS  |  ONE ATTRIBUTE, END TO END</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One attribute, followed to an answer</a:t>
            </a:r>
            <a:endParaRPr lang="en-US" sz="3600" dirty="0"/>
          </a:p>
        </p:txBody>
      </p:sp>
      <p:sp>
        <p:nvSpPr>
          <p:cNvPr id="5" name="Shape 2"/>
          <p:cNvSpPr/>
          <p:nvPr/>
        </p:nvSpPr>
        <p:spPr>
          <a:xfrm>
            <a:off x="548640" y="1874520"/>
            <a:ext cx="1938528" cy="2514600"/>
          </a:xfrm>
          <a:prstGeom prst="roundRect">
            <a:avLst>
              <a:gd name="adj" fmla="val 3774"/>
            </a:avLst>
          </a:prstGeom>
          <a:solidFill>
            <a:schemeClr val="accent2"/>
          </a:solidFill>
          <a:ln/>
        </p:spPr>
      </p:sp>
      <p:sp>
        <p:nvSpPr>
          <p:cNvPr id="6" name="Text 3"/>
          <p:cNvSpPr txBox="1"/>
          <p:nvPr/>
        </p:nvSpPr>
        <p:spPr>
          <a:xfrm>
            <a:off x="731520" y="2057400"/>
            <a:ext cx="1572768" cy="228600"/>
          </a:xfrm>
          <a:prstGeom prst="rect">
            <a:avLst/>
          </a:prstGeom>
          <a:noFill/>
          <a:ln/>
        </p:spPr>
        <p:txBody>
          <a:bodyPr wrap="square" lIns="0" tIns="0" rIns="0" bIns="0" rtlCol="0" anchor="ctr"/>
          <a:lstStyle/>
          <a:p>
            <a:pPr algn="l" indent="0" marL="0">
              <a:buNone/>
            </a:pPr>
            <a:r>
              <a:rPr lang="en-US" sz="1100" b="1" spc="150" kern="0" dirty="0">
                <a:solidFill>
                  <a:schemeClr val="bg1"/>
                </a:solidFill>
              </a:rPr>
              <a:t>TAXONOMY</a:t>
            </a:r>
            <a:endParaRPr lang="en-US" sz="1100" dirty="0"/>
          </a:p>
        </p:txBody>
      </p:sp>
      <p:sp>
        <p:nvSpPr>
          <p:cNvPr id="7" name="Text 4"/>
          <p:cNvSpPr txBox="1"/>
          <p:nvPr/>
        </p:nvSpPr>
        <p:spPr>
          <a:xfrm>
            <a:off x="731520" y="2331720"/>
            <a:ext cx="1572768" cy="548640"/>
          </a:xfrm>
          <a:prstGeom prst="rect">
            <a:avLst/>
          </a:prstGeom>
          <a:noFill/>
          <a:ln/>
        </p:spPr>
        <p:txBody>
          <a:bodyPr wrap="square" lIns="0" tIns="0" rIns="0" bIns="0" rtlCol="0" anchor="ctr"/>
          <a:lstStyle/>
          <a:p>
            <a:pPr algn="l" indent="0" marL="0">
              <a:buNone/>
            </a:pPr>
            <a:r>
              <a:rPr lang="en-US" sz="1400" b="1" dirty="0">
                <a:solidFill>
                  <a:schemeClr val="bg1"/>
                </a:solidFill>
              </a:rPr>
              <a:t>Recipient Delivery Method</a:t>
            </a:r>
            <a:endParaRPr lang="en-US" sz="1400" dirty="0"/>
          </a:p>
        </p:txBody>
      </p:sp>
      <p:sp>
        <p:nvSpPr>
          <p:cNvPr id="8" name="Text 5"/>
          <p:cNvSpPr txBox="1"/>
          <p:nvPr/>
        </p:nvSpPr>
        <p:spPr>
          <a:xfrm>
            <a:off x="731520" y="2971800"/>
            <a:ext cx="1572768" cy="1280160"/>
          </a:xfrm>
          <a:prstGeom prst="rect">
            <a:avLst/>
          </a:prstGeom>
          <a:noFill/>
          <a:ln/>
        </p:spPr>
        <p:txBody>
          <a:bodyPr wrap="square" lIns="0" tIns="0" rIns="0" bIns="0" rtlCol="0" anchor="t"/>
          <a:lstStyle/>
          <a:p>
            <a:pPr algn="l" indent="0" marL="0">
              <a:buNone/>
            </a:pPr>
            <a:r>
              <a:rPr lang="en-US" sz="1200" dirty="0">
                <a:solidFill>
                  <a:schemeClr val="bg1"/>
                </a:solidFill>
              </a:rPr>
              <a:t>Defined once, on the Recipient Delivery Record: the method used to deliver a communication to one account.</a:t>
            </a:r>
            <a:endParaRPr lang="en-US" sz="1200" dirty="0"/>
          </a:p>
        </p:txBody>
      </p:sp>
      <p:sp>
        <p:nvSpPr>
          <p:cNvPr id="9" name="Shape 6"/>
          <p:cNvSpPr/>
          <p:nvPr/>
        </p:nvSpPr>
        <p:spPr>
          <a:xfrm>
            <a:off x="2532888" y="3131820"/>
            <a:ext cx="258318" cy="0"/>
          </a:xfrm>
          <a:prstGeom prst="line">
            <a:avLst/>
          </a:prstGeom>
          <a:noFill/>
          <a:ln w="19050">
            <a:solidFill>
              <a:schemeClr val="tx2"/>
            </a:solidFill>
            <a:prstDash val="solid"/>
            <a:tailEnd type="triangle"/>
          </a:ln>
        </p:spPr>
      </p:sp>
      <p:sp>
        <p:nvSpPr>
          <p:cNvPr id="10" name="Shape 7"/>
          <p:cNvSpPr/>
          <p:nvPr/>
        </p:nvSpPr>
        <p:spPr>
          <a:xfrm>
            <a:off x="2836926" y="1874520"/>
            <a:ext cx="1938528" cy="2514600"/>
          </a:xfrm>
          <a:prstGeom prst="roundRect">
            <a:avLst>
              <a:gd name="adj" fmla="val 3774"/>
            </a:avLst>
          </a:prstGeom>
          <a:solidFill>
            <a:schemeClr val="bg2"/>
          </a:solidFill>
          <a:ln/>
        </p:spPr>
      </p:sp>
      <p:sp>
        <p:nvSpPr>
          <p:cNvPr id="11" name="Text 8"/>
          <p:cNvSpPr txBox="1"/>
          <p:nvPr/>
        </p:nvSpPr>
        <p:spPr>
          <a:xfrm>
            <a:off x="3019806" y="2057400"/>
            <a:ext cx="1572768" cy="22860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DATA PRODUCT</a:t>
            </a:r>
            <a:endParaRPr lang="en-US" sz="1100" dirty="0"/>
          </a:p>
        </p:txBody>
      </p:sp>
      <p:sp>
        <p:nvSpPr>
          <p:cNvPr id="12" name="Text 9"/>
          <p:cNvSpPr txBox="1"/>
          <p:nvPr/>
        </p:nvSpPr>
        <p:spPr>
          <a:xfrm>
            <a:off x="3019806" y="2331720"/>
            <a:ext cx="1572768" cy="548640"/>
          </a:xfrm>
          <a:prstGeom prst="rect">
            <a:avLst/>
          </a:prstGeom>
          <a:noFill/>
          <a:ln/>
        </p:spPr>
        <p:txBody>
          <a:bodyPr wrap="square" lIns="0" tIns="0" rIns="0" bIns="0" rtlCol="0" anchor="ctr"/>
          <a:lstStyle/>
          <a:p>
            <a:pPr algn="l" indent="0" marL="0">
              <a:buNone/>
            </a:pPr>
            <a:r>
              <a:rPr lang="en-US" sz="1400" b="1" dirty="0">
                <a:solidFill>
                  <a:schemeClr val="tx1"/>
                </a:solidFill>
              </a:rPr>
              <a:t>DP-069</a:t>
            </a:r>
            <a:endParaRPr lang="en-US" sz="1400" dirty="0"/>
          </a:p>
        </p:txBody>
      </p:sp>
      <p:sp>
        <p:nvSpPr>
          <p:cNvPr id="13" name="Text 10"/>
          <p:cNvSpPr txBox="1"/>
          <p:nvPr/>
        </p:nvSpPr>
        <p:spPr>
          <a:xfrm>
            <a:off x="3019806" y="2971800"/>
            <a:ext cx="1572768" cy="1280160"/>
          </a:xfrm>
          <a:prstGeom prst="rect">
            <a:avLst/>
          </a:prstGeom>
          <a:noFill/>
          <a:ln/>
        </p:spPr>
        <p:txBody>
          <a:bodyPr wrap="square" lIns="0" tIns="0" rIns="0" bIns="0" rtlCol="0" anchor="t"/>
          <a:lstStyle/>
          <a:p>
            <a:pPr algn="l" indent="0" marL="0">
              <a:buNone/>
            </a:pPr>
            <a:r>
              <a:rPr lang="en-US" sz="1200" dirty="0">
                <a:solidFill>
                  <a:schemeClr val="tx1"/>
                </a:solidFill>
              </a:rPr>
              <a:t>Counts pieces by delivery method. Quality rule: pieces sum to the job's audience, no account counted twice.</a:t>
            </a:r>
            <a:endParaRPr lang="en-US" sz="1200" dirty="0"/>
          </a:p>
        </p:txBody>
      </p:sp>
      <p:sp>
        <p:nvSpPr>
          <p:cNvPr id="14" name="Shape 11"/>
          <p:cNvSpPr/>
          <p:nvPr/>
        </p:nvSpPr>
        <p:spPr>
          <a:xfrm>
            <a:off x="4821174" y="3131820"/>
            <a:ext cx="258318" cy="0"/>
          </a:xfrm>
          <a:prstGeom prst="line">
            <a:avLst/>
          </a:prstGeom>
          <a:noFill/>
          <a:ln w="19050">
            <a:solidFill>
              <a:schemeClr val="tx2"/>
            </a:solidFill>
            <a:prstDash val="solid"/>
            <a:tailEnd type="triangle"/>
          </a:ln>
        </p:spPr>
      </p:sp>
      <p:sp>
        <p:nvSpPr>
          <p:cNvPr id="15" name="Shape 12"/>
          <p:cNvSpPr/>
          <p:nvPr/>
        </p:nvSpPr>
        <p:spPr>
          <a:xfrm>
            <a:off x="5125212" y="1874520"/>
            <a:ext cx="1938528" cy="2514600"/>
          </a:xfrm>
          <a:prstGeom prst="roundRect">
            <a:avLst>
              <a:gd name="adj" fmla="val 3774"/>
            </a:avLst>
          </a:prstGeom>
          <a:solidFill>
            <a:schemeClr val="bg2"/>
          </a:solidFill>
          <a:ln/>
        </p:spPr>
      </p:sp>
      <p:sp>
        <p:nvSpPr>
          <p:cNvPr id="16" name="Text 13"/>
          <p:cNvSpPr txBox="1"/>
          <p:nvPr/>
        </p:nvSpPr>
        <p:spPr>
          <a:xfrm>
            <a:off x="5308092" y="2057400"/>
            <a:ext cx="1572768" cy="22860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MEASURE</a:t>
            </a:r>
            <a:endParaRPr lang="en-US" sz="1100" dirty="0"/>
          </a:p>
        </p:txBody>
      </p:sp>
      <p:sp>
        <p:nvSpPr>
          <p:cNvPr id="17" name="Text 14"/>
          <p:cNvSpPr txBox="1"/>
          <p:nvPr/>
        </p:nvSpPr>
        <p:spPr>
          <a:xfrm>
            <a:off x="5308092" y="2331720"/>
            <a:ext cx="1572768" cy="548640"/>
          </a:xfrm>
          <a:prstGeom prst="rect">
            <a:avLst/>
          </a:prstGeom>
          <a:noFill/>
          <a:ln/>
        </p:spPr>
        <p:txBody>
          <a:bodyPr wrap="square" lIns="0" tIns="0" rIns="0" bIns="0" rtlCol="0" anchor="ctr"/>
          <a:lstStyle/>
          <a:p>
            <a:pPr algn="l" indent="0" marL="0">
              <a:buNone/>
            </a:pPr>
            <a:r>
              <a:rPr lang="en-US" sz="1400" b="1" dirty="0">
                <a:solidFill>
                  <a:schemeClr val="tx1"/>
                </a:solidFill>
              </a:rPr>
              <a:t>Avoided Cost</a:t>
            </a:r>
            <a:endParaRPr lang="en-US" sz="1400" dirty="0"/>
          </a:p>
        </p:txBody>
      </p:sp>
      <p:sp>
        <p:nvSpPr>
          <p:cNvPr id="18" name="Text 15"/>
          <p:cNvSpPr txBox="1"/>
          <p:nvPr/>
        </p:nvSpPr>
        <p:spPr>
          <a:xfrm>
            <a:off x="5308092" y="2971800"/>
            <a:ext cx="1572768" cy="1280160"/>
          </a:xfrm>
          <a:prstGeom prst="rect">
            <a:avLst/>
          </a:prstGeom>
          <a:noFill/>
          <a:ln/>
        </p:spPr>
        <p:txBody>
          <a:bodyPr wrap="square" lIns="0" tIns="0" rIns="0" bIns="0" rtlCol="0" anchor="t"/>
          <a:lstStyle/>
          <a:p>
            <a:pPr algn="l" indent="0" marL="0">
              <a:buNone/>
            </a:pPr>
            <a:r>
              <a:rPr lang="en-US" sz="1200" dirty="0">
                <a:solidFill>
                  <a:schemeClr val="tx1"/>
                </a:solidFill>
              </a:rPr>
              <a:t>Prices the pieces not printed, using the print and postage cost per piece for the same type and period.</a:t>
            </a:r>
            <a:endParaRPr lang="en-US" sz="1200" dirty="0"/>
          </a:p>
        </p:txBody>
      </p:sp>
      <p:sp>
        <p:nvSpPr>
          <p:cNvPr id="19" name="Shape 16"/>
          <p:cNvSpPr/>
          <p:nvPr/>
        </p:nvSpPr>
        <p:spPr>
          <a:xfrm>
            <a:off x="7109460" y="3131820"/>
            <a:ext cx="258318" cy="0"/>
          </a:xfrm>
          <a:prstGeom prst="line">
            <a:avLst/>
          </a:prstGeom>
          <a:noFill/>
          <a:ln w="19050">
            <a:solidFill>
              <a:schemeClr val="tx2"/>
            </a:solidFill>
            <a:prstDash val="solid"/>
            <a:tailEnd type="triangle"/>
          </a:ln>
        </p:spPr>
      </p:sp>
      <p:sp>
        <p:nvSpPr>
          <p:cNvPr id="20" name="Shape 17"/>
          <p:cNvSpPr/>
          <p:nvPr/>
        </p:nvSpPr>
        <p:spPr>
          <a:xfrm>
            <a:off x="7413498" y="1874520"/>
            <a:ext cx="1938528" cy="2514600"/>
          </a:xfrm>
          <a:prstGeom prst="roundRect">
            <a:avLst>
              <a:gd name="adj" fmla="val 3774"/>
            </a:avLst>
          </a:prstGeom>
          <a:solidFill>
            <a:schemeClr val="bg2"/>
          </a:solidFill>
          <a:ln/>
        </p:spPr>
      </p:sp>
      <p:sp>
        <p:nvSpPr>
          <p:cNvPr id="21" name="Text 18"/>
          <p:cNvSpPr txBox="1"/>
          <p:nvPr/>
        </p:nvSpPr>
        <p:spPr>
          <a:xfrm>
            <a:off x="7596378" y="2057400"/>
            <a:ext cx="1572768" cy="22860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SEMANTIC MODEL</a:t>
            </a:r>
            <a:endParaRPr lang="en-US" sz="1100" dirty="0"/>
          </a:p>
        </p:txBody>
      </p:sp>
      <p:sp>
        <p:nvSpPr>
          <p:cNvPr id="22" name="Text 19"/>
          <p:cNvSpPr txBox="1"/>
          <p:nvPr/>
        </p:nvSpPr>
        <p:spPr>
          <a:xfrm>
            <a:off x="7596378" y="2331720"/>
            <a:ext cx="1572768" cy="548640"/>
          </a:xfrm>
          <a:prstGeom prst="rect">
            <a:avLst/>
          </a:prstGeom>
          <a:noFill/>
          <a:ln/>
        </p:spPr>
        <p:txBody>
          <a:bodyPr wrap="square" lIns="0" tIns="0" rIns="0" bIns="0" rtlCol="0" anchor="ctr"/>
          <a:lstStyle/>
          <a:p>
            <a:pPr algn="l" indent="0" marL="0">
              <a:buNone/>
            </a:pPr>
            <a:r>
              <a:rPr lang="en-US" sz="1400" b="1" dirty="0">
                <a:solidFill>
                  <a:schemeClr val="tx1"/>
                </a:solidFill>
              </a:rPr>
              <a:t>SM-07 Finance &amp;</a:t>
            </a:r>
            <a:endParaRPr lang="en-US" sz="1400" dirty="0"/>
          </a:p>
          <a:p>
            <a:pPr algn="l" indent="0" marL="0">
              <a:buNone/>
            </a:pPr>
            <a:r>
              <a:rPr lang="en-US" sz="1400" b="1" dirty="0">
                <a:solidFill>
                  <a:schemeClr val="tx1"/>
                </a:solidFill>
              </a:rPr>
              <a:t>Profitability</a:t>
            </a:r>
            <a:endParaRPr lang="en-US" sz="1400" dirty="0"/>
          </a:p>
        </p:txBody>
      </p:sp>
      <p:sp>
        <p:nvSpPr>
          <p:cNvPr id="23" name="Text 20"/>
          <p:cNvSpPr txBox="1"/>
          <p:nvPr/>
        </p:nvSpPr>
        <p:spPr>
          <a:xfrm>
            <a:off x="7596378" y="2971800"/>
            <a:ext cx="1572768" cy="1280160"/>
          </a:xfrm>
          <a:prstGeom prst="rect">
            <a:avLst/>
          </a:prstGeom>
          <a:noFill/>
          <a:ln/>
        </p:spPr>
        <p:txBody>
          <a:bodyPr wrap="square" lIns="0" tIns="0" rIns="0" bIns="0" rtlCol="0" anchor="t"/>
          <a:lstStyle/>
          <a:p>
            <a:pPr algn="l" indent="0" marL="0">
              <a:buNone/>
            </a:pPr>
            <a:r>
              <a:rPr lang="en-US" sz="1200" dirty="0">
                <a:solidFill>
                  <a:schemeClr val="tx1"/>
                </a:solidFill>
              </a:rPr>
              <a:t>Publishes delivery method with the pieces and avoided cost measures. The recipient account is hidden.</a:t>
            </a:r>
            <a:endParaRPr lang="en-US" sz="1200" dirty="0"/>
          </a:p>
        </p:txBody>
      </p:sp>
      <p:sp>
        <p:nvSpPr>
          <p:cNvPr id="24" name="Shape 21"/>
          <p:cNvSpPr/>
          <p:nvPr/>
        </p:nvSpPr>
        <p:spPr>
          <a:xfrm>
            <a:off x="9397746" y="3131820"/>
            <a:ext cx="258318" cy="0"/>
          </a:xfrm>
          <a:prstGeom prst="line">
            <a:avLst/>
          </a:prstGeom>
          <a:noFill/>
          <a:ln w="19050">
            <a:solidFill>
              <a:schemeClr val="tx2"/>
            </a:solidFill>
            <a:prstDash val="solid"/>
            <a:tailEnd type="triangle"/>
          </a:ln>
        </p:spPr>
      </p:sp>
      <p:sp>
        <p:nvSpPr>
          <p:cNvPr id="25" name="Shape 22"/>
          <p:cNvSpPr/>
          <p:nvPr/>
        </p:nvSpPr>
        <p:spPr>
          <a:xfrm>
            <a:off x="9701784" y="1874520"/>
            <a:ext cx="1938528" cy="2514600"/>
          </a:xfrm>
          <a:prstGeom prst="roundRect">
            <a:avLst>
              <a:gd name="adj" fmla="val 3774"/>
            </a:avLst>
          </a:prstGeom>
          <a:solidFill>
            <a:schemeClr val="bg2"/>
          </a:solidFill>
          <a:ln/>
        </p:spPr>
      </p:sp>
      <p:sp>
        <p:nvSpPr>
          <p:cNvPr id="26" name="Text 23"/>
          <p:cNvSpPr txBox="1"/>
          <p:nvPr/>
        </p:nvSpPr>
        <p:spPr>
          <a:xfrm>
            <a:off x="9884664" y="2057400"/>
            <a:ext cx="1572768" cy="22860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USE</a:t>
            </a:r>
            <a:endParaRPr lang="en-US" sz="1100" dirty="0"/>
          </a:p>
        </p:txBody>
      </p:sp>
      <p:sp>
        <p:nvSpPr>
          <p:cNvPr id="27" name="Text 24"/>
          <p:cNvSpPr txBox="1"/>
          <p:nvPr/>
        </p:nvSpPr>
        <p:spPr>
          <a:xfrm>
            <a:off x="9884664" y="2331720"/>
            <a:ext cx="1572768" cy="548640"/>
          </a:xfrm>
          <a:prstGeom prst="rect">
            <a:avLst/>
          </a:prstGeom>
          <a:noFill/>
          <a:ln/>
        </p:spPr>
        <p:txBody>
          <a:bodyPr wrap="square" lIns="0" tIns="0" rIns="0" bIns="0" rtlCol="0" anchor="ctr"/>
          <a:lstStyle/>
          <a:p>
            <a:pPr algn="l" indent="0" marL="0">
              <a:buNone/>
            </a:pPr>
            <a:r>
              <a:rPr lang="en-US" sz="1400" b="1" dirty="0">
                <a:solidFill>
                  <a:schemeClr val="tx1"/>
                </a:solidFill>
              </a:rPr>
              <a:t>Dashboard or AI assistant</a:t>
            </a:r>
            <a:endParaRPr lang="en-US" sz="1400" dirty="0"/>
          </a:p>
        </p:txBody>
      </p:sp>
      <p:sp>
        <p:nvSpPr>
          <p:cNvPr id="28" name="Text 25"/>
          <p:cNvSpPr txBox="1"/>
          <p:nvPr/>
        </p:nvSpPr>
        <p:spPr>
          <a:xfrm>
            <a:off x="9884664" y="2971800"/>
            <a:ext cx="1572768" cy="1280160"/>
          </a:xfrm>
          <a:prstGeom prst="rect">
            <a:avLst/>
          </a:prstGeom>
          <a:noFill/>
          <a:ln/>
        </p:spPr>
        <p:txBody>
          <a:bodyPr wrap="square" lIns="0" tIns="0" rIns="0" bIns="0" rtlCol="0" anchor="t"/>
          <a:lstStyle/>
          <a:p>
            <a:pPr algn="l" indent="0" marL="0">
              <a:buNone/>
            </a:pPr>
            <a:r>
              <a:rPr lang="en-US" sz="1200" dirty="0">
                <a:solidFill>
                  <a:schemeClr val="tx1"/>
                </a:solidFill>
              </a:rPr>
              <a:t>“How much did e-delivery and householding save on shareholder mailings last quarter?”</a:t>
            </a:r>
            <a:endParaRPr lang="en-US" sz="1200" dirty="0"/>
          </a:p>
        </p:txBody>
      </p:sp>
      <p:sp>
        <p:nvSpPr>
          <p:cNvPr id="29" name="Shape 26"/>
          <p:cNvSpPr/>
          <p:nvPr/>
        </p:nvSpPr>
        <p:spPr>
          <a:xfrm>
            <a:off x="548640" y="4663440"/>
            <a:ext cx="11091672" cy="731520"/>
          </a:xfrm>
          <a:prstGeom prst="roundRect">
            <a:avLst>
              <a:gd name="adj" fmla="val 10000"/>
            </a:avLst>
          </a:prstGeom>
          <a:solidFill>
            <a:schemeClr val="tx1"/>
          </a:solidFill>
          <a:ln/>
        </p:spPr>
      </p:sp>
      <p:sp>
        <p:nvSpPr>
          <p:cNvPr id="30" name="Text 27"/>
          <p:cNvSpPr txBox="1"/>
          <p:nvPr/>
        </p:nvSpPr>
        <p:spPr>
          <a:xfrm>
            <a:off x="548640" y="4663440"/>
            <a:ext cx="11091672" cy="731520"/>
          </a:xfrm>
          <a:prstGeom prst="rect">
            <a:avLst/>
          </a:prstGeom>
          <a:noFill/>
          <a:ln/>
        </p:spPr>
        <p:txBody>
          <a:bodyPr wrap="square" lIns="0" tIns="0" rIns="0" bIns="0" rtlCol="0" anchor="ctr"/>
          <a:lstStyle/>
          <a:p>
            <a:pPr algn="ctr" indent="0" marL="0">
              <a:buNone/>
            </a:pPr>
            <a:r>
              <a:rPr lang="en-US" sz="1600" b="1" dirty="0">
                <a:solidFill>
                  <a:schemeClr val="bg1"/>
                </a:solidFill>
              </a:rPr>
              <a:t>Avoided Cost  =  (electronic + householded + suppressed pieces)  x  print and postage cost per piece</a:t>
            </a:r>
            <a:endParaRPr lang="en-US" sz="1600" dirty="0"/>
          </a:p>
        </p:txBody>
      </p:sp>
      <p:sp>
        <p:nvSpPr>
          <p:cNvPr id="31" name="Text 28"/>
          <p:cNvSpPr txBox="1"/>
          <p:nvPr/>
        </p:nvSpPr>
        <p:spPr>
          <a:xfrm>
            <a:off x="548640" y="5623560"/>
            <a:ext cx="11091672" cy="274320"/>
          </a:xfrm>
          <a:prstGeom prst="rect">
            <a:avLst/>
          </a:prstGeom>
          <a:noFill/>
          <a:ln/>
        </p:spPr>
        <p:txBody>
          <a:bodyPr wrap="square" lIns="0" tIns="0" rIns="0" bIns="0" rtlCol="0" anchor="ctr"/>
          <a:lstStyle/>
          <a:p>
            <a:pPr algn="l" indent="0" marL="0">
              <a:buNone/>
            </a:pPr>
            <a:r>
              <a:rPr lang="en-US" sz="1200" dirty="0">
                <a:solidFill>
                  <a:schemeClr val="tx2"/>
                </a:solidFill>
              </a:rPr>
              <a:t>Print and postage cost is mastered in Distribution Finance &amp; Profitability. This domain supplies what was sent, to whom and by which method.</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NEXT STEPS</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What needs deciding next</a:t>
            </a:r>
            <a:endParaRPr lang="en-US" sz="3600" dirty="0"/>
          </a:p>
        </p:txBody>
      </p:sp>
      <p:sp>
        <p:nvSpPr>
          <p:cNvPr id="5" name="Text 2"/>
          <p:cNvSpPr txBox="1"/>
          <p:nvPr/>
        </p:nvSpPr>
        <p:spPr>
          <a:xfrm>
            <a:off x="548640" y="1783080"/>
            <a:ext cx="5303520" cy="256032"/>
          </a:xfrm>
          <a:prstGeom prst="rect">
            <a:avLst/>
          </a:prstGeom>
          <a:noFill/>
          <a:ln/>
        </p:spPr>
        <p:txBody>
          <a:bodyPr wrap="square" lIns="0" tIns="0" rIns="0" bIns="0" rtlCol="0" anchor="ctr"/>
          <a:lstStyle/>
          <a:p>
            <a:pPr algn="l" indent="0" marL="0">
              <a:buNone/>
            </a:pPr>
            <a:r>
              <a:rPr lang="en-US" sz="1200" b="1" spc="150" kern="0" dirty="0">
                <a:solidFill>
                  <a:schemeClr val="accent1"/>
                </a:solidFill>
              </a:rPr>
              <a:t>OPEN DECISIONS</a:t>
            </a:r>
            <a:endParaRPr lang="en-US" sz="1200" dirty="0"/>
          </a:p>
        </p:txBody>
      </p:sp>
      <p:sp>
        <p:nvSpPr>
          <p:cNvPr id="6" name="Shape 3"/>
          <p:cNvSpPr/>
          <p:nvPr/>
        </p:nvSpPr>
        <p:spPr>
          <a:xfrm>
            <a:off x="548640" y="2148840"/>
            <a:ext cx="5303520" cy="841248"/>
          </a:xfrm>
          <a:prstGeom prst="roundRect">
            <a:avLst>
              <a:gd name="adj" fmla="val 8696"/>
            </a:avLst>
          </a:prstGeom>
          <a:solidFill>
            <a:schemeClr val="bg2"/>
          </a:solidFill>
          <a:ln/>
        </p:spPr>
      </p:sp>
      <p:sp>
        <p:nvSpPr>
          <p:cNvPr id="7" name="Text 4"/>
          <p:cNvSpPr/>
          <p:nvPr/>
        </p:nvSpPr>
        <p:spPr>
          <a:xfrm>
            <a:off x="731520" y="2395728"/>
            <a:ext cx="1143000" cy="347472"/>
          </a:xfrm>
          <a:prstGeom prst="roundRect">
            <a:avLst>
              <a:gd name="adj" fmla="val 15789"/>
            </a:avLst>
          </a:prstGeom>
          <a:solidFill>
            <a:schemeClr val="accent4"/>
          </a:solidFill>
          <a:ln/>
        </p:spPr>
        <p:txBody>
          <a:bodyPr wrap="square" lIns="0" tIns="0" rIns="0" bIns="0" rtlCol="0" anchor="ctr"/>
          <a:lstStyle/>
          <a:p>
            <a:pPr algn="ctr" indent="0" marL="0">
              <a:buNone/>
            </a:pPr>
            <a:r>
              <a:rPr lang="en-US" sz="1100" b="1" dirty="0">
                <a:solidFill>
                  <a:schemeClr val="bg1"/>
                </a:solidFill>
              </a:rPr>
              <a:t>CD-090</a:t>
            </a:r>
            <a:endParaRPr lang="en-US" sz="1100" dirty="0"/>
          </a:p>
        </p:txBody>
      </p:sp>
      <p:sp>
        <p:nvSpPr>
          <p:cNvPr id="8" name="Text 5"/>
          <p:cNvSpPr txBox="1"/>
          <p:nvPr/>
        </p:nvSpPr>
        <p:spPr>
          <a:xfrm>
            <a:off x="2057400" y="2148840"/>
            <a:ext cx="3611880" cy="841248"/>
          </a:xfrm>
          <a:prstGeom prst="rect">
            <a:avLst/>
          </a:prstGeom>
          <a:noFill/>
          <a:ln/>
        </p:spPr>
        <p:txBody>
          <a:bodyPr wrap="square" lIns="0" tIns="0" rIns="0" bIns="0" rtlCol="0" anchor="ctr"/>
          <a:lstStyle/>
          <a:p>
            <a:pPr algn="l" indent="0" marL="0">
              <a:buNone/>
            </a:pPr>
            <a:r>
              <a:rPr lang="en-US" sz="1200" dirty="0">
                <a:solidFill>
                  <a:schemeClr val="tx1"/>
                </a:solidFill>
              </a:rPr>
              <a:t>One enterprise third-party risk framework for servicing vendors and data vendors. This domain keeps servicing SLAs. Needs a business decision.</a:t>
            </a:r>
            <a:endParaRPr lang="en-US" sz="1200" dirty="0"/>
          </a:p>
        </p:txBody>
      </p:sp>
      <p:sp>
        <p:nvSpPr>
          <p:cNvPr id="9" name="Shape 6"/>
          <p:cNvSpPr/>
          <p:nvPr/>
        </p:nvSpPr>
        <p:spPr>
          <a:xfrm>
            <a:off x="548640" y="3108960"/>
            <a:ext cx="5303520" cy="841248"/>
          </a:xfrm>
          <a:prstGeom prst="roundRect">
            <a:avLst>
              <a:gd name="adj" fmla="val 8696"/>
            </a:avLst>
          </a:prstGeom>
          <a:solidFill>
            <a:schemeClr val="bg2"/>
          </a:solidFill>
          <a:ln/>
        </p:spPr>
      </p:sp>
      <p:sp>
        <p:nvSpPr>
          <p:cNvPr id="10" name="Text 7"/>
          <p:cNvSpPr/>
          <p:nvPr/>
        </p:nvSpPr>
        <p:spPr>
          <a:xfrm>
            <a:off x="731520" y="3355848"/>
            <a:ext cx="1143000" cy="347472"/>
          </a:xfrm>
          <a:prstGeom prst="roundRect">
            <a:avLst>
              <a:gd name="adj" fmla="val 15789"/>
            </a:avLst>
          </a:prstGeom>
          <a:solidFill>
            <a:schemeClr val="accent4"/>
          </a:solidFill>
          <a:ln/>
        </p:spPr>
        <p:txBody>
          <a:bodyPr wrap="square" lIns="0" tIns="0" rIns="0" bIns="0" rtlCol="0" anchor="ctr"/>
          <a:lstStyle/>
          <a:p>
            <a:pPr algn="ctr" indent="0" marL="0">
              <a:buNone/>
            </a:pPr>
            <a:r>
              <a:rPr lang="en-US" sz="1100" b="1" dirty="0">
                <a:solidFill>
                  <a:schemeClr val="bg1"/>
                </a:solidFill>
              </a:rPr>
              <a:t>CD-071</a:t>
            </a:r>
            <a:endParaRPr lang="en-US" sz="1100" dirty="0"/>
          </a:p>
        </p:txBody>
      </p:sp>
      <p:sp>
        <p:nvSpPr>
          <p:cNvPr id="11" name="Text 8"/>
          <p:cNvSpPr txBox="1"/>
          <p:nvPr/>
        </p:nvSpPr>
        <p:spPr>
          <a:xfrm>
            <a:off x="2057400" y="3108960"/>
            <a:ext cx="3611880" cy="841248"/>
          </a:xfrm>
          <a:prstGeom prst="rect">
            <a:avLst/>
          </a:prstGeom>
          <a:noFill/>
          <a:ln/>
        </p:spPr>
        <p:txBody>
          <a:bodyPr wrap="square" lIns="0" tIns="0" rIns="0" bIns="0" rtlCol="0" anchor="ctr"/>
          <a:lstStyle/>
          <a:p>
            <a:pPr algn="l" indent="0" marL="0">
              <a:buNone/>
            </a:pPr>
            <a:r>
              <a:rPr lang="en-US" sz="1200" dirty="0">
                <a:solidFill>
                  <a:schemeClr val="tx1"/>
                </a:solidFill>
              </a:rPr>
              <a:t>Keep three owners: consent in Client &amp; Customer, marketing preferences in Marketing &amp; Digital, delivery elections here. Rename two attributes.</a:t>
            </a:r>
            <a:endParaRPr lang="en-US" sz="1200" dirty="0"/>
          </a:p>
        </p:txBody>
      </p:sp>
      <p:sp>
        <p:nvSpPr>
          <p:cNvPr id="12" name="Shape 9"/>
          <p:cNvSpPr/>
          <p:nvPr/>
        </p:nvSpPr>
        <p:spPr>
          <a:xfrm>
            <a:off x="548640" y="4069080"/>
            <a:ext cx="5303520" cy="841248"/>
          </a:xfrm>
          <a:prstGeom prst="roundRect">
            <a:avLst>
              <a:gd name="adj" fmla="val 8696"/>
            </a:avLst>
          </a:prstGeom>
          <a:solidFill>
            <a:schemeClr val="bg2"/>
          </a:solidFill>
          <a:ln/>
        </p:spPr>
      </p:sp>
      <p:sp>
        <p:nvSpPr>
          <p:cNvPr id="13" name="Text 10"/>
          <p:cNvSpPr/>
          <p:nvPr/>
        </p:nvSpPr>
        <p:spPr>
          <a:xfrm>
            <a:off x="731520" y="4315968"/>
            <a:ext cx="1143000" cy="347472"/>
          </a:xfrm>
          <a:prstGeom prst="roundRect">
            <a:avLst>
              <a:gd name="adj" fmla="val 15789"/>
            </a:avLst>
          </a:prstGeom>
          <a:solidFill>
            <a:schemeClr val="accent4"/>
          </a:solidFill>
          <a:ln/>
        </p:spPr>
        <p:txBody>
          <a:bodyPr wrap="square" lIns="0" tIns="0" rIns="0" bIns="0" rtlCol="0" anchor="ctr"/>
          <a:lstStyle/>
          <a:p>
            <a:pPr algn="ctr" indent="0" marL="0">
              <a:buNone/>
            </a:pPr>
            <a:r>
              <a:rPr lang="en-US" sz="1100" b="1" dirty="0">
                <a:solidFill>
                  <a:schemeClr val="bg1"/>
                </a:solidFill>
              </a:rPr>
              <a:t>CD-045</a:t>
            </a:r>
            <a:endParaRPr lang="en-US" sz="1100" dirty="0"/>
          </a:p>
        </p:txBody>
      </p:sp>
      <p:sp>
        <p:nvSpPr>
          <p:cNvPr id="14" name="Text 11"/>
          <p:cNvSpPr txBox="1"/>
          <p:nvPr/>
        </p:nvSpPr>
        <p:spPr>
          <a:xfrm>
            <a:off x="2057400" y="4069080"/>
            <a:ext cx="3611880" cy="841248"/>
          </a:xfrm>
          <a:prstGeom prst="rect">
            <a:avLst/>
          </a:prstGeom>
          <a:noFill/>
          <a:ln/>
        </p:spPr>
        <p:txBody>
          <a:bodyPr wrap="square" lIns="0" tIns="0" rIns="0" bIns="0" rtlCol="0" anchor="ctr"/>
          <a:lstStyle/>
          <a:p>
            <a:pPr algn="l" indent="0" marL="0">
              <a:buNone/>
            </a:pPr>
            <a:r>
              <a:rPr lang="en-US" sz="1200" dirty="0">
                <a:solidFill>
                  <a:schemeClr val="tx1"/>
                </a:solidFill>
              </a:rPr>
              <a:t>The servicing error is the master record of a NAV error. Correction transactions in Sales Transactions &amp; AUM Attribution reference it.</a:t>
            </a:r>
            <a:endParaRPr lang="en-US" sz="1200" dirty="0"/>
          </a:p>
        </p:txBody>
      </p:sp>
      <p:sp>
        <p:nvSpPr>
          <p:cNvPr id="15" name="Shape 12"/>
          <p:cNvSpPr/>
          <p:nvPr/>
        </p:nvSpPr>
        <p:spPr>
          <a:xfrm>
            <a:off x="548640" y="5029200"/>
            <a:ext cx="5303520" cy="841248"/>
          </a:xfrm>
          <a:prstGeom prst="roundRect">
            <a:avLst>
              <a:gd name="adj" fmla="val 8696"/>
            </a:avLst>
          </a:prstGeom>
          <a:solidFill>
            <a:schemeClr val="bg2"/>
          </a:solidFill>
          <a:ln/>
        </p:spPr>
      </p:sp>
      <p:sp>
        <p:nvSpPr>
          <p:cNvPr id="16" name="Text 13"/>
          <p:cNvSpPr/>
          <p:nvPr/>
        </p:nvSpPr>
        <p:spPr>
          <a:xfrm>
            <a:off x="731520" y="5276088"/>
            <a:ext cx="1143000" cy="347472"/>
          </a:xfrm>
          <a:prstGeom prst="roundRect">
            <a:avLst>
              <a:gd name="adj" fmla="val 15789"/>
            </a:avLst>
          </a:prstGeom>
          <a:solidFill>
            <a:schemeClr val="accent4"/>
          </a:solidFill>
          <a:ln/>
        </p:spPr>
        <p:txBody>
          <a:bodyPr wrap="square" lIns="0" tIns="0" rIns="0" bIns="0" rtlCol="0" anchor="ctr"/>
          <a:lstStyle/>
          <a:p>
            <a:pPr algn="ctr" indent="0" marL="0">
              <a:buNone/>
            </a:pPr>
            <a:r>
              <a:rPr lang="en-US" sz="1100" b="1" dirty="0">
                <a:solidFill>
                  <a:schemeClr val="bg1"/>
                </a:solidFill>
              </a:rPr>
              <a:t>CD-014</a:t>
            </a:r>
            <a:endParaRPr lang="en-US" sz="1100" dirty="0"/>
          </a:p>
        </p:txBody>
      </p:sp>
      <p:sp>
        <p:nvSpPr>
          <p:cNvPr id="17" name="Text 14"/>
          <p:cNvSpPr txBox="1"/>
          <p:nvPr/>
        </p:nvSpPr>
        <p:spPr>
          <a:xfrm>
            <a:off x="2057400" y="5029200"/>
            <a:ext cx="3611880" cy="841248"/>
          </a:xfrm>
          <a:prstGeom prst="rect">
            <a:avLst/>
          </a:prstGeom>
          <a:noFill/>
          <a:ln/>
        </p:spPr>
        <p:txBody>
          <a:bodyPr wrap="square" lIns="0" tIns="0" rIns="0" bIns="0" rtlCol="0" anchor="ctr"/>
          <a:lstStyle/>
          <a:p>
            <a:pPr algn="l" indent="0" marL="0">
              <a:buNone/>
            </a:pPr>
            <a:r>
              <a:rPr lang="en-US" sz="1200" dirty="0">
                <a:solidFill>
                  <a:schemeClr val="tx1"/>
                </a:solidFill>
              </a:rPr>
              <a:t>Client &amp; Customer owns account status, including Dormant. This domain owns the escheatment workflow and updates the status by service request.</a:t>
            </a:r>
            <a:endParaRPr lang="en-US" sz="1200" dirty="0"/>
          </a:p>
        </p:txBody>
      </p:sp>
      <p:sp>
        <p:nvSpPr>
          <p:cNvPr id="18" name="Text 15"/>
          <p:cNvSpPr txBox="1"/>
          <p:nvPr/>
        </p:nvSpPr>
        <p:spPr>
          <a:xfrm>
            <a:off x="6336792" y="1783080"/>
            <a:ext cx="5303520" cy="256032"/>
          </a:xfrm>
          <a:prstGeom prst="rect">
            <a:avLst/>
          </a:prstGeom>
          <a:noFill/>
          <a:ln/>
        </p:spPr>
        <p:txBody>
          <a:bodyPr wrap="square" lIns="0" tIns="0" rIns="0" bIns="0" rtlCol="0" anchor="ctr"/>
          <a:lstStyle/>
          <a:p>
            <a:pPr algn="l" indent="0" marL="0">
              <a:buNone/>
            </a:pPr>
            <a:r>
              <a:rPr lang="en-US" sz="1200" b="1" spc="150" kern="0" dirty="0">
                <a:solidFill>
                  <a:schemeClr val="accent1"/>
                </a:solidFill>
              </a:rPr>
              <a:t>NEXT STEPS</a:t>
            </a:r>
            <a:endParaRPr lang="en-US" sz="1200" dirty="0"/>
          </a:p>
        </p:txBody>
      </p:sp>
      <p:sp>
        <p:nvSpPr>
          <p:cNvPr id="19" name="Text 16"/>
          <p:cNvSpPr/>
          <p:nvPr/>
        </p:nvSpPr>
        <p:spPr>
          <a:xfrm>
            <a:off x="6336792" y="2240280"/>
            <a:ext cx="384048" cy="384048"/>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20" name="Text 17"/>
          <p:cNvSpPr txBox="1"/>
          <p:nvPr/>
        </p:nvSpPr>
        <p:spPr>
          <a:xfrm>
            <a:off x="6903720" y="2148840"/>
            <a:ext cx="4736592" cy="566928"/>
          </a:xfrm>
          <a:prstGeom prst="rect">
            <a:avLst/>
          </a:prstGeom>
          <a:noFill/>
          <a:ln/>
        </p:spPr>
        <p:txBody>
          <a:bodyPr wrap="square" lIns="0" tIns="0" rIns="0" bIns="0" rtlCol="0" anchor="ctr"/>
          <a:lstStyle/>
          <a:p>
            <a:pPr algn="l" indent="0" marL="0">
              <a:buNone/>
            </a:pPr>
            <a:r>
              <a:rPr lang="en-US" sz="1300" dirty="0">
                <a:solidFill>
                  <a:schemeClr val="tx1"/>
                </a:solidFill>
              </a:rPr>
              <a:t>Validate the families and 72 proposed critical data elements with Fund Operations and TA Oversight, Fund Legal, Fund Tax and Compliance</a:t>
            </a:r>
            <a:endParaRPr lang="en-US" sz="1300" dirty="0"/>
          </a:p>
        </p:txBody>
      </p:sp>
      <p:sp>
        <p:nvSpPr>
          <p:cNvPr id="21" name="Text 18"/>
          <p:cNvSpPr/>
          <p:nvPr/>
        </p:nvSpPr>
        <p:spPr>
          <a:xfrm>
            <a:off x="6336792" y="3008376"/>
            <a:ext cx="384048" cy="384048"/>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22" name="Text 19"/>
          <p:cNvSpPr txBox="1"/>
          <p:nvPr/>
        </p:nvSpPr>
        <p:spPr>
          <a:xfrm>
            <a:off x="6903720" y="2916936"/>
            <a:ext cx="4736592" cy="566928"/>
          </a:xfrm>
          <a:prstGeom prst="rect">
            <a:avLst/>
          </a:prstGeom>
          <a:noFill/>
          <a:ln/>
        </p:spPr>
        <p:txBody>
          <a:bodyPr wrap="square" lIns="0" tIns="0" rIns="0" bIns="0" rtlCol="0" anchor="ctr"/>
          <a:lstStyle/>
          <a:p>
            <a:pPr algn="l" indent="0" marL="0">
              <a:buNone/>
            </a:pPr>
            <a:r>
              <a:rPr lang="en-US" sz="1300" dirty="0">
                <a:solidFill>
                  <a:schemeClr val="tx1"/>
                </a:solidFill>
              </a:rPr>
              <a:t>Map attributes to transfer agent record layouts and Broadridge job reports</a:t>
            </a:r>
            <a:endParaRPr lang="en-US" sz="1300" dirty="0"/>
          </a:p>
        </p:txBody>
      </p:sp>
      <p:sp>
        <p:nvSpPr>
          <p:cNvPr id="23" name="Text 20"/>
          <p:cNvSpPr/>
          <p:nvPr/>
        </p:nvSpPr>
        <p:spPr>
          <a:xfrm>
            <a:off x="6336792" y="3776472"/>
            <a:ext cx="384048" cy="384048"/>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24" name="Text 21"/>
          <p:cNvSpPr txBox="1"/>
          <p:nvPr/>
        </p:nvSpPr>
        <p:spPr>
          <a:xfrm>
            <a:off x="6903720" y="3685032"/>
            <a:ext cx="4736592" cy="566928"/>
          </a:xfrm>
          <a:prstGeom prst="rect">
            <a:avLst/>
          </a:prstGeom>
          <a:noFill/>
          <a:ln/>
        </p:spPr>
        <p:txBody>
          <a:bodyPr wrap="square" lIns="0" tIns="0" rIns="0" bIns="0" rtlCol="0" anchor="ctr"/>
          <a:lstStyle/>
          <a:p>
            <a:pPr algn="l" indent="0" marL="0">
              <a:buNone/>
            </a:pPr>
            <a:r>
              <a:rPr lang="en-US" sz="1300" dirty="0">
                <a:solidFill>
                  <a:schemeClr val="tx1"/>
                </a:solidFill>
              </a:rPr>
              <a:t>Load the state dormancy rule table, and re-check the rule details not yet verified, such as the Rule 30e-1 and Rule 154 deadlines</a:t>
            </a:r>
            <a:endParaRPr lang="en-US" sz="1300" dirty="0"/>
          </a:p>
        </p:txBody>
      </p:sp>
      <p:sp>
        <p:nvSpPr>
          <p:cNvPr id="25" name="Text 22"/>
          <p:cNvSpPr/>
          <p:nvPr/>
        </p:nvSpPr>
        <p:spPr>
          <a:xfrm>
            <a:off x="6336792" y="4544568"/>
            <a:ext cx="384048" cy="384048"/>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26" name="Text 23"/>
          <p:cNvSpPr txBox="1"/>
          <p:nvPr/>
        </p:nvSpPr>
        <p:spPr>
          <a:xfrm>
            <a:off x="6903720" y="4453128"/>
            <a:ext cx="4736592" cy="566928"/>
          </a:xfrm>
          <a:prstGeom prst="rect">
            <a:avLst/>
          </a:prstGeom>
          <a:noFill/>
          <a:ln/>
        </p:spPr>
        <p:txBody>
          <a:bodyPr wrap="square" lIns="0" tIns="0" rIns="0" bIns="0" rtlCol="0" anchor="ctr"/>
          <a:lstStyle/>
          <a:p>
            <a:pPr algn="l" indent="0" marL="0">
              <a:buNone/>
            </a:pPr>
            <a:r>
              <a:rPr lang="en-US" sz="1300" dirty="0">
                <a:solidFill>
                  <a:schemeClr val="tx1"/>
                </a:solidFill>
              </a:rPr>
              <a:t>Confirm with Fund Operations which transfer agent platforms feed which records, and who owns delivery elections at system level</a:t>
            </a:r>
            <a:endParaRPr lang="en-US" sz="1300" dirty="0"/>
          </a:p>
        </p:txBody>
      </p:sp>
      <p:sp>
        <p:nvSpPr>
          <p:cNvPr id="27" name="Text 24"/>
          <p:cNvSpPr/>
          <p:nvPr/>
        </p:nvSpPr>
        <p:spPr>
          <a:xfrm>
            <a:off x="6336792" y="5312664"/>
            <a:ext cx="384048" cy="384048"/>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5</a:t>
            </a:r>
            <a:endParaRPr lang="en-US" sz="1300" dirty="0"/>
          </a:p>
        </p:txBody>
      </p:sp>
      <p:sp>
        <p:nvSpPr>
          <p:cNvPr id="28" name="Text 25"/>
          <p:cNvSpPr txBox="1"/>
          <p:nvPr/>
        </p:nvSpPr>
        <p:spPr>
          <a:xfrm>
            <a:off x="6903720" y="5221224"/>
            <a:ext cx="4736592" cy="566928"/>
          </a:xfrm>
          <a:prstGeom prst="rect">
            <a:avLst/>
          </a:prstGeom>
          <a:noFill/>
          <a:ln/>
        </p:spPr>
        <p:txBody>
          <a:bodyPr wrap="square" lIns="0" tIns="0" rIns="0" bIns="0" rtlCol="0" anchor="ctr"/>
          <a:lstStyle/>
          <a:p>
            <a:pPr algn="l" indent="0" marL="0">
              <a:buNone/>
            </a:pPr>
            <a:r>
              <a:rPr lang="en-US" sz="1300" dirty="0">
                <a:solidFill>
                  <a:schemeClr val="tx1"/>
                </a:solidFill>
              </a:rPr>
              <a:t>Decide the 22 open gaps, starting with the eight medium-priority ones</a:t>
            </a:r>
            <a:endParaRPr lang="en-US" sz="13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19</a:t>
            </a:fld>
            <a:endParaRPr lang="en-US"/>
          </a:p>
        </p:txBody>
      </p:sp>
    </p:spTree>
  </p:cSld>
  <p:clrMapOvr>
    <a:masterClrMapping/>
  </p:clrMapOvr>
</p:sld>
</file>

<file path=ppt/theme/theme1.xml><?xml version="1.0" encoding="utf-8"?>
<a:theme xmlns:a="http://schemas.openxmlformats.org/drawingml/2006/main" name="CG Taxonomy">
  <a:themeElements>
    <a:clrScheme name="CG Taxonomy">
      <a:dk1>
        <a:srgbClr val="0C233C"/>
      </a:dk1>
      <a:lt1>
        <a:srgbClr val="FFFFFF"/>
      </a:lt1>
      <a:dk2>
        <a:srgbClr val="535E6C"/>
      </a:dk2>
      <a:lt2>
        <a:srgbClr val="EEF1F8"/>
      </a:lt2>
      <a:accent1>
        <a:srgbClr val="1E49E2"/>
      </a:accent1>
      <a:accent2>
        <a:srgbClr val="7213EA"/>
      </a:accent2>
      <a:accent3>
        <a:srgbClr val="00B8F5"/>
      </a:accent3>
      <a:accent4>
        <a:srgbClr val="C8166F"/>
      </a:accent4>
      <a:accent5>
        <a:srgbClr val="00796F"/>
      </a:accent5>
      <a:accent6>
        <a:srgbClr val="ACEAFF"/>
      </a:accent6>
      <a:hlink>
        <a:srgbClr val="1E49E2"/>
      </a:hlink>
      <a:folHlink>
        <a:srgbClr val="7213EA"/>
      </a:folHlink>
    </a:clrScheme>
    <a:fontScheme name="CG Taxonomy">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Investor Servicing &amp; Shareholder Communications taxonomy walkthrough</dc:title>
  <dc:subject>PptxGenJS Presentation</dc:subject>
  <dc:creator>Distribution Data Taxonomy Program</dc:creator>
  <cp:lastModifiedBy>Distribution Data Taxonomy Program</cp:lastModifiedBy>
  <cp:revision>1</cp:revision>
  <dcterms:created xsi:type="dcterms:W3CDTF">2026-10-05T13:40:47Z</dcterms:created>
  <dcterms:modified xsi:type="dcterms:W3CDTF">2026-10-05T13:40:47Z</dcterms:modified>
</cp:coreProperties>
</file>