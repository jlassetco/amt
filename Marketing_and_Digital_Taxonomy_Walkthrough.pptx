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a692fe1-7044-43c7-6378-3a21c56c9f69}">
          <p14:sldIdLst>
            <p14:sldId id="256"/>
            <p14:sldId id="257"/>
            <p14:sldId id="258"/>
            <p14:sldId id="259"/>
          </p14:sldIdLst>
        </p14:section>
        <p14:section name="What is included" id="{3844a117-2fdb-8572-b06f-5ddcbc7c958c}">
          <p14:sldIdLst>
            <p14:sldId id="260"/>
            <p14:sldId id="261"/>
            <p14:sldId id="262"/>
            <p14:sldId id="263"/>
            <p14:sldId id="264"/>
          </p14:sldIdLst>
        </p14:section>
        <p14:section name="What is excluded" id="{58fadf0a-f87a-6107-90be-c2dd797f917b}">
          <p14:sldIdLst>
            <p14:sldId id="265"/>
            <p14:sldId id="266"/>
            <p14:sldId id="267"/>
          </p14:sldIdLst>
        </p14:section>
        <p14:section name="How it is used" id="{044ebe7f-88ee-87d7-753c-e75ec6c6c4ea}">
          <p14:sldIdLst>
            <p14:sldId id="268"/>
            <p14:sldId id="269"/>
          </p14:sldIdLst>
        </p14:section>
        <p14:section name="Data products" id="{89643abe-317c-00a8-27a0-e1039fcc58dd}">
          <p14:sldIdLst>
            <p14:sldId id="270"/>
            <p14:sldId id="271"/>
            <p14:sldId id="272"/>
            <p14:sldId id="273"/>
            <p14:sldId id="274"/>
          </p14:sldIdLst>
        </p14:section>
        <p14:section name="Next steps" id="{571d9957-9918-82eb-f727-c6f8e874fe65}">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Sheet1!$A$2:$A$9</c:f>
              <c:multiLvlStrCache>
                <c:ptCount val="8"/>
                <c:lvl>
                  <c:pt idx="0">
                    <c:v>Internal (firm-defined)</c:v>
                  </c:pt>
                  <c:pt idx="1">
                    <c:v>Salesforce (CRM and MCAE)</c:v>
                  </c:pt>
                  <c:pt idx="2">
                    <c:v>GA4 and UTM</c:v>
                  </c:pt>
                  <c:pt idx="3">
                    <c:v>Adobe XDM</c:v>
                  </c:pt>
                  <c:pt idx="4">
                    <c:v>Dublin Core</c:v>
                  </c:pt>
                  <c:pt idx="5">
                    <c:v>schema.org</c:v>
                  </c:pt>
                  <c:pt idx="6">
                    <c:v>CFP Board CE</c:v>
                  </c:pt>
                  <c:pt idx="7">
                    <c:v>Other standards and regulation</c:v>
                  </c:pt>
                </c:lvl>
              </c:multiLvlStrCache>
            </c:multiLvlStrRef>
          </c:cat>
          <c:val>
            <c:numRef>
              <c:f>Sheet1!$B$2:$B$9</c:f>
              <c:numCache>
                <c:formatCode>General</c:formatCode>
                <c:ptCount val="8"/>
                <c:pt idx="0">
                  <c:v>151</c:v>
                </c:pt>
                <c:pt idx="1">
                  <c:v>36</c:v>
                </c:pt>
                <c:pt idx="2">
                  <c:v>14</c:v>
                </c:pt>
                <c:pt idx="3">
                  <c:v>11</c:v>
                </c:pt>
                <c:pt idx="4">
                  <c:v>8</c:v>
                </c:pt>
                <c:pt idx="5">
                  <c:v>8</c:v>
                </c:pt>
                <c:pt idx="6">
                  <c:v>7</c:v>
                </c:pt>
                <c:pt idx="7">
                  <c:v>22</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7 of 57)</a:t>
            </a:r>
          </a:p>
        </c:rich>
      </c:tx>
      <c:layout/>
      <c:overlay val="0"/>
    </c:title>
    <c:autoTitleDeleted val="0"/>
    <c:plotArea>
      <c:layout/>
      <c:barChart>
        <c:barDir val="bar"/>
        <c:grouping val="clustered"/>
        <c:varyColors val="0"/>
        <c:ser>
          <c:idx val="0"/>
          <c:order val="0"/>
          <c:tx>
            <c:strRef>
              <c:f>Sheet1!$B$1</c:f>
              <c:strCache>
                <c:ptCount val="1"/>
                <c:pt idx="0">
                  <c:v>Products reading each object (top 7 of 57)</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Content Asset</c:v>
                  </c:pt>
                  <c:pt idx="1">
                    <c:v>Engagement Event</c:v>
                  </c:pt>
                  <c:pt idx="2">
                    <c:v>Email Interaction</c:v>
                  </c:pt>
                  <c:pt idx="3">
                    <c:v>Campaign</c:v>
                  </c:pt>
                  <c:pt idx="4">
                    <c:v>Web Visitor / Known User</c:v>
                  </c:pt>
                  <c:pt idx="5">
                    <c:v>Marketing Event</c:v>
                  </c:pt>
                  <c:pt idx="6">
                    <c:v>Engagement Score</c:v>
                  </c:pt>
                </c:lvl>
              </c:multiLvlStrCache>
            </c:multiLvlStrRef>
          </c:cat>
          <c:val>
            <c:numRef>
              <c:f>Sheet1!$B$2:$B$8</c:f>
              <c:numCache>
                <c:formatCode>General</c:formatCode>
                <c:ptCount val="7"/>
                <c:pt idx="0">
                  <c:v>7</c:v>
                </c:pt>
                <c:pt idx="1">
                  <c:v>5</c:v>
                </c:pt>
                <c:pt idx="2">
                  <c:v>5</c:v>
                </c:pt>
                <c:pt idx="3">
                  <c:v>5</c:v>
                </c:pt>
                <c:pt idx="4">
                  <c:v>4</c:v>
                </c:pt>
                <c:pt idx="5">
                  <c:v>4</c:v>
                </c:pt>
                <c:pt idx="6">
                  <c:v>4</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Marketing &amp; Digital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Marketing &amp; Digital describes what the firm plans, publishes and measures in marketing: campaigns, content, events, digital properties, engagement, leads and attribution. It does not describe the people and firms being marketed to. Those are parties mastered in Client &amp; Customer and referenced here by ID. The compliance approval of marketing material is owned by Distribution Compliance, and this domain keeps only a read-only copy of the status. 20 of the 92 specified data products read the domain directly, and 19 products depend on its foundational product, DP-011 Marketing Engagement,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Marketing &amp; Digital is one of 14 domains, with 11 families, 57 objects and 257 attributes. The purple text shows the path to one attribute, Applied Tracking Consent, which sits on the web visitor record. We follow it to an answer near the end of the deck. For every attribute the taxonomy records its meaning, its owner and the standard it is aligned to.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reads left to right. A campaign is the planning record, held at program, campaign or wave level and built on a brand and a marketing theme. A campaign deploys things: content assets and email sends, events and webinars, social posts and paid media. Audiences respond, and each response is an engagement event from a known or anonymous visitor. An engagement tied to a party and a campaign becomes a touchpoint, and an attribution model credits leads, pipeline and flows back to the campaign. Two controls sit across all of it. Segments and suppression lists decide who may be targeted, and the audience restriction on each asset, page and event decides what each audience may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11 data families. For this walkthrough they are grouped in three. The spine is campaign and engagement: what the firm plans, and what audiences do in response. The second group is the brand and everything a campaign puts in front of an audience: content, events, digital properties, and social and paid media. The third group is audiences, leads and results, plus a small registry of marketing systems.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73 of the 257 attributes. Campaign Management is the planning record: a hierarchy of program, campaign and wave, with objectives, targeting, featured products, budget, spend lines, tracking codes and members. Digital Identity and Engagement is the response record. It holds web visitors and known users, portal accounts and sessions, the events visitors generate across web, email and video, and the third-party intent signals and engagement scores used to prioritize outreach. Marketing owns the identification status of a visitor, from anonymous to matched, but not the party the visitor is matched to. Business objects, in bold, have their own key. Attribute groups are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126 attributes. Brand and Messaging holds the brand architecture, marketing themes and approved key messages. Content and Digital Assets holds each asset and its versions, with the metadata that governs it: who may see it, in which jurisdictions, when it expires and under which rights. Events and Continuing Education holds hosted and sponsored events, registrations, attendance and the CE credits issued to advisors. Digital Properties is the registry of websites, portals and apps, with the access gates in front of restricted content and each visitor's self-certification. Social and Paid Media holds social accounts, posts and listening, and paid placements. Supervision and archiving of social media belong to Distribution Compliance; this domain keeps only an archiving-enrolled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58 attributes. Audiences, Subscriptions and Preferences holds marketing segments and their dated membership, the subscription topics offered in the preference center, and suppression lists. Each party's own opt-in by topic and channel is mastered in Client &amp; Customer. Lead Management follows a lead from capture through qualification, scoring and assignment to a salesperson, to conversion into an opportunity. Performance and Attribution holds touchpoints, attribution models, the outcomes credited to each campaign and periodic performance snapshots. Flow amounts come from Sales Transactions &amp; AUM Attribution and are not recalculated here. Marketing Data Management is a two-attribute registry of marketing technology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106 of the 257 attributes, 41 percent, align to an open vendor data model, a metadata standard or a regulation. Marketing has no single industry standard, so the taxonomy reuses the models practitioners already know: Salesforce for campaigns and leads, Adobe XDM and GA4 for digital events, UTM for tracking codes, Dublin Core and schema.org for assets and events, and CFP Board rules for CE credits. 151 attributes are firm-defined because no authoritative external definition exists. 73 attributes take their values from a controlled code list, and 32 are flagged as personal data. Vendor field names were confirmed from documentation and should be checked again at source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&amp; Digital says what the firm planned, published and measured. It deliberately leaves out who the audience is, what they bought and whether a communication was approved. This table shows where each excluded subject lives and the small amount this domain keeps so that it can point to it. Three boundaries are worth calling out. Leads and registrations hold a party reference plus only the captured name, email and CRD number, until the match is made. Compliance owns the approval decision, and marketing stores the review reference and a read-only copy of the status. Marketing owns touchpoints and attribution weights, but the flow amounts come from Sales Transactions &amp; AUM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215 of the 257 are mastered in Marketing &amp; Digital. 37 are references, which hold only the ID of a record mastered in another domain, and 5 are derived copies. That is a high share of references for one domain, and it follows from the design rule: marketing describes activity, and points to parties, products, employees and compliance reviews held elsewhere. Client &amp; Customer is the largest source, with 12 references and 2 copies. In the other direction, 17 attributes in 5 other domains reference a record mastered here, 9 of them in Sales.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23 gaps against Marketing &amp; Digital. Two are resolved. Twenty-one are open, all proposed and waiting for a decision: seven high priority, one medium and thirteen low. The seven shown here are the high-priority ones. Most are the same kind of problem: an engagement record that does not name the thing it belongs to, or does not carry its own date. Engagement Event is the most important, because five products work around it. Each gap has a proposed resolution in the gap register, and the decision owner for all seven is the Head of Marketing Operations or the Head of Digital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marketing source is mapped to: CRM, marketing automation, asset management, web analytics, webinar and social platforms. That mapping to the firm's actual systems is Phase D and has not been done. Second, it is the bill of materials for data products: each product lists the exact attributes it uses, and the build fails if one does not exist. Third, engagement is conformed once. DP-011 gives campaign, content, lead and sales hand-off products one engagement history, and the semantic model SM-05 Marketing publishes it. Fourth, the ownership flags, the 80 proposed critical data elements and the 32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owns one foundational product, DP-011 Marketing Engagement. It is the conformed record of how known and anonymous audiences engage: email deliveries and interactions, web and portal activity, media views, event registrations and attendance, CE credits, campaign membership and touchpoints. It resolves visitors and recipients to the party master where consent allows, and ties each event to its campaign and content asset. 70 of its 75 input attributes come from this domain, from 14 of the 57 objects. It refreshes daily by 8am Eastern. 18 products name it as a direct upstream and 19 depend on it directly or indirectly. The quality rules on the right are the ones that protect consent and keep every event tied to a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of the 92 specified data products list Marketing &amp; Digital objects among their inputs: 2 foundational and 18 consumer-aligned. Every one of the 57 objects is used by at least one product, and 240 of the 257 attributes, 93 percent, appear in a product specification. Content Asset is the most used object, read by 7 products, followed by Engagement Event, Email Interaction and Campaign with 5 each. By type, 7 of the readers are operational products, 6 are analytical and 5 are regulatory and control products, which shows that marketing data is used to run sales follow-up and to evidence compliance as well as to report on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data products have Marketing &amp; Digital as their owning domain. This slide shows the first seven. DP-011 is the foundational product. Campaign Performance and Attribution reports cost, responses and attributed flows for every campaign, using the same flow numbers as the rest of distribution. Content Performance shows which assets are used and which are close to expiry. Lead Funnel and Sales Hand-off tracks each lead against its follow-up deadline. Marketing Audience and Consent is the one eligibility decision behind every send. Event and Webinar ROI compares the later flows of attendees with those of registrants who did not attend. Digital Intent Signals gives inside sales daily buying signals. The bar on the right shows how many of each product's input attributes come from this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owned products are both in Wave 3. Digital Access Gating and Self-Certification Evidence is a regulatory and control product. It lists each digital property with its access gates and every visitor self-certification, and tests whether restricted pages and assets were seen only by eligible audiences. Social Media and Brand Performance reports reach, engagement and sentiment for the firm's social accounts and posts by brand, theme and messaging pillar, and lets Compliance see that published posts were approved and that corporate accounts are enrolled in archiving. Both read DP-011 as an upstream.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11 products are owned by other domains but read Marketing &amp; Digital attributes directly. They are grouped here by the business function they serve. Field and inside sales is the largest group. Unified Engagement Timeline takes 22 attributes, mostly email and event engagement, and Advisor 360, Advisor Segmentation and Advisor Redemption Risk each take the engagement score. Compliance products read content assets, their versions and the flags that drive review, with Marketing Rule Performance Substantiation taking 14 attributes and Marketing Communications Review and Filing taking 11. Data Subject Rights and Retention reads visitors, leads and suppression entries, 12 attributes in all, so that privacy requests reach marketing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Applied Tracking Consent is defined once, on the web visitor record: the cookie and tracking categories that were permitted when events were collected. DP-011 uses it as a rule, linking a visitor to a party only when that consent permits identification in the visitor's jurisdiction. DP-052, Digital Intent Signals, applies the same rule, so no advisor score is built from events that could not lawfully be identified. The semantic model SM-05 Marketing publishes the attribute on its web visitor dimension from DP-011, with the measure Identified Engagement Share. DP-052 itself is delivered to the CRM and is not in a semantic model. Note the boundary: the consent record and lawful basis are mastered in Client &amp;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most important is a certified net-flow definition, because influenced and attributed flows in marketing must use the same measure as goals, crediting and forecasts. The second is who owns the Audience Restriction and Content Type lists, and whether Distribution Compliance adopts them to route reviews. The third confirms three owners for consent, marketing subscriptions and e-delivery elections. The fourth replaces the local intent provider list with a reference to the licensed dataset. The next steps on the right come from the taxonomy's own plan: validate with the business, map to source systems in Phase D, agree the approval-status contract with Distribution Compliance, agree the flow feed, and decide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Marketing &amp; Digital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MARKETING &amp; DIGITAL</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4400" b="1" dirty="0">
                <a:solidFill>
                  <a:schemeClr val="bg1"/>
                </a:solidFill>
              </a:rPr>
              <a:t>The Marketing &amp; Digital taxonomy: a walkthrough</a:t>
            </a: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Campaign</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plan and fund</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Content and channels</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send, post and host</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Engagement</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audiences do in response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marketing activity,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11</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57</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257</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80</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Brands and themes, campaigns with budgets and tracking codes, content assets, events and CE credits, websites and access gates, digital engagement, segments, leads, social and paid media, and attribution.</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Parties, contact points, consent and each party's preferences; sales staff, activities and opportunities; products; agreements; flows and AUM; territories; and the compliance approval of marketing material.</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CRM, marketing automation, content, web analytics and event sources, the bill of materials for data products, and the one engagement history that marketing and sales products share.</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20 of the 92 data products read it directly. 19 products depend on its foundational product, DP-011 Marketing Engagement.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Marketing &amp; Digital</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11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Digital Identity &amp; Engagement</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57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Web Visitor / Known User</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257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Applied Tracking Consent</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campaign, asset, event, visitor or lead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runs from plan to response</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WE PLAN</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IT DEPLOYS</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AUDIENCES DO</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Campaign</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Program, campaign or wave, keyed CAM-</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Brand and Marketing Theme</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The messages a campaign is built on</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record for each program, campaign or wave, linked parent to child</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Content assets and email sends</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Documents, video, templates and deployments</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Events and webinars</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Sessions, registrations and CE credits</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Social posts and paid media</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Owned accounts, placements and delivery</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Engagement Event</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Page views, downloads and video plays</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An engagement tied to a party and a campaign becomes a touchpoint. An attribution model credits outcomes.</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Reference, don't copy: people and firms are parties mastered in Client &amp; Customer. Every asset, page, event, segment and subscription topic carries an audience restriction, so gating is enforced by systems, not by convention.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11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Eleven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16 objects  |  73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Campaign Management</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36 attributes  |  12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Digital Identity &amp; Engagement</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9 objects  |  37 attributes  |  11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Brand, content and channels</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28 objects  |  126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Brand &amp; Messaging</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13 attributes  |  3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Content &amp; Digital Assets</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37 attributes  |  11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Events &amp; Continuing Education</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31 attributes  |  8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Digital Properties</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21 attributes  |  7 critical</a:t>
            </a:r>
            <a:endParaRPr lang="en-US" sz="1100" dirty="0"/>
          </a:p>
        </p:txBody>
      </p:sp>
      <p:sp>
        <p:nvSpPr>
          <p:cNvPr id="29" name="Shape 26"/>
          <p:cNvSpPr/>
          <p:nvPr/>
        </p:nvSpPr>
        <p:spPr>
          <a:xfrm>
            <a:off x="4338828" y="5550408"/>
            <a:ext cx="3511296" cy="612648"/>
          </a:xfrm>
          <a:prstGeom prst="roundRect">
            <a:avLst>
              <a:gd name="adj" fmla="val 11940"/>
            </a:avLst>
          </a:prstGeom>
          <a:solidFill>
            <a:schemeClr val="bg2"/>
          </a:solidFill>
          <a:ln/>
        </p:spPr>
      </p:sp>
      <p:sp>
        <p:nvSpPr>
          <p:cNvPr id="30" name="Text 27"/>
          <p:cNvSpPr txBox="1"/>
          <p:nvPr/>
        </p:nvSpPr>
        <p:spPr>
          <a:xfrm>
            <a:off x="4521708" y="5605272"/>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Social &amp; Paid Media</a:t>
            </a:r>
            <a:endParaRPr lang="en-US" sz="1300" dirty="0"/>
          </a:p>
        </p:txBody>
      </p:sp>
      <p:sp>
        <p:nvSpPr>
          <p:cNvPr id="31" name="Text 28"/>
          <p:cNvSpPr txBox="1"/>
          <p:nvPr/>
        </p:nvSpPr>
        <p:spPr>
          <a:xfrm>
            <a:off x="4521708"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24 attributes  |  7 critical</a:t>
            </a:r>
            <a:endParaRPr lang="en-US" sz="1100" dirty="0"/>
          </a:p>
        </p:txBody>
      </p:sp>
      <p:sp>
        <p:nvSpPr>
          <p:cNvPr id="32" name="Shape 29"/>
          <p:cNvSpPr/>
          <p:nvPr/>
        </p:nvSpPr>
        <p:spPr>
          <a:xfrm>
            <a:off x="8129016" y="1783080"/>
            <a:ext cx="3511296" cy="777240"/>
          </a:xfrm>
          <a:prstGeom prst="roundRect">
            <a:avLst>
              <a:gd name="adj" fmla="val 9412"/>
            </a:avLst>
          </a:prstGeom>
          <a:solidFill>
            <a:schemeClr val="accent5"/>
          </a:solidFill>
          <a:ln/>
        </p:spPr>
      </p:sp>
      <p:sp>
        <p:nvSpPr>
          <p:cNvPr id="33" name="Text 30"/>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Audiences, leads and results</a:t>
            </a:r>
            <a:endParaRPr lang="en-US" sz="1400" dirty="0"/>
          </a:p>
        </p:txBody>
      </p:sp>
      <p:sp>
        <p:nvSpPr>
          <p:cNvPr id="34" name="Text 31"/>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13 objects  |  58 attributes</a:t>
            </a:r>
            <a:endParaRPr lang="en-US" sz="1200" dirty="0"/>
          </a:p>
        </p:txBody>
      </p:sp>
      <p:sp>
        <p:nvSpPr>
          <p:cNvPr id="35" name="Shape 32"/>
          <p:cNvSpPr/>
          <p:nvPr/>
        </p:nvSpPr>
        <p:spPr>
          <a:xfrm>
            <a:off x="8129016" y="2697480"/>
            <a:ext cx="3511296" cy="612648"/>
          </a:xfrm>
          <a:prstGeom prst="roundRect">
            <a:avLst>
              <a:gd name="adj" fmla="val 11940"/>
            </a:avLst>
          </a:prstGeom>
          <a:solidFill>
            <a:schemeClr val="bg2"/>
          </a:solidFill>
          <a:ln/>
        </p:spPr>
      </p:sp>
      <p:sp>
        <p:nvSpPr>
          <p:cNvPr id="36" name="Text 33"/>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Audiences, Subscriptions &amp; Preferences</a:t>
            </a:r>
            <a:endParaRPr lang="en-US" sz="1100" dirty="0"/>
          </a:p>
        </p:txBody>
      </p:sp>
      <p:sp>
        <p:nvSpPr>
          <p:cNvPr id="37" name="Text 34"/>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16 attributes  |  6 critical</a:t>
            </a:r>
            <a:endParaRPr lang="en-US" sz="1100" dirty="0"/>
          </a:p>
        </p:txBody>
      </p:sp>
      <p:sp>
        <p:nvSpPr>
          <p:cNvPr id="38" name="Shape 35"/>
          <p:cNvSpPr/>
          <p:nvPr/>
        </p:nvSpPr>
        <p:spPr>
          <a:xfrm>
            <a:off x="8129016" y="3410712"/>
            <a:ext cx="3511296" cy="612648"/>
          </a:xfrm>
          <a:prstGeom prst="roundRect">
            <a:avLst>
              <a:gd name="adj" fmla="val 11940"/>
            </a:avLst>
          </a:prstGeom>
          <a:solidFill>
            <a:schemeClr val="bg2"/>
          </a:solidFill>
          <a:ln/>
        </p:spPr>
      </p:sp>
      <p:sp>
        <p:nvSpPr>
          <p:cNvPr id="39" name="Text 36"/>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Lead Management</a:t>
            </a:r>
            <a:endParaRPr lang="en-US" sz="1300" dirty="0"/>
          </a:p>
        </p:txBody>
      </p:sp>
      <p:sp>
        <p:nvSpPr>
          <p:cNvPr id="40" name="Text 37"/>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21 attributes  |  7 critical</a:t>
            </a:r>
            <a:endParaRPr lang="en-US" sz="1100" dirty="0"/>
          </a:p>
        </p:txBody>
      </p:sp>
      <p:sp>
        <p:nvSpPr>
          <p:cNvPr id="41" name="Shape 38"/>
          <p:cNvSpPr/>
          <p:nvPr/>
        </p:nvSpPr>
        <p:spPr>
          <a:xfrm>
            <a:off x="8129016" y="4123944"/>
            <a:ext cx="3511296" cy="612648"/>
          </a:xfrm>
          <a:prstGeom prst="roundRect">
            <a:avLst>
              <a:gd name="adj" fmla="val 11940"/>
            </a:avLst>
          </a:prstGeom>
          <a:solidFill>
            <a:schemeClr val="bg2"/>
          </a:solidFill>
          <a:ln/>
        </p:spPr>
      </p:sp>
      <p:sp>
        <p:nvSpPr>
          <p:cNvPr id="42" name="Text 39"/>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Performance &amp; Attribution</a:t>
            </a:r>
            <a:endParaRPr lang="en-US" sz="1300" dirty="0"/>
          </a:p>
        </p:txBody>
      </p:sp>
      <p:sp>
        <p:nvSpPr>
          <p:cNvPr id="43" name="Text 40"/>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19 attributes  |  8 critical</a:t>
            </a:r>
            <a:endParaRPr lang="en-US" sz="1100" dirty="0"/>
          </a:p>
        </p:txBody>
      </p:sp>
      <p:sp>
        <p:nvSpPr>
          <p:cNvPr id="44" name="Shape 41"/>
          <p:cNvSpPr/>
          <p:nvPr/>
        </p:nvSpPr>
        <p:spPr>
          <a:xfrm>
            <a:off x="8129016" y="4837176"/>
            <a:ext cx="3511296" cy="612648"/>
          </a:xfrm>
          <a:prstGeom prst="roundRect">
            <a:avLst>
              <a:gd name="adj" fmla="val 11940"/>
            </a:avLst>
          </a:prstGeom>
          <a:solidFill>
            <a:schemeClr val="bg2"/>
          </a:solidFill>
          <a:ln/>
        </p:spPr>
      </p:sp>
      <p:sp>
        <p:nvSpPr>
          <p:cNvPr id="45" name="Text 42"/>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Marketing Data Management</a:t>
            </a:r>
            <a:endParaRPr lang="en-US" sz="1300" dirty="0"/>
          </a:p>
        </p:txBody>
      </p:sp>
      <p:sp>
        <p:nvSpPr>
          <p:cNvPr id="46" name="Text 43"/>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 objects  |  2 attributes  |  0 critical</a:t>
            </a:r>
            <a:endParaRPr lang="en-US" sz="1100" dirty="0"/>
          </a:p>
        </p:txBody>
      </p:sp>
      <p:sp>
        <p:nvSpPr>
          <p:cNvPr id="47" name="Text 44"/>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campaign and engagement</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Campaign Management</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7 objects  |  36 attributes  |  12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Planned, budgeted initiatives in a program, campaign and wave hierarchy, with targeting, spend and members.</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Campaign, </a:t>
            </a:r>
            <a:pPr indent="0" marL="0">
              <a:buNone/>
            </a:pPr>
            <a:r>
              <a:rPr lang="en-US" sz="1300" dirty="0">
                <a:solidFill>
                  <a:schemeClr val="tx1"/>
                </a:solidFill>
              </a:rPr>
              <a:t>Campaign Targeting, </a:t>
            </a:r>
            <a:pPr indent="0" marL="0">
              <a:buNone/>
            </a:pPr>
            <a:r>
              <a:rPr lang="en-US" sz="1300" dirty="0">
                <a:solidFill>
                  <a:schemeClr val="tx1"/>
                </a:solidFill>
              </a:rPr>
              <a:t>Campaign Product, </a:t>
            </a:r>
            <a:pPr indent="0" marL="0">
              <a:buNone/>
            </a:pPr>
            <a:r>
              <a:rPr lang="en-US" sz="1300" dirty="0">
                <a:solidFill>
                  <a:schemeClr val="tx1"/>
                </a:solidFill>
              </a:rPr>
              <a:t>Campaign Budget, </a:t>
            </a:r>
            <a:pPr indent="0" marL="0">
              <a:buNone/>
            </a:pPr>
            <a:r>
              <a:rPr lang="en-US" sz="1300" dirty="0">
                <a:solidFill>
                  <a:schemeClr val="tx1"/>
                </a:solidFill>
              </a:rPr>
              <a:t>Spend Line, </a:t>
            </a:r>
            <a:pPr indent="0" marL="0">
              <a:buNone/>
            </a:pPr>
            <a:r>
              <a:rPr lang="en-US" sz="1300" dirty="0">
                <a:solidFill>
                  <a:schemeClr val="tx1"/>
                </a:solidFill>
              </a:rPr>
              <a:t>Campaign Tracking Code, </a:t>
            </a:r>
            <a:pPr indent="0" marL="0">
              <a:buNone/>
            </a:pPr>
            <a:r>
              <a:rPr lang="en-US" sz="1300" b="1" dirty="0">
                <a:solidFill>
                  <a:schemeClr val="tx1"/>
                </a:solidFill>
              </a:rPr>
              <a:t>Campaign Member</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Campaign Level, Primary Objective, Budgeted Cost, utm_campaign, Member Status</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Digital Identity &amp; Engagement</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9 objects  |  37 attributes  |  11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Web visitors and known users, their sessions, and what they did across web, email, video and webinars.</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Web Visitor / Known User, </a:t>
            </a:r>
            <a:pPr indent="0" marL="0">
              <a:buNone/>
            </a:pPr>
            <a:r>
              <a:rPr lang="en-US" sz="1300" b="1" dirty="0">
                <a:solidFill>
                  <a:schemeClr val="tx1"/>
                </a:solidFill>
              </a:rPr>
              <a:t>Portal Account, </a:t>
            </a:r>
            <a:pPr indent="0" marL="0">
              <a:buNone/>
            </a:pPr>
            <a:r>
              <a:rPr lang="en-US" sz="1300" b="1" dirty="0">
                <a:solidFill>
                  <a:schemeClr val="tx1"/>
                </a:solidFill>
              </a:rPr>
              <a:t>Session, </a:t>
            </a:r>
            <a:pPr indent="0" marL="0">
              <a:buNone/>
            </a:pPr>
            <a:r>
              <a:rPr lang="en-US" sz="1300" b="1" dirty="0">
                <a:solidFill>
                  <a:schemeClr val="tx1"/>
                </a:solidFill>
              </a:rPr>
              <a:t>Engagement Event, </a:t>
            </a:r>
            <a:pPr indent="0" marL="0">
              <a:buNone/>
            </a:pPr>
            <a:r>
              <a:rPr lang="en-US" sz="1300" b="1" dirty="0">
                <a:solidFill>
                  <a:schemeClr val="tx1"/>
                </a:solidFill>
              </a:rPr>
              <a:t>Email Send, </a:t>
            </a:r>
            <a:pPr indent="0" marL="0">
              <a:buNone/>
            </a:pPr>
            <a:r>
              <a:rPr lang="en-US" sz="1300" b="1" dirty="0">
                <a:solidFill>
                  <a:schemeClr val="tx1"/>
                </a:solidFill>
              </a:rPr>
              <a:t>Email Interaction, </a:t>
            </a:r>
            <a:pPr indent="0" marL="0">
              <a:buNone/>
            </a:pPr>
            <a:r>
              <a:rPr lang="en-US" sz="1300" dirty="0">
                <a:solidFill>
                  <a:schemeClr val="tx1"/>
                </a:solidFill>
              </a:rPr>
              <a:t>Media Engagement, </a:t>
            </a:r>
            <a:pPr indent="0" marL="0">
              <a:buNone/>
            </a:pPr>
            <a:r>
              <a:rPr lang="en-US" sz="1300" b="1" dirty="0">
                <a:solidFill>
                  <a:schemeClr val="tx1"/>
                </a:solidFill>
              </a:rPr>
              <a:t>Third-Party Intent Signal, </a:t>
            </a:r>
            <a:pPr indent="0" marL="0">
              <a:buNone/>
            </a:pPr>
            <a:r>
              <a:rPr lang="en-US" sz="1300" b="1" dirty="0">
                <a:solidFill>
                  <a:schemeClr val="tx1"/>
                </a:solidFill>
              </a:rPr>
              <a:t>Engagement Score</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Identification Status, Applied Tracking Consent, Engagement Event Type, Delivery Status</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campaign, asset, event or lead.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Brand, content and channels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Brand &amp; Messaging</a:t>
                      </a:r>
                      <a:endParaRPr lang="en-US" sz="1200" dirty="0"/>
                    </a:p>
                    <a:p>
                      <a:pPr indent="0" marL="0">
                        <a:buNone/>
                      </a:pPr>
                      <a:r>
                        <a:rPr lang="en-US" sz="1100" dirty="0">
                          <a:solidFill>
                            <a:schemeClr val="tx2"/>
                          </a:solidFill>
                        </a:rPr>
                        <a:t>3 objects  |  13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brand architecture, marketing themes and approved key messages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Brand, </a:t>
                      </a:r>
                      <a:pPr indent="0" marL="0">
                        <a:buNone/>
                      </a:pPr>
                      <a:r>
                        <a:rPr lang="en-US" sz="1200" b="1" dirty="0">
                          <a:solidFill>
                            <a:schemeClr val="tx1"/>
                          </a:solidFill>
                        </a:rPr>
                        <a:t>Marketing Theme, </a:t>
                      </a:r>
                      <a:pPr indent="0" marL="0">
                        <a:buNone/>
                      </a:pPr>
                      <a:r>
                        <a:rPr lang="en-US" sz="1200" dirty="0">
                          <a:solidFill>
                            <a:schemeClr val="tx1"/>
                          </a:solidFill>
                        </a:rPr>
                        <a:t>Messaging Pillar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Brand Level, Theme Type, Key Message Statement, Proof Points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Content &amp; Digital Assets</a:t>
                      </a:r>
                      <a:endParaRPr lang="en-US" sz="1200" dirty="0"/>
                    </a:p>
                    <a:p>
                      <a:pPr indent="0" marL="0">
                        <a:buNone/>
                      </a:pPr>
                      <a:r>
                        <a:rPr lang="en-US" sz="1100" dirty="0">
                          <a:solidFill>
                            <a:schemeClr val="tx2"/>
                          </a:solidFill>
                        </a:rPr>
                        <a:t>7 objects  |  37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Content assets and versions, and the metadata on who may see them, where and until when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Content Asset, </a:t>
                      </a:r>
                      <a:pPr indent="0" marL="0">
                        <a:buNone/>
                      </a:pPr>
                      <a:r>
                        <a:rPr lang="en-US" sz="1200" dirty="0">
                          <a:solidFill>
                            <a:schemeClr val="tx1"/>
                          </a:solidFill>
                        </a:rPr>
                        <a:t>Audience Restriction, </a:t>
                      </a:r>
                      <a:pPr indent="0" marL="0">
                        <a:buNone/>
                      </a:pPr>
                      <a:r>
                        <a:rPr lang="en-US" sz="1200" b="1" dirty="0">
                          <a:solidFill>
                            <a:schemeClr val="tx1"/>
                          </a:solidFill>
                        </a:rPr>
                        <a:t>Asset Version, </a:t>
                      </a:r>
                      <a:pPr indent="0" marL="0">
                        <a:buNone/>
                      </a:pPr>
                      <a:r>
                        <a:rPr lang="en-US" sz="1200" dirty="0">
                          <a:solidFill>
                            <a:schemeClr val="tx1"/>
                          </a:solidFill>
                        </a:rPr>
                        <a:t>Asset Compliance Reference, </a:t>
                      </a:r>
                      <a:pPr indent="0" marL="0">
                        <a:buNone/>
                      </a:pPr>
                      <a:r>
                        <a:rPr lang="en-US" sz="1200" dirty="0">
                          <a:solidFill>
                            <a:schemeClr val="tx1"/>
                          </a:solidFill>
                        </a:rPr>
                        <a:t>and 3 more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Content Type, Audience Restriction, Permitted Jurisdictions, Expiry Date, License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Events &amp; Continuing Education</a:t>
                      </a:r>
                      <a:endParaRPr lang="en-US" sz="1200" dirty="0"/>
                    </a:p>
                    <a:p>
                      <a:pPr indent="0" marL="0">
                        <a:buNone/>
                      </a:pPr>
                      <a:r>
                        <a:rPr lang="en-US" sz="1100" dirty="0">
                          <a:solidFill>
                            <a:schemeClr val="tx2"/>
                          </a:solidFill>
                        </a:rPr>
                        <a:t>7 objects  |  31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Hosted and sponsored events, sessions, registrations, attendance and CE credits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Marketing Event, </a:t>
                      </a:r>
                      <a:pPr indent="0" marL="0">
                        <a:buNone/>
                      </a:pPr>
                      <a:r>
                        <a:rPr lang="en-US" sz="1200" b="1" dirty="0">
                          <a:solidFill>
                            <a:schemeClr val="tx1"/>
                          </a:solidFill>
                        </a:rPr>
                        <a:t>Event Registration, </a:t>
                      </a:r>
                      <a:pPr indent="0" marL="0">
                        <a:buNone/>
                      </a:pPr>
                      <a:r>
                        <a:rPr lang="en-US" sz="1200" b="1" dirty="0">
                          <a:solidFill>
                            <a:schemeClr val="tx1"/>
                          </a:solidFill>
                        </a:rPr>
                        <a:t>CE Credit Issued, </a:t>
                      </a:r>
                      <a:pPr indent="0" marL="0">
                        <a:buNone/>
                      </a:pPr>
                      <a:r>
                        <a:rPr lang="en-US" sz="1200" dirty="0">
                          <a:solidFill>
                            <a:schemeClr val="tx1"/>
                          </a:solidFill>
                        </a:rPr>
                        <a:t>Event Sponsorship, </a:t>
                      </a:r>
                      <a:pPr indent="0" marL="0">
                        <a:buNone/>
                      </a:pPr>
                      <a:r>
                        <a:rPr lang="en-US" sz="1200" dirty="0">
                          <a:solidFill>
                            <a:schemeClr val="tx1"/>
                          </a:solidFill>
                        </a:rPr>
                        <a:t>and 3 more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Event Type, Attendance Mode, Attended Indicator, CE Credits Earned, Sponsorship Tier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Digital Properties</a:t>
                      </a:r>
                      <a:endParaRPr lang="en-US" sz="1200" dirty="0"/>
                    </a:p>
                    <a:p>
                      <a:pPr indent="0" marL="0">
                        <a:buNone/>
                      </a:pPr>
                      <a:r>
                        <a:rPr lang="en-US" sz="1100" dirty="0">
                          <a:solidFill>
                            <a:schemeClr val="tx2"/>
                          </a:solidFill>
                        </a:rPr>
                        <a:t>5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Websites, portals and apps, their pages and forms, and the gates that control access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Digital Property, </a:t>
                      </a:r>
                      <a:pPr indent="0" marL="0">
                        <a:buNone/>
                      </a:pPr>
                      <a:r>
                        <a:rPr lang="en-US" sz="1200" b="1" dirty="0">
                          <a:solidFill>
                            <a:schemeClr val="tx1"/>
                          </a:solidFill>
                        </a:rPr>
                        <a:t>Web Page, </a:t>
                      </a:r>
                      <a:pPr indent="0" marL="0">
                        <a:buNone/>
                      </a:pPr>
                      <a:r>
                        <a:rPr lang="en-US" sz="1200" b="1" dirty="0">
                          <a:solidFill>
                            <a:schemeClr val="tx1"/>
                          </a:solidFill>
                        </a:rPr>
                        <a:t>Web Form, </a:t>
                      </a:r>
                      <a:pPr indent="0" marL="0">
                        <a:buNone/>
                      </a:pPr>
                      <a:r>
                        <a:rPr lang="en-US" sz="1200" dirty="0">
                          <a:solidFill>
                            <a:schemeClr val="tx1"/>
                          </a:solidFill>
                        </a:rPr>
                        <a:t>Access Gate, </a:t>
                      </a:r>
                      <a:pPr indent="0" marL="0">
                        <a:buNone/>
                      </a:pPr>
                      <a:r>
                        <a:rPr lang="en-US" sz="1200" b="1" dirty="0">
                          <a:solidFill>
                            <a:schemeClr val="tx1"/>
                          </a:solidFill>
                        </a:rPr>
                        <a:t>Self-Certification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Property Type, Page Audience Restriction, Gate Type, Declared Investor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Social &amp; Paid Media</a:t>
                      </a:r>
                      <a:endParaRPr lang="en-US" sz="1200" dirty="0"/>
                    </a:p>
                    <a:p>
                      <a:pPr indent="0" marL="0">
                        <a:buNone/>
                      </a:pPr>
                      <a:r>
                        <a:rPr lang="en-US" sz="1100" dirty="0">
                          <a:solidFill>
                            <a:schemeClr val="tx2"/>
                          </a:solidFill>
                        </a:rPr>
                        <a:t>6 objects  |  24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Owned social accounts, posts and listening, and paid placements with their delivery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Social Media Account, </a:t>
                      </a:r>
                      <a:pPr indent="0" marL="0">
                        <a:buNone/>
                      </a:pPr>
                      <a:r>
                        <a:rPr lang="en-US" sz="1200" b="1" dirty="0">
                          <a:solidFill>
                            <a:schemeClr val="tx1"/>
                          </a:solidFill>
                        </a:rPr>
                        <a:t>Social Post, </a:t>
                      </a:r>
                      <a:pPr indent="0" marL="0">
                        <a:buNone/>
                      </a:pPr>
                      <a:r>
                        <a:rPr lang="en-US" sz="1200" dirty="0">
                          <a:solidFill>
                            <a:schemeClr val="tx1"/>
                          </a:solidFill>
                        </a:rPr>
                        <a:t>Social Engagement Metrics, </a:t>
                      </a:r>
                      <a:pPr indent="0" marL="0">
                        <a:buNone/>
                      </a:pPr>
                      <a:r>
                        <a:rPr lang="en-US" sz="1200" b="1" dirty="0">
                          <a:solidFill>
                            <a:schemeClr val="tx1"/>
                          </a:solidFill>
                        </a:rPr>
                        <a:t>Social Listening Mention, </a:t>
                      </a:r>
                      <a:pPr indent="0" marL="0">
                        <a:buNone/>
                      </a:pPr>
                      <a:r>
                        <a:rPr lang="en-US" sz="1200" b="1" dirty="0">
                          <a:solidFill>
                            <a:schemeClr val="tx1"/>
                          </a:solidFill>
                        </a:rPr>
                        <a:t>Media Placement, </a:t>
                      </a:r>
                      <a:pPr indent="0" marL="0">
                        <a:buNone/>
                      </a:pPr>
                      <a:r>
                        <a:rPr lang="en-US" sz="1200" dirty="0">
                          <a:solidFill>
                            <a:schemeClr val="tx1"/>
                          </a:solidFill>
                        </a:rPr>
                        <a:t>Paid Media Delivery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Social Platform, Post Timestamp, Mention Sentiment, Paid Media Channel, Impressions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campaign, asset, event or lead.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Audiences, leads and results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Audiences, Subscriptions &amp; Preferences</a:t>
                      </a:r>
                      <a:endParaRPr lang="en-US" sz="1200" dirty="0"/>
                    </a:p>
                    <a:p>
                      <a:pPr indent="0" marL="0">
                        <a:buNone/>
                      </a:pPr>
                      <a:r>
                        <a:rPr lang="en-US" sz="1100" dirty="0">
                          <a:solidFill>
                            <a:schemeClr val="tx2"/>
                          </a:solidFill>
                        </a:rPr>
                        <a:t>4 objects  |  16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segments and their members, subscription topics and suppression lists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Marketing Segment, </a:t>
                      </a:r>
                      <a:pPr indent="0" marL="0">
                        <a:buNone/>
                      </a:pPr>
                      <a:r>
                        <a:rPr lang="en-US" sz="1200" b="1" dirty="0">
                          <a:solidFill>
                            <a:schemeClr val="tx1"/>
                          </a:solidFill>
                        </a:rPr>
                        <a:t>Segment Membership, </a:t>
                      </a:r>
                      <a:pPr indent="0" marL="0">
                        <a:buNone/>
                      </a:pPr>
                      <a:r>
                        <a:rPr lang="en-US" sz="1200" b="1" dirty="0">
                          <a:solidFill>
                            <a:schemeClr val="tx1"/>
                          </a:solidFill>
                        </a:rPr>
                        <a:t>Subscription Topic, </a:t>
                      </a:r>
                      <a:pPr indent="0" marL="0">
                        <a:buNone/>
                      </a:pPr>
                      <a:r>
                        <a:rPr lang="en-US" sz="1200" b="1" dirty="0">
                          <a:solidFill>
                            <a:schemeClr val="tx1"/>
                          </a:solidFill>
                        </a:rPr>
                        <a:t>Suppression Entry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Segment Type, Membership Effective From, Subscription Category, Suppression Reason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Lead Management</a:t>
                      </a:r>
                      <a:endParaRPr lang="en-US" sz="1200" dirty="0"/>
                    </a:p>
                    <a:p>
                      <a:pPr indent="0" marL="0">
                        <a:buNone/>
                      </a:pPr>
                      <a:r>
                        <a:rPr lang="en-US" sz="1100" dirty="0">
                          <a:solidFill>
                            <a:schemeClr val="tx2"/>
                          </a:solidFill>
                        </a:rPr>
                        <a:t>4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Leads from capture through qualification, scoring and routing to conversion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Marketing Lead, </a:t>
                      </a:r>
                      <a:pPr indent="0" marL="0">
                        <a:buNone/>
                      </a:pPr>
                      <a:r>
                        <a:rPr lang="en-US" sz="1200" dirty="0">
                          <a:solidFill>
                            <a:schemeClr val="tx1"/>
                          </a:solidFill>
                        </a:rPr>
                        <a:t>Lead Qualification, </a:t>
                      </a:r>
                      <a:pPr indent="0" marL="0">
                        <a:buNone/>
                      </a:pPr>
                      <a:r>
                        <a:rPr lang="en-US" sz="1200" dirty="0">
                          <a:solidFill>
                            <a:schemeClr val="tx1"/>
                          </a:solidFill>
                        </a:rPr>
                        <a:t>Lead Assignment, </a:t>
                      </a:r>
                      <a:pPr indent="0" marL="0">
                        <a:buNone/>
                      </a:pPr>
                      <a:r>
                        <a:rPr lang="en-US" sz="1200" dirty="0">
                          <a:solidFill>
                            <a:schemeClr val="tx1"/>
                          </a:solidFill>
                        </a:rPr>
                        <a:t>Lead Conversion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Lifecycle Stage, Behavior Score, Fit Grade, Follow-Up SLA Due, Conversion Outcome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Performance &amp; Attribution</a:t>
                      </a:r>
                      <a:endParaRPr lang="en-US" sz="1200" dirty="0"/>
                    </a:p>
                    <a:p>
                      <a:pPr indent="0" marL="0">
                        <a:buNone/>
                      </a:pPr>
                      <a:r>
                        <a:rPr lang="en-US" sz="1100" dirty="0">
                          <a:solidFill>
                            <a:schemeClr val="tx2"/>
                          </a:solidFill>
                        </a:rPr>
                        <a:t>4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Touchpoints, attribution models, and the pipeline and flows credited to campaigns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Marketing Touchpoint, </a:t>
                      </a:r>
                      <a:pPr indent="0" marL="0">
                        <a:buNone/>
                      </a:pPr>
                      <a:r>
                        <a:rPr lang="en-US" sz="1200" b="1" dirty="0">
                          <a:solidFill>
                            <a:schemeClr val="tx1"/>
                          </a:solidFill>
                        </a:rPr>
                        <a:t>Attribution Model, </a:t>
                      </a:r>
                      <a:pPr indent="0" marL="0">
                        <a:buNone/>
                      </a:pPr>
                      <a:r>
                        <a:rPr lang="en-US" sz="1200" b="1" dirty="0">
                          <a:solidFill>
                            <a:schemeClr val="tx1"/>
                          </a:solidFill>
                        </a:rPr>
                        <a:t>Attributed Outcome, </a:t>
                      </a:r>
                      <a:pPr indent="0" marL="0">
                        <a:buNone/>
                      </a:pPr>
                      <a:r>
                        <a:rPr lang="en-US" sz="1200" dirty="0">
                          <a:solidFill>
                            <a:schemeClr val="tx1"/>
                          </a:solidFill>
                        </a:rPr>
                        <a:t>Campaign Performance Snapshot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Touchpoint Type, Lookback Window, Attribution Weight, Influenced Net Flows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Marketing Data Management</a:t>
                      </a:r>
                      <a:endParaRPr lang="en-US" sz="1200" dirty="0"/>
                    </a:p>
                    <a:p>
                      <a:pPr indent="0" marL="0">
                        <a:buNone/>
                      </a:pPr>
                      <a:r>
                        <a:rPr lang="en-US" sz="1100" dirty="0">
                          <a:solidFill>
                            <a:schemeClr val="tx2"/>
                          </a:solidFill>
                        </a:rPr>
                        <a:t>1 objects  |  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registry of marketing technology systems and what each is system of record for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Marketing System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System Name, System Category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campaign, asset, event or lead.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vendor models and open standards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IPTC, SEC Marketing Rule, FINRA Rule 2210, Bombora, WCAG, IAB, ESMA, GDPR, PECR and CAN-SPAM.</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41%</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(106 of 257) align to a vendor model, open standard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73</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32</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flagged as personal data, such as captured names and email addresses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Parties, contact points, consent and privacy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party reference, plus the captured name, email and CRD number until a lead is matched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Each party's opt-in by topic and channel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subscription topics on offer, marketing segments and suppression lists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Sales staff, activities and opportunities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the first sales activity on a lead and the opportunity it converted to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Products, strategies and share classes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the products that a theme, campaign, asset or web page features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Review and approval of marketing material; complaints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review reference, a read-only copy of approval status, and flags that route review</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Sponsorship and co-marketing agreements and payment terms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event, its sponsorship tier and fee, and a link to the agreement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flows and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Touchpoints, attribution models and weights. Flow amounts are referenced, not recalculated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Territories, coverage and crediting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a campaign's target territories and the territory a lead is assigned to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215 attributes mastered, 42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215</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257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37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5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12 references, 2 copies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party behind a member, registrant, visitor, recipient, lead or touchpoint; copies of email and CRD number</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8 references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Employees who own campaigns and assets, speak at events or are assigned leads; the publishing entity</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Compliance</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5 references, 1 copy</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Reviews of assets, messaging and posts, a mirrored approval status, gifts records and complaints</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4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Products and share classes featured by a theme, campaign, content asset or web page</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 2 copies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Co-marketing and sponsorship agreements; copies of the sponsorship tier and fee</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Sales activities and opportunities, territories, and the flow record behind an attributed outcome</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17 attributes in 5 other domains reference a record mastered here, 9 of them in Sales. Record Metadata is excluded from every view and documented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21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23</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2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21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7 high, 1 medium, 13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GAP-04-001</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Engagement Event has no ID and no link to its page, session or campaign (DP-011, DP-025, DP-026, DP-052, DP-087)</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Six child records, such as Email Interaction and Campaign Member, do not name their parent (DP-011, DP-026, DP-028, DP-051)</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GAP-04-003</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Engagement Score has no score date or subject, so only the latest score is held (DP-027, DP-047, DP-052)</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GAP-04-004</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Session and Portal Account do not reference the web visitor, so sessions cannot be tied to parties (DP-011, DP-087)</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GAP-04-005</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Email Send has no send date, so email rows are dated only through other channels (DP-011, DP-026)</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GAP-04-006</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CE Credit Issued does not name its session, accrediting body or registrant (DP-011, DP-051)</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GAP-04-007</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Email Interaction holds only first open and first click, so repeat engagement is invisible (DP-011)</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CRM, marketing automation, asset management, web analytics, webinar and social platforms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Engagement history</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DP-011 conforms email, web, media and event engagement once. Campaign, content, lead and sales hand-off products share it, and SM-05 Marketing publishes it.</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80 proposed critical data elements and 32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Marketing and digital sources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Marketing &amp; Digital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DP-011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CRM,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turns engagement into records</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DP-011</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Marketing Engagement</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Conformed Facts  |  Owner: Head of Marketing Operations</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engagement event: party or visitor, engagement type, source object (email, page, asset, event or campaign) and timestamp</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70 of its 75 attributes come from 14 of this domain's 57 objects. The other 5 are consent record attributes from Client &amp; Customer</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8am Eastern the next day, with email and web events from the prior calendar day</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Event detail kept 3 years, or 24 months for anonymous visitor events. Aggregates kept since 2018. Past events are not restated</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personal data. Visitor, session, recipient and CE credential identifiers are personal data</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18</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name it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19</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engagement event has a timestamp, a type and a visitor or party; others are rejected</a:t>
            </a:r>
            <a:endParaRPr lang="en-US" sz="1300" dirty="0"/>
          </a:p>
          <a:p>
            <a:pPr marL="177800" indent="-177800">
              <a:spcAft>
                <a:spcPts val="600"/>
              </a:spcAft>
              <a:buSzPct val="100000"/>
              <a:buChar char="•"/>
            </a:pPr>
            <a:r>
              <a:rPr lang="en-US" sz="1300" dirty="0">
                <a:solidFill>
                  <a:schemeClr val="tx1"/>
                </a:solidFill>
              </a:rPr>
              <a:t>A visitor is linked to a party only when the applied tracking consent permits identification</a:t>
            </a:r>
            <a:endParaRPr lang="en-US" sz="1300" dirty="0"/>
          </a:p>
          <a:p>
            <a:pPr marL="177800" indent="-177800">
              <a:spcAft>
                <a:spcPts val="600"/>
              </a:spcAft>
              <a:buSzPct val="100000"/>
              <a:buChar char="•"/>
            </a:pPr>
            <a:r>
              <a:rPr lang="en-US" sz="1300" dirty="0">
                <a:solidFill>
                  <a:schemeClr val="tx1"/>
                </a:solidFill>
              </a:rPr>
              <a:t>Parties who withdraw consent have no identified engagement events after the withdrawal</a:t>
            </a:r>
            <a:endParaRPr lang="en-US" sz="1300" dirty="0"/>
          </a:p>
          <a:p>
            <a:pPr marL="177800" indent="-177800">
              <a:spcAft>
                <a:spcPts val="600"/>
              </a:spcAft>
              <a:buSzPct val="100000"/>
              <a:buChar char="•"/>
            </a:pPr>
            <a:r>
              <a:rPr lang="en-US" sz="1300" dirty="0">
                <a:solidFill>
                  <a:schemeClr val="tx1"/>
                </a:solidFill>
              </a:rPr>
              <a:t>Every email send, session campaign and touchpoint campaign resolves to a Campaign ID</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20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20</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2 foundational and 18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57 of 57</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93%</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(240 of 257)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7</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operational products, the largest group of the 20</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7 operational, 6 analytical, 5 regulatory and control, 1 conformed facts, 1 master and reference.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Nine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DP-011</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Marketing Engagement</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Marketing and Digital</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The conformed record of email, web, media and event engagement, tied to campaign and asset.</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280160"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70 of 75</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DP-025</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Campaign Performance &amp; Attribution</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Marketing and Digital</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Cost, responses, leads, pipeline and attributed flows for every program, campaign and wave.</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249136"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51 of 56</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DP-026</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Content Performance</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Marketing and Digital</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Usage, engagement, approval currency and rights expiry of every content asset and version.</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997527"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40 of 55</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DP-027</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Lead Funnel &amp; Sales Hand-off</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Marketing and Digital</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Each lead from capture to sales follow-up and conversion, with routing and SLA tracking.</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625642"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26 of 57</a:t>
            </a:r>
            <a:endParaRPr lang="en-US" sz="1200" dirty="0"/>
          </a:p>
        </p:txBody>
      </p:sp>
      <p:sp>
        <p:nvSpPr>
          <p:cNvPr id="38" name="Shape 35"/>
          <p:cNvSpPr/>
          <p:nvPr/>
        </p:nvSpPr>
        <p:spPr>
          <a:xfrm>
            <a:off x="548640" y="5349240"/>
            <a:ext cx="11091672" cy="731520"/>
          </a:xfrm>
          <a:prstGeom prst="roundRect">
            <a:avLst>
              <a:gd name="adj" fmla="val 10000"/>
            </a:avLst>
          </a:prstGeom>
          <a:solidFill>
            <a:schemeClr val="bg2"/>
          </a:solidFill>
          <a:ln/>
        </p:spPr>
      </p:sp>
      <p:sp>
        <p:nvSpPr>
          <p:cNvPr id="39" name="Text 36"/>
          <p:cNvSpPr/>
          <p:nvPr/>
        </p:nvSpPr>
        <p:spPr>
          <a:xfrm>
            <a:off x="731520" y="55458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DP-028</a:t>
            </a:r>
            <a:endParaRPr lang="en-US" sz="1200" dirty="0"/>
          </a:p>
        </p:txBody>
      </p:sp>
      <p:sp>
        <p:nvSpPr>
          <p:cNvPr id="40" name="Text 37"/>
          <p:cNvSpPr txBox="1"/>
          <p:nvPr/>
        </p:nvSpPr>
        <p:spPr>
          <a:xfrm>
            <a:off x="1828800" y="540410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Marketing Audience &amp; Consent</a:t>
            </a:r>
            <a:endParaRPr lang="en-US" sz="1300" dirty="0"/>
          </a:p>
        </p:txBody>
      </p:sp>
      <p:sp>
        <p:nvSpPr>
          <p:cNvPr id="41" name="Text 38"/>
          <p:cNvSpPr txBox="1"/>
          <p:nvPr/>
        </p:nvSpPr>
        <p:spPr>
          <a:xfrm>
            <a:off x="1828800" y="582472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Marketing and Digital</a:t>
            </a:r>
            <a:endParaRPr lang="en-US" sz="1000" dirty="0"/>
          </a:p>
        </p:txBody>
      </p:sp>
      <p:sp>
        <p:nvSpPr>
          <p:cNvPr id="42" name="Text 39"/>
          <p:cNvSpPr txBox="1"/>
          <p:nvPr/>
        </p:nvSpPr>
        <p:spPr>
          <a:xfrm>
            <a:off x="5897880" y="534924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For each party, topic and channel, whether the firm may send marketing now, and why.</a:t>
            </a:r>
            <a:endParaRPr lang="en-US" sz="1200" dirty="0"/>
          </a:p>
        </p:txBody>
      </p:sp>
      <p:sp>
        <p:nvSpPr>
          <p:cNvPr id="43" name="Shape 40"/>
          <p:cNvSpPr/>
          <p:nvPr/>
        </p:nvSpPr>
        <p:spPr>
          <a:xfrm>
            <a:off x="9326880" y="5650992"/>
            <a:ext cx="1371600" cy="128016"/>
          </a:xfrm>
          <a:prstGeom prst="rect">
            <a:avLst/>
          </a:prstGeom>
          <a:solidFill>
            <a:schemeClr val="bg1"/>
          </a:solidFill>
          <a:ln/>
        </p:spPr>
      </p:sp>
      <p:sp>
        <p:nvSpPr>
          <p:cNvPr id="44" name="Shape 41"/>
          <p:cNvSpPr/>
          <p:nvPr/>
        </p:nvSpPr>
        <p:spPr>
          <a:xfrm>
            <a:off x="9326880" y="5650992"/>
            <a:ext cx="388620" cy="128016"/>
          </a:xfrm>
          <a:prstGeom prst="rect">
            <a:avLst/>
          </a:prstGeom>
          <a:solidFill>
            <a:schemeClr val="accent1"/>
          </a:solidFill>
          <a:ln/>
        </p:spPr>
      </p:sp>
      <p:sp>
        <p:nvSpPr>
          <p:cNvPr id="45" name="Text 42"/>
          <p:cNvSpPr txBox="1"/>
          <p:nvPr/>
        </p:nvSpPr>
        <p:spPr>
          <a:xfrm>
            <a:off x="10789920" y="534924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17 of 60</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 CONTINUED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Nine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DP-051</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Event &amp; Webinar ROI</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Marketing and Digital</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Cost, attendance, CE credits and later flows for each event, sponsored conference and webinar.</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789140"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42 of 73</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DP-052</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Digital Intent Signals</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Internal / Inside Sales</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Daily product and topic intent signals for each known advisor, from consented digital behavior.</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028700"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36 of 48</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DP-087</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Digital Access Gating &amp; Self-Certification Evidence</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Marketing and Digital</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Evidence that restricted digital content was shown only to eligible, self-certified audiences.</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127760"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37 of 45</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DP-090</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Social Media &amp; Brand Performance</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Marketing and Digital</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Reach, engagement and sentiment of social accounts and posts, by brand, theme and message.</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1052623"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33 of 43</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11 more rely on it for engagement context</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Field and inside 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DP-017, DP-018, DP-046, DP-047, DP-053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Engagement scores, email and event engagement, and the audience restriction on content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DP-036, DP-038, DP-062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Content assets, versions and compliance flags; the marketing events behind gifts and entertainment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management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Content assets, for product launch readiness and tracking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Data office and privacy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DP-075, DP-080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marketing system registry; web visitors, leads and suppression entries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One more product depends on DP-011 without reading this domain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Applied Tracking Consent</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web visitor: the cookie and tracking categories permitted when events were collected.</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DP-011</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Marketing Engagement links a visitor to a party only when the applied consent permits identification.</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DP-052</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Digital Intent Signals scores only events the consent allows to be identified. Other events are left out.</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SM-05 Marketing</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the consent on the web visitor dimension, and Identified Engagement Share as a measure.</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“What share of digital engagement is identified to a known party, and under which tracking consent?”</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Identified Engagement Share  =  events from an identified, matched visitor / all engagement events</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consent record and lawful basis are mastered in Client &amp; Customer. This domain holds only the consent state applied when events were collected.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CD-041</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Certify one net-flow definition, so that influenced and attributed flows use the same measure as the rest of distribution.</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CD-074</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owns the Audience Restriction and Content Type lists, and whether Distribution Compliance uses them to route reviews.</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CD-071</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Keep three owners for consent, marketing subscriptions and e-delivery elections; check Do Not Contact before any send.</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CD-072</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Replace the local intent provider list with a reference to the licensed dataset in Third-Party Data &amp; Licensing.</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Walk the taxonomy through with Marketing Operations, Digital, Sales Operations, Compliance and Privacy; confirm the 80 proposed CDEs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CRM, marketing automation, asset management, web analytics, webinar and social platform fields (Phase D)</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a data contract with Distribution Compliance for mirroring approval status and withdrawing assets when approval expires</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with Sales Transactions &amp; AUM Attribution the flow feed and grain used for influenced-flow attribution</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21 open gaps, starting with the seven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&amp; Digital taxonomy walkthrough</dc:title>
  <dc:subject>PptxGenJS Presentation</dc:subject>
  <dc:creator>Distribution Data Taxonomy Program</dc:creator>
  <cp:lastModifiedBy>Distribution Data Taxonomy Program</cp:lastModifiedBy>
  <cp:revision>1</cp:revision>
  <dcterms:created xsi:type="dcterms:W3CDTF">2026-10-05T13:40:30Z</dcterms:created>
  <dcterms:modified xsi:type="dcterms:W3CDTF">2026-10-05T13:40:30Z</dcterms:modified>
</cp:coreProperties>
</file>