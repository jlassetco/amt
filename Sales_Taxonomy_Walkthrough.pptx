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41983f3-ea99-bbb0-0afd-d4b999710d2e}">
          <p14:sldIdLst>
            <p14:sldId id="256"/>
            <p14:sldId id="257"/>
            <p14:sldId id="258"/>
            <p14:sldId id="259"/>
          </p14:sldIdLst>
        </p14:section>
        <p14:section name="What is included" id="{729c77f2-39d0-c3b0-1a81-7d8f057e33c2}">
          <p14:sldIdLst>
            <p14:sldId id="260"/>
            <p14:sldId id="261"/>
            <p14:sldId id="262"/>
            <p14:sldId id="263"/>
            <p14:sldId id="264"/>
          </p14:sldIdLst>
        </p14:section>
        <p14:section name="What is excluded" id="{b55a0575-bd1b-9ac6-0b41-8897dc65712d}">
          <p14:sldIdLst>
            <p14:sldId id="265"/>
            <p14:sldId id="266"/>
            <p14:sldId id="267"/>
          </p14:sldIdLst>
        </p14:section>
        <p14:section name="How it is used" id="{b8c274b6-3fe1-e846-a23b-7dbe15f0b2e0}">
          <p14:sldIdLst>
            <p14:sldId id="268"/>
            <p14:sldId id="269"/>
          </p14:sldIdLst>
        </p14:section>
        <p14:section name="Data products" id="{913b68a3-5ad5-fcbb-8868-e9dbd76314c4}">
          <p14:sldIdLst>
            <p14:sldId id="270"/>
            <p14:sldId id="271"/>
            <p14:sldId id="272"/>
            <p14:sldId id="273"/>
            <p14:sldId id="274"/>
          </p14:sldIdLst>
        </p14:section>
        <p14:section name="Next steps" id="{913e424a-b7c3-63e3-8044-754b025b77ce}">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Salesforce Sales Cloud</c:v>
                  </c:pt>
                  <c:pt idx="2">
                    <c:v>Salesforce FSC</c:v>
                  </c:pt>
                  <c:pt idx="3">
                    <c:v>Nasdaq eVestment</c:v>
                  </c:pt>
                  <c:pt idx="4">
                    <c:v>FINRA rules</c:v>
                  </c:pt>
                  <c:pt idx="5">
                    <c:v>SEC Marketing Rule</c:v>
                  </c:pt>
                  <c:pt idx="6">
                    <c:v>Other standards and regulation</c:v>
                  </c:pt>
                </c:lvl>
              </c:multiLvlStrCache>
            </c:multiLvlStrRef>
          </c:cat>
          <c:val>
            <c:numRef>
              <c:f>Sheet1!$B$2:$B$8</c:f>
              <c:numCache>
                <c:formatCode>General</c:formatCode>
                <c:ptCount val="7"/>
                <c:pt idx="0">
                  <c:v>180</c:v>
                </c:pt>
                <c:pt idx="1">
                  <c:v>45</c:v>
                </c:pt>
                <c:pt idx="2">
                  <c:v>9</c:v>
                </c:pt>
                <c:pt idx="3">
                  <c:v>7</c:v>
                </c:pt>
                <c:pt idx="4">
                  <c:v>5</c:v>
                </c:pt>
                <c:pt idx="5">
                  <c:v>4</c:v>
                </c:pt>
                <c:pt idx="6">
                  <c:v>8</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39)</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39)</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Sales Opportunity</c:v>
                  </c:pt>
                  <c:pt idx="1">
                    <c:v>Sales Activity</c:v>
                  </c:pt>
                  <c:pt idx="2">
                    <c:v>External Participant</c:v>
                  </c:pt>
                  <c:pt idx="3">
                    <c:v>Pipeline Status</c:v>
                  </c:pt>
                  <c:pt idx="4">
                    <c:v>Opportunity Value</c:v>
                  </c:pt>
                  <c:pt idx="5">
                    <c:v>Sales Person</c:v>
                  </c:pt>
                  <c:pt idx="6">
                    <c:v>Placement, Model &amp; DCIO Detail</c:v>
                  </c:pt>
                </c:lvl>
              </c:multiLvlStrCache>
            </c:multiLvlStrRef>
          </c:cat>
          <c:val>
            <c:numRef>
              <c:f>Sheet1!$B$2:$B$8</c:f>
              <c:numCache>
                <c:formatCode>General</c:formatCode>
                <c:ptCount val="7"/>
                <c:pt idx="0">
                  <c:v>14</c:v>
                </c:pt>
                <c:pt idx="1">
                  <c:v>12</c:v>
                </c:pt>
                <c:pt idx="2">
                  <c:v>10</c:v>
                </c:pt>
                <c:pt idx="3">
                  <c:v>9</c:v>
                </c:pt>
                <c:pt idx="4">
                  <c:v>8</c:v>
                </c:pt>
                <c:pt idx="5">
                  <c:v>5</c:v>
                </c:pt>
                <c:pt idx="6">
                  <c:v>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Sales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Sales defines the firm's own sales organization and the records salespeople create: activities, opportunities, RFP and DDQ responses, consultant database submissions and ratings, account plans and forecasts. It does not define who the clients are, what the products are, who covers whom or what was actually sold. Those are owned by other domains and referenced by ID. The domain has 8 families, 39 business objects and 258 attributes. 27 of the 92 specified data products read it directly, and 18 products depend on its foundational product, DP-010 Sales Activities and Interactions,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Sales is one of 14 domains. The purple text shows the path to one attribute, Probability, which records the likelihood of winning an opportunity. We follow it to an answer near the end of the deck. For every attribute the taxonomy records its meaning, its data type, the standard it aligns to and its owner. It does not hold data values or CRM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starts with the sales person, which is the sales profile of an employee. Identity and employment are mastered by HR in Shared and Enterprise Reference Data; Sales adds only the sales role, the CRM user and team membership. A sales person creates three main kinds of record. Sales activities are meetings, calls, emails and reviews, with their participants. Sales opportunities are the business being pursued, with a stage, a probability and an expected amount. Account plans organize a key relationship. Open opportunities are copied into dated pipeline snapshots and rolled into forecasts, so pipeline history is never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is the two kinds of record that most products read: the activities salespeople log and the opportunities they pursue. The second group is the sales force itself and how it plans: the sales organization, enablement, account plans and forecasts. The third covers how the firm responds to questionnaires and how consultants rate it.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94 of the 258 attributes. Sales Activity and Interaction holds every meeting, call, email and review, with who took part, what was discussed, the outcome, and where the record was captured. External participants are references to the party master, never new records. Opportunity and Pipeline is the largest family, with 53 attributes. It covers institutional searches, platform placements, model inclusions and DCIO line-ups, each with a stage, a value, competitors, an opportunity team and a win or loss outcome.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93 attributes. Sales Organization and Personnel holds the sales profile of each person who sells, their roles, their teams and desks, and wholesaler pairings. Identity and employment stay with HR. Sales Enablement records how salespeople use marketing content in front of clients, and the sales plays that package products, messages and content. Account Planning holds key account plans for strategic distributors, institutional clients and consultants; objectives are aspirations, not quotas. Sales Forecasting and Snapshots holds submitted forecasts and point-in-time copies of the pipeline, used for trend and accuracy analysis. Goals and quotas are owned by Compensation and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71 attributes, used mostly by institutional sales and consultant relations. RFP, RFI and DDQ Management holds each inbound questionnaire, its questions, the approved answer library and the final submission with its outcome. These are questionnaires the firm answers for clients and consultants; the firm's own due diligence on distributors belongs to Distribution Compliance. Consultant and Database Relations holds the firm's strategy profiles in consultant databases, the periodic data submitted to them, the ratings consultants assign, research reviews and notifications. Ratings from distributor home offices are owned by Distribution Agreements and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78 of the 258 attributes, 30 percent, align to an external reference. Most of those, 54, follow Salesforce standard objects, so the model maps to the CRM with little customization. Others follow the eVestment data collection process and record-keeping rules from FINRA, the SEC and MiFID II. 180 attributes are firm-defined, because sales stages, roles, reasons and plans are specific to each firm. 80 attributes take their values from a controlled code list, which keeps pipeline and activity reporting comparable across channels. Only 9 attributes are flagged as personal data, because external people are referenced, not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records what salespeople do and pursue. It deliberately leaves out who the clients are, what is sold, who covers whom and what actually flowed. This table shows where each excluded subject lives and the small amount this domain keeps so that it can point to it. Three boundaries are worth calling out. A placement opportunity is the pursuit; the resulting shelf status belongs to Distribution Agreements and Partners. Consultant ratings are here; ratings by distributor home offices are not. And the salesperson's use of a content asset is here, while recipient opens and clicks stay with Marketing and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181 of the 258 are mastered in Sales. 71 are references, which hold only the ID of a record mastered in another domain, and 6 are derived copies. That is a high share: more than a quarter of the domain points elsewhere, because a sales record is always about someone and something that another domain defines. Client and Customer supplies 21 references and Shared and Enterprise Reference Data 18, one for every place an employee is named. In the other direction only 9 attributes in 5 domains point to a sales record. Record Metadata is excluded from every view and documented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14 gaps against Sales. Three are resolved. Eleven are open, all proposed and waiting for a decision: four high priority, two medium and five low. The six shown here are the high and medium ones. Three of the four high-priority gaps affect the foundational product, DP-010: how discussed products are keyed, how group-session attendees are keyed, and whether DP-010 should publish opportunities and sales plays. The five low-priority gaps are mostly links that would let the firm measure whether alerts, recommendations and retention outreach were acted on.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the CRM, calendar and conversation capture, the RFP platform and the consultant database portals are mapped to. That mapping to the firm's actual systems is Phase D and has not been done. Second, it is the bill of materials for data products: each product lists the exact attributes it uses, and the build fails if one does not exist. Third, activities and pipeline are published once as shared facts, so a scorecard, a 360 view and a forecast count the same meetings and the same opportunities. Fourth, the ownership flags, the 88 proposed critical data elements and the 9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DP-010, Sales Activities and Interactions. It conforms CRM, calendar-capture and conversation-capture records into one activity fact, keyed to the salesperson, the territory and the resolved party. 54 of its 59 attributes come from 8 of this domain's 39 objects; the other 5 are the call frequency standard from Compensation and Territory. It refreshes daily by 7am Eastern and holds every activity since 2015. 15 products name it as a direct upstream and 18 depend on it directly or indirectly. Opportunities are not in it. They are published by the consumer product DP-019, which is the subject of an open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of the 92 specified data products list Sales objects among their inputs: 2 foundational and 25 consumer-aligned. Every one of the 39 objects is used by at least one product, and 230 of the 258 attributes, 89 percent, appear in a product specification. Sales Opportunity is the most used object, read by 14 products, followed by Sales Activity with 12 and External Participant with 10. Analytical products are the largest group of readers, 15 of the 27, which reflects how much scorecard, pipeline and forecast reporting is built on activity and opportunity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data products have Sales as their owning domain. DP-010 is the foundational product. The other eight are consumer-aligned. Advisor 360 and Institutional Client 360 put one current view of an advisor or an institutional client into the CRM. Advisor Segmentation and Prioritization scores and tiers advisors each month. Sales Pipeline and Win/Loss turns opportunity data into weighted pipeline, win rate and cycle time, and six other products read it. The bar on the right shows how many of each product's input attributes come from this domain. For the 360 views the share is small, because most of what they show comes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owned products. Consultant Relations and Manager Search is the workbench for consultant relations managers: ratings, research reviews, database submissions and searches for each consultant. RFP and DDQ Performance measures the proposal function, taking 42 of its 51 attributes from this domain. Next-Best-Action Recommendations ranks the actions each salesperson should take and writes them into the CRM, with reasons. Unified Engagement Timeline puts sales, marketing and service touchpoints for a party in date order. The last two are Wave 2 products and draw most of their inputs from other domains, such as coverage, digital engagement and service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18 products are owned by other domains but read Sales attributes directly. They are grouped here by the business function they serve. Sales Organization and Coverage, DP-009, takes 29 attributes: the sales roles, teams, memberships and pairings that the rest of the catalog uses to identify a salesperson. Sales Flow Forecast takes 28, mostly forecasts, pipeline status and snapshots. Compliance products read activity capture details and sales roles for surveillance, licensing and gifts and entertainment. Beyond these, 6 more products depend on the domain only through DP-010,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Probability is defined once in Sales, on Pipeline Status, as the likelihood of winning an opportunity. It defaults from the sales stage and the owner can override it. DP-019, Sales Pipeline and Win/Loss, multiplies it by Expected Amount to give weighted pipeline, and freezes a snapshot every Friday. The semantic model SM-04, Institutional and Retirement, publishes Weighted Pipeline once. The executive dashboard product, DP-015, also reads Probability, but its model, SM-01, points to the SM-04 metric and does not keep a second copy. Note that this path has no foundational step: no foundational product publishes opportunities yet, which is open gap GAP-03-004.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the word revenue: an opportunity's Expected Annual Revenue is a pipeline estimate and should be named as one, separate from booked revenue. The second is who owns Morningstar and other published ratings; the proposal is that Market and Competitive Intelligence owns them and Sales keeps consultant ratings. The third is who owns the normalized shelf and rating scale that placement opportunities point to. The fourth is whether DP-010 should publish opportunities and sales plays. The next steps on the right come from the taxonomy's own plan: validate code lists by channel, agree interfaces, map to the CRM in Phase D, confirm critical data elements,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Sales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SALES</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Sales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Sales Person</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sells</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Sales Activity</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did with clients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Sales Opportunity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are pursuing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the sales record,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39</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258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88</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sales organization and each seller's sales profile, sales activities and participants, opportunities and pipeline, RFP, RFI and DDQ responses, consultant ratings and database submissions, account plans and forecasts.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Who the clients are, what the products are, campaigns and content, agreements and shelf status, flows and AUM, territories, goals and crediting, licenses, approvals and the communications archive.</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CRM and RFP-platform fields, the bill of materials for data products, and the source of the activity and pipeline facts that scorecards, 360 views and forecasts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27 of the 92 data products read it directly. 18 products depend on its foundational product, DP-010 Sales Activities &amp; Interactions.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Sales</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Opportunity &amp; Pipeline</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39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Pipeline Status</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258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Probability</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record it applies to: activity, opportunity, RFP, plan</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who sells, and what they log</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SELLS</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THEY RECORD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PIPELINE IS TRACKED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Sales Person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Employee who sells, keyed EMP-</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Sales Team</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Team or desk, keyed SLT-</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The sales profile of an employee. HR masters identity and employment</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Sales Activity</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Meeting, call, email or review, keyed ACT-</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Sales Opportunity</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Business being pursued, keyed OPP-</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Account Plan</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Plan for a key relationship, keyed KAP-</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Pipeline Snapshot</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Dated copy of each open opportunity</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Open opportunities are copied into dated snapshots and rolled into forecasts, so history is not overwritten.</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Reference, do not redefine: parties, accounts, products, territories, goals, agreements, licenses and approvals stay with their owning domain. 71 of the 258 attributes are references to them, and external participants are never created here.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16 objects  |  94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Activity &amp; Interaction</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41 attributes  |  13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Opportunity &amp; Pipeline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10 objects  |  53 attributes  |  17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sales force and its plans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14 objects  |  93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Organization &amp; Personnel</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31 attributes  |  13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Enablement</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18 attributes  |  5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 Planning</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5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Forecasting &amp; Snapshots</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8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Responding and being rated</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9 objects  |  71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RFP, RFI &amp; DDQ Management</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38 attributes  |  15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Consultant &amp; Database Relations</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33 attributes  |  12 critical</a:t>
            </a:r>
            <a:endParaRPr lang="en-US" sz="1100" dirty="0"/>
          </a:p>
        </p:txBody>
      </p:sp>
      <p:sp>
        <p:nvSpPr>
          <p:cNvPr id="38" name="Text 35"/>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activities and opportunities</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Sales Activity &amp; Interaction</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6 objects  |  41 attributes  |  13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Meetings, calls, emails and reviews: who took part, what was discussed, the outcome and the capture source.</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Sales Activity, </a:t>
            </a:r>
            <a:pPr indent="0" marL="0">
              <a:buNone/>
            </a:pPr>
            <a:r>
              <a:rPr lang="en-US" sz="1300" dirty="0">
                <a:solidFill>
                  <a:schemeClr val="tx1"/>
                </a:solidFill>
              </a:rPr>
              <a:t>Internal Participant, </a:t>
            </a:r>
            <a:pPr indent="0" marL="0">
              <a:buNone/>
            </a:pPr>
            <a:r>
              <a:rPr lang="en-US" sz="1300" dirty="0">
                <a:solidFill>
                  <a:schemeClr val="tx1"/>
                </a:solidFill>
              </a:rPr>
              <a:t>External Participant, </a:t>
            </a:r>
            <a:pPr indent="0" marL="0">
              <a:buNone/>
            </a:pPr>
            <a:r>
              <a:rPr lang="en-US" sz="1300" dirty="0">
                <a:solidFill>
                  <a:schemeClr val="tx1"/>
                </a:solidFill>
              </a:rPr>
              <a:t>Discussion Content, </a:t>
            </a:r>
            <a:pPr indent="0" marL="0">
              <a:buNone/>
            </a:pPr>
            <a:r>
              <a:rPr lang="en-US" sz="1300" dirty="0">
                <a:solidFill>
                  <a:schemeClr val="tx1"/>
                </a:solidFill>
              </a:rPr>
              <a:t>Outcome &amp; Follow-Up, </a:t>
            </a:r>
            <a:pPr indent="0" marL="0">
              <a:buNone/>
            </a:pPr>
            <a:r>
              <a:rPr lang="en-US" sz="1300" dirty="0">
                <a:solidFill>
                  <a:schemeClr val="tx1"/>
                </a:solidFill>
              </a:rPr>
              <a:t>Activity Capture</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Activity Type, Activity Start Timestamp, Products Discussed, Activity Outcome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Opportunity &amp; Pipeline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10 objects  |  53 attributes  |  17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New business being pursued, with its stage, value, competitors, opportunity team and win or loss outcome.</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Sales Opportunity, </a:t>
            </a:r>
            <a:pPr indent="0" marL="0">
              <a:buNone/>
            </a:pPr>
            <a:r>
              <a:rPr lang="en-US" sz="1300" dirty="0">
                <a:solidFill>
                  <a:schemeClr val="tx1"/>
                </a:solidFill>
              </a:rPr>
              <a:t>Pipeline Status, </a:t>
            </a:r>
            <a:pPr indent="0" marL="0">
              <a:buNone/>
            </a:pPr>
            <a:r>
              <a:rPr lang="en-US" sz="1300" dirty="0">
                <a:solidFill>
                  <a:schemeClr val="tx1"/>
                </a:solidFill>
              </a:rPr>
              <a:t>Opportunity Value, </a:t>
            </a:r>
            <a:pPr indent="0" marL="0">
              <a:buNone/>
            </a:pPr>
            <a:r>
              <a:rPr lang="en-US" sz="1300" dirty="0">
                <a:solidFill>
                  <a:schemeClr val="tx1"/>
                </a:solidFill>
              </a:rPr>
              <a:t>Opportunity Product, </a:t>
            </a:r>
            <a:pPr indent="0" marL="0">
              <a:buNone/>
            </a:pPr>
            <a:r>
              <a:rPr lang="en-US" sz="1300" dirty="0">
                <a:solidFill>
                  <a:schemeClr val="tx1"/>
                </a:solidFill>
              </a:rPr>
              <a:t>Institutional Search Detail, </a:t>
            </a:r>
            <a:pPr indent="0" marL="0">
              <a:buNone/>
            </a:pPr>
            <a:r>
              <a:rPr lang="en-US" sz="1300" dirty="0">
                <a:solidFill>
                  <a:schemeClr val="tx1"/>
                </a:solidFill>
              </a:rPr>
              <a:t>Placement, Model &amp; DCIO Detail, </a:t>
            </a:r>
            <a:pPr indent="0" marL="0">
              <a:buNone/>
            </a:pPr>
            <a:r>
              <a:rPr lang="en-US" sz="1300" dirty="0">
                <a:solidFill>
                  <a:schemeClr val="tx1"/>
                </a:solidFill>
              </a:rPr>
              <a:t>Opportunity Competitor, </a:t>
            </a:r>
            <a:pPr indent="0" marL="0">
              <a:buNone/>
            </a:pPr>
            <a:r>
              <a:rPr lang="en-US" sz="1300" dirty="0">
                <a:solidFill>
                  <a:schemeClr val="tx1"/>
                </a:solidFill>
              </a:rPr>
              <a:t>Opportunity Team, </a:t>
            </a:r>
            <a:pPr indent="0" marL="0">
              <a:buNone/>
            </a:pPr>
            <a:r>
              <a:rPr lang="en-US" sz="1300" dirty="0">
                <a:solidFill>
                  <a:schemeClr val="tx1"/>
                </a:solidFill>
              </a:rPr>
              <a:t>Win / Loss, </a:t>
            </a:r>
            <a:pPr indent="0" marL="0">
              <a:buNone/>
            </a:pPr>
            <a:r>
              <a:rPr lang="en-US" sz="1300" dirty="0">
                <a:solidFill>
                  <a:schemeClr val="tx1"/>
                </a:solidFill>
              </a:rPr>
              <a:t>Stage History</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Sales Stage, Probability, Expected Amount, Search Consultant, Opportunity Outcome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person, activity, opportunity, request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sales force and its plans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Sales Organization &amp; Personnel</a:t>
                      </a:r>
                      <a:endParaRPr lang="en-US" sz="1200" dirty="0"/>
                    </a:p>
                    <a:p>
                      <a:pPr indent="0" marL="0">
                        <a:buNone/>
                      </a:pPr>
                      <a:r>
                        <a:rPr lang="en-US" sz="1100" dirty="0">
                          <a:solidFill>
                            <a:schemeClr val="tx2"/>
                          </a:solidFill>
                        </a:rPr>
                        <a:t>6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 profile of each seller, their roles, teams and desks, and wholesaler pairings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Sales Person, </a:t>
                      </a:r>
                      <a:pPr indent="0" marL="0">
                        <a:buNone/>
                      </a:pPr>
                      <a:r>
                        <a:rPr lang="en-US" sz="1200" dirty="0">
                          <a:solidFill>
                            <a:schemeClr val="tx1"/>
                          </a:solidFill>
                        </a:rPr>
                        <a:t>Sales Role, </a:t>
                      </a:r>
                      <a:pPr indent="0" marL="0">
                        <a:buNone/>
                      </a:pPr>
                      <a:r>
                        <a:rPr lang="en-US" sz="1200" dirty="0">
                          <a:solidFill>
                            <a:schemeClr val="tx1"/>
                          </a:solidFill>
                        </a:rPr>
                        <a:t>License &amp; Registration Reference, </a:t>
                      </a:r>
                      <a:pPr indent="0" marL="0">
                        <a:buNone/>
                      </a:pPr>
                      <a:r>
                        <a:rPr lang="en-US" sz="1200" b="1" dirty="0">
                          <a:solidFill>
                            <a:schemeClr val="tx1"/>
                          </a:solidFill>
                        </a:rPr>
                        <a:t>Sales Team, </a:t>
                      </a:r>
                      <a:pPr indent="0" marL="0">
                        <a:buNone/>
                      </a:pPr>
                      <a:r>
                        <a:rPr lang="en-US" sz="1200" b="1" dirty="0">
                          <a:solidFill>
                            <a:schemeClr val="tx1"/>
                          </a:solidFill>
                        </a:rPr>
                        <a:t>Team Membership &amp; Channel Assignment, </a:t>
                      </a:r>
                      <a:pPr indent="0" marL="0">
                        <a:buNone/>
                      </a:pPr>
                      <a:r>
                        <a:rPr lang="en-US" sz="1200" b="1" dirty="0">
                          <a:solidFill>
                            <a:schemeClr val="tx1"/>
                          </a:solidFill>
                        </a:rPr>
                        <a:t>Sales Pairing &amp; Alignment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Primary Sales Role, Producing Indicator, Primary Channel, Sales Pairing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Sales Enablement</a:t>
                      </a:r>
                      <a:endParaRPr lang="en-US" sz="1200" dirty="0"/>
                    </a:p>
                    <a:p>
                      <a:pPr indent="0" marL="0">
                        <a:buNone/>
                      </a:pPr>
                      <a:r>
                        <a:rPr lang="en-US" sz="1100" dirty="0">
                          <a:solidFill>
                            <a:schemeClr val="tx2"/>
                          </a:solidFill>
                        </a:rPr>
                        <a:t>2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salespeople use approved content with clients, and packaged sales plays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Content Usage Event, </a:t>
                      </a:r>
                      <a:pPr indent="0" marL="0">
                        <a:buNone/>
                      </a:pPr>
                      <a:r>
                        <a:rPr lang="en-US" sz="1200" b="1" dirty="0">
                          <a:solidFill>
                            <a:schemeClr val="tx1"/>
                          </a:solidFill>
                        </a:rPr>
                        <a:t>Sales Play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Usage Type, Usage Timestamp, Target Channels, Play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Account Planning</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Key account plans: vision, objectives, stakeholder map and actions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Plan, </a:t>
                      </a:r>
                      <a:pPr indent="0" marL="0">
                        <a:buNone/>
                      </a:pPr>
                      <a:r>
                        <a:rPr lang="en-US" sz="1200" dirty="0">
                          <a:solidFill>
                            <a:schemeClr val="tx1"/>
                          </a:solidFill>
                        </a:rPr>
                        <a:t>Plan Objective, </a:t>
                      </a:r>
                      <a:pPr indent="0" marL="0">
                        <a:buNone/>
                      </a:pPr>
                      <a:r>
                        <a:rPr lang="en-US" sz="1200" dirty="0">
                          <a:solidFill>
                            <a:schemeClr val="tx1"/>
                          </a:solidFill>
                        </a:rPr>
                        <a:t>Stakeholder Map, </a:t>
                      </a:r>
                      <a:pPr indent="0" marL="0">
                        <a:buNone/>
                      </a:pPr>
                      <a:r>
                        <a:rPr lang="en-US" sz="1200" dirty="0">
                          <a:solidFill>
                            <a:schemeClr val="tx1"/>
                          </a:solidFill>
                        </a:rPr>
                        <a:t>Plan Action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Plan Type, Objective Category, Decision Role, Relationship Strength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Sales Forecasting &amp; Snapshots</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Submitted sales forecasts and point-in-time copies of the pipeline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Forecast Submission, </a:t>
                      </a:r>
                      <a:pPr indent="0" marL="0">
                        <a:buNone/>
                      </a:pPr>
                      <a:r>
                        <a:rPr lang="en-US" sz="1200" b="1" dirty="0">
                          <a:solidFill>
                            <a:schemeClr val="tx1"/>
                          </a:solidFill>
                        </a:rPr>
                        <a:t>Pipeline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Forecast Measure, Forecast Amount, Snapshot Date, Stage at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person, activity, opportunity, request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Responding and being rated</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RFP, RFI &amp; DDQ Management</a:t>
                      </a:r>
                      <a:endParaRPr lang="en-US" sz="1200" dirty="0"/>
                    </a:p>
                    <a:p>
                      <a:pPr indent="0" marL="0">
                        <a:buNone/>
                      </a:pPr>
                      <a:r>
                        <a:rPr lang="en-US" sz="1100" dirty="0">
                          <a:solidFill>
                            <a:schemeClr val="tx2"/>
                          </a:solidFill>
                        </a:rPr>
                        <a:t>4 objects  |  38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Inbound questionnaires, their questions, the approved answer library and submissions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RFP Request, </a:t>
                      </a:r>
                      <a:pPr indent="0" marL="0">
                        <a:buNone/>
                      </a:pPr>
                      <a:r>
                        <a:rPr lang="en-US" sz="1200" b="1" dirty="0">
                          <a:solidFill>
                            <a:schemeClr val="tx1"/>
                          </a:solidFill>
                        </a:rPr>
                        <a:t>Request Question, </a:t>
                      </a:r>
                      <a:pPr indent="0" marL="0">
                        <a:buNone/>
                      </a:pPr>
                      <a:r>
                        <a:rPr lang="en-US" sz="1200" b="1" dirty="0">
                          <a:solidFill>
                            <a:schemeClr val="tx1"/>
                          </a:solidFill>
                        </a:rPr>
                        <a:t>Answer Library Entry, </a:t>
                      </a:r>
                      <a:pPr indent="0" marL="0">
                        <a:buNone/>
                      </a:pPr>
                      <a:r>
                        <a:rPr lang="en-US" sz="1200" dirty="0">
                          <a:solidFill>
                            <a:schemeClr val="tx1"/>
                          </a:solidFill>
                        </a:rPr>
                        <a:t>RFP Submission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Request Type, Response Due Date, Go / No-Go Decision, RFP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Consultant &amp; Database Relations</a:t>
                      </a:r>
                      <a:endParaRPr lang="en-US" sz="1200" dirty="0"/>
                    </a:p>
                    <a:p>
                      <a:pPr indent="0" marL="0">
                        <a:buNone/>
                      </a:pPr>
                      <a:r>
                        <a:rPr lang="en-US" sz="1100" dirty="0">
                          <a:solidFill>
                            <a:schemeClr val="tx2"/>
                          </a:solidFill>
                        </a:rPr>
                        <a:t>5 objects  |  33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Consultant database profiles and submissions, ratings received, reviews and notifications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Database Profile, </a:t>
                      </a:r>
                      <a:pPr indent="0" marL="0">
                        <a:buNone/>
                      </a:pPr>
                      <a:r>
                        <a:rPr lang="en-US" sz="1200" b="1" dirty="0">
                          <a:solidFill>
                            <a:schemeClr val="tx1"/>
                          </a:solidFill>
                        </a:rPr>
                        <a:t>Database Submission, </a:t>
                      </a:r>
                      <a:pPr indent="0" marL="0">
                        <a:buNone/>
                      </a:pPr>
                      <a:r>
                        <a:rPr lang="en-US" sz="1200" b="1" dirty="0">
                          <a:solidFill>
                            <a:schemeClr val="tx1"/>
                          </a:solidFill>
                        </a:rPr>
                        <a:t>Consultant Rating, </a:t>
                      </a:r>
                      <a:pPr indent="0" marL="0">
                        <a:buNone/>
                      </a:pPr>
                      <a:r>
                        <a:rPr lang="en-US" sz="1200" dirty="0">
                          <a:solidFill>
                            <a:schemeClr val="tx1"/>
                          </a:solidFill>
                        </a:rPr>
                        <a:t>Consultant Research Review, </a:t>
                      </a:r>
                      <a:pPr indent="0" marL="0">
                        <a:buNone/>
                      </a:pPr>
                      <a:r>
                        <a:rPr lang="en-US" sz="1200" b="1" dirty="0">
                          <a:solidFill>
                            <a:schemeClr val="tx1"/>
                          </a:solidFill>
                        </a:rPr>
                        <a:t>Consultant Notification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Manager Database, Submission Status, Rating Value, Rating Action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person, activity, opportunity, request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aligned to the CRM</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covers FINOS FDC3, GIPS, MiFID II Art 16(7), the DOL QDIA regulation, ILPA DDQ and Mercer.</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(78 of 258) align to a CRM reference model,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80</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about one in three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External parties, advisors, consultants, plans, accounts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and account references. Unmatched emails are held only until they are matched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 identity, employment and line management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 profile: sales role, CRM user, team membership and pairing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Strategies, products, share classes and models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products discussed, proposed, rated or in scope of an RFP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Campaigns, events, leads and content assets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salesperson's use of an asset, and the originating lead or campaign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Agreements, shelf status and partner research ratings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placement pursuit, with a reference to the resulting shelf status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Actual flows, funded assets and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Expected amount, revenue and funding date; a baseline AUM copy on plans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coverage, goals, quotas and crediting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territory on each activity, and references to goals and crediting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Licenses, approvals, gifts and the communications archive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license reference, a registered flag and a pointer to the archive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181 attributes mastered, 77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181</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258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71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21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prospect or client, external participants, consultants, platforms, plans, competitors and stakeholders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18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 behind every sales profile, owner, participant, team member, SME and approver role</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11 references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Products discussed, proposed, rated, reviewed or in scope, the target model and the linked GIPS composite</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Marketing &amp; Digital</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 1 copy</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Campaigns, events, leads and content assets; the audience type of an asset when it was used</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3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Licenses, compliance reviews and approvals, gifts and entertainment; registered flag and archive pointer</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7 references, 2 copies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Territory, goals and crediting rules; agreements and shelf status; competitor product; baseline AUM</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9 attributes in 5 other domains reference an activity, opportunity, forecast or DDQ response mastered here.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14</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3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4 high, 2 medium, 5 low priority</a:t>
            </a:r>
            <a:endParaRPr lang="en-US" sz="1200" dirty="0"/>
          </a:p>
        </p:txBody>
      </p:sp>
      <p:sp>
        <p:nvSpPr>
          <p:cNvPr id="11" name="Shape 8"/>
          <p:cNvSpPr/>
          <p:nvPr/>
        </p:nvSpPr>
        <p:spPr>
          <a:xfrm>
            <a:off x="3840480" y="1783080"/>
            <a:ext cx="7799832" cy="621792"/>
          </a:xfrm>
          <a:prstGeom prst="roundRect">
            <a:avLst>
              <a:gd name="adj" fmla="val 11765"/>
            </a:avLst>
          </a:prstGeom>
          <a:solidFill>
            <a:schemeClr val="bg2"/>
          </a:solidFill>
          <a:ln/>
        </p:spPr>
      </p:sp>
      <p:sp>
        <p:nvSpPr>
          <p:cNvPr id="12" name="Text 9"/>
          <p:cNvSpPr/>
          <p:nvPr/>
        </p:nvSpPr>
        <p:spPr>
          <a:xfrm>
            <a:off x="3977640" y="19385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GAP-03-001</a:t>
            </a:r>
            <a:endParaRPr lang="en-US" sz="1200" dirty="0"/>
          </a:p>
        </p:txBody>
      </p:sp>
      <p:sp>
        <p:nvSpPr>
          <p:cNvPr id="14" name="Text 11"/>
          <p:cNvSpPr txBox="1"/>
          <p:nvPr/>
        </p:nvSpPr>
        <p:spPr>
          <a:xfrm>
            <a:off x="6126480" y="178308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Products Discussed can hold a strategy, product or share class but resolves to share class only (DP-010)</a:t>
            </a:r>
            <a:endParaRPr lang="en-US" sz="1200" dirty="0"/>
          </a:p>
        </p:txBody>
      </p:sp>
      <p:sp>
        <p:nvSpPr>
          <p:cNvPr id="15" name="Shape 12"/>
          <p:cNvSpPr/>
          <p:nvPr/>
        </p:nvSpPr>
        <p:spPr>
          <a:xfrm>
            <a:off x="3840480" y="2496312"/>
            <a:ext cx="7799832" cy="621792"/>
          </a:xfrm>
          <a:prstGeom prst="roundRect">
            <a:avLst>
              <a:gd name="adj" fmla="val 11765"/>
            </a:avLst>
          </a:prstGeom>
          <a:solidFill>
            <a:schemeClr val="bg2"/>
          </a:solidFill>
          <a:ln/>
        </p:spPr>
      </p:sp>
      <p:sp>
        <p:nvSpPr>
          <p:cNvPr id="16" name="Text 13"/>
          <p:cNvSpPr/>
          <p:nvPr/>
        </p:nvSpPr>
        <p:spPr>
          <a:xfrm>
            <a:off x="3977640" y="265176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496312"/>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GAP-03-002</a:t>
            </a:r>
            <a:endParaRPr lang="en-US" sz="1200" dirty="0"/>
          </a:p>
        </p:txBody>
      </p:sp>
      <p:sp>
        <p:nvSpPr>
          <p:cNvPr id="18" name="Text 15"/>
          <p:cNvSpPr txBox="1"/>
          <p:nvPr/>
        </p:nvSpPr>
        <p:spPr>
          <a:xfrm>
            <a:off x="6126480" y="2496312"/>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Consultant Rating cannot say whether a consultant recommends a strategy for a specific client (DP-003)</a:t>
            </a:r>
            <a:endParaRPr lang="en-US" sz="1200" dirty="0"/>
          </a:p>
        </p:txBody>
      </p:sp>
      <p:sp>
        <p:nvSpPr>
          <p:cNvPr id="19" name="Shape 16"/>
          <p:cNvSpPr/>
          <p:nvPr/>
        </p:nvSpPr>
        <p:spPr>
          <a:xfrm>
            <a:off x="3840480" y="3209544"/>
            <a:ext cx="7799832" cy="621792"/>
          </a:xfrm>
          <a:prstGeom prst="roundRect">
            <a:avLst>
              <a:gd name="adj" fmla="val 11765"/>
            </a:avLst>
          </a:prstGeom>
          <a:solidFill>
            <a:schemeClr val="bg2"/>
          </a:solidFill>
          <a:ln/>
        </p:spPr>
      </p:sp>
      <p:sp>
        <p:nvSpPr>
          <p:cNvPr id="20" name="Text 17"/>
          <p:cNvSpPr/>
          <p:nvPr/>
        </p:nvSpPr>
        <p:spPr>
          <a:xfrm>
            <a:off x="3977640" y="336499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3209544"/>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GAP-03-003</a:t>
            </a:r>
            <a:endParaRPr lang="en-US" sz="1200" dirty="0"/>
          </a:p>
        </p:txBody>
      </p:sp>
      <p:sp>
        <p:nvSpPr>
          <p:cNvPr id="22" name="Text 19"/>
          <p:cNvSpPr txBox="1"/>
          <p:nvPr/>
        </p:nvSpPr>
        <p:spPr>
          <a:xfrm>
            <a:off x="6126480" y="3209544"/>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Group-session rows that hold only an attendee count have no usable key (DP-010)</a:t>
            </a:r>
            <a:endParaRPr lang="en-US" sz="1200" dirty="0"/>
          </a:p>
        </p:txBody>
      </p:sp>
      <p:sp>
        <p:nvSpPr>
          <p:cNvPr id="23" name="Shape 20"/>
          <p:cNvSpPr/>
          <p:nvPr/>
        </p:nvSpPr>
        <p:spPr>
          <a:xfrm>
            <a:off x="3840480" y="3922776"/>
            <a:ext cx="7799832" cy="621792"/>
          </a:xfrm>
          <a:prstGeom prst="roundRect">
            <a:avLst>
              <a:gd name="adj" fmla="val 11765"/>
            </a:avLst>
          </a:prstGeom>
          <a:solidFill>
            <a:schemeClr val="bg2"/>
          </a:solidFill>
          <a:ln/>
        </p:spPr>
      </p:sp>
      <p:sp>
        <p:nvSpPr>
          <p:cNvPr id="24" name="Text 21"/>
          <p:cNvSpPr/>
          <p:nvPr/>
        </p:nvSpPr>
        <p:spPr>
          <a:xfrm>
            <a:off x="3977640" y="40782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922776"/>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GAP-03-004</a:t>
            </a:r>
            <a:endParaRPr lang="en-US" sz="1200" dirty="0"/>
          </a:p>
        </p:txBody>
      </p:sp>
      <p:sp>
        <p:nvSpPr>
          <p:cNvPr id="26" name="Text 23"/>
          <p:cNvSpPr txBox="1"/>
          <p:nvPr/>
        </p:nvSpPr>
        <p:spPr>
          <a:xfrm>
            <a:off x="6126480" y="3922776"/>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foundational product publishes Sales Opportunity, Sales Play or the gifts and entertainment item (DP-010)</a:t>
            </a:r>
            <a:endParaRPr lang="en-US" sz="1200" dirty="0"/>
          </a:p>
        </p:txBody>
      </p:sp>
      <p:sp>
        <p:nvSpPr>
          <p:cNvPr id="27" name="Shape 24"/>
          <p:cNvSpPr/>
          <p:nvPr/>
        </p:nvSpPr>
        <p:spPr>
          <a:xfrm>
            <a:off x="3840480" y="4636008"/>
            <a:ext cx="7799832" cy="621792"/>
          </a:xfrm>
          <a:prstGeom prst="roundRect">
            <a:avLst>
              <a:gd name="adj" fmla="val 11765"/>
            </a:avLst>
          </a:prstGeom>
          <a:solidFill>
            <a:schemeClr val="bg2"/>
          </a:solidFill>
          <a:ln/>
        </p:spPr>
      </p:sp>
      <p:sp>
        <p:nvSpPr>
          <p:cNvPr id="28" name="Text 25"/>
          <p:cNvSpPr/>
          <p:nvPr/>
        </p:nvSpPr>
        <p:spPr>
          <a:xfrm>
            <a:off x="3977640" y="479145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636008"/>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GAP-03-005</a:t>
            </a:r>
            <a:endParaRPr lang="en-US" sz="1200" dirty="0"/>
          </a:p>
        </p:txBody>
      </p:sp>
      <p:sp>
        <p:nvSpPr>
          <p:cNvPr id="30" name="Text 27"/>
          <p:cNvSpPr txBox="1"/>
          <p:nvPr/>
        </p:nvSpPr>
        <p:spPr>
          <a:xfrm>
            <a:off x="6126480" y="4636008"/>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Sales Opportunity has no created date and no link to the resulting mandate (DP-019, DP-086)</a:t>
            </a:r>
            <a:endParaRPr lang="en-US" sz="1200" dirty="0"/>
          </a:p>
        </p:txBody>
      </p:sp>
      <p:sp>
        <p:nvSpPr>
          <p:cNvPr id="31" name="Shape 28"/>
          <p:cNvSpPr/>
          <p:nvPr/>
        </p:nvSpPr>
        <p:spPr>
          <a:xfrm>
            <a:off x="3840480" y="5349240"/>
            <a:ext cx="7799832" cy="621792"/>
          </a:xfrm>
          <a:prstGeom prst="roundRect">
            <a:avLst>
              <a:gd name="adj" fmla="val 11765"/>
            </a:avLst>
          </a:prstGeom>
          <a:solidFill>
            <a:schemeClr val="bg2"/>
          </a:solidFill>
          <a:ln/>
        </p:spPr>
      </p:sp>
      <p:sp>
        <p:nvSpPr>
          <p:cNvPr id="32" name="Text 29"/>
          <p:cNvSpPr/>
          <p:nvPr/>
        </p:nvSpPr>
        <p:spPr>
          <a:xfrm>
            <a:off x="3977640" y="550468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534924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GAP-03-006</a:t>
            </a:r>
            <a:endParaRPr lang="en-US" sz="1200" dirty="0"/>
          </a:p>
        </p:txBody>
      </p:sp>
      <p:sp>
        <p:nvSpPr>
          <p:cNvPr id="34" name="Text 31"/>
          <p:cNvSpPr txBox="1"/>
          <p:nvPr/>
        </p:nvSpPr>
        <p:spPr>
          <a:xfrm>
            <a:off x="6126480" y="534924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object holds scoring model versions and weights, so scores cannot be traced to a model (DP-018, DP-046)</a:t>
            </a:r>
            <a:endParaRPr lang="en-US" sz="1200" dirty="0"/>
          </a:p>
        </p:txBody>
      </p:sp>
      <p:sp>
        <p:nvSpPr>
          <p:cNvPr id="35" name="Text 32"/>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CRM, calendar and conversation capture, the RFP platform and consultant database portals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facts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Activities are published once from DP-010 and pipeline once from DP-019, so scorecards, 360 views and forecasts count the same meetings and opportunities.</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88 proposed critical data elements and 9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CRM and RFP tools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Sales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DP-010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CRM,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activity into shared facts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DP-010</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Sales Activities &amp; Interactions</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CRM Product Owner</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Sales activity by participant. The activity header is one row per Activity ID, with bridge tables for participants and products.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54 of its 59 attributes come from 8 of this domain's 39 objects. The other 5 are the call frequency standard from Compensation &amp; Territory.</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ET on the next business day for activities logged by the end of the prior business day.</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All activities since 2015. Insert and update history is kept for seven years to support books-and-records review.</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personal data. Meeting Notes are kept out of the BI semantic model, and Confidentiality Type is honored on every delivery.</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15</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DP-010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18</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activity has an ID, type, start timestamp, status, owner and source system</a:t>
            </a:r>
            <a:endParaRPr lang="en-US" sz="1300" dirty="0"/>
          </a:p>
          <a:p>
            <a:pPr marL="177800" indent="-177800">
              <a:spcAft>
                <a:spcPts val="600"/>
              </a:spcAft>
              <a:buSzPct val="100000"/>
              <a:buChar char="•"/>
            </a:pPr>
            <a:r>
              <a:rPr lang="en-US" sz="1300" dirty="0">
                <a:solidFill>
                  <a:schemeClr val="tx1"/>
                </a:solidFill>
              </a:rPr>
              <a:t>Each source record loads to exactly one Activity ID</a:t>
            </a:r>
            <a:endParaRPr lang="en-US" sz="1300" dirty="0"/>
          </a:p>
          <a:p>
            <a:pPr marL="177800" indent="-177800">
              <a:spcAft>
                <a:spcPts val="600"/>
              </a:spcAft>
              <a:buSzPct val="100000"/>
              <a:buChar char="•"/>
            </a:pPr>
            <a:r>
              <a:rPr lang="en-US" sz="1300" dirty="0">
                <a:solidFill>
                  <a:schemeClr val="tx1"/>
                </a:solidFill>
              </a:rPr>
              <a:t>At least 95% of external participants on completed meetings resolve to a party</a:t>
            </a:r>
            <a:endParaRPr lang="en-US" sz="1300" dirty="0"/>
          </a:p>
          <a:p>
            <a:pPr marL="177800" indent="-177800">
              <a:spcAft>
                <a:spcPts val="600"/>
              </a:spcAft>
              <a:buSzPct val="100000"/>
              <a:buChar char="•"/>
            </a:pPr>
            <a:r>
              <a:rPr lang="en-US" sz="1300" dirty="0">
                <a:solidFill>
                  <a:schemeClr val="tx1"/>
                </a:solidFill>
              </a:rPr>
              <a:t>A recorded communication always carries a Communication Archive Reference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27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27</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25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39 of 39</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89%</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(230 of 258)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15</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27</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15 analytical, 7 operational, 3 regulatory and control, 1 master and reference,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DP-010</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Sales Activities &amp; Interactions</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 Strategy and Analytics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logged sales interaction with its participants, products discussed, content and outcome.</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55363"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54 of 59</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DP-017</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Advisor 360</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External Wholesaling</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current view of each advisor in the CRM: profile, holdings, activity, pipeline and shelf.</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314587"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25 of 109</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DP-092</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Institutional Client 360</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Institutional Sales</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current view of each institutional client: mandates, pipeline, RFPs, service and health.</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398505"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43 of 148</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DP-018</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Advisor Segmentation &amp; Prioritization</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Sales Operations, Strategy and Analytics</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monthly scored and tiered list of advisors that tells sales and marketing whom to prioritize.</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150312"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8 of 73</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DP-019</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Sales Pipeline &amp; Win/Loss</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Institutional Sales and Consultant Relations</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Open and closed opportunities with weekly snapshots, stage history, forecasts and win or loss.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1081825"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56 of 71</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DP-022</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Consultant Relations &amp; Manager Search</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Institutional Sales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workbench per consultant: ratings, research reviews, database submissions and searches.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797011"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43 of 74</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DP-023</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RFP &amp; DDQ Performance</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RFP, DDQ and Proposal Management</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RFP, RFI and DDQ volume, turnaround, on-time delivery, answer library reuse and outcomes.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29553"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42 of 51</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DP-046</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Next-Best-Action Recommendations</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Internal / Inside Sales</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ranked, explained list of the next actions each salesperson should take, written to the CRM.</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518984"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28 of 74</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DP-053</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Unified Engagement Timeline</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External Wholesaling</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date-ordered timeline of every sales, marketing and service touchpoint with a party.</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383241"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19 of 68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18 more rely on it for activity and pipeline</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Sales organization, territory and productivity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DP-009, DP-016,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roles, teams, memberships and pairings; completed activities and their external participants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Leadership and forecasting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Pipeline status and value, forecast submissions, pipeline snapshots and opportunity 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National accounts and platforms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 DP-021, DP-050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plans with objectives, actions and stakeholders; placement and model inclusion opportunities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Retirement and DCIO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DP-024,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DCIO line-up opportunities with their plan, recordkeeper and plan advisor, and win or loss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and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DP-026, DP-027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use of content assets, and the activities and opportunities that follow a lead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DP-038, DP-039, DP-078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roles and license references; activity capture source, recording flag and archive pointer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retention risk and onboarding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DP-030, DP-047, DP-086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Consultant ratings; recent activity with each advisor; won opportunity value and funding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6 products depend on this domain only through DP-010, without reading its attributes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Probability</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Pipeline Status: the likelihood of winning, defaulted from stage and overridable by the owner.</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DP-019</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Sales Pipeline &amp; Win/Loss weights each open opportunity and freezes a weekly snapshot of the pipeline.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SM-04</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Institutional &amp; Retirement model publishes Weighted Pipeline once, sourced from DP-019's latest snapshot.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REUSED BY</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DP-015 and SM-01</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executive dashboard reads Probability too. SM-01 references the SM-04 metric, not a second copy.</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“What is our weighted pipeline and win rate by sales channel this quarter?”</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Weighted Pipeline  =  sum of Expected Amount x Probability over open opportunities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No foundational product publishes opportunities (GAP-03-004), so the path starts at DP-019. Probability follows the stage standard unless overridden.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Four revenue definitions. Proposed: qualify the Sales term as Expected Annual Revenue (Pipeline Estimate).</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CD-020</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Morningstar and other published ratings. Proposed: Market &amp; Competitive Intelligence; Sales keeps consultant ratings.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CD-035</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normalized shelf status and research rating scale. Recommended: National Accounts; Sales references the shelf record.</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GAP-03-004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DP-010 publishes Sales Opportunity and Sales Play, or references the DP-019 and DP-046 entities as keys.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stage, activity type, win and loss reason and role lists with one leader per channel</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interfaces: party matching for participants, coverage to activity territory, placement to shelf status, archive and approvals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each attribute to the actual CRM and RFP-platform field, and confirm Salesforce field names against a live schema (Phase D)</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88 proposed critical data elements with Sales Operations and Distribution Analytics, and profile activity-to-party match rates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11 open gaps, starting with the four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taxonomy walkthrough</dc:title>
  <dc:subject>PptxGenJS Presentation</dc:subject>
  <dc:creator>Distribution Data Taxonomy Program</dc:creator>
  <cp:lastModifiedBy>Distribution Data Taxonomy Program</cp:lastModifiedBy>
  <cp:revision>1</cp:revision>
  <dcterms:created xsi:type="dcterms:W3CDTF">2026-10-05T13:40:27Z</dcterms:created>
  <dcterms:modified xsi:type="dcterms:W3CDTF">2026-10-05T13:40:27Z</dcterms:modified>
</cp:coreProperties>
</file>