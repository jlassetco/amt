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26c6ef9-b020-4a78-b006-6154361f4c75}">
          <p14:sldIdLst>
            <p14:sldId id="256"/>
            <p14:sldId id="257"/>
            <p14:sldId id="258"/>
            <p14:sldId id="259"/>
          </p14:sldIdLst>
        </p14:section>
        <p14:section name="What is included" id="{0a2ee3e8-5383-b5db-94b4-0fa24fc99419}">
          <p14:sldIdLst>
            <p14:sldId id="260"/>
            <p14:sldId id="261"/>
            <p14:sldId id="262"/>
            <p14:sldId id="263"/>
            <p14:sldId id="264"/>
          </p14:sldIdLst>
        </p14:section>
        <p14:section name="What is excluded" id="{76b754cd-430c-80d9-d8b1-dfa889ec2e65}">
          <p14:sldIdLst>
            <p14:sldId id="265"/>
            <p14:sldId id="266"/>
            <p14:sldId id="267"/>
          </p14:sldIdLst>
        </p14:section>
        <p14:section name="How it is used" id="{57fb3ac2-51e0-5c13-9cae-8068f272fd0e}">
          <p14:sldIdLst>
            <p14:sldId id="268"/>
            <p14:sldId id="269"/>
          </p14:sldIdLst>
        </p14:section>
        <p14:section name="Data products" id="{af5efd83-354c-242f-a660-240a71333c31}">
          <p14:sldIdLst>
            <p14:sldId id="270"/>
            <p14:sldId id="271"/>
            <p14:sldId id="272"/>
            <p14:sldId id="273"/>
            <p14:sldId id="274"/>
          </p14:sldIdLst>
        </p14:section>
        <p14:section name="Next steps" id="{150b4727-69b9-f8e1-76aa-9011e96c8484}">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ISO 20022 fund messages</c:v>
                  </c:pt>
                  <c:pt idx="2">
                    <c:v>ICI flow definitions</c:v>
                  </c:pt>
                  <c:pt idx="3">
                    <c:v>DTCC services</c:v>
                  </c:pt>
                  <c:pt idx="4">
                    <c:v>FINRA and SEC rules</c:v>
                  </c:pt>
                  <c:pt idx="5">
                    <c:v>Other standards and vendors</c:v>
                  </c:pt>
                </c:lvl>
              </c:multiLvlStrCache>
            </c:multiLvlStrRef>
          </c:cat>
          <c:val>
            <c:numRef>
              <c:f>Sheet1!$B$2:$B$7</c:f>
              <c:numCache>
                <c:formatCode>General</c:formatCode>
                <c:ptCount val="6"/>
                <c:pt idx="0">
                  <c:v>198</c:v>
                </c:pt>
                <c:pt idx="1">
                  <c:v>13</c:v>
                </c:pt>
                <c:pt idx="2">
                  <c:v>10</c:v>
                </c:pt>
                <c:pt idx="3">
                  <c:v>10</c:v>
                </c:pt>
                <c:pt idx="4">
                  <c:v>9</c:v>
                </c:pt>
                <c:pt idx="5">
                  <c:v>16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39)</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39)</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Asset Measures</c:v>
                  </c:pt>
                  <c:pt idx="1">
                    <c:v>Measure Value</c:v>
                  </c:pt>
                  <c:pt idx="2">
                    <c:v>Distributor Hierarchy</c:v>
                  </c:pt>
                  <c:pt idx="3">
                    <c:v>Market &amp; Client Dimensions</c:v>
                  </c:pt>
                  <c:pt idx="4">
                    <c:v>Flow Measures</c:v>
                  </c:pt>
                  <c:pt idx="5">
                    <c:v>Position</c:v>
                  </c:pt>
                  <c:pt idx="6">
                    <c:v>Transaction</c:v>
                  </c:pt>
                </c:lvl>
              </c:multiLvlStrCache>
            </c:multiLvlStrRef>
          </c:cat>
          <c:val>
            <c:numRef>
              <c:f>Sheet1!$B$2:$B$8</c:f>
              <c:numCache>
                <c:formatCode>General</c:formatCode>
                <c:ptCount val="7"/>
                <c:pt idx="0">
                  <c:v>24</c:v>
                </c:pt>
                <c:pt idx="1">
                  <c:v>19</c:v>
                </c:pt>
                <c:pt idx="2">
                  <c:v>18</c:v>
                </c:pt>
                <c:pt idx="3">
                  <c:v>17</c:v>
                </c:pt>
                <c:pt idx="4">
                  <c:v>17</c:v>
                </c:pt>
                <c:pt idx="5">
                  <c:v>12</c:v>
                </c:pt>
                <c:pt idx="6">
                  <c:v>11</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Sales Transactions &amp; AUM Attribution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Sales Transactions &amp; AUM Attribution answers who sold what, where, and how much AUM sits with each firm, office, advisor, territory, plan and institution. It holds transactions and positions as each source delivered them, the matching of source codes to parties, the attribution of every amount, and one certified definition of gross sales, net flows and AUM. Parties, products, agreements and crediting rules are left to their owning domains and referenced by ID. 47 of the 92 specified data products read the domain directly, and 64 of the other 89 depend on one of its three foundational products,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Sales Transactions &amp; AUM Attribution is one of 14 domains, with 8 families, 39 objects and 256 attributes. The purple text shows the path to one attribute, Unattributed Amount, which we follow to an answer near the end of the deck. For every attribute the taxonomy records its meaning and its owner. In this domain that matters more than usual: transactions and positions are high-volume data, and the taxonomy defines their grain, keys and reference attributes. It does not hold the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reads left to right. Each data feed delivers loads of transactions and positions, which are kept as delivered with the dealer, branch and rep codes the source reported. Three things then happen to every record. Identity resolution maps the delivered codes to parties and accounts mastered in Client &amp; Customer. An attribution record splits the amount across firm, office, advisor, territory and channel, with a method and a confidence. Anything that cannot be attributed is held in suspense as an unattributed item. Attributed records are then aggregated by the certified measure definitions into month-end snapshots that are locked and, where needed, restated.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which is transactions, positions and their attribution; the families that turn a raw feed into a trusted record, which are feeds, identity resolution and reconciliation; and the certified numbers, which are the measure definitions and the snapshots that lock them.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spine families hold 124 of the 256 attributes. Transactions is the largest family, with 57 attributes. It holds every purchase, redemption, exchange and transfer as received, including ETF creations and SMA flows, and keeps the delivered dealer, branch and rep codes beside the resolved party IDs. Positions and Holdings holds point-in-time holdings from each source, including omnibus look-through, ETF holdings by broker and plan-level retirement assets. Attribution splits each transaction or position amount across the distributor hierarchy, territory and channel, records the method and confidence, and holds what cannot be attributed in suspense. Business objects, in bold, have their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74 attributes. Data Sources and Feeds is the master of every feed that delivers transactions, positions or attribution detail, with its type, grain, coverage and precedence rank, and a record of each file load. Identity Resolution and Rep Matching holds the feed-specific crosswalk from delivered firm, branch and rep codes to the parties and accounts mastered in Client &amp; Customer, with the match rules and the outcome of each match. Data Quality and Reconciliation holds what is reconciled to what, at which tolerance, the breaks that fall outside tolerance, and the data quality rules and their results. Together these let anyone trace an attributed number back to the file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58 attributes. Flow and AUM Measures defines each measure once: gross sales, redemptions, net exchanges, net flows, beginning and ending AUM, market movement, average AUM and organic growth rate. Each definition carries a formula, the transaction types included and excluded, and its alignment to the ICI and EFAMA industry definitions. The points where firms differ, such as reinvestments, exchanges, same-owner transfers and share class conversions, are explicit Flow Treatment Rules and are not hidden in formulas. Reporting Periods, Snapshots and Restatements holds the reporting calendar, the locked month-end versions of results, and every governed change after lock, with its net impact and a flag for compensation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58 of the 256 attributes, 23 percent, align to an external standard, rule or industry definition. ISO 20022 investment fund messages are the largest external source with 13 attributes, followed by the ICI flow definitions with 10 and the DTCC services with 10. 198 attributes are firm-defined. That is high because attribution, rep matching, reconciliation, snapshots and restatements are the firm's own processes and no authoritative external definition exists for them. 73 attributes take their values from a controlled code list, and 82 are proposed critical data elements. DTCC record layouts and vendor data dictionaries are licensed or behind a member login, so they were not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says what was transacted, what is held and who it is attributed to. It deliberately leaves out who the parties are, what the products are and how salespeople are paid. This table shows where each excluded subject lives and the small amount this domain keeps so that it can point to it. Three boundaries are worth calling out. Client &amp; Customer owns the party master and authoritative identifiers, while the feed-specific crosswalk is here. Compensation &amp; Territory owns crediting rules and payouts, while this domain records the rule applied and the result. Distribution Agreements &amp; Partners owns trails and other partner payments, while only the transaction-level sales charge and dealer concession are kept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204 of the 256 are mastered in this domain. 39 are references, which hold only the ID of a record mastered in another domain, and 13 are derived copies. Client &amp; Customer supplies by far the most, 24 references and 9 copies, because every transaction and position has to point to an account and a resolved firm, office or advisor, and the delivered dealer and rep codes are kept as copies for lineage. In the other direction, 28 attributes in 10 other domains reference a record mastered here.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20 gaps against this domain. Six are resolved. Fourteen are open, all proposed and waiting for a decision: seven high priority, one medium and six low. The seven shown here are the high-priority ones. They share a theme, which is lineage. A reporting-currency amount does not say which FX rate type was used, a position does not name its load or say whether its source was the one selected, and an attribution does not name the crosswalk entry that resolved the rep.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sales data source is mapped to: transfer agent files, NSCC services, intermediary and platform feeds, recordkeeper files and aggregator data. That mapping to the firm's actual feeds and layouts is Phase D and has not been done. Second, it is the bill of materials for data products: each product lists the exact attributes it uses, and the build fails if one does not exist. Third, where other domains publish shared dimensions, this domain publishes the certified measures: gross sales, redemptions, net flows and AUM are defined once and every semantic model takes them from SM-01. Fourth, the ownership flags, the 82 proposed critical data elements and the 7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three foundational products, and they build on each other. DP-006, Attributed Transactions, is the single transaction-level fact: every transaction from every feed, de-duplicated, corrected for cancels and attributed. DP-007, Attributed Positions and AUM, does the same for holdings, choosing one position source per account under a precedence rule. Both refresh daily. DP-008, Certified Flows and AUM, reads the other two, applies the measure definitions once and locks a monthly snapshot by business day 8. 35 products name DP-008 as a direct upstream, 31 name DP-007 and 21 name DP-006. Taken together, 64 of the other 89 products depend on at least one of the three,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 of the 92 specified data products list objects from this domain among their inputs: 5 foundational and 42 consumer-aligned. Every one of the 39 objects is used by at least one product, and 235 of the 256 attributes, 92 percent, appear in a product specification. The most used objects are the certified ones. Asset Measures is read by 24 products and Measure Value by 19, followed by the attribution dimensions, Distributor Hierarchy with 18 and Market and Client Dimensions with 17. Raw Position and Transaction are read by 12 and 11. Analytical products are the largest group with 22, which reflects how many scorecards and analyses start from flows and 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data products have this domain as their owning domain. The first three are the foundational products: attributed transactions, attributed positions and AUM, and the certified flows and AUM that are locked each month. The bar on the right shows how many of each product's input attributes come from this domain. For the foundational products it is nearly all of them: 99 of 102, 75 of 88 and 63 of 66. The rest are references to parties, products and reference data conformed by other foundational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seven are consumer-aligned. The Distribution Executive Dashboard gives leadership one set of certified numbers against plan and industry. DCIO Plan and Recordkeeper Insight and Product Sales Performance serve the retirement and product teams. Distribution Data Quality and Attribution Health tells stewards where to act, and tells sales compensation how far to rely on a period's numbers; 84 of its 91 attributes come from this domain. Advisor Redemption Risk, Sales Flow Forecast and End-Investor Look-Through Insights are analytical products that draw most of their other inputs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37 products are owned by other domains but read attributes from this domain directly. They are grouped here by the business function they serve. Most take certified measures and the attribution dimensions. The compliance and investor servicing products are different: they read raw transactions and positions. Frequent Trading and Market Timing Surveillance takes 33 attributes and Share Class Eligibility and Breakpoint Monitoring takes 29, mostly transaction, sales charge and position detail. Beyond these, 21 more products depend on the domain only through DP-006, DP-007 or DP-008,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Unattributed Amount is defined once, in the Unattributed Item object: the amount that could not be attributed below a given level, held with a reason and the level at which resolution stopped. DP-006 attributes every transaction and keeps the remainder in suspense, under the rule that attributed plus unattributed equals the source amount. DP-045 turns that into an attribution rate and a suspense balance by age for data stewards. The semantic model SM-01 reads the amount from DP-006 and publishes it as a governed metric, so the same definition answers the question in a dashboard or through an AI assistant. Note the boundary: the suspense territory itself is mastered in Compensation &amp;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all waiting on subject matter experts. The most important is which net-flow definition is certified, including how reinvestments, exchanges, same-owner transfers and conversions are treated, because goals, credit, forecasts and marketing influence all reference it. The second is who owns rep matching and the crosswalk. The third is the hand-off contract to crediting and the restatement cut-off relative to compensation close. The fourth is whether model-delivery assets are AUM or AUA. The next steps on the right come from the taxonomy's own plan: certify the measures with Finance, inventory and map the feeds, obtain the DTCC layouts, settle the boundaries with neighboring domains, and set quality rules while triaging the 14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Sales Transactions &amp; AUM Attribution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SALES TRANSACTIONS &amp; AUM ATTRIBUTION</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Sales Transactions &amp; AUM Attribution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Transaction, Position</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each source delivered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Attribution</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and where it is credited to</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Certified Measure</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The numbers everyone reports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who sold what,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39</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256</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82</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Transactions and positions as each source delivered them, the feeds that carry them, the matching of source codes to parties, attribution to firm, office, advisor and territory, and certified flow and AUM measures.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parties, accounts and distributor hierarchy themselves, products and fee rates, selling and data agreements, partner payments, territories, crediting rules and payouts, and campaign attribution.</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transfer agent, intermediary, platform and aggregator feeds, the bill of materials for data products, and the one certified definition of gross sales, net flows and AUM.</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47 of the 92 data products read it directly. 64 of the other 89 depend on its foundational products, DP-006, DP-007 and DP-008.</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Sales Transactions &amp; AUM Attribution</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Attribution</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39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Unattributed Item</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256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Unattributed Amount</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transaction, position, measure or feed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feed to measure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ARRIVED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WHO IT BELONGS TO</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IS REPORTED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Transaction and Position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One record per source, keyed TXN- and POS-</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Data Feed and Load</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Where each record came from, keyed FEED-</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Kept as delivered, with the source codes beside the resolved IDs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Attribution Record</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Split by firm, office, advisor, territory</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Identifier Crosswalk</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Source codes matched to parties and accounts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Unattributed Item</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Held in suspense with a reason</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Measure Value and Snapshot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Certified, locked, restated if needed</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Measure definitions aggregate attributed records by period into snapshots that are locked at month-end.</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Every dollar is accounted for: attributed plus unattributed always equals the source total. Each attribution carries a method and a confidence, so estimates and allocations are never mixed silently with actuals.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22 objects  |  124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Transactions</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10 objects  |  57 attributes  |  17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Positions &amp; Holdings</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27 attributes  |  11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Attribution</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40 attributes  |  13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From raw feed to trusted record</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9 objects  |  74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Sources &amp; Feeds</a:t>
            </a:r>
            <a:endParaRPr lang="en-US" sz="1300" dirty="0"/>
          </a:p>
        </p:txBody>
      </p:sp>
      <p:sp>
        <p:nvSpPr>
          <p:cNvPr id="22" name="Text 19"/>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27 attributes  |  8 critical</a:t>
            </a:r>
            <a:endParaRPr lang="en-US" sz="11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Identity Resolution &amp; Rep Matching</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22 attributes  |  3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Quality &amp; Reconciliation</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certified numbers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8 objects  |  58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Flow &amp; AUM Measures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42 attributes  |  18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47288"/>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Reporting Periods, Snapshots &amp; Restatements</a:t>
            </a:r>
            <a:endParaRPr lang="en-US" sz="1000" dirty="0"/>
          </a:p>
        </p:txBody>
      </p:sp>
      <p:sp>
        <p:nvSpPr>
          <p:cNvPr id="37" name="Text 34"/>
          <p:cNvSpPr txBox="1"/>
          <p:nvPr/>
        </p:nvSpPr>
        <p:spPr>
          <a:xfrm>
            <a:off x="8311896" y="3794760"/>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3 objects  |  16 attributes  |  6 critical</a:t>
            </a:r>
            <a:endParaRPr lang="en-US" sz="1000" dirty="0"/>
          </a:p>
        </p:txBody>
      </p:sp>
      <p:sp>
        <p:nvSpPr>
          <p:cNvPr id="38" name="Text 35"/>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what was sold, held and credited</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Transactions</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10 objects  |  57 attributes  |  17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Every purchase, redemption, exchange and transfer as received, with source codes kept beside the resolved IDs.</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Transaction, </a:t>
            </a:r>
            <a:pPr indent="0" marL="0">
              <a:buNone/>
            </a:pPr>
            <a:r>
              <a:rPr lang="en-US" sz="1300" dirty="0">
                <a:solidFill>
                  <a:schemeClr val="tx1"/>
                </a:solidFill>
              </a:rPr>
              <a:t>Transaction Amounts, </a:t>
            </a:r>
            <a:pPr indent="0" marL="0">
              <a:buNone/>
            </a:pPr>
            <a:r>
              <a:rPr lang="en-US" sz="1300" dirty="0">
                <a:solidFill>
                  <a:schemeClr val="tx1"/>
                </a:solidFill>
              </a:rPr>
              <a:t>Transaction Sales Charge, </a:t>
            </a:r>
            <a:pPr indent="0" marL="0">
              <a:buNone/>
            </a:pPr>
            <a:r>
              <a:rPr lang="en-US" sz="1300" dirty="0">
                <a:solidFill>
                  <a:schemeClr val="tx1"/>
                </a:solidFill>
              </a:rPr>
              <a:t>Intermediary As Delivered, </a:t>
            </a:r>
            <a:pPr indent="0" marL="0">
              <a:buNone/>
            </a:pPr>
            <a:r>
              <a:rPr lang="en-US" sz="1300" dirty="0">
                <a:solidFill>
                  <a:schemeClr val="tx1"/>
                </a:solidFill>
              </a:rPr>
              <a:t>Linked Transaction, </a:t>
            </a:r>
            <a:pPr indent="0" marL="0">
              <a:buNone/>
            </a:pPr>
            <a:r>
              <a:rPr lang="en-US" sz="1300" dirty="0">
                <a:solidFill>
                  <a:schemeClr val="tx1"/>
                </a:solidFill>
              </a:rPr>
              <a:t>Transaction Status, </a:t>
            </a:r>
            <a:pPr indent="0" marL="0">
              <a:buNone/>
            </a:pPr>
            <a:r>
              <a:rPr lang="en-US" sz="1300" dirty="0">
                <a:solidFill>
                  <a:schemeClr val="tx1"/>
                </a:solidFill>
              </a:rPr>
              <a:t>and 4 more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Transaction Type, Trade Date, Gross Amount, Representative Number, Same-Owner Indicator</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Positions &amp; Holdings</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5 objects  |  27 attributes  |  11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Point-in-time holdings by account, omnibus sub-account, ETF custodian, retirement plan and sponsor program.</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Position, </a:t>
            </a:r>
            <a:pPr indent="0" marL="0">
              <a:buNone/>
            </a:pPr>
            <a:r>
              <a:rPr lang="en-US" sz="1300" dirty="0">
                <a:solidFill>
                  <a:schemeClr val="tx1"/>
                </a:solidFill>
              </a:rPr>
              <a:t>Omnibus Look-Through, </a:t>
            </a:r>
            <a:pPr indent="0" marL="0">
              <a:buNone/>
            </a:pPr>
            <a:r>
              <a:rPr lang="en-US" sz="1300" dirty="0">
                <a:solidFill>
                  <a:schemeClr val="tx1"/>
                </a:solidFill>
              </a:rPr>
              <a:t>ETF Holding, </a:t>
            </a:r>
            <a:pPr indent="0" marL="0">
              <a:buNone/>
            </a:pPr>
            <a:r>
              <a:rPr lang="en-US" sz="1300" dirty="0">
                <a:solidFill>
                  <a:schemeClr val="tx1"/>
                </a:solidFill>
              </a:rPr>
              <a:t>Plan Position, </a:t>
            </a:r>
            <a:pPr indent="0" marL="0">
              <a:buNone/>
            </a:pPr>
            <a:r>
              <a:rPr lang="en-US" sz="1300" dirty="0">
                <a:solidFill>
                  <a:schemeClr val="tx1"/>
                </a:solidFill>
              </a:rPr>
              <a:t>Sponsor-Reported Assets</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Valuation Date, Market Value, Look-Through Coverage %, ETF Shares Held</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Attribution</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7 objects  |  40 attributes  |  13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split of each amount across firm, office, advisor, territory and channel, with method and confidence.</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Attribution Record, </a:t>
            </a:r>
            <a:pPr indent="0" marL="0">
              <a:buNone/>
            </a:pPr>
            <a:r>
              <a:rPr lang="en-US" sz="1300" dirty="0">
                <a:solidFill>
                  <a:schemeClr val="tx1"/>
                </a:solidFill>
              </a:rPr>
              <a:t>Distributor Hierarchy, </a:t>
            </a:r>
            <a:pPr indent="0" marL="0">
              <a:buNone/>
            </a:pPr>
            <a:r>
              <a:rPr lang="en-US" sz="1300" dirty="0">
                <a:solidFill>
                  <a:schemeClr val="tx1"/>
                </a:solidFill>
              </a:rPr>
              <a:t>Market &amp; Client Dimensions, </a:t>
            </a:r>
            <a:pPr indent="0" marL="0">
              <a:buNone/>
            </a:pPr>
            <a:r>
              <a:rPr lang="en-US" sz="1300" dirty="0">
                <a:solidFill>
                  <a:schemeClr val="tx1"/>
                </a:solidFill>
              </a:rPr>
              <a:t>Salesperson Credit, </a:t>
            </a:r>
            <a:pPr indent="0" marL="0">
              <a:buNone/>
            </a:pPr>
            <a:r>
              <a:rPr lang="en-US" sz="1300" dirty="0">
                <a:solidFill>
                  <a:schemeClr val="tx1"/>
                </a:solidFill>
              </a:rPr>
              <a:t>Attribution Method, </a:t>
            </a:r>
            <a:pPr indent="0" marL="0">
              <a:buNone/>
            </a:pPr>
            <a:r>
              <a:rPr lang="en-US" sz="1300" dirty="0">
                <a:solidFill>
                  <a:schemeClr val="tx1"/>
                </a:solidFill>
              </a:rPr>
              <a:t>Unattributed Item, </a:t>
            </a:r>
            <a:pPr indent="0" marL="0">
              <a:buNone/>
            </a:pPr>
            <a:r>
              <a:rPr lang="en-US" sz="1300" b="1" dirty="0">
                <a:solidFill>
                  <a:schemeClr val="tx1"/>
                </a:solidFill>
              </a:rPr>
              <a:t>Attribution Override</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Attributed Amount, Attribution Method, Match Confidence Band, Unattributed Amount</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transaction, position, record or measure.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From raw feed to trusted record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Data Sources &amp; Feeds</a:t>
                      </a:r>
                      <a:endParaRPr lang="en-US" sz="1200" dirty="0"/>
                    </a:p>
                    <a:p>
                      <a:pPr indent="0" marL="0">
                        <a:buNone/>
                      </a:pPr>
                      <a:r>
                        <a:rPr lang="en-US" sz="1100" dirty="0">
                          <a:solidFill>
                            <a:schemeClr val="tx2"/>
                          </a:solidFill>
                        </a:rPr>
                        <a:t>2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Every feed that delivers transactions or positions, and each file load received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Data Feed, </a:t>
                      </a:r>
                      <a:pPr indent="0" marL="0">
                        <a:buNone/>
                      </a:pPr>
                      <a:r>
                        <a:rPr lang="en-US" sz="1200" b="1" dirty="0">
                          <a:solidFill>
                            <a:schemeClr val="tx1"/>
                          </a:solidFill>
                        </a:rPr>
                        <a:t>Load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Feed Type, Feed Grain, Source Precedence Rank, Business Date, Completeness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Identity Resolution &amp; Rep Matching</a:t>
                      </a:r>
                      <a:endParaRPr lang="en-US" sz="1200" dirty="0"/>
                    </a:p>
                    <a:p>
                      <a:pPr indent="0" marL="0">
                        <a:buNone/>
                      </a:pPr>
                      <a:r>
                        <a:rPr lang="en-US" sz="1100" dirty="0">
                          <a:solidFill>
                            <a:schemeClr val="tx2"/>
                          </a:solidFill>
                        </a:rPr>
                        <a:t>3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crosswalk from delivered firm and rep codes to parties, with match rules and results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Identifier Crosswalk, </a:t>
                      </a:r>
                      <a:pPr indent="0" marL="0">
                        <a:buNone/>
                      </a:pPr>
                      <a:r>
                        <a:rPr lang="en-US" sz="1200" b="1" dirty="0">
                          <a:solidFill>
                            <a:schemeClr val="tx1"/>
                          </a:solidFill>
                        </a:rPr>
                        <a:t>Match Rule, </a:t>
                      </a:r>
                      <a:pPr indent="0" marL="0">
                        <a:buNone/>
                      </a:pPr>
                      <a:r>
                        <a:rPr lang="en-US" sz="1200" dirty="0">
                          <a:solidFill>
                            <a:schemeClr val="tx1"/>
                          </a:solidFill>
                        </a:rPr>
                        <a:t>Match Result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Source Identifier Value, Resolved Party, Auto-Accept Threshold, Match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Data Quality &amp; Reconciliation</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Reconciliations between sources and attributed totals, breaks, and data quality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Reconciliation, </a:t>
                      </a:r>
                      <a:pPr indent="0" marL="0">
                        <a:buNone/>
                      </a:pPr>
                      <a:r>
                        <a:rPr lang="en-US" sz="1200" dirty="0">
                          <a:solidFill>
                            <a:schemeClr val="tx1"/>
                          </a:solidFill>
                        </a:rPr>
                        <a:t>Reconciliation Run, </a:t>
                      </a:r>
                      <a:pPr indent="0" marL="0">
                        <a:buNone/>
                      </a:pPr>
                      <a:r>
                        <a:rPr lang="en-US" sz="1200" b="1" dirty="0">
                          <a:solidFill>
                            <a:schemeClr val="tx1"/>
                          </a:solidFill>
                        </a:rPr>
                        <a:t>Break, </a:t>
                      </a:r>
                      <a:pPr indent="0" marL="0">
                        <a:buNone/>
                      </a:pPr>
                      <a:r>
                        <a:rPr lang="en-US" sz="1200" b="1" dirty="0">
                          <a:solidFill>
                            <a:schemeClr val="tx1"/>
                          </a:solidFill>
                        </a:rPr>
                        <a:t>DQ Rule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Reconciliation Type, Absolute Tolerance, Matched %, Break Status, DQ Result %</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transaction, position, record or measure.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certified numbers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Flow &amp; AUM Measures</a:t>
                      </a:r>
                      <a:endParaRPr lang="en-US" sz="1200" dirty="0"/>
                    </a:p>
                    <a:p>
                      <a:pPr indent="0" marL="0">
                        <a:buNone/>
                      </a:pPr>
                      <a:r>
                        <a:rPr lang="en-US" sz="1100" dirty="0">
                          <a:solidFill>
                            <a:schemeClr val="tx2"/>
                          </a:solidFill>
                        </a:rPr>
                        <a:t>5 objects  |  42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flow and AUM measure defined once, with its formula and the policy choices behind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Measure Definition, </a:t>
                      </a:r>
                      <a:pPr indent="0" marL="0">
                        <a:buNone/>
                      </a:pPr>
                      <a:r>
                        <a:rPr lang="en-US" sz="1200" dirty="0">
                          <a:solidFill>
                            <a:schemeClr val="tx1"/>
                          </a:solidFill>
                        </a:rPr>
                        <a:t>Flow Treatment Rule, </a:t>
                      </a:r>
                      <a:pPr indent="0" marL="0">
                        <a:buNone/>
                      </a:pPr>
                      <a:r>
                        <a:rPr lang="en-US" sz="1200" b="1" dirty="0">
                          <a:solidFill>
                            <a:schemeClr val="tx1"/>
                          </a:solidFill>
                        </a:rPr>
                        <a:t>Measure Value, </a:t>
                      </a:r>
                      <a:pPr indent="0" marL="0">
                        <a:buNone/>
                      </a:pPr>
                      <a:r>
                        <a:rPr lang="en-US" sz="1200" dirty="0">
                          <a:solidFill>
                            <a:schemeClr val="tx1"/>
                          </a:solidFill>
                        </a:rPr>
                        <a:t>Flow Measures, </a:t>
                      </a:r>
                      <a:pPr indent="0" marL="0">
                        <a:buNone/>
                      </a:pPr>
                      <a:r>
                        <a:rPr lang="en-US" sz="1200" dirty="0">
                          <a:solidFill>
                            <a:schemeClr val="tx1"/>
                          </a:solidFill>
                        </a:rPr>
                        <a:t>Asset Measures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Calculation Formula, Reinvestment Treatment, Net Flows (Net Sales), Ending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Reporting Periods, Snapshots &amp; Restatements</a:t>
                      </a:r>
                      <a:endParaRPr lang="en-US" sz="1200" dirty="0"/>
                    </a:p>
                    <a:p>
                      <a:pPr indent="0" marL="0">
                        <a:buNone/>
                      </a:pPr>
                      <a:r>
                        <a:rPr lang="en-US" sz="1100" dirty="0">
                          <a:solidFill>
                            <a:schemeClr val="tx2"/>
                          </a:solidFill>
                        </a:rPr>
                        <a:t>3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reporting calendar, locked month-end snapshots and governed restatements after lock</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Reporting Period, </a:t>
                      </a:r>
                      <a:pPr indent="0" marL="0">
                        <a:buNone/>
                      </a:pPr>
                      <a:r>
                        <a:rPr lang="en-US" sz="1200" b="1" dirty="0">
                          <a:solidFill>
                            <a:schemeClr val="tx1"/>
                          </a:solidFill>
                        </a:rPr>
                        <a:t>Snapshot, </a:t>
                      </a:r>
                      <a:pPr indent="0" marL="0">
                        <a:buNone/>
                      </a:pPr>
                      <a:r>
                        <a:rPr lang="en-US" sz="1200" b="1" dirty="0">
                          <a:solidFill>
                            <a:schemeClr val="tx1"/>
                          </a:solidFill>
                        </a:rPr>
                        <a:t>Restatement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Final Close Date, Snapshot Status, Net Impact Amount, Compensation Impact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transaction, position, record or measure.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anchored to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DTCC = Fund/SERV, Omni/SERV, Networking and DCC&amp;S. Other includes Broadridge, SS&amp;C DST, Morningstar, GIPS, EFAMA, MiFID II, ISO 4217 and FundsXML.</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23%</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(58 of 256) align to an external standard, rule or industry definition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for governance and data quality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accounts and the distributor hierarchy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and account IDs, plus dealer, branch and rep codes as delivered, kept for lineage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share classes, fee rates, model portfolios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 class, product and model IDs, and the product identifier as delivered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crediting rules, goals and payouts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crediting rule applied, the resulting territory and the credited salesperson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Selling and data agreements, partner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 charge and dealer concession on a transaction; an agreement ID on each feed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Industry flow benchmarks and market share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feeds and loads that bring in industry files. The benchmarks moved out in v0.2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Booked revenue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Estimated Management Fee Revenue, an analytic estimate and not a ledger figure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 influence on flows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Marketing attribution points to the attributed flow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licenses and permitted uses of vendor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copy of the license use restriction on each data feed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204 attributes mastered, 52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204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256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39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13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24 references, 9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Accounts, resolved firms, offices, advisors, plans and clients; dealer, branch and rep codes as delivered</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Share class, product and model portfolio; the product identifier as delivered</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Compensation &amp; Territory</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 2 copies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Territory, crediting rule applied and suspense territory; credit role and compensation cut-off date</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credited salesperson, and the employees who approve overrides, snapshots and restatements</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Sponsor program on an SMA flow; governing agreement on a data feed</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License use restriction on a data feed</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28 attributes in 10 other domains reference a transaction, position, measure or feed mastered here. Also excluded from every view: Record Metadata,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14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6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14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7 high, 1 medium, 6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GAP-06-004</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Reporting-currency amounts on transactions and positions do not name the FX rate type applied (DP-006, DP-007)</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GAP-06-005</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Restatement lists its affected periods as free text, so its impact cannot be traced to periods and snapshots (DP-008, DP-032)</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GAP-06-006</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Break does not name its reconciliation or run date; DQ results have no evaluation date or tested object (DP-075, DP-045)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GAP-06-007</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Nothing records which position source was selected under source precedence (DP-007)</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GAP-06-008</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Position does not reference the load that supplied it (DP-007)</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GAP-06-009</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Attribution does not record which crosswalk entry resolved the delivered rep and firm codes (DP-006)</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GAP-06-010</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Reporting Period has no start and end dates, and Snapshot does not name its reporting period (DP-008)</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Transfer agent, NSCC, intermediary, platform, recordkeeper and aggregator feeds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Certified measures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Gross sales, redemptions, net flows and AUM are defined once and published in SM-01 Distribution Performance. Every other semantic model takes its numbers from there.</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82 proposed critical data elements and 7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Transaction and position feeds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Transactions &amp; AUM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DP-006, DP-007, DP-008 foundational</a:t>
            </a:r>
            <a:endParaRPr lang="en-US" sz="11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turn the domain into facts</a:t>
            </a:r>
            <a:endParaRPr lang="en-US" sz="3600" dirty="0"/>
          </a:p>
        </p:txBody>
      </p:sp>
      <p:sp>
        <p:nvSpPr>
          <p:cNvPr id="5" name="Shape 2"/>
          <p:cNvSpPr/>
          <p:nvPr/>
        </p:nvSpPr>
        <p:spPr>
          <a:xfrm>
            <a:off x="548640" y="1783080"/>
            <a:ext cx="3511296" cy="3520440"/>
          </a:xfrm>
          <a:prstGeom prst="roundRect">
            <a:avLst>
              <a:gd name="adj" fmla="val 2083"/>
            </a:avLst>
          </a:prstGeom>
          <a:solidFill>
            <a:schemeClr val="bg2"/>
          </a:solidFill>
          <a:ln/>
        </p:spPr>
      </p:sp>
      <p:sp>
        <p:nvSpPr>
          <p:cNvPr id="6" name="Text 3"/>
          <p:cNvSpPr/>
          <p:nvPr/>
        </p:nvSpPr>
        <p:spPr>
          <a:xfrm>
            <a:off x="777240" y="1965960"/>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DP-006</a:t>
            </a:r>
            <a:endParaRPr lang="en-US" sz="1200" dirty="0"/>
          </a:p>
        </p:txBody>
      </p:sp>
      <p:sp>
        <p:nvSpPr>
          <p:cNvPr id="7" name="Text 4"/>
          <p:cNvSpPr txBox="1"/>
          <p:nvPr/>
        </p:nvSpPr>
        <p:spPr>
          <a:xfrm>
            <a:off x="777240"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Attributed Transactions</a:t>
            </a:r>
            <a:endParaRPr lang="en-US" sz="1600" dirty="0"/>
          </a:p>
        </p:txBody>
      </p:sp>
      <p:sp>
        <p:nvSpPr>
          <p:cNvPr id="8" name="Shape 5"/>
          <p:cNvSpPr/>
          <p:nvPr/>
        </p:nvSpPr>
        <p:spPr>
          <a:xfrm>
            <a:off x="777240" y="2971800"/>
            <a:ext cx="3054096" cy="0"/>
          </a:xfrm>
          <a:prstGeom prst="line">
            <a:avLst/>
          </a:prstGeom>
          <a:noFill/>
          <a:ln w="9525">
            <a:solidFill>
              <a:srgbClr val="D5D9E1"/>
            </a:solidFill>
            <a:prstDash val="solid"/>
          </a:ln>
        </p:spPr>
      </p:sp>
      <p:sp>
        <p:nvSpPr>
          <p:cNvPr id="9" name="Text 6"/>
          <p:cNvSpPr txBox="1"/>
          <p:nvPr/>
        </p:nvSpPr>
        <p:spPr>
          <a:xfrm>
            <a:off x="777240"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10" name="Text 7"/>
          <p:cNvSpPr txBox="1"/>
          <p:nvPr/>
        </p:nvSpPr>
        <p:spPr>
          <a:xfrm>
            <a:off x="777240"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transaction version, attributed hierarchy node and effective date</a:t>
            </a:r>
            <a:endParaRPr lang="en-US" sz="1200" dirty="0"/>
          </a:p>
        </p:txBody>
      </p:sp>
      <p:sp>
        <p:nvSpPr>
          <p:cNvPr id="11" name="Shape 8"/>
          <p:cNvSpPr/>
          <p:nvPr/>
        </p:nvSpPr>
        <p:spPr>
          <a:xfrm>
            <a:off x="777240" y="3739896"/>
            <a:ext cx="3054096" cy="0"/>
          </a:xfrm>
          <a:prstGeom prst="line">
            <a:avLst/>
          </a:prstGeom>
          <a:noFill/>
          <a:ln w="9525">
            <a:solidFill>
              <a:srgbClr val="D5D9E1"/>
            </a:solidFill>
            <a:prstDash val="solid"/>
          </a:ln>
        </p:spPr>
      </p:sp>
      <p:sp>
        <p:nvSpPr>
          <p:cNvPr id="12" name="Text 9"/>
          <p:cNvSpPr txBox="1"/>
          <p:nvPr/>
        </p:nvSpPr>
        <p:spPr>
          <a:xfrm>
            <a:off x="777240"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13" name="Text 10"/>
          <p:cNvSpPr txBox="1"/>
          <p:nvPr/>
        </p:nvSpPr>
        <p:spPr>
          <a:xfrm>
            <a:off x="777240"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99 of its 102 attributes come from 19 of this domain's 39 objects</a:t>
            </a:r>
            <a:endParaRPr lang="en-US" sz="1200" dirty="0"/>
          </a:p>
        </p:txBody>
      </p:sp>
      <p:sp>
        <p:nvSpPr>
          <p:cNvPr id="14" name="Shape 11"/>
          <p:cNvSpPr/>
          <p:nvPr/>
        </p:nvSpPr>
        <p:spPr>
          <a:xfrm>
            <a:off x="777240" y="4507992"/>
            <a:ext cx="3054096" cy="0"/>
          </a:xfrm>
          <a:prstGeom prst="line">
            <a:avLst/>
          </a:prstGeom>
          <a:noFill/>
          <a:ln w="9525">
            <a:solidFill>
              <a:srgbClr val="D5D9E1"/>
            </a:solidFill>
            <a:prstDash val="solid"/>
          </a:ln>
        </p:spPr>
      </p:sp>
      <p:sp>
        <p:nvSpPr>
          <p:cNvPr id="15" name="Text 12"/>
          <p:cNvSpPr txBox="1"/>
          <p:nvPr/>
        </p:nvSpPr>
        <p:spPr>
          <a:xfrm>
            <a:off x="777240"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16" name="Text 13"/>
          <p:cNvSpPr txBox="1"/>
          <p:nvPr/>
        </p:nvSpPr>
        <p:spPr>
          <a:xfrm>
            <a:off x="777240"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Attributed plus unattributed equals each transaction's reporting currency amount</a:t>
            </a:r>
            <a:endParaRPr lang="en-US" sz="1200" dirty="0"/>
          </a:p>
        </p:txBody>
      </p:sp>
      <p:sp>
        <p:nvSpPr>
          <p:cNvPr id="17" name="Shape 14"/>
          <p:cNvSpPr/>
          <p:nvPr/>
        </p:nvSpPr>
        <p:spPr>
          <a:xfrm>
            <a:off x="548640" y="5486400"/>
            <a:ext cx="3511296" cy="731520"/>
          </a:xfrm>
          <a:prstGeom prst="roundRect">
            <a:avLst>
              <a:gd name="adj" fmla="val 10000"/>
            </a:avLst>
          </a:prstGeom>
          <a:solidFill>
            <a:schemeClr val="tx1"/>
          </a:solidFill>
          <a:ln/>
        </p:spPr>
      </p:sp>
      <p:sp>
        <p:nvSpPr>
          <p:cNvPr id="18" name="Text 15"/>
          <p:cNvSpPr txBox="1"/>
          <p:nvPr/>
        </p:nvSpPr>
        <p:spPr>
          <a:xfrm>
            <a:off x="777240"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21</a:t>
            </a:r>
            <a:endParaRPr lang="en-US" sz="2800" dirty="0"/>
          </a:p>
        </p:txBody>
      </p:sp>
      <p:sp>
        <p:nvSpPr>
          <p:cNvPr id="19" name="Text 16"/>
          <p:cNvSpPr txBox="1"/>
          <p:nvPr/>
        </p:nvSpPr>
        <p:spPr>
          <a:xfrm>
            <a:off x="1508760"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DP-006 as a direct upstream</a:t>
            </a:r>
            <a:endParaRPr lang="en-US" sz="1200" dirty="0"/>
          </a:p>
        </p:txBody>
      </p:sp>
      <p:sp>
        <p:nvSpPr>
          <p:cNvPr id="20" name="Shape 17"/>
          <p:cNvSpPr/>
          <p:nvPr/>
        </p:nvSpPr>
        <p:spPr>
          <a:xfrm>
            <a:off x="4338828" y="1783080"/>
            <a:ext cx="3511296" cy="3520440"/>
          </a:xfrm>
          <a:prstGeom prst="roundRect">
            <a:avLst>
              <a:gd name="adj" fmla="val 2083"/>
            </a:avLst>
          </a:prstGeom>
          <a:solidFill>
            <a:schemeClr val="bg2"/>
          </a:solidFill>
          <a:ln/>
        </p:spPr>
      </p:sp>
      <p:sp>
        <p:nvSpPr>
          <p:cNvPr id="21" name="Text 18"/>
          <p:cNvSpPr/>
          <p:nvPr/>
        </p:nvSpPr>
        <p:spPr>
          <a:xfrm>
            <a:off x="4567428" y="1965960"/>
            <a:ext cx="914400" cy="347472"/>
          </a:xfrm>
          <a:prstGeom prst="roundRect">
            <a:avLst>
              <a:gd name="adj" fmla="val 15789"/>
            </a:avLst>
          </a:prstGeom>
          <a:solidFill>
            <a:schemeClr val="accent2"/>
          </a:solidFill>
          <a:ln/>
        </p:spPr>
        <p:txBody>
          <a:bodyPr wrap="square" lIns="0" tIns="0" rIns="0" bIns="0" rtlCol="0" anchor="ctr"/>
          <a:lstStyle/>
          <a:p>
            <a:pPr algn="ctr" indent="0" marL="0">
              <a:buNone/>
            </a:pPr>
            <a:r>
              <a:rPr lang="en-US" sz="1200" b="1" dirty="0">
                <a:solidFill>
                  <a:schemeClr val="bg1"/>
                </a:solidFill>
              </a:rPr>
              <a:t>DP-007</a:t>
            </a:r>
            <a:endParaRPr lang="en-US" sz="1200" dirty="0"/>
          </a:p>
        </p:txBody>
      </p:sp>
      <p:sp>
        <p:nvSpPr>
          <p:cNvPr id="22" name="Text 19"/>
          <p:cNvSpPr txBox="1"/>
          <p:nvPr/>
        </p:nvSpPr>
        <p:spPr>
          <a:xfrm>
            <a:off x="4567428"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Attributed Positions &amp; AUM</a:t>
            </a:r>
            <a:endParaRPr lang="en-US" sz="1600" dirty="0"/>
          </a:p>
        </p:txBody>
      </p:sp>
      <p:sp>
        <p:nvSpPr>
          <p:cNvPr id="23" name="Shape 20"/>
          <p:cNvSpPr/>
          <p:nvPr/>
        </p:nvSpPr>
        <p:spPr>
          <a:xfrm>
            <a:off x="4567428" y="2971800"/>
            <a:ext cx="3054096" cy="0"/>
          </a:xfrm>
          <a:prstGeom prst="line">
            <a:avLst/>
          </a:prstGeom>
          <a:noFill/>
          <a:ln w="9525">
            <a:solidFill>
              <a:srgbClr val="D5D9E1"/>
            </a:solidFill>
            <a:prstDash val="solid"/>
          </a:ln>
        </p:spPr>
      </p:sp>
      <p:sp>
        <p:nvSpPr>
          <p:cNvPr id="24" name="Text 21"/>
          <p:cNvSpPr txBox="1"/>
          <p:nvPr/>
        </p:nvSpPr>
        <p:spPr>
          <a:xfrm>
            <a:off x="4567428"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25" name="Text 22"/>
          <p:cNvSpPr txBox="1"/>
          <p:nvPr/>
        </p:nvSpPr>
        <p:spPr>
          <a:xfrm>
            <a:off x="4567428"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position, position source and attributed hierarchy node</a:t>
            </a:r>
            <a:endParaRPr lang="en-US" sz="1200" dirty="0"/>
          </a:p>
        </p:txBody>
      </p:sp>
      <p:sp>
        <p:nvSpPr>
          <p:cNvPr id="26" name="Shape 23"/>
          <p:cNvSpPr/>
          <p:nvPr/>
        </p:nvSpPr>
        <p:spPr>
          <a:xfrm>
            <a:off x="4567428" y="3739896"/>
            <a:ext cx="3054096" cy="0"/>
          </a:xfrm>
          <a:prstGeom prst="line">
            <a:avLst/>
          </a:prstGeom>
          <a:noFill/>
          <a:ln w="9525">
            <a:solidFill>
              <a:srgbClr val="D5D9E1"/>
            </a:solidFill>
            <a:prstDash val="solid"/>
          </a:ln>
        </p:spPr>
      </p:sp>
      <p:sp>
        <p:nvSpPr>
          <p:cNvPr id="27" name="Text 24"/>
          <p:cNvSpPr txBox="1"/>
          <p:nvPr/>
        </p:nvSpPr>
        <p:spPr>
          <a:xfrm>
            <a:off x="4567428"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28" name="Text 25"/>
          <p:cNvSpPr txBox="1"/>
          <p:nvPr/>
        </p:nvSpPr>
        <p:spPr>
          <a:xfrm>
            <a:off x="4567428"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75 of its 88 attributes come from 14 of this domain's 39 objects</a:t>
            </a:r>
            <a:endParaRPr lang="en-US" sz="1200" dirty="0"/>
          </a:p>
        </p:txBody>
      </p:sp>
      <p:sp>
        <p:nvSpPr>
          <p:cNvPr id="29" name="Shape 26"/>
          <p:cNvSpPr/>
          <p:nvPr/>
        </p:nvSpPr>
        <p:spPr>
          <a:xfrm>
            <a:off x="4567428" y="4507992"/>
            <a:ext cx="3054096" cy="0"/>
          </a:xfrm>
          <a:prstGeom prst="line">
            <a:avLst/>
          </a:prstGeom>
          <a:noFill/>
          <a:ln w="9525">
            <a:solidFill>
              <a:srgbClr val="D5D9E1"/>
            </a:solidFill>
            <a:prstDash val="solid"/>
          </a:ln>
        </p:spPr>
      </p:sp>
      <p:sp>
        <p:nvSpPr>
          <p:cNvPr id="30" name="Text 27"/>
          <p:cNvSpPr txBox="1"/>
          <p:nvPr/>
        </p:nvSpPr>
        <p:spPr>
          <a:xfrm>
            <a:off x="4567428"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31" name="Text 28"/>
          <p:cNvSpPr txBox="1"/>
          <p:nvPr/>
        </p:nvSpPr>
        <p:spPr>
          <a:xfrm>
            <a:off x="4567428"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position source is selected per account, share class and valuation date</a:t>
            </a:r>
            <a:endParaRPr lang="en-US" sz="1200" dirty="0"/>
          </a:p>
        </p:txBody>
      </p:sp>
      <p:sp>
        <p:nvSpPr>
          <p:cNvPr id="32" name="Shape 29"/>
          <p:cNvSpPr/>
          <p:nvPr/>
        </p:nvSpPr>
        <p:spPr>
          <a:xfrm>
            <a:off x="4338828" y="5486400"/>
            <a:ext cx="3511296" cy="731520"/>
          </a:xfrm>
          <a:prstGeom prst="roundRect">
            <a:avLst>
              <a:gd name="adj" fmla="val 10000"/>
            </a:avLst>
          </a:prstGeom>
          <a:solidFill>
            <a:schemeClr val="tx1"/>
          </a:solidFill>
          <a:ln/>
        </p:spPr>
      </p:sp>
      <p:sp>
        <p:nvSpPr>
          <p:cNvPr id="33" name="Text 30"/>
          <p:cNvSpPr txBox="1"/>
          <p:nvPr/>
        </p:nvSpPr>
        <p:spPr>
          <a:xfrm>
            <a:off x="4567428"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31</a:t>
            </a:r>
            <a:endParaRPr lang="en-US" sz="2800" dirty="0"/>
          </a:p>
        </p:txBody>
      </p:sp>
      <p:sp>
        <p:nvSpPr>
          <p:cNvPr id="34" name="Text 31"/>
          <p:cNvSpPr txBox="1"/>
          <p:nvPr/>
        </p:nvSpPr>
        <p:spPr>
          <a:xfrm>
            <a:off x="5298948"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DP-007 as a direct upstream</a:t>
            </a:r>
            <a:endParaRPr lang="en-US" sz="1200" dirty="0"/>
          </a:p>
        </p:txBody>
      </p:sp>
      <p:sp>
        <p:nvSpPr>
          <p:cNvPr id="35" name="Shape 32"/>
          <p:cNvSpPr/>
          <p:nvPr/>
        </p:nvSpPr>
        <p:spPr>
          <a:xfrm>
            <a:off x="8129016" y="1783080"/>
            <a:ext cx="3511296" cy="3520440"/>
          </a:xfrm>
          <a:prstGeom prst="roundRect">
            <a:avLst>
              <a:gd name="adj" fmla="val 2083"/>
            </a:avLst>
          </a:prstGeom>
          <a:solidFill>
            <a:schemeClr val="bg2"/>
          </a:solidFill>
          <a:ln/>
        </p:spPr>
      </p:sp>
      <p:sp>
        <p:nvSpPr>
          <p:cNvPr id="36" name="Text 33"/>
          <p:cNvSpPr/>
          <p:nvPr/>
        </p:nvSpPr>
        <p:spPr>
          <a:xfrm>
            <a:off x="8357616" y="1965960"/>
            <a:ext cx="9144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200" b="1" dirty="0">
                <a:solidFill>
                  <a:schemeClr val="bg1"/>
                </a:solidFill>
              </a:rPr>
              <a:t>DP-008</a:t>
            </a:r>
            <a:endParaRPr lang="en-US" sz="1200" dirty="0"/>
          </a:p>
        </p:txBody>
      </p:sp>
      <p:sp>
        <p:nvSpPr>
          <p:cNvPr id="37" name="Text 34"/>
          <p:cNvSpPr txBox="1"/>
          <p:nvPr/>
        </p:nvSpPr>
        <p:spPr>
          <a:xfrm>
            <a:off x="8357616"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Certified Flows &amp; AUM</a:t>
            </a:r>
            <a:endParaRPr lang="en-US" sz="1600" dirty="0"/>
          </a:p>
        </p:txBody>
      </p:sp>
      <p:sp>
        <p:nvSpPr>
          <p:cNvPr id="38" name="Shape 35"/>
          <p:cNvSpPr/>
          <p:nvPr/>
        </p:nvSpPr>
        <p:spPr>
          <a:xfrm>
            <a:off x="8357616" y="2971800"/>
            <a:ext cx="3054096" cy="0"/>
          </a:xfrm>
          <a:prstGeom prst="line">
            <a:avLst/>
          </a:prstGeom>
          <a:noFill/>
          <a:ln w="9525">
            <a:solidFill>
              <a:srgbClr val="D5D9E1"/>
            </a:solidFill>
            <a:prstDash val="solid"/>
          </a:ln>
        </p:spPr>
      </p:sp>
      <p:sp>
        <p:nvSpPr>
          <p:cNvPr id="39" name="Text 36"/>
          <p:cNvSpPr txBox="1"/>
          <p:nvPr/>
        </p:nvSpPr>
        <p:spPr>
          <a:xfrm>
            <a:off x="8357616"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40" name="Text 37"/>
          <p:cNvSpPr txBox="1"/>
          <p:nvPr/>
        </p:nvSpPr>
        <p:spPr>
          <a:xfrm>
            <a:off x="8357616"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measure set, period, dimension combination and snapshot</a:t>
            </a:r>
            <a:endParaRPr lang="en-US" sz="1200" dirty="0"/>
          </a:p>
        </p:txBody>
      </p:sp>
      <p:sp>
        <p:nvSpPr>
          <p:cNvPr id="41" name="Shape 38"/>
          <p:cNvSpPr/>
          <p:nvPr/>
        </p:nvSpPr>
        <p:spPr>
          <a:xfrm>
            <a:off x="8357616" y="3739896"/>
            <a:ext cx="3054096" cy="0"/>
          </a:xfrm>
          <a:prstGeom prst="line">
            <a:avLst/>
          </a:prstGeom>
          <a:noFill/>
          <a:ln w="9525">
            <a:solidFill>
              <a:srgbClr val="D5D9E1"/>
            </a:solidFill>
            <a:prstDash val="solid"/>
          </a:ln>
        </p:spPr>
      </p:sp>
      <p:sp>
        <p:nvSpPr>
          <p:cNvPr id="42" name="Text 39"/>
          <p:cNvSpPr txBox="1"/>
          <p:nvPr/>
        </p:nvSpPr>
        <p:spPr>
          <a:xfrm>
            <a:off x="8357616"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43" name="Text 40"/>
          <p:cNvSpPr txBox="1"/>
          <p:nvPr/>
        </p:nvSpPr>
        <p:spPr>
          <a:xfrm>
            <a:off x="8357616"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63 of its 66 attributes come from 10 of this domain's 39 objects</a:t>
            </a:r>
            <a:endParaRPr lang="en-US" sz="1200" dirty="0"/>
          </a:p>
        </p:txBody>
      </p:sp>
      <p:sp>
        <p:nvSpPr>
          <p:cNvPr id="44" name="Shape 41"/>
          <p:cNvSpPr/>
          <p:nvPr/>
        </p:nvSpPr>
        <p:spPr>
          <a:xfrm>
            <a:off x="8357616" y="4507992"/>
            <a:ext cx="3054096" cy="0"/>
          </a:xfrm>
          <a:prstGeom prst="line">
            <a:avLst/>
          </a:prstGeom>
          <a:noFill/>
          <a:ln w="9525">
            <a:solidFill>
              <a:srgbClr val="D5D9E1"/>
            </a:solidFill>
            <a:prstDash val="solid"/>
          </a:ln>
        </p:spPr>
      </p:sp>
      <p:sp>
        <p:nvSpPr>
          <p:cNvPr id="45" name="Text 42"/>
          <p:cNvSpPr txBox="1"/>
          <p:nvPr/>
        </p:nvSpPr>
        <p:spPr>
          <a:xfrm>
            <a:off x="8357616"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46" name="Text 43"/>
          <p:cNvSpPr txBox="1"/>
          <p:nvPr/>
        </p:nvSpPr>
        <p:spPr>
          <a:xfrm>
            <a:off x="8357616"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A locked snapshot changes only through a restatement with an approver</a:t>
            </a:r>
            <a:endParaRPr lang="en-US" sz="1200" dirty="0"/>
          </a:p>
        </p:txBody>
      </p:sp>
      <p:sp>
        <p:nvSpPr>
          <p:cNvPr id="47" name="Shape 44"/>
          <p:cNvSpPr/>
          <p:nvPr/>
        </p:nvSpPr>
        <p:spPr>
          <a:xfrm>
            <a:off x="8129016" y="5486400"/>
            <a:ext cx="3511296" cy="731520"/>
          </a:xfrm>
          <a:prstGeom prst="roundRect">
            <a:avLst>
              <a:gd name="adj" fmla="val 10000"/>
            </a:avLst>
          </a:prstGeom>
          <a:solidFill>
            <a:schemeClr val="tx1"/>
          </a:solidFill>
          <a:ln/>
        </p:spPr>
      </p:sp>
      <p:sp>
        <p:nvSpPr>
          <p:cNvPr id="48" name="Text 45"/>
          <p:cNvSpPr txBox="1"/>
          <p:nvPr/>
        </p:nvSpPr>
        <p:spPr>
          <a:xfrm>
            <a:off x="8357616"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35</a:t>
            </a:r>
            <a:endParaRPr lang="en-US" sz="2800" dirty="0"/>
          </a:p>
        </p:txBody>
      </p:sp>
      <p:sp>
        <p:nvSpPr>
          <p:cNvPr id="49" name="Text 46"/>
          <p:cNvSpPr txBox="1"/>
          <p:nvPr/>
        </p:nvSpPr>
        <p:spPr>
          <a:xfrm>
            <a:off x="9089136"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DP-008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47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47</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5 foundational and 42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39 of 39</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92%</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(235 of 256)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22</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47</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22 analytical, 12 regulatory and control, 8 operational, 4 conformed facts,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DP-006</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Attributed Transactions</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 Strategy and Analytics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transaction from every feed, de-duplicated, corrected and attributed to firm and advisor.</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31259"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99 of 102</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DP-007</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Attributed Positions &amp; AUM</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 Strategy and Analytics</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Daily positions and AUM from all sources under a precedence rule, attributed and reconciled.</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68977"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75 of 88</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DP-008</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Certified Flows &amp; AUM</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Distribution Leadership and Strategy</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single certified set of gross sales, redemptions, net flows and AUM, locked each month.</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309255"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63 of 66</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DP-015</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Distribution Executive Dashboard</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Leadership and Strategy</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Leadership view of certified flows and AUM against plan, industry flows and market share.</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510363"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32 of 86</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DP-024</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DCIO Plan &amp; Recordkeeper Insight</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Retirement / DCIO</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Defined contribution assets and flows by plan, recordkeeper and plan advisor.</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514350"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27 of 72</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DP-029</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Product Sales Performance &amp; Distribution Footprint</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 and Product Strategy</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Sales, flows, AUM and distribution reach for each product and share class.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646981"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25 of 53</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Distribution Data Quality &amp; Attribution Health</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Health of the data supply chain: feeds, reconciliations, matching, suspense and overrides.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266092"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84 of 91</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DP-047</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Advisor Redemption Risk</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External Wholesaling</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An early-warning score of how likely an advisor's assets are to fall in the next 90 days.</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652072"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29 of 61</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DP-055</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Sales Flow Forecast</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Leadership and Strategy</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12-month forecast of gross sales, redemptions and net flows by channel and product.</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357809"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18 of 69</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DP-076</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End-Investor Look-Through Insights</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 and Product Strategy</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privacy-safe, aggregated profile of the end investors behind intermediary accounts.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485335"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23 of 65</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37 more rely on it for flows and AUM</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advisor analytics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DP-016, DP-017, DP-018, DP-046, DP-048, DP-049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Flows and AUM by firm, office and advisor, with the attribution method behind them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Compensation, territory and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DP-012, DP-032, DP-035, DP-054,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Source transactions and restatements for crediting; average and ending AUM for revenue and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National accounts and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 DP-021, DP-050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Flows and AUM by distributor firm; SMA flows, positions and sponsor-reported assets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and retirement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DP-019, DP-022, DP-042, DP-066, DP-067,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Positions, plan positions, and asset and flow measures by institutional client and plan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product and market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DP-025, DP-031, DP-051, DP-058, DP-059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Attribution records for campaign and event outcomes; flows and AUM by product and channel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DP-037, DP-040, DP-060, DP-061,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Transactions, sales charges, linked transactions, positions and omnibus look-through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data office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DP-044, DP-070, DP-071, DP-072, DP-075, DP-085, DP-091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Transactions and positions by account; feeds, loads, measure definitions and DQ rules for lineage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21 products depend on this domain only through DP-006, DP-007 or DP-008, without reading it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amount,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Unattributed Amount</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Unattributed Item object: the amount that could not be attributed below a given level.</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DP-006</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Attributes each transaction and holds the rest in suspense with a reason. Rule: the two always add up to the source.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DP-045</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Data Quality and Attribution Health reports the attribution rate and the suspense balance by age.</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SM-01 Distribution</a:t>
            </a:r>
            <a:endParaRPr lang="en-US" sz="1400" dirty="0"/>
          </a:p>
          <a:p>
            <a:pPr algn="l" indent="0" marL="0">
              <a:buNone/>
            </a:pPr>
            <a:r>
              <a:rPr lang="en-US" sz="1400" b="1" dirty="0">
                <a:solidFill>
                  <a:schemeClr val="tx1"/>
                </a:solidFill>
              </a:rPr>
              <a:t>Performance</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Reads the amount from DP-006 and publishes Unattributed Transaction Amount and an attribution rate.</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much flow is unattributed, at which level did resolution stop, and why?”</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Attribution Rate  =  Attributed Amount / (Attributed Amount + Unattributed Amount)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SM-01 reads DP-006 directly; no semantic model publishes DP-045 yet. The suspense territory is mastered in Compensation &amp; Territory.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net-flow definition is certified, including how reinvestments, exchanges, same-owner transfers and conversions are treated. Finance signs off.</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rep matching. Recommended: Client &amp; Customer owns rep codes; this domain owns the crosswalk, match rules and match results.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CD-054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The hand-off to crediting. Recommended: Compensation &amp; Territory consumes only locked snapshots, with a look-back for later restatements.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CD-047</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model-delivery assets are reported as AUM or AUA, and whether licensed ETF holdings data may be used for compensation.</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a measure-definition workshop and publish a certified measure catalog with Finance sign-off</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Inventory all live feeds into the feed master and map each to the Transaction and Position definitions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Obtain the DTCC Fund/SERV and Omni/SERV layouts and the aggregator dictionaries, and map them to attribute names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crosswalk ownership and the channel list with Client &amp; Customer, and the restatement hand-off with Compensation &amp; Territory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Define quality rules and reconciliation tolerances for the critical data elements, and decide the 14 open gaps, high priority first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Transactions &amp; AUM Attribution taxonomy walkthrough</dc:title>
  <dc:subject>PptxGenJS Presentation</dc:subject>
  <dc:creator>Distribution Data Taxonomy Program</dc:creator>
  <cp:lastModifiedBy>Distribution Data Taxonomy Program</cp:lastModifiedBy>
  <cp:revision>1</cp:revision>
  <dcterms:created xsi:type="dcterms:W3CDTF">2026-10-05T13:40:34Z</dcterms:created>
  <dcterms:modified xsi:type="dcterms:W3CDTF">2026-10-05T13:40:34Z</dcterms:modified>
</cp:coreProperties>
</file>