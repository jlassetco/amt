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64b458d-e9c9-0fd9-73bd-65598df0040a}">
          <p14:sldIdLst>
            <p14:sldId id="256"/>
            <p14:sldId id="257"/>
            <p14:sldId id="258"/>
            <p14:sldId id="259"/>
          </p14:sldIdLst>
        </p14:section>
        <p14:section name="What is included" id="{2cf0ae4a-99a6-4343-a32b-ad88da88c9d3}">
          <p14:sldIdLst>
            <p14:sldId id="260"/>
            <p14:sldId id="261"/>
            <p14:sldId id="262"/>
            <p14:sldId id="263"/>
            <p14:sldId id="264"/>
          </p14:sldIdLst>
        </p14:section>
        <p14:section name="What is excluded" id="{c56ecb18-1090-c2d5-9dd5-dfde6a8a54de}">
          <p14:sldIdLst>
            <p14:sldId id="265"/>
            <p14:sldId id="266"/>
            <p14:sldId id="267"/>
          </p14:sldIdLst>
        </p14:section>
        <p14:section name="How it is used" id="{9c44b34e-7a91-2520-a261-1cd2b0e25226}">
          <p14:sldIdLst>
            <p14:sldId id="268"/>
            <p14:sldId id="269"/>
          </p14:sldIdLst>
        </p14:section>
        <p14:section name="Data products" id="{9db87519-2789-5700-744f-c32a7284400d}">
          <p14:sldIdLst>
            <p14:sldId id="270"/>
            <p14:sldId id="271"/>
            <p14:sldId id="272"/>
            <p14:sldId id="273"/>
          </p14:sldIdLst>
        </p14:section>
        <p14:section name="Next steps" id="{8b69ee3c-e698-5efa-5bc7-2d2181cec556}">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Internal (firm-defined)</c:v>
                  </c:pt>
                  <c:pt idx="1">
                    <c:v>ISO standards</c:v>
                  </c:pt>
                  <c:pt idx="2">
                    <c:v>US, UK and EU official geography</c:v>
                  </c:pt>
                  <c:pt idx="3">
                    <c:v>GLEIF (LEI and ownership data)</c:v>
                  </c:pt>
                  <c:pt idx="4">
                    <c:v>NACE and NAICS</c:v>
                  </c:pt>
                  <c:pt idx="5">
                    <c:v>IANA time zone database</c:v>
                  </c:pt>
                  <c:pt idx="6">
                    <c:v>Other standards and regulation</c:v>
                  </c:pt>
                </c:lvl>
              </c:multiLvlStrCache>
            </c:multiLvlStrRef>
          </c:cat>
          <c:val>
            <c:numRef>
              <c:f>Sheet1!$B$2:$B$8</c:f>
              <c:numCache>
                <c:formatCode>General</c:formatCode>
                <c:ptCount val="7"/>
                <c:pt idx="0">
                  <c:v>158</c:v>
                </c:pt>
                <c:pt idx="1">
                  <c:v>34</c:v>
                </c:pt>
                <c:pt idx="2">
                  <c:v>16</c:v>
                </c:pt>
                <c:pt idx="3">
                  <c:v>13</c:v>
                </c:pt>
                <c:pt idx="4">
                  <c:v>9</c:v>
                </c:pt>
                <c:pt idx="5">
                  <c:v>6</c:v>
                </c:pt>
                <c:pt idx="6">
                  <c:v>27</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4 of 52)</a:t>
            </a:r>
          </a:p>
        </c:rich>
      </c:tx>
      <c:layout/>
      <c:overlay val="0"/>
    </c:title>
    <c:autoTitleDeleted val="0"/>
    <c:plotArea>
      <c:layout/>
      <c:barChart>
        <c:barDir val="bar"/>
        <c:grouping val="clustered"/>
        <c:varyColors val="0"/>
        <c:ser>
          <c:idx val="0"/>
          <c:order val="0"/>
          <c:tx>
            <c:strRef>
              <c:f>Sheet1!$B$1</c:f>
              <c:strCache>
                <c:ptCount val="1"/>
                <c:pt idx="0">
                  <c:v>Products reading each object (top 4 of 52)</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Sheet1!$A$2:$A$5</c:f>
              <c:multiLvlStrCache>
                <c:ptCount val="4"/>
                <c:lvl>
                  <c:pt idx="0">
                    <c:v>Employee</c:v>
                  </c:pt>
                  <c:pt idx="1">
                    <c:v>Internal Legal Entity</c:v>
                  </c:pt>
                  <c:pt idx="2">
                    <c:v>Fiscal Period</c:v>
                  </c:pt>
                  <c:pt idx="3">
                    <c:v>Calendar Date</c:v>
                  </c:pt>
                </c:lvl>
              </c:multiLvlStrCache>
            </c:multiLvlStrRef>
          </c:cat>
          <c:val>
            <c:numRef>
              <c:f>Sheet1!$B$2:$B$5</c:f>
              <c:numCache>
                <c:formatCode>General</c:formatCode>
                <c:ptCount val="4"/>
                <c:pt idx="0">
                  <c:v>7</c:v>
                </c:pt>
                <c:pt idx="1">
                  <c:v>5</c:v>
                </c:pt>
                <c:pt idx="2">
                  <c:v>5</c:v>
                </c:pt>
                <c:pt idx="3">
                  <c:v>5</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Shared &amp; Enterprise Reference Data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Shared &amp; Enterprise Reference Data holds the lists that every other domain points to: countries and geographic units, calendars, currencies and FX rate types, languages and locales, the firm's own legal entities, the internal organization, the employee master, industry classification schemes and the registry of code lists. It has 10 families, 52 objects and 263 attributes. It holds structure and conventions, not business activity, and it holds no FX rate time series. 22 of the 92 specified data products read the domain directly, and all 91 other products depend on its foundational product DP-013, Enterprise Reference &amp; Calendars,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Shared &amp; Enterprise Reference Data is one of 14 domains. The purple text shows the path to one attribute, Day Type, which says whether a date is a business day or a holiday on a given calendar. We follow it to an answer near the end of the deck. For every attribute the taxonomy records its meaning and its owner. It does not hold data values or system field names, and for external standards such as ISO country codes it defines only the structure, not the list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this domain is a set of thin, independent lists, each with a stable key. Countries, currencies, languages and time zones use their ISO or IANA codes as keys. Geographic units, calendars and code lists each use one generic structure for every scheme. The part with real structure is the firm itself, and that is what the diagram shows. An internal legal entity, keyed LEN-, holds regulatory authorizations, performs distribution roles in a market, and is the booking entity for org units and the employer of employees. A role's market scope is a geographic group, which ties the firm side back to geography. Everything is effective-dated so history can be restated.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10 data families. For this walkthrough they are grouped in three. The first group answers where, when and in what currency: geography, calendars and currency reference. The second describes the firm itself: its legal entities, its organization and its employees. The third holds the shared codes and conventions: languages and locales, industry classification, the code list registry and reference data distribution.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families hold 103 attributes. Geography is the largest family in the domain, with 12 objects and 48 attributes. One generic Geographic Unit record covers every country, state, county, metro area, ZIP code, UK postcode district and European region, typed by scheme and vintage, and firm-defined groups such as sales regions are built from those units. Time Zones and Calendars holds business, exchange, fund dealing and fiscal calendars, one row per calendar and date, plus the standard reporting period definitions. Currency and FX Reference holds ISO currencies and the named FX rate types with their fixing times and approved uses. It does not hold the rates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93 attributes. Internal Legal Entities holds the firm's own companies and branches, keyed LEN-, with their LEI and regulatory numbers, who owns whom, the authorizations each holds with regulators such as the SEC, FINRA, the FCA and the CSSF, cross-border passports, and the distribution role each entity performs in each market. External organizations stay in Client &amp; Customer; each internal entity carries a cross-reference to its party record. Internal Organization holds org units, offices, parallel hierarchies and governed reorganizations. Workforce is the HR-owned employee master. Every domain references employees by the EMP- key, and functional profiles such as the Sales Person profile extend the record without remastering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67 attributes. Languages, Locales and Units holds the languages and locales the firm supports, units of measure, and conventions such as how percentages are stored in data exchange. Industry Classification holds the schemes, NAICS, NACE, UK SIC, US SIC and GICS, by version, with the concordances between them. The code assigned to each organization stays in Client &amp; Customer. The Enterprise Code List Registry records every governed list with its owner, steward, versions, values, consumers and the mappings from source-system values. It registers lists; it does not yet harmonize them. Reference Data Management, the smallest family, records which systems subscribe to which reference data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105 of the 263 attributes, 40 percent, align to an external standard, register or regulation. ISO standards are the largest external source with 34 attributes, covering country, currency, language, legal form and the registry pattern. Official statistical and postal geography from the Census Bureau, OMB, ONS and Eurostat accounts for 16, and GLEIF legal entity data for 13. 158 attributes are firm-defined. That share is high because the standards supply the codes, while the generic geographic unit, the calendars, the org structure and the employee record are the firm's own layer. 113 attributes take values from a controlled code list, and 82 are proposed critical data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holds the lists that others point to and leaves the business content to them. The table shows where each excluded subject lives and what this domain keeps so it can be referenced. Four boundaries are worth calling out. The firm's own legal entities are here, and every external organization stays in Client &amp; Customer. Entity-level authorizations are here, and individual licenses stay in Distribution Compliance. The structure of a dealing calendar is here, and a fund's cut-off time and valuation point stay in Investment Product. FX rate types and conventions are here, but the rates themselves are in no domain yet, which is one of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257 of the 263 are mastered in this domain. 2 are references, which hold only the ID of a record mastered elsewhere, and 4 are derived copies. Finance owns cost and profit center codes and the status of a fiscal period. Third-Party Data &amp; Licensing owns the licensed FX dataset and its benchmark status. Client &amp; Customer owns the party record that mirrors each internal legal entity. The traffic is far heavier in the other direction: 122 attributes in 12 of the 13 other domains reference a record mastered here, led by Distribution Finance &amp; Profitability with 25, Compensation &amp; Territory with 22 and Sales with 18. Record Metadata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18 gaps against this domain. Five are resolved. Thirteen are open, all proposed and waiting for a decision: nine high priority and four low. Seven of the nine high-priority gaps are shown here. Two are missing objects that matter beyond this domain: there is nowhere to hold FX rate observations, and no taxonomy objects for data products, source systems and lineage. The rest are structural: child objects that do not name their parent, or codes held without the reference that makes them unambiguous. The two high-priority gaps not shown concern the fiscal calendar reference on Fiscal Period and scheme versions on classification concordances.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reference source is mapped to: the ISO, IANA, Census, ONS, Eurostat and GLEIF lists, the HR system, the legal entity management system and the finance calendar. That mapping to the firm's actual systems is Phase D and has not been done. Second, it is the bill of materials for data products: each product lists the exact attributes it uses, and the build fails if one does not exist. Third, calendar date, fiscal period, internal legal entity, org unit, country, currency, geographic unit and code value are published once as shared dimensions in the semantic layer. Fourth, the ownership flags, the 82 proposed critical data elements and the code list registry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owns two data products and both are foundational. DP-013, Enterprise Reference &amp; Calendars, publishes one governed, versioned copy of the reference data so that every product uses the same codes and dates. All 191 of its attributes come from this domain, from 42 of the 52 objects. It refreshes daily by 6am Eastern, and calendar years are published at least 12 months ahead. 88 products name it as a direct upstream, and all 91 other products depend on it directly or indirectly. DP-075, the Distribution Metadata &amp; Lineage Catalog, is built on DP-013. It catalogs every data product, feed, licensed dataset and code list, and records lineage between them. 24 of its 80 attributes come from this domain; the rest have no taxonomy home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of the 92 specified data products list this domain's objects among their inputs: 8 foundational and 14 consumer-aligned. Every one of the 52 objects is used by at least one product, and 247 of the 263 attributes, 94 percent, appear in a product specification. Employee is the most used object, read by 7 products, followed by Internal Legal Entity, Fiscal Period and Calendar Date with 5 each. Regulatory and control products are the largest group of readers, with 9. The direct count understates the reach: most products take calendars, countries, currencies and codes through DP-013 instead of reading the domain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data products have this domain as their owning domain, and both are foundational. Enterprise Reference &amp; Calendars is the single published copy of geography, calendars, currencies and FX rate types, locales, internal legal entities, the org structure, industry schemes and registered code lists. Its owner is the Enterprise Reference Data Lead. The Distribution Metadata &amp; Lineage Catalog is owned by the Chief Data Officer for Distribution. It makes data products discoverable and lets the impact of a change be traced. The bar on the right shows how many of each product's input attributes come from this domain. One thing to note: the employee record is mastered here but published by Sales Organization &amp; Coverage, DP-009, which Compensation &amp; Territory 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20 products are owned by other domains but read this domain's attributes directly. They are grouped here by the business function they serve. Compliance products take the most: Regulatory Obligations, Attestations &amp; Horizon takes 33 attributes, and Cross-Border Distribution Eligibility takes 23, mainly entity authorizations and passports. Sales Organization &amp; Coverage takes 25, which is the employee record and reporting lines. Finance products take fiscal periods, org units and legal entities. Beyond these, 70 more products take calendars, countries, currencies and codes only through the two foundational products, without reading the domain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Day Type is defined once in this domain, in the Calendar Date object. It says whether a date is a business day or a holiday on a given calendar. DP-013 publishes one row per calendar and date and derives the Business Day Indicator from it. DP-023, RFP &amp; DDQ Performance, which Sales owns, reads Day Type to count the business days between the date a request was received and the time it was submitted. The semantic model SM-04, Institutional &amp; Retirement, publishes that as Average RFP Turnaround Business Days. The proposal team then asks how long requests take, and everyone counts business days the same way. Note the boundary: the RFP requests are mastered in Sales. This domain supplies only the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first is which FX rate type is approved for AUM translation, fees and compensation; the recommendation is one approved type per use, with the WM/Reuters 4pm rate as the default for AUM and compensation. The second is whether sales regions are pure geography held here, or territories. The third is whether entity authorizations should also cover state notice filings and blue-sky registrations. The fourth is whether to add a metadata and lineage family so the catalog product has a taxonomy home. The next steps on the right come from the taxonomy's own plan: load the registry, harmonize the duplicated lists, agree the legal entity rule, choose load sources for the external lists, and confirm the critical data elements and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Shared &amp; Enterprise Reference Data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SHARED &amp; ENTERPRISE REFERENCE DATA</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Shared &amp; Enterprise Reference Data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Geography &amp; calendars</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Where and when</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500" b="1" dirty="0">
                <a:solidFill>
                  <a:schemeClr val="bg1"/>
                </a:solidFill>
              </a:rPr>
              <a:t>Internal legal entities</a:t>
            </a:r>
            <a:endParaRPr lang="en-US" sz="15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The firm's own companies</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Code list registry</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Every governed list of values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shared reference,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10</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52</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263</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82</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Countries and geographic units, time zones and calendars, currencies and FX rate types, languages and locales, the firm's own legal entities, org units and employees, industry schemes, and the code list registry.</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Anything about products, external parties, sales activity, agreements, transactions, territories, individual licenses or the general ledger. FX rate time series, prices and the security master are also out.</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reference sources, the bill of materials for data products, and the calendar, fiscal period, legal entity, org unit, country, currency and code value dimensions every semantic model shares.</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22 of the 92 data products read it directly. All 91 other products depend on its foundational product DP-013, directly or indirectly.</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14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14</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Shared &amp; Enterprise Reference Data</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10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Time Zones &amp; Calendars</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52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Calendar Date</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263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Day Type</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geography, calendar, entity or code list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Thin shared masters, each with a stable key</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FIRM ITSELF</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IT HOLDS AND DOES</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WHERE IT OPERATES</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Internal Legal Entity</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Group company or branch, keyed LEN-</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Legal Entity Identifier</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LEI, SEC CIK, own CRD and FCA numbers</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record for each of the firm's own legal entities and branches</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Entity Authorization</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Regulator, type and permitted activities</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Entity Distribution Role</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Role by market, channel and product range</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Org Unit and Employee</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Booked in and employed by the entity</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3657600"/>
            <a:ext cx="914400" cy="0"/>
          </a:xfrm>
          <a:prstGeom prst="line">
            <a:avLst/>
          </a:prstGeom>
          <a:noFill/>
          <a:ln w="19050">
            <a:solidFill>
              <a:schemeClr val="tx2"/>
            </a:solidFill>
            <a:prstDash val="solid"/>
            <a:tailEnd type="triangle"/>
          </a:ln>
        </p:spPr>
      </p:sp>
      <p:sp>
        <p:nvSpPr>
          <p:cNvPr id="29" name="Shape 26"/>
          <p:cNvSpPr/>
          <p:nvPr/>
        </p:nvSpPr>
        <p:spPr>
          <a:xfrm>
            <a:off x="8686800" y="3246120"/>
            <a:ext cx="2953512" cy="822960"/>
          </a:xfrm>
          <a:prstGeom prst="roundRect">
            <a:avLst>
              <a:gd name="adj" fmla="val 8889"/>
            </a:avLst>
          </a:prstGeom>
          <a:solidFill>
            <a:schemeClr val="accent4"/>
          </a:solidFill>
          <a:ln/>
        </p:spPr>
      </p:sp>
      <p:sp>
        <p:nvSpPr>
          <p:cNvPr id="30" name="Text 27"/>
          <p:cNvSpPr txBox="1"/>
          <p:nvPr/>
        </p:nvSpPr>
        <p:spPr>
          <a:xfrm>
            <a:off x="8915400" y="331927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Geographic Group</a:t>
            </a:r>
            <a:endParaRPr lang="en-US" sz="1400" dirty="0"/>
          </a:p>
        </p:txBody>
      </p:sp>
      <p:sp>
        <p:nvSpPr>
          <p:cNvPr id="31" name="Text 28"/>
          <p:cNvSpPr txBox="1"/>
          <p:nvPr/>
        </p:nvSpPr>
        <p:spPr>
          <a:xfrm>
            <a:off x="8915400" y="364845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Markets, regions and country clusters</a:t>
            </a:r>
            <a:endParaRPr lang="en-US" sz="1200" dirty="0"/>
          </a:p>
        </p:txBody>
      </p:sp>
      <p:sp>
        <p:nvSpPr>
          <p:cNvPr id="32" name="Text 29"/>
          <p:cNvSpPr txBox="1"/>
          <p:nvPr/>
        </p:nvSpPr>
        <p:spPr>
          <a:xfrm>
            <a:off x="8686800" y="420624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A role's market scope is a geographic group, whose members are dated geographic units.</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Reference external standards, do not copy them: ISO, IANA, Census, ONS and Eurostat lists are loaded from their maintainers and tagged with a version. One generic structure per pattern, and everything is effective-dated.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10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Where, when and in what currency</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24 objects  |  103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Geography</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12 objects  |  48 attributes  |  16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Time Zones &amp; Calendars</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8 objects  |  34 attributes  |  10 critical</a:t>
            </a:r>
            <a:endParaRPr lang="en-US" sz="1100" dirty="0"/>
          </a:p>
        </p:txBody>
      </p:sp>
      <p:sp>
        <p:nvSpPr>
          <p:cNvPr id="14" name="Shape 11"/>
          <p:cNvSpPr/>
          <p:nvPr/>
        </p:nvSpPr>
        <p:spPr>
          <a:xfrm>
            <a:off x="548640" y="4123944"/>
            <a:ext cx="3511296" cy="612648"/>
          </a:xfrm>
          <a:prstGeom prst="roundRect">
            <a:avLst>
              <a:gd name="adj" fmla="val 11940"/>
            </a:avLst>
          </a:prstGeom>
          <a:solidFill>
            <a:schemeClr val="bg2"/>
          </a:solidFill>
          <a:ln/>
        </p:spPr>
      </p:sp>
      <p:sp>
        <p:nvSpPr>
          <p:cNvPr id="15" name="Text 12"/>
          <p:cNvSpPr txBox="1"/>
          <p:nvPr/>
        </p:nvSpPr>
        <p:spPr>
          <a:xfrm>
            <a:off x="731520"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Currency &amp; FX Reference</a:t>
            </a:r>
            <a:endParaRPr lang="en-US" sz="1300" dirty="0"/>
          </a:p>
        </p:txBody>
      </p:sp>
      <p:sp>
        <p:nvSpPr>
          <p:cNvPr id="16" name="Text 13"/>
          <p:cNvSpPr txBox="1"/>
          <p:nvPr/>
        </p:nvSpPr>
        <p:spPr>
          <a:xfrm>
            <a:off x="731520"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21 attributes  |  6 critical</a:t>
            </a:r>
            <a:endParaRPr lang="en-US" sz="1100" dirty="0"/>
          </a:p>
        </p:txBody>
      </p:sp>
      <p:sp>
        <p:nvSpPr>
          <p:cNvPr id="17" name="Shape 14"/>
          <p:cNvSpPr/>
          <p:nvPr/>
        </p:nvSpPr>
        <p:spPr>
          <a:xfrm>
            <a:off x="4338828" y="1783080"/>
            <a:ext cx="3511296" cy="777240"/>
          </a:xfrm>
          <a:prstGeom prst="roundRect">
            <a:avLst>
              <a:gd name="adj" fmla="val 9412"/>
            </a:avLst>
          </a:prstGeom>
          <a:solidFill>
            <a:schemeClr val="accent2"/>
          </a:solidFill>
          <a:ln/>
        </p:spPr>
      </p:sp>
      <p:sp>
        <p:nvSpPr>
          <p:cNvPr id="18" name="Text 15"/>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firm itself</a:t>
            </a:r>
            <a:endParaRPr lang="en-US" sz="1400" dirty="0"/>
          </a:p>
        </p:txBody>
      </p:sp>
      <p:sp>
        <p:nvSpPr>
          <p:cNvPr id="19" name="Text 16"/>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14 objects  |  93 attributes</a:t>
            </a:r>
            <a:endParaRPr lang="en-US" sz="1200" dirty="0"/>
          </a:p>
        </p:txBody>
      </p:sp>
      <p:sp>
        <p:nvSpPr>
          <p:cNvPr id="20" name="Shape 17"/>
          <p:cNvSpPr/>
          <p:nvPr/>
        </p:nvSpPr>
        <p:spPr>
          <a:xfrm>
            <a:off x="4338828" y="2697480"/>
            <a:ext cx="3511296" cy="612648"/>
          </a:xfrm>
          <a:prstGeom prst="roundRect">
            <a:avLst>
              <a:gd name="adj" fmla="val 11940"/>
            </a:avLst>
          </a:prstGeom>
          <a:solidFill>
            <a:schemeClr val="bg2"/>
          </a:solidFill>
          <a:ln/>
        </p:spPr>
      </p:sp>
      <p:sp>
        <p:nvSpPr>
          <p:cNvPr id="21" name="Text 18"/>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Internal Legal Entities</a:t>
            </a:r>
            <a:endParaRPr lang="en-US" sz="1300" dirty="0"/>
          </a:p>
        </p:txBody>
      </p:sp>
      <p:sp>
        <p:nvSpPr>
          <p:cNvPr id="22" name="Text 19"/>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46 attributes  |  19 critical</a:t>
            </a:r>
            <a:endParaRPr lang="en-US" sz="1100" dirty="0"/>
          </a:p>
        </p:txBody>
      </p:sp>
      <p:sp>
        <p:nvSpPr>
          <p:cNvPr id="23" name="Shape 20"/>
          <p:cNvSpPr/>
          <p:nvPr/>
        </p:nvSpPr>
        <p:spPr>
          <a:xfrm>
            <a:off x="4338828" y="3410712"/>
            <a:ext cx="3511296" cy="612648"/>
          </a:xfrm>
          <a:prstGeom prst="roundRect">
            <a:avLst>
              <a:gd name="adj" fmla="val 11940"/>
            </a:avLst>
          </a:prstGeom>
          <a:solidFill>
            <a:schemeClr val="bg2"/>
          </a:solidFill>
          <a:ln/>
        </p:spPr>
      </p:sp>
      <p:sp>
        <p:nvSpPr>
          <p:cNvPr id="24" name="Text 21"/>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Internal Organization</a:t>
            </a:r>
            <a:endParaRPr lang="en-US" sz="1300" dirty="0"/>
          </a:p>
        </p:txBody>
      </p:sp>
      <p:sp>
        <p:nvSpPr>
          <p:cNvPr id="25" name="Text 22"/>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26 attributes  |  7 critical</a:t>
            </a:r>
            <a:endParaRPr lang="en-US" sz="1100" dirty="0"/>
          </a:p>
        </p:txBody>
      </p:sp>
      <p:sp>
        <p:nvSpPr>
          <p:cNvPr id="26" name="Shape 23"/>
          <p:cNvSpPr/>
          <p:nvPr/>
        </p:nvSpPr>
        <p:spPr>
          <a:xfrm>
            <a:off x="4338828" y="4123944"/>
            <a:ext cx="3511296" cy="612648"/>
          </a:xfrm>
          <a:prstGeom prst="roundRect">
            <a:avLst>
              <a:gd name="adj" fmla="val 11940"/>
            </a:avLst>
          </a:prstGeom>
          <a:solidFill>
            <a:schemeClr val="bg2"/>
          </a:solidFill>
          <a:ln/>
        </p:spPr>
      </p:sp>
      <p:sp>
        <p:nvSpPr>
          <p:cNvPr id="27" name="Text 24"/>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Workforce</a:t>
            </a:r>
            <a:endParaRPr lang="en-US" sz="1300" dirty="0"/>
          </a:p>
        </p:txBody>
      </p:sp>
      <p:sp>
        <p:nvSpPr>
          <p:cNvPr id="28" name="Text 25"/>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21 attributes  |  6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Shared codes and conventions</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14 objects  |  67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Languages, Locales &amp; Units</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15 attributes  |  3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Industry Classification</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15 attributes  |  4 critical</a:t>
            </a:r>
            <a:endParaRPr lang="en-US" sz="1100" dirty="0"/>
          </a:p>
        </p:txBody>
      </p:sp>
      <p:sp>
        <p:nvSpPr>
          <p:cNvPr id="38" name="Shape 35"/>
          <p:cNvSpPr/>
          <p:nvPr/>
        </p:nvSpPr>
        <p:spPr>
          <a:xfrm>
            <a:off x="8129016" y="4123944"/>
            <a:ext cx="3511296" cy="612648"/>
          </a:xfrm>
          <a:prstGeom prst="roundRect">
            <a:avLst>
              <a:gd name="adj" fmla="val 11940"/>
            </a:avLst>
          </a:prstGeom>
          <a:solidFill>
            <a:schemeClr val="bg2"/>
          </a:solidFill>
          <a:ln/>
        </p:spPr>
      </p:sp>
      <p:sp>
        <p:nvSpPr>
          <p:cNvPr id="39" name="Text 36"/>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Enterprise Code List Registry</a:t>
            </a:r>
            <a:endParaRPr lang="en-US" sz="1300" dirty="0"/>
          </a:p>
        </p:txBody>
      </p:sp>
      <p:sp>
        <p:nvSpPr>
          <p:cNvPr id="40" name="Text 37"/>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34 attributes  |  11 critical</a:t>
            </a:r>
            <a:endParaRPr lang="en-US" sz="1100" dirty="0"/>
          </a:p>
        </p:txBody>
      </p:sp>
      <p:sp>
        <p:nvSpPr>
          <p:cNvPr id="41" name="Shape 38"/>
          <p:cNvSpPr/>
          <p:nvPr/>
        </p:nvSpPr>
        <p:spPr>
          <a:xfrm>
            <a:off x="8129016" y="4837176"/>
            <a:ext cx="3511296" cy="612648"/>
          </a:xfrm>
          <a:prstGeom prst="roundRect">
            <a:avLst>
              <a:gd name="adj" fmla="val 11940"/>
            </a:avLst>
          </a:prstGeom>
          <a:solidFill>
            <a:schemeClr val="bg2"/>
          </a:solidFill>
          <a:ln/>
        </p:spPr>
      </p:sp>
      <p:sp>
        <p:nvSpPr>
          <p:cNvPr id="42" name="Text 39"/>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Reference Data Management</a:t>
            </a:r>
            <a:endParaRPr lang="en-US" sz="1300" dirty="0"/>
          </a:p>
        </p:txBody>
      </p:sp>
      <p:sp>
        <p:nvSpPr>
          <p:cNvPr id="43" name="Text 40"/>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1 objects  |  3 attributes  |  0 critical</a:t>
            </a:r>
            <a:endParaRPr lang="en-US" sz="1100" dirty="0"/>
          </a:p>
        </p:txBody>
      </p:sp>
      <p:sp>
        <p:nvSpPr>
          <p:cNvPr id="44" name="Text 41"/>
          <p:cNvSpPr txBox="1"/>
          <p:nvPr/>
        </p:nvSpPr>
        <p:spPr>
          <a:xfrm>
            <a:off x="548640" y="4974336"/>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Where, when and in what currency</a:t>
            </a:r>
            <a:endParaRPr lang="en-US" sz="3600" dirty="0"/>
          </a:p>
        </p:txBody>
      </p:sp>
      <p:sp>
        <p:nvSpPr>
          <p:cNvPr id="5" name="Shape 2"/>
          <p:cNvSpPr/>
          <p:nvPr/>
        </p:nvSpPr>
        <p:spPr>
          <a:xfrm>
            <a:off x="548640" y="1783080"/>
            <a:ext cx="3511296" cy="4069080"/>
          </a:xfrm>
          <a:prstGeom prst="roundRect">
            <a:avLst>
              <a:gd name="adj" fmla="val 2083"/>
            </a:avLst>
          </a:prstGeom>
          <a:solidFill>
            <a:schemeClr val="bg2"/>
          </a:solidFill>
          <a:ln/>
        </p:spPr>
      </p:sp>
      <p:sp>
        <p:nvSpPr>
          <p:cNvPr id="6" name="Text 3"/>
          <p:cNvSpPr txBox="1"/>
          <p:nvPr/>
        </p:nvSpPr>
        <p:spPr>
          <a:xfrm>
            <a:off x="777240" y="1965960"/>
            <a:ext cx="3054096" cy="365760"/>
          </a:xfrm>
          <a:prstGeom prst="rect">
            <a:avLst/>
          </a:prstGeom>
          <a:noFill/>
          <a:ln/>
        </p:spPr>
        <p:txBody>
          <a:bodyPr wrap="square" lIns="0" tIns="0" rIns="0" bIns="0" rtlCol="0" anchor="ctr"/>
          <a:lstStyle/>
          <a:p>
            <a:pPr algn="l" indent="0" marL="0">
              <a:buNone/>
            </a:pPr>
            <a:r>
              <a:rPr lang="en-US" sz="1800" b="1" dirty="0">
                <a:solidFill>
                  <a:schemeClr val="accent1"/>
                </a:solidFill>
              </a:rPr>
              <a:t>Geography</a:t>
            </a:r>
            <a:endParaRPr lang="en-US" sz="1800" dirty="0"/>
          </a:p>
        </p:txBody>
      </p:sp>
      <p:sp>
        <p:nvSpPr>
          <p:cNvPr id="7" name="Text 4"/>
          <p:cNvSpPr txBox="1"/>
          <p:nvPr/>
        </p:nvSpPr>
        <p:spPr>
          <a:xfrm>
            <a:off x="777240"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12 objects  |  48 attributes  |  16 critical</a:t>
            </a:r>
            <a:endParaRPr lang="en-US" sz="1200" dirty="0"/>
          </a:p>
        </p:txBody>
      </p:sp>
      <p:sp>
        <p:nvSpPr>
          <p:cNvPr id="8" name="Text 5"/>
          <p:cNvSpPr txBox="1"/>
          <p:nvPr/>
        </p:nvSpPr>
        <p:spPr>
          <a:xfrm>
            <a:off x="777240"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Countries, subdivisions and US, UK and EU statistical and postal areas, plus firm-defined groups and hierarchies.</a:t>
            </a:r>
            <a:endParaRPr lang="en-US" sz="1300" dirty="0"/>
          </a:p>
        </p:txBody>
      </p:sp>
      <p:sp>
        <p:nvSpPr>
          <p:cNvPr id="9" name="Text 6"/>
          <p:cNvSpPr txBox="1"/>
          <p:nvPr/>
        </p:nvSpPr>
        <p:spPr>
          <a:xfrm>
            <a:off x="777240"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Country, </a:t>
            </a:r>
            <a:pPr indent="0" marL="0">
              <a:buNone/>
            </a:pPr>
            <a:r>
              <a:rPr lang="en-US" sz="1300" b="1" dirty="0">
                <a:solidFill>
                  <a:schemeClr val="tx1"/>
                </a:solidFill>
              </a:rPr>
              <a:t>Country Subdivision, </a:t>
            </a:r>
            <a:pPr indent="0" marL="0">
              <a:buNone/>
            </a:pPr>
            <a:r>
              <a:rPr lang="en-US" sz="1300" b="1" dirty="0">
                <a:solidFill>
                  <a:schemeClr val="tx1"/>
                </a:solidFill>
              </a:rPr>
              <a:t>Geographic Unit, </a:t>
            </a:r>
            <a:pPr indent="0" marL="0">
              <a:buNone/>
            </a:pPr>
            <a:r>
              <a:rPr lang="en-US" sz="1300" b="1" dirty="0">
                <a:solidFill>
                  <a:schemeClr val="tx1"/>
                </a:solidFill>
              </a:rPr>
              <a:t>Geographic Hierarchy, </a:t>
            </a:r>
            <a:pPr indent="0" marL="0">
              <a:buNone/>
            </a:pPr>
            <a:r>
              <a:rPr lang="en-US" sz="1300" b="1" dirty="0">
                <a:solidFill>
                  <a:schemeClr val="tx1"/>
                </a:solidFill>
              </a:rPr>
              <a:t>Geographic Group, </a:t>
            </a:r>
            <a:pPr indent="0" marL="0">
              <a:buNone/>
            </a:pPr>
            <a:r>
              <a:rPr lang="en-US" sz="1300" dirty="0">
                <a:solidFill>
                  <a:schemeClr val="tx1"/>
                </a:solidFill>
              </a:rPr>
              <a:t>and 7 more</a:t>
            </a:r>
            <a:endParaRPr lang="en-US" sz="1300" dirty="0"/>
          </a:p>
        </p:txBody>
      </p:sp>
      <p:sp>
        <p:nvSpPr>
          <p:cNvPr id="11" name="Text 8"/>
          <p:cNvSpPr txBox="1"/>
          <p:nvPr/>
        </p:nvSpPr>
        <p:spPr>
          <a:xfrm>
            <a:off x="777240"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Country Code (Alpha-2), Geographic Unit Type, Scheme Vintage, County FIPS Code, ZIP Code</a:t>
            </a:r>
            <a:endParaRPr lang="en-US" sz="1300" dirty="0"/>
          </a:p>
        </p:txBody>
      </p:sp>
      <p:sp>
        <p:nvSpPr>
          <p:cNvPr id="13" name="Shape 10"/>
          <p:cNvSpPr/>
          <p:nvPr/>
        </p:nvSpPr>
        <p:spPr>
          <a:xfrm>
            <a:off x="4338828" y="1783080"/>
            <a:ext cx="3511296" cy="4069080"/>
          </a:xfrm>
          <a:prstGeom prst="roundRect">
            <a:avLst>
              <a:gd name="adj" fmla="val 2083"/>
            </a:avLst>
          </a:prstGeom>
          <a:solidFill>
            <a:schemeClr val="bg2"/>
          </a:solidFill>
          <a:ln/>
        </p:spPr>
      </p:sp>
      <p:sp>
        <p:nvSpPr>
          <p:cNvPr id="14" name="Text 11"/>
          <p:cNvSpPr txBox="1"/>
          <p:nvPr/>
        </p:nvSpPr>
        <p:spPr>
          <a:xfrm>
            <a:off x="4567428" y="1965960"/>
            <a:ext cx="3054096" cy="365760"/>
          </a:xfrm>
          <a:prstGeom prst="rect">
            <a:avLst/>
          </a:prstGeom>
          <a:noFill/>
          <a:ln/>
        </p:spPr>
        <p:txBody>
          <a:bodyPr wrap="square" lIns="0" tIns="0" rIns="0" bIns="0" rtlCol="0" anchor="ctr"/>
          <a:lstStyle/>
          <a:p>
            <a:pPr algn="l" indent="0" marL="0">
              <a:buNone/>
            </a:pPr>
            <a:r>
              <a:rPr lang="en-US" sz="1800" b="1" dirty="0">
                <a:solidFill>
                  <a:schemeClr val="accent2"/>
                </a:solidFill>
              </a:rPr>
              <a:t>Time Zones &amp; Calendars</a:t>
            </a:r>
            <a:endParaRPr lang="en-US" sz="1800" dirty="0"/>
          </a:p>
        </p:txBody>
      </p:sp>
      <p:sp>
        <p:nvSpPr>
          <p:cNvPr id="15" name="Text 12"/>
          <p:cNvSpPr txBox="1"/>
          <p:nvPr/>
        </p:nvSpPr>
        <p:spPr>
          <a:xfrm>
            <a:off x="4567428"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8 objects  |  34 attributes  |  10 critical</a:t>
            </a:r>
            <a:endParaRPr lang="en-US" sz="1200" dirty="0"/>
          </a:p>
        </p:txBody>
      </p:sp>
      <p:sp>
        <p:nvSpPr>
          <p:cNvPr id="16" name="Text 13"/>
          <p:cNvSpPr txBox="1"/>
          <p:nvPr/>
        </p:nvSpPr>
        <p:spPr>
          <a:xfrm>
            <a:off x="4567428"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Time zones and the calendars that set business days, holidays, dealing days, fiscal and reporting periods.</a:t>
            </a:r>
            <a:endParaRPr lang="en-US" sz="1300" dirty="0"/>
          </a:p>
        </p:txBody>
      </p:sp>
      <p:sp>
        <p:nvSpPr>
          <p:cNvPr id="17" name="Text 14"/>
          <p:cNvSpPr txBox="1"/>
          <p:nvPr/>
        </p:nvSpPr>
        <p:spPr>
          <a:xfrm>
            <a:off x="4567428"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4567428"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Time Zone, </a:t>
            </a:r>
            <a:pPr indent="0" marL="0">
              <a:buNone/>
            </a:pPr>
            <a:r>
              <a:rPr lang="en-US" sz="1300" b="1" dirty="0">
                <a:solidFill>
                  <a:schemeClr val="tx1"/>
                </a:solidFill>
              </a:rPr>
              <a:t>Calendar, </a:t>
            </a:r>
            <a:pPr indent="0" marL="0">
              <a:buNone/>
            </a:pPr>
            <a:r>
              <a:rPr lang="en-US" sz="1300" b="1" dirty="0">
                <a:solidFill>
                  <a:schemeClr val="tx1"/>
                </a:solidFill>
              </a:rPr>
              <a:t>Calendar Date, </a:t>
            </a:r>
            <a:pPr indent="0" marL="0">
              <a:buNone/>
            </a:pPr>
            <a:r>
              <a:rPr lang="en-US" sz="1300" b="1" dirty="0">
                <a:solidFill>
                  <a:schemeClr val="tx1"/>
                </a:solidFill>
              </a:rPr>
              <a:t>Fiscal Period, </a:t>
            </a:r>
            <a:pPr indent="0" marL="0">
              <a:buNone/>
            </a:pPr>
            <a:r>
              <a:rPr lang="en-US" sz="1300" b="1" dirty="0">
                <a:solidFill>
                  <a:schemeClr val="tx1"/>
                </a:solidFill>
              </a:rPr>
              <a:t>Reporting Period Definition, </a:t>
            </a:r>
            <a:pPr indent="0" marL="0">
              <a:buNone/>
            </a:pPr>
            <a:r>
              <a:rPr lang="en-US" sz="1300" dirty="0">
                <a:solidFill>
                  <a:schemeClr val="tx1"/>
                </a:solidFill>
              </a:rPr>
              <a:t>and 3 more</a:t>
            </a:r>
            <a:endParaRPr lang="en-US" sz="1300" dirty="0"/>
          </a:p>
        </p:txBody>
      </p:sp>
      <p:sp>
        <p:nvSpPr>
          <p:cNvPr id="19" name="Text 16"/>
          <p:cNvSpPr txBox="1"/>
          <p:nvPr/>
        </p:nvSpPr>
        <p:spPr>
          <a:xfrm>
            <a:off x="4567428"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4567428"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Calendar Type, Day Type, Fiscal Period ID, As-Of Date Convention, IANA Time Zone ID</a:t>
            </a:r>
            <a:endParaRPr lang="en-US" sz="1300" dirty="0"/>
          </a:p>
        </p:txBody>
      </p:sp>
      <p:sp>
        <p:nvSpPr>
          <p:cNvPr id="21" name="Shape 18"/>
          <p:cNvSpPr/>
          <p:nvPr/>
        </p:nvSpPr>
        <p:spPr>
          <a:xfrm>
            <a:off x="8129016" y="1783080"/>
            <a:ext cx="3511296" cy="4069080"/>
          </a:xfrm>
          <a:prstGeom prst="roundRect">
            <a:avLst>
              <a:gd name="adj" fmla="val 2083"/>
            </a:avLst>
          </a:prstGeom>
          <a:solidFill>
            <a:schemeClr val="bg2"/>
          </a:solidFill>
          <a:ln/>
        </p:spPr>
      </p:sp>
      <p:sp>
        <p:nvSpPr>
          <p:cNvPr id="22" name="Text 19"/>
          <p:cNvSpPr txBox="1"/>
          <p:nvPr/>
        </p:nvSpPr>
        <p:spPr>
          <a:xfrm>
            <a:off x="8357616" y="1965960"/>
            <a:ext cx="3054096" cy="365760"/>
          </a:xfrm>
          <a:prstGeom prst="rect">
            <a:avLst/>
          </a:prstGeom>
          <a:noFill/>
          <a:ln/>
        </p:spPr>
        <p:txBody>
          <a:bodyPr wrap="square" lIns="0" tIns="0" rIns="0" bIns="0" rtlCol="0" anchor="ctr"/>
          <a:lstStyle/>
          <a:p>
            <a:pPr algn="l" indent="0" marL="0">
              <a:buNone/>
            </a:pPr>
            <a:r>
              <a:rPr lang="en-US" sz="1800" b="1" dirty="0">
                <a:solidFill>
                  <a:schemeClr val="accent4"/>
                </a:solidFill>
              </a:rPr>
              <a:t>Currency &amp; FX Reference</a:t>
            </a:r>
            <a:endParaRPr lang="en-US" sz="1800" dirty="0"/>
          </a:p>
        </p:txBody>
      </p:sp>
      <p:sp>
        <p:nvSpPr>
          <p:cNvPr id="23" name="Text 20"/>
          <p:cNvSpPr txBox="1"/>
          <p:nvPr/>
        </p:nvSpPr>
        <p:spPr>
          <a:xfrm>
            <a:off x="8357616"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4 objects  |  21 attributes  |  6 critical</a:t>
            </a:r>
            <a:endParaRPr lang="en-US" sz="1200" dirty="0"/>
          </a:p>
        </p:txBody>
      </p:sp>
      <p:sp>
        <p:nvSpPr>
          <p:cNvPr id="24" name="Text 21"/>
          <p:cNvSpPr txBox="1"/>
          <p:nvPr/>
        </p:nvSpPr>
        <p:spPr>
          <a:xfrm>
            <a:off x="8357616"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ISO 4217 currencies, and the FX rate types, sources and conventions approved for each use. No rate series.</a:t>
            </a:r>
            <a:endParaRPr lang="en-US" sz="1300" dirty="0"/>
          </a:p>
        </p:txBody>
      </p:sp>
      <p:sp>
        <p:nvSpPr>
          <p:cNvPr id="25" name="Text 22"/>
          <p:cNvSpPr txBox="1"/>
          <p:nvPr/>
        </p:nvSpPr>
        <p:spPr>
          <a:xfrm>
            <a:off x="8357616"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26" name="Text 23"/>
          <p:cNvSpPr txBox="1"/>
          <p:nvPr/>
        </p:nvSpPr>
        <p:spPr>
          <a:xfrm>
            <a:off x="8357616"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Currency, </a:t>
            </a:r>
            <a:pPr indent="0" marL="0">
              <a:buNone/>
            </a:pPr>
            <a:r>
              <a:rPr lang="en-US" sz="1300" b="1" dirty="0">
                <a:solidFill>
                  <a:schemeClr val="tx1"/>
                </a:solidFill>
              </a:rPr>
              <a:t>Currency Pair Convention, </a:t>
            </a:r>
            <a:pPr indent="0" marL="0">
              <a:buNone/>
            </a:pPr>
            <a:r>
              <a:rPr lang="en-US" sz="1300" dirty="0">
                <a:solidFill>
                  <a:schemeClr val="tx1"/>
                </a:solidFill>
              </a:rPr>
              <a:t>FX Rate Source, </a:t>
            </a:r>
            <a:pPr indent="0" marL="0">
              <a:buNone/>
            </a:pPr>
            <a:r>
              <a:rPr lang="en-US" sz="1300" b="1" dirty="0">
                <a:solidFill>
                  <a:schemeClr val="tx1"/>
                </a:solidFill>
              </a:rPr>
              <a:t>FX Rate Type</a:t>
            </a:r>
            <a:endParaRPr lang="en-US" sz="1300" dirty="0"/>
          </a:p>
        </p:txBody>
      </p:sp>
      <p:sp>
        <p:nvSpPr>
          <p:cNvPr id="27" name="Text 24"/>
          <p:cNvSpPr txBox="1"/>
          <p:nvPr/>
        </p:nvSpPr>
        <p:spPr>
          <a:xfrm>
            <a:off x="8357616"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8" name="Text 25"/>
          <p:cNvSpPr txBox="1"/>
          <p:nvPr/>
        </p:nvSpPr>
        <p:spPr>
          <a:xfrm>
            <a:off x="8357616"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Currency Code, Minor Unit, FX Rate Type Code, Fixing Time, Approved Usage</a:t>
            </a:r>
            <a:endParaRPr lang="en-US" sz="1300" dirty="0"/>
          </a:p>
        </p:txBody>
      </p:sp>
      <p:sp>
        <p:nvSpPr>
          <p:cNvPr id="29" name="Text 26"/>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geographic unit, calendar, entity or org unit.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firm itself</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Internal Legal Entities</a:t>
                      </a:r>
                      <a:endParaRPr lang="en-US" sz="1200" dirty="0"/>
                    </a:p>
                    <a:p>
                      <a:pPr indent="0" marL="0">
                        <a:buNone/>
                      </a:pPr>
                      <a:r>
                        <a:rPr lang="en-US" sz="1100" dirty="0">
                          <a:solidFill>
                            <a:schemeClr val="tx2"/>
                          </a:solidFill>
                        </a:rPr>
                        <a:t>6 objects  |  46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firm's own entities, their identifiers, ownership, authorizations and roles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Internal Legal Entity, </a:t>
                      </a:r>
                      <a:pPr indent="0" marL="0">
                        <a:buNone/>
                      </a:pPr>
                      <a:r>
                        <a:rPr lang="en-US" sz="1200" dirty="0">
                          <a:solidFill>
                            <a:schemeClr val="tx1"/>
                          </a:solidFill>
                        </a:rPr>
                        <a:t>Legal Entity Identifier, </a:t>
                      </a:r>
                      <a:pPr indent="0" marL="0">
                        <a:buNone/>
                      </a:pPr>
                      <a:r>
                        <a:rPr lang="en-US" sz="1200" b="1" dirty="0">
                          <a:solidFill>
                            <a:schemeClr val="tx1"/>
                          </a:solidFill>
                        </a:rPr>
                        <a:t>Entity Ownership Relationship, </a:t>
                      </a:r>
                      <a:pPr indent="0" marL="0">
                        <a:buNone/>
                      </a:pPr>
                      <a:r>
                        <a:rPr lang="en-US" sz="1200" b="1" dirty="0">
                          <a:solidFill>
                            <a:schemeClr val="tx1"/>
                          </a:solidFill>
                        </a:rPr>
                        <a:t>Entity Authorization, </a:t>
                      </a:r>
                      <a:pPr indent="0" marL="0">
                        <a:buNone/>
                      </a:pPr>
                      <a:r>
                        <a:rPr lang="en-US" sz="1200" b="1" dirty="0">
                          <a:solidFill>
                            <a:schemeClr val="tx1"/>
                          </a:solidFill>
                        </a:rPr>
                        <a:t>Cross-Border Passport, </a:t>
                      </a:r>
                      <a:pPr indent="0" marL="0">
                        <a:buNone/>
                      </a:pPr>
                      <a:r>
                        <a:rPr lang="en-US" sz="1200" b="1" dirty="0">
                          <a:solidFill>
                            <a:schemeClr val="tx1"/>
                          </a:solidFill>
                        </a:rPr>
                        <a:t>Entity Distribution Role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Legal Entity ID, LEI, Regulator, Permitted Activities, Host Country, Distribution Role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Internal Organization</a:t>
                      </a:r>
                      <a:endParaRPr lang="en-US" sz="1200" dirty="0"/>
                    </a:p>
                    <a:p>
                      <a:pPr indent="0" marL="0">
                        <a:buNone/>
                      </a:pPr>
                      <a:r>
                        <a:rPr lang="en-US" sz="1100" dirty="0">
                          <a:solidFill>
                            <a:schemeClr val="tx2"/>
                          </a:solidFill>
                        </a:rPr>
                        <a:t>6 objects  |  26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Org units, cost centers, offices, hierarchies and governed reorganizations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Org Unit, </a:t>
                      </a:r>
                      <a:pPr indent="0" marL="0">
                        <a:buNone/>
                      </a:pPr>
                      <a:r>
                        <a:rPr lang="en-US" sz="1200" dirty="0">
                          <a:solidFill>
                            <a:schemeClr val="tx1"/>
                          </a:solidFill>
                        </a:rPr>
                        <a:t>Cost &amp; Profit Center, </a:t>
                      </a:r>
                      <a:pPr indent="0" marL="0">
                        <a:buNone/>
                      </a:pPr>
                      <a:r>
                        <a:rPr lang="en-US" sz="1200" b="1" dirty="0">
                          <a:solidFill>
                            <a:schemeClr val="tx1"/>
                          </a:solidFill>
                        </a:rPr>
                        <a:t>Office Location, </a:t>
                      </a:r>
                      <a:pPr indent="0" marL="0">
                        <a:buNone/>
                      </a:pPr>
                      <a:r>
                        <a:rPr lang="en-US" sz="1200" b="1" dirty="0">
                          <a:solidFill>
                            <a:schemeClr val="tx1"/>
                          </a:solidFill>
                        </a:rPr>
                        <a:t>Org Hierarchy Link, </a:t>
                      </a:r>
                      <a:pPr indent="0" marL="0">
                        <a:buNone/>
                      </a:pPr>
                      <a:r>
                        <a:rPr lang="en-US" sz="1200" b="1" dirty="0">
                          <a:solidFill>
                            <a:schemeClr val="tx1"/>
                          </a:solidFill>
                        </a:rPr>
                        <a:t>Org Unit Assignment, </a:t>
                      </a:r>
                      <a:pPr indent="0" marL="0">
                        <a:buNone/>
                      </a:pPr>
                      <a:r>
                        <a:rPr lang="en-US" sz="1200" b="1" dirty="0">
                          <a:solidFill>
                            <a:schemeClr val="tx1"/>
                          </a:solidFill>
                        </a:rPr>
                        <a:t>Reorganization Event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Org Unit ID, Org Hierarchy Type, Cost Center Code, History Restatement Rule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Workforce</a:t>
                      </a:r>
                      <a:endParaRPr lang="en-US" sz="1200" dirty="0"/>
                    </a:p>
                    <a:p>
                      <a:pPr indent="0" marL="0">
                        <a:buNone/>
                      </a:pPr>
                      <a:r>
                        <a:rPr lang="en-US" sz="1100" dirty="0">
                          <a:solidFill>
                            <a:schemeClr val="tx2"/>
                          </a:solidFill>
                        </a:rPr>
                        <a:t>2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HR-owned record of every employee and contractor, and who reports to whom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Employee, </a:t>
                      </a:r>
                      <a:pPr indent="0" marL="0">
                        <a:buNone/>
                      </a:pPr>
                      <a:r>
                        <a:rPr lang="en-US" sz="1200" b="1" dirty="0">
                          <a:solidFill>
                            <a:schemeClr val="tx1"/>
                          </a:solidFill>
                        </a:rPr>
                        <a:t>Employee Reporting Line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Employee ID, Employment Status, Employing Legal Entity, Line Manager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geographic unit, calendar, entity or org unit.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Shared codes and conventions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Languages, Locales &amp; Units</a:t>
                      </a:r>
                      <a:endParaRPr lang="en-US" sz="1200" dirty="0"/>
                    </a:p>
                    <a:p>
                      <a:pPr indent="0" marL="0">
                        <a:buNone/>
                      </a:pPr>
                      <a:r>
                        <a:rPr lang="en-US" sz="1100" dirty="0">
                          <a:solidFill>
                            <a:schemeClr val="tx2"/>
                          </a:solidFill>
                        </a:rPr>
                        <a:t>4 objects  |  15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Languages, locales, units of measure, and number, date and rounding conventions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Language, </a:t>
                      </a:r>
                      <a:pPr indent="0" marL="0">
                        <a:buNone/>
                      </a:pPr>
                      <a:r>
                        <a:rPr lang="en-US" sz="1200" b="1" dirty="0">
                          <a:solidFill>
                            <a:schemeClr val="tx1"/>
                          </a:solidFill>
                        </a:rPr>
                        <a:t>Locale, </a:t>
                      </a:r>
                      <a:pPr indent="0" marL="0">
                        <a:buNone/>
                      </a:pPr>
                      <a:r>
                        <a:rPr lang="en-US" sz="1200" b="1" dirty="0">
                          <a:solidFill>
                            <a:schemeClr val="tx1"/>
                          </a:solidFill>
                        </a:rPr>
                        <a:t>Unit of Measure, </a:t>
                      </a:r>
                      <a:pPr indent="0" marL="0">
                        <a:buNone/>
                      </a:pPr>
                      <a:r>
                        <a:rPr lang="en-US" sz="1200" dirty="0">
                          <a:solidFill>
                            <a:schemeClr val="tx1"/>
                          </a:solidFill>
                        </a:rPr>
                        <a:t>Number &amp; Date Convention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Locale Tag, Firm-Supported Language Indicator, Percentage Storage Convention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Industry Classification</a:t>
                      </a:r>
                      <a:endParaRPr lang="en-US" sz="1200" dirty="0"/>
                    </a:p>
                    <a:p>
                      <a:pPr indent="0" marL="0">
                        <a:buNone/>
                      </a:pPr>
                      <a:r>
                        <a:rPr lang="en-US" sz="1100" dirty="0">
                          <a:solidFill>
                            <a:schemeClr val="tx2"/>
                          </a:solidFill>
                        </a:rPr>
                        <a:t>3 objects  |  15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Industry schemes by version, their codes, and the concordances between schemes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Classification Scheme, </a:t>
                      </a:r>
                      <a:pPr indent="0" marL="0">
                        <a:buNone/>
                      </a:pPr>
                      <a:r>
                        <a:rPr lang="en-US" sz="1200" b="1" dirty="0">
                          <a:solidFill>
                            <a:schemeClr val="tx1"/>
                          </a:solidFill>
                        </a:rPr>
                        <a:t>Classification Code, </a:t>
                      </a:r>
                      <a:pPr indent="0" marL="0">
                        <a:buNone/>
                      </a:pPr>
                      <a:r>
                        <a:rPr lang="en-US" sz="1200" b="1" dirty="0">
                          <a:solidFill>
                            <a:schemeClr val="tx1"/>
                          </a:solidFill>
                        </a:rPr>
                        <a:t>Classification Concordance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Scheme Version, Classification Code, Target Classification Code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Enterprise Code List Registry</a:t>
                      </a:r>
                      <a:endParaRPr lang="en-US" sz="1200" dirty="0"/>
                    </a:p>
                    <a:p>
                      <a:pPr indent="0" marL="0">
                        <a:buNone/>
                      </a:pPr>
                      <a:r>
                        <a:rPr lang="en-US" sz="1100" dirty="0">
                          <a:solidFill>
                            <a:schemeClr val="tx2"/>
                          </a:solidFill>
                        </a:rPr>
                        <a:t>6 objects  |  34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Every governed code list: owner, versions, values, consumers and source mappings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Code List, </a:t>
                      </a:r>
                      <a:pPr indent="0" marL="0">
                        <a:buNone/>
                      </a:pPr>
                      <a:r>
                        <a:rPr lang="en-US" sz="1200" b="1" dirty="0">
                          <a:solidFill>
                            <a:schemeClr val="tx1"/>
                          </a:solidFill>
                        </a:rPr>
                        <a:t>Code List Consumer, </a:t>
                      </a:r>
                      <a:pPr indent="0" marL="0">
                        <a:buNone/>
                      </a:pPr>
                      <a:r>
                        <a:rPr lang="en-US" sz="1200" b="1" dirty="0">
                          <a:solidFill>
                            <a:schemeClr val="tx1"/>
                          </a:solidFill>
                        </a:rPr>
                        <a:t>Code List Version, </a:t>
                      </a:r>
                      <a:pPr indent="0" marL="0">
                        <a:buNone/>
                      </a:pPr>
                      <a:r>
                        <a:rPr lang="en-US" sz="1200" b="1" dirty="0">
                          <a:solidFill>
                            <a:schemeClr val="tx1"/>
                          </a:solidFill>
                        </a:rPr>
                        <a:t>Code Value, </a:t>
                      </a:r>
                      <a:pPr indent="0" marL="0">
                        <a:buNone/>
                      </a:pPr>
                      <a:r>
                        <a:rPr lang="en-US" sz="1200" b="1" dirty="0">
                          <a:solidFill>
                            <a:schemeClr val="tx1"/>
                          </a:solidFill>
                        </a:rPr>
                        <a:t>Code Mapping, </a:t>
                      </a:r>
                      <a:pPr indent="0" marL="0">
                        <a:buNone/>
                      </a:pPr>
                      <a:r>
                        <a:rPr lang="en-US" sz="1200" b="1" dirty="0">
                          <a:solidFill>
                            <a:schemeClr val="tx1"/>
                          </a:solidFill>
                        </a:rPr>
                        <a:t>Code List Change Request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Code List ID, Data Owner, Code Value Status, Source Value, Target Code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Reference Data Management</a:t>
                      </a:r>
                      <a:endParaRPr lang="en-US" sz="1200" dirty="0"/>
                    </a:p>
                    <a:p>
                      <a:pPr indent="0" marL="0">
                        <a:buNone/>
                      </a:pPr>
                      <a:r>
                        <a:rPr lang="en-US" sz="1100" dirty="0">
                          <a:solidFill>
                            <a:schemeClr val="tx2"/>
                          </a:solidFill>
                        </a:rPr>
                        <a:t>1 objects  |  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Which consuming systems receive which reference data set, and how</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Reference Data Subscription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 Data Set, Subscribing System, Distribution Method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geographic unit, calendar, entity or org unit.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standards, with a firm layer on top</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the UCITS Directive, LSEG WM/Reuters, ECB, FCA, SEC, FINRA, Unicode CLDR and DCAM.</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40%</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(105 of 263) align to an external standard, register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113</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82</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proposed critical data elements, 31 percent of the domain</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Products, share classes, fund service-provider roles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Dealing calendar structure, and each entity's standing distribution role by market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External parties, their addresses and industry codes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firm's own legal entities, each cross-referenced to its party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Sales teams and the salesperson's sales profile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HR employee record, keyed EMP-, which the sales profile extends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data feeds, party-matching crosswalks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Reporting period definitions and code value mappings. Close and lock dates stay there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Territories and alignment rules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geographic units and groups that territories are built from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Individual licenses and compliance obligations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Entity-level authorizations, permitted activities and cross-border passports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Chart of accounts, GL postings and cost allocation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&amp; Profitability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Org units, with cost and profit center codes and fiscal period status held as copies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FX rate and market data licenses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Third-Party Data &amp; Licensing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FX rate types, sources and conventions. No rate time series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257 attributes mastered, 6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257</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263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2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658368"/>
          </a:xfrm>
          <a:prstGeom prst="roundRect">
            <a:avLst>
              <a:gd name="adj" fmla="val 11111"/>
            </a:avLst>
          </a:prstGeom>
          <a:solidFill>
            <a:schemeClr val="bg2"/>
          </a:solidFill>
          <a:ln/>
        </p:spPr>
      </p:sp>
      <p:sp>
        <p:nvSpPr>
          <p:cNvPr id="13" name="Text 10"/>
          <p:cNvSpPr txBox="1"/>
          <p:nvPr/>
        </p:nvSpPr>
        <p:spPr>
          <a:xfrm>
            <a:off x="4343400" y="1783080"/>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Distribution Finance &amp; Profitability</a:t>
            </a:r>
            <a:endParaRPr lang="en-US" sz="1200" dirty="0"/>
          </a:p>
        </p:txBody>
      </p:sp>
      <p:sp>
        <p:nvSpPr>
          <p:cNvPr id="14" name="Text 11"/>
          <p:cNvSpPr txBox="1"/>
          <p:nvPr/>
        </p:nvSpPr>
        <p:spPr>
          <a:xfrm>
            <a:off x="7132320" y="1783080"/>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3 copies</a:t>
            </a:r>
            <a:endParaRPr lang="en-US" sz="1200" dirty="0"/>
          </a:p>
        </p:txBody>
      </p:sp>
      <p:sp>
        <p:nvSpPr>
          <p:cNvPr id="15" name="Text 12"/>
          <p:cNvSpPr txBox="1"/>
          <p:nvPr/>
        </p:nvSpPr>
        <p:spPr>
          <a:xfrm>
            <a:off x="8458200" y="1783080"/>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Fiscal period status on a fiscal period; cost center and profit center codes on an org unit</a:t>
            </a:r>
            <a:endParaRPr lang="en-US" sz="1100" dirty="0"/>
          </a:p>
        </p:txBody>
      </p:sp>
      <p:sp>
        <p:nvSpPr>
          <p:cNvPr id="16" name="Shape 13"/>
          <p:cNvSpPr/>
          <p:nvPr/>
        </p:nvSpPr>
        <p:spPr>
          <a:xfrm>
            <a:off x="4114800" y="2551176"/>
            <a:ext cx="7525512" cy="658368"/>
          </a:xfrm>
          <a:prstGeom prst="roundRect">
            <a:avLst>
              <a:gd name="adj" fmla="val 11111"/>
            </a:avLst>
          </a:prstGeom>
          <a:solidFill>
            <a:schemeClr val="bg2"/>
          </a:solidFill>
          <a:ln/>
        </p:spPr>
      </p:sp>
      <p:sp>
        <p:nvSpPr>
          <p:cNvPr id="17" name="Text 14"/>
          <p:cNvSpPr txBox="1"/>
          <p:nvPr/>
        </p:nvSpPr>
        <p:spPr>
          <a:xfrm>
            <a:off x="4343400" y="2551176"/>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Third-Party Data &amp; Licensing</a:t>
            </a:r>
            <a:endParaRPr lang="en-US" sz="1200" dirty="0"/>
          </a:p>
        </p:txBody>
      </p:sp>
      <p:sp>
        <p:nvSpPr>
          <p:cNvPr id="18" name="Text 15"/>
          <p:cNvSpPr txBox="1"/>
          <p:nvPr/>
        </p:nvSpPr>
        <p:spPr>
          <a:xfrm>
            <a:off x="7132320" y="2551176"/>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 1 copy</a:t>
            </a:r>
            <a:endParaRPr lang="en-US" sz="1200" dirty="0"/>
          </a:p>
        </p:txBody>
      </p:sp>
      <p:sp>
        <p:nvSpPr>
          <p:cNvPr id="19" name="Text 16"/>
          <p:cNvSpPr txBox="1"/>
          <p:nvPr/>
        </p:nvSpPr>
        <p:spPr>
          <a:xfrm>
            <a:off x="8458200" y="2551176"/>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licensed dataset behind an FX rate source, and its benchmark regulatory status</a:t>
            </a:r>
            <a:endParaRPr lang="en-US" sz="1100" dirty="0"/>
          </a:p>
        </p:txBody>
      </p:sp>
      <p:sp>
        <p:nvSpPr>
          <p:cNvPr id="20" name="Shape 17"/>
          <p:cNvSpPr/>
          <p:nvPr/>
        </p:nvSpPr>
        <p:spPr>
          <a:xfrm>
            <a:off x="4114800" y="3319272"/>
            <a:ext cx="7525512" cy="658368"/>
          </a:xfrm>
          <a:prstGeom prst="roundRect">
            <a:avLst>
              <a:gd name="adj" fmla="val 11111"/>
            </a:avLst>
          </a:prstGeom>
          <a:solidFill>
            <a:schemeClr val="bg2"/>
          </a:solidFill>
          <a:ln/>
        </p:spPr>
      </p:sp>
      <p:sp>
        <p:nvSpPr>
          <p:cNvPr id="21" name="Text 18"/>
          <p:cNvSpPr txBox="1"/>
          <p:nvPr/>
        </p:nvSpPr>
        <p:spPr>
          <a:xfrm>
            <a:off x="4343400" y="3319272"/>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22" name="Text 19"/>
          <p:cNvSpPr txBox="1"/>
          <p:nvPr/>
        </p:nvSpPr>
        <p:spPr>
          <a:xfrm>
            <a:off x="7132320" y="3319272"/>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23" name="Text 20"/>
          <p:cNvSpPr txBox="1"/>
          <p:nvPr/>
        </p:nvSpPr>
        <p:spPr>
          <a:xfrm>
            <a:off x="8458200" y="3319272"/>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party record that represents an internal legal entity in the party master</a:t>
            </a:r>
            <a:endParaRPr lang="en-US" sz="1100" dirty="0"/>
          </a:p>
        </p:txBody>
      </p:sp>
      <p:sp>
        <p:nvSpPr>
          <p:cNvPr id="24" name="Shape 21"/>
          <p:cNvSpPr/>
          <p:nvPr/>
        </p:nvSpPr>
        <p:spPr>
          <a:xfrm>
            <a:off x="548640" y="5687568"/>
            <a:ext cx="11091672" cy="530352"/>
          </a:xfrm>
          <a:prstGeom prst="roundRect">
            <a:avLst>
              <a:gd name="adj" fmla="val 13793"/>
            </a:avLst>
          </a:prstGeom>
          <a:solidFill>
            <a:schemeClr val="bg2"/>
          </a:solidFill>
          <a:ln/>
        </p:spPr>
      </p:sp>
      <p:sp>
        <p:nvSpPr>
          <p:cNvPr id="25" name="Text 22"/>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122 attributes in 12 of the 13 other domains reference a record mastered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13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18</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5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13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9 high, 0 medium, 4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GAP-09-004</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taxonomy objects for data products, their inputs and certification, source systems or lineage edges (DP-075)</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GAP-09-005</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FX rate observation object, so reporting-currency conversion of flows and AUM cannot be reproduced (DP-013)</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GAP-09-002</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Code List Version, Code Value, Change Request and Consumer do not name the code list they belong to (DP-013, DP-075)</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GAP-09-009</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US states exist both as Country Subdivision and as Geographic Unit, with no link between the two (DP-013)</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GAP-09-008</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Locale has no language or country reference, and Currency Pair Convention no base or quote currency (DP-013)</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GAP-09-011</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Org Unit Assignment holds its period as one text field and has no link to the reorganization behind it (DP-009)</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GAP-09-012</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Code Mapping and Reference Data Subscription name systems by code, with no single system register (DP-075)</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Standards lists, regulator registers, the HR system and the finance calendar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dimension</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Calendar date, fiscal period, legal entity, org unit, country, currency and code value are published once, in SM-00 Shared Dimensions, from DP-013.</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82 proposed critical data elements, and a registry that records the owner and steward of every code list.</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Standards, registers, HR system</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Reference data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DP-013, DP-075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Two products turn the domain into records</a:t>
            </a:r>
            <a:endParaRPr lang="en-US" sz="3600" dirty="0"/>
          </a:p>
        </p:txBody>
      </p:sp>
      <p:sp>
        <p:nvSpPr>
          <p:cNvPr id="5" name="Shape 2"/>
          <p:cNvSpPr/>
          <p:nvPr/>
        </p:nvSpPr>
        <p:spPr>
          <a:xfrm>
            <a:off x="548640" y="1783080"/>
            <a:ext cx="5406390" cy="3520440"/>
          </a:xfrm>
          <a:prstGeom prst="roundRect">
            <a:avLst>
              <a:gd name="adj" fmla="val 2078"/>
            </a:avLst>
          </a:prstGeom>
          <a:solidFill>
            <a:schemeClr val="bg2"/>
          </a:solidFill>
          <a:ln/>
        </p:spPr>
      </p:sp>
      <p:sp>
        <p:nvSpPr>
          <p:cNvPr id="6" name="Text 3"/>
          <p:cNvSpPr/>
          <p:nvPr/>
        </p:nvSpPr>
        <p:spPr>
          <a:xfrm>
            <a:off x="777240" y="1965960"/>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DP-013</a:t>
            </a:r>
            <a:endParaRPr lang="en-US" sz="1200" dirty="0"/>
          </a:p>
        </p:txBody>
      </p:sp>
      <p:sp>
        <p:nvSpPr>
          <p:cNvPr id="7" name="Text 4"/>
          <p:cNvSpPr txBox="1"/>
          <p:nvPr/>
        </p:nvSpPr>
        <p:spPr>
          <a:xfrm>
            <a:off x="777240" y="2386584"/>
            <a:ext cx="4949190" cy="512064"/>
          </a:xfrm>
          <a:prstGeom prst="rect">
            <a:avLst/>
          </a:prstGeom>
          <a:noFill/>
          <a:ln/>
        </p:spPr>
        <p:txBody>
          <a:bodyPr wrap="square" lIns="0" tIns="0" rIns="0" bIns="0" rtlCol="0" anchor="ctr"/>
          <a:lstStyle/>
          <a:p>
            <a:pPr algn="l" indent="0" marL="0">
              <a:buNone/>
            </a:pPr>
            <a:r>
              <a:rPr lang="en-US" sz="1600" b="1" dirty="0">
                <a:solidFill>
                  <a:schemeClr val="tx1"/>
                </a:solidFill>
              </a:rPr>
              <a:t>Enterprise Reference &amp; Calendars</a:t>
            </a:r>
            <a:endParaRPr lang="en-US" sz="1600" dirty="0"/>
          </a:p>
        </p:txBody>
      </p:sp>
      <p:sp>
        <p:nvSpPr>
          <p:cNvPr id="8" name="Shape 5"/>
          <p:cNvSpPr/>
          <p:nvPr/>
        </p:nvSpPr>
        <p:spPr>
          <a:xfrm>
            <a:off x="777240" y="2971800"/>
            <a:ext cx="4949190" cy="0"/>
          </a:xfrm>
          <a:prstGeom prst="line">
            <a:avLst/>
          </a:prstGeom>
          <a:noFill/>
          <a:ln w="9525">
            <a:solidFill>
              <a:srgbClr val="D5D9E1"/>
            </a:solidFill>
            <a:prstDash val="solid"/>
          </a:ln>
        </p:spPr>
      </p:sp>
      <p:sp>
        <p:nvSpPr>
          <p:cNvPr id="9" name="Text 6"/>
          <p:cNvSpPr txBox="1"/>
          <p:nvPr/>
        </p:nvSpPr>
        <p:spPr>
          <a:xfrm>
            <a:off x="777240" y="3026664"/>
            <a:ext cx="4949190"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10" name="Text 7"/>
          <p:cNvSpPr txBox="1"/>
          <p:nvPr/>
        </p:nvSpPr>
        <p:spPr>
          <a:xfrm>
            <a:off x="777240" y="3282696"/>
            <a:ext cx="4949190" cy="402336"/>
          </a:xfrm>
          <a:prstGeom prst="rect">
            <a:avLst/>
          </a:prstGeom>
          <a:noFill/>
          <a:ln/>
        </p:spPr>
        <p:txBody>
          <a:bodyPr wrap="square" lIns="0" tIns="0" rIns="0" bIns="0" rtlCol="0" anchor="t"/>
          <a:lstStyle/>
          <a:p>
            <a:pPr algn="l" indent="0" marL="0">
              <a:buNone/>
            </a:pPr>
            <a:r>
              <a:rPr lang="en-US" sz="1200" dirty="0">
                <a:solidFill>
                  <a:schemeClr val="tx1"/>
                </a:solidFill>
              </a:rPr>
              <a:t>One row per reference member and effective period, as conformed tables</a:t>
            </a:r>
            <a:endParaRPr lang="en-US" sz="1200" dirty="0"/>
          </a:p>
        </p:txBody>
      </p:sp>
      <p:sp>
        <p:nvSpPr>
          <p:cNvPr id="11" name="Shape 8"/>
          <p:cNvSpPr/>
          <p:nvPr/>
        </p:nvSpPr>
        <p:spPr>
          <a:xfrm>
            <a:off x="777240" y="3739896"/>
            <a:ext cx="4949190" cy="0"/>
          </a:xfrm>
          <a:prstGeom prst="line">
            <a:avLst/>
          </a:prstGeom>
          <a:noFill/>
          <a:ln w="9525">
            <a:solidFill>
              <a:srgbClr val="D5D9E1"/>
            </a:solidFill>
            <a:prstDash val="solid"/>
          </a:ln>
        </p:spPr>
      </p:sp>
      <p:sp>
        <p:nvSpPr>
          <p:cNvPr id="12" name="Text 9"/>
          <p:cNvSpPr txBox="1"/>
          <p:nvPr/>
        </p:nvSpPr>
        <p:spPr>
          <a:xfrm>
            <a:off x="777240" y="3794760"/>
            <a:ext cx="4949190"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13" name="Text 10"/>
          <p:cNvSpPr txBox="1"/>
          <p:nvPr/>
        </p:nvSpPr>
        <p:spPr>
          <a:xfrm>
            <a:off x="777240" y="4050792"/>
            <a:ext cx="4949190" cy="402336"/>
          </a:xfrm>
          <a:prstGeom prst="rect">
            <a:avLst/>
          </a:prstGeom>
          <a:noFill/>
          <a:ln/>
        </p:spPr>
        <p:txBody>
          <a:bodyPr wrap="square" lIns="0" tIns="0" rIns="0" bIns="0" rtlCol="0" anchor="t"/>
          <a:lstStyle/>
          <a:p>
            <a:pPr algn="l" indent="0" marL="0">
              <a:buNone/>
            </a:pPr>
            <a:r>
              <a:rPr lang="en-US" sz="1200" dirty="0">
                <a:solidFill>
                  <a:schemeClr val="tx1"/>
                </a:solidFill>
              </a:rPr>
              <a:t>All 191 of its attributes come from 42 of this domain's 52 objects</a:t>
            </a:r>
            <a:endParaRPr lang="en-US" sz="1200" dirty="0"/>
          </a:p>
        </p:txBody>
      </p:sp>
      <p:sp>
        <p:nvSpPr>
          <p:cNvPr id="14" name="Shape 11"/>
          <p:cNvSpPr/>
          <p:nvPr/>
        </p:nvSpPr>
        <p:spPr>
          <a:xfrm>
            <a:off x="777240" y="4507992"/>
            <a:ext cx="4949190" cy="0"/>
          </a:xfrm>
          <a:prstGeom prst="line">
            <a:avLst/>
          </a:prstGeom>
          <a:noFill/>
          <a:ln w="9525">
            <a:solidFill>
              <a:srgbClr val="D5D9E1"/>
            </a:solidFill>
            <a:prstDash val="solid"/>
          </a:ln>
        </p:spPr>
      </p:sp>
      <p:sp>
        <p:nvSpPr>
          <p:cNvPr id="15" name="Text 12"/>
          <p:cNvSpPr txBox="1"/>
          <p:nvPr/>
        </p:nvSpPr>
        <p:spPr>
          <a:xfrm>
            <a:off x="777240" y="4562856"/>
            <a:ext cx="4949190"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16" name="Text 13"/>
          <p:cNvSpPr txBox="1"/>
          <p:nvPr/>
        </p:nvSpPr>
        <p:spPr>
          <a:xfrm>
            <a:off x="777240" y="4818888"/>
            <a:ext cx="4949190" cy="402336"/>
          </a:xfrm>
          <a:prstGeom prst="rect">
            <a:avLst/>
          </a:prstGeom>
          <a:noFill/>
          <a:ln/>
        </p:spPr>
        <p:txBody>
          <a:bodyPr wrap="square" lIns="0" tIns="0" rIns="0" bIns="0" rtlCol="0" anchor="t"/>
          <a:lstStyle/>
          <a:p>
            <a:pPr algn="l" indent="0" marL="0">
              <a:buNone/>
            </a:pPr>
            <a:r>
              <a:rPr lang="en-US" sz="1200" dirty="0">
                <a:solidFill>
                  <a:schemeClr val="tx1"/>
                </a:solidFill>
              </a:rPr>
              <a:t>Each calendar has exactly one Calendar Date row per date, with a Day Type</a:t>
            </a:r>
            <a:endParaRPr lang="en-US" sz="1200" dirty="0"/>
          </a:p>
        </p:txBody>
      </p:sp>
      <p:sp>
        <p:nvSpPr>
          <p:cNvPr id="17" name="Shape 14"/>
          <p:cNvSpPr/>
          <p:nvPr/>
        </p:nvSpPr>
        <p:spPr>
          <a:xfrm>
            <a:off x="548640" y="5486400"/>
            <a:ext cx="5406390" cy="731520"/>
          </a:xfrm>
          <a:prstGeom prst="roundRect">
            <a:avLst>
              <a:gd name="adj" fmla="val 10000"/>
            </a:avLst>
          </a:prstGeom>
          <a:solidFill>
            <a:schemeClr val="tx1"/>
          </a:solidFill>
          <a:ln/>
        </p:spPr>
      </p:sp>
      <p:sp>
        <p:nvSpPr>
          <p:cNvPr id="18" name="Text 15"/>
          <p:cNvSpPr txBox="1"/>
          <p:nvPr/>
        </p:nvSpPr>
        <p:spPr>
          <a:xfrm>
            <a:off x="777240"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88</a:t>
            </a:r>
            <a:endParaRPr lang="en-US" sz="2800" dirty="0"/>
          </a:p>
        </p:txBody>
      </p:sp>
      <p:sp>
        <p:nvSpPr>
          <p:cNvPr id="19" name="Text 16"/>
          <p:cNvSpPr txBox="1"/>
          <p:nvPr/>
        </p:nvSpPr>
        <p:spPr>
          <a:xfrm>
            <a:off x="1508760" y="5486400"/>
            <a:ext cx="4263390"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DP-013 as a direct upstream</a:t>
            </a:r>
            <a:endParaRPr lang="en-US" sz="1200" dirty="0"/>
          </a:p>
        </p:txBody>
      </p:sp>
      <p:sp>
        <p:nvSpPr>
          <p:cNvPr id="20" name="Shape 17"/>
          <p:cNvSpPr/>
          <p:nvPr/>
        </p:nvSpPr>
        <p:spPr>
          <a:xfrm>
            <a:off x="6233922" y="1783080"/>
            <a:ext cx="5406390" cy="3520440"/>
          </a:xfrm>
          <a:prstGeom prst="roundRect">
            <a:avLst>
              <a:gd name="adj" fmla="val 2078"/>
            </a:avLst>
          </a:prstGeom>
          <a:solidFill>
            <a:schemeClr val="bg2"/>
          </a:solidFill>
          <a:ln/>
        </p:spPr>
      </p:sp>
      <p:sp>
        <p:nvSpPr>
          <p:cNvPr id="21" name="Text 18"/>
          <p:cNvSpPr/>
          <p:nvPr/>
        </p:nvSpPr>
        <p:spPr>
          <a:xfrm>
            <a:off x="6462522" y="1965960"/>
            <a:ext cx="914400" cy="347472"/>
          </a:xfrm>
          <a:prstGeom prst="roundRect">
            <a:avLst>
              <a:gd name="adj" fmla="val 15789"/>
            </a:avLst>
          </a:prstGeom>
          <a:solidFill>
            <a:schemeClr val="accent2"/>
          </a:solidFill>
          <a:ln/>
        </p:spPr>
        <p:txBody>
          <a:bodyPr wrap="square" lIns="0" tIns="0" rIns="0" bIns="0" rtlCol="0" anchor="ctr"/>
          <a:lstStyle/>
          <a:p>
            <a:pPr algn="ctr" indent="0" marL="0">
              <a:buNone/>
            </a:pPr>
            <a:r>
              <a:rPr lang="en-US" sz="1200" b="1" dirty="0">
                <a:solidFill>
                  <a:schemeClr val="bg1"/>
                </a:solidFill>
              </a:rPr>
              <a:t>DP-075</a:t>
            </a:r>
            <a:endParaRPr lang="en-US" sz="1200" dirty="0"/>
          </a:p>
        </p:txBody>
      </p:sp>
      <p:sp>
        <p:nvSpPr>
          <p:cNvPr id="22" name="Text 19"/>
          <p:cNvSpPr txBox="1"/>
          <p:nvPr/>
        </p:nvSpPr>
        <p:spPr>
          <a:xfrm>
            <a:off x="6462522" y="2386584"/>
            <a:ext cx="4949190" cy="512064"/>
          </a:xfrm>
          <a:prstGeom prst="rect">
            <a:avLst/>
          </a:prstGeom>
          <a:noFill/>
          <a:ln/>
        </p:spPr>
        <p:txBody>
          <a:bodyPr wrap="square" lIns="0" tIns="0" rIns="0" bIns="0" rtlCol="0" anchor="ctr"/>
          <a:lstStyle/>
          <a:p>
            <a:pPr algn="l" indent="0" marL="0">
              <a:buNone/>
            </a:pPr>
            <a:r>
              <a:rPr lang="en-US" sz="1600" b="1" dirty="0">
                <a:solidFill>
                  <a:schemeClr val="tx1"/>
                </a:solidFill>
              </a:rPr>
              <a:t>Distribution Metadata &amp; Lineage Catalog</a:t>
            </a:r>
            <a:endParaRPr lang="en-US" sz="1600" dirty="0"/>
          </a:p>
        </p:txBody>
      </p:sp>
      <p:sp>
        <p:nvSpPr>
          <p:cNvPr id="23" name="Shape 20"/>
          <p:cNvSpPr/>
          <p:nvPr/>
        </p:nvSpPr>
        <p:spPr>
          <a:xfrm>
            <a:off x="6462522" y="2971800"/>
            <a:ext cx="4949190" cy="0"/>
          </a:xfrm>
          <a:prstGeom prst="line">
            <a:avLst/>
          </a:prstGeom>
          <a:noFill/>
          <a:ln w="9525">
            <a:solidFill>
              <a:srgbClr val="D5D9E1"/>
            </a:solidFill>
            <a:prstDash val="solid"/>
          </a:ln>
        </p:spPr>
      </p:sp>
      <p:sp>
        <p:nvSpPr>
          <p:cNvPr id="24" name="Text 21"/>
          <p:cNvSpPr txBox="1"/>
          <p:nvPr/>
        </p:nvSpPr>
        <p:spPr>
          <a:xfrm>
            <a:off x="6462522" y="3026664"/>
            <a:ext cx="4949190"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25" name="Text 22"/>
          <p:cNvSpPr txBox="1"/>
          <p:nvPr/>
        </p:nvSpPr>
        <p:spPr>
          <a:xfrm>
            <a:off x="6462522" y="3282696"/>
            <a:ext cx="4949190" cy="402336"/>
          </a:xfrm>
          <a:prstGeom prst="rect">
            <a:avLst/>
          </a:prstGeom>
          <a:noFill/>
          <a:ln/>
        </p:spPr>
        <p:txBody>
          <a:bodyPr wrap="square" lIns="0" tIns="0" rIns="0" bIns="0" rtlCol="0" anchor="t"/>
          <a:lstStyle/>
          <a:p>
            <a:pPr algn="l" indent="0" marL="0">
              <a:buNone/>
            </a:pPr>
            <a:r>
              <a:rPr lang="en-US" sz="1200" dirty="0">
                <a:solidFill>
                  <a:schemeClr val="tx1"/>
                </a:solidFill>
              </a:rPr>
              <a:t>One row per catalog entry and version, with lineage edges beneath</a:t>
            </a:r>
            <a:endParaRPr lang="en-US" sz="1200" dirty="0"/>
          </a:p>
        </p:txBody>
      </p:sp>
      <p:sp>
        <p:nvSpPr>
          <p:cNvPr id="26" name="Shape 23"/>
          <p:cNvSpPr/>
          <p:nvPr/>
        </p:nvSpPr>
        <p:spPr>
          <a:xfrm>
            <a:off x="6462522" y="3739896"/>
            <a:ext cx="4949190" cy="0"/>
          </a:xfrm>
          <a:prstGeom prst="line">
            <a:avLst/>
          </a:prstGeom>
          <a:noFill/>
          <a:ln w="9525">
            <a:solidFill>
              <a:srgbClr val="D5D9E1"/>
            </a:solidFill>
            <a:prstDash val="solid"/>
          </a:ln>
        </p:spPr>
      </p:sp>
      <p:sp>
        <p:nvSpPr>
          <p:cNvPr id="27" name="Text 24"/>
          <p:cNvSpPr txBox="1"/>
          <p:nvPr/>
        </p:nvSpPr>
        <p:spPr>
          <a:xfrm>
            <a:off x="6462522" y="3794760"/>
            <a:ext cx="4949190"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28" name="Text 25"/>
          <p:cNvSpPr txBox="1"/>
          <p:nvPr/>
        </p:nvSpPr>
        <p:spPr>
          <a:xfrm>
            <a:off x="6462522" y="4050792"/>
            <a:ext cx="4949190" cy="402336"/>
          </a:xfrm>
          <a:prstGeom prst="rect">
            <a:avLst/>
          </a:prstGeom>
          <a:noFill/>
          <a:ln/>
        </p:spPr>
        <p:txBody>
          <a:bodyPr wrap="square" lIns="0" tIns="0" rIns="0" bIns="0" rtlCol="0" anchor="t"/>
          <a:lstStyle/>
          <a:p>
            <a:pPr algn="l" indent="0" marL="0">
              <a:buNone/>
            </a:pPr>
            <a:r>
              <a:rPr lang="en-US" sz="1200" dirty="0">
                <a:solidFill>
                  <a:schemeClr val="tx1"/>
                </a:solidFill>
              </a:rPr>
              <a:t>24 of its 80 attributes come from 5 of this domain's 52 objects</a:t>
            </a:r>
            <a:endParaRPr lang="en-US" sz="1200" dirty="0"/>
          </a:p>
        </p:txBody>
      </p:sp>
      <p:sp>
        <p:nvSpPr>
          <p:cNvPr id="29" name="Shape 26"/>
          <p:cNvSpPr/>
          <p:nvPr/>
        </p:nvSpPr>
        <p:spPr>
          <a:xfrm>
            <a:off x="6462522" y="4507992"/>
            <a:ext cx="4949190" cy="0"/>
          </a:xfrm>
          <a:prstGeom prst="line">
            <a:avLst/>
          </a:prstGeom>
          <a:noFill/>
          <a:ln w="9525">
            <a:solidFill>
              <a:srgbClr val="D5D9E1"/>
            </a:solidFill>
            <a:prstDash val="solid"/>
          </a:ln>
        </p:spPr>
      </p:sp>
      <p:sp>
        <p:nvSpPr>
          <p:cNvPr id="30" name="Text 27"/>
          <p:cNvSpPr txBox="1"/>
          <p:nvPr/>
        </p:nvSpPr>
        <p:spPr>
          <a:xfrm>
            <a:off x="6462522" y="4562856"/>
            <a:ext cx="4949190"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31" name="Text 28"/>
          <p:cNvSpPr txBox="1"/>
          <p:nvPr/>
        </p:nvSpPr>
        <p:spPr>
          <a:xfrm>
            <a:off x="6462522" y="4818888"/>
            <a:ext cx="4949190" cy="402336"/>
          </a:xfrm>
          <a:prstGeom prst="rect">
            <a:avLst/>
          </a:prstGeom>
          <a:noFill/>
          <a:ln/>
        </p:spPr>
        <p:txBody>
          <a:bodyPr wrap="square" lIns="0" tIns="0" rIns="0" bIns="0" rtlCol="0" anchor="t"/>
          <a:lstStyle/>
          <a:p>
            <a:pPr algn="l" indent="0" marL="0">
              <a:buNone/>
            </a:pPr>
            <a:r>
              <a:rPr lang="en-US" sz="1200" dirty="0">
                <a:solidFill>
                  <a:schemeClr val="tx1"/>
                </a:solidFill>
              </a:rPr>
              <a:t>Every registered Code List has a Data Owner and a Current Version</a:t>
            </a:r>
            <a:endParaRPr lang="en-US" sz="1200" dirty="0"/>
          </a:p>
        </p:txBody>
      </p:sp>
      <p:sp>
        <p:nvSpPr>
          <p:cNvPr id="32" name="Shape 29"/>
          <p:cNvSpPr/>
          <p:nvPr/>
        </p:nvSpPr>
        <p:spPr>
          <a:xfrm>
            <a:off x="6233922" y="5486400"/>
            <a:ext cx="5406390" cy="731520"/>
          </a:xfrm>
          <a:prstGeom prst="roundRect">
            <a:avLst>
              <a:gd name="adj" fmla="val 10000"/>
            </a:avLst>
          </a:prstGeom>
          <a:solidFill>
            <a:schemeClr val="tx1"/>
          </a:solidFill>
          <a:ln/>
        </p:spPr>
      </p:sp>
      <p:sp>
        <p:nvSpPr>
          <p:cNvPr id="33" name="Text 30"/>
          <p:cNvSpPr txBox="1"/>
          <p:nvPr/>
        </p:nvSpPr>
        <p:spPr>
          <a:xfrm>
            <a:off x="6462522"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3</a:t>
            </a:r>
            <a:endParaRPr lang="en-US" sz="2800" dirty="0"/>
          </a:p>
        </p:txBody>
      </p:sp>
      <p:sp>
        <p:nvSpPr>
          <p:cNvPr id="34" name="Text 31"/>
          <p:cNvSpPr txBox="1"/>
          <p:nvPr/>
        </p:nvSpPr>
        <p:spPr>
          <a:xfrm>
            <a:off x="7194042" y="5486400"/>
            <a:ext cx="4263390"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DP-075 as a direct upstream</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22 of 92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22</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8 foundational and 14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52 of 52</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94%</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(247 of 263)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regulatory and control products, the largest group of the 22</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9 regulatory and control, 4 master and reference, 4 conformed facts, 4 analytical, 1 operational.</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Two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DP-013</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Enterprise Reference &amp; Calendars</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Data Office</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One governed, versioned copy of geography, calendars, currencies, legal entities, org units and code lists.</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371600"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191 of 191</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DP-075</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Distribution Metadata &amp; Lineage Catalog</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Data Office</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The catalog of data products, feeds, licensed datasets and code lists, with lineage from source to product.</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411480"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24 of 80</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20 more rely on it for shared reference</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Compliance and cross-border distribution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DP-039, DP-041, DP-078, DP-083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Employees and reporting lines, internal legal entities, entity authorizations, passports, countries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Distribution finance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DP-012, DP-056, DP-074, DP-089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Fiscal periods, org units, cost and profit centers, legal entities and their distribution roles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Sales organization, territory and pay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DP-009, DP-054, DP-082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Employees, reporting lines, org unit assignments, reorganizations, metro areas and ZIP codes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Flows, AUM and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DP-006, DP-007, DP-008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FX rate types and reporting period definitions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sales and client service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DP-023, DP-067, DP-068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Calendar dates and their day types, used to count business days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Hierarchy, vendor data and fund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DP-001, DP-044, DP-079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Code lists and mappings, employees, dealing calendar rules and calendar dates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70 products take reference data only through DP-013 or DP-075, without reading this domain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Day Type</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in the Calendar Date object: whether a date is a business day or a holiday on a given calendar.</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DP-013</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one row per calendar and date, and derives the Business Day Indicator. Rule: every date has a Day Type.</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DP-023</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RFP &amp; DDQ Performance counts business days from receipt to submission, using the firm's business calendar.</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SM-04</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The Institutional &amp; Retirement model publishes Average RFP Turnaround Business Days. SM-00 publishes Day Type.</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“How long does each RFP take from receipt to submission, in business days?”</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Turnaround Business Days  =  business days from Received Date to Submission Timestamp</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RFP requests are mastered in Sales. This domain supplies only the calendar: which dates count as business days.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CD-102</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FX rate type is approved for each use. Recommended: one per use, WM/Reuters 4pm as the default for AUM and compensation.</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CD-053</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Sales regions that are pure geography are geographic groups here; any with named-account carve-outs are territories.</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CD-064</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entity authorizations also cover state notice filings and blue-sky registrations. Recommended: entity-level filings sit here.</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GAP-09-004</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Add a metadata and lineage family for data products, source systems and lineage edges, which DP-075 holds itself today.</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Load the registry with the code lists of the other domains, tagging each with its owner, class and consumers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Run the harmonization pass on the lists duplicated across domains, such as Distribution Channel and Frequency</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the internal legal entity and party rule with Client &amp; Customer, then have Sales, Agreements and Compliance reference LEN-</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Choose load sources and refresh cadences for each external list: SIX, IANA, Census, OMB, HUD, ONS, Eurostat and GLEIF</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the 82 proposed critical data elements with data owners and decide the 13 open gaps, starting with the nine high-priority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Shared &amp; Enterprise Reference Data taxonomy walkthrough</dc:title>
  <dc:subject>PptxGenJS Presentation</dc:subject>
  <dc:creator>Distribution Data Taxonomy Program</dc:creator>
  <cp:lastModifiedBy>Distribution Data Taxonomy Program</cp:lastModifiedBy>
  <cp:revision>1</cp:revision>
  <dcterms:created xsi:type="dcterms:W3CDTF">2026-10-05T13:40:40Z</dcterms:created>
  <dcterms:modified xsi:type="dcterms:W3CDTF">2026-10-05T13:40:40Z</dcterms:modified>
</cp:coreProperties>
</file>