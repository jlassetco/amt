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3efd47b-983f-7c9a-deee-858f013f9d8d}">
          <p14:sldIdLst>
            <p14:sldId id="256"/>
          </p14:sldIdLst>
        </p14:section>
        <p14:section name="Context" id="{7fc4d6d3-ddb6-8262-25b5-0169c34ee7f3}">
          <p14:sldIdLst>
            <p14:sldId id="257"/>
            <p14:sldId id="258"/>
            <p14:sldId id="259"/>
          </p14:sldIdLst>
        </p14:section>
        <p14:section name="The question" id="{05aa4cdb-9111-296d-ee7f-da0ddbdf760e}">
          <p14:sldIdLst>
            <p14:sldId id="260"/>
            <p14:sldId id="261"/>
          </p14:sldIdLst>
        </p14:section>
        <p14:section name="The trace" id="{fd0c605c-4c1e-ef45-6091-7b3976cddd90}">
          <p14:sldIdLst>
            <p14:sldId id="262"/>
            <p14:sldId id="263"/>
            <p14:sldId id="264"/>
            <p14:sldId id="265"/>
            <p14:sldId id="266"/>
          </p14:sldIdLst>
        </p14:section>
        <p14:section name="Close" id="{7d392563-58d3-6687-9569-2352540a39ab}">
          <p14:sldIdLst>
            <p14:sldId id="267"/>
            <p14:sldId id="268"/>
          </p14:sldIdLst>
        </p14:section>
        <p14:section name="Backup" id="{58f900ae-70e2-a232-b166-a9d28edb097c}">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show what the taxonomy actually does, using one question and following it all the way down and back up.
Before presenting: the client name and all dollar figures are illustrative. Source systems are named by type; the mapping to the firm's actual systems is Phase D and has not been done. The definitions, products, rules and gaps quoted are the ones in the current drafts.
Have Taxonomy_Explorer.html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example, two minutes of context for anyone who has not seen the taxonomy.
The taxonomy is a shared dictionary for the data that distribution runs on. It is organized in four levels. At the top are 14 Data Domains, such as Client &amp; Customer. Each domain is split into Data Families, each family into business objects, and each object into attributes.
The example on the left is one we will meet again in a few minutes: Institutional Client Type, which is where "public pension plan" is defined.
For every attribute the taxonomy records one definition, the one domain that masters it, the allowed values where there is a list, and whether it is a critical data element.
What it does not hold is data. There are no client records or balances in it, and no system field names. It defines meaning and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operating model. In the explorer it is the section called "From taxonomy to consumption."
The taxonomy is not the first step in a pipeline. It governs every layer.
Data starts in source systems and moves left to right. Foundational products clean up a record or a number once and certify it. Consumer-aligned products build on those for one team's decisions.
From there, there are two routes to the people and systems that use the data. Products used for analysis are published through the semantic layer, to dashboards and AI assistants. Products whose consumer is a system go there directly: into the CRM, to payroll, into a regulatory filing. Both routes take their numbers from the same certified products.
At each step, the taxonomy says what the data means and who is accountable for it. And when a product finds something missing, the gap goes back to the owning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has one job, and one thing it must not do. The limits are what keep a number from being defined twice.
Source systems capture records, but they are not where cross-function numbers get defined. Foundational products certify a number once; they do not shape it for one team. Consumer-aligned products shape data for a team, but never recalculate a certified number. The semantic layer publishes metrics; it does not invent one that no product backs.
That is the model in general. Now let me show it working on one real question,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comes from the Head of Institutional Distribution: "How much of our AUM with public pension plans sits with clients whose relationship is at risk?"
It sounds like one number. It is really three ideas, and each belongs to a different part of the business.
The taxonomy gives each of those one definition and one owner. Everything I show next is that same definition being carried through five levels without being rewritten.
We will follow one client: State Teachers' Pension, which has $1.2bn with us.
SHOW: the three attribute definitions in the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route we will take. Five levels, from where the data is created to where the question is answered.
At each level the taxonomy does a different job, shown in blue under each box. But it is the same three definitions underneath all five.
I will take each level in turn, about two minutes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ideas start in three different places.
State Teachers' holdings are in the transfer agent and fund accounting records, as units and market value by account and share class. The fact that State Teachers' is a public pension plan is in the CRM. The at-risk flag is set by the client service team, wherever they keep the relationship health score.
None of these systems agrees on what to call the client. The transfer agent has an account number; the CRM has its own record ID.
The taxonomy settles three things before any data moves.
1. What each field means. Market Value on a Position is "units held multiplied by the valuation price." Institutional Client Type is a fixed list of 16 values, and "Public Pension Plan" is one of them. A source that says "Public DB" or "State plan" is mapped to that value.
2. Who is right when sources disagree. Domain 02 masters the client. Domain 06 holds the positions and only refers to the client. So if the transfer agent and the CRM spell the client's name differently, the CRM-fed client record wins, and there is no debate each month.
3. How to keep the trail. The taxonomy keeps the source's own identifiers alongside the resolved one, and records which feed and which load each record came from. We can always get from a number back to the file it arrived in.
SHOW: Position and Institutional Client in the explorer, with the Masters / References flags on the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Foundational products clean up each core thing once, so nobody downstream has to do it again. Our question needs three of them.
DP-003 Institutional, Consultant &amp; Plan Relationships takes the client records and produces one golden record for State Teachers': one ID, type "Public Pension Plan," total investable assets, and its consultant.
DP-007 Attributed Positions &amp; AUM takes the daily positions and credits each one to that same client ID. One of its quality rules is that positions must reconcile to the transfer agent total within tolerance. Anything it cannot attribute is held in suspense and reported, never dropped.
DP-008 Certified Flows &amp; AUM takes those positions and applies the taxonomy's measure definition for Ending AUM. It publishes a preliminary number on business day 3 and locks it on business day 8. After that, the number changes only through an approved restatement.
So State Teachers' $1.2bn is now a certified number. The definition used was the one in the taxonomy, not one written inside the product.
Each product lists the exact objects and attributes it uses, and the build fails if one does not exist.
That is the governing rule for every product: a product assembles what the domains master. It never redefines it. If a product needs something the taxonomy does not have, that is recorded as a taxonomy gap for the owning domain to fix.
SHOW: DP-008's product page: its lineage links to the attribute definitions, its quality rules, and its upstream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Consumer products are shaped around one team's decisions and built from the foundational ones. This is where our three ideas first meet.
DP-042 Institutional Client Health &amp; Service belongs to client service. It brings the health score from Domain 12 together with certified AUM from DP-008, and defines the measure in our question: At-Risk AUM = Ending AUM of relationships whose latest health score has the At-Risk Indicator set.
Notice what it does not do. It does not recalculate AUM, and it does not decide what "at risk" means. It takes both as given.
DP-092 Institutional Client 360 uses the same inputs for a different job: it puts State Teachers' whole picture in front of the relationship manager in the CRM. Same client, same $1.2bn, same flag.
So the service team's report and the salesperson's CRM screen cannot disagree, because neither one owns the number.
SHOW: DP-042's page, the At-Risk AUM measure and its inputs. Then DP-092's page for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Products answer questions about one client or one team. Leadership's question is across all clients, so the numbers have to add up correctly. That is the semantic model's job. Ours is SM-04 Institutional &amp; Retirement.
It publishes At-Risk AUM as a named metric, defined once, with DP-042 as its source. It then adds the rules that stop the number being added up wrongly.
Only locked, monthly, client-level rows are read. DP-008 holds the same money at several levels and in preliminary and locked versions. Without fixed filters, a dashboard could count State Teachers' three times.
AUM is not summed across months. March plus April AUM means nothing. The metric takes the last locked month-end.
The flag and the AUM are lined up by client, not joined row to row. A direct join would repeat the client's AUM once for every share class it holds.
Access follows the classification. The data is Confidential - Client. Leadership sees every client. A salesperson sees the clients they cover. Finance and marketing see totals by client type, with no client names.
SHOW: the SM-04 page in the explorer (Semantic models), the At-Risk AUM metric, and the metric glossary.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Head of Institutional opens the dashboard, or asks an AI assistant in plain English. Either way, the question resolves to the same metric with a filter on client type.
At-Risk AUM, Public Pension Plan: $3.1bn of $42bn. State Teachers' is $1.2bn of the $3.1bn. Reason: consultant rating change.
Two things make that number usable. It shows both of its dates: AUM as of the last locked month-end, and the flag as of the last weekly health run. And anyone can click from the metric to the product, to the definition, to the owner.
(All figures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natural next question is: "Which of State Teachers' mandates is at risk, and how much is in it?"
Today we cannot answer that. Certified AUM is not held by mandate. The semantic model says so in its list of questions it cannot answer, and the gap is already in the register as GAP-06-011, with a proposed fix and an owner.
That is the last thing the taxonomy does. When a question cannot be answered, the reason shows up as a named change to a named domain, rather than as a workaround inside one team's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one question, five levels, and the same three definitions carried through all of them. The right-hand column is the taxonomy's job at each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Q&amp;A. The last two are open decisions: do not present them as settled.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48640"/>
            <a:ext cx="1280160" cy="502920"/>
          </a:xfrm>
          <a:prstGeom prst="rect">
            <a:avLst/>
          </a:prstGeom>
        </p:spPr>
      </p:pic>
      <p:sp>
        <p:nvSpPr>
          <p:cNvPr id="3" name="Text 0"/>
          <p:cNvSpPr/>
          <p:nvPr>
            <p:ph idx="101" type="title" hasCustomPrompt="1"/>
          </p:nvPr>
        </p:nvSpPr>
        <p:spPr>
          <a:xfrm>
            <a:off x="548640" y="2103120"/>
            <a:ext cx="960120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4114800"/>
            <a:ext cx="9601200" cy="109728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36208"/>
            <a:ext cx="886968" cy="347472"/>
          </a:xfrm>
          <a:prstGeom prst="rect">
            <a:avLst/>
          </a:prstGeom>
        </p:spPr>
      </p:pic>
      <p:sp>
        <p:nvSpPr>
          <p:cNvPr id="3" name="Text 0"/>
          <p:cNvSpPr/>
          <p:nvPr/>
        </p:nvSpPr>
        <p:spPr>
          <a:xfrm>
            <a:off x="1737360" y="6236208"/>
            <a:ext cx="8778240" cy="347472"/>
          </a:xfrm>
          <a:prstGeom prst="rect">
            <a:avLst/>
          </a:prstGeom>
          <a:noFill/>
          <a:ln/>
        </p:spPr>
        <p:txBody>
          <a:bodyPr wrap="square" lIns="0" tIns="0" rIns="0" bIns="0" rtlCol="0" anchor="ctr"/>
          <a:lstStyle/>
          <a:p>
            <a:pPr indent="0" marL="0">
              <a:buNone/>
            </a:pPr>
            <a:r>
              <a:rPr lang="en-US" sz="1000" dirty="0">
                <a:solidFill>
                  <a:schemeClr val="tx2"/>
                </a:solidFill>
              </a:rPr>
              <a:t>Draft  |  Client name and dollar figures are illustrative  |  Source systems are named by type</a:t>
            </a:r>
            <a:endParaRPr lang="en-US" sz="1000" dirty="0"/>
          </a:p>
        </p:txBody>
      </p:sp>
      <p:sp>
        <p:nvSpPr>
          <p:cNvPr id="4" name="Text 1"/>
          <p:cNvSpPr/>
          <p:nvPr>
            <p:ph idx="102"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36208"/>
            <a:ext cx="886968" cy="347472"/>
          </a:xfrm>
          <a:prstGeom prst="rect">
            <a:avLst/>
          </a:prstGeom>
        </p:spPr>
      </p:pic>
      <p:sp>
        <p:nvSpPr>
          <p:cNvPr id="3" name="Text 0"/>
          <p:cNvSpPr/>
          <p:nvPr/>
        </p:nvSpPr>
        <p:spPr>
          <a:xfrm>
            <a:off x="1737360" y="6236208"/>
            <a:ext cx="8778240" cy="347472"/>
          </a:xfrm>
          <a:prstGeom prst="rect">
            <a:avLst/>
          </a:prstGeom>
          <a:noFill/>
          <a:ln/>
        </p:spPr>
        <p:txBody>
          <a:bodyPr wrap="square" lIns="0" tIns="0" rIns="0" bIns="0" rtlCol="0" anchor="ctr"/>
          <a:lstStyle/>
          <a:p>
            <a:pPr indent="0" marL="0">
              <a:buNone/>
            </a:pPr>
            <a:r>
              <a:rPr lang="en-US" sz="1000" dirty="0">
                <a:solidFill>
                  <a:schemeClr val="accent6"/>
                </a:solidFill>
              </a:rPr>
              <a:t>Draft  |  Client name and dollar figures are illustrative  |  Source systems are named by type</a:t>
            </a:r>
            <a:endParaRPr lang="en-US" sz="1000" dirty="0"/>
          </a:p>
        </p:txBody>
      </p:sp>
      <p:sp>
        <p:nvSpPr>
          <p:cNvPr id="4" name="Text 1"/>
          <p:cNvSpPr/>
          <p:nvPr>
            <p:ph idx="102"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548640" y="2103120"/>
            <a:ext cx="9601200" cy="1828800"/>
          </a:xfrm>
          <a:prstGeom prst="rect">
            <a:avLst/>
          </a:prstGeom>
          <a:noFill/>
          <a:ln/>
        </p:spPr>
        <p:txBody>
          <a:bodyPr wrap="square" lIns="0" tIns="0" rIns="0" bIns="0" rtlCol="0" anchor="t"/>
          <a:lstStyle/>
          <a:p>
            <a:pPr algn="l" indent="0" marL="0">
              <a:buNone/>
            </a:pPr>
            <a:r>
              <a:rPr lang="en-US" sz="4400" b="1" dirty="0">
                <a:solidFill>
                  <a:schemeClr val="bg1"/>
                </a:solidFill>
              </a:rPr>
              <a:t>One question, traced from source system to answer</a:t>
            </a:r>
            <a:endParaRPr lang="en-US" sz="4400" dirty="0"/>
          </a:p>
        </p:txBody>
      </p:sp>
      <p:sp>
        <p:nvSpPr>
          <p:cNvPr id="4" name="Text 0"/>
          <p:cNvSpPr/>
          <p:nvPr>
            <p:ph idx="102" type="body" hasCustomPrompt="1"/>
          </p:nvPr>
        </p:nvSpPr>
        <p:spPr>
          <a:xfrm>
            <a:off x="548640" y="4114800"/>
            <a:ext cx="9601200" cy="1097280"/>
          </a:xfrm>
          <a:prstGeom prst="rect">
            <a:avLst/>
          </a:prstGeom>
          <a:noFill/>
          <a:ln/>
        </p:spPr>
        <p:txBody>
          <a:bodyPr wrap="square" lIns="0" tIns="0" rIns="0" bIns="0" rtlCol="0" anchor="t"/>
          <a:lstStyle/>
          <a:p>
            <a:pPr algn="l" indent="0" marL="0">
              <a:buNone/>
            </a:pPr>
            <a:r>
              <a:rPr lang="en-US" sz="2000" dirty="0">
                <a:solidFill>
                  <a:schemeClr val="accent6"/>
                </a:solidFill>
              </a:rPr>
              <a:t>How the data taxonomy works at every level: source systems, data products, the semantic model and analytical use</a:t>
            </a:r>
            <a:endParaRPr lang="en-US" sz="2000" dirty="0"/>
          </a:p>
        </p:txBody>
      </p:sp>
      <p:sp>
        <p:nvSpPr>
          <p:cNvPr id="5" name="Text 2"/>
          <p:cNvSpPr txBox="1"/>
          <p:nvPr/>
        </p:nvSpPr>
        <p:spPr>
          <a:xfrm>
            <a:off x="548640" y="6035040"/>
            <a:ext cx="9144000" cy="320040"/>
          </a:xfrm>
          <a:prstGeom prst="rect">
            <a:avLst/>
          </a:prstGeom>
          <a:noFill/>
          <a:ln/>
        </p:spPr>
        <p:txBody>
          <a:bodyPr wrap="square" lIns="0" tIns="0" rIns="0" bIns="0" rtlCol="0" anchor="t"/>
          <a:lstStyle/>
          <a:p>
            <a:pPr indent="0" marL="0">
              <a:buNone/>
            </a:pPr>
            <a:r>
              <a:rPr lang="en-US" sz="1200" dirty="0">
                <a:solidFill>
                  <a:schemeClr val="accent6"/>
                </a:solidFill>
              </a:rPr>
              <a:t>Distribution Data Taxonomy Program  |  Draft,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 shared dictionary for distribution data</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TAXONOMY</a:t>
            </a:r>
            <a:endParaRPr lang="en-US" sz="1200" dirty="0"/>
          </a:p>
        </p:txBody>
      </p:sp>
      <p:sp>
        <p:nvSpPr>
          <p:cNvPr id="5" name="Shape 2"/>
          <p:cNvSpPr/>
          <p:nvPr/>
        </p:nvSpPr>
        <p:spPr>
          <a:xfrm>
            <a:off x="548640" y="1783080"/>
            <a:ext cx="6675120" cy="914400"/>
          </a:xfrm>
          <a:prstGeom prst="roundRect">
            <a:avLst>
              <a:gd name="adj" fmla="val 8000"/>
            </a:avLst>
          </a:prstGeom>
          <a:solidFill>
            <a:schemeClr val="bg2"/>
          </a:solidFill>
          <a:ln/>
        </p:spPr>
      </p:sp>
      <p:sp>
        <p:nvSpPr>
          <p:cNvPr id="6" name="Shape 3"/>
          <p:cNvSpPr/>
          <p:nvPr/>
        </p:nvSpPr>
        <p:spPr>
          <a:xfrm>
            <a:off x="749808" y="2029968"/>
            <a:ext cx="420624" cy="420624"/>
          </a:xfrm>
          <a:prstGeom prst="ellipse">
            <a:avLst/>
          </a:prstGeom>
          <a:solidFill>
            <a:schemeClr val="accent1"/>
          </a:solidFill>
          <a:ln/>
        </p:spPr>
      </p:sp>
      <p:sp>
        <p:nvSpPr>
          <p:cNvPr id="7" name="Text 4"/>
          <p:cNvSpPr txBox="1"/>
          <p:nvPr/>
        </p:nvSpPr>
        <p:spPr>
          <a:xfrm>
            <a:off x="749808" y="20299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L1</a:t>
            </a:r>
            <a:endParaRPr lang="en-US" sz="1600" dirty="0"/>
          </a:p>
        </p:txBody>
      </p:sp>
      <p:sp>
        <p:nvSpPr>
          <p:cNvPr id="8" name="Text 5"/>
          <p:cNvSpPr txBox="1"/>
          <p:nvPr/>
        </p:nvSpPr>
        <p:spPr>
          <a:xfrm>
            <a:off x="1371600" y="1938528"/>
            <a:ext cx="2103120" cy="329184"/>
          </a:xfrm>
          <a:prstGeom prst="rect">
            <a:avLst/>
          </a:prstGeom>
          <a:noFill/>
          <a:ln/>
        </p:spPr>
        <p:txBody>
          <a:bodyPr wrap="square" lIns="0" tIns="0" rIns="0" bIns="0" rtlCol="0" anchor="ctr"/>
          <a:lstStyle/>
          <a:p>
            <a:pPr indent="0" marL="0">
              <a:buNone/>
            </a:pPr>
            <a:r>
              <a:rPr lang="en-US" sz="1600" b="1" dirty="0">
                <a:solidFill>
                  <a:schemeClr val="tx1"/>
                </a:solidFill>
              </a:rPr>
              <a:t>Data Domain</a:t>
            </a:r>
            <a:endParaRPr lang="en-US" sz="1600" dirty="0"/>
          </a:p>
        </p:txBody>
      </p:sp>
      <p:sp>
        <p:nvSpPr>
          <p:cNvPr id="9" name="Text 6"/>
          <p:cNvSpPr txBox="1"/>
          <p:nvPr/>
        </p:nvSpPr>
        <p:spPr>
          <a:xfrm>
            <a:off x="1371600" y="2267712"/>
            <a:ext cx="2103120" cy="274320"/>
          </a:xfrm>
          <a:prstGeom prst="rect">
            <a:avLst/>
          </a:prstGeom>
          <a:noFill/>
          <a:ln/>
        </p:spPr>
        <p:txBody>
          <a:bodyPr wrap="square" lIns="0" tIns="0" rIns="0" bIns="0" rtlCol="0" anchor="ctr"/>
          <a:lstStyle/>
          <a:p>
            <a:pPr indent="0" marL="0">
              <a:buNone/>
            </a:pPr>
            <a:r>
              <a:rPr lang="en-US" sz="1200" dirty="0">
                <a:solidFill>
                  <a:schemeClr val="tx2"/>
                </a:solidFill>
              </a:rPr>
              <a:t>14 domains</a:t>
            </a:r>
            <a:endParaRPr lang="en-US" sz="1200" dirty="0"/>
          </a:p>
        </p:txBody>
      </p:sp>
      <p:sp>
        <p:nvSpPr>
          <p:cNvPr id="10" name="Text 7"/>
          <p:cNvSpPr txBox="1"/>
          <p:nvPr/>
        </p:nvSpPr>
        <p:spPr>
          <a:xfrm>
            <a:off x="3520440" y="1783080"/>
            <a:ext cx="3520440" cy="914400"/>
          </a:xfrm>
          <a:prstGeom prst="rect">
            <a:avLst/>
          </a:prstGeom>
          <a:noFill/>
          <a:ln/>
        </p:spPr>
        <p:txBody>
          <a:bodyPr wrap="square" lIns="0" tIns="0" rIns="0" bIns="0" rtlCol="0" anchor="ctr"/>
          <a:lstStyle/>
          <a:p>
            <a:pPr indent="0" marL="0">
              <a:buNone/>
            </a:pPr>
            <a:r>
              <a:rPr lang="en-US" sz="1400" b="1" dirty="0">
                <a:solidFill>
                  <a:schemeClr val="accent2"/>
                </a:solidFill>
              </a:rPr>
              <a:t>02 Client &amp; Customer</a:t>
            </a:r>
            <a:endParaRPr lang="en-US" sz="1400" dirty="0"/>
          </a:p>
        </p:txBody>
      </p:sp>
      <p:sp>
        <p:nvSpPr>
          <p:cNvPr id="11" name="Shape 8"/>
          <p:cNvSpPr/>
          <p:nvPr/>
        </p:nvSpPr>
        <p:spPr>
          <a:xfrm>
            <a:off x="868680" y="2816352"/>
            <a:ext cx="6355080" cy="914400"/>
          </a:xfrm>
          <a:prstGeom prst="roundRect">
            <a:avLst>
              <a:gd name="adj" fmla="val 8000"/>
            </a:avLst>
          </a:prstGeom>
          <a:solidFill>
            <a:schemeClr val="bg2"/>
          </a:solidFill>
          <a:ln/>
        </p:spPr>
      </p:sp>
      <p:sp>
        <p:nvSpPr>
          <p:cNvPr id="12" name="Shape 9"/>
          <p:cNvSpPr/>
          <p:nvPr/>
        </p:nvSpPr>
        <p:spPr>
          <a:xfrm>
            <a:off x="1069848" y="3063240"/>
            <a:ext cx="420624" cy="420624"/>
          </a:xfrm>
          <a:prstGeom prst="ellipse">
            <a:avLst/>
          </a:prstGeom>
          <a:solidFill>
            <a:schemeClr val="accent1"/>
          </a:solidFill>
          <a:ln/>
        </p:spPr>
      </p:sp>
      <p:sp>
        <p:nvSpPr>
          <p:cNvPr id="13" name="Text 10"/>
          <p:cNvSpPr txBox="1"/>
          <p:nvPr/>
        </p:nvSpPr>
        <p:spPr>
          <a:xfrm>
            <a:off x="1069848"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L2</a:t>
            </a:r>
            <a:endParaRPr lang="en-US" sz="1600" dirty="0"/>
          </a:p>
        </p:txBody>
      </p:sp>
      <p:sp>
        <p:nvSpPr>
          <p:cNvPr id="14" name="Text 11"/>
          <p:cNvSpPr txBox="1"/>
          <p:nvPr/>
        </p:nvSpPr>
        <p:spPr>
          <a:xfrm>
            <a:off x="1691640" y="2971800"/>
            <a:ext cx="2103120" cy="329184"/>
          </a:xfrm>
          <a:prstGeom prst="rect">
            <a:avLst/>
          </a:prstGeom>
          <a:noFill/>
          <a:ln/>
        </p:spPr>
        <p:txBody>
          <a:bodyPr wrap="square" lIns="0" tIns="0" rIns="0" bIns="0" rtlCol="0" anchor="ctr"/>
          <a:lstStyle/>
          <a:p>
            <a:pPr indent="0" marL="0">
              <a:buNone/>
            </a:pPr>
            <a:r>
              <a:rPr lang="en-US" sz="1600" b="1" dirty="0">
                <a:solidFill>
                  <a:schemeClr val="tx1"/>
                </a:solidFill>
              </a:rPr>
              <a:t>Data Family</a:t>
            </a:r>
            <a:endParaRPr lang="en-US" sz="1600" dirty="0"/>
          </a:p>
        </p:txBody>
      </p:sp>
      <p:sp>
        <p:nvSpPr>
          <p:cNvPr id="15" name="Text 12"/>
          <p:cNvSpPr txBox="1"/>
          <p:nvPr/>
        </p:nvSpPr>
        <p:spPr>
          <a:xfrm>
            <a:off x="1691640" y="3300984"/>
            <a:ext cx="2103120" cy="274320"/>
          </a:xfrm>
          <a:prstGeom prst="rect">
            <a:avLst/>
          </a:prstGeom>
          <a:noFill/>
          <a:ln/>
        </p:spPr>
        <p:txBody>
          <a:bodyPr wrap="square" lIns="0" tIns="0" rIns="0" bIns="0" rtlCol="0" anchor="ctr"/>
          <a:lstStyle/>
          <a:p>
            <a:pPr indent="0" marL="0">
              <a:buNone/>
            </a:pPr>
            <a:r>
              <a:rPr lang="en-US" sz="1200" dirty="0">
                <a:solidFill>
                  <a:schemeClr val="tx2"/>
                </a:solidFill>
              </a:rPr>
              <a:t>140 families</a:t>
            </a:r>
            <a:endParaRPr lang="en-US" sz="1200" dirty="0"/>
          </a:p>
        </p:txBody>
      </p:sp>
      <p:sp>
        <p:nvSpPr>
          <p:cNvPr id="16" name="Text 13"/>
          <p:cNvSpPr txBox="1"/>
          <p:nvPr/>
        </p:nvSpPr>
        <p:spPr>
          <a:xfrm>
            <a:off x="3840480" y="2816352"/>
            <a:ext cx="3200400" cy="914400"/>
          </a:xfrm>
          <a:prstGeom prst="rect">
            <a:avLst/>
          </a:prstGeom>
          <a:noFill/>
          <a:ln/>
        </p:spPr>
        <p:txBody>
          <a:bodyPr wrap="square" lIns="0" tIns="0" rIns="0" bIns="0" rtlCol="0" anchor="ctr"/>
          <a:lstStyle/>
          <a:p>
            <a:pPr indent="0" marL="0">
              <a:buNone/>
            </a:pPr>
            <a:r>
              <a:rPr lang="en-US" sz="1400" b="1" dirty="0">
                <a:solidFill>
                  <a:schemeClr val="accent2"/>
                </a:solidFill>
              </a:rPr>
              <a:t>Institutional &amp; Retirement Clients</a:t>
            </a:r>
            <a:endParaRPr lang="en-US" sz="1400" dirty="0"/>
          </a:p>
        </p:txBody>
      </p:sp>
      <p:sp>
        <p:nvSpPr>
          <p:cNvPr id="17" name="Shape 14"/>
          <p:cNvSpPr/>
          <p:nvPr/>
        </p:nvSpPr>
        <p:spPr>
          <a:xfrm>
            <a:off x="1188720" y="3849624"/>
            <a:ext cx="6035040" cy="914400"/>
          </a:xfrm>
          <a:prstGeom prst="roundRect">
            <a:avLst>
              <a:gd name="adj" fmla="val 8000"/>
            </a:avLst>
          </a:prstGeom>
          <a:solidFill>
            <a:schemeClr val="bg2"/>
          </a:solidFill>
          <a:ln/>
        </p:spPr>
      </p:sp>
      <p:sp>
        <p:nvSpPr>
          <p:cNvPr id="18" name="Shape 15"/>
          <p:cNvSpPr/>
          <p:nvPr/>
        </p:nvSpPr>
        <p:spPr>
          <a:xfrm>
            <a:off x="1389888" y="4096512"/>
            <a:ext cx="420624" cy="420624"/>
          </a:xfrm>
          <a:prstGeom prst="ellipse">
            <a:avLst/>
          </a:prstGeom>
          <a:solidFill>
            <a:schemeClr val="accent1"/>
          </a:solidFill>
          <a:ln/>
        </p:spPr>
      </p:sp>
      <p:sp>
        <p:nvSpPr>
          <p:cNvPr id="19" name="Text 16"/>
          <p:cNvSpPr txBox="1"/>
          <p:nvPr/>
        </p:nvSpPr>
        <p:spPr>
          <a:xfrm>
            <a:off x="1389888" y="409651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L3</a:t>
            </a:r>
            <a:endParaRPr lang="en-US" sz="1600" dirty="0"/>
          </a:p>
        </p:txBody>
      </p:sp>
      <p:sp>
        <p:nvSpPr>
          <p:cNvPr id="20" name="Text 17"/>
          <p:cNvSpPr txBox="1"/>
          <p:nvPr/>
        </p:nvSpPr>
        <p:spPr>
          <a:xfrm>
            <a:off x="2011680" y="4005072"/>
            <a:ext cx="2103120" cy="329184"/>
          </a:xfrm>
          <a:prstGeom prst="rect">
            <a:avLst/>
          </a:prstGeom>
          <a:noFill/>
          <a:ln/>
        </p:spPr>
        <p:txBody>
          <a:bodyPr wrap="square" lIns="0" tIns="0" rIns="0" bIns="0" rtlCol="0" anchor="ctr"/>
          <a:lstStyle/>
          <a:p>
            <a:pPr indent="0" marL="0">
              <a:buNone/>
            </a:pPr>
            <a:r>
              <a:rPr lang="en-US" sz="1600" b="1" dirty="0">
                <a:solidFill>
                  <a:schemeClr val="tx1"/>
                </a:solidFill>
              </a:rPr>
              <a:t>Business Object</a:t>
            </a:r>
            <a:endParaRPr lang="en-US" sz="1600" dirty="0"/>
          </a:p>
        </p:txBody>
      </p:sp>
      <p:sp>
        <p:nvSpPr>
          <p:cNvPr id="21" name="Text 18"/>
          <p:cNvSpPr txBox="1"/>
          <p:nvPr/>
        </p:nvSpPr>
        <p:spPr>
          <a:xfrm>
            <a:off x="2011680" y="4334256"/>
            <a:ext cx="2103120" cy="274320"/>
          </a:xfrm>
          <a:prstGeom prst="rect">
            <a:avLst/>
          </a:prstGeom>
          <a:noFill/>
          <a:ln/>
        </p:spPr>
        <p:txBody>
          <a:bodyPr wrap="square" lIns="0" tIns="0" rIns="0" bIns="0" rtlCol="0" anchor="ctr"/>
          <a:lstStyle/>
          <a:p>
            <a:pPr indent="0" marL="0">
              <a:buNone/>
            </a:pPr>
            <a:r>
              <a:rPr lang="en-US" sz="1200" dirty="0">
                <a:solidFill>
                  <a:schemeClr val="tx2"/>
                </a:solidFill>
              </a:rPr>
              <a:t>603 objects</a:t>
            </a:r>
            <a:endParaRPr lang="en-US" sz="1200" dirty="0"/>
          </a:p>
        </p:txBody>
      </p:sp>
      <p:sp>
        <p:nvSpPr>
          <p:cNvPr id="22" name="Text 19"/>
          <p:cNvSpPr txBox="1"/>
          <p:nvPr/>
        </p:nvSpPr>
        <p:spPr>
          <a:xfrm>
            <a:off x="4160520" y="3849624"/>
            <a:ext cx="2880360" cy="914400"/>
          </a:xfrm>
          <a:prstGeom prst="rect">
            <a:avLst/>
          </a:prstGeom>
          <a:noFill/>
          <a:ln/>
        </p:spPr>
        <p:txBody>
          <a:bodyPr wrap="square" lIns="0" tIns="0" rIns="0" bIns="0" rtlCol="0" anchor="ctr"/>
          <a:lstStyle/>
          <a:p>
            <a:pPr indent="0" marL="0">
              <a:buNone/>
            </a:pPr>
            <a:r>
              <a:rPr lang="en-US" sz="1400" b="1" dirty="0">
                <a:solidFill>
                  <a:schemeClr val="accent2"/>
                </a:solidFill>
              </a:rPr>
              <a:t>Institutional Client</a:t>
            </a:r>
            <a:endParaRPr lang="en-US" sz="1400" dirty="0"/>
          </a:p>
        </p:txBody>
      </p:sp>
      <p:sp>
        <p:nvSpPr>
          <p:cNvPr id="23" name="Shape 20"/>
          <p:cNvSpPr/>
          <p:nvPr/>
        </p:nvSpPr>
        <p:spPr>
          <a:xfrm>
            <a:off x="1508760" y="4882896"/>
            <a:ext cx="5715000" cy="914400"/>
          </a:xfrm>
          <a:prstGeom prst="roundRect">
            <a:avLst>
              <a:gd name="adj" fmla="val 8000"/>
            </a:avLst>
          </a:prstGeom>
          <a:solidFill>
            <a:schemeClr val="bg2"/>
          </a:solidFill>
          <a:ln/>
        </p:spPr>
      </p:sp>
      <p:sp>
        <p:nvSpPr>
          <p:cNvPr id="24" name="Shape 21"/>
          <p:cNvSpPr/>
          <p:nvPr/>
        </p:nvSpPr>
        <p:spPr>
          <a:xfrm>
            <a:off x="1709928" y="5129784"/>
            <a:ext cx="420624" cy="420624"/>
          </a:xfrm>
          <a:prstGeom prst="ellipse">
            <a:avLst/>
          </a:prstGeom>
          <a:solidFill>
            <a:schemeClr val="accent1"/>
          </a:solidFill>
          <a:ln/>
        </p:spPr>
      </p:sp>
      <p:sp>
        <p:nvSpPr>
          <p:cNvPr id="25" name="Text 22"/>
          <p:cNvSpPr txBox="1"/>
          <p:nvPr/>
        </p:nvSpPr>
        <p:spPr>
          <a:xfrm>
            <a:off x="1709928" y="512978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L4</a:t>
            </a:r>
            <a:endParaRPr lang="en-US" sz="1600" dirty="0"/>
          </a:p>
        </p:txBody>
      </p:sp>
      <p:sp>
        <p:nvSpPr>
          <p:cNvPr id="26" name="Text 23"/>
          <p:cNvSpPr txBox="1"/>
          <p:nvPr/>
        </p:nvSpPr>
        <p:spPr>
          <a:xfrm>
            <a:off x="2331720" y="5038344"/>
            <a:ext cx="2103120" cy="329184"/>
          </a:xfrm>
          <a:prstGeom prst="rect">
            <a:avLst/>
          </a:prstGeom>
          <a:noFill/>
          <a:ln/>
        </p:spPr>
        <p:txBody>
          <a:bodyPr wrap="square" lIns="0" tIns="0" rIns="0" bIns="0" rtlCol="0" anchor="ctr"/>
          <a:lstStyle/>
          <a:p>
            <a:pPr indent="0" marL="0">
              <a:buNone/>
            </a:pPr>
            <a:r>
              <a:rPr lang="en-US" sz="1600" b="1" dirty="0">
                <a:solidFill>
                  <a:schemeClr val="tx1"/>
                </a:solidFill>
              </a:rPr>
              <a:t>Attribute</a:t>
            </a:r>
            <a:endParaRPr lang="en-US" sz="1600" dirty="0"/>
          </a:p>
        </p:txBody>
      </p:sp>
      <p:sp>
        <p:nvSpPr>
          <p:cNvPr id="27" name="Text 24"/>
          <p:cNvSpPr txBox="1"/>
          <p:nvPr/>
        </p:nvSpPr>
        <p:spPr>
          <a:xfrm>
            <a:off x="2331720" y="5367528"/>
            <a:ext cx="2103120" cy="274320"/>
          </a:xfrm>
          <a:prstGeom prst="rect">
            <a:avLst/>
          </a:prstGeom>
          <a:noFill/>
          <a:ln/>
        </p:spPr>
        <p:txBody>
          <a:bodyPr wrap="square" lIns="0" tIns="0" rIns="0" bIns="0" rtlCol="0" anchor="ctr"/>
          <a:lstStyle/>
          <a:p>
            <a:pPr indent="0" marL="0">
              <a:buNone/>
            </a:pPr>
            <a:r>
              <a:rPr lang="en-US" sz="1200" dirty="0">
                <a:solidFill>
                  <a:schemeClr val="tx2"/>
                </a:solidFill>
              </a:rPr>
              <a:t>3,603 attributes</a:t>
            </a:r>
            <a:endParaRPr lang="en-US" sz="1200" dirty="0"/>
          </a:p>
        </p:txBody>
      </p:sp>
      <p:sp>
        <p:nvSpPr>
          <p:cNvPr id="28" name="Text 25"/>
          <p:cNvSpPr txBox="1"/>
          <p:nvPr/>
        </p:nvSpPr>
        <p:spPr>
          <a:xfrm>
            <a:off x="4480560" y="4882896"/>
            <a:ext cx="2560320" cy="914400"/>
          </a:xfrm>
          <a:prstGeom prst="rect">
            <a:avLst/>
          </a:prstGeom>
          <a:noFill/>
          <a:ln/>
        </p:spPr>
        <p:txBody>
          <a:bodyPr wrap="square" lIns="0" tIns="0" rIns="0" bIns="0" rtlCol="0" anchor="ctr"/>
          <a:lstStyle/>
          <a:p>
            <a:pPr indent="0" marL="0">
              <a:buNone/>
            </a:pPr>
            <a:r>
              <a:rPr lang="en-US" sz="1400" b="1" dirty="0">
                <a:solidFill>
                  <a:schemeClr val="accent2"/>
                </a:solidFill>
              </a:rPr>
              <a:t>Institutional Client Type</a:t>
            </a:r>
            <a:endParaRPr lang="en-US" sz="1400" dirty="0"/>
          </a:p>
        </p:txBody>
      </p:sp>
      <p:sp>
        <p:nvSpPr>
          <p:cNvPr id="29" name="Text 26"/>
          <p:cNvSpPr txBox="1"/>
          <p:nvPr/>
        </p:nvSpPr>
        <p:spPr>
          <a:xfrm>
            <a:off x="548640" y="5870448"/>
            <a:ext cx="6675120" cy="256032"/>
          </a:xfrm>
          <a:prstGeom prst="rect">
            <a:avLst/>
          </a:prstGeom>
          <a:noFill/>
          <a:ln/>
        </p:spPr>
        <p:txBody>
          <a:bodyPr wrap="square" lIns="0" tIns="0" rIns="0" bIns="0" rtlCol="0" anchor="ctr"/>
          <a:lstStyle/>
          <a:p>
            <a:pPr indent="0" marL="0">
              <a:buNone/>
            </a:pPr>
            <a:r>
              <a:rPr lang="en-US" sz="1000" i="1" dirty="0">
                <a:solidFill>
                  <a:schemeClr val="tx2"/>
                </a:solidFill>
              </a:rPr>
              <a:t>Purple text: the path to one attribute used in the example that follows</a:t>
            </a:r>
            <a:endParaRPr lang="en-US" sz="1000" dirty="0"/>
          </a:p>
        </p:txBody>
      </p:sp>
      <p:sp>
        <p:nvSpPr>
          <p:cNvPr id="30" name="Shape 27"/>
          <p:cNvSpPr/>
          <p:nvPr/>
        </p:nvSpPr>
        <p:spPr>
          <a:xfrm>
            <a:off x="7589520" y="1783080"/>
            <a:ext cx="4050792" cy="4014216"/>
          </a:xfrm>
          <a:prstGeom prst="roundRect">
            <a:avLst>
              <a:gd name="adj" fmla="val 1822"/>
            </a:avLst>
          </a:prstGeom>
          <a:solidFill>
            <a:schemeClr val="bg2"/>
          </a:solidFill>
          <a:ln/>
        </p:spPr>
      </p:sp>
      <p:sp>
        <p:nvSpPr>
          <p:cNvPr id="31" name="Text 28"/>
          <p:cNvSpPr txBox="1"/>
          <p:nvPr/>
        </p:nvSpPr>
        <p:spPr>
          <a:xfrm>
            <a:off x="7863840" y="1965960"/>
            <a:ext cx="3502152" cy="256032"/>
          </a:xfrm>
          <a:prstGeom prst="rect">
            <a:avLst/>
          </a:prstGeom>
          <a:noFill/>
          <a:ln/>
        </p:spPr>
        <p:txBody>
          <a:bodyPr wrap="square" lIns="0" tIns="0" rIns="0" bIns="0" rtlCol="0" anchor="t"/>
          <a:lstStyle/>
          <a:p>
            <a:pPr indent="0" marL="0">
              <a:buNone/>
            </a:pPr>
            <a:r>
              <a:rPr lang="en-US" sz="1000" b="1" spc="100" kern="0" dirty="0">
                <a:solidFill>
                  <a:schemeClr val="tx2"/>
                </a:solidFill>
              </a:rPr>
              <a:t>FOR EVERY ATTRIBUTE, IT RECORDS</a:t>
            </a:r>
            <a:endParaRPr lang="en-US" sz="1000" dirty="0"/>
          </a:p>
        </p:txBody>
      </p:sp>
      <p:sp>
        <p:nvSpPr>
          <p:cNvPr id="32" name="Shape 29"/>
          <p:cNvSpPr/>
          <p:nvPr/>
        </p:nvSpPr>
        <p:spPr>
          <a:xfrm>
            <a:off x="7863840" y="2496312"/>
            <a:ext cx="146304" cy="146304"/>
          </a:xfrm>
          <a:prstGeom prst="ellipse">
            <a:avLst/>
          </a:prstGeom>
          <a:solidFill>
            <a:schemeClr val="accent1"/>
          </a:solidFill>
          <a:ln/>
        </p:spPr>
      </p:sp>
      <p:sp>
        <p:nvSpPr>
          <p:cNvPr id="33" name="Text 30"/>
          <p:cNvSpPr txBox="1"/>
          <p:nvPr/>
        </p:nvSpPr>
        <p:spPr>
          <a:xfrm>
            <a:off x="8156448" y="2377440"/>
            <a:ext cx="3227832" cy="384048"/>
          </a:xfrm>
          <a:prstGeom prst="rect">
            <a:avLst/>
          </a:prstGeom>
          <a:noFill/>
          <a:ln/>
        </p:spPr>
        <p:txBody>
          <a:bodyPr wrap="square" lIns="0" tIns="0" rIns="0" bIns="0" rtlCol="0" anchor="ctr"/>
          <a:lstStyle/>
          <a:p>
            <a:pPr indent="0" marL="0">
              <a:buNone/>
            </a:pPr>
            <a:r>
              <a:rPr lang="en-US" sz="1400" dirty="0">
                <a:solidFill>
                  <a:schemeClr val="tx1"/>
                </a:solidFill>
              </a:rPr>
              <a:t>One definition</a:t>
            </a:r>
            <a:endParaRPr lang="en-US" sz="1400" dirty="0"/>
          </a:p>
        </p:txBody>
      </p:sp>
      <p:sp>
        <p:nvSpPr>
          <p:cNvPr id="34" name="Shape 31"/>
          <p:cNvSpPr/>
          <p:nvPr/>
        </p:nvSpPr>
        <p:spPr>
          <a:xfrm>
            <a:off x="7863840" y="3026664"/>
            <a:ext cx="146304" cy="146304"/>
          </a:xfrm>
          <a:prstGeom prst="ellipse">
            <a:avLst/>
          </a:prstGeom>
          <a:solidFill>
            <a:schemeClr val="accent1"/>
          </a:solidFill>
          <a:ln/>
        </p:spPr>
      </p:sp>
      <p:sp>
        <p:nvSpPr>
          <p:cNvPr id="35" name="Text 32"/>
          <p:cNvSpPr txBox="1"/>
          <p:nvPr/>
        </p:nvSpPr>
        <p:spPr>
          <a:xfrm>
            <a:off x="8156448" y="2907792"/>
            <a:ext cx="3227832" cy="384048"/>
          </a:xfrm>
          <a:prstGeom prst="rect">
            <a:avLst/>
          </a:prstGeom>
          <a:noFill/>
          <a:ln/>
        </p:spPr>
        <p:txBody>
          <a:bodyPr wrap="square" lIns="0" tIns="0" rIns="0" bIns="0" rtlCol="0" anchor="ctr"/>
          <a:lstStyle/>
          <a:p>
            <a:pPr indent="0" marL="0">
              <a:buNone/>
            </a:pPr>
            <a:r>
              <a:rPr lang="en-US" sz="1400" dirty="0">
                <a:solidFill>
                  <a:schemeClr val="tx1"/>
                </a:solidFill>
              </a:rPr>
              <a:t>One Data Domain that masters it</a:t>
            </a:r>
            <a:endParaRPr lang="en-US" sz="1400" dirty="0"/>
          </a:p>
        </p:txBody>
      </p:sp>
      <p:sp>
        <p:nvSpPr>
          <p:cNvPr id="36" name="Shape 33"/>
          <p:cNvSpPr/>
          <p:nvPr/>
        </p:nvSpPr>
        <p:spPr>
          <a:xfrm>
            <a:off x="7863840" y="3557016"/>
            <a:ext cx="146304" cy="146304"/>
          </a:xfrm>
          <a:prstGeom prst="ellipse">
            <a:avLst/>
          </a:prstGeom>
          <a:solidFill>
            <a:schemeClr val="accent1"/>
          </a:solidFill>
          <a:ln/>
        </p:spPr>
      </p:sp>
      <p:sp>
        <p:nvSpPr>
          <p:cNvPr id="37" name="Text 34"/>
          <p:cNvSpPr txBox="1"/>
          <p:nvPr/>
        </p:nvSpPr>
        <p:spPr>
          <a:xfrm>
            <a:off x="8156448" y="3438144"/>
            <a:ext cx="3227832" cy="384048"/>
          </a:xfrm>
          <a:prstGeom prst="rect">
            <a:avLst/>
          </a:prstGeom>
          <a:noFill/>
          <a:ln/>
        </p:spPr>
        <p:txBody>
          <a:bodyPr wrap="square" lIns="0" tIns="0" rIns="0" bIns="0" rtlCol="0" anchor="ctr"/>
          <a:lstStyle/>
          <a:p>
            <a:pPr indent="0" marL="0">
              <a:buNone/>
            </a:pPr>
            <a:r>
              <a:rPr lang="en-US" sz="1400" dirty="0">
                <a:solidFill>
                  <a:schemeClr val="tx1"/>
                </a:solidFill>
              </a:rPr>
              <a:t>The allowed values, where there is a list</a:t>
            </a:r>
            <a:endParaRPr lang="en-US" sz="1400" dirty="0"/>
          </a:p>
        </p:txBody>
      </p:sp>
      <p:sp>
        <p:nvSpPr>
          <p:cNvPr id="38" name="Shape 35"/>
          <p:cNvSpPr/>
          <p:nvPr/>
        </p:nvSpPr>
        <p:spPr>
          <a:xfrm>
            <a:off x="7863840" y="4087368"/>
            <a:ext cx="146304" cy="146304"/>
          </a:xfrm>
          <a:prstGeom prst="ellipse">
            <a:avLst/>
          </a:prstGeom>
          <a:solidFill>
            <a:schemeClr val="accent1"/>
          </a:solidFill>
          <a:ln/>
        </p:spPr>
      </p:sp>
      <p:sp>
        <p:nvSpPr>
          <p:cNvPr id="39" name="Text 36"/>
          <p:cNvSpPr txBox="1"/>
          <p:nvPr/>
        </p:nvSpPr>
        <p:spPr>
          <a:xfrm>
            <a:off x="8156448" y="3968496"/>
            <a:ext cx="3227832" cy="384048"/>
          </a:xfrm>
          <a:prstGeom prst="rect">
            <a:avLst/>
          </a:prstGeom>
          <a:noFill/>
          <a:ln/>
        </p:spPr>
        <p:txBody>
          <a:bodyPr wrap="square" lIns="0" tIns="0" rIns="0" bIns="0" rtlCol="0" anchor="ctr"/>
          <a:lstStyle/>
          <a:p>
            <a:pPr indent="0" marL="0">
              <a:buNone/>
            </a:pPr>
            <a:r>
              <a:rPr lang="en-US" sz="1400" dirty="0">
                <a:solidFill>
                  <a:schemeClr val="tx1"/>
                </a:solidFill>
              </a:rPr>
              <a:t>Whether it is a critical data element</a:t>
            </a:r>
            <a:endParaRPr lang="en-US" sz="1400" dirty="0"/>
          </a:p>
        </p:txBody>
      </p:sp>
      <p:sp>
        <p:nvSpPr>
          <p:cNvPr id="40" name="Shape 37"/>
          <p:cNvSpPr/>
          <p:nvPr/>
        </p:nvSpPr>
        <p:spPr>
          <a:xfrm>
            <a:off x="7863840" y="4617720"/>
            <a:ext cx="3502152" cy="0"/>
          </a:xfrm>
          <a:prstGeom prst="line">
            <a:avLst/>
          </a:prstGeom>
          <a:noFill/>
          <a:ln w="9525">
            <a:solidFill>
              <a:schemeClr val="tx2">
                <a:alpha val="40000"/>
              </a:schemeClr>
            </a:solidFill>
            <a:prstDash val="solid"/>
          </a:ln>
        </p:spPr>
      </p:sp>
      <p:sp>
        <p:nvSpPr>
          <p:cNvPr id="41" name="Text 38"/>
          <p:cNvSpPr txBox="1"/>
          <p:nvPr/>
        </p:nvSpPr>
        <p:spPr>
          <a:xfrm>
            <a:off x="7863840" y="4754880"/>
            <a:ext cx="3502152" cy="868680"/>
          </a:xfrm>
          <a:prstGeom prst="rect">
            <a:avLst/>
          </a:prstGeom>
          <a:noFill/>
          <a:ln/>
        </p:spPr>
        <p:txBody>
          <a:bodyPr wrap="square" lIns="0" tIns="0" rIns="0" bIns="0" rtlCol="0" anchor="ctr"/>
          <a:lstStyle/>
          <a:p>
            <a:pPr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governs every layer</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FROM TAXONOMY TO CONSUMPTION</a:t>
            </a:r>
            <a:endParaRPr lang="en-US" sz="1200" dirty="0"/>
          </a:p>
        </p:txBody>
      </p:sp>
      <p:sp>
        <p:nvSpPr>
          <p:cNvPr id="5" name="Shape 2"/>
          <p:cNvSpPr/>
          <p:nvPr/>
        </p:nvSpPr>
        <p:spPr>
          <a:xfrm>
            <a:off x="548640" y="1783080"/>
            <a:ext cx="11091672" cy="868680"/>
          </a:xfrm>
          <a:prstGeom prst="roundRect">
            <a:avLst>
              <a:gd name="adj" fmla="val 8421"/>
            </a:avLst>
          </a:prstGeom>
          <a:solidFill>
            <a:schemeClr val="tx1"/>
          </a:solidFill>
          <a:ln/>
        </p:spPr>
      </p:sp>
      <p:sp>
        <p:nvSpPr>
          <p:cNvPr id="6" name="Text 3"/>
          <p:cNvSpPr txBox="1"/>
          <p:nvPr/>
        </p:nvSpPr>
        <p:spPr>
          <a:xfrm>
            <a:off x="822960" y="1783080"/>
            <a:ext cx="2011680" cy="868680"/>
          </a:xfrm>
          <a:prstGeom prst="rect">
            <a:avLst/>
          </a:prstGeom>
          <a:noFill/>
          <a:ln/>
        </p:spPr>
        <p:txBody>
          <a:bodyPr wrap="square" lIns="0" tIns="0" rIns="0" bIns="0" rtlCol="0" anchor="ctr"/>
          <a:lstStyle/>
          <a:p>
            <a:pPr indent="0" marL="0">
              <a:buNone/>
            </a:pPr>
            <a:r>
              <a:rPr lang="en-US" sz="1200" b="1" spc="150" kern="0" dirty="0">
                <a:solidFill>
                  <a:schemeClr val="accent6"/>
                </a:solidFill>
              </a:rPr>
              <a:t>DATA TAXONOMY</a:t>
            </a:r>
            <a:endParaRPr lang="en-US" sz="1200" dirty="0"/>
          </a:p>
        </p:txBody>
      </p:sp>
      <p:sp>
        <p:nvSpPr>
          <p:cNvPr id="7" name="Text 4"/>
          <p:cNvSpPr txBox="1"/>
          <p:nvPr/>
        </p:nvSpPr>
        <p:spPr>
          <a:xfrm>
            <a:off x="2834640" y="1783080"/>
            <a:ext cx="8531352" cy="868680"/>
          </a:xfrm>
          <a:prstGeom prst="rect">
            <a:avLst/>
          </a:prstGeom>
          <a:noFill/>
          <a:ln/>
        </p:spPr>
        <p:txBody>
          <a:bodyPr wrap="square" lIns="0" tIns="0" rIns="0" bIns="0" rtlCol="0" anchor="ctr"/>
          <a:lstStyle/>
          <a:p>
            <a:pPr indent="0" marL="0">
              <a:buNone/>
            </a:pPr>
            <a:r>
              <a:rPr lang="en-US" sz="1800" b="1" dirty="0">
                <a:solidFill>
                  <a:schemeClr val="bg1"/>
                </a:solidFill>
              </a:rPr>
              <a:t>Says what the data means and who is accountable for it, at every layer</a:t>
            </a:r>
            <a:endParaRPr lang="en-US" sz="1800" dirty="0"/>
          </a:p>
        </p:txBody>
      </p:sp>
      <p:sp>
        <p:nvSpPr>
          <p:cNvPr id="8" name="Shape 5"/>
          <p:cNvSpPr/>
          <p:nvPr/>
        </p:nvSpPr>
        <p:spPr>
          <a:xfrm>
            <a:off x="548640" y="2971800"/>
            <a:ext cx="1920240" cy="2240280"/>
          </a:xfrm>
          <a:prstGeom prst="roundRect">
            <a:avLst>
              <a:gd name="adj" fmla="val 3810"/>
            </a:avLst>
          </a:prstGeom>
          <a:solidFill>
            <a:schemeClr val="bg2"/>
          </a:solidFill>
          <a:ln/>
        </p:spPr>
      </p:sp>
      <p:sp>
        <p:nvSpPr>
          <p:cNvPr id="9" name="Text 6"/>
          <p:cNvSpPr txBox="1"/>
          <p:nvPr/>
        </p:nvSpPr>
        <p:spPr>
          <a:xfrm>
            <a:off x="713232" y="3108960"/>
            <a:ext cx="1591056" cy="822960"/>
          </a:xfrm>
          <a:prstGeom prst="rect">
            <a:avLst/>
          </a:prstGeom>
          <a:noFill/>
          <a:ln/>
        </p:spPr>
        <p:txBody>
          <a:bodyPr wrap="square" lIns="0" tIns="0" rIns="0" bIns="0" rtlCol="0" anchor="t"/>
          <a:lstStyle/>
          <a:p>
            <a:pPr indent="0" marL="0">
              <a:buNone/>
            </a:pPr>
            <a:r>
              <a:rPr lang="en-US" sz="1600" b="1" dirty="0">
                <a:solidFill>
                  <a:schemeClr val="tx1"/>
                </a:solidFill>
              </a:rPr>
              <a:t>Source systems</a:t>
            </a:r>
            <a:endParaRPr lang="en-US" sz="1600" dirty="0"/>
          </a:p>
        </p:txBody>
      </p:sp>
      <p:sp>
        <p:nvSpPr>
          <p:cNvPr id="10" name="Text 7"/>
          <p:cNvSpPr txBox="1"/>
          <p:nvPr/>
        </p:nvSpPr>
        <p:spPr>
          <a:xfrm>
            <a:off x="713232" y="3995928"/>
            <a:ext cx="1591056" cy="1097280"/>
          </a:xfrm>
          <a:prstGeom prst="rect">
            <a:avLst/>
          </a:prstGeom>
          <a:noFill/>
          <a:ln/>
        </p:spPr>
        <p:txBody>
          <a:bodyPr wrap="square" lIns="0" tIns="0" rIns="0" bIns="0" rtlCol="0" anchor="t"/>
          <a:lstStyle/>
          <a:p>
            <a:pPr indent="0" marL="0">
              <a:buNone/>
            </a:pPr>
            <a:r>
              <a:rPr lang="en-US" sz="1400" dirty="0">
                <a:solidFill>
                  <a:schemeClr val="tx2"/>
                </a:solidFill>
              </a:rPr>
              <a:t>CRM, transfer agent, platform feeds, and others</a:t>
            </a:r>
            <a:endParaRPr lang="en-US" sz="1400" dirty="0"/>
          </a:p>
        </p:txBody>
      </p:sp>
      <p:sp>
        <p:nvSpPr>
          <p:cNvPr id="11" name="Shape 8"/>
          <p:cNvSpPr/>
          <p:nvPr/>
        </p:nvSpPr>
        <p:spPr>
          <a:xfrm>
            <a:off x="2841498" y="2971800"/>
            <a:ext cx="1920240" cy="2240280"/>
          </a:xfrm>
          <a:prstGeom prst="roundRect">
            <a:avLst>
              <a:gd name="adj" fmla="val 3810"/>
            </a:avLst>
          </a:prstGeom>
          <a:solidFill>
            <a:schemeClr val="bg2"/>
          </a:solidFill>
          <a:ln/>
        </p:spPr>
      </p:sp>
      <p:sp>
        <p:nvSpPr>
          <p:cNvPr id="12" name="Text 9"/>
          <p:cNvSpPr txBox="1"/>
          <p:nvPr/>
        </p:nvSpPr>
        <p:spPr>
          <a:xfrm>
            <a:off x="3006090" y="3108960"/>
            <a:ext cx="1591056" cy="822960"/>
          </a:xfrm>
          <a:prstGeom prst="rect">
            <a:avLst/>
          </a:prstGeom>
          <a:noFill/>
          <a:ln/>
        </p:spPr>
        <p:txBody>
          <a:bodyPr wrap="square" lIns="0" tIns="0" rIns="0" bIns="0" rtlCol="0" anchor="t"/>
          <a:lstStyle/>
          <a:p>
            <a:pPr indent="0" marL="0">
              <a:buNone/>
            </a:pPr>
            <a:r>
              <a:rPr lang="en-US" sz="1600" b="1" dirty="0">
                <a:solidFill>
                  <a:schemeClr val="tx1"/>
                </a:solidFill>
              </a:rPr>
              <a:t>Foundational products</a:t>
            </a:r>
            <a:endParaRPr lang="en-US" sz="1600" dirty="0"/>
          </a:p>
        </p:txBody>
      </p:sp>
      <p:sp>
        <p:nvSpPr>
          <p:cNvPr id="13" name="Text 10"/>
          <p:cNvSpPr txBox="1"/>
          <p:nvPr/>
        </p:nvSpPr>
        <p:spPr>
          <a:xfrm>
            <a:off x="3006090" y="3995928"/>
            <a:ext cx="1591056" cy="1097280"/>
          </a:xfrm>
          <a:prstGeom prst="rect">
            <a:avLst/>
          </a:prstGeom>
          <a:noFill/>
          <a:ln/>
        </p:spPr>
        <p:txBody>
          <a:bodyPr wrap="square" lIns="0" tIns="0" rIns="0" bIns="0" rtlCol="0" anchor="t"/>
          <a:lstStyle/>
          <a:p>
            <a:pPr indent="0" marL="0">
              <a:buNone/>
            </a:pPr>
            <a:r>
              <a:rPr lang="en-US" sz="1400" dirty="0">
                <a:solidFill>
                  <a:schemeClr val="tx2"/>
                </a:solidFill>
              </a:rPr>
              <a:t>15 products. Each cleans up a record or number once and certifies it</a:t>
            </a:r>
            <a:endParaRPr lang="en-US" sz="1400" dirty="0"/>
          </a:p>
        </p:txBody>
      </p:sp>
      <p:sp>
        <p:nvSpPr>
          <p:cNvPr id="14" name="Shape 11"/>
          <p:cNvSpPr/>
          <p:nvPr/>
        </p:nvSpPr>
        <p:spPr>
          <a:xfrm>
            <a:off x="5134356" y="2971800"/>
            <a:ext cx="1920240" cy="2240280"/>
          </a:xfrm>
          <a:prstGeom prst="roundRect">
            <a:avLst>
              <a:gd name="adj" fmla="val 3810"/>
            </a:avLst>
          </a:prstGeom>
          <a:solidFill>
            <a:schemeClr val="bg2"/>
          </a:solidFill>
          <a:ln/>
        </p:spPr>
      </p:sp>
      <p:sp>
        <p:nvSpPr>
          <p:cNvPr id="15" name="Text 12"/>
          <p:cNvSpPr txBox="1"/>
          <p:nvPr/>
        </p:nvSpPr>
        <p:spPr>
          <a:xfrm>
            <a:off x="5298948" y="3108960"/>
            <a:ext cx="1591056" cy="822960"/>
          </a:xfrm>
          <a:prstGeom prst="rect">
            <a:avLst/>
          </a:prstGeom>
          <a:noFill/>
          <a:ln/>
        </p:spPr>
        <p:txBody>
          <a:bodyPr wrap="square" lIns="0" tIns="0" rIns="0" bIns="0" rtlCol="0" anchor="t"/>
          <a:lstStyle/>
          <a:p>
            <a:pPr indent="0" marL="0">
              <a:buNone/>
            </a:pPr>
            <a:r>
              <a:rPr lang="en-US" sz="1600" b="1" dirty="0">
                <a:solidFill>
                  <a:schemeClr val="tx1"/>
                </a:solidFill>
              </a:rPr>
              <a:t>Consumer-aligned products</a:t>
            </a:r>
            <a:endParaRPr lang="en-US" sz="1600" dirty="0"/>
          </a:p>
        </p:txBody>
      </p:sp>
      <p:sp>
        <p:nvSpPr>
          <p:cNvPr id="16" name="Text 13"/>
          <p:cNvSpPr txBox="1"/>
          <p:nvPr/>
        </p:nvSpPr>
        <p:spPr>
          <a:xfrm>
            <a:off x="5298948" y="3995928"/>
            <a:ext cx="1591056" cy="1097280"/>
          </a:xfrm>
          <a:prstGeom prst="rect">
            <a:avLst/>
          </a:prstGeom>
          <a:noFill/>
          <a:ln/>
        </p:spPr>
        <p:txBody>
          <a:bodyPr wrap="square" lIns="0" tIns="0" rIns="0" bIns="0" rtlCol="0" anchor="t"/>
          <a:lstStyle/>
          <a:p>
            <a:pPr indent="0" marL="0">
              <a:buNone/>
            </a:pPr>
            <a:r>
              <a:rPr lang="en-US" sz="1400" dirty="0">
                <a:solidFill>
                  <a:schemeClr val="tx2"/>
                </a:solidFill>
              </a:rPr>
              <a:t>77 products. Each is shaped around one team’s decisions</a:t>
            </a:r>
            <a:endParaRPr lang="en-US" sz="1400" dirty="0"/>
          </a:p>
        </p:txBody>
      </p:sp>
      <p:sp>
        <p:nvSpPr>
          <p:cNvPr id="17" name="Shape 14"/>
          <p:cNvSpPr/>
          <p:nvPr/>
        </p:nvSpPr>
        <p:spPr>
          <a:xfrm>
            <a:off x="7427214" y="2971800"/>
            <a:ext cx="1920240" cy="1033272"/>
          </a:xfrm>
          <a:prstGeom prst="roundRect">
            <a:avLst>
              <a:gd name="adj" fmla="val 7080"/>
            </a:avLst>
          </a:prstGeom>
          <a:solidFill>
            <a:schemeClr val="bg2"/>
          </a:solidFill>
          <a:ln/>
        </p:spPr>
      </p:sp>
      <p:sp>
        <p:nvSpPr>
          <p:cNvPr id="18" name="Text 15"/>
          <p:cNvSpPr txBox="1"/>
          <p:nvPr/>
        </p:nvSpPr>
        <p:spPr>
          <a:xfrm>
            <a:off x="7591806" y="3108960"/>
            <a:ext cx="1591056" cy="292608"/>
          </a:xfrm>
          <a:prstGeom prst="rect">
            <a:avLst/>
          </a:prstGeom>
          <a:noFill/>
          <a:ln/>
        </p:spPr>
        <p:txBody>
          <a:bodyPr wrap="square" lIns="0" tIns="0" rIns="0" bIns="0" rtlCol="0" anchor="t"/>
          <a:lstStyle/>
          <a:p>
            <a:pPr indent="0" marL="0">
              <a:buNone/>
            </a:pPr>
            <a:r>
              <a:rPr lang="en-US" sz="1600" b="1" dirty="0">
                <a:solidFill>
                  <a:schemeClr val="tx1"/>
                </a:solidFill>
              </a:rPr>
              <a:t>Semantic layer</a:t>
            </a:r>
            <a:endParaRPr lang="en-US" sz="1600" dirty="0"/>
          </a:p>
        </p:txBody>
      </p:sp>
      <p:sp>
        <p:nvSpPr>
          <p:cNvPr id="19" name="Text 16"/>
          <p:cNvSpPr txBox="1"/>
          <p:nvPr/>
        </p:nvSpPr>
        <p:spPr>
          <a:xfrm>
            <a:off x="7591806" y="3429000"/>
            <a:ext cx="1591056" cy="502920"/>
          </a:xfrm>
          <a:prstGeom prst="rect">
            <a:avLst/>
          </a:prstGeom>
          <a:noFill/>
          <a:ln/>
        </p:spPr>
        <p:txBody>
          <a:bodyPr wrap="square" lIns="0" tIns="0" rIns="0" bIns="0" rtlCol="0" anchor="t"/>
          <a:lstStyle/>
          <a:p>
            <a:pPr indent="0" marL="0">
              <a:buNone/>
            </a:pPr>
            <a:r>
              <a:rPr lang="en-US" sz="1400" dirty="0">
                <a:solidFill>
                  <a:schemeClr val="tx2"/>
                </a:solidFill>
              </a:rPr>
              <a:t>Metrics for analysis</a:t>
            </a:r>
            <a:endParaRPr lang="en-US" sz="1400" dirty="0"/>
          </a:p>
        </p:txBody>
      </p:sp>
      <p:sp>
        <p:nvSpPr>
          <p:cNvPr id="20" name="Shape 17"/>
          <p:cNvSpPr/>
          <p:nvPr/>
        </p:nvSpPr>
        <p:spPr>
          <a:xfrm>
            <a:off x="7427214" y="4178808"/>
            <a:ext cx="1920240" cy="1033272"/>
          </a:xfrm>
          <a:prstGeom prst="roundRect">
            <a:avLst>
              <a:gd name="adj" fmla="val 7080"/>
            </a:avLst>
          </a:prstGeom>
          <a:solidFill>
            <a:schemeClr val="bg2"/>
          </a:solidFill>
          <a:ln/>
        </p:spPr>
      </p:sp>
      <p:sp>
        <p:nvSpPr>
          <p:cNvPr id="21" name="Text 18"/>
          <p:cNvSpPr txBox="1"/>
          <p:nvPr/>
        </p:nvSpPr>
        <p:spPr>
          <a:xfrm>
            <a:off x="7591806" y="4315968"/>
            <a:ext cx="1591056" cy="292608"/>
          </a:xfrm>
          <a:prstGeom prst="rect">
            <a:avLst/>
          </a:prstGeom>
          <a:noFill/>
          <a:ln/>
        </p:spPr>
        <p:txBody>
          <a:bodyPr wrap="square" lIns="0" tIns="0" rIns="0" bIns="0" rtlCol="0" anchor="t"/>
          <a:lstStyle/>
          <a:p>
            <a:pPr indent="0" marL="0">
              <a:buNone/>
            </a:pPr>
            <a:r>
              <a:rPr lang="en-US" sz="1600" b="1" dirty="0">
                <a:solidFill>
                  <a:schemeClr val="tx1"/>
                </a:solidFill>
              </a:rPr>
              <a:t>Direct delivery</a:t>
            </a:r>
            <a:endParaRPr lang="en-US" sz="1600" dirty="0"/>
          </a:p>
        </p:txBody>
      </p:sp>
      <p:sp>
        <p:nvSpPr>
          <p:cNvPr id="22" name="Text 19"/>
          <p:cNvSpPr txBox="1"/>
          <p:nvPr/>
        </p:nvSpPr>
        <p:spPr>
          <a:xfrm>
            <a:off x="7591806" y="4636008"/>
            <a:ext cx="1591056" cy="502920"/>
          </a:xfrm>
          <a:prstGeom prst="rect">
            <a:avLst/>
          </a:prstGeom>
          <a:noFill/>
          <a:ln/>
        </p:spPr>
        <p:txBody>
          <a:bodyPr wrap="square" lIns="0" tIns="0" rIns="0" bIns="0" rtlCol="0" anchor="t"/>
          <a:lstStyle/>
          <a:p>
            <a:pPr indent="0" marL="0">
              <a:buNone/>
            </a:pPr>
            <a:r>
              <a:rPr lang="en-US" sz="1400" dirty="0">
                <a:solidFill>
                  <a:schemeClr val="tx2"/>
                </a:solidFill>
              </a:rPr>
              <a:t>Into a system</a:t>
            </a:r>
            <a:endParaRPr lang="en-US" sz="1400" dirty="0"/>
          </a:p>
        </p:txBody>
      </p:sp>
      <p:sp>
        <p:nvSpPr>
          <p:cNvPr id="23" name="Shape 20"/>
          <p:cNvSpPr/>
          <p:nvPr/>
        </p:nvSpPr>
        <p:spPr>
          <a:xfrm>
            <a:off x="9720072" y="2971800"/>
            <a:ext cx="1920240" cy="2240280"/>
          </a:xfrm>
          <a:prstGeom prst="roundRect">
            <a:avLst>
              <a:gd name="adj" fmla="val 3810"/>
            </a:avLst>
          </a:prstGeom>
          <a:solidFill>
            <a:schemeClr val="bg2"/>
          </a:solidFill>
          <a:ln/>
        </p:spPr>
      </p:sp>
      <p:sp>
        <p:nvSpPr>
          <p:cNvPr id="24" name="Text 21"/>
          <p:cNvSpPr txBox="1"/>
          <p:nvPr/>
        </p:nvSpPr>
        <p:spPr>
          <a:xfrm>
            <a:off x="9884664" y="3108960"/>
            <a:ext cx="1591056" cy="822960"/>
          </a:xfrm>
          <a:prstGeom prst="rect">
            <a:avLst/>
          </a:prstGeom>
          <a:noFill/>
          <a:ln/>
        </p:spPr>
        <p:txBody>
          <a:bodyPr wrap="square" lIns="0" tIns="0" rIns="0" bIns="0" rtlCol="0" anchor="t"/>
          <a:lstStyle/>
          <a:p>
            <a:pPr indent="0" marL="0">
              <a:buNone/>
            </a:pPr>
            <a:r>
              <a:rPr lang="en-US" sz="1600" b="1" dirty="0">
                <a:solidFill>
                  <a:schemeClr val="tx1"/>
                </a:solidFill>
              </a:rPr>
              <a:t>Consumption</a:t>
            </a:r>
            <a:endParaRPr lang="en-US" sz="1600" dirty="0"/>
          </a:p>
        </p:txBody>
      </p:sp>
      <p:sp>
        <p:nvSpPr>
          <p:cNvPr id="25" name="Text 22"/>
          <p:cNvSpPr txBox="1"/>
          <p:nvPr/>
        </p:nvSpPr>
        <p:spPr>
          <a:xfrm>
            <a:off x="9884664" y="3995928"/>
            <a:ext cx="1591056" cy="1097280"/>
          </a:xfrm>
          <a:prstGeom prst="rect">
            <a:avLst/>
          </a:prstGeom>
          <a:noFill/>
          <a:ln/>
        </p:spPr>
        <p:txBody>
          <a:bodyPr wrap="square" lIns="0" tIns="0" rIns="0" bIns="0" rtlCol="0" anchor="t"/>
          <a:lstStyle/>
          <a:p>
            <a:pPr indent="0" marL="0">
              <a:buNone/>
            </a:pPr>
            <a:r>
              <a:rPr lang="en-US" sz="1400" dirty="0">
                <a:solidFill>
                  <a:schemeClr val="tx2"/>
                </a:solidFill>
              </a:rPr>
              <a:t>Dashboards, AI assistants, CRM, payroll, regulators</a:t>
            </a:r>
            <a:endParaRPr lang="en-US" sz="1400" dirty="0"/>
          </a:p>
        </p:txBody>
      </p:sp>
      <p:sp>
        <p:nvSpPr>
          <p:cNvPr id="26" name="Shape 23"/>
          <p:cNvSpPr/>
          <p:nvPr/>
        </p:nvSpPr>
        <p:spPr>
          <a:xfrm>
            <a:off x="2532888" y="4091940"/>
            <a:ext cx="244602" cy="0"/>
          </a:xfrm>
          <a:prstGeom prst="line">
            <a:avLst/>
          </a:prstGeom>
          <a:noFill/>
          <a:ln w="22225">
            <a:solidFill>
              <a:schemeClr val="tx2"/>
            </a:solidFill>
            <a:prstDash val="solid"/>
            <a:tailEnd type="triangle"/>
          </a:ln>
        </p:spPr>
      </p:sp>
      <p:sp>
        <p:nvSpPr>
          <p:cNvPr id="27" name="Shape 24"/>
          <p:cNvSpPr/>
          <p:nvPr/>
        </p:nvSpPr>
        <p:spPr>
          <a:xfrm>
            <a:off x="4825746" y="4091940"/>
            <a:ext cx="244602" cy="0"/>
          </a:xfrm>
          <a:prstGeom prst="line">
            <a:avLst/>
          </a:prstGeom>
          <a:noFill/>
          <a:ln w="22225">
            <a:solidFill>
              <a:schemeClr val="tx2"/>
            </a:solidFill>
            <a:prstDash val="solid"/>
            <a:tailEnd type="triangle"/>
          </a:ln>
        </p:spPr>
      </p:sp>
      <p:sp>
        <p:nvSpPr>
          <p:cNvPr id="28" name="Shape 25"/>
          <p:cNvSpPr/>
          <p:nvPr/>
        </p:nvSpPr>
        <p:spPr>
          <a:xfrm>
            <a:off x="7118604" y="3488436"/>
            <a:ext cx="244602" cy="0"/>
          </a:xfrm>
          <a:prstGeom prst="line">
            <a:avLst/>
          </a:prstGeom>
          <a:noFill/>
          <a:ln w="22225">
            <a:solidFill>
              <a:schemeClr val="tx2"/>
            </a:solidFill>
            <a:prstDash val="solid"/>
            <a:tailEnd type="triangle"/>
          </a:ln>
        </p:spPr>
      </p:sp>
      <p:sp>
        <p:nvSpPr>
          <p:cNvPr id="29" name="Shape 26"/>
          <p:cNvSpPr/>
          <p:nvPr/>
        </p:nvSpPr>
        <p:spPr>
          <a:xfrm>
            <a:off x="9411462" y="3488436"/>
            <a:ext cx="244602" cy="0"/>
          </a:xfrm>
          <a:prstGeom prst="line">
            <a:avLst/>
          </a:prstGeom>
          <a:noFill/>
          <a:ln w="22225">
            <a:solidFill>
              <a:schemeClr val="tx2"/>
            </a:solidFill>
            <a:prstDash val="solid"/>
            <a:tailEnd type="triangle"/>
          </a:ln>
        </p:spPr>
      </p:sp>
      <p:sp>
        <p:nvSpPr>
          <p:cNvPr id="30" name="Shape 27"/>
          <p:cNvSpPr/>
          <p:nvPr/>
        </p:nvSpPr>
        <p:spPr>
          <a:xfrm>
            <a:off x="7118604" y="4695444"/>
            <a:ext cx="244602" cy="0"/>
          </a:xfrm>
          <a:prstGeom prst="line">
            <a:avLst/>
          </a:prstGeom>
          <a:noFill/>
          <a:ln w="22225">
            <a:solidFill>
              <a:schemeClr val="tx2"/>
            </a:solidFill>
            <a:prstDash val="solid"/>
            <a:tailEnd type="triangle"/>
          </a:ln>
        </p:spPr>
      </p:sp>
      <p:sp>
        <p:nvSpPr>
          <p:cNvPr id="31" name="Shape 28"/>
          <p:cNvSpPr/>
          <p:nvPr/>
        </p:nvSpPr>
        <p:spPr>
          <a:xfrm>
            <a:off x="9411462" y="4695444"/>
            <a:ext cx="244602" cy="0"/>
          </a:xfrm>
          <a:prstGeom prst="line">
            <a:avLst/>
          </a:prstGeom>
          <a:noFill/>
          <a:ln w="22225">
            <a:solidFill>
              <a:schemeClr val="tx2"/>
            </a:solidFill>
            <a:prstDash val="solid"/>
            <a:tailEnd type="triangle"/>
          </a:ln>
        </p:spPr>
      </p:sp>
      <p:sp>
        <p:nvSpPr>
          <p:cNvPr id="32" name="Shape 29"/>
          <p:cNvSpPr/>
          <p:nvPr/>
        </p:nvSpPr>
        <p:spPr>
          <a:xfrm>
            <a:off x="1508760" y="2651760"/>
            <a:ext cx="0" cy="320040"/>
          </a:xfrm>
          <a:prstGeom prst="line">
            <a:avLst/>
          </a:prstGeom>
          <a:noFill/>
          <a:ln w="19050">
            <a:solidFill>
              <a:schemeClr val="accent1"/>
            </a:solidFill>
            <a:prstDash val="solid"/>
            <a:tailEnd type="triangle"/>
          </a:ln>
        </p:spPr>
      </p:sp>
      <p:sp>
        <p:nvSpPr>
          <p:cNvPr id="33" name="Shape 30"/>
          <p:cNvSpPr/>
          <p:nvPr/>
        </p:nvSpPr>
        <p:spPr>
          <a:xfrm>
            <a:off x="3801618" y="2651760"/>
            <a:ext cx="0" cy="320040"/>
          </a:xfrm>
          <a:prstGeom prst="line">
            <a:avLst/>
          </a:prstGeom>
          <a:noFill/>
          <a:ln w="19050">
            <a:solidFill>
              <a:schemeClr val="accent1"/>
            </a:solidFill>
            <a:prstDash val="solid"/>
            <a:tailEnd type="triangle"/>
          </a:ln>
        </p:spPr>
      </p:sp>
      <p:sp>
        <p:nvSpPr>
          <p:cNvPr id="34" name="Shape 31"/>
          <p:cNvSpPr/>
          <p:nvPr/>
        </p:nvSpPr>
        <p:spPr>
          <a:xfrm>
            <a:off x="6094476" y="2651760"/>
            <a:ext cx="0" cy="320040"/>
          </a:xfrm>
          <a:prstGeom prst="line">
            <a:avLst/>
          </a:prstGeom>
          <a:noFill/>
          <a:ln w="19050">
            <a:solidFill>
              <a:schemeClr val="accent1"/>
            </a:solidFill>
            <a:prstDash val="solid"/>
            <a:tailEnd type="triangle"/>
          </a:ln>
        </p:spPr>
      </p:sp>
      <p:sp>
        <p:nvSpPr>
          <p:cNvPr id="35" name="Shape 32"/>
          <p:cNvSpPr/>
          <p:nvPr/>
        </p:nvSpPr>
        <p:spPr>
          <a:xfrm>
            <a:off x="8387334" y="2651760"/>
            <a:ext cx="0" cy="320040"/>
          </a:xfrm>
          <a:prstGeom prst="line">
            <a:avLst/>
          </a:prstGeom>
          <a:noFill/>
          <a:ln w="19050">
            <a:solidFill>
              <a:schemeClr val="accent1"/>
            </a:solidFill>
            <a:prstDash val="solid"/>
            <a:tailEnd type="triangle"/>
          </a:ln>
        </p:spPr>
      </p:sp>
      <p:sp>
        <p:nvSpPr>
          <p:cNvPr id="36" name="Shape 33"/>
          <p:cNvSpPr/>
          <p:nvPr/>
        </p:nvSpPr>
        <p:spPr>
          <a:xfrm>
            <a:off x="10680192" y="2651760"/>
            <a:ext cx="0" cy="320040"/>
          </a:xfrm>
          <a:prstGeom prst="line">
            <a:avLst/>
          </a:prstGeom>
          <a:noFill/>
          <a:ln w="19050">
            <a:solidFill>
              <a:schemeClr val="accent1"/>
            </a:solidFill>
            <a:prstDash val="solid"/>
            <a:tailEnd type="triangle"/>
          </a:ln>
        </p:spPr>
      </p:sp>
      <p:sp>
        <p:nvSpPr>
          <p:cNvPr id="37" name="Text 34"/>
          <p:cNvSpPr txBox="1"/>
          <p:nvPr/>
        </p:nvSpPr>
        <p:spPr>
          <a:xfrm>
            <a:off x="548640" y="5440680"/>
            <a:ext cx="11091672" cy="457200"/>
          </a:xfrm>
          <a:prstGeom prst="rect">
            <a:avLst/>
          </a:prstGeom>
          <a:noFill/>
          <a:ln/>
        </p:spPr>
        <p:txBody>
          <a:bodyPr wrap="square" lIns="0" tIns="0" rIns="0" bIns="0" rtlCol="0" anchor="ctr"/>
          <a:lstStyle/>
          <a:p>
            <a:pPr indent="0" marL="0">
              <a:buNone/>
            </a:pPr>
            <a:r>
              <a:rPr lang="en-US" sz="1600" b="1" dirty="0">
                <a:solidFill>
                  <a:schemeClr val="tx1"/>
                </a:solidFill>
              </a:rPr>
              <a:t>Data moves left to right. Meaning moves top to bottom.</a:t>
            </a:r>
            <a:pPr indent="0" marL="0">
              <a:buNone/>
            </a:pPr>
            <a:r>
              <a:rPr lang="en-US" sz="1600" dirty="0">
                <a:solidFill>
                  <a:schemeClr val="tx2"/>
                </a:solidFill>
              </a:rPr>
              <a:t>  Gaps found along the way go back to the owning domain.</a:t>
            </a:r>
            <a:endParaRPr lang="en-US" sz="16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Each layer has one job and one limit</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WHAT EACH LAYER OWNS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743200"/>
                <a:gridCol w="4343400"/>
                <a:gridCol w="4005072"/>
              </a:tblGrid>
              <a:tr h="438912">
                <a:tc>
                  <a:txBody>
                    <a:bodyPr/>
                    <a:lstStyle/>
                    <a:p>
                      <a:pPr indent="0" marL="0">
                        <a:buNone/>
                      </a:pPr>
                      <a:r>
                        <a:rPr lang="en-US" sz="1400" b="1" dirty="0">
                          <a:solidFill>
                            <a:schemeClr val="bg1"/>
                          </a:solidFill>
                        </a:rPr>
                        <a:t>Layer</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Its job</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It must not</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tx1"/>
                    </a:solidFill>
                  </a:tcPr>
                </a:tc>
              </a:tr>
              <a:tr h="621792">
                <a:tc>
                  <a:txBody>
                    <a:bodyPr/>
                    <a:lstStyle/>
                    <a:p>
                      <a:pPr indent="0" marL="0">
                        <a:buNone/>
                      </a:pPr>
                      <a:r>
                        <a:rPr lang="en-US" sz="1400" b="1" dirty="0">
                          <a:solidFill>
                            <a:schemeClr val="accent1"/>
                          </a:solidFill>
                        </a:rPr>
                        <a:t>Source systems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Capture transactions and records as the system of record</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accent4"/>
                          </a:solidFill>
                        </a:rPr>
                        <a:t>Become the place where cross-function numbers are defined</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accent1"/>
                          </a:solidFill>
                        </a:rPr>
                        <a:t>Foundational products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Conform a record or number once, certify it and lock snapshots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accent4"/>
                          </a:solidFill>
                        </a:rPr>
                        <a:t>Remaster a concept or shape it for one team</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b="1" dirty="0">
                          <a:solidFill>
                            <a:schemeClr val="accent1"/>
                          </a:solidFill>
                        </a:rPr>
                        <a:t>Consumer-aligned products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Shape data around one function’s decisions or workflow</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accent4"/>
                          </a:solidFill>
                        </a:rPr>
                        <a:t>Recalculate a certified number</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accent1"/>
                          </a:solidFill>
                        </a:rPr>
                        <a:t>Semantic layer</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Publish one governed set of metrics, dimensions and access rules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accent4"/>
                          </a:solidFill>
                        </a:rPr>
                        <a:t>Introduce a metric that no product or taxonomy measure backs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b="1" dirty="0">
                          <a:solidFill>
                            <a:schemeClr val="accent1"/>
                          </a:solidFill>
                        </a:rPr>
                        <a:t>Direct delivery</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Deliver product data into a system by API, file, event or CRM sync</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accent4"/>
                          </a:solidFill>
                        </a:rPr>
                        <a:t>Carry its own copy of a measure definition</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accent1"/>
                          </a:solidFill>
                        </a:rPr>
                        <a:t>Consumption</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Make the decision or take the action</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accent4"/>
                          </a:solidFill>
                        </a:rPr>
                        <a:t>Keep a calculation that others reuse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question, three ideas, three owners</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THE QUESTION</a:t>
            </a:r>
            <a:endParaRPr lang="en-US" sz="1200" dirty="0"/>
          </a:p>
        </p:txBody>
      </p:sp>
      <p:sp>
        <p:nvSpPr>
          <p:cNvPr id="5" name="Shape 2"/>
          <p:cNvSpPr/>
          <p:nvPr/>
        </p:nvSpPr>
        <p:spPr>
          <a:xfrm>
            <a:off x="548640" y="1737360"/>
            <a:ext cx="11091672" cy="1508760"/>
          </a:xfrm>
          <a:prstGeom prst="roundRect">
            <a:avLst>
              <a:gd name="adj" fmla="val 4848"/>
            </a:avLst>
          </a:prstGeom>
          <a:solidFill>
            <a:schemeClr val="bg2"/>
          </a:solidFill>
          <a:ln/>
        </p:spPr>
      </p:sp>
      <p:sp>
        <p:nvSpPr>
          <p:cNvPr id="6" name="Text 3"/>
          <p:cNvSpPr txBox="1"/>
          <p:nvPr/>
        </p:nvSpPr>
        <p:spPr>
          <a:xfrm>
            <a:off x="822960" y="1874520"/>
            <a:ext cx="10543032" cy="274320"/>
          </a:xfrm>
          <a:prstGeom prst="rect">
            <a:avLst/>
          </a:prstGeom>
          <a:noFill/>
          <a:ln/>
        </p:spPr>
        <p:txBody>
          <a:bodyPr wrap="square" lIns="0" tIns="0" rIns="0" bIns="0" rtlCol="0" anchor="t"/>
          <a:lstStyle/>
          <a:p>
            <a:pPr indent="0" marL="0">
              <a:buNone/>
            </a:pPr>
            <a:r>
              <a:rPr lang="en-US" sz="1200" dirty="0">
                <a:solidFill>
                  <a:schemeClr val="tx2"/>
                </a:solidFill>
              </a:rPr>
              <a:t>The Head of Institutional Distribution asks</a:t>
            </a:r>
            <a:endParaRPr lang="en-US" sz="1200" dirty="0"/>
          </a:p>
        </p:txBody>
      </p:sp>
      <p:sp>
        <p:nvSpPr>
          <p:cNvPr id="7" name="Text 4"/>
          <p:cNvSpPr txBox="1"/>
          <p:nvPr/>
        </p:nvSpPr>
        <p:spPr>
          <a:xfrm>
            <a:off x="822960" y="2194560"/>
            <a:ext cx="10543032" cy="914400"/>
          </a:xfrm>
          <a:prstGeom prst="rect">
            <a:avLst/>
          </a:prstGeom>
          <a:noFill/>
          <a:ln/>
        </p:spPr>
        <p:txBody>
          <a:bodyPr wrap="square" lIns="0" tIns="0" rIns="0" bIns="0" rtlCol="0" anchor="ctr"/>
          <a:lstStyle/>
          <a:p>
            <a:pPr indent="0" marL="0">
              <a:buNone/>
            </a:pPr>
            <a:r>
              <a:rPr lang="en-US" sz="2400" b="1" dirty="0">
                <a:solidFill>
                  <a:schemeClr val="tx1"/>
                </a:solidFill>
              </a:rPr>
              <a:t>“How much of our </a:t>
            </a:r>
            <a:pPr indent="0" marL="0">
              <a:buNone/>
            </a:pPr>
            <a:r>
              <a:rPr lang="en-US" sz="2400" b="1" dirty="0">
                <a:solidFill>
                  <a:schemeClr val="accent1"/>
                </a:solidFill>
              </a:rPr>
              <a:t>AUM</a:t>
            </a:r>
            <a:pPr indent="0" marL="0">
              <a:buNone/>
            </a:pPr>
            <a:r>
              <a:rPr lang="en-US" sz="2400" b="1" dirty="0">
                <a:solidFill>
                  <a:schemeClr val="tx1"/>
                </a:solidFill>
              </a:rPr>
              <a:t> with </a:t>
            </a:r>
            <a:pPr indent="0" marL="0">
              <a:buNone/>
            </a:pPr>
            <a:r>
              <a:rPr lang="en-US" sz="2400" b="1" dirty="0">
                <a:solidFill>
                  <a:schemeClr val="accent2"/>
                </a:solidFill>
              </a:rPr>
              <a:t>public pension plans</a:t>
            </a:r>
            <a:pPr indent="0" marL="0">
              <a:buNone/>
            </a:pPr>
            <a:r>
              <a:rPr lang="en-US" sz="2400" b="1" dirty="0">
                <a:solidFill>
                  <a:schemeClr val="tx1"/>
                </a:solidFill>
              </a:rPr>
              <a:t> sits with clients whose relationship is </a:t>
            </a:r>
            <a:pPr indent="0" marL="0">
              <a:buNone/>
            </a:pPr>
            <a:r>
              <a:rPr lang="en-US" sz="2400" b="1" dirty="0">
                <a:solidFill>
                  <a:schemeClr val="accent4"/>
                </a:solidFill>
              </a:rPr>
              <a:t>at risk</a:t>
            </a:r>
            <a:pPr indent="0" marL="0">
              <a:buNone/>
            </a:pPr>
            <a:r>
              <a:rPr lang="en-US" sz="2400" b="1" dirty="0">
                <a:solidFill>
                  <a:schemeClr val="tx1"/>
                </a:solidFill>
              </a:rPr>
              <a:t>?”</a:t>
            </a:r>
            <a:endParaRPr lang="en-US" sz="1400" dirty="0"/>
          </a:p>
        </p:txBody>
      </p:sp>
      <p:sp>
        <p:nvSpPr>
          <p:cNvPr id="8" name="Shape 5"/>
          <p:cNvSpPr/>
          <p:nvPr/>
        </p:nvSpPr>
        <p:spPr>
          <a:xfrm>
            <a:off x="548640" y="3474720"/>
            <a:ext cx="3538728" cy="1874520"/>
          </a:xfrm>
          <a:prstGeom prst="roundRect">
            <a:avLst>
              <a:gd name="adj" fmla="val 3902"/>
            </a:avLst>
          </a:prstGeom>
          <a:solidFill>
            <a:schemeClr val="bg2"/>
          </a:solidFill>
          <a:ln/>
        </p:spPr>
      </p:sp>
      <p:sp>
        <p:nvSpPr>
          <p:cNvPr id="9" name="Text 6"/>
          <p:cNvSpPr txBox="1"/>
          <p:nvPr/>
        </p:nvSpPr>
        <p:spPr>
          <a:xfrm>
            <a:off x="777240" y="3611880"/>
            <a:ext cx="3081528" cy="320040"/>
          </a:xfrm>
          <a:prstGeom prst="rect">
            <a:avLst/>
          </a:prstGeom>
          <a:noFill/>
          <a:ln/>
        </p:spPr>
        <p:txBody>
          <a:bodyPr wrap="square" lIns="0" tIns="0" rIns="0" bIns="0" rtlCol="0" anchor="t"/>
          <a:lstStyle/>
          <a:p>
            <a:pPr indent="0" marL="0">
              <a:buNone/>
            </a:pPr>
            <a:r>
              <a:rPr lang="en-US" sz="1600" b="1" dirty="0">
                <a:solidFill>
                  <a:schemeClr val="accent2"/>
                </a:solidFill>
              </a:rPr>
              <a:t>“public pension plans”</a:t>
            </a:r>
            <a:endParaRPr lang="en-US" sz="1600" dirty="0"/>
          </a:p>
        </p:txBody>
      </p:sp>
      <p:sp>
        <p:nvSpPr>
          <p:cNvPr id="10" name="Text 7"/>
          <p:cNvSpPr txBox="1"/>
          <p:nvPr/>
        </p:nvSpPr>
        <p:spPr>
          <a:xfrm>
            <a:off x="777240" y="3959352"/>
            <a:ext cx="3081528" cy="411480"/>
          </a:xfrm>
          <a:prstGeom prst="rect">
            <a:avLst/>
          </a:prstGeom>
          <a:noFill/>
          <a:ln/>
        </p:spPr>
        <p:txBody>
          <a:bodyPr wrap="square" lIns="0" tIns="0" rIns="0" bIns="0" rtlCol="0" anchor="t"/>
          <a:lstStyle/>
          <a:p>
            <a:pPr indent="0" marL="0">
              <a:buNone/>
            </a:pPr>
            <a:r>
              <a:rPr lang="en-US" sz="2000" b="1" dirty="0">
                <a:solidFill>
                  <a:schemeClr val="tx1"/>
                </a:solidFill>
              </a:rPr>
              <a:t>Institutional Client Type</a:t>
            </a:r>
            <a:endParaRPr lang="en-US" sz="2000" dirty="0"/>
          </a:p>
        </p:txBody>
      </p:sp>
      <p:sp>
        <p:nvSpPr>
          <p:cNvPr id="11" name="Text 8"/>
          <p:cNvSpPr txBox="1"/>
          <p:nvPr/>
        </p:nvSpPr>
        <p:spPr>
          <a:xfrm>
            <a:off x="777240" y="4480560"/>
            <a:ext cx="3081528" cy="228600"/>
          </a:xfrm>
          <a:prstGeom prst="rect">
            <a:avLst/>
          </a:prstGeom>
          <a:noFill/>
          <a:ln/>
        </p:spPr>
        <p:txBody>
          <a:bodyPr wrap="square" lIns="0" tIns="0" rIns="0" bIns="0" rtlCol="0" anchor="t"/>
          <a:lstStyle/>
          <a:p>
            <a:pPr indent="0" marL="0">
              <a:buNone/>
            </a:pPr>
            <a:r>
              <a:rPr lang="en-US" sz="1000" b="1" spc="100" kern="0" dirty="0">
                <a:solidFill>
                  <a:schemeClr val="tx2"/>
                </a:solidFill>
              </a:rPr>
              <a:t>MASTERED BY DATA DOMAIN</a:t>
            </a:r>
            <a:endParaRPr lang="en-US" sz="1000" dirty="0"/>
          </a:p>
        </p:txBody>
      </p:sp>
      <p:sp>
        <p:nvSpPr>
          <p:cNvPr id="12" name="Text 9"/>
          <p:cNvSpPr txBox="1"/>
          <p:nvPr/>
        </p:nvSpPr>
        <p:spPr>
          <a:xfrm>
            <a:off x="777240" y="4709160"/>
            <a:ext cx="3081528" cy="548640"/>
          </a:xfrm>
          <a:prstGeom prst="rect">
            <a:avLst/>
          </a:prstGeom>
          <a:noFill/>
          <a:ln/>
        </p:spPr>
        <p:txBody>
          <a:bodyPr wrap="square" lIns="0" tIns="0" rIns="0" bIns="0" rtlCol="0" anchor="t"/>
          <a:lstStyle/>
          <a:p>
            <a:pPr indent="0" marL="0">
              <a:buNone/>
            </a:pPr>
            <a:r>
              <a:rPr lang="en-US" sz="1400" dirty="0">
                <a:solidFill>
                  <a:schemeClr val="tx1"/>
                </a:solidFill>
              </a:rPr>
              <a:t>02 Client &amp; Customer</a:t>
            </a:r>
            <a:endParaRPr lang="en-US" sz="1400" dirty="0"/>
          </a:p>
        </p:txBody>
      </p:sp>
      <p:sp>
        <p:nvSpPr>
          <p:cNvPr id="13" name="Shape 10"/>
          <p:cNvSpPr/>
          <p:nvPr/>
        </p:nvSpPr>
        <p:spPr>
          <a:xfrm>
            <a:off x="4325112" y="3474720"/>
            <a:ext cx="3538728" cy="1874520"/>
          </a:xfrm>
          <a:prstGeom prst="roundRect">
            <a:avLst>
              <a:gd name="adj" fmla="val 3902"/>
            </a:avLst>
          </a:prstGeom>
          <a:solidFill>
            <a:schemeClr val="bg2"/>
          </a:solidFill>
          <a:ln/>
        </p:spPr>
      </p:sp>
      <p:sp>
        <p:nvSpPr>
          <p:cNvPr id="14" name="Text 11"/>
          <p:cNvSpPr txBox="1"/>
          <p:nvPr/>
        </p:nvSpPr>
        <p:spPr>
          <a:xfrm>
            <a:off x="4553712" y="3611880"/>
            <a:ext cx="3081528" cy="320040"/>
          </a:xfrm>
          <a:prstGeom prst="rect">
            <a:avLst/>
          </a:prstGeom>
          <a:noFill/>
          <a:ln/>
        </p:spPr>
        <p:txBody>
          <a:bodyPr wrap="square" lIns="0" tIns="0" rIns="0" bIns="0" rtlCol="0" anchor="t"/>
          <a:lstStyle/>
          <a:p>
            <a:pPr indent="0" marL="0">
              <a:buNone/>
            </a:pPr>
            <a:r>
              <a:rPr lang="en-US" sz="1600" b="1" dirty="0">
                <a:solidFill>
                  <a:schemeClr val="accent1"/>
                </a:solidFill>
              </a:rPr>
              <a:t>“AUM”</a:t>
            </a:r>
            <a:endParaRPr lang="en-US" sz="1600" dirty="0"/>
          </a:p>
        </p:txBody>
      </p:sp>
      <p:sp>
        <p:nvSpPr>
          <p:cNvPr id="15" name="Text 12"/>
          <p:cNvSpPr txBox="1"/>
          <p:nvPr/>
        </p:nvSpPr>
        <p:spPr>
          <a:xfrm>
            <a:off x="4553712" y="3959352"/>
            <a:ext cx="3081528" cy="411480"/>
          </a:xfrm>
          <a:prstGeom prst="rect">
            <a:avLst/>
          </a:prstGeom>
          <a:noFill/>
          <a:ln/>
        </p:spPr>
        <p:txBody>
          <a:bodyPr wrap="square" lIns="0" tIns="0" rIns="0" bIns="0" rtlCol="0" anchor="t"/>
          <a:lstStyle/>
          <a:p>
            <a:pPr indent="0" marL="0">
              <a:buNone/>
            </a:pPr>
            <a:r>
              <a:rPr lang="en-US" sz="2000" b="1" dirty="0">
                <a:solidFill>
                  <a:schemeClr val="tx1"/>
                </a:solidFill>
              </a:rPr>
              <a:t>Ending AUM</a:t>
            </a:r>
            <a:endParaRPr lang="en-US" sz="2000" dirty="0"/>
          </a:p>
        </p:txBody>
      </p:sp>
      <p:sp>
        <p:nvSpPr>
          <p:cNvPr id="16" name="Text 13"/>
          <p:cNvSpPr txBox="1"/>
          <p:nvPr/>
        </p:nvSpPr>
        <p:spPr>
          <a:xfrm>
            <a:off x="4553712" y="4480560"/>
            <a:ext cx="3081528" cy="228600"/>
          </a:xfrm>
          <a:prstGeom prst="rect">
            <a:avLst/>
          </a:prstGeom>
          <a:noFill/>
          <a:ln/>
        </p:spPr>
        <p:txBody>
          <a:bodyPr wrap="square" lIns="0" tIns="0" rIns="0" bIns="0" rtlCol="0" anchor="t"/>
          <a:lstStyle/>
          <a:p>
            <a:pPr indent="0" marL="0">
              <a:buNone/>
            </a:pPr>
            <a:r>
              <a:rPr lang="en-US" sz="1000" b="1" spc="100" kern="0" dirty="0">
                <a:solidFill>
                  <a:schemeClr val="tx2"/>
                </a:solidFill>
              </a:rPr>
              <a:t>MASTERED BY DATA DOMAIN</a:t>
            </a:r>
            <a:endParaRPr lang="en-US" sz="1000" dirty="0"/>
          </a:p>
        </p:txBody>
      </p:sp>
      <p:sp>
        <p:nvSpPr>
          <p:cNvPr id="17" name="Text 14"/>
          <p:cNvSpPr txBox="1"/>
          <p:nvPr/>
        </p:nvSpPr>
        <p:spPr>
          <a:xfrm>
            <a:off x="4553712" y="4709160"/>
            <a:ext cx="3081528" cy="548640"/>
          </a:xfrm>
          <a:prstGeom prst="rect">
            <a:avLst/>
          </a:prstGeom>
          <a:noFill/>
          <a:ln/>
        </p:spPr>
        <p:txBody>
          <a:bodyPr wrap="square" lIns="0" tIns="0" rIns="0" bIns="0" rtlCol="0" anchor="t"/>
          <a:lstStyle/>
          <a:p>
            <a:pPr indent="0" marL="0">
              <a:buNone/>
            </a:pPr>
            <a:r>
              <a:rPr lang="en-US" sz="1400" dirty="0">
                <a:solidFill>
                  <a:schemeClr val="tx1"/>
                </a:solidFill>
              </a:rPr>
              <a:t>06 Sales Transactions &amp; AUM Attribution</a:t>
            </a:r>
            <a:endParaRPr lang="en-US" sz="1400" dirty="0"/>
          </a:p>
        </p:txBody>
      </p:sp>
      <p:sp>
        <p:nvSpPr>
          <p:cNvPr id="18" name="Shape 15"/>
          <p:cNvSpPr/>
          <p:nvPr/>
        </p:nvSpPr>
        <p:spPr>
          <a:xfrm>
            <a:off x="8101584" y="3474720"/>
            <a:ext cx="3538728" cy="1874520"/>
          </a:xfrm>
          <a:prstGeom prst="roundRect">
            <a:avLst>
              <a:gd name="adj" fmla="val 3902"/>
            </a:avLst>
          </a:prstGeom>
          <a:solidFill>
            <a:schemeClr val="bg2"/>
          </a:solidFill>
          <a:ln/>
        </p:spPr>
      </p:sp>
      <p:sp>
        <p:nvSpPr>
          <p:cNvPr id="19" name="Text 16"/>
          <p:cNvSpPr txBox="1"/>
          <p:nvPr/>
        </p:nvSpPr>
        <p:spPr>
          <a:xfrm>
            <a:off x="8330184" y="3611880"/>
            <a:ext cx="3081528" cy="320040"/>
          </a:xfrm>
          <a:prstGeom prst="rect">
            <a:avLst/>
          </a:prstGeom>
          <a:noFill/>
          <a:ln/>
        </p:spPr>
        <p:txBody>
          <a:bodyPr wrap="square" lIns="0" tIns="0" rIns="0" bIns="0" rtlCol="0" anchor="t"/>
          <a:lstStyle/>
          <a:p>
            <a:pPr indent="0" marL="0">
              <a:buNone/>
            </a:pPr>
            <a:r>
              <a:rPr lang="en-US" sz="1600" b="1" dirty="0">
                <a:solidFill>
                  <a:schemeClr val="accent4"/>
                </a:solidFill>
              </a:rPr>
              <a:t>“at risk”</a:t>
            </a:r>
            <a:endParaRPr lang="en-US" sz="1600" dirty="0"/>
          </a:p>
        </p:txBody>
      </p:sp>
      <p:sp>
        <p:nvSpPr>
          <p:cNvPr id="20" name="Text 17"/>
          <p:cNvSpPr txBox="1"/>
          <p:nvPr/>
        </p:nvSpPr>
        <p:spPr>
          <a:xfrm>
            <a:off x="8330184" y="3959352"/>
            <a:ext cx="3081528" cy="411480"/>
          </a:xfrm>
          <a:prstGeom prst="rect">
            <a:avLst/>
          </a:prstGeom>
          <a:noFill/>
          <a:ln/>
        </p:spPr>
        <p:txBody>
          <a:bodyPr wrap="square" lIns="0" tIns="0" rIns="0" bIns="0" rtlCol="0" anchor="t"/>
          <a:lstStyle/>
          <a:p>
            <a:pPr indent="0" marL="0">
              <a:buNone/>
            </a:pPr>
            <a:r>
              <a:rPr lang="en-US" sz="2000" b="1" dirty="0">
                <a:solidFill>
                  <a:schemeClr val="tx1"/>
                </a:solidFill>
              </a:rPr>
              <a:t>At-Risk Indicator</a:t>
            </a:r>
            <a:endParaRPr lang="en-US" sz="2000" dirty="0"/>
          </a:p>
        </p:txBody>
      </p:sp>
      <p:sp>
        <p:nvSpPr>
          <p:cNvPr id="21" name="Text 18"/>
          <p:cNvSpPr txBox="1"/>
          <p:nvPr/>
        </p:nvSpPr>
        <p:spPr>
          <a:xfrm>
            <a:off x="8330184" y="4480560"/>
            <a:ext cx="3081528" cy="228600"/>
          </a:xfrm>
          <a:prstGeom prst="rect">
            <a:avLst/>
          </a:prstGeom>
          <a:noFill/>
          <a:ln/>
        </p:spPr>
        <p:txBody>
          <a:bodyPr wrap="square" lIns="0" tIns="0" rIns="0" bIns="0" rtlCol="0" anchor="t"/>
          <a:lstStyle/>
          <a:p>
            <a:pPr indent="0" marL="0">
              <a:buNone/>
            </a:pPr>
            <a:r>
              <a:rPr lang="en-US" sz="1000" b="1" spc="100" kern="0" dirty="0">
                <a:solidFill>
                  <a:schemeClr val="tx2"/>
                </a:solidFill>
              </a:rPr>
              <a:t>MASTERED BY DATA DOMAIN</a:t>
            </a:r>
            <a:endParaRPr lang="en-US" sz="1000" dirty="0"/>
          </a:p>
        </p:txBody>
      </p:sp>
      <p:sp>
        <p:nvSpPr>
          <p:cNvPr id="22" name="Text 19"/>
          <p:cNvSpPr txBox="1"/>
          <p:nvPr/>
        </p:nvSpPr>
        <p:spPr>
          <a:xfrm>
            <a:off x="8330184" y="4709160"/>
            <a:ext cx="3081528" cy="548640"/>
          </a:xfrm>
          <a:prstGeom prst="rect">
            <a:avLst/>
          </a:prstGeom>
          <a:noFill/>
          <a:ln/>
        </p:spPr>
        <p:txBody>
          <a:bodyPr wrap="square" lIns="0" tIns="0" rIns="0" bIns="0" rtlCol="0" anchor="t"/>
          <a:lstStyle/>
          <a:p>
            <a:pPr indent="0" marL="0">
              <a:buNone/>
            </a:pPr>
            <a:r>
              <a:rPr lang="en-US" sz="1400" dirty="0">
                <a:solidFill>
                  <a:schemeClr val="tx1"/>
                </a:solidFill>
              </a:rPr>
              <a:t>12 Institutional Client Servicing &amp; Reporting</a:t>
            </a:r>
            <a:endParaRPr lang="en-US" sz="1400" dirty="0"/>
          </a:p>
        </p:txBody>
      </p:sp>
      <p:sp>
        <p:nvSpPr>
          <p:cNvPr id="23" name="Text 20"/>
          <p:cNvSpPr txBox="1"/>
          <p:nvPr/>
        </p:nvSpPr>
        <p:spPr>
          <a:xfrm>
            <a:off x="548640" y="5559552"/>
            <a:ext cx="11091672" cy="365760"/>
          </a:xfrm>
          <a:prstGeom prst="rect">
            <a:avLst/>
          </a:prstGeom>
          <a:noFill/>
          <a:ln/>
        </p:spPr>
        <p:txBody>
          <a:bodyPr wrap="square" lIns="0" tIns="0" rIns="0" bIns="0" rtlCol="0" anchor="ctr"/>
          <a:lstStyle/>
          <a:p>
            <a:pPr indent="0" marL="0">
              <a:buNone/>
            </a:pPr>
            <a:r>
              <a:rPr lang="en-US" sz="1600" dirty="0">
                <a:solidFill>
                  <a:schemeClr val="tx1"/>
                </a:solidFill>
              </a:rPr>
              <a:t>We follow one client: </a:t>
            </a:r>
            <a:pPr indent="0" marL="0">
              <a:buNone/>
            </a:pPr>
            <a:r>
              <a:rPr lang="en-US" sz="1600" b="1" dirty="0">
                <a:solidFill>
                  <a:schemeClr val="tx1"/>
                </a:solidFill>
              </a:rPr>
              <a:t>State Teachers’ Pension, with $1.2bn invested with us.</a:t>
            </a:r>
            <a:endParaRPr lang="en-US" sz="16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definition travels through five levels</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THE ROUTE</a:t>
            </a:r>
            <a:endParaRPr lang="en-US" sz="1200" dirty="0"/>
          </a:p>
        </p:txBody>
      </p:sp>
      <p:sp>
        <p:nvSpPr>
          <p:cNvPr id="5" name="Shape 2"/>
          <p:cNvSpPr/>
          <p:nvPr/>
        </p:nvSpPr>
        <p:spPr>
          <a:xfrm>
            <a:off x="548640" y="1783080"/>
            <a:ext cx="1920240" cy="2103120"/>
          </a:xfrm>
          <a:prstGeom prst="roundRect">
            <a:avLst>
              <a:gd name="adj" fmla="val 3810"/>
            </a:avLst>
          </a:prstGeom>
          <a:solidFill>
            <a:schemeClr val="bg2"/>
          </a:solidFill>
          <a:ln/>
        </p:spPr>
      </p:sp>
      <p:sp>
        <p:nvSpPr>
          <p:cNvPr id="6" name="Shape 3"/>
          <p:cNvSpPr/>
          <p:nvPr/>
        </p:nvSpPr>
        <p:spPr>
          <a:xfrm>
            <a:off x="731520" y="1938528"/>
            <a:ext cx="420624" cy="420624"/>
          </a:xfrm>
          <a:prstGeom prst="ellipse">
            <a:avLst/>
          </a:prstGeom>
          <a:solidFill>
            <a:schemeClr val="accent1"/>
          </a:solidFill>
          <a:ln/>
        </p:spPr>
      </p:sp>
      <p:sp>
        <p:nvSpPr>
          <p:cNvPr id="7" name="Text 4"/>
          <p:cNvSpPr txBox="1"/>
          <p:nvPr/>
        </p:nvSpPr>
        <p:spPr>
          <a:xfrm>
            <a:off x="731520" y="19385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731520" y="2468880"/>
            <a:ext cx="1554480" cy="548640"/>
          </a:xfrm>
          <a:prstGeom prst="rect">
            <a:avLst/>
          </a:prstGeom>
          <a:noFill/>
          <a:ln/>
        </p:spPr>
        <p:txBody>
          <a:bodyPr wrap="square" lIns="0" tIns="0" rIns="0" bIns="0" rtlCol="0" anchor="t"/>
          <a:lstStyle/>
          <a:p>
            <a:pPr indent="0" marL="0">
              <a:buNone/>
            </a:pPr>
            <a:r>
              <a:rPr lang="en-US" sz="1600" b="1" dirty="0">
                <a:solidFill>
                  <a:schemeClr val="tx1"/>
                </a:solidFill>
              </a:rPr>
              <a:t>Source systems</a:t>
            </a:r>
            <a:endParaRPr lang="en-US" sz="1600" dirty="0"/>
          </a:p>
        </p:txBody>
      </p:sp>
      <p:sp>
        <p:nvSpPr>
          <p:cNvPr id="9" name="Text 6"/>
          <p:cNvSpPr txBox="1"/>
          <p:nvPr/>
        </p:nvSpPr>
        <p:spPr>
          <a:xfrm>
            <a:off x="731520" y="3090672"/>
            <a:ext cx="1554480" cy="731520"/>
          </a:xfrm>
          <a:prstGeom prst="rect">
            <a:avLst/>
          </a:prstGeom>
          <a:noFill/>
          <a:ln/>
        </p:spPr>
        <p:txBody>
          <a:bodyPr wrap="square" lIns="0" tIns="0" rIns="0" bIns="0" rtlCol="0" anchor="t"/>
          <a:lstStyle/>
          <a:p>
            <a:pPr indent="0" marL="0">
              <a:buNone/>
            </a:pPr>
            <a:r>
              <a:rPr lang="en-US" sz="1400" dirty="0">
                <a:solidFill>
                  <a:schemeClr val="tx2"/>
                </a:solidFill>
              </a:rPr>
              <a:t>Transfer agent, CRM, client service team</a:t>
            </a:r>
            <a:endParaRPr lang="en-US" sz="1400" dirty="0"/>
          </a:p>
        </p:txBody>
      </p:sp>
      <p:sp>
        <p:nvSpPr>
          <p:cNvPr id="10" name="Shape 7"/>
          <p:cNvSpPr/>
          <p:nvPr/>
        </p:nvSpPr>
        <p:spPr>
          <a:xfrm>
            <a:off x="2532888" y="2834640"/>
            <a:ext cx="244602" cy="0"/>
          </a:xfrm>
          <a:prstGeom prst="line">
            <a:avLst/>
          </a:prstGeom>
          <a:noFill/>
          <a:ln w="22225">
            <a:solidFill>
              <a:schemeClr val="tx2"/>
            </a:solidFill>
            <a:prstDash val="solid"/>
            <a:tailEnd type="triangle"/>
          </a:ln>
        </p:spPr>
      </p:sp>
      <p:sp>
        <p:nvSpPr>
          <p:cNvPr id="11" name="Shape 8"/>
          <p:cNvSpPr/>
          <p:nvPr/>
        </p:nvSpPr>
        <p:spPr>
          <a:xfrm>
            <a:off x="1508760" y="3886200"/>
            <a:ext cx="0" cy="182880"/>
          </a:xfrm>
          <a:prstGeom prst="line">
            <a:avLst/>
          </a:prstGeom>
          <a:noFill/>
          <a:ln w="19050">
            <a:solidFill>
              <a:schemeClr val="accent1"/>
            </a:solidFill>
            <a:prstDash val="solid"/>
          </a:ln>
        </p:spPr>
      </p:sp>
      <p:sp>
        <p:nvSpPr>
          <p:cNvPr id="12" name="Shape 9"/>
          <p:cNvSpPr/>
          <p:nvPr/>
        </p:nvSpPr>
        <p:spPr>
          <a:xfrm>
            <a:off x="640080" y="4069080"/>
            <a:ext cx="1737360" cy="329184"/>
          </a:xfrm>
          <a:prstGeom prst="roundRect">
            <a:avLst>
              <a:gd name="adj" fmla="val 50000"/>
            </a:avLst>
          </a:prstGeom>
          <a:solidFill>
            <a:schemeClr val="bg1"/>
          </a:solidFill>
          <a:ln w="15875">
            <a:solidFill>
              <a:schemeClr val="accent1"/>
            </a:solidFill>
            <a:prstDash val="solid"/>
          </a:ln>
        </p:spPr>
      </p:sp>
      <p:sp>
        <p:nvSpPr>
          <p:cNvPr id="13" name="Text 10"/>
          <p:cNvSpPr txBox="1"/>
          <p:nvPr/>
        </p:nvSpPr>
        <p:spPr>
          <a:xfrm>
            <a:off x="640080" y="4069080"/>
            <a:ext cx="1737360" cy="329184"/>
          </a:xfrm>
          <a:prstGeom prst="rect">
            <a:avLst/>
          </a:prstGeom>
          <a:noFill/>
          <a:ln/>
        </p:spPr>
        <p:txBody>
          <a:bodyPr wrap="square" lIns="0" tIns="0" rIns="0" bIns="0" rtlCol="0" anchor="ctr"/>
          <a:lstStyle/>
          <a:p>
            <a:pPr algn="ctr" indent="0" marL="0">
              <a:buNone/>
            </a:pPr>
            <a:r>
              <a:rPr lang="en-US" sz="1200" b="1" dirty="0">
                <a:solidFill>
                  <a:schemeClr val="accent1"/>
                </a:solidFill>
              </a:rPr>
              <a:t>Mapping target</a:t>
            </a:r>
            <a:endParaRPr lang="en-US" sz="1200" dirty="0"/>
          </a:p>
        </p:txBody>
      </p:sp>
      <p:sp>
        <p:nvSpPr>
          <p:cNvPr id="14" name="Shape 11"/>
          <p:cNvSpPr/>
          <p:nvPr/>
        </p:nvSpPr>
        <p:spPr>
          <a:xfrm>
            <a:off x="1508760" y="4398264"/>
            <a:ext cx="0" cy="310896"/>
          </a:xfrm>
          <a:prstGeom prst="line">
            <a:avLst/>
          </a:prstGeom>
          <a:noFill/>
          <a:ln w="19050">
            <a:solidFill>
              <a:schemeClr val="accent1"/>
            </a:solidFill>
            <a:prstDash val="solid"/>
          </a:ln>
        </p:spPr>
      </p:sp>
      <p:sp>
        <p:nvSpPr>
          <p:cNvPr id="15" name="Shape 12"/>
          <p:cNvSpPr/>
          <p:nvPr/>
        </p:nvSpPr>
        <p:spPr>
          <a:xfrm>
            <a:off x="2841498" y="1783080"/>
            <a:ext cx="1920240" cy="2103120"/>
          </a:xfrm>
          <a:prstGeom prst="roundRect">
            <a:avLst>
              <a:gd name="adj" fmla="val 3810"/>
            </a:avLst>
          </a:prstGeom>
          <a:solidFill>
            <a:schemeClr val="bg2"/>
          </a:solidFill>
          <a:ln/>
        </p:spPr>
      </p:sp>
      <p:sp>
        <p:nvSpPr>
          <p:cNvPr id="16" name="Shape 13"/>
          <p:cNvSpPr/>
          <p:nvPr/>
        </p:nvSpPr>
        <p:spPr>
          <a:xfrm>
            <a:off x="3024378" y="1938528"/>
            <a:ext cx="420624" cy="420624"/>
          </a:xfrm>
          <a:prstGeom prst="ellipse">
            <a:avLst/>
          </a:prstGeom>
          <a:solidFill>
            <a:schemeClr val="accent1"/>
          </a:solidFill>
          <a:ln/>
        </p:spPr>
      </p:sp>
      <p:sp>
        <p:nvSpPr>
          <p:cNvPr id="17" name="Text 14"/>
          <p:cNvSpPr txBox="1"/>
          <p:nvPr/>
        </p:nvSpPr>
        <p:spPr>
          <a:xfrm>
            <a:off x="3024378" y="19385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Text 15"/>
          <p:cNvSpPr txBox="1"/>
          <p:nvPr/>
        </p:nvSpPr>
        <p:spPr>
          <a:xfrm>
            <a:off x="3024378" y="2468880"/>
            <a:ext cx="1554480" cy="548640"/>
          </a:xfrm>
          <a:prstGeom prst="rect">
            <a:avLst/>
          </a:prstGeom>
          <a:noFill/>
          <a:ln/>
        </p:spPr>
        <p:txBody>
          <a:bodyPr wrap="square" lIns="0" tIns="0" rIns="0" bIns="0" rtlCol="0" anchor="t"/>
          <a:lstStyle/>
          <a:p>
            <a:pPr indent="0" marL="0">
              <a:buNone/>
            </a:pPr>
            <a:r>
              <a:rPr lang="en-US" sz="1600" b="1" dirty="0">
                <a:solidFill>
                  <a:schemeClr val="tx1"/>
                </a:solidFill>
              </a:rPr>
              <a:t>Foundational data products</a:t>
            </a:r>
            <a:endParaRPr lang="en-US" sz="1600" dirty="0"/>
          </a:p>
        </p:txBody>
      </p:sp>
      <p:sp>
        <p:nvSpPr>
          <p:cNvPr id="19" name="Text 16"/>
          <p:cNvSpPr txBox="1"/>
          <p:nvPr/>
        </p:nvSpPr>
        <p:spPr>
          <a:xfrm>
            <a:off x="3024378" y="3090672"/>
            <a:ext cx="1554480" cy="731520"/>
          </a:xfrm>
          <a:prstGeom prst="rect">
            <a:avLst/>
          </a:prstGeom>
          <a:noFill/>
          <a:ln/>
        </p:spPr>
        <p:txBody>
          <a:bodyPr wrap="square" lIns="0" tIns="0" rIns="0" bIns="0" rtlCol="0" anchor="t"/>
          <a:lstStyle/>
          <a:p>
            <a:pPr indent="0" marL="0">
              <a:buNone/>
            </a:pPr>
            <a:r>
              <a:rPr lang="en-US" sz="1400" dirty="0">
                <a:solidFill>
                  <a:schemeClr val="tx2"/>
                </a:solidFill>
              </a:rPr>
              <a:t>DP-003, DP-007, DP-008</a:t>
            </a:r>
            <a:endParaRPr lang="en-US" sz="1400" dirty="0"/>
          </a:p>
        </p:txBody>
      </p:sp>
      <p:sp>
        <p:nvSpPr>
          <p:cNvPr id="20" name="Shape 17"/>
          <p:cNvSpPr/>
          <p:nvPr/>
        </p:nvSpPr>
        <p:spPr>
          <a:xfrm>
            <a:off x="4825746" y="2834640"/>
            <a:ext cx="244602" cy="0"/>
          </a:xfrm>
          <a:prstGeom prst="line">
            <a:avLst/>
          </a:prstGeom>
          <a:noFill/>
          <a:ln w="22225">
            <a:solidFill>
              <a:schemeClr val="tx2"/>
            </a:solidFill>
            <a:prstDash val="solid"/>
            <a:tailEnd type="triangle"/>
          </a:ln>
        </p:spPr>
      </p:sp>
      <p:sp>
        <p:nvSpPr>
          <p:cNvPr id="21" name="Shape 18"/>
          <p:cNvSpPr/>
          <p:nvPr/>
        </p:nvSpPr>
        <p:spPr>
          <a:xfrm>
            <a:off x="3801618" y="3886200"/>
            <a:ext cx="0" cy="182880"/>
          </a:xfrm>
          <a:prstGeom prst="line">
            <a:avLst/>
          </a:prstGeom>
          <a:noFill/>
          <a:ln w="19050">
            <a:solidFill>
              <a:schemeClr val="accent1"/>
            </a:solidFill>
            <a:prstDash val="solid"/>
          </a:ln>
        </p:spPr>
      </p:sp>
      <p:sp>
        <p:nvSpPr>
          <p:cNvPr id="22" name="Shape 19"/>
          <p:cNvSpPr/>
          <p:nvPr/>
        </p:nvSpPr>
        <p:spPr>
          <a:xfrm>
            <a:off x="2932938" y="4069080"/>
            <a:ext cx="1737360" cy="329184"/>
          </a:xfrm>
          <a:prstGeom prst="roundRect">
            <a:avLst>
              <a:gd name="adj" fmla="val 50000"/>
            </a:avLst>
          </a:prstGeom>
          <a:solidFill>
            <a:schemeClr val="bg1"/>
          </a:solidFill>
          <a:ln w="15875">
            <a:solidFill>
              <a:schemeClr val="accent1"/>
            </a:solidFill>
            <a:prstDash val="solid"/>
          </a:ln>
        </p:spPr>
      </p:sp>
      <p:sp>
        <p:nvSpPr>
          <p:cNvPr id="23" name="Text 20"/>
          <p:cNvSpPr txBox="1"/>
          <p:nvPr/>
        </p:nvSpPr>
        <p:spPr>
          <a:xfrm>
            <a:off x="2932938" y="4069080"/>
            <a:ext cx="1737360" cy="329184"/>
          </a:xfrm>
          <a:prstGeom prst="rect">
            <a:avLst/>
          </a:prstGeom>
          <a:noFill/>
          <a:ln/>
        </p:spPr>
        <p:txBody>
          <a:bodyPr wrap="square" lIns="0" tIns="0" rIns="0" bIns="0" rtlCol="0" anchor="ctr"/>
          <a:lstStyle/>
          <a:p>
            <a:pPr algn="ctr" indent="0" marL="0">
              <a:buNone/>
            </a:pPr>
            <a:r>
              <a:rPr lang="en-US" sz="1200" b="1" dirty="0">
                <a:solidFill>
                  <a:schemeClr val="accent1"/>
                </a:solidFill>
              </a:rPr>
              <a:t>Bill of materials</a:t>
            </a:r>
            <a:endParaRPr lang="en-US" sz="1200" dirty="0"/>
          </a:p>
        </p:txBody>
      </p:sp>
      <p:sp>
        <p:nvSpPr>
          <p:cNvPr id="24" name="Shape 21"/>
          <p:cNvSpPr/>
          <p:nvPr/>
        </p:nvSpPr>
        <p:spPr>
          <a:xfrm>
            <a:off x="3801618" y="4398264"/>
            <a:ext cx="0" cy="310896"/>
          </a:xfrm>
          <a:prstGeom prst="line">
            <a:avLst/>
          </a:prstGeom>
          <a:noFill/>
          <a:ln w="19050">
            <a:solidFill>
              <a:schemeClr val="accent1"/>
            </a:solidFill>
            <a:prstDash val="solid"/>
          </a:ln>
        </p:spPr>
      </p:sp>
      <p:sp>
        <p:nvSpPr>
          <p:cNvPr id="25" name="Shape 22"/>
          <p:cNvSpPr/>
          <p:nvPr/>
        </p:nvSpPr>
        <p:spPr>
          <a:xfrm>
            <a:off x="5134356" y="1783080"/>
            <a:ext cx="1920240" cy="2103120"/>
          </a:xfrm>
          <a:prstGeom prst="roundRect">
            <a:avLst>
              <a:gd name="adj" fmla="val 3810"/>
            </a:avLst>
          </a:prstGeom>
          <a:solidFill>
            <a:schemeClr val="bg2"/>
          </a:solidFill>
          <a:ln/>
        </p:spPr>
      </p:sp>
      <p:sp>
        <p:nvSpPr>
          <p:cNvPr id="26" name="Shape 23"/>
          <p:cNvSpPr/>
          <p:nvPr/>
        </p:nvSpPr>
        <p:spPr>
          <a:xfrm>
            <a:off x="5317236" y="1938528"/>
            <a:ext cx="420624" cy="420624"/>
          </a:xfrm>
          <a:prstGeom prst="ellipse">
            <a:avLst/>
          </a:prstGeom>
          <a:solidFill>
            <a:schemeClr val="accent1"/>
          </a:solidFill>
          <a:ln/>
        </p:spPr>
      </p:sp>
      <p:sp>
        <p:nvSpPr>
          <p:cNvPr id="27" name="Text 24"/>
          <p:cNvSpPr txBox="1"/>
          <p:nvPr/>
        </p:nvSpPr>
        <p:spPr>
          <a:xfrm>
            <a:off x="5317236" y="19385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8" name="Text 25"/>
          <p:cNvSpPr txBox="1"/>
          <p:nvPr/>
        </p:nvSpPr>
        <p:spPr>
          <a:xfrm>
            <a:off x="5317236" y="2468880"/>
            <a:ext cx="1554480" cy="548640"/>
          </a:xfrm>
          <a:prstGeom prst="rect">
            <a:avLst/>
          </a:prstGeom>
          <a:noFill/>
          <a:ln/>
        </p:spPr>
        <p:txBody>
          <a:bodyPr wrap="square" lIns="0" tIns="0" rIns="0" bIns="0" rtlCol="0" anchor="t"/>
          <a:lstStyle/>
          <a:p>
            <a:pPr indent="0" marL="0">
              <a:buNone/>
            </a:pPr>
            <a:r>
              <a:rPr lang="en-US" sz="1600" b="1" dirty="0">
                <a:solidFill>
                  <a:schemeClr val="tx1"/>
                </a:solidFill>
              </a:rPr>
              <a:t>Consumer data products</a:t>
            </a:r>
            <a:endParaRPr lang="en-US" sz="1600" dirty="0"/>
          </a:p>
        </p:txBody>
      </p:sp>
      <p:sp>
        <p:nvSpPr>
          <p:cNvPr id="29" name="Text 26"/>
          <p:cNvSpPr txBox="1"/>
          <p:nvPr/>
        </p:nvSpPr>
        <p:spPr>
          <a:xfrm>
            <a:off x="5317236" y="3090672"/>
            <a:ext cx="1554480" cy="731520"/>
          </a:xfrm>
          <a:prstGeom prst="rect">
            <a:avLst/>
          </a:prstGeom>
          <a:noFill/>
          <a:ln/>
        </p:spPr>
        <p:txBody>
          <a:bodyPr wrap="square" lIns="0" tIns="0" rIns="0" bIns="0" rtlCol="0" anchor="t"/>
          <a:lstStyle/>
          <a:p>
            <a:pPr indent="0" marL="0">
              <a:buNone/>
            </a:pPr>
            <a:r>
              <a:rPr lang="en-US" sz="1400" dirty="0">
                <a:solidFill>
                  <a:schemeClr val="tx2"/>
                </a:solidFill>
              </a:rPr>
              <a:t>DP-042, DP-092</a:t>
            </a:r>
            <a:endParaRPr lang="en-US" sz="1400" dirty="0"/>
          </a:p>
        </p:txBody>
      </p:sp>
      <p:sp>
        <p:nvSpPr>
          <p:cNvPr id="30" name="Shape 27"/>
          <p:cNvSpPr/>
          <p:nvPr/>
        </p:nvSpPr>
        <p:spPr>
          <a:xfrm>
            <a:off x="7118604" y="2834640"/>
            <a:ext cx="244602" cy="0"/>
          </a:xfrm>
          <a:prstGeom prst="line">
            <a:avLst/>
          </a:prstGeom>
          <a:noFill/>
          <a:ln w="22225">
            <a:solidFill>
              <a:schemeClr val="tx2"/>
            </a:solidFill>
            <a:prstDash val="solid"/>
            <a:tailEnd type="triangle"/>
          </a:ln>
        </p:spPr>
      </p:sp>
      <p:sp>
        <p:nvSpPr>
          <p:cNvPr id="31" name="Shape 28"/>
          <p:cNvSpPr/>
          <p:nvPr/>
        </p:nvSpPr>
        <p:spPr>
          <a:xfrm>
            <a:off x="6094476" y="3886200"/>
            <a:ext cx="0" cy="182880"/>
          </a:xfrm>
          <a:prstGeom prst="line">
            <a:avLst/>
          </a:prstGeom>
          <a:noFill/>
          <a:ln w="19050">
            <a:solidFill>
              <a:schemeClr val="accent1"/>
            </a:solidFill>
            <a:prstDash val="solid"/>
          </a:ln>
        </p:spPr>
      </p:sp>
      <p:sp>
        <p:nvSpPr>
          <p:cNvPr id="32" name="Shape 29"/>
          <p:cNvSpPr/>
          <p:nvPr/>
        </p:nvSpPr>
        <p:spPr>
          <a:xfrm>
            <a:off x="5225796" y="4069080"/>
            <a:ext cx="1737360" cy="329184"/>
          </a:xfrm>
          <a:prstGeom prst="roundRect">
            <a:avLst>
              <a:gd name="adj" fmla="val 50000"/>
            </a:avLst>
          </a:prstGeom>
          <a:solidFill>
            <a:schemeClr val="bg1"/>
          </a:solidFill>
          <a:ln w="15875">
            <a:solidFill>
              <a:schemeClr val="accent1"/>
            </a:solidFill>
            <a:prstDash val="solid"/>
          </a:ln>
        </p:spPr>
      </p:sp>
      <p:sp>
        <p:nvSpPr>
          <p:cNvPr id="33" name="Text 30"/>
          <p:cNvSpPr txBox="1"/>
          <p:nvPr/>
        </p:nvSpPr>
        <p:spPr>
          <a:xfrm>
            <a:off x="5225796" y="4069080"/>
            <a:ext cx="1737360" cy="329184"/>
          </a:xfrm>
          <a:prstGeom prst="rect">
            <a:avLst/>
          </a:prstGeom>
          <a:noFill/>
          <a:ln/>
        </p:spPr>
        <p:txBody>
          <a:bodyPr wrap="square" lIns="0" tIns="0" rIns="0" bIns="0" rtlCol="0" anchor="ctr"/>
          <a:lstStyle/>
          <a:p>
            <a:pPr algn="ctr" indent="0" marL="0">
              <a:buNone/>
            </a:pPr>
            <a:r>
              <a:rPr lang="en-US" sz="1200" b="1" dirty="0">
                <a:solidFill>
                  <a:schemeClr val="accent1"/>
                </a:solidFill>
              </a:rPr>
              <a:t>Safe joins</a:t>
            </a:r>
            <a:endParaRPr lang="en-US" sz="1200" dirty="0"/>
          </a:p>
        </p:txBody>
      </p:sp>
      <p:sp>
        <p:nvSpPr>
          <p:cNvPr id="34" name="Shape 31"/>
          <p:cNvSpPr/>
          <p:nvPr/>
        </p:nvSpPr>
        <p:spPr>
          <a:xfrm>
            <a:off x="6094476" y="4398264"/>
            <a:ext cx="0" cy="310896"/>
          </a:xfrm>
          <a:prstGeom prst="line">
            <a:avLst/>
          </a:prstGeom>
          <a:noFill/>
          <a:ln w="19050">
            <a:solidFill>
              <a:schemeClr val="accent1"/>
            </a:solidFill>
            <a:prstDash val="solid"/>
          </a:ln>
        </p:spPr>
      </p:sp>
      <p:sp>
        <p:nvSpPr>
          <p:cNvPr id="35" name="Shape 32"/>
          <p:cNvSpPr/>
          <p:nvPr/>
        </p:nvSpPr>
        <p:spPr>
          <a:xfrm>
            <a:off x="7427214" y="1783080"/>
            <a:ext cx="1920240" cy="2103120"/>
          </a:xfrm>
          <a:prstGeom prst="roundRect">
            <a:avLst>
              <a:gd name="adj" fmla="val 3810"/>
            </a:avLst>
          </a:prstGeom>
          <a:solidFill>
            <a:schemeClr val="bg2"/>
          </a:solidFill>
          <a:ln/>
        </p:spPr>
      </p:sp>
      <p:sp>
        <p:nvSpPr>
          <p:cNvPr id="36" name="Shape 33"/>
          <p:cNvSpPr/>
          <p:nvPr/>
        </p:nvSpPr>
        <p:spPr>
          <a:xfrm>
            <a:off x="7610094" y="1938528"/>
            <a:ext cx="420624" cy="420624"/>
          </a:xfrm>
          <a:prstGeom prst="ellipse">
            <a:avLst/>
          </a:prstGeom>
          <a:solidFill>
            <a:schemeClr val="accent1"/>
          </a:solidFill>
          <a:ln/>
        </p:spPr>
      </p:sp>
      <p:sp>
        <p:nvSpPr>
          <p:cNvPr id="37" name="Text 34"/>
          <p:cNvSpPr txBox="1"/>
          <p:nvPr/>
        </p:nvSpPr>
        <p:spPr>
          <a:xfrm>
            <a:off x="7610094" y="19385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8" name="Text 35"/>
          <p:cNvSpPr txBox="1"/>
          <p:nvPr/>
        </p:nvSpPr>
        <p:spPr>
          <a:xfrm>
            <a:off x="7610094" y="2468880"/>
            <a:ext cx="1554480" cy="548640"/>
          </a:xfrm>
          <a:prstGeom prst="rect">
            <a:avLst/>
          </a:prstGeom>
          <a:noFill/>
          <a:ln/>
        </p:spPr>
        <p:txBody>
          <a:bodyPr wrap="square" lIns="0" tIns="0" rIns="0" bIns="0" rtlCol="0" anchor="t"/>
          <a:lstStyle/>
          <a:p>
            <a:pPr indent="0" marL="0">
              <a:buNone/>
            </a:pPr>
            <a:r>
              <a:rPr lang="en-US" sz="1600" b="1" dirty="0">
                <a:solidFill>
                  <a:schemeClr val="tx1"/>
                </a:solidFill>
              </a:rPr>
              <a:t>Semantic model</a:t>
            </a:r>
            <a:endParaRPr lang="en-US" sz="1600" dirty="0"/>
          </a:p>
        </p:txBody>
      </p:sp>
      <p:sp>
        <p:nvSpPr>
          <p:cNvPr id="39" name="Text 36"/>
          <p:cNvSpPr txBox="1"/>
          <p:nvPr/>
        </p:nvSpPr>
        <p:spPr>
          <a:xfrm>
            <a:off x="7610094" y="3090672"/>
            <a:ext cx="1554480" cy="731520"/>
          </a:xfrm>
          <a:prstGeom prst="rect">
            <a:avLst/>
          </a:prstGeom>
          <a:noFill/>
          <a:ln/>
        </p:spPr>
        <p:txBody>
          <a:bodyPr wrap="square" lIns="0" tIns="0" rIns="0" bIns="0" rtlCol="0" anchor="t"/>
          <a:lstStyle/>
          <a:p>
            <a:pPr indent="0" marL="0">
              <a:buNone/>
            </a:pPr>
            <a:r>
              <a:rPr lang="en-US" sz="1400" dirty="0">
                <a:solidFill>
                  <a:schemeClr val="tx2"/>
                </a:solidFill>
              </a:rPr>
              <a:t>SM-04 metric:</a:t>
            </a:r>
            <a:endParaRPr lang="en-US" sz="1400" dirty="0"/>
          </a:p>
          <a:p>
            <a:pPr indent="0" marL="0">
              <a:buNone/>
            </a:pPr>
            <a:r>
              <a:rPr lang="en-US" sz="1400" dirty="0">
                <a:solidFill>
                  <a:schemeClr val="tx2"/>
                </a:solidFill>
              </a:rPr>
              <a:t>At-Risk AUM</a:t>
            </a:r>
            <a:endParaRPr lang="en-US" sz="1400" dirty="0"/>
          </a:p>
        </p:txBody>
      </p:sp>
      <p:sp>
        <p:nvSpPr>
          <p:cNvPr id="40" name="Shape 37"/>
          <p:cNvSpPr/>
          <p:nvPr/>
        </p:nvSpPr>
        <p:spPr>
          <a:xfrm>
            <a:off x="9411462" y="2834640"/>
            <a:ext cx="244602" cy="0"/>
          </a:xfrm>
          <a:prstGeom prst="line">
            <a:avLst/>
          </a:prstGeom>
          <a:noFill/>
          <a:ln w="22225">
            <a:solidFill>
              <a:schemeClr val="tx2"/>
            </a:solidFill>
            <a:prstDash val="solid"/>
            <a:tailEnd type="triangle"/>
          </a:ln>
        </p:spPr>
      </p:sp>
      <p:sp>
        <p:nvSpPr>
          <p:cNvPr id="41" name="Shape 38"/>
          <p:cNvSpPr/>
          <p:nvPr/>
        </p:nvSpPr>
        <p:spPr>
          <a:xfrm>
            <a:off x="8387334" y="3886200"/>
            <a:ext cx="0" cy="182880"/>
          </a:xfrm>
          <a:prstGeom prst="line">
            <a:avLst/>
          </a:prstGeom>
          <a:noFill/>
          <a:ln w="19050">
            <a:solidFill>
              <a:schemeClr val="accent1"/>
            </a:solidFill>
            <a:prstDash val="solid"/>
          </a:ln>
        </p:spPr>
      </p:sp>
      <p:sp>
        <p:nvSpPr>
          <p:cNvPr id="42" name="Shape 39"/>
          <p:cNvSpPr/>
          <p:nvPr/>
        </p:nvSpPr>
        <p:spPr>
          <a:xfrm>
            <a:off x="7518654" y="4069080"/>
            <a:ext cx="1737360" cy="329184"/>
          </a:xfrm>
          <a:prstGeom prst="roundRect">
            <a:avLst>
              <a:gd name="adj" fmla="val 50000"/>
            </a:avLst>
          </a:prstGeom>
          <a:solidFill>
            <a:schemeClr val="bg1"/>
          </a:solidFill>
          <a:ln w="15875">
            <a:solidFill>
              <a:schemeClr val="accent1"/>
            </a:solidFill>
            <a:prstDash val="solid"/>
          </a:ln>
        </p:spPr>
      </p:sp>
      <p:sp>
        <p:nvSpPr>
          <p:cNvPr id="43" name="Text 40"/>
          <p:cNvSpPr txBox="1"/>
          <p:nvPr/>
        </p:nvSpPr>
        <p:spPr>
          <a:xfrm>
            <a:off x="7518654" y="4069080"/>
            <a:ext cx="1737360" cy="329184"/>
          </a:xfrm>
          <a:prstGeom prst="rect">
            <a:avLst/>
          </a:prstGeom>
          <a:noFill/>
          <a:ln/>
        </p:spPr>
        <p:txBody>
          <a:bodyPr wrap="square" lIns="0" tIns="0" rIns="0" bIns="0" rtlCol="0" anchor="ctr"/>
          <a:lstStyle/>
          <a:p>
            <a:pPr algn="ctr" indent="0" marL="0">
              <a:buNone/>
            </a:pPr>
            <a:r>
              <a:rPr lang="en-US" sz="1200" b="1" dirty="0">
                <a:solidFill>
                  <a:schemeClr val="accent1"/>
                </a:solidFill>
              </a:rPr>
              <a:t>Glossary</a:t>
            </a:r>
            <a:endParaRPr lang="en-US" sz="1200" dirty="0"/>
          </a:p>
        </p:txBody>
      </p:sp>
      <p:sp>
        <p:nvSpPr>
          <p:cNvPr id="44" name="Shape 41"/>
          <p:cNvSpPr/>
          <p:nvPr/>
        </p:nvSpPr>
        <p:spPr>
          <a:xfrm>
            <a:off x="8387334" y="4398264"/>
            <a:ext cx="0" cy="310896"/>
          </a:xfrm>
          <a:prstGeom prst="line">
            <a:avLst/>
          </a:prstGeom>
          <a:noFill/>
          <a:ln w="19050">
            <a:solidFill>
              <a:schemeClr val="accent1"/>
            </a:solidFill>
            <a:prstDash val="solid"/>
          </a:ln>
        </p:spPr>
      </p:sp>
      <p:sp>
        <p:nvSpPr>
          <p:cNvPr id="45" name="Shape 42"/>
          <p:cNvSpPr/>
          <p:nvPr/>
        </p:nvSpPr>
        <p:spPr>
          <a:xfrm>
            <a:off x="9720072" y="1783080"/>
            <a:ext cx="1920240" cy="2103120"/>
          </a:xfrm>
          <a:prstGeom prst="roundRect">
            <a:avLst>
              <a:gd name="adj" fmla="val 3810"/>
            </a:avLst>
          </a:prstGeom>
          <a:solidFill>
            <a:schemeClr val="bg2"/>
          </a:solidFill>
          <a:ln/>
        </p:spPr>
      </p:sp>
      <p:sp>
        <p:nvSpPr>
          <p:cNvPr id="46" name="Shape 43"/>
          <p:cNvSpPr/>
          <p:nvPr/>
        </p:nvSpPr>
        <p:spPr>
          <a:xfrm>
            <a:off x="9902952" y="1938528"/>
            <a:ext cx="420624" cy="420624"/>
          </a:xfrm>
          <a:prstGeom prst="ellipse">
            <a:avLst/>
          </a:prstGeom>
          <a:solidFill>
            <a:schemeClr val="accent1"/>
          </a:solidFill>
          <a:ln/>
        </p:spPr>
      </p:sp>
      <p:sp>
        <p:nvSpPr>
          <p:cNvPr id="47" name="Text 44"/>
          <p:cNvSpPr txBox="1"/>
          <p:nvPr/>
        </p:nvSpPr>
        <p:spPr>
          <a:xfrm>
            <a:off x="9902952" y="19385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48" name="Text 45"/>
          <p:cNvSpPr txBox="1"/>
          <p:nvPr/>
        </p:nvSpPr>
        <p:spPr>
          <a:xfrm>
            <a:off x="9902952" y="2468880"/>
            <a:ext cx="1554480" cy="548640"/>
          </a:xfrm>
          <a:prstGeom prst="rect">
            <a:avLst/>
          </a:prstGeom>
          <a:noFill/>
          <a:ln/>
        </p:spPr>
        <p:txBody>
          <a:bodyPr wrap="square" lIns="0" tIns="0" rIns="0" bIns="0" rtlCol="0" anchor="t"/>
          <a:lstStyle/>
          <a:p>
            <a:pPr indent="0" marL="0">
              <a:buNone/>
            </a:pPr>
            <a:r>
              <a:rPr lang="en-US" sz="1600" b="1" dirty="0">
                <a:solidFill>
                  <a:schemeClr val="tx1"/>
                </a:solidFill>
              </a:rPr>
              <a:t>Analytical use</a:t>
            </a:r>
            <a:endParaRPr lang="en-US" sz="1600" dirty="0"/>
          </a:p>
        </p:txBody>
      </p:sp>
      <p:sp>
        <p:nvSpPr>
          <p:cNvPr id="49" name="Text 46"/>
          <p:cNvSpPr txBox="1"/>
          <p:nvPr/>
        </p:nvSpPr>
        <p:spPr>
          <a:xfrm>
            <a:off x="9902952" y="3090672"/>
            <a:ext cx="1554480" cy="731520"/>
          </a:xfrm>
          <a:prstGeom prst="rect">
            <a:avLst/>
          </a:prstGeom>
          <a:noFill/>
          <a:ln/>
        </p:spPr>
        <p:txBody>
          <a:bodyPr wrap="square" lIns="0" tIns="0" rIns="0" bIns="0" rtlCol="0" anchor="t"/>
          <a:lstStyle/>
          <a:p>
            <a:pPr indent="0" marL="0">
              <a:buNone/>
            </a:pPr>
            <a:r>
              <a:rPr lang="en-US" sz="1400" dirty="0">
                <a:solidFill>
                  <a:schemeClr val="tx2"/>
                </a:solidFill>
              </a:rPr>
              <a:t>Dashboard or AI assistant</a:t>
            </a:r>
            <a:endParaRPr lang="en-US" sz="1400" dirty="0"/>
          </a:p>
        </p:txBody>
      </p:sp>
      <p:sp>
        <p:nvSpPr>
          <p:cNvPr id="50" name="Shape 47"/>
          <p:cNvSpPr/>
          <p:nvPr/>
        </p:nvSpPr>
        <p:spPr>
          <a:xfrm>
            <a:off x="10680192" y="3886200"/>
            <a:ext cx="0" cy="182880"/>
          </a:xfrm>
          <a:prstGeom prst="line">
            <a:avLst/>
          </a:prstGeom>
          <a:noFill/>
          <a:ln w="19050">
            <a:solidFill>
              <a:schemeClr val="accent1"/>
            </a:solidFill>
            <a:prstDash val="solid"/>
          </a:ln>
        </p:spPr>
      </p:sp>
      <p:sp>
        <p:nvSpPr>
          <p:cNvPr id="51" name="Shape 48"/>
          <p:cNvSpPr/>
          <p:nvPr/>
        </p:nvSpPr>
        <p:spPr>
          <a:xfrm>
            <a:off x="9811512" y="4069080"/>
            <a:ext cx="1737360" cy="329184"/>
          </a:xfrm>
          <a:prstGeom prst="roundRect">
            <a:avLst>
              <a:gd name="adj" fmla="val 50000"/>
            </a:avLst>
          </a:prstGeom>
          <a:solidFill>
            <a:schemeClr val="bg1"/>
          </a:solidFill>
          <a:ln w="15875">
            <a:solidFill>
              <a:schemeClr val="accent1"/>
            </a:solidFill>
            <a:prstDash val="solid"/>
          </a:ln>
        </p:spPr>
      </p:sp>
      <p:sp>
        <p:nvSpPr>
          <p:cNvPr id="52" name="Text 49"/>
          <p:cNvSpPr txBox="1"/>
          <p:nvPr/>
        </p:nvSpPr>
        <p:spPr>
          <a:xfrm>
            <a:off x="9811512" y="4069080"/>
            <a:ext cx="1737360" cy="329184"/>
          </a:xfrm>
          <a:prstGeom prst="rect">
            <a:avLst/>
          </a:prstGeom>
          <a:noFill/>
          <a:ln/>
        </p:spPr>
        <p:txBody>
          <a:bodyPr wrap="square" lIns="0" tIns="0" rIns="0" bIns="0" rtlCol="0" anchor="ctr"/>
          <a:lstStyle/>
          <a:p>
            <a:pPr algn="ctr" indent="0" marL="0">
              <a:buNone/>
            </a:pPr>
            <a:r>
              <a:rPr lang="en-US" sz="1200" b="1" dirty="0">
                <a:solidFill>
                  <a:schemeClr val="accent1"/>
                </a:solidFill>
              </a:rPr>
              <a:t>Traceability</a:t>
            </a:r>
            <a:endParaRPr lang="en-US" sz="1200" dirty="0"/>
          </a:p>
        </p:txBody>
      </p:sp>
      <p:sp>
        <p:nvSpPr>
          <p:cNvPr id="53" name="Shape 50"/>
          <p:cNvSpPr/>
          <p:nvPr/>
        </p:nvSpPr>
        <p:spPr>
          <a:xfrm>
            <a:off x="10680192" y="4398264"/>
            <a:ext cx="0" cy="310896"/>
          </a:xfrm>
          <a:prstGeom prst="line">
            <a:avLst/>
          </a:prstGeom>
          <a:noFill/>
          <a:ln w="19050">
            <a:solidFill>
              <a:schemeClr val="accent1"/>
            </a:solidFill>
            <a:prstDash val="solid"/>
          </a:ln>
        </p:spPr>
      </p:sp>
      <p:sp>
        <p:nvSpPr>
          <p:cNvPr id="54" name="Shape 51"/>
          <p:cNvSpPr/>
          <p:nvPr/>
        </p:nvSpPr>
        <p:spPr>
          <a:xfrm>
            <a:off x="548640" y="4709160"/>
            <a:ext cx="11091672" cy="1188720"/>
          </a:xfrm>
          <a:prstGeom prst="roundRect">
            <a:avLst>
              <a:gd name="adj" fmla="val 6154"/>
            </a:avLst>
          </a:prstGeom>
          <a:solidFill>
            <a:schemeClr val="tx1"/>
          </a:solidFill>
          <a:ln/>
        </p:spPr>
      </p:sp>
      <p:sp>
        <p:nvSpPr>
          <p:cNvPr id="55" name="Text 52"/>
          <p:cNvSpPr txBox="1"/>
          <p:nvPr/>
        </p:nvSpPr>
        <p:spPr>
          <a:xfrm>
            <a:off x="822960" y="4846320"/>
            <a:ext cx="3657600" cy="274320"/>
          </a:xfrm>
          <a:prstGeom prst="rect">
            <a:avLst/>
          </a:prstGeom>
          <a:noFill/>
          <a:ln/>
        </p:spPr>
        <p:txBody>
          <a:bodyPr wrap="square" lIns="0" tIns="0" rIns="0" bIns="0" rtlCol="0" anchor="t"/>
          <a:lstStyle/>
          <a:p>
            <a:pPr indent="0" marL="0">
              <a:buNone/>
            </a:pPr>
            <a:r>
              <a:rPr lang="en-US" sz="1200" b="1" spc="150" kern="0" dirty="0">
                <a:solidFill>
                  <a:schemeClr val="accent6"/>
                </a:solidFill>
              </a:rPr>
              <a:t>DATA TAXONOMY</a:t>
            </a:r>
            <a:endParaRPr lang="en-US" sz="1200" dirty="0"/>
          </a:p>
        </p:txBody>
      </p:sp>
      <p:sp>
        <p:nvSpPr>
          <p:cNvPr id="56" name="Text 53"/>
          <p:cNvSpPr txBox="1"/>
          <p:nvPr/>
        </p:nvSpPr>
        <p:spPr>
          <a:xfrm>
            <a:off x="822960" y="5120640"/>
            <a:ext cx="10543032" cy="347472"/>
          </a:xfrm>
          <a:prstGeom prst="rect">
            <a:avLst/>
          </a:prstGeom>
          <a:noFill/>
          <a:ln/>
        </p:spPr>
        <p:txBody>
          <a:bodyPr wrap="square" lIns="0" tIns="0" rIns="0" bIns="0" rtlCol="0" anchor="ctr"/>
          <a:lstStyle/>
          <a:p>
            <a:pPr indent="0" marL="0">
              <a:buNone/>
            </a:pPr>
            <a:r>
              <a:rPr lang="en-US" sz="1800" b="1" dirty="0">
                <a:solidFill>
                  <a:schemeClr val="bg1"/>
                </a:solidFill>
              </a:rPr>
              <a:t>One definition and one owner for each concept</a:t>
            </a:r>
            <a:endParaRPr lang="en-US" sz="1800" dirty="0"/>
          </a:p>
        </p:txBody>
      </p:sp>
      <p:sp>
        <p:nvSpPr>
          <p:cNvPr id="57" name="Text 54"/>
          <p:cNvSpPr txBox="1"/>
          <p:nvPr/>
        </p:nvSpPr>
        <p:spPr>
          <a:xfrm>
            <a:off x="822960" y="5468112"/>
            <a:ext cx="10543032" cy="310896"/>
          </a:xfrm>
          <a:prstGeom prst="rect">
            <a:avLst/>
          </a:prstGeom>
          <a:noFill/>
          <a:ln/>
        </p:spPr>
        <p:txBody>
          <a:bodyPr wrap="square" lIns="0" tIns="0" rIns="0" bIns="0" rtlCol="0" anchor="ctr"/>
          <a:lstStyle/>
          <a:p>
            <a:pPr indent="0" marL="0">
              <a:buNone/>
            </a:pPr>
            <a:r>
              <a:rPr lang="en-US" sz="1400" dirty="0">
                <a:solidFill>
                  <a:schemeClr val="accent6"/>
                </a:solidFill>
              </a:rPr>
              <a:t>Institutional Client Type   |   Ending AUM   |   At-Risk Indicator</a:t>
            </a:r>
            <a:endParaRPr lang="en-US" sz="14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Every source maps to one target</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1 OF 5  |  SOURCE SYSTEMS</a:t>
            </a:r>
            <a:endParaRPr lang="en-US" sz="1200" dirty="0"/>
          </a:p>
        </p:txBody>
      </p:sp>
      <p:sp>
        <p:nvSpPr>
          <p:cNvPr id="5" name="Shape 2"/>
          <p:cNvSpPr/>
          <p:nvPr/>
        </p:nvSpPr>
        <p:spPr>
          <a:xfrm>
            <a:off x="6483096" y="384048"/>
            <a:ext cx="987552" cy="274320"/>
          </a:xfrm>
          <a:prstGeom prst="roundRect">
            <a:avLst>
              <a:gd name="adj" fmla="val 50000"/>
            </a:avLst>
          </a:prstGeom>
          <a:solidFill>
            <a:schemeClr val="accent1"/>
          </a:solidFill>
          <a:ln/>
        </p:spPr>
      </p:sp>
      <p:sp>
        <p:nvSpPr>
          <p:cNvPr id="6" name="Text 3"/>
          <p:cNvSpPr txBox="1"/>
          <p:nvPr/>
        </p:nvSpPr>
        <p:spPr>
          <a:xfrm>
            <a:off x="6483096" y="384048"/>
            <a:ext cx="987552" cy="274320"/>
          </a:xfrm>
          <a:prstGeom prst="rect">
            <a:avLst/>
          </a:prstGeom>
          <a:noFill/>
          <a:ln/>
        </p:spPr>
        <p:txBody>
          <a:bodyPr wrap="square" lIns="0" tIns="0" rIns="0" bIns="0" rtlCol="0" anchor="ctr"/>
          <a:lstStyle/>
          <a:p>
            <a:pPr algn="ctr" indent="0" marL="0">
              <a:buNone/>
            </a:pPr>
            <a:r>
              <a:rPr lang="en-US" sz="1000" b="1" dirty="0">
                <a:solidFill>
                  <a:schemeClr val="bg1"/>
                </a:solidFill>
              </a:rPr>
              <a:t>Source</a:t>
            </a:r>
            <a:endParaRPr lang="en-US" sz="1000" dirty="0"/>
          </a:p>
        </p:txBody>
      </p:sp>
      <p:sp>
        <p:nvSpPr>
          <p:cNvPr id="7" name="Shape 4"/>
          <p:cNvSpPr/>
          <p:nvPr/>
        </p:nvSpPr>
        <p:spPr>
          <a:xfrm>
            <a:off x="7525512" y="384048"/>
            <a:ext cx="987552" cy="274320"/>
          </a:xfrm>
          <a:prstGeom prst="roundRect">
            <a:avLst>
              <a:gd name="adj" fmla="val 50000"/>
            </a:avLst>
          </a:prstGeom>
          <a:solidFill>
            <a:schemeClr val="bg2"/>
          </a:solidFill>
          <a:ln/>
        </p:spPr>
      </p:sp>
      <p:sp>
        <p:nvSpPr>
          <p:cNvPr id="8" name="Text 5"/>
          <p:cNvSpPr txBox="1"/>
          <p:nvPr/>
        </p:nvSpPr>
        <p:spPr>
          <a:xfrm>
            <a:off x="7525512"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Foundational</a:t>
            </a:r>
            <a:endParaRPr lang="en-US" sz="1000" dirty="0"/>
          </a:p>
        </p:txBody>
      </p:sp>
      <p:sp>
        <p:nvSpPr>
          <p:cNvPr id="9" name="Shape 6"/>
          <p:cNvSpPr/>
          <p:nvPr/>
        </p:nvSpPr>
        <p:spPr>
          <a:xfrm>
            <a:off x="8567928" y="384048"/>
            <a:ext cx="987552" cy="274320"/>
          </a:xfrm>
          <a:prstGeom prst="roundRect">
            <a:avLst>
              <a:gd name="adj" fmla="val 50000"/>
            </a:avLst>
          </a:prstGeom>
          <a:solidFill>
            <a:schemeClr val="bg2"/>
          </a:solidFill>
          <a:ln/>
        </p:spPr>
      </p:sp>
      <p:sp>
        <p:nvSpPr>
          <p:cNvPr id="10" name="Text 7"/>
          <p:cNvSpPr txBox="1"/>
          <p:nvPr/>
        </p:nvSpPr>
        <p:spPr>
          <a:xfrm>
            <a:off x="8567928"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Consumer</a:t>
            </a:r>
            <a:endParaRPr lang="en-US" sz="1000" dirty="0"/>
          </a:p>
        </p:txBody>
      </p:sp>
      <p:sp>
        <p:nvSpPr>
          <p:cNvPr id="11" name="Shape 8"/>
          <p:cNvSpPr/>
          <p:nvPr/>
        </p:nvSpPr>
        <p:spPr>
          <a:xfrm>
            <a:off x="9610344" y="384048"/>
            <a:ext cx="987552" cy="274320"/>
          </a:xfrm>
          <a:prstGeom prst="roundRect">
            <a:avLst>
              <a:gd name="adj" fmla="val 50000"/>
            </a:avLst>
          </a:prstGeom>
          <a:solidFill>
            <a:schemeClr val="bg2"/>
          </a:solidFill>
          <a:ln/>
        </p:spPr>
      </p:sp>
      <p:sp>
        <p:nvSpPr>
          <p:cNvPr id="12" name="Text 9"/>
          <p:cNvSpPr txBox="1"/>
          <p:nvPr/>
        </p:nvSpPr>
        <p:spPr>
          <a:xfrm>
            <a:off x="9610344"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Semantic</a:t>
            </a:r>
            <a:endParaRPr lang="en-US" sz="1000" dirty="0"/>
          </a:p>
        </p:txBody>
      </p:sp>
      <p:sp>
        <p:nvSpPr>
          <p:cNvPr id="13" name="Shape 10"/>
          <p:cNvSpPr/>
          <p:nvPr/>
        </p:nvSpPr>
        <p:spPr>
          <a:xfrm>
            <a:off x="10652760" y="384048"/>
            <a:ext cx="987552" cy="274320"/>
          </a:xfrm>
          <a:prstGeom prst="roundRect">
            <a:avLst>
              <a:gd name="adj" fmla="val 50000"/>
            </a:avLst>
          </a:prstGeom>
          <a:solidFill>
            <a:schemeClr val="bg2"/>
          </a:solidFill>
          <a:ln/>
        </p:spPr>
      </p:sp>
      <p:sp>
        <p:nvSpPr>
          <p:cNvPr id="14" name="Text 11"/>
          <p:cNvSpPr txBox="1"/>
          <p:nvPr/>
        </p:nvSpPr>
        <p:spPr>
          <a:xfrm>
            <a:off x="10652760"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Use</a:t>
            </a:r>
            <a:endParaRPr lang="en-US" sz="1000" dirty="0"/>
          </a:p>
        </p:txBody>
      </p:sp>
      <p:sp>
        <p:nvSpPr>
          <p:cNvPr id="15" name="Shape 12"/>
          <p:cNvSpPr/>
          <p:nvPr/>
        </p:nvSpPr>
        <p:spPr>
          <a:xfrm>
            <a:off x="548640" y="1691640"/>
            <a:ext cx="11091672" cy="713232"/>
          </a:xfrm>
          <a:prstGeom prst="roundRect">
            <a:avLst>
              <a:gd name="adj" fmla="val 10256"/>
            </a:avLst>
          </a:prstGeom>
          <a:solidFill>
            <a:schemeClr val="accent6">
              <a:alpha val="45000"/>
            </a:schemeClr>
          </a:solidFill>
          <a:ln/>
        </p:spPr>
      </p:sp>
      <p:sp>
        <p:nvSpPr>
          <p:cNvPr id="16" name="Text 13"/>
          <p:cNvSpPr txBox="1"/>
          <p:nvPr/>
        </p:nvSpPr>
        <p:spPr>
          <a:xfrm>
            <a:off x="777240" y="1691640"/>
            <a:ext cx="2514600" cy="713232"/>
          </a:xfrm>
          <a:prstGeom prst="rect">
            <a:avLst/>
          </a:prstGeom>
          <a:noFill/>
          <a:ln/>
        </p:spPr>
        <p:txBody>
          <a:bodyPr wrap="square" lIns="0" tIns="0" rIns="0" bIns="0" rtlCol="0" anchor="ctr"/>
          <a:lstStyle/>
          <a:p>
            <a:pPr indent="0" marL="0">
              <a:buNone/>
            </a:pPr>
            <a:r>
              <a:rPr lang="en-US" sz="1100" b="1" spc="120" kern="0" dirty="0">
                <a:solidFill>
                  <a:schemeClr val="accent1"/>
                </a:solidFill>
              </a:rPr>
              <a:t>THE TAXONOMY'S JOB HERE</a:t>
            </a:r>
            <a:endParaRPr lang="en-US" sz="1100" dirty="0"/>
          </a:p>
        </p:txBody>
      </p:sp>
      <p:sp>
        <p:nvSpPr>
          <p:cNvPr id="17" name="Text 14"/>
          <p:cNvSpPr txBox="1"/>
          <p:nvPr/>
        </p:nvSpPr>
        <p:spPr>
          <a:xfrm>
            <a:off x="3291840" y="1691640"/>
            <a:ext cx="8119872" cy="713232"/>
          </a:xfrm>
          <a:prstGeom prst="rect">
            <a:avLst/>
          </a:prstGeom>
          <a:noFill/>
          <a:ln/>
        </p:spPr>
        <p:txBody>
          <a:bodyPr wrap="square" lIns="0" tIns="0" rIns="0" bIns="0" rtlCol="0" anchor="ctr"/>
          <a:lstStyle/>
          <a:p>
            <a:pPr indent="0" marL="0">
              <a:buNone/>
            </a:pPr>
            <a:r>
              <a:rPr lang="en-US" sz="1800" b="1" dirty="0">
                <a:solidFill>
                  <a:schemeClr val="tx1"/>
                </a:solidFill>
              </a:rPr>
              <a:t>It is the target that every source is mapped to</a:t>
            </a:r>
            <a:endParaRPr lang="en-US" sz="1800" dirty="0"/>
          </a:p>
        </p:txBody>
      </p:sp>
      <p:sp>
        <p:nvSpPr>
          <p:cNvPr id="18" name="Text 15"/>
          <p:cNvSpPr txBox="1"/>
          <p:nvPr/>
        </p:nvSpPr>
        <p:spPr>
          <a:xfrm>
            <a:off x="548640" y="2651760"/>
            <a:ext cx="4297680" cy="228600"/>
          </a:xfrm>
          <a:prstGeom prst="rect">
            <a:avLst/>
          </a:prstGeom>
          <a:noFill/>
          <a:ln/>
        </p:spPr>
        <p:txBody>
          <a:bodyPr wrap="square" lIns="0" tIns="0" rIns="0" bIns="0" rtlCol="0" anchor="t"/>
          <a:lstStyle/>
          <a:p>
            <a:pPr indent="0" marL="0">
              <a:buNone/>
            </a:pPr>
            <a:r>
              <a:rPr lang="en-US" sz="1000" b="1" spc="100" kern="0" dirty="0">
                <a:solidFill>
                  <a:schemeClr val="tx2"/>
                </a:solidFill>
              </a:rPr>
              <a:t>WHERE THE THREE IDEAS START</a:t>
            </a:r>
            <a:endParaRPr lang="en-US" sz="1000" dirty="0"/>
          </a:p>
        </p:txBody>
      </p:sp>
      <p:sp>
        <p:nvSpPr>
          <p:cNvPr id="19" name="Shape 16"/>
          <p:cNvSpPr/>
          <p:nvPr/>
        </p:nvSpPr>
        <p:spPr>
          <a:xfrm>
            <a:off x="548640" y="2944368"/>
            <a:ext cx="4297680" cy="896112"/>
          </a:xfrm>
          <a:prstGeom prst="roundRect">
            <a:avLst>
              <a:gd name="adj" fmla="val 8163"/>
            </a:avLst>
          </a:prstGeom>
          <a:solidFill>
            <a:schemeClr val="bg2"/>
          </a:solidFill>
          <a:ln/>
        </p:spPr>
      </p:sp>
      <p:sp>
        <p:nvSpPr>
          <p:cNvPr id="20" name="Shape 17"/>
          <p:cNvSpPr/>
          <p:nvPr/>
        </p:nvSpPr>
        <p:spPr>
          <a:xfrm>
            <a:off x="749808" y="3300984"/>
            <a:ext cx="201168" cy="201168"/>
          </a:xfrm>
          <a:prstGeom prst="ellipse">
            <a:avLst/>
          </a:prstGeom>
          <a:solidFill>
            <a:schemeClr val="accent1"/>
          </a:solidFill>
          <a:ln/>
        </p:spPr>
      </p:sp>
      <p:sp>
        <p:nvSpPr>
          <p:cNvPr id="21" name="Text 18"/>
          <p:cNvSpPr txBox="1"/>
          <p:nvPr/>
        </p:nvSpPr>
        <p:spPr>
          <a:xfrm>
            <a:off x="1115568" y="3035808"/>
            <a:ext cx="3566160" cy="292608"/>
          </a:xfrm>
          <a:prstGeom prst="rect">
            <a:avLst/>
          </a:prstGeom>
          <a:noFill/>
          <a:ln/>
        </p:spPr>
        <p:txBody>
          <a:bodyPr wrap="square" lIns="0" tIns="0" rIns="0" bIns="0" rtlCol="0" anchor="ctr"/>
          <a:lstStyle/>
          <a:p>
            <a:pPr indent="0" marL="0">
              <a:buNone/>
            </a:pPr>
            <a:r>
              <a:rPr lang="en-US" sz="1600" b="1" dirty="0">
                <a:solidFill>
                  <a:schemeClr val="tx1"/>
                </a:solidFill>
              </a:rPr>
              <a:t>Transfer agent and fund accounting</a:t>
            </a:r>
            <a:endParaRPr lang="en-US" sz="1600" dirty="0"/>
          </a:p>
        </p:txBody>
      </p:sp>
      <p:sp>
        <p:nvSpPr>
          <p:cNvPr id="22" name="Text 19"/>
          <p:cNvSpPr txBox="1"/>
          <p:nvPr/>
        </p:nvSpPr>
        <p:spPr>
          <a:xfrm>
            <a:off x="1115568" y="3346704"/>
            <a:ext cx="3566160" cy="457200"/>
          </a:xfrm>
          <a:prstGeom prst="rect">
            <a:avLst/>
          </a:prstGeom>
          <a:noFill/>
          <a:ln/>
        </p:spPr>
        <p:txBody>
          <a:bodyPr wrap="square" lIns="0" tIns="0" rIns="0" bIns="0" rtlCol="0" anchor="t"/>
          <a:lstStyle/>
          <a:p>
            <a:pPr indent="0" marL="0">
              <a:buNone/>
            </a:pPr>
            <a:r>
              <a:rPr lang="en-US" sz="1400" dirty="0">
                <a:solidFill>
                  <a:schemeClr val="tx2"/>
                </a:solidFill>
              </a:rPr>
              <a:t>Holdings: units and market value by account and share class</a:t>
            </a:r>
            <a:endParaRPr lang="en-US" sz="1400" dirty="0"/>
          </a:p>
        </p:txBody>
      </p:sp>
      <p:sp>
        <p:nvSpPr>
          <p:cNvPr id="23" name="Shape 20"/>
          <p:cNvSpPr/>
          <p:nvPr/>
        </p:nvSpPr>
        <p:spPr>
          <a:xfrm>
            <a:off x="548640" y="3968496"/>
            <a:ext cx="4297680" cy="896112"/>
          </a:xfrm>
          <a:prstGeom prst="roundRect">
            <a:avLst>
              <a:gd name="adj" fmla="val 8163"/>
            </a:avLst>
          </a:prstGeom>
          <a:solidFill>
            <a:schemeClr val="bg2"/>
          </a:solidFill>
          <a:ln/>
        </p:spPr>
      </p:sp>
      <p:sp>
        <p:nvSpPr>
          <p:cNvPr id="24" name="Shape 21"/>
          <p:cNvSpPr/>
          <p:nvPr/>
        </p:nvSpPr>
        <p:spPr>
          <a:xfrm>
            <a:off x="749808" y="4325112"/>
            <a:ext cx="201168" cy="201168"/>
          </a:xfrm>
          <a:prstGeom prst="ellipse">
            <a:avLst/>
          </a:prstGeom>
          <a:solidFill>
            <a:schemeClr val="accent2"/>
          </a:solidFill>
          <a:ln/>
        </p:spPr>
      </p:sp>
      <p:sp>
        <p:nvSpPr>
          <p:cNvPr id="25" name="Text 22"/>
          <p:cNvSpPr txBox="1"/>
          <p:nvPr/>
        </p:nvSpPr>
        <p:spPr>
          <a:xfrm>
            <a:off x="1115568" y="4059936"/>
            <a:ext cx="3566160" cy="292608"/>
          </a:xfrm>
          <a:prstGeom prst="rect">
            <a:avLst/>
          </a:prstGeom>
          <a:noFill/>
          <a:ln/>
        </p:spPr>
        <p:txBody>
          <a:bodyPr wrap="square" lIns="0" tIns="0" rIns="0" bIns="0" rtlCol="0" anchor="ctr"/>
          <a:lstStyle/>
          <a:p>
            <a:pPr indent="0" marL="0">
              <a:buNone/>
            </a:pPr>
            <a:r>
              <a:rPr lang="en-US" sz="1600" b="1" dirty="0">
                <a:solidFill>
                  <a:schemeClr val="tx1"/>
                </a:solidFill>
              </a:rPr>
              <a:t>CRM</a:t>
            </a:r>
            <a:endParaRPr lang="en-US" sz="1600" dirty="0"/>
          </a:p>
        </p:txBody>
      </p:sp>
      <p:sp>
        <p:nvSpPr>
          <p:cNvPr id="26" name="Text 23"/>
          <p:cNvSpPr txBox="1"/>
          <p:nvPr/>
        </p:nvSpPr>
        <p:spPr>
          <a:xfrm>
            <a:off x="1115568" y="4370832"/>
            <a:ext cx="3566160" cy="457200"/>
          </a:xfrm>
          <a:prstGeom prst="rect">
            <a:avLst/>
          </a:prstGeom>
          <a:noFill/>
          <a:ln/>
        </p:spPr>
        <p:txBody>
          <a:bodyPr wrap="square" lIns="0" tIns="0" rIns="0" bIns="0" rtlCol="0" anchor="t"/>
          <a:lstStyle/>
          <a:p>
            <a:pPr indent="0" marL="0">
              <a:buNone/>
            </a:pPr>
            <a:r>
              <a:rPr lang="en-US" sz="1400" dirty="0">
                <a:solidFill>
                  <a:schemeClr val="tx2"/>
                </a:solidFill>
              </a:rPr>
              <a:t>State Teachers’ is a public pension plan</a:t>
            </a:r>
            <a:endParaRPr lang="en-US" sz="1400" dirty="0"/>
          </a:p>
        </p:txBody>
      </p:sp>
      <p:sp>
        <p:nvSpPr>
          <p:cNvPr id="27" name="Shape 24"/>
          <p:cNvSpPr/>
          <p:nvPr/>
        </p:nvSpPr>
        <p:spPr>
          <a:xfrm>
            <a:off x="548640" y="4992624"/>
            <a:ext cx="4297680" cy="896112"/>
          </a:xfrm>
          <a:prstGeom prst="roundRect">
            <a:avLst>
              <a:gd name="adj" fmla="val 8163"/>
            </a:avLst>
          </a:prstGeom>
          <a:solidFill>
            <a:schemeClr val="bg2"/>
          </a:solidFill>
          <a:ln/>
        </p:spPr>
      </p:sp>
      <p:sp>
        <p:nvSpPr>
          <p:cNvPr id="28" name="Shape 25"/>
          <p:cNvSpPr/>
          <p:nvPr/>
        </p:nvSpPr>
        <p:spPr>
          <a:xfrm>
            <a:off x="749808" y="5349240"/>
            <a:ext cx="201168" cy="201168"/>
          </a:xfrm>
          <a:prstGeom prst="ellipse">
            <a:avLst/>
          </a:prstGeom>
          <a:solidFill>
            <a:schemeClr val="accent4"/>
          </a:solidFill>
          <a:ln/>
        </p:spPr>
      </p:sp>
      <p:sp>
        <p:nvSpPr>
          <p:cNvPr id="29" name="Text 26"/>
          <p:cNvSpPr txBox="1"/>
          <p:nvPr/>
        </p:nvSpPr>
        <p:spPr>
          <a:xfrm>
            <a:off x="1115568" y="5084064"/>
            <a:ext cx="3566160" cy="292608"/>
          </a:xfrm>
          <a:prstGeom prst="rect">
            <a:avLst/>
          </a:prstGeom>
          <a:noFill/>
          <a:ln/>
        </p:spPr>
        <p:txBody>
          <a:bodyPr wrap="square" lIns="0" tIns="0" rIns="0" bIns="0" rtlCol="0" anchor="ctr"/>
          <a:lstStyle/>
          <a:p>
            <a:pPr indent="0" marL="0">
              <a:buNone/>
            </a:pPr>
            <a:r>
              <a:rPr lang="en-US" sz="1600" b="1" dirty="0">
                <a:solidFill>
                  <a:schemeClr val="tx1"/>
                </a:solidFill>
              </a:rPr>
              <a:t>Client service team</a:t>
            </a:r>
            <a:endParaRPr lang="en-US" sz="1600" dirty="0"/>
          </a:p>
        </p:txBody>
      </p:sp>
      <p:sp>
        <p:nvSpPr>
          <p:cNvPr id="30" name="Text 27"/>
          <p:cNvSpPr txBox="1"/>
          <p:nvPr/>
        </p:nvSpPr>
        <p:spPr>
          <a:xfrm>
            <a:off x="1115568" y="5394960"/>
            <a:ext cx="3566160" cy="457200"/>
          </a:xfrm>
          <a:prstGeom prst="rect">
            <a:avLst/>
          </a:prstGeom>
          <a:noFill/>
          <a:ln/>
        </p:spPr>
        <p:txBody>
          <a:bodyPr wrap="square" lIns="0" tIns="0" rIns="0" bIns="0" rtlCol="0" anchor="t"/>
          <a:lstStyle/>
          <a:p>
            <a:pPr indent="0" marL="0">
              <a:buNone/>
            </a:pPr>
            <a:r>
              <a:rPr lang="en-US" sz="1400" dirty="0">
                <a:solidFill>
                  <a:schemeClr val="tx2"/>
                </a:solidFill>
              </a:rPr>
              <a:t>Relationship health score and the at-risk flag</a:t>
            </a:r>
            <a:endParaRPr lang="en-US" sz="1400" dirty="0"/>
          </a:p>
        </p:txBody>
      </p:sp>
      <p:sp>
        <p:nvSpPr>
          <p:cNvPr id="31" name="Shape 28"/>
          <p:cNvSpPr/>
          <p:nvPr/>
        </p:nvSpPr>
        <p:spPr>
          <a:xfrm>
            <a:off x="4983480" y="4416552"/>
            <a:ext cx="548640" cy="0"/>
          </a:xfrm>
          <a:prstGeom prst="line">
            <a:avLst/>
          </a:prstGeom>
          <a:noFill/>
          <a:ln w="22225">
            <a:solidFill>
              <a:schemeClr val="accent1"/>
            </a:solidFill>
            <a:prstDash val="solid"/>
            <a:tailEnd type="triangle"/>
          </a:ln>
        </p:spPr>
      </p:sp>
      <p:sp>
        <p:nvSpPr>
          <p:cNvPr id="32" name="Text 29"/>
          <p:cNvSpPr txBox="1"/>
          <p:nvPr/>
        </p:nvSpPr>
        <p:spPr>
          <a:xfrm>
            <a:off x="5669280" y="2651760"/>
            <a:ext cx="5971032" cy="228600"/>
          </a:xfrm>
          <a:prstGeom prst="rect">
            <a:avLst/>
          </a:prstGeom>
          <a:noFill/>
          <a:ln/>
        </p:spPr>
        <p:txBody>
          <a:bodyPr wrap="square" lIns="0" tIns="0" rIns="0" bIns="0" rtlCol="0" anchor="t"/>
          <a:lstStyle/>
          <a:p>
            <a:pPr indent="0" marL="0">
              <a:buNone/>
            </a:pPr>
            <a:r>
              <a:rPr lang="en-US" sz="1000" b="1" spc="100" kern="0" dirty="0">
                <a:solidFill>
                  <a:schemeClr val="tx2"/>
                </a:solidFill>
              </a:rPr>
              <a:t>WHAT THE TAXONOMY SETTLES BEFORE ANY DATA MOVES</a:t>
            </a:r>
            <a:endParaRPr lang="en-US" sz="1000" dirty="0"/>
          </a:p>
        </p:txBody>
      </p:sp>
      <p:sp>
        <p:nvSpPr>
          <p:cNvPr id="33" name="Shape 30"/>
          <p:cNvSpPr/>
          <p:nvPr/>
        </p:nvSpPr>
        <p:spPr>
          <a:xfrm>
            <a:off x="5669280" y="3017520"/>
            <a:ext cx="420624" cy="420624"/>
          </a:xfrm>
          <a:prstGeom prst="ellipse">
            <a:avLst/>
          </a:prstGeom>
          <a:solidFill>
            <a:schemeClr val="accent1"/>
          </a:solidFill>
          <a:ln/>
        </p:spPr>
      </p:sp>
      <p:sp>
        <p:nvSpPr>
          <p:cNvPr id="34" name="Text 31"/>
          <p:cNvSpPr txBox="1"/>
          <p:nvPr/>
        </p:nvSpPr>
        <p:spPr>
          <a:xfrm>
            <a:off x="5669280" y="3017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5" name="Text 32"/>
          <p:cNvSpPr txBox="1"/>
          <p:nvPr/>
        </p:nvSpPr>
        <p:spPr>
          <a:xfrm>
            <a:off x="6263640" y="2962656"/>
            <a:ext cx="5376672" cy="292608"/>
          </a:xfrm>
          <a:prstGeom prst="rect">
            <a:avLst/>
          </a:prstGeom>
          <a:noFill/>
          <a:ln/>
        </p:spPr>
        <p:txBody>
          <a:bodyPr wrap="square" lIns="0" tIns="0" rIns="0" bIns="0" rtlCol="0" anchor="ctr"/>
          <a:lstStyle/>
          <a:p>
            <a:pPr indent="0" marL="0">
              <a:buNone/>
            </a:pPr>
            <a:r>
              <a:rPr lang="en-US" sz="1600" b="1" dirty="0">
                <a:solidFill>
                  <a:schemeClr val="tx1"/>
                </a:solidFill>
              </a:rPr>
              <a:t>What each field means</a:t>
            </a:r>
            <a:endParaRPr lang="en-US" sz="1600" dirty="0"/>
          </a:p>
        </p:txBody>
      </p:sp>
      <p:sp>
        <p:nvSpPr>
          <p:cNvPr id="36" name="Text 33"/>
          <p:cNvSpPr txBox="1"/>
          <p:nvPr/>
        </p:nvSpPr>
        <p:spPr>
          <a:xfrm>
            <a:off x="6263640" y="3291840"/>
            <a:ext cx="5376672" cy="548640"/>
          </a:xfrm>
          <a:prstGeom prst="rect">
            <a:avLst/>
          </a:prstGeom>
          <a:noFill/>
          <a:ln/>
        </p:spPr>
        <p:txBody>
          <a:bodyPr wrap="square" lIns="0" tIns="0" rIns="0" bIns="0" rtlCol="0" anchor="t"/>
          <a:lstStyle/>
          <a:p>
            <a:pPr indent="0" marL="0">
              <a:buNone/>
            </a:pPr>
            <a:r>
              <a:rPr lang="en-US" sz="1400" dirty="0">
                <a:solidFill>
                  <a:schemeClr val="tx2"/>
                </a:solidFill>
              </a:rPr>
              <a:t>“Public DB” and “State plan” both map to Public Pension Plan, one of 16 listed values.</a:t>
            </a:r>
            <a:endParaRPr lang="en-US" sz="1400" dirty="0"/>
          </a:p>
        </p:txBody>
      </p:sp>
      <p:sp>
        <p:nvSpPr>
          <p:cNvPr id="37" name="Shape 34"/>
          <p:cNvSpPr/>
          <p:nvPr/>
        </p:nvSpPr>
        <p:spPr>
          <a:xfrm>
            <a:off x="5669280" y="4041648"/>
            <a:ext cx="420624" cy="420624"/>
          </a:xfrm>
          <a:prstGeom prst="ellipse">
            <a:avLst/>
          </a:prstGeom>
          <a:solidFill>
            <a:schemeClr val="accent1"/>
          </a:solidFill>
          <a:ln/>
        </p:spPr>
      </p:sp>
      <p:sp>
        <p:nvSpPr>
          <p:cNvPr id="38" name="Text 35"/>
          <p:cNvSpPr txBox="1"/>
          <p:nvPr/>
        </p:nvSpPr>
        <p:spPr>
          <a:xfrm>
            <a:off x="5669280" y="404164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9" name="Text 36"/>
          <p:cNvSpPr txBox="1"/>
          <p:nvPr/>
        </p:nvSpPr>
        <p:spPr>
          <a:xfrm>
            <a:off x="6263640" y="3986784"/>
            <a:ext cx="5376672" cy="292608"/>
          </a:xfrm>
          <a:prstGeom prst="rect">
            <a:avLst/>
          </a:prstGeom>
          <a:noFill/>
          <a:ln/>
        </p:spPr>
        <p:txBody>
          <a:bodyPr wrap="square" lIns="0" tIns="0" rIns="0" bIns="0" rtlCol="0" anchor="ctr"/>
          <a:lstStyle/>
          <a:p>
            <a:pPr indent="0" marL="0">
              <a:buNone/>
            </a:pPr>
            <a:r>
              <a:rPr lang="en-US" sz="1600" b="1" dirty="0">
                <a:solidFill>
                  <a:schemeClr val="tx1"/>
                </a:solidFill>
              </a:rPr>
              <a:t>Who is right when sources disagree</a:t>
            </a:r>
            <a:endParaRPr lang="en-US" sz="1600" dirty="0"/>
          </a:p>
        </p:txBody>
      </p:sp>
      <p:sp>
        <p:nvSpPr>
          <p:cNvPr id="40" name="Text 37"/>
          <p:cNvSpPr txBox="1"/>
          <p:nvPr/>
        </p:nvSpPr>
        <p:spPr>
          <a:xfrm>
            <a:off x="6263640" y="4315968"/>
            <a:ext cx="5376672" cy="548640"/>
          </a:xfrm>
          <a:prstGeom prst="rect">
            <a:avLst/>
          </a:prstGeom>
          <a:noFill/>
          <a:ln/>
        </p:spPr>
        <p:txBody>
          <a:bodyPr wrap="square" lIns="0" tIns="0" rIns="0" bIns="0" rtlCol="0" anchor="t"/>
          <a:lstStyle/>
          <a:p>
            <a:pPr indent="0" marL="0">
              <a:buNone/>
            </a:pPr>
            <a:r>
              <a:rPr lang="en-US" sz="1400" dirty="0">
                <a:solidFill>
                  <a:schemeClr val="tx2"/>
                </a:solidFill>
              </a:rPr>
              <a:t>Domain 02 masters the client. Domain 06 holds positions and only refers to the client.</a:t>
            </a:r>
            <a:endParaRPr lang="en-US" sz="1400" dirty="0"/>
          </a:p>
        </p:txBody>
      </p:sp>
      <p:sp>
        <p:nvSpPr>
          <p:cNvPr id="41" name="Shape 38"/>
          <p:cNvSpPr/>
          <p:nvPr/>
        </p:nvSpPr>
        <p:spPr>
          <a:xfrm>
            <a:off x="5669280" y="5065776"/>
            <a:ext cx="420624" cy="420624"/>
          </a:xfrm>
          <a:prstGeom prst="ellipse">
            <a:avLst/>
          </a:prstGeom>
          <a:solidFill>
            <a:schemeClr val="accent1"/>
          </a:solidFill>
          <a:ln/>
        </p:spPr>
      </p:sp>
      <p:sp>
        <p:nvSpPr>
          <p:cNvPr id="42" name="Text 39"/>
          <p:cNvSpPr txBox="1"/>
          <p:nvPr/>
        </p:nvSpPr>
        <p:spPr>
          <a:xfrm>
            <a:off x="5669280" y="506577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3" name="Text 40"/>
          <p:cNvSpPr txBox="1"/>
          <p:nvPr/>
        </p:nvSpPr>
        <p:spPr>
          <a:xfrm>
            <a:off x="6263640" y="5010912"/>
            <a:ext cx="5376672" cy="292608"/>
          </a:xfrm>
          <a:prstGeom prst="rect">
            <a:avLst/>
          </a:prstGeom>
          <a:noFill/>
          <a:ln/>
        </p:spPr>
        <p:txBody>
          <a:bodyPr wrap="square" lIns="0" tIns="0" rIns="0" bIns="0" rtlCol="0" anchor="ctr"/>
          <a:lstStyle/>
          <a:p>
            <a:pPr indent="0" marL="0">
              <a:buNone/>
            </a:pPr>
            <a:r>
              <a:rPr lang="en-US" sz="1600" b="1" dirty="0">
                <a:solidFill>
                  <a:schemeClr val="tx1"/>
                </a:solidFill>
              </a:rPr>
              <a:t>How to keep the trail</a:t>
            </a:r>
            <a:endParaRPr lang="en-US" sz="1600" dirty="0"/>
          </a:p>
        </p:txBody>
      </p:sp>
      <p:sp>
        <p:nvSpPr>
          <p:cNvPr id="44" name="Text 41"/>
          <p:cNvSpPr txBox="1"/>
          <p:nvPr/>
        </p:nvSpPr>
        <p:spPr>
          <a:xfrm>
            <a:off x="6263640" y="5340096"/>
            <a:ext cx="5376672" cy="548640"/>
          </a:xfrm>
          <a:prstGeom prst="rect">
            <a:avLst/>
          </a:prstGeom>
          <a:noFill/>
          <a:ln/>
        </p:spPr>
        <p:txBody>
          <a:bodyPr wrap="square" lIns="0" tIns="0" rIns="0" bIns="0" rtlCol="0" anchor="t"/>
          <a:lstStyle/>
          <a:p>
            <a:pPr indent="0" marL="0">
              <a:buNone/>
            </a:pPr>
            <a:r>
              <a:rPr lang="en-US" sz="1400" dirty="0">
                <a:solidFill>
                  <a:schemeClr val="tx2"/>
                </a:solidFill>
              </a:rPr>
              <a:t>Source identifiers are kept beside the resolved one, with the feed and load each record came from.</a:t>
            </a:r>
            <a:endParaRPr lang="en-US" sz="14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Clean each core thing once, then certify</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2 OF 5  |  FOUNDATIONAL DATA PRODUCTS</a:t>
            </a:r>
            <a:endParaRPr lang="en-US" sz="1200" dirty="0"/>
          </a:p>
        </p:txBody>
      </p:sp>
      <p:sp>
        <p:nvSpPr>
          <p:cNvPr id="5" name="Shape 2"/>
          <p:cNvSpPr/>
          <p:nvPr/>
        </p:nvSpPr>
        <p:spPr>
          <a:xfrm>
            <a:off x="6483096" y="384048"/>
            <a:ext cx="987552" cy="274320"/>
          </a:xfrm>
          <a:prstGeom prst="roundRect">
            <a:avLst>
              <a:gd name="adj" fmla="val 50000"/>
            </a:avLst>
          </a:prstGeom>
          <a:solidFill>
            <a:schemeClr val="bg2"/>
          </a:solidFill>
          <a:ln/>
        </p:spPr>
      </p:sp>
      <p:sp>
        <p:nvSpPr>
          <p:cNvPr id="6" name="Text 3"/>
          <p:cNvSpPr txBox="1"/>
          <p:nvPr/>
        </p:nvSpPr>
        <p:spPr>
          <a:xfrm>
            <a:off x="6483096"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Source</a:t>
            </a:r>
            <a:endParaRPr lang="en-US" sz="1000" dirty="0"/>
          </a:p>
        </p:txBody>
      </p:sp>
      <p:sp>
        <p:nvSpPr>
          <p:cNvPr id="7" name="Shape 4"/>
          <p:cNvSpPr/>
          <p:nvPr/>
        </p:nvSpPr>
        <p:spPr>
          <a:xfrm>
            <a:off x="7525512" y="384048"/>
            <a:ext cx="987552" cy="274320"/>
          </a:xfrm>
          <a:prstGeom prst="roundRect">
            <a:avLst>
              <a:gd name="adj" fmla="val 50000"/>
            </a:avLst>
          </a:prstGeom>
          <a:solidFill>
            <a:schemeClr val="accent1"/>
          </a:solidFill>
          <a:ln/>
        </p:spPr>
      </p:sp>
      <p:sp>
        <p:nvSpPr>
          <p:cNvPr id="8" name="Text 5"/>
          <p:cNvSpPr txBox="1"/>
          <p:nvPr/>
        </p:nvSpPr>
        <p:spPr>
          <a:xfrm>
            <a:off x="7525512" y="384048"/>
            <a:ext cx="987552" cy="274320"/>
          </a:xfrm>
          <a:prstGeom prst="rect">
            <a:avLst/>
          </a:prstGeom>
          <a:noFill/>
          <a:ln/>
        </p:spPr>
        <p:txBody>
          <a:bodyPr wrap="square" lIns="0" tIns="0" rIns="0" bIns="0" rtlCol="0" anchor="ctr"/>
          <a:lstStyle/>
          <a:p>
            <a:pPr algn="ctr" indent="0" marL="0">
              <a:buNone/>
            </a:pPr>
            <a:r>
              <a:rPr lang="en-US" sz="1000" b="1" dirty="0">
                <a:solidFill>
                  <a:schemeClr val="bg1"/>
                </a:solidFill>
              </a:rPr>
              <a:t>Foundational</a:t>
            </a:r>
            <a:endParaRPr lang="en-US" sz="1000" dirty="0"/>
          </a:p>
        </p:txBody>
      </p:sp>
      <p:sp>
        <p:nvSpPr>
          <p:cNvPr id="9" name="Shape 6"/>
          <p:cNvSpPr/>
          <p:nvPr/>
        </p:nvSpPr>
        <p:spPr>
          <a:xfrm>
            <a:off x="8567928" y="384048"/>
            <a:ext cx="987552" cy="274320"/>
          </a:xfrm>
          <a:prstGeom prst="roundRect">
            <a:avLst>
              <a:gd name="adj" fmla="val 50000"/>
            </a:avLst>
          </a:prstGeom>
          <a:solidFill>
            <a:schemeClr val="bg2"/>
          </a:solidFill>
          <a:ln/>
        </p:spPr>
      </p:sp>
      <p:sp>
        <p:nvSpPr>
          <p:cNvPr id="10" name="Text 7"/>
          <p:cNvSpPr txBox="1"/>
          <p:nvPr/>
        </p:nvSpPr>
        <p:spPr>
          <a:xfrm>
            <a:off x="8567928"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Consumer</a:t>
            </a:r>
            <a:endParaRPr lang="en-US" sz="1000" dirty="0"/>
          </a:p>
        </p:txBody>
      </p:sp>
      <p:sp>
        <p:nvSpPr>
          <p:cNvPr id="11" name="Shape 8"/>
          <p:cNvSpPr/>
          <p:nvPr/>
        </p:nvSpPr>
        <p:spPr>
          <a:xfrm>
            <a:off x="9610344" y="384048"/>
            <a:ext cx="987552" cy="274320"/>
          </a:xfrm>
          <a:prstGeom prst="roundRect">
            <a:avLst>
              <a:gd name="adj" fmla="val 50000"/>
            </a:avLst>
          </a:prstGeom>
          <a:solidFill>
            <a:schemeClr val="bg2"/>
          </a:solidFill>
          <a:ln/>
        </p:spPr>
      </p:sp>
      <p:sp>
        <p:nvSpPr>
          <p:cNvPr id="12" name="Text 9"/>
          <p:cNvSpPr txBox="1"/>
          <p:nvPr/>
        </p:nvSpPr>
        <p:spPr>
          <a:xfrm>
            <a:off x="9610344"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Semantic</a:t>
            </a:r>
            <a:endParaRPr lang="en-US" sz="1000" dirty="0"/>
          </a:p>
        </p:txBody>
      </p:sp>
      <p:sp>
        <p:nvSpPr>
          <p:cNvPr id="13" name="Shape 10"/>
          <p:cNvSpPr/>
          <p:nvPr/>
        </p:nvSpPr>
        <p:spPr>
          <a:xfrm>
            <a:off x="10652760" y="384048"/>
            <a:ext cx="987552" cy="274320"/>
          </a:xfrm>
          <a:prstGeom prst="roundRect">
            <a:avLst>
              <a:gd name="adj" fmla="val 50000"/>
            </a:avLst>
          </a:prstGeom>
          <a:solidFill>
            <a:schemeClr val="bg2"/>
          </a:solidFill>
          <a:ln/>
        </p:spPr>
      </p:sp>
      <p:sp>
        <p:nvSpPr>
          <p:cNvPr id="14" name="Text 11"/>
          <p:cNvSpPr txBox="1"/>
          <p:nvPr/>
        </p:nvSpPr>
        <p:spPr>
          <a:xfrm>
            <a:off x="10652760"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Use</a:t>
            </a:r>
            <a:endParaRPr lang="en-US" sz="1000" dirty="0"/>
          </a:p>
        </p:txBody>
      </p:sp>
      <p:sp>
        <p:nvSpPr>
          <p:cNvPr id="15" name="Shape 12"/>
          <p:cNvSpPr/>
          <p:nvPr/>
        </p:nvSpPr>
        <p:spPr>
          <a:xfrm>
            <a:off x="548640" y="1691640"/>
            <a:ext cx="11091672" cy="713232"/>
          </a:xfrm>
          <a:prstGeom prst="roundRect">
            <a:avLst>
              <a:gd name="adj" fmla="val 10256"/>
            </a:avLst>
          </a:prstGeom>
          <a:solidFill>
            <a:schemeClr val="accent6">
              <a:alpha val="45000"/>
            </a:schemeClr>
          </a:solidFill>
          <a:ln/>
        </p:spPr>
      </p:sp>
      <p:sp>
        <p:nvSpPr>
          <p:cNvPr id="16" name="Text 13"/>
          <p:cNvSpPr txBox="1"/>
          <p:nvPr/>
        </p:nvSpPr>
        <p:spPr>
          <a:xfrm>
            <a:off x="777240" y="1691640"/>
            <a:ext cx="2514600" cy="713232"/>
          </a:xfrm>
          <a:prstGeom prst="rect">
            <a:avLst/>
          </a:prstGeom>
          <a:noFill/>
          <a:ln/>
        </p:spPr>
        <p:txBody>
          <a:bodyPr wrap="square" lIns="0" tIns="0" rIns="0" bIns="0" rtlCol="0" anchor="ctr"/>
          <a:lstStyle/>
          <a:p>
            <a:pPr indent="0" marL="0">
              <a:buNone/>
            </a:pPr>
            <a:r>
              <a:rPr lang="en-US" sz="1100" b="1" spc="120" kern="0" dirty="0">
                <a:solidFill>
                  <a:schemeClr val="accent1"/>
                </a:solidFill>
              </a:rPr>
              <a:t>THE TAXONOMY'S JOB HERE</a:t>
            </a:r>
            <a:endParaRPr lang="en-US" sz="1100" dirty="0"/>
          </a:p>
        </p:txBody>
      </p:sp>
      <p:sp>
        <p:nvSpPr>
          <p:cNvPr id="17" name="Text 14"/>
          <p:cNvSpPr txBox="1"/>
          <p:nvPr/>
        </p:nvSpPr>
        <p:spPr>
          <a:xfrm>
            <a:off x="3291840" y="1691640"/>
            <a:ext cx="8119872" cy="713232"/>
          </a:xfrm>
          <a:prstGeom prst="rect">
            <a:avLst/>
          </a:prstGeom>
          <a:noFill/>
          <a:ln/>
        </p:spPr>
        <p:txBody>
          <a:bodyPr wrap="square" lIns="0" tIns="0" rIns="0" bIns="0" rtlCol="0" anchor="ctr"/>
          <a:lstStyle/>
          <a:p>
            <a:pPr indent="0" marL="0">
              <a:buNone/>
            </a:pPr>
            <a:r>
              <a:rPr lang="en-US" sz="1800" b="1" dirty="0">
                <a:solidFill>
                  <a:schemeClr val="tx1"/>
                </a:solidFill>
              </a:rPr>
              <a:t>It is the bill of materials: each product lists the exact attributes it uses</a:t>
            </a:r>
            <a:endParaRPr lang="en-US" sz="1800" dirty="0"/>
          </a:p>
        </p:txBody>
      </p:sp>
      <p:sp>
        <p:nvSpPr>
          <p:cNvPr id="18" name="Shape 15"/>
          <p:cNvSpPr/>
          <p:nvPr/>
        </p:nvSpPr>
        <p:spPr>
          <a:xfrm>
            <a:off x="548640" y="2651760"/>
            <a:ext cx="3429000" cy="2057400"/>
          </a:xfrm>
          <a:prstGeom prst="roundRect">
            <a:avLst>
              <a:gd name="adj" fmla="val 3556"/>
            </a:avLst>
          </a:prstGeom>
          <a:solidFill>
            <a:schemeClr val="bg2"/>
          </a:solidFill>
          <a:ln/>
        </p:spPr>
      </p:sp>
      <p:sp>
        <p:nvSpPr>
          <p:cNvPr id="19" name="Shape 16"/>
          <p:cNvSpPr/>
          <p:nvPr/>
        </p:nvSpPr>
        <p:spPr>
          <a:xfrm>
            <a:off x="777240" y="2807208"/>
            <a:ext cx="960120" cy="310896"/>
          </a:xfrm>
          <a:prstGeom prst="roundRect">
            <a:avLst>
              <a:gd name="adj" fmla="val 50000"/>
            </a:avLst>
          </a:prstGeom>
          <a:solidFill>
            <a:schemeClr val="accent1"/>
          </a:solidFill>
          <a:ln/>
        </p:spPr>
      </p:sp>
      <p:sp>
        <p:nvSpPr>
          <p:cNvPr id="20" name="Text 17"/>
          <p:cNvSpPr txBox="1"/>
          <p:nvPr/>
        </p:nvSpPr>
        <p:spPr>
          <a:xfrm>
            <a:off x="777240" y="2807208"/>
            <a:ext cx="960120" cy="310896"/>
          </a:xfrm>
          <a:prstGeom prst="rect">
            <a:avLst/>
          </a:prstGeom>
          <a:noFill/>
          <a:ln/>
        </p:spPr>
        <p:txBody>
          <a:bodyPr wrap="square" lIns="0" tIns="0" rIns="0" bIns="0" rtlCol="0" anchor="ctr"/>
          <a:lstStyle/>
          <a:p>
            <a:pPr algn="ctr" indent="0" marL="0">
              <a:buNone/>
            </a:pPr>
            <a:r>
              <a:rPr lang="en-US" sz="1200" b="1" dirty="0">
                <a:solidFill>
                  <a:schemeClr val="bg1"/>
                </a:solidFill>
              </a:rPr>
              <a:t>DP-003</a:t>
            </a:r>
            <a:endParaRPr lang="en-US" sz="1200" dirty="0"/>
          </a:p>
        </p:txBody>
      </p:sp>
      <p:sp>
        <p:nvSpPr>
          <p:cNvPr id="21" name="Text 18"/>
          <p:cNvSpPr txBox="1"/>
          <p:nvPr/>
        </p:nvSpPr>
        <p:spPr>
          <a:xfrm>
            <a:off x="777240" y="3200400"/>
            <a:ext cx="2971800" cy="566928"/>
          </a:xfrm>
          <a:prstGeom prst="rect">
            <a:avLst/>
          </a:prstGeom>
          <a:noFill/>
          <a:ln/>
        </p:spPr>
        <p:txBody>
          <a:bodyPr wrap="square" lIns="0" tIns="0" rIns="0" bIns="0" rtlCol="0" anchor="t"/>
          <a:lstStyle/>
          <a:p>
            <a:pPr indent="0" marL="0">
              <a:buNone/>
            </a:pPr>
            <a:r>
              <a:rPr lang="en-US" sz="1600" b="1" dirty="0">
                <a:solidFill>
                  <a:schemeClr val="tx1"/>
                </a:solidFill>
              </a:rPr>
              <a:t>Institutional, Consultant &amp; Plan Relationships</a:t>
            </a:r>
            <a:endParaRPr lang="en-US" sz="1600" dirty="0"/>
          </a:p>
        </p:txBody>
      </p:sp>
      <p:sp>
        <p:nvSpPr>
          <p:cNvPr id="22" name="Text 19"/>
          <p:cNvSpPr txBox="1"/>
          <p:nvPr/>
        </p:nvSpPr>
        <p:spPr>
          <a:xfrm>
            <a:off x="777240" y="3813048"/>
            <a:ext cx="2971800" cy="822960"/>
          </a:xfrm>
          <a:prstGeom prst="rect">
            <a:avLst/>
          </a:prstGeom>
          <a:noFill/>
          <a:ln/>
        </p:spPr>
        <p:txBody>
          <a:bodyPr wrap="square" lIns="0" tIns="0" rIns="0" bIns="0" rtlCol="0" anchor="t"/>
          <a:lstStyle/>
          <a:p>
            <a:pPr indent="0" marL="0">
              <a:buNone/>
            </a:pPr>
            <a:r>
              <a:rPr lang="en-US" sz="1400" dirty="0">
                <a:solidFill>
                  <a:schemeClr val="tx2"/>
                </a:solidFill>
              </a:rPr>
              <a:t>One golden record for State Teachers’: one ID, type Public Pension Plan.</a:t>
            </a:r>
            <a:endParaRPr lang="en-US" sz="1400" dirty="0"/>
          </a:p>
        </p:txBody>
      </p:sp>
      <p:sp>
        <p:nvSpPr>
          <p:cNvPr id="23" name="Shape 20"/>
          <p:cNvSpPr/>
          <p:nvPr/>
        </p:nvSpPr>
        <p:spPr>
          <a:xfrm>
            <a:off x="4050792" y="3675888"/>
            <a:ext cx="256032" cy="0"/>
          </a:xfrm>
          <a:prstGeom prst="line">
            <a:avLst/>
          </a:prstGeom>
          <a:noFill/>
          <a:ln w="22225">
            <a:solidFill>
              <a:schemeClr val="accent1"/>
            </a:solidFill>
            <a:prstDash val="solid"/>
            <a:tailEnd type="triangle"/>
          </a:ln>
        </p:spPr>
      </p:sp>
      <p:sp>
        <p:nvSpPr>
          <p:cNvPr id="24" name="Shape 21"/>
          <p:cNvSpPr/>
          <p:nvPr/>
        </p:nvSpPr>
        <p:spPr>
          <a:xfrm>
            <a:off x="4379976" y="2651760"/>
            <a:ext cx="3429000" cy="2057400"/>
          </a:xfrm>
          <a:prstGeom prst="roundRect">
            <a:avLst>
              <a:gd name="adj" fmla="val 3556"/>
            </a:avLst>
          </a:prstGeom>
          <a:solidFill>
            <a:schemeClr val="bg2"/>
          </a:solidFill>
          <a:ln/>
        </p:spPr>
      </p:sp>
      <p:sp>
        <p:nvSpPr>
          <p:cNvPr id="25" name="Shape 22"/>
          <p:cNvSpPr/>
          <p:nvPr/>
        </p:nvSpPr>
        <p:spPr>
          <a:xfrm>
            <a:off x="4608576" y="2807208"/>
            <a:ext cx="960120" cy="310896"/>
          </a:xfrm>
          <a:prstGeom prst="roundRect">
            <a:avLst>
              <a:gd name="adj" fmla="val 50000"/>
            </a:avLst>
          </a:prstGeom>
          <a:solidFill>
            <a:schemeClr val="accent1"/>
          </a:solidFill>
          <a:ln/>
        </p:spPr>
      </p:sp>
      <p:sp>
        <p:nvSpPr>
          <p:cNvPr id="26" name="Text 23"/>
          <p:cNvSpPr txBox="1"/>
          <p:nvPr/>
        </p:nvSpPr>
        <p:spPr>
          <a:xfrm>
            <a:off x="4608576" y="2807208"/>
            <a:ext cx="960120" cy="310896"/>
          </a:xfrm>
          <a:prstGeom prst="rect">
            <a:avLst/>
          </a:prstGeom>
          <a:noFill/>
          <a:ln/>
        </p:spPr>
        <p:txBody>
          <a:bodyPr wrap="square" lIns="0" tIns="0" rIns="0" bIns="0" rtlCol="0" anchor="ctr"/>
          <a:lstStyle/>
          <a:p>
            <a:pPr algn="ctr" indent="0" marL="0">
              <a:buNone/>
            </a:pPr>
            <a:r>
              <a:rPr lang="en-US" sz="1200" b="1" dirty="0">
                <a:solidFill>
                  <a:schemeClr val="bg1"/>
                </a:solidFill>
              </a:rPr>
              <a:t>DP-007</a:t>
            </a:r>
            <a:endParaRPr lang="en-US" sz="1200" dirty="0"/>
          </a:p>
        </p:txBody>
      </p:sp>
      <p:sp>
        <p:nvSpPr>
          <p:cNvPr id="27" name="Text 24"/>
          <p:cNvSpPr txBox="1"/>
          <p:nvPr/>
        </p:nvSpPr>
        <p:spPr>
          <a:xfrm>
            <a:off x="4608576" y="3200400"/>
            <a:ext cx="2971800" cy="566928"/>
          </a:xfrm>
          <a:prstGeom prst="rect">
            <a:avLst/>
          </a:prstGeom>
          <a:noFill/>
          <a:ln/>
        </p:spPr>
        <p:txBody>
          <a:bodyPr wrap="square" lIns="0" tIns="0" rIns="0" bIns="0" rtlCol="0" anchor="t"/>
          <a:lstStyle/>
          <a:p>
            <a:pPr indent="0" marL="0">
              <a:buNone/>
            </a:pPr>
            <a:r>
              <a:rPr lang="en-US" sz="1600" b="1" dirty="0">
                <a:solidFill>
                  <a:schemeClr val="tx1"/>
                </a:solidFill>
              </a:rPr>
              <a:t>Attributed Positions &amp; AUM</a:t>
            </a:r>
            <a:endParaRPr lang="en-US" sz="1600" dirty="0"/>
          </a:p>
        </p:txBody>
      </p:sp>
      <p:sp>
        <p:nvSpPr>
          <p:cNvPr id="28" name="Text 25"/>
          <p:cNvSpPr txBox="1"/>
          <p:nvPr/>
        </p:nvSpPr>
        <p:spPr>
          <a:xfrm>
            <a:off x="4608576" y="3813048"/>
            <a:ext cx="2971800" cy="822960"/>
          </a:xfrm>
          <a:prstGeom prst="rect">
            <a:avLst/>
          </a:prstGeom>
          <a:noFill/>
          <a:ln/>
        </p:spPr>
        <p:txBody>
          <a:bodyPr wrap="square" lIns="0" tIns="0" rIns="0" bIns="0" rtlCol="0" anchor="t"/>
          <a:lstStyle/>
          <a:p>
            <a:pPr indent="0" marL="0">
              <a:buNone/>
            </a:pPr>
            <a:r>
              <a:rPr lang="en-US" sz="1400" dirty="0">
                <a:solidFill>
                  <a:schemeClr val="tx2"/>
                </a:solidFill>
              </a:rPr>
              <a:t>Credits each daily position to that client ID. Reconciles to the transfer agent total.</a:t>
            </a:r>
            <a:endParaRPr lang="en-US" sz="1400" dirty="0"/>
          </a:p>
        </p:txBody>
      </p:sp>
      <p:sp>
        <p:nvSpPr>
          <p:cNvPr id="29" name="Shape 26"/>
          <p:cNvSpPr/>
          <p:nvPr/>
        </p:nvSpPr>
        <p:spPr>
          <a:xfrm>
            <a:off x="7882128" y="3675888"/>
            <a:ext cx="256032" cy="0"/>
          </a:xfrm>
          <a:prstGeom prst="line">
            <a:avLst/>
          </a:prstGeom>
          <a:noFill/>
          <a:ln w="22225">
            <a:solidFill>
              <a:schemeClr val="accent1"/>
            </a:solidFill>
            <a:prstDash val="solid"/>
            <a:tailEnd type="triangle"/>
          </a:ln>
        </p:spPr>
      </p:sp>
      <p:sp>
        <p:nvSpPr>
          <p:cNvPr id="30" name="Shape 27"/>
          <p:cNvSpPr/>
          <p:nvPr/>
        </p:nvSpPr>
        <p:spPr>
          <a:xfrm>
            <a:off x="8211312" y="2651760"/>
            <a:ext cx="3429000" cy="2057400"/>
          </a:xfrm>
          <a:prstGeom prst="roundRect">
            <a:avLst>
              <a:gd name="adj" fmla="val 3556"/>
            </a:avLst>
          </a:prstGeom>
          <a:solidFill>
            <a:schemeClr val="bg2"/>
          </a:solidFill>
          <a:ln/>
        </p:spPr>
      </p:sp>
      <p:sp>
        <p:nvSpPr>
          <p:cNvPr id="31" name="Shape 28"/>
          <p:cNvSpPr/>
          <p:nvPr/>
        </p:nvSpPr>
        <p:spPr>
          <a:xfrm>
            <a:off x="8439912" y="2807208"/>
            <a:ext cx="960120" cy="310896"/>
          </a:xfrm>
          <a:prstGeom prst="roundRect">
            <a:avLst>
              <a:gd name="adj" fmla="val 50000"/>
            </a:avLst>
          </a:prstGeom>
          <a:solidFill>
            <a:schemeClr val="accent1"/>
          </a:solidFill>
          <a:ln/>
        </p:spPr>
      </p:sp>
      <p:sp>
        <p:nvSpPr>
          <p:cNvPr id="32" name="Text 29"/>
          <p:cNvSpPr txBox="1"/>
          <p:nvPr/>
        </p:nvSpPr>
        <p:spPr>
          <a:xfrm>
            <a:off x="8439912" y="2807208"/>
            <a:ext cx="960120" cy="310896"/>
          </a:xfrm>
          <a:prstGeom prst="rect">
            <a:avLst/>
          </a:prstGeom>
          <a:noFill/>
          <a:ln/>
        </p:spPr>
        <p:txBody>
          <a:bodyPr wrap="square" lIns="0" tIns="0" rIns="0" bIns="0" rtlCol="0" anchor="ctr"/>
          <a:lstStyle/>
          <a:p>
            <a:pPr algn="ctr" indent="0" marL="0">
              <a:buNone/>
            </a:pPr>
            <a:r>
              <a:rPr lang="en-US" sz="1200" b="1" dirty="0">
                <a:solidFill>
                  <a:schemeClr val="bg1"/>
                </a:solidFill>
              </a:rPr>
              <a:t>DP-008</a:t>
            </a:r>
            <a:endParaRPr lang="en-US" sz="1200" dirty="0"/>
          </a:p>
        </p:txBody>
      </p:sp>
      <p:sp>
        <p:nvSpPr>
          <p:cNvPr id="33" name="Text 30"/>
          <p:cNvSpPr txBox="1"/>
          <p:nvPr/>
        </p:nvSpPr>
        <p:spPr>
          <a:xfrm>
            <a:off x="8439912" y="3200400"/>
            <a:ext cx="2971800" cy="566928"/>
          </a:xfrm>
          <a:prstGeom prst="rect">
            <a:avLst/>
          </a:prstGeom>
          <a:noFill/>
          <a:ln/>
        </p:spPr>
        <p:txBody>
          <a:bodyPr wrap="square" lIns="0" tIns="0" rIns="0" bIns="0" rtlCol="0" anchor="t"/>
          <a:lstStyle/>
          <a:p>
            <a:pPr indent="0" marL="0">
              <a:buNone/>
            </a:pPr>
            <a:r>
              <a:rPr lang="en-US" sz="1600" b="1" dirty="0">
                <a:solidFill>
                  <a:schemeClr val="tx1"/>
                </a:solidFill>
              </a:rPr>
              <a:t>Certified Flows &amp; AUM</a:t>
            </a:r>
            <a:endParaRPr lang="en-US" sz="1600" dirty="0"/>
          </a:p>
        </p:txBody>
      </p:sp>
      <p:sp>
        <p:nvSpPr>
          <p:cNvPr id="34" name="Text 31"/>
          <p:cNvSpPr txBox="1"/>
          <p:nvPr/>
        </p:nvSpPr>
        <p:spPr>
          <a:xfrm>
            <a:off x="8439912" y="3813048"/>
            <a:ext cx="2971800" cy="822960"/>
          </a:xfrm>
          <a:prstGeom prst="rect">
            <a:avLst/>
          </a:prstGeom>
          <a:noFill/>
          <a:ln/>
        </p:spPr>
        <p:txBody>
          <a:bodyPr wrap="square" lIns="0" tIns="0" rIns="0" bIns="0" rtlCol="0" anchor="t"/>
          <a:lstStyle/>
          <a:p>
            <a:pPr indent="0" marL="0">
              <a:buNone/>
            </a:pPr>
            <a:r>
              <a:rPr lang="en-US" sz="1400" dirty="0">
                <a:solidFill>
                  <a:schemeClr val="tx2"/>
                </a:solidFill>
              </a:rPr>
              <a:t>Applies the Ending AUM definition. Preliminary on business day 3, locked on day 8.</a:t>
            </a:r>
            <a:endParaRPr lang="en-US" sz="1400" dirty="0"/>
          </a:p>
        </p:txBody>
      </p:sp>
      <p:sp>
        <p:nvSpPr>
          <p:cNvPr id="35" name="Shape 32"/>
          <p:cNvSpPr/>
          <p:nvPr/>
        </p:nvSpPr>
        <p:spPr>
          <a:xfrm>
            <a:off x="548640" y="4937760"/>
            <a:ext cx="11091672" cy="1005840"/>
          </a:xfrm>
          <a:prstGeom prst="roundRect">
            <a:avLst>
              <a:gd name="adj" fmla="val 7273"/>
            </a:avLst>
          </a:prstGeom>
          <a:solidFill>
            <a:schemeClr val="tx1"/>
          </a:solidFill>
          <a:ln/>
        </p:spPr>
      </p:sp>
      <p:sp>
        <p:nvSpPr>
          <p:cNvPr id="36" name="Text 33"/>
          <p:cNvSpPr txBox="1"/>
          <p:nvPr/>
        </p:nvSpPr>
        <p:spPr>
          <a:xfrm>
            <a:off x="822960" y="4937760"/>
            <a:ext cx="2103120" cy="1005840"/>
          </a:xfrm>
          <a:prstGeom prst="rect">
            <a:avLst/>
          </a:prstGeom>
          <a:noFill/>
          <a:ln/>
        </p:spPr>
        <p:txBody>
          <a:bodyPr wrap="square" lIns="0" tIns="0" rIns="0" bIns="0" rtlCol="0" anchor="ctr"/>
          <a:lstStyle/>
          <a:p>
            <a:pPr indent="0" marL="0">
              <a:buNone/>
            </a:pPr>
            <a:r>
              <a:rPr lang="en-US" sz="3600" b="1" dirty="0">
                <a:solidFill>
                  <a:schemeClr val="accent6"/>
                </a:solidFill>
              </a:rPr>
              <a:t>$1.2bn</a:t>
            </a:r>
            <a:endParaRPr lang="en-US" sz="3600" dirty="0"/>
          </a:p>
        </p:txBody>
      </p:sp>
      <p:sp>
        <p:nvSpPr>
          <p:cNvPr id="37" name="Text 34"/>
          <p:cNvSpPr txBox="1"/>
          <p:nvPr/>
        </p:nvSpPr>
        <p:spPr>
          <a:xfrm>
            <a:off x="2880360" y="5074920"/>
            <a:ext cx="1463040" cy="274320"/>
          </a:xfrm>
          <a:prstGeom prst="rect">
            <a:avLst/>
          </a:prstGeom>
          <a:noFill/>
          <a:ln/>
        </p:spPr>
        <p:txBody>
          <a:bodyPr wrap="square" lIns="0" tIns="0" rIns="0" bIns="0" rtlCol="0" anchor="ctr"/>
          <a:lstStyle/>
          <a:p>
            <a:pPr indent="0" marL="0">
              <a:buNone/>
            </a:pPr>
            <a:r>
              <a:rPr lang="en-US" sz="1000" b="1" spc="100" kern="0" dirty="0">
                <a:solidFill>
                  <a:schemeClr val="accent6"/>
                </a:solidFill>
              </a:rPr>
              <a:t>CERTIFIED</a:t>
            </a:r>
            <a:endParaRPr lang="en-US" sz="1000" dirty="0"/>
          </a:p>
        </p:txBody>
      </p:sp>
      <p:sp>
        <p:nvSpPr>
          <p:cNvPr id="38" name="Text 35"/>
          <p:cNvSpPr txBox="1"/>
          <p:nvPr/>
        </p:nvSpPr>
        <p:spPr>
          <a:xfrm>
            <a:off x="2880360" y="5330952"/>
            <a:ext cx="1737360" cy="365760"/>
          </a:xfrm>
          <a:prstGeom prst="rect">
            <a:avLst/>
          </a:prstGeom>
          <a:noFill/>
          <a:ln/>
        </p:spPr>
        <p:txBody>
          <a:bodyPr wrap="square" lIns="0" tIns="0" rIns="0" bIns="0" rtlCol="0" anchor="ctr"/>
          <a:lstStyle/>
          <a:p>
            <a:pPr indent="0" marL="0">
              <a:buNone/>
            </a:pPr>
            <a:r>
              <a:rPr lang="en-US" sz="1400" dirty="0">
                <a:solidFill>
                  <a:schemeClr val="bg1"/>
                </a:solidFill>
              </a:rPr>
              <a:t>Ending AUM</a:t>
            </a:r>
            <a:endParaRPr lang="en-US" sz="1400" dirty="0"/>
          </a:p>
        </p:txBody>
      </p:sp>
      <p:sp>
        <p:nvSpPr>
          <p:cNvPr id="39" name="Text 36"/>
          <p:cNvSpPr txBox="1"/>
          <p:nvPr/>
        </p:nvSpPr>
        <p:spPr>
          <a:xfrm>
            <a:off x="4846320" y="4937760"/>
            <a:ext cx="6519672" cy="1005840"/>
          </a:xfrm>
          <a:prstGeom prst="rect">
            <a:avLst/>
          </a:prstGeom>
          <a:noFill/>
          <a:ln/>
        </p:spPr>
        <p:txBody>
          <a:bodyPr wrap="square" lIns="0" tIns="0" rIns="0" bIns="0" rtlCol="0" anchor="ctr"/>
          <a:lstStyle/>
          <a:p>
            <a:pPr indent="0" marL="0">
              <a:buNone/>
            </a:pPr>
            <a:r>
              <a:rPr lang="en-US" sz="1800" b="1" dirty="0">
                <a:solidFill>
                  <a:schemeClr val="bg1"/>
                </a:solidFill>
              </a:rPr>
              <a:t>The governing rule: a product assembles what the domains master. It never redefines it.</a:t>
            </a:r>
            <a:endParaRPr lang="en-US" sz="18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Assemble across domains, never redefine</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3 OF 5  |  CONSUMER DATA PRODUCTS</a:t>
            </a:r>
            <a:endParaRPr lang="en-US" sz="1200" dirty="0"/>
          </a:p>
        </p:txBody>
      </p:sp>
      <p:sp>
        <p:nvSpPr>
          <p:cNvPr id="5" name="Shape 2"/>
          <p:cNvSpPr/>
          <p:nvPr/>
        </p:nvSpPr>
        <p:spPr>
          <a:xfrm>
            <a:off x="6483096" y="384048"/>
            <a:ext cx="987552" cy="274320"/>
          </a:xfrm>
          <a:prstGeom prst="roundRect">
            <a:avLst>
              <a:gd name="adj" fmla="val 50000"/>
            </a:avLst>
          </a:prstGeom>
          <a:solidFill>
            <a:schemeClr val="bg2"/>
          </a:solidFill>
          <a:ln/>
        </p:spPr>
      </p:sp>
      <p:sp>
        <p:nvSpPr>
          <p:cNvPr id="6" name="Text 3"/>
          <p:cNvSpPr txBox="1"/>
          <p:nvPr/>
        </p:nvSpPr>
        <p:spPr>
          <a:xfrm>
            <a:off x="6483096"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Source</a:t>
            </a:r>
            <a:endParaRPr lang="en-US" sz="1000" dirty="0"/>
          </a:p>
        </p:txBody>
      </p:sp>
      <p:sp>
        <p:nvSpPr>
          <p:cNvPr id="7" name="Shape 4"/>
          <p:cNvSpPr/>
          <p:nvPr/>
        </p:nvSpPr>
        <p:spPr>
          <a:xfrm>
            <a:off x="7525512" y="384048"/>
            <a:ext cx="987552" cy="274320"/>
          </a:xfrm>
          <a:prstGeom prst="roundRect">
            <a:avLst>
              <a:gd name="adj" fmla="val 50000"/>
            </a:avLst>
          </a:prstGeom>
          <a:solidFill>
            <a:schemeClr val="bg2"/>
          </a:solidFill>
          <a:ln/>
        </p:spPr>
      </p:sp>
      <p:sp>
        <p:nvSpPr>
          <p:cNvPr id="8" name="Text 5"/>
          <p:cNvSpPr txBox="1"/>
          <p:nvPr/>
        </p:nvSpPr>
        <p:spPr>
          <a:xfrm>
            <a:off x="7525512"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Foundational</a:t>
            </a:r>
            <a:endParaRPr lang="en-US" sz="1000" dirty="0"/>
          </a:p>
        </p:txBody>
      </p:sp>
      <p:sp>
        <p:nvSpPr>
          <p:cNvPr id="9" name="Shape 6"/>
          <p:cNvSpPr/>
          <p:nvPr/>
        </p:nvSpPr>
        <p:spPr>
          <a:xfrm>
            <a:off x="8567928" y="384048"/>
            <a:ext cx="987552" cy="274320"/>
          </a:xfrm>
          <a:prstGeom prst="roundRect">
            <a:avLst>
              <a:gd name="adj" fmla="val 50000"/>
            </a:avLst>
          </a:prstGeom>
          <a:solidFill>
            <a:schemeClr val="accent1"/>
          </a:solidFill>
          <a:ln/>
        </p:spPr>
      </p:sp>
      <p:sp>
        <p:nvSpPr>
          <p:cNvPr id="10" name="Text 7"/>
          <p:cNvSpPr txBox="1"/>
          <p:nvPr/>
        </p:nvSpPr>
        <p:spPr>
          <a:xfrm>
            <a:off x="8567928" y="384048"/>
            <a:ext cx="987552" cy="274320"/>
          </a:xfrm>
          <a:prstGeom prst="rect">
            <a:avLst/>
          </a:prstGeom>
          <a:noFill/>
          <a:ln/>
        </p:spPr>
        <p:txBody>
          <a:bodyPr wrap="square" lIns="0" tIns="0" rIns="0" bIns="0" rtlCol="0" anchor="ctr"/>
          <a:lstStyle/>
          <a:p>
            <a:pPr algn="ctr" indent="0" marL="0">
              <a:buNone/>
            </a:pPr>
            <a:r>
              <a:rPr lang="en-US" sz="1000" b="1" dirty="0">
                <a:solidFill>
                  <a:schemeClr val="bg1"/>
                </a:solidFill>
              </a:rPr>
              <a:t>Consumer</a:t>
            </a:r>
            <a:endParaRPr lang="en-US" sz="1000" dirty="0"/>
          </a:p>
        </p:txBody>
      </p:sp>
      <p:sp>
        <p:nvSpPr>
          <p:cNvPr id="11" name="Shape 8"/>
          <p:cNvSpPr/>
          <p:nvPr/>
        </p:nvSpPr>
        <p:spPr>
          <a:xfrm>
            <a:off x="9610344" y="384048"/>
            <a:ext cx="987552" cy="274320"/>
          </a:xfrm>
          <a:prstGeom prst="roundRect">
            <a:avLst>
              <a:gd name="adj" fmla="val 50000"/>
            </a:avLst>
          </a:prstGeom>
          <a:solidFill>
            <a:schemeClr val="bg2"/>
          </a:solidFill>
          <a:ln/>
        </p:spPr>
      </p:sp>
      <p:sp>
        <p:nvSpPr>
          <p:cNvPr id="12" name="Text 9"/>
          <p:cNvSpPr txBox="1"/>
          <p:nvPr/>
        </p:nvSpPr>
        <p:spPr>
          <a:xfrm>
            <a:off x="9610344"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Semantic</a:t>
            </a:r>
            <a:endParaRPr lang="en-US" sz="1000" dirty="0"/>
          </a:p>
        </p:txBody>
      </p:sp>
      <p:sp>
        <p:nvSpPr>
          <p:cNvPr id="13" name="Shape 10"/>
          <p:cNvSpPr/>
          <p:nvPr/>
        </p:nvSpPr>
        <p:spPr>
          <a:xfrm>
            <a:off x="10652760" y="384048"/>
            <a:ext cx="987552" cy="274320"/>
          </a:xfrm>
          <a:prstGeom prst="roundRect">
            <a:avLst>
              <a:gd name="adj" fmla="val 50000"/>
            </a:avLst>
          </a:prstGeom>
          <a:solidFill>
            <a:schemeClr val="bg2"/>
          </a:solidFill>
          <a:ln/>
        </p:spPr>
      </p:sp>
      <p:sp>
        <p:nvSpPr>
          <p:cNvPr id="14" name="Text 11"/>
          <p:cNvSpPr txBox="1"/>
          <p:nvPr/>
        </p:nvSpPr>
        <p:spPr>
          <a:xfrm>
            <a:off x="10652760"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Use</a:t>
            </a:r>
            <a:endParaRPr lang="en-US" sz="1000" dirty="0"/>
          </a:p>
        </p:txBody>
      </p:sp>
      <p:sp>
        <p:nvSpPr>
          <p:cNvPr id="15" name="Shape 12"/>
          <p:cNvSpPr/>
          <p:nvPr/>
        </p:nvSpPr>
        <p:spPr>
          <a:xfrm>
            <a:off x="548640" y="1691640"/>
            <a:ext cx="11091672" cy="713232"/>
          </a:xfrm>
          <a:prstGeom prst="roundRect">
            <a:avLst>
              <a:gd name="adj" fmla="val 10256"/>
            </a:avLst>
          </a:prstGeom>
          <a:solidFill>
            <a:schemeClr val="accent6">
              <a:alpha val="45000"/>
            </a:schemeClr>
          </a:solidFill>
          <a:ln/>
        </p:spPr>
      </p:sp>
      <p:sp>
        <p:nvSpPr>
          <p:cNvPr id="16" name="Text 13"/>
          <p:cNvSpPr txBox="1"/>
          <p:nvPr/>
        </p:nvSpPr>
        <p:spPr>
          <a:xfrm>
            <a:off x="777240" y="1691640"/>
            <a:ext cx="2514600" cy="713232"/>
          </a:xfrm>
          <a:prstGeom prst="rect">
            <a:avLst/>
          </a:prstGeom>
          <a:noFill/>
          <a:ln/>
        </p:spPr>
        <p:txBody>
          <a:bodyPr wrap="square" lIns="0" tIns="0" rIns="0" bIns="0" rtlCol="0" anchor="ctr"/>
          <a:lstStyle/>
          <a:p>
            <a:pPr indent="0" marL="0">
              <a:buNone/>
            </a:pPr>
            <a:r>
              <a:rPr lang="en-US" sz="1100" b="1" spc="120" kern="0" dirty="0">
                <a:solidFill>
                  <a:schemeClr val="accent1"/>
                </a:solidFill>
              </a:rPr>
              <a:t>THE TAXONOMY'S JOB HERE</a:t>
            </a:r>
            <a:endParaRPr lang="en-US" sz="1100" dirty="0"/>
          </a:p>
        </p:txBody>
      </p:sp>
      <p:sp>
        <p:nvSpPr>
          <p:cNvPr id="17" name="Text 14"/>
          <p:cNvSpPr txBox="1"/>
          <p:nvPr/>
        </p:nvSpPr>
        <p:spPr>
          <a:xfrm>
            <a:off x="3291840" y="1691640"/>
            <a:ext cx="8119872" cy="713232"/>
          </a:xfrm>
          <a:prstGeom prst="rect">
            <a:avLst/>
          </a:prstGeom>
          <a:noFill/>
          <a:ln/>
        </p:spPr>
        <p:txBody>
          <a:bodyPr wrap="square" lIns="0" tIns="0" rIns="0" bIns="0" rtlCol="0" anchor="ctr"/>
          <a:lstStyle/>
          <a:p>
            <a:pPr indent="0" marL="0">
              <a:buNone/>
            </a:pPr>
            <a:r>
              <a:rPr lang="en-US" sz="1800" b="1" dirty="0">
                <a:solidFill>
                  <a:schemeClr val="tx1"/>
                </a:solidFill>
              </a:rPr>
              <a:t>It makes joins across domains safe: keys and meanings already match</a:t>
            </a:r>
            <a:endParaRPr lang="en-US" sz="1800" dirty="0"/>
          </a:p>
        </p:txBody>
      </p:sp>
      <p:sp>
        <p:nvSpPr>
          <p:cNvPr id="18" name="Shape 15"/>
          <p:cNvSpPr/>
          <p:nvPr/>
        </p:nvSpPr>
        <p:spPr>
          <a:xfrm>
            <a:off x="548640" y="2651760"/>
            <a:ext cx="11091672" cy="960120"/>
          </a:xfrm>
          <a:prstGeom prst="roundRect">
            <a:avLst>
              <a:gd name="adj" fmla="val 7619"/>
            </a:avLst>
          </a:prstGeom>
          <a:solidFill>
            <a:schemeClr val="bg1"/>
          </a:solidFill>
          <a:ln w="19050">
            <a:solidFill>
              <a:schemeClr val="accent1"/>
            </a:solidFill>
            <a:prstDash val="solid"/>
          </a:ln>
        </p:spPr>
      </p:sp>
      <p:sp>
        <p:nvSpPr>
          <p:cNvPr id="19" name="Text 16"/>
          <p:cNvSpPr txBox="1"/>
          <p:nvPr/>
        </p:nvSpPr>
        <p:spPr>
          <a:xfrm>
            <a:off x="822960" y="2743200"/>
            <a:ext cx="10543032" cy="256032"/>
          </a:xfrm>
          <a:prstGeom prst="rect">
            <a:avLst/>
          </a:prstGeom>
          <a:noFill/>
          <a:ln/>
        </p:spPr>
        <p:txBody>
          <a:bodyPr wrap="square" lIns="0" tIns="0" rIns="0" bIns="0" rtlCol="0" anchor="t"/>
          <a:lstStyle/>
          <a:p>
            <a:pPr indent="0" marL="0">
              <a:buNone/>
            </a:pPr>
            <a:r>
              <a:rPr lang="en-US" sz="1000" b="1" spc="100" kern="0" dirty="0">
                <a:solidFill>
                  <a:schemeClr val="accent1"/>
                </a:solidFill>
              </a:rPr>
              <a:t>THE MEASURE IN OUR QUESTION, DEFINED IN DP-042</a:t>
            </a:r>
            <a:endParaRPr lang="en-US" sz="1000" dirty="0"/>
          </a:p>
        </p:txBody>
      </p:sp>
      <p:sp>
        <p:nvSpPr>
          <p:cNvPr id="20" name="Text 17"/>
          <p:cNvSpPr txBox="1"/>
          <p:nvPr/>
        </p:nvSpPr>
        <p:spPr>
          <a:xfrm>
            <a:off x="822960" y="3017520"/>
            <a:ext cx="10543032" cy="502920"/>
          </a:xfrm>
          <a:prstGeom prst="rect">
            <a:avLst/>
          </a:prstGeom>
          <a:noFill/>
          <a:ln/>
        </p:spPr>
        <p:txBody>
          <a:bodyPr wrap="square" lIns="0" tIns="0" rIns="0" bIns="0" rtlCol="0" anchor="ctr"/>
          <a:lstStyle/>
          <a:p>
            <a:pPr indent="0" marL="0">
              <a:buNone/>
            </a:pPr>
            <a:r>
              <a:rPr lang="en-US" sz="1800" b="1" dirty="0">
                <a:solidFill>
                  <a:schemeClr val="accent4"/>
                </a:solidFill>
              </a:rPr>
              <a:t>At-Risk AUM</a:t>
            </a:r>
            <a:pPr indent="0" marL="0">
              <a:buNone/>
            </a:pPr>
            <a:r>
              <a:rPr lang="en-US" sz="1800" b="1" dirty="0">
                <a:solidFill>
                  <a:schemeClr val="tx1"/>
                </a:solidFill>
              </a:rPr>
              <a:t>  =  </a:t>
            </a:r>
            <a:pPr indent="0" marL="0">
              <a:buNone/>
            </a:pPr>
            <a:r>
              <a:rPr lang="en-US" sz="1800" b="1" dirty="0">
                <a:solidFill>
                  <a:schemeClr val="accent1"/>
                </a:solidFill>
              </a:rPr>
              <a:t>Ending AUM</a:t>
            </a:r>
            <a:pPr indent="0" marL="0">
              <a:buNone/>
            </a:pPr>
            <a:r>
              <a:rPr lang="en-US" sz="1800" dirty="0">
                <a:solidFill>
                  <a:schemeClr val="tx1"/>
                </a:solidFill>
              </a:rPr>
              <a:t> of relationships whose latest health score has the </a:t>
            </a:r>
            <a:pPr indent="0" marL="0">
              <a:buNone/>
            </a:pPr>
            <a:r>
              <a:rPr lang="en-US" sz="1800" b="1" dirty="0">
                <a:solidFill>
                  <a:schemeClr val="accent4"/>
                </a:solidFill>
              </a:rPr>
              <a:t>At-Risk Indicator</a:t>
            </a:r>
            <a:pPr indent="0" marL="0">
              <a:buNone/>
            </a:pPr>
            <a:r>
              <a:rPr lang="en-US" sz="1800" dirty="0">
                <a:solidFill>
                  <a:schemeClr val="tx1"/>
                </a:solidFill>
              </a:rPr>
              <a:t> set</a:t>
            </a:r>
            <a:endParaRPr lang="en-US" sz="1800" dirty="0"/>
          </a:p>
        </p:txBody>
      </p:sp>
      <p:sp>
        <p:nvSpPr>
          <p:cNvPr id="21" name="Shape 18"/>
          <p:cNvSpPr/>
          <p:nvPr/>
        </p:nvSpPr>
        <p:spPr>
          <a:xfrm>
            <a:off x="548640" y="3794760"/>
            <a:ext cx="5408676" cy="1600200"/>
          </a:xfrm>
          <a:prstGeom prst="roundRect">
            <a:avLst>
              <a:gd name="adj" fmla="val 4571"/>
            </a:avLst>
          </a:prstGeom>
          <a:solidFill>
            <a:schemeClr val="bg2"/>
          </a:solidFill>
          <a:ln/>
        </p:spPr>
      </p:sp>
      <p:sp>
        <p:nvSpPr>
          <p:cNvPr id="22" name="Shape 19"/>
          <p:cNvSpPr/>
          <p:nvPr/>
        </p:nvSpPr>
        <p:spPr>
          <a:xfrm>
            <a:off x="777240" y="3931920"/>
            <a:ext cx="960120" cy="310896"/>
          </a:xfrm>
          <a:prstGeom prst="roundRect">
            <a:avLst>
              <a:gd name="adj" fmla="val 50000"/>
            </a:avLst>
          </a:prstGeom>
          <a:solidFill>
            <a:schemeClr val="accent1"/>
          </a:solidFill>
          <a:ln/>
        </p:spPr>
      </p:sp>
      <p:sp>
        <p:nvSpPr>
          <p:cNvPr id="23" name="Text 20"/>
          <p:cNvSpPr txBox="1"/>
          <p:nvPr/>
        </p:nvSpPr>
        <p:spPr>
          <a:xfrm>
            <a:off x="777240" y="3931920"/>
            <a:ext cx="960120" cy="310896"/>
          </a:xfrm>
          <a:prstGeom prst="rect">
            <a:avLst/>
          </a:prstGeom>
          <a:noFill/>
          <a:ln/>
        </p:spPr>
        <p:txBody>
          <a:bodyPr wrap="square" lIns="0" tIns="0" rIns="0" bIns="0" rtlCol="0" anchor="ctr"/>
          <a:lstStyle/>
          <a:p>
            <a:pPr algn="ctr" indent="0" marL="0">
              <a:buNone/>
            </a:pPr>
            <a:r>
              <a:rPr lang="en-US" sz="1200" b="1" dirty="0">
                <a:solidFill>
                  <a:schemeClr val="bg1"/>
                </a:solidFill>
              </a:rPr>
              <a:t>DP-042</a:t>
            </a:r>
            <a:endParaRPr lang="en-US" sz="1200" dirty="0"/>
          </a:p>
        </p:txBody>
      </p:sp>
      <p:sp>
        <p:nvSpPr>
          <p:cNvPr id="24" name="Text 21"/>
          <p:cNvSpPr txBox="1"/>
          <p:nvPr/>
        </p:nvSpPr>
        <p:spPr>
          <a:xfrm>
            <a:off x="1874520" y="3931920"/>
            <a:ext cx="3854196" cy="310896"/>
          </a:xfrm>
          <a:prstGeom prst="rect">
            <a:avLst/>
          </a:prstGeom>
          <a:noFill/>
          <a:ln/>
        </p:spPr>
        <p:txBody>
          <a:bodyPr wrap="square" lIns="0" tIns="0" rIns="0" bIns="0" rtlCol="0" anchor="ctr"/>
          <a:lstStyle/>
          <a:p>
            <a:pPr indent="0" marL="0">
              <a:buNone/>
            </a:pPr>
            <a:r>
              <a:rPr lang="en-US" sz="1600" b="1" dirty="0">
                <a:solidFill>
                  <a:schemeClr val="tx1"/>
                </a:solidFill>
              </a:rPr>
              <a:t>Institutional Client Health &amp; Service</a:t>
            </a:r>
            <a:endParaRPr lang="en-US" sz="1600" dirty="0"/>
          </a:p>
        </p:txBody>
      </p:sp>
      <p:sp>
        <p:nvSpPr>
          <p:cNvPr id="25" name="Text 22"/>
          <p:cNvSpPr txBox="1"/>
          <p:nvPr/>
        </p:nvSpPr>
        <p:spPr>
          <a:xfrm>
            <a:off x="777240" y="4334256"/>
            <a:ext cx="4951476" cy="274320"/>
          </a:xfrm>
          <a:prstGeom prst="rect">
            <a:avLst/>
          </a:prstGeom>
          <a:noFill/>
          <a:ln/>
        </p:spPr>
        <p:txBody>
          <a:bodyPr wrap="square" lIns="0" tIns="0" rIns="0" bIns="0" rtlCol="0" anchor="ctr"/>
          <a:lstStyle/>
          <a:p>
            <a:pPr indent="0" marL="0">
              <a:buNone/>
            </a:pPr>
            <a:r>
              <a:rPr lang="en-US" sz="1200" b="1" dirty="0">
                <a:solidFill>
                  <a:schemeClr val="accent1"/>
                </a:solidFill>
              </a:rPr>
              <a:t>For the client service team</a:t>
            </a:r>
            <a:endParaRPr lang="en-US" sz="1200" dirty="0"/>
          </a:p>
        </p:txBody>
      </p:sp>
      <p:sp>
        <p:nvSpPr>
          <p:cNvPr id="26" name="Text 23"/>
          <p:cNvSpPr txBox="1"/>
          <p:nvPr/>
        </p:nvSpPr>
        <p:spPr>
          <a:xfrm>
            <a:off x="777240" y="4626864"/>
            <a:ext cx="4951476" cy="685800"/>
          </a:xfrm>
          <a:prstGeom prst="rect">
            <a:avLst/>
          </a:prstGeom>
          <a:noFill/>
          <a:ln/>
        </p:spPr>
        <p:txBody>
          <a:bodyPr wrap="square" lIns="0" tIns="0" rIns="0" bIns="0" rtlCol="0" anchor="t"/>
          <a:lstStyle/>
          <a:p>
            <a:pPr indent="0" marL="0">
              <a:buNone/>
            </a:pPr>
            <a:r>
              <a:rPr lang="en-US" sz="1400" dirty="0">
                <a:solidFill>
                  <a:schemeClr val="tx2"/>
                </a:solidFill>
              </a:rPr>
              <a:t>Joins the health score (Domain 12) to certified AUM (DP-008). It does not recalculate AUM or decide what “at risk” means.</a:t>
            </a:r>
            <a:endParaRPr lang="en-US" sz="1400" dirty="0"/>
          </a:p>
        </p:txBody>
      </p:sp>
      <p:sp>
        <p:nvSpPr>
          <p:cNvPr id="27" name="Shape 24"/>
          <p:cNvSpPr/>
          <p:nvPr/>
        </p:nvSpPr>
        <p:spPr>
          <a:xfrm>
            <a:off x="6231636" y="3794760"/>
            <a:ext cx="5408676" cy="1600200"/>
          </a:xfrm>
          <a:prstGeom prst="roundRect">
            <a:avLst>
              <a:gd name="adj" fmla="val 4571"/>
            </a:avLst>
          </a:prstGeom>
          <a:solidFill>
            <a:schemeClr val="bg2"/>
          </a:solidFill>
          <a:ln/>
        </p:spPr>
      </p:sp>
      <p:sp>
        <p:nvSpPr>
          <p:cNvPr id="28" name="Shape 25"/>
          <p:cNvSpPr/>
          <p:nvPr/>
        </p:nvSpPr>
        <p:spPr>
          <a:xfrm>
            <a:off x="6460236" y="3931920"/>
            <a:ext cx="960120" cy="310896"/>
          </a:xfrm>
          <a:prstGeom prst="roundRect">
            <a:avLst>
              <a:gd name="adj" fmla="val 50000"/>
            </a:avLst>
          </a:prstGeom>
          <a:solidFill>
            <a:schemeClr val="accent1"/>
          </a:solidFill>
          <a:ln/>
        </p:spPr>
      </p:sp>
      <p:sp>
        <p:nvSpPr>
          <p:cNvPr id="29" name="Text 26"/>
          <p:cNvSpPr txBox="1"/>
          <p:nvPr/>
        </p:nvSpPr>
        <p:spPr>
          <a:xfrm>
            <a:off x="6460236" y="3931920"/>
            <a:ext cx="960120" cy="310896"/>
          </a:xfrm>
          <a:prstGeom prst="rect">
            <a:avLst/>
          </a:prstGeom>
          <a:noFill/>
          <a:ln/>
        </p:spPr>
        <p:txBody>
          <a:bodyPr wrap="square" lIns="0" tIns="0" rIns="0" bIns="0" rtlCol="0" anchor="ctr"/>
          <a:lstStyle/>
          <a:p>
            <a:pPr algn="ctr" indent="0" marL="0">
              <a:buNone/>
            </a:pPr>
            <a:r>
              <a:rPr lang="en-US" sz="1200" b="1" dirty="0">
                <a:solidFill>
                  <a:schemeClr val="bg1"/>
                </a:solidFill>
              </a:rPr>
              <a:t>DP-092</a:t>
            </a:r>
            <a:endParaRPr lang="en-US" sz="1200" dirty="0"/>
          </a:p>
        </p:txBody>
      </p:sp>
      <p:sp>
        <p:nvSpPr>
          <p:cNvPr id="30" name="Text 27"/>
          <p:cNvSpPr txBox="1"/>
          <p:nvPr/>
        </p:nvSpPr>
        <p:spPr>
          <a:xfrm>
            <a:off x="7557516" y="3931920"/>
            <a:ext cx="3854196" cy="310896"/>
          </a:xfrm>
          <a:prstGeom prst="rect">
            <a:avLst/>
          </a:prstGeom>
          <a:noFill/>
          <a:ln/>
        </p:spPr>
        <p:txBody>
          <a:bodyPr wrap="square" lIns="0" tIns="0" rIns="0" bIns="0" rtlCol="0" anchor="ctr"/>
          <a:lstStyle/>
          <a:p>
            <a:pPr indent="0" marL="0">
              <a:buNone/>
            </a:pPr>
            <a:r>
              <a:rPr lang="en-US" sz="1600" b="1" dirty="0">
                <a:solidFill>
                  <a:schemeClr val="tx1"/>
                </a:solidFill>
              </a:rPr>
              <a:t>Institutional Client 360</a:t>
            </a:r>
            <a:endParaRPr lang="en-US" sz="1600" dirty="0"/>
          </a:p>
        </p:txBody>
      </p:sp>
      <p:sp>
        <p:nvSpPr>
          <p:cNvPr id="31" name="Text 28"/>
          <p:cNvSpPr txBox="1"/>
          <p:nvPr/>
        </p:nvSpPr>
        <p:spPr>
          <a:xfrm>
            <a:off x="6460236" y="4334256"/>
            <a:ext cx="4951476" cy="274320"/>
          </a:xfrm>
          <a:prstGeom prst="rect">
            <a:avLst/>
          </a:prstGeom>
          <a:noFill/>
          <a:ln/>
        </p:spPr>
        <p:txBody>
          <a:bodyPr wrap="square" lIns="0" tIns="0" rIns="0" bIns="0" rtlCol="0" anchor="ctr"/>
          <a:lstStyle/>
          <a:p>
            <a:pPr indent="0" marL="0">
              <a:buNone/>
            </a:pPr>
            <a:r>
              <a:rPr lang="en-US" sz="1200" b="1" dirty="0">
                <a:solidFill>
                  <a:schemeClr val="accent1"/>
                </a:solidFill>
              </a:rPr>
              <a:t>For the relationship manager, in the CRM</a:t>
            </a:r>
            <a:endParaRPr lang="en-US" sz="1200" dirty="0"/>
          </a:p>
        </p:txBody>
      </p:sp>
      <p:sp>
        <p:nvSpPr>
          <p:cNvPr id="32" name="Text 29"/>
          <p:cNvSpPr txBox="1"/>
          <p:nvPr/>
        </p:nvSpPr>
        <p:spPr>
          <a:xfrm>
            <a:off x="6460236" y="4626864"/>
            <a:ext cx="4951476" cy="685800"/>
          </a:xfrm>
          <a:prstGeom prst="rect">
            <a:avLst/>
          </a:prstGeom>
          <a:noFill/>
          <a:ln/>
        </p:spPr>
        <p:txBody>
          <a:bodyPr wrap="square" lIns="0" tIns="0" rIns="0" bIns="0" rtlCol="0" anchor="t"/>
          <a:lstStyle/>
          <a:p>
            <a:pPr indent="0" marL="0">
              <a:buNone/>
            </a:pPr>
            <a:r>
              <a:rPr lang="en-US" sz="1400" dirty="0">
                <a:solidFill>
                  <a:schemeClr val="tx2"/>
                </a:solidFill>
              </a:rPr>
              <a:t>Puts State Teachers’ whole picture on one screen. Same client, same $1.2bn, same flag.</a:t>
            </a:r>
            <a:endParaRPr lang="en-US" sz="1400" dirty="0"/>
          </a:p>
        </p:txBody>
      </p:sp>
      <p:sp>
        <p:nvSpPr>
          <p:cNvPr id="33" name="Text 30"/>
          <p:cNvSpPr txBox="1"/>
          <p:nvPr/>
        </p:nvSpPr>
        <p:spPr>
          <a:xfrm>
            <a:off x="548640" y="5532120"/>
            <a:ext cx="11091672" cy="411480"/>
          </a:xfrm>
          <a:prstGeom prst="rect">
            <a:avLst/>
          </a:prstGeom>
          <a:noFill/>
          <a:ln/>
        </p:spPr>
        <p:txBody>
          <a:bodyPr wrap="square" lIns="0" tIns="0" rIns="0" bIns="0" rtlCol="0" anchor="ctr"/>
          <a:lstStyle/>
          <a:p>
            <a:pPr indent="0" marL="0">
              <a:buNone/>
            </a:pPr>
            <a:r>
              <a:rPr lang="en-US" sz="1600" b="1" dirty="0">
                <a:solidFill>
                  <a:schemeClr val="tx1"/>
                </a:solidFill>
              </a:rPr>
              <a:t>Neither product owns the number, so the service report and the CRM screen cannot disagree.</a:t>
            </a:r>
            <a:endParaRPr lang="en-US" sz="16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metric, defined once, added up right</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4 OF 5  |  SEMANTIC MODEL</a:t>
            </a:r>
            <a:endParaRPr lang="en-US" sz="1200" dirty="0"/>
          </a:p>
        </p:txBody>
      </p:sp>
      <p:sp>
        <p:nvSpPr>
          <p:cNvPr id="5" name="Shape 2"/>
          <p:cNvSpPr/>
          <p:nvPr/>
        </p:nvSpPr>
        <p:spPr>
          <a:xfrm>
            <a:off x="6483096" y="384048"/>
            <a:ext cx="987552" cy="274320"/>
          </a:xfrm>
          <a:prstGeom prst="roundRect">
            <a:avLst>
              <a:gd name="adj" fmla="val 50000"/>
            </a:avLst>
          </a:prstGeom>
          <a:solidFill>
            <a:schemeClr val="bg2"/>
          </a:solidFill>
          <a:ln/>
        </p:spPr>
      </p:sp>
      <p:sp>
        <p:nvSpPr>
          <p:cNvPr id="6" name="Text 3"/>
          <p:cNvSpPr txBox="1"/>
          <p:nvPr/>
        </p:nvSpPr>
        <p:spPr>
          <a:xfrm>
            <a:off x="6483096"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Source</a:t>
            </a:r>
            <a:endParaRPr lang="en-US" sz="1000" dirty="0"/>
          </a:p>
        </p:txBody>
      </p:sp>
      <p:sp>
        <p:nvSpPr>
          <p:cNvPr id="7" name="Shape 4"/>
          <p:cNvSpPr/>
          <p:nvPr/>
        </p:nvSpPr>
        <p:spPr>
          <a:xfrm>
            <a:off x="7525512" y="384048"/>
            <a:ext cx="987552" cy="274320"/>
          </a:xfrm>
          <a:prstGeom prst="roundRect">
            <a:avLst>
              <a:gd name="adj" fmla="val 50000"/>
            </a:avLst>
          </a:prstGeom>
          <a:solidFill>
            <a:schemeClr val="bg2"/>
          </a:solidFill>
          <a:ln/>
        </p:spPr>
      </p:sp>
      <p:sp>
        <p:nvSpPr>
          <p:cNvPr id="8" name="Text 5"/>
          <p:cNvSpPr txBox="1"/>
          <p:nvPr/>
        </p:nvSpPr>
        <p:spPr>
          <a:xfrm>
            <a:off x="7525512"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Foundational</a:t>
            </a:r>
            <a:endParaRPr lang="en-US" sz="1000" dirty="0"/>
          </a:p>
        </p:txBody>
      </p:sp>
      <p:sp>
        <p:nvSpPr>
          <p:cNvPr id="9" name="Shape 6"/>
          <p:cNvSpPr/>
          <p:nvPr/>
        </p:nvSpPr>
        <p:spPr>
          <a:xfrm>
            <a:off x="8567928" y="384048"/>
            <a:ext cx="987552" cy="274320"/>
          </a:xfrm>
          <a:prstGeom prst="roundRect">
            <a:avLst>
              <a:gd name="adj" fmla="val 50000"/>
            </a:avLst>
          </a:prstGeom>
          <a:solidFill>
            <a:schemeClr val="bg2"/>
          </a:solidFill>
          <a:ln/>
        </p:spPr>
      </p:sp>
      <p:sp>
        <p:nvSpPr>
          <p:cNvPr id="10" name="Text 7"/>
          <p:cNvSpPr txBox="1"/>
          <p:nvPr/>
        </p:nvSpPr>
        <p:spPr>
          <a:xfrm>
            <a:off x="8567928"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Consumer</a:t>
            </a:r>
            <a:endParaRPr lang="en-US" sz="1000" dirty="0"/>
          </a:p>
        </p:txBody>
      </p:sp>
      <p:sp>
        <p:nvSpPr>
          <p:cNvPr id="11" name="Shape 8"/>
          <p:cNvSpPr/>
          <p:nvPr/>
        </p:nvSpPr>
        <p:spPr>
          <a:xfrm>
            <a:off x="9610344" y="384048"/>
            <a:ext cx="987552" cy="274320"/>
          </a:xfrm>
          <a:prstGeom prst="roundRect">
            <a:avLst>
              <a:gd name="adj" fmla="val 50000"/>
            </a:avLst>
          </a:prstGeom>
          <a:solidFill>
            <a:schemeClr val="accent1"/>
          </a:solidFill>
          <a:ln/>
        </p:spPr>
      </p:sp>
      <p:sp>
        <p:nvSpPr>
          <p:cNvPr id="12" name="Text 9"/>
          <p:cNvSpPr txBox="1"/>
          <p:nvPr/>
        </p:nvSpPr>
        <p:spPr>
          <a:xfrm>
            <a:off x="9610344" y="384048"/>
            <a:ext cx="987552" cy="274320"/>
          </a:xfrm>
          <a:prstGeom prst="rect">
            <a:avLst/>
          </a:prstGeom>
          <a:noFill/>
          <a:ln/>
        </p:spPr>
        <p:txBody>
          <a:bodyPr wrap="square" lIns="0" tIns="0" rIns="0" bIns="0" rtlCol="0" anchor="ctr"/>
          <a:lstStyle/>
          <a:p>
            <a:pPr algn="ctr" indent="0" marL="0">
              <a:buNone/>
            </a:pPr>
            <a:r>
              <a:rPr lang="en-US" sz="1000" b="1" dirty="0">
                <a:solidFill>
                  <a:schemeClr val="bg1"/>
                </a:solidFill>
              </a:rPr>
              <a:t>Semantic</a:t>
            </a:r>
            <a:endParaRPr lang="en-US" sz="1000" dirty="0"/>
          </a:p>
        </p:txBody>
      </p:sp>
      <p:sp>
        <p:nvSpPr>
          <p:cNvPr id="13" name="Shape 10"/>
          <p:cNvSpPr/>
          <p:nvPr/>
        </p:nvSpPr>
        <p:spPr>
          <a:xfrm>
            <a:off x="10652760" y="384048"/>
            <a:ext cx="987552" cy="274320"/>
          </a:xfrm>
          <a:prstGeom prst="roundRect">
            <a:avLst>
              <a:gd name="adj" fmla="val 50000"/>
            </a:avLst>
          </a:prstGeom>
          <a:solidFill>
            <a:schemeClr val="bg2"/>
          </a:solidFill>
          <a:ln/>
        </p:spPr>
      </p:sp>
      <p:sp>
        <p:nvSpPr>
          <p:cNvPr id="14" name="Text 11"/>
          <p:cNvSpPr txBox="1"/>
          <p:nvPr/>
        </p:nvSpPr>
        <p:spPr>
          <a:xfrm>
            <a:off x="10652760"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Use</a:t>
            </a:r>
            <a:endParaRPr lang="en-US" sz="1000" dirty="0"/>
          </a:p>
        </p:txBody>
      </p:sp>
      <p:sp>
        <p:nvSpPr>
          <p:cNvPr id="15" name="Shape 12"/>
          <p:cNvSpPr/>
          <p:nvPr/>
        </p:nvSpPr>
        <p:spPr>
          <a:xfrm>
            <a:off x="548640" y="1691640"/>
            <a:ext cx="11091672" cy="713232"/>
          </a:xfrm>
          <a:prstGeom prst="roundRect">
            <a:avLst>
              <a:gd name="adj" fmla="val 10256"/>
            </a:avLst>
          </a:prstGeom>
          <a:solidFill>
            <a:schemeClr val="accent6">
              <a:alpha val="45000"/>
            </a:schemeClr>
          </a:solidFill>
          <a:ln/>
        </p:spPr>
      </p:sp>
      <p:sp>
        <p:nvSpPr>
          <p:cNvPr id="16" name="Text 13"/>
          <p:cNvSpPr txBox="1"/>
          <p:nvPr/>
        </p:nvSpPr>
        <p:spPr>
          <a:xfrm>
            <a:off x="777240" y="1691640"/>
            <a:ext cx="2514600" cy="713232"/>
          </a:xfrm>
          <a:prstGeom prst="rect">
            <a:avLst/>
          </a:prstGeom>
          <a:noFill/>
          <a:ln/>
        </p:spPr>
        <p:txBody>
          <a:bodyPr wrap="square" lIns="0" tIns="0" rIns="0" bIns="0" rtlCol="0" anchor="ctr"/>
          <a:lstStyle/>
          <a:p>
            <a:pPr indent="0" marL="0">
              <a:buNone/>
            </a:pPr>
            <a:r>
              <a:rPr lang="en-US" sz="1100" b="1" spc="120" kern="0" dirty="0">
                <a:solidFill>
                  <a:schemeClr val="accent1"/>
                </a:solidFill>
              </a:rPr>
              <a:t>THE TAXONOMY'S JOB HERE</a:t>
            </a:r>
            <a:endParaRPr lang="en-US" sz="1100" dirty="0"/>
          </a:p>
        </p:txBody>
      </p:sp>
      <p:sp>
        <p:nvSpPr>
          <p:cNvPr id="17" name="Text 14"/>
          <p:cNvSpPr txBox="1"/>
          <p:nvPr/>
        </p:nvSpPr>
        <p:spPr>
          <a:xfrm>
            <a:off x="3291840" y="1691640"/>
            <a:ext cx="8119872" cy="713232"/>
          </a:xfrm>
          <a:prstGeom prst="rect">
            <a:avLst/>
          </a:prstGeom>
          <a:noFill/>
          <a:ln/>
        </p:spPr>
        <p:txBody>
          <a:bodyPr wrap="square" lIns="0" tIns="0" rIns="0" bIns="0" rtlCol="0" anchor="ctr"/>
          <a:lstStyle/>
          <a:p>
            <a:pPr indent="0" marL="0">
              <a:buNone/>
            </a:pPr>
            <a:r>
              <a:rPr lang="en-US" sz="1800" b="1" dirty="0">
                <a:solidFill>
                  <a:schemeClr val="tx1"/>
                </a:solidFill>
              </a:rPr>
              <a:t>It is the glossary: every metric traces back to a taxonomy definition</a:t>
            </a:r>
            <a:endParaRPr lang="en-US" sz="1800" dirty="0"/>
          </a:p>
        </p:txBody>
      </p:sp>
      <p:sp>
        <p:nvSpPr>
          <p:cNvPr id="18" name="Text 15"/>
          <p:cNvSpPr txBox="1"/>
          <p:nvPr/>
        </p:nvSpPr>
        <p:spPr>
          <a:xfrm>
            <a:off x="548640" y="2606040"/>
            <a:ext cx="11091672" cy="411480"/>
          </a:xfrm>
          <a:prstGeom prst="rect">
            <a:avLst/>
          </a:prstGeom>
          <a:noFill/>
          <a:ln/>
        </p:spPr>
        <p:txBody>
          <a:bodyPr wrap="square" lIns="0" tIns="0" rIns="0" bIns="0" rtlCol="0" anchor="ctr"/>
          <a:lstStyle/>
          <a:p>
            <a:pPr indent="0" marL="0">
              <a:buNone/>
            </a:pPr>
            <a:r>
              <a:rPr lang="en-US" sz="1600" b="1" dirty="0">
                <a:solidFill>
                  <a:schemeClr val="tx1"/>
                </a:solidFill>
              </a:rPr>
              <a:t>SM-04 Institutional &amp; Retirement</a:t>
            </a:r>
            <a:pPr indent="0" marL="0">
              <a:buNone/>
            </a:pPr>
            <a:r>
              <a:rPr lang="en-US" sz="1600" dirty="0">
                <a:solidFill>
                  <a:schemeClr val="tx1"/>
                </a:solidFill>
              </a:rPr>
              <a:t> publishes At-Risk AUM from DP-042, with four rules that keep the total right.</a:t>
            </a:r>
            <a:endParaRPr lang="en-US" sz="1600" dirty="0"/>
          </a:p>
        </p:txBody>
      </p:sp>
      <p:sp>
        <p:nvSpPr>
          <p:cNvPr id="19" name="Shape 16"/>
          <p:cNvSpPr/>
          <p:nvPr/>
        </p:nvSpPr>
        <p:spPr>
          <a:xfrm>
            <a:off x="548640" y="3127248"/>
            <a:ext cx="5408676" cy="1280160"/>
          </a:xfrm>
          <a:prstGeom prst="roundRect">
            <a:avLst>
              <a:gd name="adj" fmla="val 5714"/>
            </a:avLst>
          </a:prstGeom>
          <a:solidFill>
            <a:schemeClr val="bg2"/>
          </a:solidFill>
          <a:ln/>
        </p:spPr>
      </p:sp>
      <p:sp>
        <p:nvSpPr>
          <p:cNvPr id="20" name="Shape 17"/>
          <p:cNvSpPr/>
          <p:nvPr/>
        </p:nvSpPr>
        <p:spPr>
          <a:xfrm>
            <a:off x="777240" y="3328416"/>
            <a:ext cx="420624" cy="420624"/>
          </a:xfrm>
          <a:prstGeom prst="ellipse">
            <a:avLst/>
          </a:prstGeom>
          <a:solidFill>
            <a:schemeClr val="accent1"/>
          </a:solidFill>
          <a:ln/>
        </p:spPr>
      </p:sp>
      <p:sp>
        <p:nvSpPr>
          <p:cNvPr id="21" name="Text 18"/>
          <p:cNvSpPr txBox="1"/>
          <p:nvPr/>
        </p:nvSpPr>
        <p:spPr>
          <a:xfrm>
            <a:off x="777240" y="33284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2" name="Text 19"/>
          <p:cNvSpPr txBox="1"/>
          <p:nvPr/>
        </p:nvSpPr>
        <p:spPr>
          <a:xfrm>
            <a:off x="1417320" y="3310128"/>
            <a:ext cx="4311396" cy="365760"/>
          </a:xfrm>
          <a:prstGeom prst="rect">
            <a:avLst/>
          </a:prstGeom>
          <a:noFill/>
          <a:ln/>
        </p:spPr>
        <p:txBody>
          <a:bodyPr wrap="square" lIns="0" tIns="0" rIns="0" bIns="0" rtlCol="0" anchor="ctr"/>
          <a:lstStyle/>
          <a:p>
            <a:pPr indent="0" marL="0">
              <a:buNone/>
            </a:pPr>
            <a:r>
              <a:rPr lang="en-US" sz="1600" b="1" dirty="0">
                <a:solidFill>
                  <a:schemeClr val="tx1"/>
                </a:solidFill>
              </a:rPr>
              <a:t>Fixed filters</a:t>
            </a:r>
            <a:endParaRPr lang="en-US" sz="1600" dirty="0"/>
          </a:p>
        </p:txBody>
      </p:sp>
      <p:sp>
        <p:nvSpPr>
          <p:cNvPr id="23" name="Text 20"/>
          <p:cNvSpPr txBox="1"/>
          <p:nvPr/>
        </p:nvSpPr>
        <p:spPr>
          <a:xfrm>
            <a:off x="1417320" y="3703320"/>
            <a:ext cx="4311396" cy="658368"/>
          </a:xfrm>
          <a:prstGeom prst="rect">
            <a:avLst/>
          </a:prstGeom>
          <a:noFill/>
          <a:ln/>
        </p:spPr>
        <p:txBody>
          <a:bodyPr wrap="square" lIns="0" tIns="0" rIns="0" bIns="0" rtlCol="0" anchor="t"/>
          <a:lstStyle/>
          <a:p>
            <a:pPr indent="0" marL="0">
              <a:buNone/>
            </a:pPr>
            <a:r>
              <a:rPr lang="en-US" sz="1400" dirty="0">
                <a:solidFill>
                  <a:schemeClr val="tx2"/>
                </a:solidFill>
              </a:rPr>
              <a:t>Only locked, monthly, client-level rows are read, so the same money is not counted three times.</a:t>
            </a:r>
            <a:endParaRPr lang="en-US" sz="1400" dirty="0"/>
          </a:p>
        </p:txBody>
      </p:sp>
      <p:sp>
        <p:nvSpPr>
          <p:cNvPr id="24" name="Shape 21"/>
          <p:cNvSpPr/>
          <p:nvPr/>
        </p:nvSpPr>
        <p:spPr>
          <a:xfrm>
            <a:off x="6231636" y="3127248"/>
            <a:ext cx="5408676" cy="1280160"/>
          </a:xfrm>
          <a:prstGeom prst="roundRect">
            <a:avLst>
              <a:gd name="adj" fmla="val 5714"/>
            </a:avLst>
          </a:prstGeom>
          <a:solidFill>
            <a:schemeClr val="bg2"/>
          </a:solidFill>
          <a:ln/>
        </p:spPr>
      </p:sp>
      <p:sp>
        <p:nvSpPr>
          <p:cNvPr id="25" name="Shape 22"/>
          <p:cNvSpPr/>
          <p:nvPr/>
        </p:nvSpPr>
        <p:spPr>
          <a:xfrm>
            <a:off x="6460236" y="3328416"/>
            <a:ext cx="420624" cy="420624"/>
          </a:xfrm>
          <a:prstGeom prst="ellipse">
            <a:avLst/>
          </a:prstGeom>
          <a:solidFill>
            <a:schemeClr val="accent1"/>
          </a:solidFill>
          <a:ln/>
        </p:spPr>
      </p:sp>
      <p:sp>
        <p:nvSpPr>
          <p:cNvPr id="26" name="Text 23"/>
          <p:cNvSpPr txBox="1"/>
          <p:nvPr/>
        </p:nvSpPr>
        <p:spPr>
          <a:xfrm>
            <a:off x="6460236" y="33284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7" name="Text 24"/>
          <p:cNvSpPr txBox="1"/>
          <p:nvPr/>
        </p:nvSpPr>
        <p:spPr>
          <a:xfrm>
            <a:off x="7100316" y="3310128"/>
            <a:ext cx="4311396" cy="365760"/>
          </a:xfrm>
          <a:prstGeom prst="rect">
            <a:avLst/>
          </a:prstGeom>
          <a:noFill/>
          <a:ln/>
        </p:spPr>
        <p:txBody>
          <a:bodyPr wrap="square" lIns="0" tIns="0" rIns="0" bIns="0" rtlCol="0" anchor="ctr"/>
          <a:lstStyle/>
          <a:p>
            <a:pPr indent="0" marL="0">
              <a:buNone/>
            </a:pPr>
            <a:r>
              <a:rPr lang="en-US" sz="1600" b="1" dirty="0">
                <a:solidFill>
                  <a:schemeClr val="tx1"/>
                </a:solidFill>
              </a:rPr>
              <a:t>No summing across months</a:t>
            </a:r>
            <a:endParaRPr lang="en-US" sz="1600" dirty="0"/>
          </a:p>
        </p:txBody>
      </p:sp>
      <p:sp>
        <p:nvSpPr>
          <p:cNvPr id="28" name="Text 25"/>
          <p:cNvSpPr txBox="1"/>
          <p:nvPr/>
        </p:nvSpPr>
        <p:spPr>
          <a:xfrm>
            <a:off x="7100316" y="3703320"/>
            <a:ext cx="4311396" cy="658368"/>
          </a:xfrm>
          <a:prstGeom prst="rect">
            <a:avLst/>
          </a:prstGeom>
          <a:noFill/>
          <a:ln/>
        </p:spPr>
        <p:txBody>
          <a:bodyPr wrap="square" lIns="0" tIns="0" rIns="0" bIns="0" rtlCol="0" anchor="t"/>
          <a:lstStyle/>
          <a:p>
            <a:pPr indent="0" marL="0">
              <a:buNone/>
            </a:pPr>
            <a:r>
              <a:rPr lang="en-US" sz="1400" dirty="0">
                <a:solidFill>
                  <a:schemeClr val="tx2"/>
                </a:solidFill>
              </a:rPr>
              <a:t>March plus April AUM means nothing. The metric takes the last locked month-end.</a:t>
            </a:r>
            <a:endParaRPr lang="en-US" sz="1400" dirty="0"/>
          </a:p>
        </p:txBody>
      </p:sp>
      <p:sp>
        <p:nvSpPr>
          <p:cNvPr id="29" name="Shape 26"/>
          <p:cNvSpPr/>
          <p:nvPr/>
        </p:nvSpPr>
        <p:spPr>
          <a:xfrm>
            <a:off x="548640" y="4590288"/>
            <a:ext cx="5408676" cy="1280160"/>
          </a:xfrm>
          <a:prstGeom prst="roundRect">
            <a:avLst>
              <a:gd name="adj" fmla="val 5714"/>
            </a:avLst>
          </a:prstGeom>
          <a:solidFill>
            <a:schemeClr val="bg2"/>
          </a:solidFill>
          <a:ln/>
        </p:spPr>
      </p:sp>
      <p:sp>
        <p:nvSpPr>
          <p:cNvPr id="30" name="Shape 27"/>
          <p:cNvSpPr/>
          <p:nvPr/>
        </p:nvSpPr>
        <p:spPr>
          <a:xfrm>
            <a:off x="777240" y="4791456"/>
            <a:ext cx="420624" cy="420624"/>
          </a:xfrm>
          <a:prstGeom prst="ellipse">
            <a:avLst/>
          </a:prstGeom>
          <a:solidFill>
            <a:schemeClr val="accent1"/>
          </a:solidFill>
          <a:ln/>
        </p:spPr>
      </p:sp>
      <p:sp>
        <p:nvSpPr>
          <p:cNvPr id="31" name="Text 28"/>
          <p:cNvSpPr txBox="1"/>
          <p:nvPr/>
        </p:nvSpPr>
        <p:spPr>
          <a:xfrm>
            <a:off x="777240" y="479145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2" name="Text 29"/>
          <p:cNvSpPr txBox="1"/>
          <p:nvPr/>
        </p:nvSpPr>
        <p:spPr>
          <a:xfrm>
            <a:off x="1417320" y="4773168"/>
            <a:ext cx="4311396" cy="365760"/>
          </a:xfrm>
          <a:prstGeom prst="rect">
            <a:avLst/>
          </a:prstGeom>
          <a:noFill/>
          <a:ln/>
        </p:spPr>
        <p:txBody>
          <a:bodyPr wrap="square" lIns="0" tIns="0" rIns="0" bIns="0" rtlCol="0" anchor="ctr"/>
          <a:lstStyle/>
          <a:p>
            <a:pPr indent="0" marL="0">
              <a:buNone/>
            </a:pPr>
            <a:r>
              <a:rPr lang="en-US" sz="1600" b="1" dirty="0">
                <a:solidFill>
                  <a:schemeClr val="tx1"/>
                </a:solidFill>
              </a:rPr>
              <a:t>Lined up by client</a:t>
            </a:r>
            <a:endParaRPr lang="en-US" sz="1600" dirty="0"/>
          </a:p>
        </p:txBody>
      </p:sp>
      <p:sp>
        <p:nvSpPr>
          <p:cNvPr id="33" name="Text 30"/>
          <p:cNvSpPr txBox="1"/>
          <p:nvPr/>
        </p:nvSpPr>
        <p:spPr>
          <a:xfrm>
            <a:off x="1417320" y="5166360"/>
            <a:ext cx="4311396" cy="658368"/>
          </a:xfrm>
          <a:prstGeom prst="rect">
            <a:avLst/>
          </a:prstGeom>
          <a:noFill/>
          <a:ln/>
        </p:spPr>
        <p:txBody>
          <a:bodyPr wrap="square" lIns="0" tIns="0" rIns="0" bIns="0" rtlCol="0" anchor="t"/>
          <a:lstStyle/>
          <a:p>
            <a:pPr indent="0" marL="0">
              <a:buNone/>
            </a:pPr>
            <a:r>
              <a:rPr lang="en-US" sz="1400" dirty="0">
                <a:solidFill>
                  <a:schemeClr val="tx2"/>
                </a:solidFill>
              </a:rPr>
              <a:t>The flag and the AUM are matched by client. A row-to-row join would repeat AUM per share class.</a:t>
            </a:r>
            <a:endParaRPr lang="en-US" sz="1400" dirty="0"/>
          </a:p>
        </p:txBody>
      </p:sp>
      <p:sp>
        <p:nvSpPr>
          <p:cNvPr id="34" name="Shape 31"/>
          <p:cNvSpPr/>
          <p:nvPr/>
        </p:nvSpPr>
        <p:spPr>
          <a:xfrm>
            <a:off x="6231636" y="4590288"/>
            <a:ext cx="5408676" cy="1280160"/>
          </a:xfrm>
          <a:prstGeom prst="roundRect">
            <a:avLst>
              <a:gd name="adj" fmla="val 5714"/>
            </a:avLst>
          </a:prstGeom>
          <a:solidFill>
            <a:schemeClr val="bg2"/>
          </a:solidFill>
          <a:ln/>
        </p:spPr>
      </p:sp>
      <p:sp>
        <p:nvSpPr>
          <p:cNvPr id="35" name="Shape 32"/>
          <p:cNvSpPr/>
          <p:nvPr/>
        </p:nvSpPr>
        <p:spPr>
          <a:xfrm>
            <a:off x="6460236" y="4791456"/>
            <a:ext cx="420624" cy="420624"/>
          </a:xfrm>
          <a:prstGeom prst="ellipse">
            <a:avLst/>
          </a:prstGeom>
          <a:solidFill>
            <a:schemeClr val="accent1"/>
          </a:solidFill>
          <a:ln/>
        </p:spPr>
      </p:sp>
      <p:sp>
        <p:nvSpPr>
          <p:cNvPr id="36" name="Text 33"/>
          <p:cNvSpPr txBox="1"/>
          <p:nvPr/>
        </p:nvSpPr>
        <p:spPr>
          <a:xfrm>
            <a:off x="6460236" y="479145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7" name="Text 34"/>
          <p:cNvSpPr txBox="1"/>
          <p:nvPr/>
        </p:nvSpPr>
        <p:spPr>
          <a:xfrm>
            <a:off x="7100316" y="4773168"/>
            <a:ext cx="4311396" cy="365760"/>
          </a:xfrm>
          <a:prstGeom prst="rect">
            <a:avLst/>
          </a:prstGeom>
          <a:noFill/>
          <a:ln/>
        </p:spPr>
        <p:txBody>
          <a:bodyPr wrap="square" lIns="0" tIns="0" rIns="0" bIns="0" rtlCol="0" anchor="ctr"/>
          <a:lstStyle/>
          <a:p>
            <a:pPr indent="0" marL="0">
              <a:buNone/>
            </a:pPr>
            <a:r>
              <a:rPr lang="en-US" sz="1600" b="1" dirty="0">
                <a:solidFill>
                  <a:schemeClr val="tx1"/>
                </a:solidFill>
              </a:rPr>
              <a:t>Access follows classification</a:t>
            </a:r>
            <a:endParaRPr lang="en-US" sz="1600" dirty="0"/>
          </a:p>
        </p:txBody>
      </p:sp>
      <p:sp>
        <p:nvSpPr>
          <p:cNvPr id="38" name="Text 35"/>
          <p:cNvSpPr txBox="1"/>
          <p:nvPr/>
        </p:nvSpPr>
        <p:spPr>
          <a:xfrm>
            <a:off x="7100316" y="5166360"/>
            <a:ext cx="4311396" cy="658368"/>
          </a:xfrm>
          <a:prstGeom prst="rect">
            <a:avLst/>
          </a:prstGeom>
          <a:noFill/>
          <a:ln/>
        </p:spPr>
        <p:txBody>
          <a:bodyPr wrap="square" lIns="0" tIns="0" rIns="0" bIns="0" rtlCol="0" anchor="t"/>
          <a:lstStyle/>
          <a:p>
            <a:pPr indent="0" marL="0">
              <a:buNone/>
            </a:pPr>
            <a:r>
              <a:rPr lang="en-US" sz="1400" dirty="0">
                <a:solidFill>
                  <a:schemeClr val="tx2"/>
                </a:solidFill>
              </a:rPr>
              <a:t>Leadership sees every client. Sales sees the clients they cover. Others see totals without names.</a:t>
            </a:r>
            <a:endParaRPr lang="en-US" sz="14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answer, with its trail attached</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5 OF 5  |  ANALYTICAL USE</a:t>
            </a:r>
            <a:endParaRPr lang="en-US" sz="1200" dirty="0"/>
          </a:p>
        </p:txBody>
      </p:sp>
      <p:sp>
        <p:nvSpPr>
          <p:cNvPr id="5" name="Shape 2"/>
          <p:cNvSpPr/>
          <p:nvPr/>
        </p:nvSpPr>
        <p:spPr>
          <a:xfrm>
            <a:off x="6483096" y="384048"/>
            <a:ext cx="987552" cy="274320"/>
          </a:xfrm>
          <a:prstGeom prst="roundRect">
            <a:avLst>
              <a:gd name="adj" fmla="val 50000"/>
            </a:avLst>
          </a:prstGeom>
          <a:solidFill>
            <a:schemeClr val="bg2"/>
          </a:solidFill>
          <a:ln/>
        </p:spPr>
      </p:sp>
      <p:sp>
        <p:nvSpPr>
          <p:cNvPr id="6" name="Text 3"/>
          <p:cNvSpPr txBox="1"/>
          <p:nvPr/>
        </p:nvSpPr>
        <p:spPr>
          <a:xfrm>
            <a:off x="6483096"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Source</a:t>
            </a:r>
            <a:endParaRPr lang="en-US" sz="1000" dirty="0"/>
          </a:p>
        </p:txBody>
      </p:sp>
      <p:sp>
        <p:nvSpPr>
          <p:cNvPr id="7" name="Shape 4"/>
          <p:cNvSpPr/>
          <p:nvPr/>
        </p:nvSpPr>
        <p:spPr>
          <a:xfrm>
            <a:off x="7525512" y="384048"/>
            <a:ext cx="987552" cy="274320"/>
          </a:xfrm>
          <a:prstGeom prst="roundRect">
            <a:avLst>
              <a:gd name="adj" fmla="val 50000"/>
            </a:avLst>
          </a:prstGeom>
          <a:solidFill>
            <a:schemeClr val="bg2"/>
          </a:solidFill>
          <a:ln/>
        </p:spPr>
      </p:sp>
      <p:sp>
        <p:nvSpPr>
          <p:cNvPr id="8" name="Text 5"/>
          <p:cNvSpPr txBox="1"/>
          <p:nvPr/>
        </p:nvSpPr>
        <p:spPr>
          <a:xfrm>
            <a:off x="7525512"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Foundational</a:t>
            </a:r>
            <a:endParaRPr lang="en-US" sz="1000" dirty="0"/>
          </a:p>
        </p:txBody>
      </p:sp>
      <p:sp>
        <p:nvSpPr>
          <p:cNvPr id="9" name="Shape 6"/>
          <p:cNvSpPr/>
          <p:nvPr/>
        </p:nvSpPr>
        <p:spPr>
          <a:xfrm>
            <a:off x="8567928" y="384048"/>
            <a:ext cx="987552" cy="274320"/>
          </a:xfrm>
          <a:prstGeom prst="roundRect">
            <a:avLst>
              <a:gd name="adj" fmla="val 50000"/>
            </a:avLst>
          </a:prstGeom>
          <a:solidFill>
            <a:schemeClr val="bg2"/>
          </a:solidFill>
          <a:ln/>
        </p:spPr>
      </p:sp>
      <p:sp>
        <p:nvSpPr>
          <p:cNvPr id="10" name="Text 7"/>
          <p:cNvSpPr txBox="1"/>
          <p:nvPr/>
        </p:nvSpPr>
        <p:spPr>
          <a:xfrm>
            <a:off x="8567928"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Consumer</a:t>
            </a:r>
            <a:endParaRPr lang="en-US" sz="1000" dirty="0"/>
          </a:p>
        </p:txBody>
      </p:sp>
      <p:sp>
        <p:nvSpPr>
          <p:cNvPr id="11" name="Shape 8"/>
          <p:cNvSpPr/>
          <p:nvPr/>
        </p:nvSpPr>
        <p:spPr>
          <a:xfrm>
            <a:off x="9610344" y="384048"/>
            <a:ext cx="987552" cy="274320"/>
          </a:xfrm>
          <a:prstGeom prst="roundRect">
            <a:avLst>
              <a:gd name="adj" fmla="val 50000"/>
            </a:avLst>
          </a:prstGeom>
          <a:solidFill>
            <a:schemeClr val="bg2"/>
          </a:solidFill>
          <a:ln/>
        </p:spPr>
      </p:sp>
      <p:sp>
        <p:nvSpPr>
          <p:cNvPr id="12" name="Text 9"/>
          <p:cNvSpPr txBox="1"/>
          <p:nvPr/>
        </p:nvSpPr>
        <p:spPr>
          <a:xfrm>
            <a:off x="9610344" y="384048"/>
            <a:ext cx="987552" cy="274320"/>
          </a:xfrm>
          <a:prstGeom prst="rect">
            <a:avLst/>
          </a:prstGeom>
          <a:noFill/>
          <a:ln/>
        </p:spPr>
        <p:txBody>
          <a:bodyPr wrap="square" lIns="0" tIns="0" rIns="0" bIns="0" rtlCol="0" anchor="ctr"/>
          <a:lstStyle/>
          <a:p>
            <a:pPr algn="ctr" indent="0" marL="0">
              <a:buNone/>
            </a:pPr>
            <a:r>
              <a:rPr lang="en-US" sz="1000" dirty="0">
                <a:solidFill>
                  <a:schemeClr val="tx2"/>
                </a:solidFill>
              </a:rPr>
              <a:t>Semantic</a:t>
            </a:r>
            <a:endParaRPr lang="en-US" sz="1000" dirty="0"/>
          </a:p>
        </p:txBody>
      </p:sp>
      <p:sp>
        <p:nvSpPr>
          <p:cNvPr id="13" name="Shape 10"/>
          <p:cNvSpPr/>
          <p:nvPr/>
        </p:nvSpPr>
        <p:spPr>
          <a:xfrm>
            <a:off x="10652760" y="384048"/>
            <a:ext cx="987552" cy="274320"/>
          </a:xfrm>
          <a:prstGeom prst="roundRect">
            <a:avLst>
              <a:gd name="adj" fmla="val 50000"/>
            </a:avLst>
          </a:prstGeom>
          <a:solidFill>
            <a:schemeClr val="accent1"/>
          </a:solidFill>
          <a:ln/>
        </p:spPr>
      </p:sp>
      <p:sp>
        <p:nvSpPr>
          <p:cNvPr id="14" name="Text 11"/>
          <p:cNvSpPr txBox="1"/>
          <p:nvPr/>
        </p:nvSpPr>
        <p:spPr>
          <a:xfrm>
            <a:off x="10652760" y="384048"/>
            <a:ext cx="987552" cy="274320"/>
          </a:xfrm>
          <a:prstGeom prst="rect">
            <a:avLst/>
          </a:prstGeom>
          <a:noFill/>
          <a:ln/>
        </p:spPr>
        <p:txBody>
          <a:bodyPr wrap="square" lIns="0" tIns="0" rIns="0" bIns="0" rtlCol="0" anchor="ctr"/>
          <a:lstStyle/>
          <a:p>
            <a:pPr algn="ctr" indent="0" marL="0">
              <a:buNone/>
            </a:pPr>
            <a:r>
              <a:rPr lang="en-US" sz="1000" b="1" dirty="0">
                <a:solidFill>
                  <a:schemeClr val="bg1"/>
                </a:solidFill>
              </a:rPr>
              <a:t>Use</a:t>
            </a:r>
            <a:endParaRPr lang="en-US" sz="1000" dirty="0"/>
          </a:p>
        </p:txBody>
      </p:sp>
      <p:sp>
        <p:nvSpPr>
          <p:cNvPr id="15" name="Shape 12"/>
          <p:cNvSpPr/>
          <p:nvPr/>
        </p:nvSpPr>
        <p:spPr>
          <a:xfrm>
            <a:off x="548640" y="1691640"/>
            <a:ext cx="11091672" cy="713232"/>
          </a:xfrm>
          <a:prstGeom prst="roundRect">
            <a:avLst>
              <a:gd name="adj" fmla="val 10256"/>
            </a:avLst>
          </a:prstGeom>
          <a:solidFill>
            <a:schemeClr val="accent6">
              <a:alpha val="45000"/>
            </a:schemeClr>
          </a:solidFill>
          <a:ln/>
        </p:spPr>
      </p:sp>
      <p:sp>
        <p:nvSpPr>
          <p:cNvPr id="16" name="Text 13"/>
          <p:cNvSpPr txBox="1"/>
          <p:nvPr/>
        </p:nvSpPr>
        <p:spPr>
          <a:xfrm>
            <a:off x="777240" y="1691640"/>
            <a:ext cx="2514600" cy="713232"/>
          </a:xfrm>
          <a:prstGeom prst="rect">
            <a:avLst/>
          </a:prstGeom>
          <a:noFill/>
          <a:ln/>
        </p:spPr>
        <p:txBody>
          <a:bodyPr wrap="square" lIns="0" tIns="0" rIns="0" bIns="0" rtlCol="0" anchor="ctr"/>
          <a:lstStyle/>
          <a:p>
            <a:pPr indent="0" marL="0">
              <a:buNone/>
            </a:pPr>
            <a:r>
              <a:rPr lang="en-US" sz="1100" b="1" spc="120" kern="0" dirty="0">
                <a:solidFill>
                  <a:schemeClr val="accent1"/>
                </a:solidFill>
              </a:rPr>
              <a:t>THE TAXONOMY'S JOB HERE</a:t>
            </a:r>
            <a:endParaRPr lang="en-US" sz="1100" dirty="0"/>
          </a:p>
        </p:txBody>
      </p:sp>
      <p:sp>
        <p:nvSpPr>
          <p:cNvPr id="17" name="Text 14"/>
          <p:cNvSpPr txBox="1"/>
          <p:nvPr/>
        </p:nvSpPr>
        <p:spPr>
          <a:xfrm>
            <a:off x="3291840" y="1691640"/>
            <a:ext cx="8119872" cy="713232"/>
          </a:xfrm>
          <a:prstGeom prst="rect">
            <a:avLst/>
          </a:prstGeom>
          <a:noFill/>
          <a:ln/>
        </p:spPr>
        <p:txBody>
          <a:bodyPr wrap="square" lIns="0" tIns="0" rIns="0" bIns="0" rtlCol="0" anchor="ctr"/>
          <a:lstStyle/>
          <a:p>
            <a:pPr indent="0" marL="0">
              <a:buNone/>
            </a:pPr>
            <a:r>
              <a:rPr lang="en-US" sz="1800" b="1" dirty="0">
                <a:solidFill>
                  <a:schemeClr val="tx1"/>
                </a:solidFill>
              </a:rPr>
              <a:t>It makes the answer traceable, back to a definition and an owner</a:t>
            </a:r>
            <a:endParaRPr lang="en-US" sz="1800" dirty="0"/>
          </a:p>
        </p:txBody>
      </p:sp>
      <p:sp>
        <p:nvSpPr>
          <p:cNvPr id="18" name="Shape 15"/>
          <p:cNvSpPr/>
          <p:nvPr/>
        </p:nvSpPr>
        <p:spPr>
          <a:xfrm>
            <a:off x="548640" y="2651760"/>
            <a:ext cx="4846320" cy="3291840"/>
          </a:xfrm>
          <a:prstGeom prst="roundRect">
            <a:avLst>
              <a:gd name="adj" fmla="val 2222"/>
            </a:avLst>
          </a:prstGeom>
          <a:solidFill>
            <a:schemeClr val="bg2"/>
          </a:solidFill>
          <a:ln/>
        </p:spPr>
      </p:sp>
      <p:sp>
        <p:nvSpPr>
          <p:cNvPr id="19" name="Text 16"/>
          <p:cNvSpPr txBox="1"/>
          <p:nvPr/>
        </p:nvSpPr>
        <p:spPr>
          <a:xfrm>
            <a:off x="822960" y="2816352"/>
            <a:ext cx="4297680" cy="256032"/>
          </a:xfrm>
          <a:prstGeom prst="rect">
            <a:avLst/>
          </a:prstGeom>
          <a:noFill/>
          <a:ln/>
        </p:spPr>
        <p:txBody>
          <a:bodyPr wrap="square" lIns="0" tIns="0" rIns="0" bIns="0" rtlCol="0" anchor="t"/>
          <a:lstStyle/>
          <a:p>
            <a:pPr indent="0" marL="0">
              <a:buNone/>
            </a:pPr>
            <a:r>
              <a:rPr lang="en-US" sz="1000" b="1" spc="100" kern="0" dirty="0">
                <a:solidFill>
                  <a:schemeClr val="tx2"/>
                </a:solidFill>
              </a:rPr>
              <a:t>AT-RISK AUM, PUBLIC PENSION PLANS</a:t>
            </a:r>
            <a:endParaRPr lang="en-US" sz="1000" dirty="0"/>
          </a:p>
        </p:txBody>
      </p:sp>
      <p:sp>
        <p:nvSpPr>
          <p:cNvPr id="20" name="Text 17"/>
          <p:cNvSpPr txBox="1"/>
          <p:nvPr/>
        </p:nvSpPr>
        <p:spPr>
          <a:xfrm>
            <a:off x="822960" y="3108960"/>
            <a:ext cx="4297680" cy="1051560"/>
          </a:xfrm>
          <a:prstGeom prst="rect">
            <a:avLst/>
          </a:prstGeom>
          <a:noFill/>
          <a:ln/>
        </p:spPr>
        <p:txBody>
          <a:bodyPr wrap="square" lIns="0" tIns="0" rIns="0" bIns="0" rtlCol="0" anchor="ctr"/>
          <a:lstStyle/>
          <a:p>
            <a:pPr indent="0" marL="0">
              <a:buNone/>
            </a:pPr>
            <a:r>
              <a:rPr lang="en-US" sz="6600" b="1" dirty="0">
                <a:solidFill>
                  <a:schemeClr val="accent4"/>
                </a:solidFill>
              </a:rPr>
              <a:t>$3.1bn</a:t>
            </a:r>
            <a:endParaRPr lang="en-US" sz="6600" dirty="0"/>
          </a:p>
        </p:txBody>
      </p:sp>
      <p:sp>
        <p:nvSpPr>
          <p:cNvPr id="21" name="Text 18"/>
          <p:cNvSpPr txBox="1"/>
          <p:nvPr/>
        </p:nvSpPr>
        <p:spPr>
          <a:xfrm>
            <a:off x="822960" y="4206240"/>
            <a:ext cx="4297680" cy="320040"/>
          </a:xfrm>
          <a:prstGeom prst="rect">
            <a:avLst/>
          </a:prstGeom>
          <a:noFill/>
          <a:ln/>
        </p:spPr>
        <p:txBody>
          <a:bodyPr wrap="square" lIns="0" tIns="0" rIns="0" bIns="0" rtlCol="0" anchor="ctr"/>
          <a:lstStyle/>
          <a:p>
            <a:pPr indent="0" marL="0">
              <a:buNone/>
            </a:pPr>
            <a:r>
              <a:rPr lang="en-US" sz="1600" dirty="0">
                <a:solidFill>
                  <a:schemeClr val="tx1"/>
                </a:solidFill>
              </a:rPr>
              <a:t>of $42bn with public pension plans (7%)</a:t>
            </a:r>
            <a:endParaRPr lang="en-US" sz="1600" dirty="0"/>
          </a:p>
        </p:txBody>
      </p:sp>
      <p:sp>
        <p:nvSpPr>
          <p:cNvPr id="22" name="Shape 19"/>
          <p:cNvSpPr/>
          <p:nvPr/>
        </p:nvSpPr>
        <p:spPr>
          <a:xfrm>
            <a:off x="822960" y="4709160"/>
            <a:ext cx="4297680" cy="0"/>
          </a:xfrm>
          <a:prstGeom prst="line">
            <a:avLst/>
          </a:prstGeom>
          <a:noFill/>
          <a:ln w="9525">
            <a:solidFill>
              <a:schemeClr val="tx2">
                <a:alpha val="40000"/>
              </a:schemeClr>
            </a:solidFill>
            <a:prstDash val="solid"/>
          </a:ln>
        </p:spPr>
      </p:sp>
      <p:sp>
        <p:nvSpPr>
          <p:cNvPr id="23" name="Text 20"/>
          <p:cNvSpPr txBox="1"/>
          <p:nvPr/>
        </p:nvSpPr>
        <p:spPr>
          <a:xfrm>
            <a:off x="822960" y="4846320"/>
            <a:ext cx="4297680" cy="868680"/>
          </a:xfrm>
          <a:prstGeom prst="rect">
            <a:avLst/>
          </a:prstGeom>
          <a:noFill/>
          <a:ln/>
        </p:spPr>
        <p:txBody>
          <a:bodyPr wrap="square" lIns="0" tIns="0" rIns="0" bIns="0" rtlCol="0" anchor="t"/>
          <a:lstStyle/>
          <a:p>
            <a:pPr indent="0" marL="0">
              <a:buNone/>
            </a:pPr>
            <a:r>
              <a:rPr lang="en-US" sz="1400" b="1" dirty="0">
                <a:solidFill>
                  <a:schemeClr val="tx1"/>
                </a:solidFill>
              </a:rPr>
              <a:t>State Teachers’ Pension: $1.2bn</a:t>
            </a:r>
            <a:endParaRPr lang="en-US" sz="1400" dirty="0"/>
          </a:p>
          <a:p>
            <a:pPr indent="0" marL="0">
              <a:buNone/>
            </a:pPr>
            <a:r>
              <a:rPr lang="en-US" sz="1400" dirty="0">
                <a:solidFill>
                  <a:schemeClr val="tx2"/>
                </a:solidFill>
              </a:rPr>
              <a:t>Reason: consultant rating change</a:t>
            </a:r>
            <a:endParaRPr lang="en-US" sz="1400" dirty="0"/>
          </a:p>
        </p:txBody>
      </p:sp>
      <p:sp>
        <p:nvSpPr>
          <p:cNvPr id="24" name="Text 21"/>
          <p:cNvSpPr txBox="1"/>
          <p:nvPr/>
        </p:nvSpPr>
        <p:spPr>
          <a:xfrm>
            <a:off x="822960" y="5623560"/>
            <a:ext cx="4297680" cy="228600"/>
          </a:xfrm>
          <a:prstGeom prst="rect">
            <a:avLst/>
          </a:prstGeom>
          <a:noFill/>
          <a:ln/>
        </p:spPr>
        <p:txBody>
          <a:bodyPr wrap="square" lIns="0" tIns="0" rIns="0" bIns="0" rtlCol="0" anchor="t"/>
          <a:lstStyle/>
          <a:p>
            <a:pPr indent="0" marL="0">
              <a:buNone/>
            </a:pPr>
            <a:r>
              <a:rPr lang="en-US" sz="1000" i="1" dirty="0">
                <a:solidFill>
                  <a:schemeClr val="tx2"/>
                </a:solidFill>
              </a:rPr>
              <a:t>Illustrative figures</a:t>
            </a:r>
            <a:endParaRPr lang="en-US" sz="1000" dirty="0"/>
          </a:p>
        </p:txBody>
      </p:sp>
      <p:sp>
        <p:nvSpPr>
          <p:cNvPr id="25" name="Text 22"/>
          <p:cNvSpPr txBox="1"/>
          <p:nvPr/>
        </p:nvSpPr>
        <p:spPr>
          <a:xfrm>
            <a:off x="5760720" y="2651760"/>
            <a:ext cx="5879592" cy="228600"/>
          </a:xfrm>
          <a:prstGeom prst="rect">
            <a:avLst/>
          </a:prstGeom>
          <a:noFill/>
          <a:ln/>
        </p:spPr>
        <p:txBody>
          <a:bodyPr wrap="square" lIns="0" tIns="0" rIns="0" bIns="0" rtlCol="0" anchor="t"/>
          <a:lstStyle/>
          <a:p>
            <a:pPr indent="0" marL="0">
              <a:buNone/>
            </a:pPr>
            <a:r>
              <a:rPr lang="en-US" sz="1000" b="1" spc="100" kern="0" dirty="0">
                <a:solidFill>
                  <a:schemeClr val="tx2"/>
                </a:solidFill>
              </a:rPr>
              <a:t>WHY THE NUMBER CAN BE USED</a:t>
            </a:r>
            <a:endParaRPr lang="en-US" sz="1000" dirty="0"/>
          </a:p>
        </p:txBody>
      </p:sp>
      <p:sp>
        <p:nvSpPr>
          <p:cNvPr id="26" name="Shape 23"/>
          <p:cNvSpPr/>
          <p:nvPr/>
        </p:nvSpPr>
        <p:spPr>
          <a:xfrm>
            <a:off x="5760720" y="3017520"/>
            <a:ext cx="420624" cy="420624"/>
          </a:xfrm>
          <a:prstGeom prst="ellipse">
            <a:avLst/>
          </a:prstGeom>
          <a:solidFill>
            <a:schemeClr val="accent1"/>
          </a:solidFill>
          <a:ln/>
        </p:spPr>
      </p:sp>
      <p:sp>
        <p:nvSpPr>
          <p:cNvPr id="27" name="Text 24"/>
          <p:cNvSpPr txBox="1"/>
          <p:nvPr/>
        </p:nvSpPr>
        <p:spPr>
          <a:xfrm>
            <a:off x="5760720" y="3017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8" name="Text 25"/>
          <p:cNvSpPr txBox="1"/>
          <p:nvPr/>
        </p:nvSpPr>
        <p:spPr>
          <a:xfrm>
            <a:off x="6355080" y="2999232"/>
            <a:ext cx="5285232" cy="365760"/>
          </a:xfrm>
          <a:prstGeom prst="rect">
            <a:avLst/>
          </a:prstGeom>
          <a:noFill/>
          <a:ln/>
        </p:spPr>
        <p:txBody>
          <a:bodyPr wrap="square" lIns="0" tIns="0" rIns="0" bIns="0" rtlCol="0" anchor="ctr"/>
          <a:lstStyle/>
          <a:p>
            <a:pPr indent="0" marL="0">
              <a:buNone/>
            </a:pPr>
            <a:r>
              <a:rPr lang="en-US" sz="1600" b="1" dirty="0">
                <a:solidFill>
                  <a:schemeClr val="tx1"/>
                </a:solidFill>
              </a:rPr>
              <a:t>It shows both of its dates</a:t>
            </a:r>
            <a:endParaRPr lang="en-US" sz="1600" dirty="0"/>
          </a:p>
        </p:txBody>
      </p:sp>
      <p:sp>
        <p:nvSpPr>
          <p:cNvPr id="29" name="Text 26"/>
          <p:cNvSpPr txBox="1"/>
          <p:nvPr/>
        </p:nvSpPr>
        <p:spPr>
          <a:xfrm>
            <a:off x="6355080" y="3383280"/>
            <a:ext cx="5285232" cy="548640"/>
          </a:xfrm>
          <a:prstGeom prst="rect">
            <a:avLst/>
          </a:prstGeom>
          <a:noFill/>
          <a:ln/>
        </p:spPr>
        <p:txBody>
          <a:bodyPr wrap="square" lIns="0" tIns="0" rIns="0" bIns="0" rtlCol="0" anchor="t"/>
          <a:lstStyle/>
          <a:p>
            <a:pPr indent="0" marL="0">
              <a:buNone/>
            </a:pPr>
            <a:r>
              <a:rPr lang="en-US" sz="1400" dirty="0">
                <a:solidFill>
                  <a:schemeClr val="tx2"/>
                </a:solidFill>
              </a:rPr>
              <a:t>AUM as of the last locked month-end. The flag as of the last weekly health run.</a:t>
            </a:r>
            <a:endParaRPr lang="en-US" sz="1400" dirty="0"/>
          </a:p>
        </p:txBody>
      </p:sp>
      <p:sp>
        <p:nvSpPr>
          <p:cNvPr id="30" name="Shape 27"/>
          <p:cNvSpPr/>
          <p:nvPr/>
        </p:nvSpPr>
        <p:spPr>
          <a:xfrm>
            <a:off x="5760720" y="4160520"/>
            <a:ext cx="420624" cy="420624"/>
          </a:xfrm>
          <a:prstGeom prst="ellipse">
            <a:avLst/>
          </a:prstGeom>
          <a:solidFill>
            <a:schemeClr val="accent1"/>
          </a:solidFill>
          <a:ln/>
        </p:spPr>
      </p:sp>
      <p:sp>
        <p:nvSpPr>
          <p:cNvPr id="31" name="Text 28"/>
          <p:cNvSpPr txBox="1"/>
          <p:nvPr/>
        </p:nvSpPr>
        <p:spPr>
          <a:xfrm>
            <a:off x="5760720" y="4160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2" name="Text 29"/>
          <p:cNvSpPr txBox="1"/>
          <p:nvPr/>
        </p:nvSpPr>
        <p:spPr>
          <a:xfrm>
            <a:off x="6355080" y="4142232"/>
            <a:ext cx="5285232" cy="365760"/>
          </a:xfrm>
          <a:prstGeom prst="rect">
            <a:avLst/>
          </a:prstGeom>
          <a:noFill/>
          <a:ln/>
        </p:spPr>
        <p:txBody>
          <a:bodyPr wrap="square" lIns="0" tIns="0" rIns="0" bIns="0" rtlCol="0" anchor="ctr"/>
          <a:lstStyle/>
          <a:p>
            <a:pPr indent="0" marL="0">
              <a:buNone/>
            </a:pPr>
            <a:r>
              <a:rPr lang="en-US" sz="1600" b="1" dirty="0">
                <a:solidFill>
                  <a:schemeClr val="tx1"/>
                </a:solidFill>
              </a:rPr>
              <a:t>Anyone can follow it back</a:t>
            </a:r>
            <a:endParaRPr lang="en-US" sz="1600" dirty="0"/>
          </a:p>
        </p:txBody>
      </p:sp>
      <p:sp>
        <p:nvSpPr>
          <p:cNvPr id="33" name="Shape 30"/>
          <p:cNvSpPr/>
          <p:nvPr/>
        </p:nvSpPr>
        <p:spPr>
          <a:xfrm>
            <a:off x="6355080" y="4645152"/>
            <a:ext cx="1078992" cy="438912"/>
          </a:xfrm>
          <a:prstGeom prst="roundRect">
            <a:avLst>
              <a:gd name="adj" fmla="val 16667"/>
            </a:avLst>
          </a:prstGeom>
          <a:solidFill>
            <a:schemeClr val="accent1"/>
          </a:solidFill>
          <a:ln/>
        </p:spPr>
      </p:sp>
      <p:sp>
        <p:nvSpPr>
          <p:cNvPr id="34" name="Text 31"/>
          <p:cNvSpPr txBox="1"/>
          <p:nvPr/>
        </p:nvSpPr>
        <p:spPr>
          <a:xfrm>
            <a:off x="6355080" y="4645152"/>
            <a:ext cx="1078992" cy="438912"/>
          </a:xfrm>
          <a:prstGeom prst="rect">
            <a:avLst/>
          </a:prstGeom>
          <a:noFill/>
          <a:ln/>
        </p:spPr>
        <p:txBody>
          <a:bodyPr wrap="square" lIns="0" tIns="0" rIns="0" bIns="0" rtlCol="0" anchor="ctr"/>
          <a:lstStyle/>
          <a:p>
            <a:pPr algn="ctr" indent="0" marL="0">
              <a:buNone/>
            </a:pPr>
            <a:r>
              <a:rPr lang="en-US" sz="1400" b="1" dirty="0">
                <a:solidFill>
                  <a:schemeClr val="bg1"/>
                </a:solidFill>
              </a:rPr>
              <a:t>Metric</a:t>
            </a:r>
            <a:endParaRPr lang="en-US" sz="1400" dirty="0"/>
          </a:p>
        </p:txBody>
      </p:sp>
      <p:sp>
        <p:nvSpPr>
          <p:cNvPr id="35" name="Shape 32"/>
          <p:cNvSpPr/>
          <p:nvPr/>
        </p:nvSpPr>
        <p:spPr>
          <a:xfrm>
            <a:off x="7470648" y="4864608"/>
            <a:ext cx="249936" cy="0"/>
          </a:xfrm>
          <a:prstGeom prst="line">
            <a:avLst/>
          </a:prstGeom>
          <a:noFill/>
          <a:ln w="22225">
            <a:solidFill>
              <a:schemeClr val="accent1"/>
            </a:solidFill>
            <a:prstDash val="solid"/>
            <a:tailEnd type="triangle"/>
          </a:ln>
        </p:spPr>
      </p:sp>
      <p:sp>
        <p:nvSpPr>
          <p:cNvPr id="36" name="Shape 33"/>
          <p:cNvSpPr/>
          <p:nvPr/>
        </p:nvSpPr>
        <p:spPr>
          <a:xfrm>
            <a:off x="7757160" y="4645152"/>
            <a:ext cx="1078992" cy="438912"/>
          </a:xfrm>
          <a:prstGeom prst="roundRect">
            <a:avLst>
              <a:gd name="adj" fmla="val 16667"/>
            </a:avLst>
          </a:prstGeom>
          <a:solidFill>
            <a:schemeClr val="accent1"/>
          </a:solidFill>
          <a:ln/>
        </p:spPr>
      </p:sp>
      <p:sp>
        <p:nvSpPr>
          <p:cNvPr id="37" name="Text 34"/>
          <p:cNvSpPr txBox="1"/>
          <p:nvPr/>
        </p:nvSpPr>
        <p:spPr>
          <a:xfrm>
            <a:off x="7757160" y="4645152"/>
            <a:ext cx="1078992" cy="438912"/>
          </a:xfrm>
          <a:prstGeom prst="rect">
            <a:avLst/>
          </a:prstGeom>
          <a:noFill/>
          <a:ln/>
        </p:spPr>
        <p:txBody>
          <a:bodyPr wrap="square" lIns="0" tIns="0" rIns="0" bIns="0" rtlCol="0" anchor="ctr"/>
          <a:lstStyle/>
          <a:p>
            <a:pPr algn="ctr" indent="0" marL="0">
              <a:buNone/>
            </a:pPr>
            <a:r>
              <a:rPr lang="en-US" sz="1400" b="1" dirty="0">
                <a:solidFill>
                  <a:schemeClr val="bg1"/>
                </a:solidFill>
              </a:rPr>
              <a:t>Product</a:t>
            </a:r>
            <a:endParaRPr lang="en-US" sz="1400" dirty="0"/>
          </a:p>
        </p:txBody>
      </p:sp>
      <p:sp>
        <p:nvSpPr>
          <p:cNvPr id="38" name="Shape 35"/>
          <p:cNvSpPr/>
          <p:nvPr/>
        </p:nvSpPr>
        <p:spPr>
          <a:xfrm>
            <a:off x="8872728" y="4864608"/>
            <a:ext cx="249936" cy="0"/>
          </a:xfrm>
          <a:prstGeom prst="line">
            <a:avLst/>
          </a:prstGeom>
          <a:noFill/>
          <a:ln w="22225">
            <a:solidFill>
              <a:schemeClr val="accent1"/>
            </a:solidFill>
            <a:prstDash val="solid"/>
            <a:tailEnd type="triangle"/>
          </a:ln>
        </p:spPr>
      </p:sp>
      <p:sp>
        <p:nvSpPr>
          <p:cNvPr id="39" name="Shape 36"/>
          <p:cNvSpPr/>
          <p:nvPr/>
        </p:nvSpPr>
        <p:spPr>
          <a:xfrm>
            <a:off x="9159240" y="4645152"/>
            <a:ext cx="1078992" cy="438912"/>
          </a:xfrm>
          <a:prstGeom prst="roundRect">
            <a:avLst>
              <a:gd name="adj" fmla="val 16667"/>
            </a:avLst>
          </a:prstGeom>
          <a:solidFill>
            <a:schemeClr val="accent1"/>
          </a:solidFill>
          <a:ln/>
        </p:spPr>
      </p:sp>
      <p:sp>
        <p:nvSpPr>
          <p:cNvPr id="40" name="Text 37"/>
          <p:cNvSpPr txBox="1"/>
          <p:nvPr/>
        </p:nvSpPr>
        <p:spPr>
          <a:xfrm>
            <a:off x="9159240" y="4645152"/>
            <a:ext cx="1078992" cy="438912"/>
          </a:xfrm>
          <a:prstGeom prst="rect">
            <a:avLst/>
          </a:prstGeom>
          <a:noFill/>
          <a:ln/>
        </p:spPr>
        <p:txBody>
          <a:bodyPr wrap="square" lIns="0" tIns="0" rIns="0" bIns="0" rtlCol="0" anchor="ctr"/>
          <a:lstStyle/>
          <a:p>
            <a:pPr algn="ctr" indent="0" marL="0">
              <a:buNone/>
            </a:pPr>
            <a:r>
              <a:rPr lang="en-US" sz="1400" b="1" dirty="0">
                <a:solidFill>
                  <a:schemeClr val="bg1"/>
                </a:solidFill>
              </a:rPr>
              <a:t>Definition</a:t>
            </a:r>
            <a:endParaRPr lang="en-US" sz="1400" dirty="0"/>
          </a:p>
        </p:txBody>
      </p:sp>
      <p:sp>
        <p:nvSpPr>
          <p:cNvPr id="41" name="Shape 38"/>
          <p:cNvSpPr/>
          <p:nvPr/>
        </p:nvSpPr>
        <p:spPr>
          <a:xfrm>
            <a:off x="10274808" y="4864608"/>
            <a:ext cx="249936" cy="0"/>
          </a:xfrm>
          <a:prstGeom prst="line">
            <a:avLst/>
          </a:prstGeom>
          <a:noFill/>
          <a:ln w="22225">
            <a:solidFill>
              <a:schemeClr val="accent1"/>
            </a:solidFill>
            <a:prstDash val="solid"/>
            <a:tailEnd type="triangle"/>
          </a:ln>
        </p:spPr>
      </p:sp>
      <p:sp>
        <p:nvSpPr>
          <p:cNvPr id="42" name="Shape 39"/>
          <p:cNvSpPr/>
          <p:nvPr/>
        </p:nvSpPr>
        <p:spPr>
          <a:xfrm>
            <a:off x="10561320" y="4645152"/>
            <a:ext cx="1078992" cy="438912"/>
          </a:xfrm>
          <a:prstGeom prst="roundRect">
            <a:avLst>
              <a:gd name="adj" fmla="val 16667"/>
            </a:avLst>
          </a:prstGeom>
          <a:solidFill>
            <a:schemeClr val="accent1"/>
          </a:solidFill>
          <a:ln/>
        </p:spPr>
      </p:sp>
      <p:sp>
        <p:nvSpPr>
          <p:cNvPr id="43" name="Text 40"/>
          <p:cNvSpPr txBox="1"/>
          <p:nvPr/>
        </p:nvSpPr>
        <p:spPr>
          <a:xfrm>
            <a:off x="10561320" y="4645152"/>
            <a:ext cx="1078992" cy="438912"/>
          </a:xfrm>
          <a:prstGeom prst="rect">
            <a:avLst/>
          </a:prstGeom>
          <a:noFill/>
          <a:ln/>
        </p:spPr>
        <p:txBody>
          <a:bodyPr wrap="square" lIns="0" tIns="0" rIns="0" bIns="0" rtlCol="0" anchor="ctr"/>
          <a:lstStyle/>
          <a:p>
            <a:pPr algn="ctr" indent="0" marL="0">
              <a:buNone/>
            </a:pPr>
            <a:r>
              <a:rPr lang="en-US" sz="1400" b="1" dirty="0">
                <a:solidFill>
                  <a:schemeClr val="bg1"/>
                </a:solidFill>
              </a:rPr>
              <a:t>Owner</a:t>
            </a:r>
            <a:endParaRPr lang="en-US" sz="1400" dirty="0"/>
          </a:p>
        </p:txBody>
      </p:sp>
      <p:sp>
        <p:nvSpPr>
          <p:cNvPr id="44" name="Text 41"/>
          <p:cNvSpPr txBox="1"/>
          <p:nvPr/>
        </p:nvSpPr>
        <p:spPr>
          <a:xfrm>
            <a:off x="6355080" y="5257800"/>
            <a:ext cx="5285232" cy="548640"/>
          </a:xfrm>
          <a:prstGeom prst="rect">
            <a:avLst/>
          </a:prstGeom>
          <a:noFill/>
          <a:ln/>
        </p:spPr>
        <p:txBody>
          <a:bodyPr wrap="square" lIns="0" tIns="0" rIns="0" bIns="0" rtlCol="0" anchor="t"/>
          <a:lstStyle/>
          <a:p>
            <a:pPr indent="0" marL="0">
              <a:buNone/>
            </a:pPr>
            <a:r>
              <a:rPr lang="en-US" sz="1400" dirty="0">
                <a:solidFill>
                  <a:schemeClr val="tx2"/>
                </a:solidFill>
              </a:rPr>
              <a:t>The same metric answers the dashboard and a plain-English question to an AI assistant.</a:t>
            </a:r>
            <a:endParaRPr lang="en-US" sz="14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bg1"/>
                </a:solidFill>
              </a:rPr>
              <a:t>What we can’t answer becomes a named gap</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CLOSING THE LOOP</a:t>
            </a:r>
            <a:endParaRPr lang="en-US" sz="1200" dirty="0"/>
          </a:p>
        </p:txBody>
      </p:sp>
      <p:sp>
        <p:nvSpPr>
          <p:cNvPr id="5" name="Text 2"/>
          <p:cNvSpPr txBox="1"/>
          <p:nvPr/>
        </p:nvSpPr>
        <p:spPr>
          <a:xfrm>
            <a:off x="548640" y="1783080"/>
            <a:ext cx="11091672" cy="274320"/>
          </a:xfrm>
          <a:prstGeom prst="rect">
            <a:avLst/>
          </a:prstGeom>
          <a:noFill/>
          <a:ln/>
        </p:spPr>
        <p:txBody>
          <a:bodyPr wrap="square" lIns="0" tIns="0" rIns="0" bIns="0" rtlCol="0" anchor="t"/>
          <a:lstStyle/>
          <a:p>
            <a:pPr indent="0" marL="0">
              <a:buNone/>
            </a:pPr>
            <a:r>
              <a:rPr lang="en-US" sz="1200" dirty="0">
                <a:solidFill>
                  <a:schemeClr val="accent6"/>
                </a:solidFill>
              </a:rPr>
              <a:t>The natural next question</a:t>
            </a:r>
            <a:endParaRPr lang="en-US" sz="1200" dirty="0"/>
          </a:p>
        </p:txBody>
      </p:sp>
      <p:sp>
        <p:nvSpPr>
          <p:cNvPr id="6" name="Text 3"/>
          <p:cNvSpPr txBox="1"/>
          <p:nvPr/>
        </p:nvSpPr>
        <p:spPr>
          <a:xfrm>
            <a:off x="548640" y="2084832"/>
            <a:ext cx="11091672" cy="548640"/>
          </a:xfrm>
          <a:prstGeom prst="rect">
            <a:avLst/>
          </a:prstGeom>
          <a:noFill/>
          <a:ln/>
        </p:spPr>
        <p:txBody>
          <a:bodyPr wrap="square" lIns="0" tIns="0" rIns="0" bIns="0" rtlCol="0" anchor="ctr"/>
          <a:lstStyle/>
          <a:p>
            <a:pPr indent="0" marL="0">
              <a:buNone/>
            </a:pPr>
            <a:r>
              <a:rPr lang="en-US" sz="2400" b="1" dirty="0">
                <a:solidFill>
                  <a:schemeClr val="bg1"/>
                </a:solidFill>
              </a:rPr>
              <a:t>“Which of State Teachers’ mandates is at risk, and how much is in it?”</a:t>
            </a:r>
            <a:endParaRPr lang="en-US" sz="2400" dirty="0"/>
          </a:p>
        </p:txBody>
      </p:sp>
      <p:sp>
        <p:nvSpPr>
          <p:cNvPr id="7" name="Text 4"/>
          <p:cNvSpPr txBox="1"/>
          <p:nvPr/>
        </p:nvSpPr>
        <p:spPr>
          <a:xfrm>
            <a:off x="548640" y="2724912"/>
            <a:ext cx="11091672" cy="365760"/>
          </a:xfrm>
          <a:prstGeom prst="rect">
            <a:avLst/>
          </a:prstGeom>
          <a:noFill/>
          <a:ln/>
        </p:spPr>
        <p:txBody>
          <a:bodyPr wrap="square" lIns="0" tIns="0" rIns="0" bIns="0" rtlCol="0" anchor="ctr"/>
          <a:lstStyle/>
          <a:p>
            <a:pPr indent="0" marL="0">
              <a:buNone/>
            </a:pPr>
            <a:r>
              <a:rPr lang="en-US" sz="1600" dirty="0">
                <a:solidFill>
                  <a:schemeClr val="accent6"/>
                </a:solidFill>
              </a:rPr>
              <a:t>Today we cannot answer it: certified AUM is not held by mandate.</a:t>
            </a:r>
            <a:endParaRPr lang="en-US" sz="1600" dirty="0"/>
          </a:p>
        </p:txBody>
      </p:sp>
      <p:sp>
        <p:nvSpPr>
          <p:cNvPr id="8" name="Shape 5"/>
          <p:cNvSpPr/>
          <p:nvPr/>
        </p:nvSpPr>
        <p:spPr>
          <a:xfrm>
            <a:off x="548640" y="3429000"/>
            <a:ext cx="3429000" cy="1600200"/>
          </a:xfrm>
          <a:prstGeom prst="roundRect">
            <a:avLst>
              <a:gd name="adj" fmla="val 4571"/>
            </a:avLst>
          </a:prstGeom>
          <a:solidFill>
            <a:schemeClr val="bg1">
              <a:alpha val="10000"/>
            </a:schemeClr>
          </a:solidFill>
          <a:ln w="12700">
            <a:solidFill>
              <a:schemeClr val="accent6"/>
            </a:solidFill>
            <a:prstDash val="solid"/>
          </a:ln>
        </p:spPr>
      </p:sp>
      <p:sp>
        <p:nvSpPr>
          <p:cNvPr id="9" name="Shape 6"/>
          <p:cNvSpPr/>
          <p:nvPr/>
        </p:nvSpPr>
        <p:spPr>
          <a:xfrm>
            <a:off x="777240" y="3611880"/>
            <a:ext cx="420624" cy="420624"/>
          </a:xfrm>
          <a:prstGeom prst="ellipse">
            <a:avLst/>
          </a:prstGeom>
          <a:solidFill>
            <a:schemeClr val="accent1"/>
          </a:solidFill>
          <a:ln/>
        </p:spPr>
      </p:sp>
      <p:sp>
        <p:nvSpPr>
          <p:cNvPr id="10" name="Text 7"/>
          <p:cNvSpPr txBox="1"/>
          <p:nvPr/>
        </p:nvSpPr>
        <p:spPr>
          <a:xfrm>
            <a:off x="777240" y="36118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Text 8"/>
          <p:cNvSpPr txBox="1"/>
          <p:nvPr/>
        </p:nvSpPr>
        <p:spPr>
          <a:xfrm>
            <a:off x="1371600" y="3611880"/>
            <a:ext cx="2423160" cy="420624"/>
          </a:xfrm>
          <a:prstGeom prst="rect">
            <a:avLst/>
          </a:prstGeom>
          <a:noFill/>
          <a:ln/>
        </p:spPr>
        <p:txBody>
          <a:bodyPr wrap="square" lIns="0" tIns="0" rIns="0" bIns="0" rtlCol="0" anchor="ctr"/>
          <a:lstStyle/>
          <a:p>
            <a:pPr indent="0" marL="0">
              <a:buNone/>
            </a:pPr>
            <a:r>
              <a:rPr lang="en-US" sz="1600" b="1" dirty="0">
                <a:solidFill>
                  <a:schemeClr val="bg1"/>
                </a:solidFill>
              </a:rPr>
              <a:t>Semantic model</a:t>
            </a:r>
            <a:endParaRPr lang="en-US" sz="1600" dirty="0"/>
          </a:p>
        </p:txBody>
      </p:sp>
      <p:sp>
        <p:nvSpPr>
          <p:cNvPr id="12" name="Text 9"/>
          <p:cNvSpPr txBox="1"/>
          <p:nvPr/>
        </p:nvSpPr>
        <p:spPr>
          <a:xfrm>
            <a:off x="777240" y="4160520"/>
            <a:ext cx="2971800" cy="777240"/>
          </a:xfrm>
          <a:prstGeom prst="rect">
            <a:avLst/>
          </a:prstGeom>
          <a:noFill/>
          <a:ln/>
        </p:spPr>
        <p:txBody>
          <a:bodyPr wrap="square" lIns="0" tIns="0" rIns="0" bIns="0" rtlCol="0" anchor="t"/>
          <a:lstStyle/>
          <a:p>
            <a:pPr indent="0" marL="0">
              <a:buNone/>
            </a:pPr>
            <a:r>
              <a:rPr lang="en-US" sz="1400" dirty="0">
                <a:solidFill>
                  <a:schemeClr val="bg1"/>
                </a:solidFill>
              </a:rPr>
              <a:t>SM-04 lists it under questions it cannot answer yet.</a:t>
            </a:r>
            <a:endParaRPr lang="en-US" sz="1400" dirty="0"/>
          </a:p>
        </p:txBody>
      </p:sp>
      <p:sp>
        <p:nvSpPr>
          <p:cNvPr id="13" name="Shape 10"/>
          <p:cNvSpPr/>
          <p:nvPr/>
        </p:nvSpPr>
        <p:spPr>
          <a:xfrm>
            <a:off x="4050792" y="4224528"/>
            <a:ext cx="256032" cy="0"/>
          </a:xfrm>
          <a:prstGeom prst="line">
            <a:avLst/>
          </a:prstGeom>
          <a:noFill/>
          <a:ln w="22225">
            <a:solidFill>
              <a:schemeClr val="accent6"/>
            </a:solidFill>
            <a:prstDash val="solid"/>
            <a:tailEnd type="triangle"/>
          </a:ln>
        </p:spPr>
      </p:sp>
      <p:sp>
        <p:nvSpPr>
          <p:cNvPr id="14" name="Shape 11"/>
          <p:cNvSpPr/>
          <p:nvPr/>
        </p:nvSpPr>
        <p:spPr>
          <a:xfrm>
            <a:off x="4379976" y="3429000"/>
            <a:ext cx="3429000" cy="1600200"/>
          </a:xfrm>
          <a:prstGeom prst="roundRect">
            <a:avLst>
              <a:gd name="adj" fmla="val 4571"/>
            </a:avLst>
          </a:prstGeom>
          <a:solidFill>
            <a:schemeClr val="bg1">
              <a:alpha val="10000"/>
            </a:schemeClr>
          </a:solidFill>
          <a:ln w="12700">
            <a:solidFill>
              <a:schemeClr val="accent6"/>
            </a:solidFill>
            <a:prstDash val="solid"/>
          </a:ln>
        </p:spPr>
      </p:sp>
      <p:sp>
        <p:nvSpPr>
          <p:cNvPr id="15" name="Shape 12"/>
          <p:cNvSpPr/>
          <p:nvPr/>
        </p:nvSpPr>
        <p:spPr>
          <a:xfrm>
            <a:off x="4608576" y="3611880"/>
            <a:ext cx="420624" cy="420624"/>
          </a:xfrm>
          <a:prstGeom prst="ellipse">
            <a:avLst/>
          </a:prstGeom>
          <a:solidFill>
            <a:schemeClr val="accent1"/>
          </a:solidFill>
          <a:ln/>
        </p:spPr>
      </p:sp>
      <p:sp>
        <p:nvSpPr>
          <p:cNvPr id="16" name="Text 13"/>
          <p:cNvSpPr txBox="1"/>
          <p:nvPr/>
        </p:nvSpPr>
        <p:spPr>
          <a:xfrm>
            <a:off x="4608576" y="36118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Text 14"/>
          <p:cNvSpPr txBox="1"/>
          <p:nvPr/>
        </p:nvSpPr>
        <p:spPr>
          <a:xfrm>
            <a:off x="5202936" y="3611880"/>
            <a:ext cx="2423160" cy="420624"/>
          </a:xfrm>
          <a:prstGeom prst="rect">
            <a:avLst/>
          </a:prstGeom>
          <a:noFill/>
          <a:ln/>
        </p:spPr>
        <p:txBody>
          <a:bodyPr wrap="square" lIns="0" tIns="0" rIns="0" bIns="0" rtlCol="0" anchor="ctr"/>
          <a:lstStyle/>
          <a:p>
            <a:pPr indent="0" marL="0">
              <a:buNone/>
            </a:pPr>
            <a:r>
              <a:rPr lang="en-US" sz="1600" b="1" dirty="0">
                <a:solidFill>
                  <a:schemeClr val="bg1"/>
                </a:solidFill>
              </a:rPr>
              <a:t>Gap register</a:t>
            </a:r>
            <a:endParaRPr lang="en-US" sz="1600" dirty="0"/>
          </a:p>
        </p:txBody>
      </p:sp>
      <p:sp>
        <p:nvSpPr>
          <p:cNvPr id="18" name="Text 15"/>
          <p:cNvSpPr txBox="1"/>
          <p:nvPr/>
        </p:nvSpPr>
        <p:spPr>
          <a:xfrm>
            <a:off x="4608576" y="4160520"/>
            <a:ext cx="2971800" cy="777240"/>
          </a:xfrm>
          <a:prstGeom prst="rect">
            <a:avLst/>
          </a:prstGeom>
          <a:noFill/>
          <a:ln/>
        </p:spPr>
        <p:txBody>
          <a:bodyPr wrap="square" lIns="0" tIns="0" rIns="0" bIns="0" rtlCol="0" anchor="t"/>
          <a:lstStyle/>
          <a:p>
            <a:pPr indent="0" marL="0">
              <a:buNone/>
            </a:pPr>
            <a:r>
              <a:rPr lang="en-US" sz="1400" dirty="0">
                <a:solidFill>
                  <a:schemeClr val="bg1"/>
                </a:solidFill>
              </a:rPr>
              <a:t>Recorded as GAP-06-011, priority Medium, status Proposed.</a:t>
            </a:r>
            <a:endParaRPr lang="en-US" sz="1400" dirty="0"/>
          </a:p>
        </p:txBody>
      </p:sp>
      <p:sp>
        <p:nvSpPr>
          <p:cNvPr id="19" name="Shape 16"/>
          <p:cNvSpPr/>
          <p:nvPr/>
        </p:nvSpPr>
        <p:spPr>
          <a:xfrm>
            <a:off x="7882128" y="4224528"/>
            <a:ext cx="256032" cy="0"/>
          </a:xfrm>
          <a:prstGeom prst="line">
            <a:avLst/>
          </a:prstGeom>
          <a:noFill/>
          <a:ln w="22225">
            <a:solidFill>
              <a:schemeClr val="accent6"/>
            </a:solidFill>
            <a:prstDash val="solid"/>
            <a:tailEnd type="triangle"/>
          </a:ln>
        </p:spPr>
      </p:sp>
      <p:sp>
        <p:nvSpPr>
          <p:cNvPr id="20" name="Shape 17"/>
          <p:cNvSpPr/>
          <p:nvPr/>
        </p:nvSpPr>
        <p:spPr>
          <a:xfrm>
            <a:off x="8211312" y="3429000"/>
            <a:ext cx="3429000" cy="1600200"/>
          </a:xfrm>
          <a:prstGeom prst="roundRect">
            <a:avLst>
              <a:gd name="adj" fmla="val 4571"/>
            </a:avLst>
          </a:prstGeom>
          <a:solidFill>
            <a:schemeClr val="bg1">
              <a:alpha val="10000"/>
            </a:schemeClr>
          </a:solidFill>
          <a:ln w="12700">
            <a:solidFill>
              <a:schemeClr val="accent6"/>
            </a:solidFill>
            <a:prstDash val="solid"/>
          </a:ln>
        </p:spPr>
      </p:sp>
      <p:sp>
        <p:nvSpPr>
          <p:cNvPr id="21" name="Shape 18"/>
          <p:cNvSpPr/>
          <p:nvPr/>
        </p:nvSpPr>
        <p:spPr>
          <a:xfrm>
            <a:off x="8439912" y="3611880"/>
            <a:ext cx="420624" cy="420624"/>
          </a:xfrm>
          <a:prstGeom prst="ellipse">
            <a:avLst/>
          </a:prstGeom>
          <a:solidFill>
            <a:schemeClr val="accent1"/>
          </a:solidFill>
          <a:ln/>
        </p:spPr>
      </p:sp>
      <p:sp>
        <p:nvSpPr>
          <p:cNvPr id="22" name="Text 19"/>
          <p:cNvSpPr txBox="1"/>
          <p:nvPr/>
        </p:nvSpPr>
        <p:spPr>
          <a:xfrm>
            <a:off x="8439912" y="36118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3" name="Text 20"/>
          <p:cNvSpPr txBox="1"/>
          <p:nvPr/>
        </p:nvSpPr>
        <p:spPr>
          <a:xfrm>
            <a:off x="9034272" y="3611880"/>
            <a:ext cx="2423160" cy="420624"/>
          </a:xfrm>
          <a:prstGeom prst="rect">
            <a:avLst/>
          </a:prstGeom>
          <a:noFill/>
          <a:ln/>
        </p:spPr>
        <p:txBody>
          <a:bodyPr wrap="square" lIns="0" tIns="0" rIns="0" bIns="0" rtlCol="0" anchor="ctr"/>
          <a:lstStyle/>
          <a:p>
            <a:pPr indent="0" marL="0">
              <a:buNone/>
            </a:pPr>
            <a:r>
              <a:rPr lang="en-US" sz="1600" b="1" dirty="0">
                <a:solidFill>
                  <a:schemeClr val="bg1"/>
                </a:solidFill>
              </a:rPr>
              <a:t>Taxonomy change</a:t>
            </a:r>
            <a:endParaRPr lang="en-US" sz="1600" dirty="0"/>
          </a:p>
        </p:txBody>
      </p:sp>
      <p:sp>
        <p:nvSpPr>
          <p:cNvPr id="24" name="Text 21"/>
          <p:cNvSpPr txBox="1"/>
          <p:nvPr/>
        </p:nvSpPr>
        <p:spPr>
          <a:xfrm>
            <a:off x="8439912" y="4160520"/>
            <a:ext cx="2971800" cy="777240"/>
          </a:xfrm>
          <a:prstGeom prst="rect">
            <a:avLst/>
          </a:prstGeom>
          <a:noFill/>
          <a:ln/>
        </p:spPr>
        <p:txBody>
          <a:bodyPr wrap="square" lIns="0" tIns="0" rIns="0" bIns="0" rtlCol="0" anchor="t"/>
          <a:lstStyle/>
          <a:p>
            <a:pPr indent="0" marL="0">
              <a:buNone/>
            </a:pPr>
            <a:r>
              <a:rPr lang="en-US" sz="1400" dirty="0">
                <a:solidFill>
                  <a:schemeClr val="bg1"/>
                </a:solidFill>
              </a:rPr>
              <a:t>Add Mandate to Measure Value in Domain 06. Owner: Head of Distribution Data.</a:t>
            </a:r>
            <a:endParaRPr lang="en-US" sz="1400" dirty="0"/>
          </a:p>
        </p:txBody>
      </p:sp>
      <p:sp>
        <p:nvSpPr>
          <p:cNvPr id="25" name="Text 22"/>
          <p:cNvSpPr txBox="1"/>
          <p:nvPr/>
        </p:nvSpPr>
        <p:spPr>
          <a:xfrm>
            <a:off x="548640" y="5257800"/>
            <a:ext cx="11091672" cy="640080"/>
          </a:xfrm>
          <a:prstGeom prst="rect">
            <a:avLst/>
          </a:prstGeom>
          <a:noFill/>
          <a:ln/>
        </p:spPr>
        <p:txBody>
          <a:bodyPr wrap="square" lIns="0" tIns="0" rIns="0" bIns="0" rtlCol="0" anchor="ctr"/>
          <a:lstStyle/>
          <a:p>
            <a:pPr indent="0" marL="0">
              <a:buNone/>
            </a:pPr>
            <a:r>
              <a:rPr lang="en-US" sz="1800" b="1" dirty="0">
                <a:solidFill>
                  <a:schemeClr val="bg1"/>
                </a:solidFill>
              </a:rPr>
              <a:t>The reason becomes a named change to a named domain, not one team’s workaround.</a:t>
            </a:r>
            <a:endParaRPr lang="en-US" sz="18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the taxonomy does at each level</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651760"/>
                <a:gridCol w="4023360"/>
                <a:gridCol w="4416552"/>
              </a:tblGrid>
              <a:tr h="457200">
                <a:tc>
                  <a:txBody>
                    <a:bodyPr/>
                    <a:lstStyle/>
                    <a:p>
                      <a:pPr indent="0" marL="0">
                        <a:buNone/>
                      </a:pPr>
                      <a:r>
                        <a:rPr lang="en-US" sz="1400" b="1" dirty="0">
                          <a:solidFill>
                            <a:schemeClr val="bg1"/>
                          </a:solidFill>
                        </a:rPr>
                        <a:t>Level</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In our example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What the taxonomy does there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tx1"/>
                    </a:solidFill>
                  </a:tcPr>
                </a:tc>
              </a:tr>
              <a:tr h="731520">
                <a:tc>
                  <a:txBody>
                    <a:bodyPr/>
                    <a:lstStyle/>
                    <a:p>
                      <a:pPr indent="0" marL="0">
                        <a:buNone/>
                      </a:pPr>
                      <a:r>
                        <a:rPr lang="en-US" sz="1400" b="1" dirty="0">
                          <a:solidFill>
                            <a:schemeClr val="accent1"/>
                          </a:solidFill>
                        </a:rPr>
                        <a:t>1  Source systems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Transfer agent positions, CRM client record, service team health score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Mapping target: one meaning per field, one master per concept, source IDs kept</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r h="731520">
                <a:tc>
                  <a:txBody>
                    <a:bodyPr/>
                    <a:lstStyle/>
                    <a:p>
                      <a:pPr indent="0" marL="0">
                        <a:buNone/>
                      </a:pPr>
                      <a:r>
                        <a:rPr lang="en-US" sz="1400" b="1" dirty="0">
                          <a:solidFill>
                            <a:schemeClr val="accent1"/>
                          </a:solidFill>
                        </a:rPr>
                        <a:t>2  Foundational products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DP-003 client, DP-007 positions, DP-008 certified AUM</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Bill of materials: exact attributes used, validated at build</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r h="731520">
                <a:tc>
                  <a:txBody>
                    <a:bodyPr/>
                    <a:lstStyle/>
                    <a:p>
                      <a:pPr indent="0" marL="0">
                        <a:buNone/>
                      </a:pPr>
                      <a:r>
                        <a:rPr lang="en-US" sz="1400" b="1" dirty="0">
                          <a:solidFill>
                            <a:schemeClr val="accent1"/>
                          </a:solidFill>
                        </a:rPr>
                        <a:t>3  Consumer products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DP-042 At-Risk AUM, DP-092 Client 360</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Safe joins across domains: assemble, never redefine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r h="731520">
                <a:tc>
                  <a:txBody>
                    <a:bodyPr/>
                    <a:lstStyle/>
                    <a:p>
                      <a:pPr indent="0" marL="0">
                        <a:buNone/>
                      </a:pPr>
                      <a:r>
                        <a:rPr lang="en-US" sz="1400" b="1" dirty="0">
                          <a:solidFill>
                            <a:schemeClr val="accent1"/>
                          </a:solidFill>
                        </a:rPr>
                        <a:t>4  Semantic model</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SM-04 metric: At-Risk AUM</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Glossary: one name, one definition, traced to its source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r h="731520">
                <a:tc>
                  <a:txBody>
                    <a:bodyPr/>
                    <a:lstStyle/>
                    <a:p>
                      <a:pPr indent="0" marL="0">
                        <a:buNone/>
                      </a:pPr>
                      <a:r>
                        <a:rPr lang="en-US" sz="1400" b="1" dirty="0">
                          <a:solidFill>
                            <a:schemeClr val="accent1"/>
                          </a:solidFill>
                        </a:rPr>
                        <a:t>5  Analytical use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Dashboard or AI assistant, filtered to public pension plans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Traceability: questions that cannot be answered become registered gaps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Likely questions</a:t>
            </a:r>
            <a:endParaRPr lang="en-US" sz="3600" dirty="0"/>
          </a:p>
        </p:txBody>
      </p:sp>
      <p:sp>
        <p:nvSpPr>
          <p:cNvPr id="4" name="Text 1"/>
          <p:cNvSpPr txBox="1"/>
          <p:nvPr/>
        </p:nvSpPr>
        <p:spPr>
          <a:xfrm>
            <a:off x="548640" y="384048"/>
            <a:ext cx="54864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BACKUP</a:t>
            </a:r>
            <a:endParaRPr lang="en-US" sz="1200" dirty="0"/>
          </a:p>
        </p:txBody>
      </p:sp>
      <p:sp>
        <p:nvSpPr>
          <p:cNvPr id="5" name="Shape 2"/>
          <p:cNvSpPr/>
          <p:nvPr/>
        </p:nvSpPr>
        <p:spPr>
          <a:xfrm>
            <a:off x="548640" y="1783080"/>
            <a:ext cx="5408676" cy="1965960"/>
          </a:xfrm>
          <a:prstGeom prst="roundRect">
            <a:avLst>
              <a:gd name="adj" fmla="val 3721"/>
            </a:avLst>
          </a:prstGeom>
          <a:solidFill>
            <a:schemeClr val="bg2"/>
          </a:solidFill>
          <a:ln/>
        </p:spPr>
      </p:sp>
      <p:sp>
        <p:nvSpPr>
          <p:cNvPr id="6" name="Text 3"/>
          <p:cNvSpPr txBox="1"/>
          <p:nvPr/>
        </p:nvSpPr>
        <p:spPr>
          <a:xfrm>
            <a:off x="822960" y="1965960"/>
            <a:ext cx="4860036" cy="594360"/>
          </a:xfrm>
          <a:prstGeom prst="rect">
            <a:avLst/>
          </a:prstGeom>
          <a:noFill/>
          <a:ln/>
        </p:spPr>
        <p:txBody>
          <a:bodyPr wrap="square" lIns="0" tIns="0" rIns="0" bIns="0" rtlCol="0" anchor="ctr"/>
          <a:lstStyle/>
          <a:p>
            <a:pPr indent="0" marL="0">
              <a:buNone/>
            </a:pPr>
            <a:r>
              <a:rPr lang="en-US" sz="1600" b="1" dirty="0">
                <a:solidFill>
                  <a:schemeClr val="accent1"/>
                </a:solidFill>
              </a:rPr>
              <a:t>Are these our real systems?</a:t>
            </a:r>
            <a:endParaRPr lang="en-US" sz="1600" dirty="0"/>
          </a:p>
        </p:txBody>
      </p:sp>
      <p:sp>
        <p:nvSpPr>
          <p:cNvPr id="7" name="Text 4"/>
          <p:cNvSpPr txBox="1"/>
          <p:nvPr/>
        </p:nvSpPr>
        <p:spPr>
          <a:xfrm>
            <a:off x="822960" y="2624328"/>
            <a:ext cx="4860036" cy="1005840"/>
          </a:xfrm>
          <a:prstGeom prst="rect">
            <a:avLst/>
          </a:prstGeom>
          <a:noFill/>
          <a:ln/>
        </p:spPr>
        <p:txBody>
          <a:bodyPr wrap="square" lIns="0" tIns="0" rIns="0" bIns="0" rtlCol="0" anchor="t"/>
          <a:lstStyle/>
          <a:p>
            <a:pPr indent="0" marL="0">
              <a:buNone/>
            </a:pPr>
            <a:r>
              <a:rPr lang="en-US" sz="1400" dirty="0">
                <a:solidFill>
                  <a:schemeClr val="tx1"/>
                </a:solidFill>
              </a:rPr>
              <a:t>No. Sources are named by type until the Phase D mapping is done. Each product’s lineage is the list of attributes to map.</a:t>
            </a:r>
            <a:endParaRPr lang="en-US" sz="1400" dirty="0"/>
          </a:p>
        </p:txBody>
      </p:sp>
      <p:sp>
        <p:nvSpPr>
          <p:cNvPr id="8" name="Shape 5"/>
          <p:cNvSpPr/>
          <p:nvPr/>
        </p:nvSpPr>
        <p:spPr>
          <a:xfrm>
            <a:off x="6231636" y="1783080"/>
            <a:ext cx="5408676" cy="1965960"/>
          </a:xfrm>
          <a:prstGeom prst="roundRect">
            <a:avLst>
              <a:gd name="adj" fmla="val 3721"/>
            </a:avLst>
          </a:prstGeom>
          <a:solidFill>
            <a:schemeClr val="bg2"/>
          </a:solidFill>
          <a:ln/>
        </p:spPr>
      </p:sp>
      <p:sp>
        <p:nvSpPr>
          <p:cNvPr id="9" name="Text 6"/>
          <p:cNvSpPr txBox="1"/>
          <p:nvPr/>
        </p:nvSpPr>
        <p:spPr>
          <a:xfrm>
            <a:off x="6505956" y="1965960"/>
            <a:ext cx="4860036" cy="594360"/>
          </a:xfrm>
          <a:prstGeom prst="rect">
            <a:avLst/>
          </a:prstGeom>
          <a:noFill/>
          <a:ln/>
        </p:spPr>
        <p:txBody>
          <a:bodyPr wrap="square" lIns="0" tIns="0" rIns="0" bIns="0" rtlCol="0" anchor="ctr"/>
          <a:lstStyle/>
          <a:p>
            <a:pPr indent="0" marL="0">
              <a:buNone/>
            </a:pPr>
            <a:r>
              <a:rPr lang="en-US" sz="1600" b="1" dirty="0">
                <a:solidFill>
                  <a:schemeClr val="accent1"/>
                </a:solidFill>
              </a:rPr>
              <a:t>Why are there two dates on the number?</a:t>
            </a:r>
            <a:endParaRPr lang="en-US" sz="1600" dirty="0"/>
          </a:p>
        </p:txBody>
      </p:sp>
      <p:sp>
        <p:nvSpPr>
          <p:cNvPr id="10" name="Text 7"/>
          <p:cNvSpPr txBox="1"/>
          <p:nvPr/>
        </p:nvSpPr>
        <p:spPr>
          <a:xfrm>
            <a:off x="6505956" y="2624328"/>
            <a:ext cx="4860036" cy="1005840"/>
          </a:xfrm>
          <a:prstGeom prst="rect">
            <a:avLst/>
          </a:prstGeom>
          <a:noFill/>
          <a:ln/>
        </p:spPr>
        <p:txBody>
          <a:bodyPr wrap="square" lIns="0" tIns="0" rIns="0" bIns="0" rtlCol="0" anchor="t"/>
          <a:lstStyle/>
          <a:p>
            <a:pPr indent="0" marL="0">
              <a:buNone/>
            </a:pPr>
            <a:r>
              <a:rPr lang="en-US" sz="1400" dirty="0">
                <a:solidFill>
                  <a:schemeClr val="tx1"/>
                </a:solidFill>
              </a:rPr>
              <a:t>AUM is certified monthly and the health score runs weekly. Showing both is more honest than pretending they match.</a:t>
            </a:r>
            <a:endParaRPr lang="en-US" sz="1400" dirty="0"/>
          </a:p>
        </p:txBody>
      </p:sp>
      <p:sp>
        <p:nvSpPr>
          <p:cNvPr id="11" name="Shape 8"/>
          <p:cNvSpPr/>
          <p:nvPr/>
        </p:nvSpPr>
        <p:spPr>
          <a:xfrm>
            <a:off x="548640" y="3931920"/>
            <a:ext cx="5408676" cy="1965960"/>
          </a:xfrm>
          <a:prstGeom prst="roundRect">
            <a:avLst>
              <a:gd name="adj" fmla="val 3721"/>
            </a:avLst>
          </a:prstGeom>
          <a:solidFill>
            <a:schemeClr val="bg2"/>
          </a:solidFill>
          <a:ln/>
        </p:spPr>
      </p:sp>
      <p:sp>
        <p:nvSpPr>
          <p:cNvPr id="12" name="Text 9"/>
          <p:cNvSpPr txBox="1"/>
          <p:nvPr/>
        </p:nvSpPr>
        <p:spPr>
          <a:xfrm>
            <a:off x="822960" y="4114800"/>
            <a:ext cx="4860036" cy="594360"/>
          </a:xfrm>
          <a:prstGeom prst="rect">
            <a:avLst/>
          </a:prstGeom>
          <a:noFill/>
          <a:ln/>
        </p:spPr>
        <p:txBody>
          <a:bodyPr wrap="square" lIns="0" tIns="0" rIns="0" bIns="0" rtlCol="0" anchor="ctr"/>
          <a:lstStyle/>
          <a:p>
            <a:pPr indent="0" marL="0">
              <a:buNone/>
            </a:pPr>
            <a:r>
              <a:rPr lang="en-US" sz="1600" b="1" dirty="0">
                <a:solidFill>
                  <a:schemeClr val="accent1"/>
                </a:solidFill>
              </a:rPr>
              <a:t>Is At-Risk AUM the same in DP-042 and SM-04?</a:t>
            </a:r>
            <a:endParaRPr lang="en-US" sz="1600" dirty="0"/>
          </a:p>
        </p:txBody>
      </p:sp>
      <p:sp>
        <p:nvSpPr>
          <p:cNvPr id="13" name="Text 10"/>
          <p:cNvSpPr txBox="1"/>
          <p:nvPr/>
        </p:nvSpPr>
        <p:spPr>
          <a:xfrm>
            <a:off x="822960" y="4773168"/>
            <a:ext cx="4860036" cy="1005840"/>
          </a:xfrm>
          <a:prstGeom prst="rect">
            <a:avLst/>
          </a:prstGeom>
          <a:noFill/>
          <a:ln/>
        </p:spPr>
        <p:txBody>
          <a:bodyPr wrap="square" lIns="0" tIns="0" rIns="0" bIns="0" rtlCol="0" anchor="t"/>
          <a:lstStyle/>
          <a:p>
            <a:pPr indent="0" marL="0">
              <a:buNone/>
            </a:pPr>
            <a:r>
              <a:rPr lang="en-US" sz="1400" dirty="0">
                <a:solidFill>
                  <a:schemeClr val="tx1"/>
                </a:solidFill>
              </a:rPr>
              <a:t>Open decision. DP-042 defines it by service relationship and the model applies it by client, so totals can differ when a client has several relationships.</a:t>
            </a:r>
            <a:endParaRPr lang="en-US" sz="1400" dirty="0"/>
          </a:p>
        </p:txBody>
      </p:sp>
      <p:sp>
        <p:nvSpPr>
          <p:cNvPr id="14" name="Shape 11"/>
          <p:cNvSpPr/>
          <p:nvPr/>
        </p:nvSpPr>
        <p:spPr>
          <a:xfrm>
            <a:off x="6231636" y="3931920"/>
            <a:ext cx="5408676" cy="1965960"/>
          </a:xfrm>
          <a:prstGeom prst="roundRect">
            <a:avLst>
              <a:gd name="adj" fmla="val 3721"/>
            </a:avLst>
          </a:prstGeom>
          <a:solidFill>
            <a:schemeClr val="bg2"/>
          </a:solidFill>
          <a:ln/>
        </p:spPr>
      </p:sp>
      <p:sp>
        <p:nvSpPr>
          <p:cNvPr id="15" name="Text 12"/>
          <p:cNvSpPr txBox="1"/>
          <p:nvPr/>
        </p:nvSpPr>
        <p:spPr>
          <a:xfrm>
            <a:off x="6505956" y="4114800"/>
            <a:ext cx="4860036" cy="594360"/>
          </a:xfrm>
          <a:prstGeom prst="rect">
            <a:avLst/>
          </a:prstGeom>
          <a:noFill/>
          <a:ln/>
        </p:spPr>
        <p:txBody>
          <a:bodyPr wrap="square" lIns="0" tIns="0" rIns="0" bIns="0" rtlCol="0" anchor="ctr"/>
          <a:lstStyle/>
          <a:p>
            <a:pPr indent="0" marL="0">
              <a:buNone/>
            </a:pPr>
            <a:r>
              <a:rPr lang="en-US" sz="1600" b="1" dirty="0">
                <a:solidFill>
                  <a:schemeClr val="accent1"/>
                </a:solidFill>
              </a:rPr>
              <a:t>Can we see Client 360 data in dashboards today?</a:t>
            </a:r>
            <a:endParaRPr lang="en-US" sz="1600" dirty="0"/>
          </a:p>
        </p:txBody>
      </p:sp>
      <p:sp>
        <p:nvSpPr>
          <p:cNvPr id="16" name="Text 13"/>
          <p:cNvSpPr txBox="1"/>
          <p:nvPr/>
        </p:nvSpPr>
        <p:spPr>
          <a:xfrm>
            <a:off x="6505956" y="4773168"/>
            <a:ext cx="4860036" cy="1005840"/>
          </a:xfrm>
          <a:prstGeom prst="rect">
            <a:avLst/>
          </a:prstGeom>
          <a:noFill/>
          <a:ln/>
        </p:spPr>
        <p:txBody>
          <a:bodyPr wrap="square" lIns="0" tIns="0" rIns="0" bIns="0" rtlCol="0" anchor="t"/>
          <a:lstStyle/>
          <a:p>
            <a:pPr indent="0" marL="0">
              <a:buNone/>
            </a:pPr>
            <a:r>
              <a:rPr lang="en-US" sz="1400" dirty="0">
                <a:solidFill>
                  <a:schemeClr val="tx1"/>
                </a:solidFill>
              </a:rPr>
              <a:t>Not yet. DP-092’s spec delivers to the CRM only. Publishing it through the semantic layer is an open decision for its owner.</a:t>
            </a:r>
            <a:endParaRPr lang="en-US" sz="1400" dirty="0"/>
          </a:p>
        </p:txBody>
      </p:sp>
      <p:sp>
        <p:nvSpPr>
          <p:cNvPr id="25" name="Slide Number Placeholder 0"/>
          <p:cNvSpPr>
            <a:spLocks noGrp="1"/>
          </p:cNvSpPr>
          <p:nvPr>
            <p:ph type="sldNum" sz="quarter" idx="4294967295"/>
          </p:nvPr>
        </p:nvSpPr>
        <p:spPr>
          <a:xfrm>
            <a:off x="11000232" y="6236208"/>
            <a:ext cx="640080" cy="34747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question, traced from source system to answer</dc:title>
  <dc:subject>PptxGenJS Presentation</dc:subject>
  <dc:creator>Jon Lee</dc:creator>
  <cp:lastModifiedBy>Jon Lee</cp:lastModifiedBy>
  <cp:revision>1</cp:revision>
  <dcterms:created xsi:type="dcterms:W3CDTF">2026-10-05T05:38:17Z</dcterms:created>
  <dcterms:modified xsi:type="dcterms:W3CDTF">2026-10-05T05:38:17Z</dcterms:modified>
</cp:coreProperties>
</file>