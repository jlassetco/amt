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4666f7-a410-de09-1c48-35786019d498}">
          <p14:sldIdLst>
            <p14:sldId id="256"/>
          </p14:sldIdLst>
        </p14:section>
        <p14:section name="Context" id="{9b5d9bd9-e911-132e-f9df-dbd3d9e4a598}">
          <p14:sldIdLst>
            <p14:sldId id="257"/>
            <p14:sldId id="258"/>
            <p14:sldId id="259"/>
          </p14:sldIdLst>
        </p14:section>
        <p14:section name="The question" id="{e85791a4-2882-1884-9dc3-4185b4147cab}">
          <p14:sldIdLst>
            <p14:sldId id="260"/>
            <p14:sldId id="261"/>
          </p14:sldIdLst>
        </p14:section>
        <p14:section name="The trace" id="{b911c474-3dc1-4124-b41a-8cf416e58856}">
          <p14:sldIdLst>
            <p14:sldId id="262"/>
            <p14:sldId id="263"/>
            <p14:sldId id="264"/>
            <p14:sldId id="265"/>
            <p14:sldId id="266"/>
          </p14:sldIdLst>
        </p14:section>
        <p14:section name="Close" id="{77ee6c98-4878-185c-af9a-f3acf83c24e2}">
          <p14:sldIdLst>
            <p14:sldId id="267"/>
            <p14:sldId id="268"/>
          </p14:sldIdLst>
        </p14:section>
        <p14:section name="Backup" id="{b82b2d73-5efb-a0ba-d7ae-03eeac6099f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what the taxonomy actually does, using one question about our products and following it all the way down and back up.
Before presenting: the fund name and all figures are illustrative. Source systems are named by type; the mapping to the firm's actual systems is Phase D and has not been done. The definitions, products, rules and gaps quoted are the ones in the current drafts.
Have Taxonomy_Explorer.html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example, two minutes of context for anyone who has not seen the taxonomy.
The taxonomy is a shared dictionary for the data that distribution runs on. It is organized in four levels. At the top are 14 Data Domains, such as Investment Product. Each domain is split into Data Families, each family into business objects, and each object into attributes.
The example on the left is one we will meet again in a few minutes: Net Expense Ratio, the fee figure at the center of our question.
For every attribute the taxonomy records one definition, the one domain that masters it, the allowed values where there is a list, and whether it is a critical data element.
What it does not hold is data. There are no fund records or balances in it, and no system field names. It defines meaning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model. In the explorer it is the section called "From taxonomy to consumption."
The taxonomy is not the first step in a pipeline. It governs every layer.
Data starts in source systems and moves left to right. Foundational products clean up a record or a number once and certify it. Consumer-aligned products build on those for one team's decisions.
From there, there are two routes to the people and systems that use the data. Products used for analysis are published through the semantic layer, to dashboards and AI assistants. Products whose consumer is a system go there directly: into the CRM, to payroll, into a regulatory filing. Both routes take their numbers from the same certified products.
At each step, the taxonomy says what the data means and who is accountable for it. And when a product finds something missing, the gap goes back to the owning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one job, and one thing it must not do. The limits are what keep a number from being defined twice.
Source systems capture records, but they are not where cross-function numbers get defined. Foundational products certify a number once; they do not shape it for one team. Consumer-aligned products shape data for a team, but never recalculate a certified number. The semantic layer publishes metrics; it does not invent one that no product backs.
That is the model in general. Now let me show it working on one real question,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comes from the Head of Product Strategy: "Which of our share classes are priced above their peers and losing assets?"
It sounds like one list. It is really three ideas, and each belongs to a different part of the business.
"Priced" is our own fee: the Net Expense Ratio, which the Investment Product domain masters. "Peers" is the Peer Median Fee, which comes from licensed vendor data and is mastered in Market &amp; Competitive Intelligence. "Losing assets" is Net Flows, mastered in Sales Transactions &amp; AUM Attribution.
The taxonomy gives each of those one definition and one owner. Everything I show next is that same definition being carried through five levels without being rewritten.
We will follow one share class: Global Equity Income Fund, Class A, with a net expense ratio of 0.95%.
SHOW: the three attribute definitions in the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we will take. Five levels, from where the data is created to where the question is answered.
At each level the taxonomy does a different job, shown in blue under each box. But it is the same three definitions underneath all five.
I will take each level in turn, about two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ideas start in three different places.
Our own fee, the net expense ratio, comes from fund administration and the product master, as disclosed in the prospectus. The peer funds and their fees come from a licensed data vendor. Purchases and redemptions come from the transfer agent.
None of these agrees on what to call the share class. The transfer agent has a fund and class code; the vendor has its own security ID.
The taxonomy settles three things before any data moves.
1. What each field means. Net Expense Ratio is total annual fund operating expenses after waivers; Gross is before waivers. And every fee study names which fee measure it compares, so we never set a net figure against a gross one.
2. Who is right when sources disagree. Domain 01 is the system of record for our own fee. The fee study in Domain 11 keeps a copy, but only as dated evidence of what was compared. If they differ, Domain 01 wins.
3. What we are allowed to do with it. This one is specific to bought-in data. Domain 14 records the license: each vendor dataset carries its permitted uses and the attribution text that must appear with it.
SHOW: Cost Disclosure and Fee Benchmark Result in the explorer, with the Masters / References flags on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products clean up each core thing once, so nobody downstream has to do it again. Our question needs three of them.
DP-004 Product &amp; Share Class Distribution Reference is the product master for distribution. It conforms security identifiers and source system codes once, so everything else refers to the same share class. One of its quality rules: net expense ratio is never above gross.
DP-014 Industry Flows &amp; Peer Universe loads each vendor release once. It maintains the peer universes, matches our share class to its peer fund by ISIN, and carries the vendor's permitted-use terms along with the data.
DP-008 Certified Flows &amp; AUM applies the taxonomy's measure definition for Net Flows. It publishes a preliminary number on business day 3 and locks it on business day 8. After that, the number changes only through an approved restatement.
So fees, peers and flows now all hang off one share class ID for Global Equity Income A.
Each product lists the exact objects and attributes it uses, and the build fails if one does not exist.
That is the governing rule for every product: a product assembles what the domains master. It never redefines it. If a product needs something the taxonomy does not have, that is recorded as a taxonomy gap for the owning domain to fix.
SHOW: DP-004's product page: its lineage links to the attribute definitions, its quality rules, and the products that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products are shaped around one team's decisions and built from the foundational ones. This is where our three ideas first meet.
DP-030 Competitive Positioning &amp; Peer Benchmarks positions each of our share classes against its peer universe. It defines the measure in our question: Fee Gap to Peer Median, in basis points, equals own fee rate minus peer median fee, times 10,000.
For Global Equity Income A that is 0.95% minus 0.77%, so 18 basis points above the median.
Notice what it does not do. It does not restate our fee, and it does not build its own peer group. It takes both as given.
DP-059 Pricing &amp; Fee Waiver Analytics uses the same fee gap for a different job. It sets it beside certified flows from DP-008, for the pricing committee and for the board's annual fee review. It reuses DP-030's fee studies rather than running its own.
So product, RFP and board materials all show the same peer numbers.
SHOW: DP-030's page, the Fee Gap to Peer Median measure and its inputs. Then DP-059's page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answer questions for one team. The Head of Product Strategy's question runs across every share class and combines two subjects, fees and flows. That is the semantic model's job. Ours is SM-06 Product &amp; Market.
It publishes Fee Gap to Peer Median as a named metric, defined once, with DP-030 as its source. It then adds the rules that stop the numbers being misread.
The fee gap is never averaged. It is shown per share class and per fee measure. An average gap across a fund range would mix a small specialist class with the flagship.
Flows are the certified ones. Net Flows is not redefined here; the model points to the certified metric from DP-008 and reads only locked, monthly, share-class rows. The vendor also supplies estimated flows, and those are kept separate and labeled.
The fee gap and the flows are worked out separately and then lined up by share class, so neither one repeats.
Access follows the license. The peer data is Confidential - Licensed. It appears only where the vendor's permitted-use grant is in effect, and every extract carries the vendor's attribution text.
SHOW: the SM-06 page in the explorer (Semantic models), the Fee Gap to Peer Median metric, and the metric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 of Product Strategy opens the dashboard, or asks an AI assistant in plain English. Either way, the question resolves to the same two metrics: a fee gap above zero, and net flows below zero.
The answer: 7 of our 64 share classes are priced above their peer median and in net outflow over the last 12 months. Global Equity Income Fund, Class A is one of them: 18 basis points above the median, with $210m of net outflows.
Two things make that answer usable. It shows both of its dates: the fee gap as of the latest fee study, and the flows as of the last locked month-end. And anyone can click from the metric to the product, to the definition, to the owner.
(All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next question is: "What would it cost us to cut that fee to the peer median?"
Today the semantic model cannot answer that. Pricing scenarios, meaning a proposed rate, an effective date and a flow assumption, have no home in the taxonomy. They are held as inputs inside the pricing product, DP-059, and stay in its own dashboard for product strategy and finance.
The semantic model says so in its list of what it leaves out, and the gap is already in the register as GAP-01-014, with a decision to make and an owner.
That is the last thing the taxonomy does. When a question cannot be answered, the reason shows up as a named decision for a named domain, rather than as a workaround inside one team's report.
If asked: part of the reason these stay restricted is that proposed fee changes are commercially sensitive until the board approves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question, five levels, and the same three definitions carried through all of them. The right-hand column is the taxonomy's job at each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The fee gap question is an open decision: do not present it as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1280160" cy="502920"/>
          </a:xfrm>
          <a:prstGeom prst="rect">
            <a:avLst/>
          </a:prstGeom>
        </p:spPr>
      </p:pic>
      <p:sp>
        <p:nvSpPr>
          <p:cNvPr id="3" name="Text 0"/>
          <p:cNvSpPr/>
          <p:nvPr>
            <p:ph idx="101" type="title" hasCustomPrompt="1"/>
          </p:nvPr>
        </p:nvSpPr>
        <p:spPr>
          <a:xfrm>
            <a:off x="548640" y="2103120"/>
            <a:ext cx="96012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114800"/>
            <a:ext cx="960120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36208"/>
            <a:ext cx="886968" cy="347472"/>
          </a:xfrm>
          <a:prstGeom prst="rect">
            <a:avLst/>
          </a:prstGeom>
        </p:spPr>
      </p:pic>
      <p:sp>
        <p:nvSpPr>
          <p:cNvPr id="3" name="Text 0"/>
          <p:cNvSpPr/>
          <p:nvPr/>
        </p:nvSpPr>
        <p:spPr>
          <a:xfrm>
            <a:off x="1737360" y="6236208"/>
            <a:ext cx="8778240" cy="347472"/>
          </a:xfrm>
          <a:prstGeom prst="rect">
            <a:avLst/>
          </a:prstGeom>
          <a:noFill/>
          <a:ln/>
        </p:spPr>
        <p:txBody>
          <a:bodyPr wrap="square" lIns="0" tIns="0" rIns="0" bIns="0" rtlCol="0" anchor="ctr"/>
          <a:lstStyle/>
          <a:p>
            <a:pPr indent="0" marL="0">
              <a:buNone/>
            </a:pPr>
            <a:r>
              <a:rPr lang="en-US" sz="1000" dirty="0">
                <a:solidFill>
                  <a:schemeClr val="tx2"/>
                </a:solidFill>
              </a:rPr>
              <a:t>Draft  |  Fund name and figures are illustrative  |  Source systems are named by type</a:t>
            </a:r>
            <a:endParaRPr lang="en-US" sz="1000" dirty="0"/>
          </a:p>
        </p:txBody>
      </p:sp>
      <p:sp>
        <p:nvSpPr>
          <p:cNvPr id="4" name="Text 1"/>
          <p:cNvSpPr/>
          <p:nvPr>
            <p:ph idx="102"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36208"/>
            <a:ext cx="886968" cy="347472"/>
          </a:xfrm>
          <a:prstGeom prst="rect">
            <a:avLst/>
          </a:prstGeom>
        </p:spPr>
      </p:pic>
      <p:sp>
        <p:nvSpPr>
          <p:cNvPr id="3" name="Text 0"/>
          <p:cNvSpPr/>
          <p:nvPr/>
        </p:nvSpPr>
        <p:spPr>
          <a:xfrm>
            <a:off x="1737360" y="6236208"/>
            <a:ext cx="8778240" cy="347472"/>
          </a:xfrm>
          <a:prstGeom prst="rect">
            <a:avLst/>
          </a:prstGeom>
          <a:noFill/>
          <a:ln/>
        </p:spPr>
        <p:txBody>
          <a:bodyPr wrap="square" lIns="0" tIns="0" rIns="0" bIns="0" rtlCol="0" anchor="ctr"/>
          <a:lstStyle/>
          <a:p>
            <a:pPr indent="0" marL="0">
              <a:buNone/>
            </a:pPr>
            <a:r>
              <a:rPr lang="en-US" sz="1000" dirty="0">
                <a:solidFill>
                  <a:schemeClr val="accent6"/>
                </a:solidFill>
              </a:rPr>
              <a:t>Draft  |  Fund name and figures are illustrative  |  Source systems are named by type</a:t>
            </a:r>
            <a:endParaRPr lang="en-US" sz="1000" dirty="0"/>
          </a:p>
        </p:txBody>
      </p:sp>
      <p:sp>
        <p:nvSpPr>
          <p:cNvPr id="4" name="Text 1"/>
          <p:cNvSpPr/>
          <p:nvPr>
            <p:ph idx="102"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2103120"/>
            <a:ext cx="9601200" cy="1828800"/>
          </a:xfrm>
          <a:prstGeom prst="rect">
            <a:avLst/>
          </a:prstGeom>
          <a:noFill/>
          <a:ln/>
        </p:spPr>
        <p:txBody>
          <a:bodyPr wrap="square" lIns="0" tIns="0" rIns="0" bIns="0" rtlCol="0" anchor="t"/>
          <a:lstStyle/>
          <a:p>
            <a:pPr algn="l" indent="0" marL="0">
              <a:buNone/>
            </a:pPr>
            <a:r>
              <a:rPr lang="en-US" sz="4400" b="1" dirty="0">
                <a:solidFill>
                  <a:schemeClr val="bg1"/>
                </a:solidFill>
              </a:rPr>
              <a:t>One product question, traced from source system to answer</a:t>
            </a:r>
            <a:endParaRPr lang="en-US" sz="4400" dirty="0"/>
          </a:p>
        </p:txBody>
      </p:sp>
      <p:sp>
        <p:nvSpPr>
          <p:cNvPr id="4" name="Text 0"/>
          <p:cNvSpPr/>
          <p:nvPr>
            <p:ph idx="102" type="body" hasCustomPrompt="1"/>
          </p:nvPr>
        </p:nvSpPr>
        <p:spPr>
          <a:xfrm>
            <a:off x="548640" y="4114800"/>
            <a:ext cx="9601200" cy="1097280"/>
          </a:xfrm>
          <a:prstGeom prst="rect">
            <a:avLst/>
          </a:prstGeom>
          <a:noFill/>
          <a:ln/>
        </p:spPr>
        <p:txBody>
          <a:bodyPr wrap="square" lIns="0" tIns="0" rIns="0" bIns="0" rtlCol="0" anchor="t"/>
          <a:lstStyle/>
          <a:p>
            <a:pPr algn="l" indent="0" marL="0">
              <a:buNone/>
            </a:pPr>
            <a:r>
              <a:rPr lang="en-US" sz="2000" dirty="0">
                <a:solidFill>
                  <a:schemeClr val="accent6"/>
                </a:solidFill>
              </a:rPr>
              <a:t>How the data taxonomy works at every level: source systems, data products, the semantic model and analytical use</a:t>
            </a:r>
            <a:endParaRPr lang="en-US" sz="2000" dirty="0"/>
          </a:p>
        </p:txBody>
      </p:sp>
      <p:sp>
        <p:nvSpPr>
          <p:cNvPr id="5" name="Text 2"/>
          <p:cNvSpPr txBox="1"/>
          <p:nvPr/>
        </p:nvSpPr>
        <p:spPr>
          <a:xfrm>
            <a:off x="548640" y="6035040"/>
            <a:ext cx="10058400" cy="320040"/>
          </a:xfrm>
          <a:prstGeom prst="rect">
            <a:avLst/>
          </a:prstGeom>
          <a:noFill/>
          <a:ln/>
        </p:spPr>
        <p:txBody>
          <a:bodyPr wrap="square" lIns="0" tIns="0" rIns="0" bIns="0" rtlCol="0" anchor="t"/>
          <a:lstStyle/>
          <a:p>
            <a:pPr indent="0" marL="0">
              <a:buNone/>
            </a:pPr>
            <a:r>
              <a:rPr lang="en-US" sz="1200" dirty="0">
                <a:solidFill>
                  <a:schemeClr val="accent6"/>
                </a:solidFill>
              </a:rPr>
              <a:t>Distribution Data Taxonomy Program  |  Investment product example  |  Draft,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 shared dictionary for distribution data</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TAXONOMY</a:t>
            </a:r>
            <a:endParaRPr lang="en-US" sz="1200" dirty="0"/>
          </a:p>
        </p:txBody>
      </p:sp>
      <p:sp>
        <p:nvSpPr>
          <p:cNvPr id="5" name="Shape 2"/>
          <p:cNvSpPr/>
          <p:nvPr/>
        </p:nvSpPr>
        <p:spPr>
          <a:xfrm>
            <a:off x="548640" y="1783080"/>
            <a:ext cx="6675120" cy="914400"/>
          </a:xfrm>
          <a:prstGeom prst="roundRect">
            <a:avLst>
              <a:gd name="adj" fmla="val 8000"/>
            </a:avLst>
          </a:prstGeom>
          <a:solidFill>
            <a:schemeClr val="bg2"/>
          </a:solidFill>
          <a:ln/>
        </p:spPr>
      </p:sp>
      <p:sp>
        <p:nvSpPr>
          <p:cNvPr id="6" name="Shape 3"/>
          <p:cNvSpPr/>
          <p:nvPr/>
        </p:nvSpPr>
        <p:spPr>
          <a:xfrm>
            <a:off x="749808" y="2029968"/>
            <a:ext cx="420624" cy="420624"/>
          </a:xfrm>
          <a:prstGeom prst="ellipse">
            <a:avLst/>
          </a:prstGeom>
          <a:solidFill>
            <a:schemeClr val="accent1"/>
          </a:solidFill>
          <a:ln/>
        </p:spPr>
      </p:sp>
      <p:sp>
        <p:nvSpPr>
          <p:cNvPr id="7" name="Text 4"/>
          <p:cNvSpPr txBox="1"/>
          <p:nvPr/>
        </p:nvSpPr>
        <p:spPr>
          <a:xfrm>
            <a:off x="749808" y="2029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L1</a:t>
            </a:r>
            <a:endParaRPr lang="en-US" sz="1600" dirty="0"/>
          </a:p>
        </p:txBody>
      </p:sp>
      <p:sp>
        <p:nvSpPr>
          <p:cNvPr id="8" name="Text 5"/>
          <p:cNvSpPr txBox="1"/>
          <p:nvPr/>
        </p:nvSpPr>
        <p:spPr>
          <a:xfrm>
            <a:off x="1371600" y="1938528"/>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Data Domain</a:t>
            </a:r>
            <a:endParaRPr lang="en-US" sz="1600" dirty="0"/>
          </a:p>
        </p:txBody>
      </p:sp>
      <p:sp>
        <p:nvSpPr>
          <p:cNvPr id="9" name="Text 6"/>
          <p:cNvSpPr txBox="1"/>
          <p:nvPr/>
        </p:nvSpPr>
        <p:spPr>
          <a:xfrm>
            <a:off x="1371600" y="2267712"/>
            <a:ext cx="2103120" cy="274320"/>
          </a:xfrm>
          <a:prstGeom prst="rect">
            <a:avLst/>
          </a:prstGeom>
          <a:noFill/>
          <a:ln/>
        </p:spPr>
        <p:txBody>
          <a:bodyPr wrap="square" lIns="0" tIns="0" rIns="0" bIns="0" rtlCol="0" anchor="ctr"/>
          <a:lstStyle/>
          <a:p>
            <a:pPr indent="0" marL="0">
              <a:buNone/>
            </a:pPr>
            <a:r>
              <a:rPr lang="en-US" sz="1200" dirty="0">
                <a:solidFill>
                  <a:schemeClr val="tx2"/>
                </a:solidFill>
              </a:rPr>
              <a:t>14 domains</a:t>
            </a:r>
            <a:endParaRPr lang="en-US" sz="1200" dirty="0"/>
          </a:p>
        </p:txBody>
      </p:sp>
      <p:sp>
        <p:nvSpPr>
          <p:cNvPr id="10" name="Text 7"/>
          <p:cNvSpPr txBox="1"/>
          <p:nvPr/>
        </p:nvSpPr>
        <p:spPr>
          <a:xfrm>
            <a:off x="3520440" y="1783080"/>
            <a:ext cx="3520440" cy="914400"/>
          </a:xfrm>
          <a:prstGeom prst="rect">
            <a:avLst/>
          </a:prstGeom>
          <a:noFill/>
          <a:ln/>
        </p:spPr>
        <p:txBody>
          <a:bodyPr wrap="square" lIns="0" tIns="0" rIns="0" bIns="0" rtlCol="0" anchor="ctr"/>
          <a:lstStyle/>
          <a:p>
            <a:pPr indent="0" marL="0">
              <a:buNone/>
            </a:pPr>
            <a:r>
              <a:rPr lang="en-US" sz="1400" b="1" dirty="0">
                <a:solidFill>
                  <a:schemeClr val="accent2"/>
                </a:solidFill>
              </a:rPr>
              <a:t>01 Investment Product</a:t>
            </a:r>
            <a:endParaRPr lang="en-US" sz="1400" dirty="0"/>
          </a:p>
        </p:txBody>
      </p:sp>
      <p:sp>
        <p:nvSpPr>
          <p:cNvPr id="11" name="Shape 8"/>
          <p:cNvSpPr/>
          <p:nvPr/>
        </p:nvSpPr>
        <p:spPr>
          <a:xfrm>
            <a:off x="868680" y="2816352"/>
            <a:ext cx="6355080" cy="914400"/>
          </a:xfrm>
          <a:prstGeom prst="roundRect">
            <a:avLst>
              <a:gd name="adj" fmla="val 8000"/>
            </a:avLst>
          </a:prstGeom>
          <a:solidFill>
            <a:schemeClr val="bg2"/>
          </a:solidFill>
          <a:ln/>
        </p:spPr>
      </p:sp>
      <p:sp>
        <p:nvSpPr>
          <p:cNvPr id="12" name="Shape 9"/>
          <p:cNvSpPr/>
          <p:nvPr/>
        </p:nvSpPr>
        <p:spPr>
          <a:xfrm>
            <a:off x="1069848" y="3063240"/>
            <a:ext cx="420624" cy="420624"/>
          </a:xfrm>
          <a:prstGeom prst="ellipse">
            <a:avLst/>
          </a:prstGeom>
          <a:solidFill>
            <a:schemeClr val="accent1"/>
          </a:solidFill>
          <a:ln/>
        </p:spPr>
      </p:sp>
      <p:sp>
        <p:nvSpPr>
          <p:cNvPr id="13" name="Text 10"/>
          <p:cNvSpPr txBox="1"/>
          <p:nvPr/>
        </p:nvSpPr>
        <p:spPr>
          <a:xfrm>
            <a:off x="1069848"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L2</a:t>
            </a:r>
            <a:endParaRPr lang="en-US" sz="1600" dirty="0"/>
          </a:p>
        </p:txBody>
      </p:sp>
      <p:sp>
        <p:nvSpPr>
          <p:cNvPr id="14" name="Text 11"/>
          <p:cNvSpPr txBox="1"/>
          <p:nvPr/>
        </p:nvSpPr>
        <p:spPr>
          <a:xfrm>
            <a:off x="1691640" y="2971800"/>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Data Family</a:t>
            </a:r>
            <a:endParaRPr lang="en-US" sz="1600" dirty="0"/>
          </a:p>
        </p:txBody>
      </p:sp>
      <p:sp>
        <p:nvSpPr>
          <p:cNvPr id="15" name="Text 12"/>
          <p:cNvSpPr txBox="1"/>
          <p:nvPr/>
        </p:nvSpPr>
        <p:spPr>
          <a:xfrm>
            <a:off x="1691640" y="3300984"/>
            <a:ext cx="2103120" cy="274320"/>
          </a:xfrm>
          <a:prstGeom prst="rect">
            <a:avLst/>
          </a:prstGeom>
          <a:noFill/>
          <a:ln/>
        </p:spPr>
        <p:txBody>
          <a:bodyPr wrap="square" lIns="0" tIns="0" rIns="0" bIns="0" rtlCol="0" anchor="ctr"/>
          <a:lstStyle/>
          <a:p>
            <a:pPr indent="0" marL="0">
              <a:buNone/>
            </a:pPr>
            <a:r>
              <a:rPr lang="en-US" sz="1200" dirty="0">
                <a:solidFill>
                  <a:schemeClr val="tx2"/>
                </a:solidFill>
              </a:rPr>
              <a:t>140 families</a:t>
            </a:r>
            <a:endParaRPr lang="en-US" sz="1200" dirty="0"/>
          </a:p>
        </p:txBody>
      </p:sp>
      <p:sp>
        <p:nvSpPr>
          <p:cNvPr id="16" name="Text 13"/>
          <p:cNvSpPr txBox="1"/>
          <p:nvPr/>
        </p:nvSpPr>
        <p:spPr>
          <a:xfrm>
            <a:off x="3840480" y="2816352"/>
            <a:ext cx="3200400" cy="914400"/>
          </a:xfrm>
          <a:prstGeom prst="rect">
            <a:avLst/>
          </a:prstGeom>
          <a:noFill/>
          <a:ln/>
        </p:spPr>
        <p:txBody>
          <a:bodyPr wrap="square" lIns="0" tIns="0" rIns="0" bIns="0" rtlCol="0" anchor="ctr"/>
          <a:lstStyle/>
          <a:p>
            <a:pPr indent="0" marL="0">
              <a:buNone/>
            </a:pPr>
            <a:r>
              <a:rPr lang="en-US" sz="1400" b="1" dirty="0">
                <a:solidFill>
                  <a:schemeClr val="accent2"/>
                </a:solidFill>
              </a:rPr>
              <a:t>Fees, Charges &amp; Costs</a:t>
            </a:r>
            <a:endParaRPr lang="en-US" sz="1400" dirty="0"/>
          </a:p>
        </p:txBody>
      </p:sp>
      <p:sp>
        <p:nvSpPr>
          <p:cNvPr id="17" name="Shape 14"/>
          <p:cNvSpPr/>
          <p:nvPr/>
        </p:nvSpPr>
        <p:spPr>
          <a:xfrm>
            <a:off x="1188720" y="3849624"/>
            <a:ext cx="6035040" cy="914400"/>
          </a:xfrm>
          <a:prstGeom prst="roundRect">
            <a:avLst>
              <a:gd name="adj" fmla="val 8000"/>
            </a:avLst>
          </a:prstGeom>
          <a:solidFill>
            <a:schemeClr val="bg2"/>
          </a:solidFill>
          <a:ln/>
        </p:spPr>
      </p:sp>
      <p:sp>
        <p:nvSpPr>
          <p:cNvPr id="18" name="Shape 15"/>
          <p:cNvSpPr/>
          <p:nvPr/>
        </p:nvSpPr>
        <p:spPr>
          <a:xfrm>
            <a:off x="1389888" y="4096512"/>
            <a:ext cx="420624" cy="420624"/>
          </a:xfrm>
          <a:prstGeom prst="ellipse">
            <a:avLst/>
          </a:prstGeom>
          <a:solidFill>
            <a:schemeClr val="accent1"/>
          </a:solidFill>
          <a:ln/>
        </p:spPr>
      </p:sp>
      <p:sp>
        <p:nvSpPr>
          <p:cNvPr id="19" name="Text 16"/>
          <p:cNvSpPr txBox="1"/>
          <p:nvPr/>
        </p:nvSpPr>
        <p:spPr>
          <a:xfrm>
            <a:off x="1389888" y="40965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L3</a:t>
            </a:r>
            <a:endParaRPr lang="en-US" sz="1600" dirty="0"/>
          </a:p>
        </p:txBody>
      </p:sp>
      <p:sp>
        <p:nvSpPr>
          <p:cNvPr id="20" name="Text 17"/>
          <p:cNvSpPr txBox="1"/>
          <p:nvPr/>
        </p:nvSpPr>
        <p:spPr>
          <a:xfrm>
            <a:off x="2011680" y="4005072"/>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Business Object</a:t>
            </a:r>
            <a:endParaRPr lang="en-US" sz="1600" dirty="0"/>
          </a:p>
        </p:txBody>
      </p:sp>
      <p:sp>
        <p:nvSpPr>
          <p:cNvPr id="21" name="Text 18"/>
          <p:cNvSpPr txBox="1"/>
          <p:nvPr/>
        </p:nvSpPr>
        <p:spPr>
          <a:xfrm>
            <a:off x="2011680" y="4334256"/>
            <a:ext cx="2103120" cy="274320"/>
          </a:xfrm>
          <a:prstGeom prst="rect">
            <a:avLst/>
          </a:prstGeom>
          <a:noFill/>
          <a:ln/>
        </p:spPr>
        <p:txBody>
          <a:bodyPr wrap="square" lIns="0" tIns="0" rIns="0" bIns="0" rtlCol="0" anchor="ctr"/>
          <a:lstStyle/>
          <a:p>
            <a:pPr indent="0" marL="0">
              <a:buNone/>
            </a:pPr>
            <a:r>
              <a:rPr lang="en-US" sz="1200" dirty="0">
                <a:solidFill>
                  <a:schemeClr val="tx2"/>
                </a:solidFill>
              </a:rPr>
              <a:t>603 objects</a:t>
            </a:r>
            <a:endParaRPr lang="en-US" sz="1200" dirty="0"/>
          </a:p>
        </p:txBody>
      </p:sp>
      <p:sp>
        <p:nvSpPr>
          <p:cNvPr id="22" name="Text 19"/>
          <p:cNvSpPr txBox="1"/>
          <p:nvPr/>
        </p:nvSpPr>
        <p:spPr>
          <a:xfrm>
            <a:off x="4160520" y="3849624"/>
            <a:ext cx="2880360" cy="914400"/>
          </a:xfrm>
          <a:prstGeom prst="rect">
            <a:avLst/>
          </a:prstGeom>
          <a:noFill/>
          <a:ln/>
        </p:spPr>
        <p:txBody>
          <a:bodyPr wrap="square" lIns="0" tIns="0" rIns="0" bIns="0" rtlCol="0" anchor="ctr"/>
          <a:lstStyle/>
          <a:p>
            <a:pPr indent="0" marL="0">
              <a:buNone/>
            </a:pPr>
            <a:r>
              <a:rPr lang="en-US" sz="1400" b="1" dirty="0">
                <a:solidFill>
                  <a:schemeClr val="accent2"/>
                </a:solidFill>
              </a:rPr>
              <a:t>Cost Disclosure</a:t>
            </a:r>
            <a:endParaRPr lang="en-US" sz="1400" dirty="0"/>
          </a:p>
        </p:txBody>
      </p:sp>
      <p:sp>
        <p:nvSpPr>
          <p:cNvPr id="23" name="Shape 20"/>
          <p:cNvSpPr/>
          <p:nvPr/>
        </p:nvSpPr>
        <p:spPr>
          <a:xfrm>
            <a:off x="1508760" y="4882896"/>
            <a:ext cx="5715000" cy="914400"/>
          </a:xfrm>
          <a:prstGeom prst="roundRect">
            <a:avLst>
              <a:gd name="adj" fmla="val 8000"/>
            </a:avLst>
          </a:prstGeom>
          <a:solidFill>
            <a:schemeClr val="bg2"/>
          </a:solidFill>
          <a:ln/>
        </p:spPr>
      </p:sp>
      <p:sp>
        <p:nvSpPr>
          <p:cNvPr id="24" name="Shape 21"/>
          <p:cNvSpPr/>
          <p:nvPr/>
        </p:nvSpPr>
        <p:spPr>
          <a:xfrm>
            <a:off x="1709928" y="5129784"/>
            <a:ext cx="420624" cy="420624"/>
          </a:xfrm>
          <a:prstGeom prst="ellipse">
            <a:avLst/>
          </a:prstGeom>
          <a:solidFill>
            <a:schemeClr val="accent1"/>
          </a:solidFill>
          <a:ln/>
        </p:spPr>
      </p:sp>
      <p:sp>
        <p:nvSpPr>
          <p:cNvPr id="25" name="Text 22"/>
          <p:cNvSpPr txBox="1"/>
          <p:nvPr/>
        </p:nvSpPr>
        <p:spPr>
          <a:xfrm>
            <a:off x="1709928" y="51297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L4</a:t>
            </a:r>
            <a:endParaRPr lang="en-US" sz="1600" dirty="0"/>
          </a:p>
        </p:txBody>
      </p:sp>
      <p:sp>
        <p:nvSpPr>
          <p:cNvPr id="26" name="Text 23"/>
          <p:cNvSpPr txBox="1"/>
          <p:nvPr/>
        </p:nvSpPr>
        <p:spPr>
          <a:xfrm>
            <a:off x="2331720" y="5038344"/>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Attribute</a:t>
            </a:r>
            <a:endParaRPr lang="en-US" sz="1600" dirty="0"/>
          </a:p>
        </p:txBody>
      </p:sp>
      <p:sp>
        <p:nvSpPr>
          <p:cNvPr id="27" name="Text 24"/>
          <p:cNvSpPr txBox="1"/>
          <p:nvPr/>
        </p:nvSpPr>
        <p:spPr>
          <a:xfrm>
            <a:off x="2331720" y="5367528"/>
            <a:ext cx="2103120" cy="274320"/>
          </a:xfrm>
          <a:prstGeom prst="rect">
            <a:avLst/>
          </a:prstGeom>
          <a:noFill/>
          <a:ln/>
        </p:spPr>
        <p:txBody>
          <a:bodyPr wrap="square" lIns="0" tIns="0" rIns="0" bIns="0" rtlCol="0" anchor="ctr"/>
          <a:lstStyle/>
          <a:p>
            <a:pPr indent="0" marL="0">
              <a:buNone/>
            </a:pPr>
            <a:r>
              <a:rPr lang="en-US" sz="1200" dirty="0">
                <a:solidFill>
                  <a:schemeClr val="tx2"/>
                </a:solidFill>
              </a:rPr>
              <a:t>3,603 attributes</a:t>
            </a:r>
            <a:endParaRPr lang="en-US" sz="1200" dirty="0"/>
          </a:p>
        </p:txBody>
      </p:sp>
      <p:sp>
        <p:nvSpPr>
          <p:cNvPr id="28" name="Text 25"/>
          <p:cNvSpPr txBox="1"/>
          <p:nvPr/>
        </p:nvSpPr>
        <p:spPr>
          <a:xfrm>
            <a:off x="4480560" y="4882896"/>
            <a:ext cx="2560320" cy="914400"/>
          </a:xfrm>
          <a:prstGeom prst="rect">
            <a:avLst/>
          </a:prstGeom>
          <a:noFill/>
          <a:ln/>
        </p:spPr>
        <p:txBody>
          <a:bodyPr wrap="square" lIns="0" tIns="0" rIns="0" bIns="0" rtlCol="0" anchor="ctr"/>
          <a:lstStyle/>
          <a:p>
            <a:pPr indent="0" marL="0">
              <a:buNone/>
            </a:pPr>
            <a:r>
              <a:rPr lang="en-US" sz="1400" b="1" dirty="0">
                <a:solidFill>
                  <a:schemeClr val="accent2"/>
                </a:solidFill>
              </a:rPr>
              <a:t>Net Expense Ratio</a:t>
            </a:r>
            <a:endParaRPr lang="en-US" sz="1400" dirty="0"/>
          </a:p>
        </p:txBody>
      </p:sp>
      <p:sp>
        <p:nvSpPr>
          <p:cNvPr id="29" name="Text 26"/>
          <p:cNvSpPr txBox="1"/>
          <p:nvPr/>
        </p:nvSpPr>
        <p:spPr>
          <a:xfrm>
            <a:off x="548640" y="5870448"/>
            <a:ext cx="6675120" cy="256032"/>
          </a:xfrm>
          <a:prstGeom prst="rect">
            <a:avLst/>
          </a:prstGeom>
          <a:noFill/>
          <a:ln/>
        </p:spPr>
        <p:txBody>
          <a:bodyPr wrap="square" lIns="0" tIns="0" rIns="0" bIns="0" rtlCol="0" anchor="ctr"/>
          <a:lstStyle/>
          <a:p>
            <a:pPr indent="0" marL="0">
              <a:buNone/>
            </a:pPr>
            <a:r>
              <a:rPr lang="en-US" sz="1000" i="1" dirty="0">
                <a:solidFill>
                  <a:schemeClr val="tx2"/>
                </a:solidFill>
              </a:rPr>
              <a:t>Purple text: the path to one attribute used in the example that follows</a:t>
            </a:r>
            <a:endParaRPr lang="en-US" sz="1000" dirty="0"/>
          </a:p>
        </p:txBody>
      </p:sp>
      <p:sp>
        <p:nvSpPr>
          <p:cNvPr id="30" name="Shape 27"/>
          <p:cNvSpPr/>
          <p:nvPr/>
        </p:nvSpPr>
        <p:spPr>
          <a:xfrm>
            <a:off x="7589520" y="1783080"/>
            <a:ext cx="4050792" cy="4014216"/>
          </a:xfrm>
          <a:prstGeom prst="roundRect">
            <a:avLst>
              <a:gd name="adj" fmla="val 1822"/>
            </a:avLst>
          </a:prstGeom>
          <a:solidFill>
            <a:schemeClr val="bg2"/>
          </a:solidFill>
          <a:ln/>
        </p:spPr>
      </p:sp>
      <p:sp>
        <p:nvSpPr>
          <p:cNvPr id="31" name="Text 28"/>
          <p:cNvSpPr txBox="1"/>
          <p:nvPr/>
        </p:nvSpPr>
        <p:spPr>
          <a:xfrm>
            <a:off x="7863840" y="1965960"/>
            <a:ext cx="3502152" cy="256032"/>
          </a:xfrm>
          <a:prstGeom prst="rect">
            <a:avLst/>
          </a:prstGeom>
          <a:noFill/>
          <a:ln/>
        </p:spPr>
        <p:txBody>
          <a:bodyPr wrap="square" lIns="0" tIns="0" rIns="0" bIns="0" rtlCol="0" anchor="t"/>
          <a:lstStyle/>
          <a:p>
            <a:pPr indent="0" marL="0">
              <a:buNone/>
            </a:pPr>
            <a:r>
              <a:rPr lang="en-US" sz="1000" b="1" spc="100" kern="0" dirty="0">
                <a:solidFill>
                  <a:schemeClr val="tx2"/>
                </a:solidFill>
              </a:rPr>
              <a:t>FOR EVERY ATTRIBUTE, IT RECORDS</a:t>
            </a:r>
            <a:endParaRPr lang="en-US" sz="1000" dirty="0"/>
          </a:p>
        </p:txBody>
      </p:sp>
      <p:sp>
        <p:nvSpPr>
          <p:cNvPr id="32" name="Shape 29"/>
          <p:cNvSpPr/>
          <p:nvPr/>
        </p:nvSpPr>
        <p:spPr>
          <a:xfrm>
            <a:off x="7863840" y="2496312"/>
            <a:ext cx="146304" cy="146304"/>
          </a:xfrm>
          <a:prstGeom prst="ellipse">
            <a:avLst/>
          </a:prstGeom>
          <a:solidFill>
            <a:schemeClr val="accent1"/>
          </a:solidFill>
          <a:ln/>
        </p:spPr>
      </p:sp>
      <p:sp>
        <p:nvSpPr>
          <p:cNvPr id="33" name="Text 30"/>
          <p:cNvSpPr txBox="1"/>
          <p:nvPr/>
        </p:nvSpPr>
        <p:spPr>
          <a:xfrm>
            <a:off x="8156448" y="2377440"/>
            <a:ext cx="3227832" cy="384048"/>
          </a:xfrm>
          <a:prstGeom prst="rect">
            <a:avLst/>
          </a:prstGeom>
          <a:noFill/>
          <a:ln/>
        </p:spPr>
        <p:txBody>
          <a:bodyPr wrap="square" lIns="0" tIns="0" rIns="0" bIns="0" rtlCol="0" anchor="ctr"/>
          <a:lstStyle/>
          <a:p>
            <a:pPr indent="0" marL="0">
              <a:buNone/>
            </a:pPr>
            <a:r>
              <a:rPr lang="en-US" sz="1400" dirty="0">
                <a:solidFill>
                  <a:schemeClr val="tx1"/>
                </a:solidFill>
              </a:rPr>
              <a:t>One definition</a:t>
            </a:r>
            <a:endParaRPr lang="en-US" sz="1400" dirty="0"/>
          </a:p>
        </p:txBody>
      </p:sp>
      <p:sp>
        <p:nvSpPr>
          <p:cNvPr id="34" name="Shape 31"/>
          <p:cNvSpPr/>
          <p:nvPr/>
        </p:nvSpPr>
        <p:spPr>
          <a:xfrm>
            <a:off x="7863840" y="3026664"/>
            <a:ext cx="146304" cy="146304"/>
          </a:xfrm>
          <a:prstGeom prst="ellipse">
            <a:avLst/>
          </a:prstGeom>
          <a:solidFill>
            <a:schemeClr val="accent1"/>
          </a:solidFill>
          <a:ln/>
        </p:spPr>
      </p:sp>
      <p:sp>
        <p:nvSpPr>
          <p:cNvPr id="35" name="Text 32"/>
          <p:cNvSpPr txBox="1"/>
          <p:nvPr/>
        </p:nvSpPr>
        <p:spPr>
          <a:xfrm>
            <a:off x="8156448" y="2907792"/>
            <a:ext cx="3227832" cy="384048"/>
          </a:xfrm>
          <a:prstGeom prst="rect">
            <a:avLst/>
          </a:prstGeom>
          <a:noFill/>
          <a:ln/>
        </p:spPr>
        <p:txBody>
          <a:bodyPr wrap="square" lIns="0" tIns="0" rIns="0" bIns="0" rtlCol="0" anchor="ctr"/>
          <a:lstStyle/>
          <a:p>
            <a:pPr indent="0" marL="0">
              <a:buNone/>
            </a:pPr>
            <a:r>
              <a:rPr lang="en-US" sz="1400" dirty="0">
                <a:solidFill>
                  <a:schemeClr val="tx1"/>
                </a:solidFill>
              </a:rPr>
              <a:t>One Data Domain that masters it</a:t>
            </a:r>
            <a:endParaRPr lang="en-US" sz="1400" dirty="0"/>
          </a:p>
        </p:txBody>
      </p:sp>
      <p:sp>
        <p:nvSpPr>
          <p:cNvPr id="36" name="Shape 33"/>
          <p:cNvSpPr/>
          <p:nvPr/>
        </p:nvSpPr>
        <p:spPr>
          <a:xfrm>
            <a:off x="7863840" y="3557016"/>
            <a:ext cx="146304" cy="146304"/>
          </a:xfrm>
          <a:prstGeom prst="ellipse">
            <a:avLst/>
          </a:prstGeom>
          <a:solidFill>
            <a:schemeClr val="accent1"/>
          </a:solidFill>
          <a:ln/>
        </p:spPr>
      </p:sp>
      <p:sp>
        <p:nvSpPr>
          <p:cNvPr id="37" name="Text 34"/>
          <p:cNvSpPr txBox="1"/>
          <p:nvPr/>
        </p:nvSpPr>
        <p:spPr>
          <a:xfrm>
            <a:off x="8156448" y="3438144"/>
            <a:ext cx="3227832" cy="384048"/>
          </a:xfrm>
          <a:prstGeom prst="rect">
            <a:avLst/>
          </a:prstGeom>
          <a:noFill/>
          <a:ln/>
        </p:spPr>
        <p:txBody>
          <a:bodyPr wrap="square" lIns="0" tIns="0" rIns="0" bIns="0" rtlCol="0" anchor="ctr"/>
          <a:lstStyle/>
          <a:p>
            <a:pPr indent="0" marL="0">
              <a:buNone/>
            </a:pPr>
            <a:r>
              <a:rPr lang="en-US" sz="1400" dirty="0">
                <a:solidFill>
                  <a:schemeClr val="tx1"/>
                </a:solidFill>
              </a:rPr>
              <a:t>The allowed values, where there is a list</a:t>
            </a:r>
            <a:endParaRPr lang="en-US" sz="1400" dirty="0"/>
          </a:p>
        </p:txBody>
      </p:sp>
      <p:sp>
        <p:nvSpPr>
          <p:cNvPr id="38" name="Shape 35"/>
          <p:cNvSpPr/>
          <p:nvPr/>
        </p:nvSpPr>
        <p:spPr>
          <a:xfrm>
            <a:off x="7863840" y="4087368"/>
            <a:ext cx="146304" cy="146304"/>
          </a:xfrm>
          <a:prstGeom prst="ellipse">
            <a:avLst/>
          </a:prstGeom>
          <a:solidFill>
            <a:schemeClr val="accent1"/>
          </a:solidFill>
          <a:ln/>
        </p:spPr>
      </p:sp>
      <p:sp>
        <p:nvSpPr>
          <p:cNvPr id="39" name="Text 36"/>
          <p:cNvSpPr txBox="1"/>
          <p:nvPr/>
        </p:nvSpPr>
        <p:spPr>
          <a:xfrm>
            <a:off x="8156448" y="3968496"/>
            <a:ext cx="3227832" cy="384048"/>
          </a:xfrm>
          <a:prstGeom prst="rect">
            <a:avLst/>
          </a:prstGeom>
          <a:noFill/>
          <a:ln/>
        </p:spPr>
        <p:txBody>
          <a:bodyPr wrap="square" lIns="0" tIns="0" rIns="0" bIns="0" rtlCol="0" anchor="ctr"/>
          <a:lstStyle/>
          <a:p>
            <a:pPr indent="0" marL="0">
              <a:buNone/>
            </a:pPr>
            <a:r>
              <a:rPr lang="en-US" sz="1400" dirty="0">
                <a:solidFill>
                  <a:schemeClr val="tx1"/>
                </a:solidFill>
              </a:rPr>
              <a:t>Whether it is a critical data element</a:t>
            </a:r>
            <a:endParaRPr lang="en-US" sz="1400" dirty="0"/>
          </a:p>
        </p:txBody>
      </p:sp>
      <p:sp>
        <p:nvSpPr>
          <p:cNvPr id="40" name="Shape 37"/>
          <p:cNvSpPr/>
          <p:nvPr/>
        </p:nvSpPr>
        <p:spPr>
          <a:xfrm>
            <a:off x="7863840" y="4617720"/>
            <a:ext cx="3502152" cy="0"/>
          </a:xfrm>
          <a:prstGeom prst="line">
            <a:avLst/>
          </a:prstGeom>
          <a:noFill/>
          <a:ln w="9525">
            <a:solidFill>
              <a:schemeClr val="tx2">
                <a:alpha val="40000"/>
              </a:schemeClr>
            </a:solidFill>
            <a:prstDash val="solid"/>
          </a:ln>
        </p:spPr>
      </p:sp>
      <p:sp>
        <p:nvSpPr>
          <p:cNvPr id="41" name="Text 38"/>
          <p:cNvSpPr txBox="1"/>
          <p:nvPr/>
        </p:nvSpPr>
        <p:spPr>
          <a:xfrm>
            <a:off x="7863840" y="4754880"/>
            <a:ext cx="3502152" cy="868680"/>
          </a:xfrm>
          <a:prstGeom prst="rect">
            <a:avLst/>
          </a:prstGeom>
          <a:noFill/>
          <a:ln/>
        </p:spPr>
        <p:txBody>
          <a:bodyPr wrap="square" lIns="0" tIns="0" rIns="0" bIns="0" rtlCol="0" anchor="ctr"/>
          <a:lstStyle/>
          <a:p>
            <a:pPr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governs every layer</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FROM TAXONOMY TO CONSUMPTION</a:t>
            </a:r>
            <a:endParaRPr lang="en-US" sz="1200" dirty="0"/>
          </a:p>
        </p:txBody>
      </p:sp>
      <p:sp>
        <p:nvSpPr>
          <p:cNvPr id="5" name="Shape 2"/>
          <p:cNvSpPr/>
          <p:nvPr/>
        </p:nvSpPr>
        <p:spPr>
          <a:xfrm>
            <a:off x="548640" y="1783080"/>
            <a:ext cx="11091672" cy="868680"/>
          </a:xfrm>
          <a:prstGeom prst="roundRect">
            <a:avLst>
              <a:gd name="adj" fmla="val 8421"/>
            </a:avLst>
          </a:prstGeom>
          <a:solidFill>
            <a:schemeClr val="tx1"/>
          </a:solidFill>
          <a:ln/>
        </p:spPr>
      </p:sp>
      <p:sp>
        <p:nvSpPr>
          <p:cNvPr id="6" name="Text 3"/>
          <p:cNvSpPr txBox="1"/>
          <p:nvPr/>
        </p:nvSpPr>
        <p:spPr>
          <a:xfrm>
            <a:off x="822960" y="1783080"/>
            <a:ext cx="2011680" cy="868680"/>
          </a:xfrm>
          <a:prstGeom prst="rect">
            <a:avLst/>
          </a:prstGeom>
          <a:noFill/>
          <a:ln/>
        </p:spPr>
        <p:txBody>
          <a:bodyPr wrap="square" lIns="0" tIns="0" rIns="0" bIns="0" rtlCol="0" anchor="ctr"/>
          <a:lstStyle/>
          <a:p>
            <a:pPr indent="0" marL="0">
              <a:buNone/>
            </a:pPr>
            <a:r>
              <a:rPr lang="en-US" sz="1200" b="1" spc="150" kern="0" dirty="0">
                <a:solidFill>
                  <a:schemeClr val="accent6"/>
                </a:solidFill>
              </a:rPr>
              <a:t>DATA TAXONOMY</a:t>
            </a:r>
            <a:endParaRPr lang="en-US" sz="1200" dirty="0"/>
          </a:p>
        </p:txBody>
      </p:sp>
      <p:sp>
        <p:nvSpPr>
          <p:cNvPr id="7" name="Text 4"/>
          <p:cNvSpPr txBox="1"/>
          <p:nvPr/>
        </p:nvSpPr>
        <p:spPr>
          <a:xfrm>
            <a:off x="2834640" y="1783080"/>
            <a:ext cx="8531352" cy="868680"/>
          </a:xfrm>
          <a:prstGeom prst="rect">
            <a:avLst/>
          </a:prstGeom>
          <a:noFill/>
          <a:ln/>
        </p:spPr>
        <p:txBody>
          <a:bodyPr wrap="square" lIns="0" tIns="0" rIns="0" bIns="0" rtlCol="0" anchor="ctr"/>
          <a:lstStyle/>
          <a:p>
            <a:pPr indent="0" marL="0">
              <a:buNone/>
            </a:pPr>
            <a:r>
              <a:rPr lang="en-US" sz="1800" b="1" dirty="0">
                <a:solidFill>
                  <a:schemeClr val="bg1"/>
                </a:solidFill>
              </a:rPr>
              <a:t>Says what the data means and who is accountable for it, at every layer</a:t>
            </a:r>
            <a:endParaRPr lang="en-US" sz="1800" dirty="0"/>
          </a:p>
        </p:txBody>
      </p:sp>
      <p:sp>
        <p:nvSpPr>
          <p:cNvPr id="8" name="Shape 5"/>
          <p:cNvSpPr/>
          <p:nvPr/>
        </p:nvSpPr>
        <p:spPr>
          <a:xfrm>
            <a:off x="548640" y="2971800"/>
            <a:ext cx="1920240" cy="2240280"/>
          </a:xfrm>
          <a:prstGeom prst="roundRect">
            <a:avLst>
              <a:gd name="adj" fmla="val 3810"/>
            </a:avLst>
          </a:prstGeom>
          <a:solidFill>
            <a:schemeClr val="bg2"/>
          </a:solidFill>
          <a:ln/>
        </p:spPr>
      </p:sp>
      <p:sp>
        <p:nvSpPr>
          <p:cNvPr id="9" name="Text 6"/>
          <p:cNvSpPr txBox="1"/>
          <p:nvPr/>
        </p:nvSpPr>
        <p:spPr>
          <a:xfrm>
            <a:off x="713232"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Source systems</a:t>
            </a:r>
            <a:endParaRPr lang="en-US" sz="1600" dirty="0"/>
          </a:p>
        </p:txBody>
      </p:sp>
      <p:sp>
        <p:nvSpPr>
          <p:cNvPr id="10" name="Text 7"/>
          <p:cNvSpPr txBox="1"/>
          <p:nvPr/>
        </p:nvSpPr>
        <p:spPr>
          <a:xfrm>
            <a:off x="713232"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CRM, transfer agent, platform feeds, and others</a:t>
            </a:r>
            <a:endParaRPr lang="en-US" sz="1400" dirty="0"/>
          </a:p>
        </p:txBody>
      </p:sp>
      <p:sp>
        <p:nvSpPr>
          <p:cNvPr id="11" name="Shape 8"/>
          <p:cNvSpPr/>
          <p:nvPr/>
        </p:nvSpPr>
        <p:spPr>
          <a:xfrm>
            <a:off x="2841498" y="2971800"/>
            <a:ext cx="1920240" cy="2240280"/>
          </a:xfrm>
          <a:prstGeom prst="roundRect">
            <a:avLst>
              <a:gd name="adj" fmla="val 3810"/>
            </a:avLst>
          </a:prstGeom>
          <a:solidFill>
            <a:schemeClr val="bg2"/>
          </a:solidFill>
          <a:ln/>
        </p:spPr>
      </p:sp>
      <p:sp>
        <p:nvSpPr>
          <p:cNvPr id="12" name="Text 9"/>
          <p:cNvSpPr txBox="1"/>
          <p:nvPr/>
        </p:nvSpPr>
        <p:spPr>
          <a:xfrm>
            <a:off x="3006090"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Foundational products</a:t>
            </a:r>
            <a:endParaRPr lang="en-US" sz="1600" dirty="0"/>
          </a:p>
        </p:txBody>
      </p:sp>
      <p:sp>
        <p:nvSpPr>
          <p:cNvPr id="13" name="Text 10"/>
          <p:cNvSpPr txBox="1"/>
          <p:nvPr/>
        </p:nvSpPr>
        <p:spPr>
          <a:xfrm>
            <a:off x="3006090"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15 products. Each cleans up a record or number once and certifies it</a:t>
            </a:r>
            <a:endParaRPr lang="en-US" sz="1400" dirty="0"/>
          </a:p>
        </p:txBody>
      </p:sp>
      <p:sp>
        <p:nvSpPr>
          <p:cNvPr id="14" name="Shape 11"/>
          <p:cNvSpPr/>
          <p:nvPr/>
        </p:nvSpPr>
        <p:spPr>
          <a:xfrm>
            <a:off x="5134356" y="2971800"/>
            <a:ext cx="1920240" cy="2240280"/>
          </a:xfrm>
          <a:prstGeom prst="roundRect">
            <a:avLst>
              <a:gd name="adj" fmla="val 3810"/>
            </a:avLst>
          </a:prstGeom>
          <a:solidFill>
            <a:schemeClr val="bg2"/>
          </a:solidFill>
          <a:ln/>
        </p:spPr>
      </p:sp>
      <p:sp>
        <p:nvSpPr>
          <p:cNvPr id="15" name="Text 12"/>
          <p:cNvSpPr txBox="1"/>
          <p:nvPr/>
        </p:nvSpPr>
        <p:spPr>
          <a:xfrm>
            <a:off x="5298948"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Consumer-aligned products</a:t>
            </a:r>
            <a:endParaRPr lang="en-US" sz="1600" dirty="0"/>
          </a:p>
        </p:txBody>
      </p:sp>
      <p:sp>
        <p:nvSpPr>
          <p:cNvPr id="16" name="Text 13"/>
          <p:cNvSpPr txBox="1"/>
          <p:nvPr/>
        </p:nvSpPr>
        <p:spPr>
          <a:xfrm>
            <a:off x="5298948"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77 products. Each is shaped around one team’s decisions</a:t>
            </a:r>
            <a:endParaRPr lang="en-US" sz="1400" dirty="0"/>
          </a:p>
        </p:txBody>
      </p:sp>
      <p:sp>
        <p:nvSpPr>
          <p:cNvPr id="17" name="Shape 14"/>
          <p:cNvSpPr/>
          <p:nvPr/>
        </p:nvSpPr>
        <p:spPr>
          <a:xfrm>
            <a:off x="7427214" y="2971800"/>
            <a:ext cx="1920240" cy="1033272"/>
          </a:xfrm>
          <a:prstGeom prst="roundRect">
            <a:avLst>
              <a:gd name="adj" fmla="val 7080"/>
            </a:avLst>
          </a:prstGeom>
          <a:solidFill>
            <a:schemeClr val="bg2"/>
          </a:solidFill>
          <a:ln/>
        </p:spPr>
      </p:sp>
      <p:sp>
        <p:nvSpPr>
          <p:cNvPr id="18" name="Text 15"/>
          <p:cNvSpPr txBox="1"/>
          <p:nvPr/>
        </p:nvSpPr>
        <p:spPr>
          <a:xfrm>
            <a:off x="7591806" y="3108960"/>
            <a:ext cx="1591056" cy="292608"/>
          </a:xfrm>
          <a:prstGeom prst="rect">
            <a:avLst/>
          </a:prstGeom>
          <a:noFill/>
          <a:ln/>
        </p:spPr>
        <p:txBody>
          <a:bodyPr wrap="square" lIns="0" tIns="0" rIns="0" bIns="0" rtlCol="0" anchor="t"/>
          <a:lstStyle/>
          <a:p>
            <a:pPr indent="0" marL="0">
              <a:buNone/>
            </a:pPr>
            <a:r>
              <a:rPr lang="en-US" sz="1600" b="1" dirty="0">
                <a:solidFill>
                  <a:schemeClr val="tx1"/>
                </a:solidFill>
              </a:rPr>
              <a:t>Semantic layer</a:t>
            </a:r>
            <a:endParaRPr lang="en-US" sz="1600" dirty="0"/>
          </a:p>
        </p:txBody>
      </p:sp>
      <p:sp>
        <p:nvSpPr>
          <p:cNvPr id="19" name="Text 16"/>
          <p:cNvSpPr txBox="1"/>
          <p:nvPr/>
        </p:nvSpPr>
        <p:spPr>
          <a:xfrm>
            <a:off x="7591806" y="3429000"/>
            <a:ext cx="1591056" cy="502920"/>
          </a:xfrm>
          <a:prstGeom prst="rect">
            <a:avLst/>
          </a:prstGeom>
          <a:noFill/>
          <a:ln/>
        </p:spPr>
        <p:txBody>
          <a:bodyPr wrap="square" lIns="0" tIns="0" rIns="0" bIns="0" rtlCol="0" anchor="t"/>
          <a:lstStyle/>
          <a:p>
            <a:pPr indent="0" marL="0">
              <a:buNone/>
            </a:pPr>
            <a:r>
              <a:rPr lang="en-US" sz="1400" dirty="0">
                <a:solidFill>
                  <a:schemeClr val="tx2"/>
                </a:solidFill>
              </a:rPr>
              <a:t>Metrics for analysis</a:t>
            </a:r>
            <a:endParaRPr lang="en-US" sz="1400" dirty="0"/>
          </a:p>
        </p:txBody>
      </p:sp>
      <p:sp>
        <p:nvSpPr>
          <p:cNvPr id="20" name="Shape 17"/>
          <p:cNvSpPr/>
          <p:nvPr/>
        </p:nvSpPr>
        <p:spPr>
          <a:xfrm>
            <a:off x="7427214" y="4178808"/>
            <a:ext cx="1920240" cy="1033272"/>
          </a:xfrm>
          <a:prstGeom prst="roundRect">
            <a:avLst>
              <a:gd name="adj" fmla="val 7080"/>
            </a:avLst>
          </a:prstGeom>
          <a:solidFill>
            <a:schemeClr val="bg2"/>
          </a:solidFill>
          <a:ln/>
        </p:spPr>
      </p:sp>
      <p:sp>
        <p:nvSpPr>
          <p:cNvPr id="21" name="Text 18"/>
          <p:cNvSpPr txBox="1"/>
          <p:nvPr/>
        </p:nvSpPr>
        <p:spPr>
          <a:xfrm>
            <a:off x="7591806" y="4315968"/>
            <a:ext cx="1591056" cy="292608"/>
          </a:xfrm>
          <a:prstGeom prst="rect">
            <a:avLst/>
          </a:prstGeom>
          <a:noFill/>
          <a:ln/>
        </p:spPr>
        <p:txBody>
          <a:bodyPr wrap="square" lIns="0" tIns="0" rIns="0" bIns="0" rtlCol="0" anchor="t"/>
          <a:lstStyle/>
          <a:p>
            <a:pPr indent="0" marL="0">
              <a:buNone/>
            </a:pPr>
            <a:r>
              <a:rPr lang="en-US" sz="1600" b="1" dirty="0">
                <a:solidFill>
                  <a:schemeClr val="tx1"/>
                </a:solidFill>
              </a:rPr>
              <a:t>Direct delivery</a:t>
            </a:r>
            <a:endParaRPr lang="en-US" sz="1600" dirty="0"/>
          </a:p>
        </p:txBody>
      </p:sp>
      <p:sp>
        <p:nvSpPr>
          <p:cNvPr id="22" name="Text 19"/>
          <p:cNvSpPr txBox="1"/>
          <p:nvPr/>
        </p:nvSpPr>
        <p:spPr>
          <a:xfrm>
            <a:off x="7591806" y="4636008"/>
            <a:ext cx="1591056" cy="502920"/>
          </a:xfrm>
          <a:prstGeom prst="rect">
            <a:avLst/>
          </a:prstGeom>
          <a:noFill/>
          <a:ln/>
        </p:spPr>
        <p:txBody>
          <a:bodyPr wrap="square" lIns="0" tIns="0" rIns="0" bIns="0" rtlCol="0" anchor="t"/>
          <a:lstStyle/>
          <a:p>
            <a:pPr indent="0" marL="0">
              <a:buNone/>
            </a:pPr>
            <a:r>
              <a:rPr lang="en-US" sz="1400" dirty="0">
                <a:solidFill>
                  <a:schemeClr val="tx2"/>
                </a:solidFill>
              </a:rPr>
              <a:t>Into a system</a:t>
            </a:r>
            <a:endParaRPr lang="en-US" sz="1400" dirty="0"/>
          </a:p>
        </p:txBody>
      </p:sp>
      <p:sp>
        <p:nvSpPr>
          <p:cNvPr id="23" name="Shape 20"/>
          <p:cNvSpPr/>
          <p:nvPr/>
        </p:nvSpPr>
        <p:spPr>
          <a:xfrm>
            <a:off x="9720072" y="2971800"/>
            <a:ext cx="1920240" cy="2240280"/>
          </a:xfrm>
          <a:prstGeom prst="roundRect">
            <a:avLst>
              <a:gd name="adj" fmla="val 3810"/>
            </a:avLst>
          </a:prstGeom>
          <a:solidFill>
            <a:schemeClr val="bg2"/>
          </a:solidFill>
          <a:ln/>
        </p:spPr>
      </p:sp>
      <p:sp>
        <p:nvSpPr>
          <p:cNvPr id="24" name="Text 21"/>
          <p:cNvSpPr txBox="1"/>
          <p:nvPr/>
        </p:nvSpPr>
        <p:spPr>
          <a:xfrm>
            <a:off x="9884664"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Consumption</a:t>
            </a:r>
            <a:endParaRPr lang="en-US" sz="1600" dirty="0"/>
          </a:p>
        </p:txBody>
      </p:sp>
      <p:sp>
        <p:nvSpPr>
          <p:cNvPr id="25" name="Text 22"/>
          <p:cNvSpPr txBox="1"/>
          <p:nvPr/>
        </p:nvSpPr>
        <p:spPr>
          <a:xfrm>
            <a:off x="9884664"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Dashboards, AI assistants, CRM, payroll, regulators</a:t>
            </a:r>
            <a:endParaRPr lang="en-US" sz="1400" dirty="0"/>
          </a:p>
        </p:txBody>
      </p:sp>
      <p:sp>
        <p:nvSpPr>
          <p:cNvPr id="26" name="Shape 23"/>
          <p:cNvSpPr/>
          <p:nvPr/>
        </p:nvSpPr>
        <p:spPr>
          <a:xfrm>
            <a:off x="2532888" y="4091940"/>
            <a:ext cx="244602" cy="0"/>
          </a:xfrm>
          <a:prstGeom prst="line">
            <a:avLst/>
          </a:prstGeom>
          <a:noFill/>
          <a:ln w="22225">
            <a:solidFill>
              <a:schemeClr val="tx2"/>
            </a:solidFill>
            <a:prstDash val="solid"/>
            <a:tailEnd type="triangle"/>
          </a:ln>
        </p:spPr>
      </p:sp>
      <p:sp>
        <p:nvSpPr>
          <p:cNvPr id="27" name="Shape 24"/>
          <p:cNvSpPr/>
          <p:nvPr/>
        </p:nvSpPr>
        <p:spPr>
          <a:xfrm>
            <a:off x="4825746" y="4091940"/>
            <a:ext cx="244602" cy="0"/>
          </a:xfrm>
          <a:prstGeom prst="line">
            <a:avLst/>
          </a:prstGeom>
          <a:noFill/>
          <a:ln w="22225">
            <a:solidFill>
              <a:schemeClr val="tx2"/>
            </a:solidFill>
            <a:prstDash val="solid"/>
            <a:tailEnd type="triangle"/>
          </a:ln>
        </p:spPr>
      </p:sp>
      <p:sp>
        <p:nvSpPr>
          <p:cNvPr id="28" name="Shape 25"/>
          <p:cNvSpPr/>
          <p:nvPr/>
        </p:nvSpPr>
        <p:spPr>
          <a:xfrm>
            <a:off x="7118604" y="3488436"/>
            <a:ext cx="244602" cy="0"/>
          </a:xfrm>
          <a:prstGeom prst="line">
            <a:avLst/>
          </a:prstGeom>
          <a:noFill/>
          <a:ln w="22225">
            <a:solidFill>
              <a:schemeClr val="tx2"/>
            </a:solidFill>
            <a:prstDash val="solid"/>
            <a:tailEnd type="triangle"/>
          </a:ln>
        </p:spPr>
      </p:sp>
      <p:sp>
        <p:nvSpPr>
          <p:cNvPr id="29" name="Shape 26"/>
          <p:cNvSpPr/>
          <p:nvPr/>
        </p:nvSpPr>
        <p:spPr>
          <a:xfrm>
            <a:off x="9411462" y="3488436"/>
            <a:ext cx="244602" cy="0"/>
          </a:xfrm>
          <a:prstGeom prst="line">
            <a:avLst/>
          </a:prstGeom>
          <a:noFill/>
          <a:ln w="22225">
            <a:solidFill>
              <a:schemeClr val="tx2"/>
            </a:solidFill>
            <a:prstDash val="solid"/>
            <a:tailEnd type="triangle"/>
          </a:ln>
        </p:spPr>
      </p:sp>
      <p:sp>
        <p:nvSpPr>
          <p:cNvPr id="30" name="Shape 27"/>
          <p:cNvSpPr/>
          <p:nvPr/>
        </p:nvSpPr>
        <p:spPr>
          <a:xfrm>
            <a:off x="7118604" y="4695444"/>
            <a:ext cx="244602" cy="0"/>
          </a:xfrm>
          <a:prstGeom prst="line">
            <a:avLst/>
          </a:prstGeom>
          <a:noFill/>
          <a:ln w="22225">
            <a:solidFill>
              <a:schemeClr val="tx2"/>
            </a:solidFill>
            <a:prstDash val="solid"/>
            <a:tailEnd type="triangle"/>
          </a:ln>
        </p:spPr>
      </p:sp>
      <p:sp>
        <p:nvSpPr>
          <p:cNvPr id="31" name="Shape 28"/>
          <p:cNvSpPr/>
          <p:nvPr/>
        </p:nvSpPr>
        <p:spPr>
          <a:xfrm>
            <a:off x="9411462" y="4695444"/>
            <a:ext cx="244602" cy="0"/>
          </a:xfrm>
          <a:prstGeom prst="line">
            <a:avLst/>
          </a:prstGeom>
          <a:noFill/>
          <a:ln w="22225">
            <a:solidFill>
              <a:schemeClr val="tx2"/>
            </a:solidFill>
            <a:prstDash val="solid"/>
            <a:tailEnd type="triangle"/>
          </a:ln>
        </p:spPr>
      </p:sp>
      <p:sp>
        <p:nvSpPr>
          <p:cNvPr id="32" name="Shape 29"/>
          <p:cNvSpPr/>
          <p:nvPr/>
        </p:nvSpPr>
        <p:spPr>
          <a:xfrm>
            <a:off x="1508760" y="2651760"/>
            <a:ext cx="0" cy="320040"/>
          </a:xfrm>
          <a:prstGeom prst="line">
            <a:avLst/>
          </a:prstGeom>
          <a:noFill/>
          <a:ln w="19050">
            <a:solidFill>
              <a:schemeClr val="accent1"/>
            </a:solidFill>
            <a:prstDash val="solid"/>
            <a:tailEnd type="triangle"/>
          </a:ln>
        </p:spPr>
      </p:sp>
      <p:sp>
        <p:nvSpPr>
          <p:cNvPr id="33" name="Shape 30"/>
          <p:cNvSpPr/>
          <p:nvPr/>
        </p:nvSpPr>
        <p:spPr>
          <a:xfrm>
            <a:off x="3801618" y="2651760"/>
            <a:ext cx="0" cy="320040"/>
          </a:xfrm>
          <a:prstGeom prst="line">
            <a:avLst/>
          </a:prstGeom>
          <a:noFill/>
          <a:ln w="19050">
            <a:solidFill>
              <a:schemeClr val="accent1"/>
            </a:solidFill>
            <a:prstDash val="solid"/>
            <a:tailEnd type="triangle"/>
          </a:ln>
        </p:spPr>
      </p:sp>
      <p:sp>
        <p:nvSpPr>
          <p:cNvPr id="34" name="Shape 31"/>
          <p:cNvSpPr/>
          <p:nvPr/>
        </p:nvSpPr>
        <p:spPr>
          <a:xfrm>
            <a:off x="6094476" y="2651760"/>
            <a:ext cx="0" cy="320040"/>
          </a:xfrm>
          <a:prstGeom prst="line">
            <a:avLst/>
          </a:prstGeom>
          <a:noFill/>
          <a:ln w="19050">
            <a:solidFill>
              <a:schemeClr val="accent1"/>
            </a:solidFill>
            <a:prstDash val="solid"/>
            <a:tailEnd type="triangle"/>
          </a:ln>
        </p:spPr>
      </p:sp>
      <p:sp>
        <p:nvSpPr>
          <p:cNvPr id="35" name="Shape 32"/>
          <p:cNvSpPr/>
          <p:nvPr/>
        </p:nvSpPr>
        <p:spPr>
          <a:xfrm>
            <a:off x="8387334" y="2651760"/>
            <a:ext cx="0" cy="320040"/>
          </a:xfrm>
          <a:prstGeom prst="line">
            <a:avLst/>
          </a:prstGeom>
          <a:noFill/>
          <a:ln w="19050">
            <a:solidFill>
              <a:schemeClr val="accent1"/>
            </a:solidFill>
            <a:prstDash val="solid"/>
            <a:tailEnd type="triangle"/>
          </a:ln>
        </p:spPr>
      </p:sp>
      <p:sp>
        <p:nvSpPr>
          <p:cNvPr id="36" name="Shape 33"/>
          <p:cNvSpPr/>
          <p:nvPr/>
        </p:nvSpPr>
        <p:spPr>
          <a:xfrm>
            <a:off x="10680192" y="2651760"/>
            <a:ext cx="0" cy="320040"/>
          </a:xfrm>
          <a:prstGeom prst="line">
            <a:avLst/>
          </a:prstGeom>
          <a:noFill/>
          <a:ln w="19050">
            <a:solidFill>
              <a:schemeClr val="accent1"/>
            </a:solidFill>
            <a:prstDash val="solid"/>
            <a:tailEnd type="triangle"/>
          </a:ln>
        </p:spPr>
      </p:sp>
      <p:sp>
        <p:nvSpPr>
          <p:cNvPr id="37" name="Text 34"/>
          <p:cNvSpPr txBox="1"/>
          <p:nvPr/>
        </p:nvSpPr>
        <p:spPr>
          <a:xfrm>
            <a:off x="548640" y="5440680"/>
            <a:ext cx="11091672" cy="457200"/>
          </a:xfrm>
          <a:prstGeom prst="rect">
            <a:avLst/>
          </a:prstGeom>
          <a:noFill/>
          <a:ln/>
        </p:spPr>
        <p:txBody>
          <a:bodyPr wrap="square" lIns="0" tIns="0" rIns="0" bIns="0" rtlCol="0" anchor="ctr"/>
          <a:lstStyle/>
          <a:p>
            <a:pPr indent="0" marL="0">
              <a:buNone/>
            </a:pPr>
            <a:r>
              <a:rPr lang="en-US" sz="1600" b="1" dirty="0">
                <a:solidFill>
                  <a:schemeClr val="tx1"/>
                </a:solidFill>
              </a:rPr>
              <a:t>Data moves left to right. Meaning moves top to bottom.</a:t>
            </a:r>
            <a:pPr indent="0" marL="0">
              <a:buNone/>
            </a:pPr>
            <a:r>
              <a:rPr lang="en-US" sz="1600" dirty="0">
                <a:solidFill>
                  <a:schemeClr val="tx2"/>
                </a:solidFill>
              </a:rPr>
              <a:t>  Gaps found along the way go back to the owning domain.</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Each layer has one job and one limit</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WHAT EACH LAYER OWNS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743200"/>
                <a:gridCol w="4343400"/>
                <a:gridCol w="4005072"/>
              </a:tblGrid>
              <a:tr h="438912">
                <a:tc>
                  <a:txBody>
                    <a:bodyPr/>
                    <a:lstStyle/>
                    <a:p>
                      <a:pPr indent="0" marL="0">
                        <a:buNone/>
                      </a:pPr>
                      <a:r>
                        <a:rPr lang="en-US" sz="1400" b="1" dirty="0">
                          <a:solidFill>
                            <a:schemeClr val="bg1"/>
                          </a:solidFill>
                        </a:rPr>
                        <a:t>Layer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Its job</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It must not</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r>
              <a:tr h="621792">
                <a:tc>
                  <a:txBody>
                    <a:bodyPr/>
                    <a:lstStyle/>
                    <a:p>
                      <a:pPr indent="0" marL="0">
                        <a:buNone/>
                      </a:pPr>
                      <a:r>
                        <a:rPr lang="en-US" sz="1400" b="1" dirty="0">
                          <a:solidFill>
                            <a:schemeClr val="accent1"/>
                          </a:solidFill>
                        </a:rPr>
                        <a:t>Source systems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Capture transactions and records as the system of record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Become the place where cross-function numbers are defined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Foundational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Conform a record or number once, certify it and lock snapshots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Remaster a concept or shape it for one team</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accent1"/>
                          </a:solidFill>
                        </a:rPr>
                        <a:t>Consumer-aligned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Shape data around one function’s decisions or workflow</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Recalculate a certified number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Semantic layer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Publish one governed set of metrics, dimensions and access rules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Introduce a metric that no product or taxonomy measure backs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accent1"/>
                          </a:solidFill>
                        </a:rPr>
                        <a:t>Direct delivery</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Deliver product data into a system by API, file, event or CRM sync</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Carry its own copy of a measure definition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Consumption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Make the decision or take the action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Keep a calculation that others reuse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question, three ideas, three owners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THE QUESTION</a:t>
            </a:r>
            <a:endParaRPr lang="en-US" sz="1200" dirty="0"/>
          </a:p>
        </p:txBody>
      </p:sp>
      <p:sp>
        <p:nvSpPr>
          <p:cNvPr id="5" name="Shape 2"/>
          <p:cNvSpPr/>
          <p:nvPr/>
        </p:nvSpPr>
        <p:spPr>
          <a:xfrm>
            <a:off x="548640" y="1737360"/>
            <a:ext cx="11091672" cy="1508760"/>
          </a:xfrm>
          <a:prstGeom prst="roundRect">
            <a:avLst>
              <a:gd name="adj" fmla="val 4848"/>
            </a:avLst>
          </a:prstGeom>
          <a:solidFill>
            <a:schemeClr val="bg2"/>
          </a:solidFill>
          <a:ln/>
        </p:spPr>
      </p:sp>
      <p:sp>
        <p:nvSpPr>
          <p:cNvPr id="6" name="Text 3"/>
          <p:cNvSpPr txBox="1"/>
          <p:nvPr/>
        </p:nvSpPr>
        <p:spPr>
          <a:xfrm>
            <a:off x="822960" y="1874520"/>
            <a:ext cx="10543032" cy="274320"/>
          </a:xfrm>
          <a:prstGeom prst="rect">
            <a:avLst/>
          </a:prstGeom>
          <a:noFill/>
          <a:ln/>
        </p:spPr>
        <p:txBody>
          <a:bodyPr wrap="square" lIns="0" tIns="0" rIns="0" bIns="0" rtlCol="0" anchor="t"/>
          <a:lstStyle/>
          <a:p>
            <a:pPr indent="0" marL="0">
              <a:buNone/>
            </a:pPr>
            <a:r>
              <a:rPr lang="en-US" sz="1200" dirty="0">
                <a:solidFill>
                  <a:schemeClr val="tx2"/>
                </a:solidFill>
              </a:rPr>
              <a:t>The Head of Product Strategy asks</a:t>
            </a:r>
            <a:endParaRPr lang="en-US" sz="1200" dirty="0"/>
          </a:p>
        </p:txBody>
      </p:sp>
      <p:sp>
        <p:nvSpPr>
          <p:cNvPr id="7" name="Text 4"/>
          <p:cNvSpPr txBox="1"/>
          <p:nvPr/>
        </p:nvSpPr>
        <p:spPr>
          <a:xfrm>
            <a:off x="822960" y="2194560"/>
            <a:ext cx="10543032" cy="914400"/>
          </a:xfrm>
          <a:prstGeom prst="rect">
            <a:avLst/>
          </a:prstGeom>
          <a:noFill/>
          <a:ln/>
        </p:spPr>
        <p:txBody>
          <a:bodyPr wrap="square" lIns="0" tIns="0" rIns="0" bIns="0" rtlCol="0" anchor="ctr"/>
          <a:lstStyle/>
          <a:p>
            <a:pPr indent="0" marL="0">
              <a:buNone/>
            </a:pPr>
            <a:r>
              <a:rPr lang="en-US" sz="2400" b="1" dirty="0">
                <a:solidFill>
                  <a:schemeClr val="tx1"/>
                </a:solidFill>
              </a:rPr>
              <a:t>“Which of our share classes are </a:t>
            </a:r>
            <a:pPr indent="0" marL="0">
              <a:buNone/>
            </a:pPr>
            <a:r>
              <a:rPr lang="en-US" sz="2400" b="1" dirty="0">
                <a:solidFill>
                  <a:schemeClr val="accent2"/>
                </a:solidFill>
              </a:rPr>
              <a:t>priced</a:t>
            </a:r>
            <a:pPr indent="0" marL="0">
              <a:buNone/>
            </a:pPr>
            <a:r>
              <a:rPr lang="en-US" sz="2400" b="1" dirty="0">
                <a:solidFill>
                  <a:schemeClr val="tx1"/>
                </a:solidFill>
              </a:rPr>
              <a:t> above their </a:t>
            </a:r>
            <a:pPr indent="0" marL="0">
              <a:buNone/>
            </a:pPr>
            <a:r>
              <a:rPr lang="en-US" sz="2400" b="1" dirty="0">
                <a:solidFill>
                  <a:schemeClr val="accent4"/>
                </a:solidFill>
              </a:rPr>
              <a:t>peers</a:t>
            </a:r>
            <a:pPr indent="0" marL="0">
              <a:buNone/>
            </a:pPr>
            <a:r>
              <a:rPr lang="en-US" sz="2400" b="1" dirty="0">
                <a:solidFill>
                  <a:schemeClr val="tx1"/>
                </a:solidFill>
              </a:rPr>
              <a:t> and </a:t>
            </a:r>
            <a:pPr indent="0" marL="0">
              <a:buNone/>
            </a:pPr>
            <a:r>
              <a:rPr lang="en-US" sz="2400" b="1" dirty="0">
                <a:solidFill>
                  <a:schemeClr val="accent1"/>
                </a:solidFill>
              </a:rPr>
              <a:t>losing assets</a:t>
            </a:r>
            <a:pPr indent="0" marL="0">
              <a:buNone/>
            </a:pPr>
            <a:r>
              <a:rPr lang="en-US" sz="2400" b="1" dirty="0">
                <a:solidFill>
                  <a:schemeClr val="tx1"/>
                </a:solidFill>
              </a:rPr>
              <a:t>?”</a:t>
            </a:r>
            <a:endParaRPr lang="en-US" sz="1400" dirty="0"/>
          </a:p>
        </p:txBody>
      </p:sp>
      <p:sp>
        <p:nvSpPr>
          <p:cNvPr id="8" name="Shape 5"/>
          <p:cNvSpPr/>
          <p:nvPr/>
        </p:nvSpPr>
        <p:spPr>
          <a:xfrm>
            <a:off x="548640" y="3474720"/>
            <a:ext cx="3538728" cy="1874520"/>
          </a:xfrm>
          <a:prstGeom prst="roundRect">
            <a:avLst>
              <a:gd name="adj" fmla="val 3902"/>
            </a:avLst>
          </a:prstGeom>
          <a:solidFill>
            <a:schemeClr val="bg2"/>
          </a:solidFill>
          <a:ln/>
        </p:spPr>
      </p:sp>
      <p:sp>
        <p:nvSpPr>
          <p:cNvPr id="9" name="Text 6"/>
          <p:cNvSpPr txBox="1"/>
          <p:nvPr/>
        </p:nvSpPr>
        <p:spPr>
          <a:xfrm>
            <a:off x="777240" y="3611880"/>
            <a:ext cx="3081528" cy="320040"/>
          </a:xfrm>
          <a:prstGeom prst="rect">
            <a:avLst/>
          </a:prstGeom>
          <a:noFill/>
          <a:ln/>
        </p:spPr>
        <p:txBody>
          <a:bodyPr wrap="square" lIns="0" tIns="0" rIns="0" bIns="0" rtlCol="0" anchor="t"/>
          <a:lstStyle/>
          <a:p>
            <a:pPr indent="0" marL="0">
              <a:buNone/>
            </a:pPr>
            <a:r>
              <a:rPr lang="en-US" sz="1600" b="1" dirty="0">
                <a:solidFill>
                  <a:schemeClr val="accent2"/>
                </a:solidFill>
              </a:rPr>
              <a:t>“priced”</a:t>
            </a:r>
            <a:endParaRPr lang="en-US" sz="1600" dirty="0"/>
          </a:p>
        </p:txBody>
      </p:sp>
      <p:sp>
        <p:nvSpPr>
          <p:cNvPr id="10" name="Text 7"/>
          <p:cNvSpPr txBox="1"/>
          <p:nvPr/>
        </p:nvSpPr>
        <p:spPr>
          <a:xfrm>
            <a:off x="777240"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Net Expense Ratio</a:t>
            </a:r>
            <a:endParaRPr lang="en-US" sz="2000" dirty="0"/>
          </a:p>
        </p:txBody>
      </p:sp>
      <p:sp>
        <p:nvSpPr>
          <p:cNvPr id="11" name="Text 8"/>
          <p:cNvSpPr txBox="1"/>
          <p:nvPr/>
        </p:nvSpPr>
        <p:spPr>
          <a:xfrm>
            <a:off x="777240"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12" name="Text 9"/>
          <p:cNvSpPr txBox="1"/>
          <p:nvPr/>
        </p:nvSpPr>
        <p:spPr>
          <a:xfrm>
            <a:off x="777240"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01 Investment Product</a:t>
            </a:r>
            <a:endParaRPr lang="en-US" sz="1400" dirty="0"/>
          </a:p>
        </p:txBody>
      </p:sp>
      <p:sp>
        <p:nvSpPr>
          <p:cNvPr id="13" name="Shape 10"/>
          <p:cNvSpPr/>
          <p:nvPr/>
        </p:nvSpPr>
        <p:spPr>
          <a:xfrm>
            <a:off x="4325112" y="3474720"/>
            <a:ext cx="3538728" cy="1874520"/>
          </a:xfrm>
          <a:prstGeom prst="roundRect">
            <a:avLst>
              <a:gd name="adj" fmla="val 3902"/>
            </a:avLst>
          </a:prstGeom>
          <a:solidFill>
            <a:schemeClr val="bg2"/>
          </a:solidFill>
          <a:ln/>
        </p:spPr>
      </p:sp>
      <p:sp>
        <p:nvSpPr>
          <p:cNvPr id="14" name="Text 11"/>
          <p:cNvSpPr txBox="1"/>
          <p:nvPr/>
        </p:nvSpPr>
        <p:spPr>
          <a:xfrm>
            <a:off x="4553712" y="3611880"/>
            <a:ext cx="3081528" cy="320040"/>
          </a:xfrm>
          <a:prstGeom prst="rect">
            <a:avLst/>
          </a:prstGeom>
          <a:noFill/>
          <a:ln/>
        </p:spPr>
        <p:txBody>
          <a:bodyPr wrap="square" lIns="0" tIns="0" rIns="0" bIns="0" rtlCol="0" anchor="t"/>
          <a:lstStyle/>
          <a:p>
            <a:pPr indent="0" marL="0">
              <a:buNone/>
            </a:pPr>
            <a:r>
              <a:rPr lang="en-US" sz="1600" b="1" dirty="0">
                <a:solidFill>
                  <a:schemeClr val="accent4"/>
                </a:solidFill>
              </a:rPr>
              <a:t>“peers”</a:t>
            </a:r>
            <a:endParaRPr lang="en-US" sz="1600" dirty="0"/>
          </a:p>
        </p:txBody>
      </p:sp>
      <p:sp>
        <p:nvSpPr>
          <p:cNvPr id="15" name="Text 12"/>
          <p:cNvSpPr txBox="1"/>
          <p:nvPr/>
        </p:nvSpPr>
        <p:spPr>
          <a:xfrm>
            <a:off x="4553712"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Peer Median Fee</a:t>
            </a:r>
            <a:endParaRPr lang="en-US" sz="2000" dirty="0"/>
          </a:p>
        </p:txBody>
      </p:sp>
      <p:sp>
        <p:nvSpPr>
          <p:cNvPr id="16" name="Text 13"/>
          <p:cNvSpPr txBox="1"/>
          <p:nvPr/>
        </p:nvSpPr>
        <p:spPr>
          <a:xfrm>
            <a:off x="4553712"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17" name="Text 14"/>
          <p:cNvSpPr txBox="1"/>
          <p:nvPr/>
        </p:nvSpPr>
        <p:spPr>
          <a:xfrm>
            <a:off x="4553712"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11 Market &amp; Competitive Intelligence</a:t>
            </a:r>
            <a:endParaRPr lang="en-US" sz="1400" dirty="0"/>
          </a:p>
        </p:txBody>
      </p:sp>
      <p:sp>
        <p:nvSpPr>
          <p:cNvPr id="18" name="Shape 15"/>
          <p:cNvSpPr/>
          <p:nvPr/>
        </p:nvSpPr>
        <p:spPr>
          <a:xfrm>
            <a:off x="8101584" y="3474720"/>
            <a:ext cx="3538728" cy="1874520"/>
          </a:xfrm>
          <a:prstGeom prst="roundRect">
            <a:avLst>
              <a:gd name="adj" fmla="val 3902"/>
            </a:avLst>
          </a:prstGeom>
          <a:solidFill>
            <a:schemeClr val="bg2"/>
          </a:solidFill>
          <a:ln/>
        </p:spPr>
      </p:sp>
      <p:sp>
        <p:nvSpPr>
          <p:cNvPr id="19" name="Text 16"/>
          <p:cNvSpPr txBox="1"/>
          <p:nvPr/>
        </p:nvSpPr>
        <p:spPr>
          <a:xfrm>
            <a:off x="8330184" y="3611880"/>
            <a:ext cx="3081528" cy="320040"/>
          </a:xfrm>
          <a:prstGeom prst="rect">
            <a:avLst/>
          </a:prstGeom>
          <a:noFill/>
          <a:ln/>
        </p:spPr>
        <p:txBody>
          <a:bodyPr wrap="square" lIns="0" tIns="0" rIns="0" bIns="0" rtlCol="0" anchor="t"/>
          <a:lstStyle/>
          <a:p>
            <a:pPr indent="0" marL="0">
              <a:buNone/>
            </a:pPr>
            <a:r>
              <a:rPr lang="en-US" sz="1600" b="1" dirty="0">
                <a:solidFill>
                  <a:schemeClr val="accent1"/>
                </a:solidFill>
              </a:rPr>
              <a:t>“losing assets”</a:t>
            </a:r>
            <a:endParaRPr lang="en-US" sz="1600" dirty="0"/>
          </a:p>
        </p:txBody>
      </p:sp>
      <p:sp>
        <p:nvSpPr>
          <p:cNvPr id="20" name="Text 17"/>
          <p:cNvSpPr txBox="1"/>
          <p:nvPr/>
        </p:nvSpPr>
        <p:spPr>
          <a:xfrm>
            <a:off x="8330184"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Net Flows</a:t>
            </a:r>
            <a:endParaRPr lang="en-US" sz="2000" dirty="0"/>
          </a:p>
        </p:txBody>
      </p:sp>
      <p:sp>
        <p:nvSpPr>
          <p:cNvPr id="21" name="Text 18"/>
          <p:cNvSpPr txBox="1"/>
          <p:nvPr/>
        </p:nvSpPr>
        <p:spPr>
          <a:xfrm>
            <a:off x="8330184"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22" name="Text 19"/>
          <p:cNvSpPr txBox="1"/>
          <p:nvPr/>
        </p:nvSpPr>
        <p:spPr>
          <a:xfrm>
            <a:off x="8330184"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06 Sales Transactions &amp; AUM Attribution</a:t>
            </a:r>
            <a:endParaRPr lang="en-US" sz="1400" dirty="0"/>
          </a:p>
        </p:txBody>
      </p:sp>
      <p:sp>
        <p:nvSpPr>
          <p:cNvPr id="23" name="Text 20"/>
          <p:cNvSpPr txBox="1"/>
          <p:nvPr/>
        </p:nvSpPr>
        <p:spPr>
          <a:xfrm>
            <a:off x="548640" y="5559552"/>
            <a:ext cx="11091672" cy="365760"/>
          </a:xfrm>
          <a:prstGeom prst="rect">
            <a:avLst/>
          </a:prstGeom>
          <a:noFill/>
          <a:ln/>
        </p:spPr>
        <p:txBody>
          <a:bodyPr wrap="square" lIns="0" tIns="0" rIns="0" bIns="0" rtlCol="0" anchor="ctr"/>
          <a:lstStyle/>
          <a:p>
            <a:pPr indent="0" marL="0">
              <a:buNone/>
            </a:pPr>
            <a:r>
              <a:rPr lang="en-US" sz="1600" dirty="0">
                <a:solidFill>
                  <a:schemeClr val="tx1"/>
                </a:solidFill>
              </a:rPr>
              <a:t>We follow one share class: </a:t>
            </a:r>
            <a:pPr indent="0" marL="0">
              <a:buNone/>
            </a:pPr>
            <a:r>
              <a:rPr lang="en-US" sz="1600" b="1" dirty="0">
                <a:solidFill>
                  <a:schemeClr val="tx1"/>
                </a:solidFill>
              </a:rPr>
              <a:t>Global Equity Income Fund, Class A, net expense ratio 0.95%.</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definition travels through five levels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THE ROUTE</a:t>
            </a:r>
            <a:endParaRPr lang="en-US" sz="1200" dirty="0"/>
          </a:p>
        </p:txBody>
      </p:sp>
      <p:sp>
        <p:nvSpPr>
          <p:cNvPr id="5" name="Shape 2"/>
          <p:cNvSpPr/>
          <p:nvPr/>
        </p:nvSpPr>
        <p:spPr>
          <a:xfrm>
            <a:off x="548640" y="1783080"/>
            <a:ext cx="1920240" cy="2103120"/>
          </a:xfrm>
          <a:prstGeom prst="roundRect">
            <a:avLst>
              <a:gd name="adj" fmla="val 3810"/>
            </a:avLst>
          </a:prstGeom>
          <a:solidFill>
            <a:schemeClr val="bg2"/>
          </a:solidFill>
          <a:ln/>
        </p:spPr>
      </p:sp>
      <p:sp>
        <p:nvSpPr>
          <p:cNvPr id="6" name="Shape 3"/>
          <p:cNvSpPr/>
          <p:nvPr/>
        </p:nvSpPr>
        <p:spPr>
          <a:xfrm>
            <a:off x="731520" y="1938528"/>
            <a:ext cx="420624" cy="420624"/>
          </a:xfrm>
          <a:prstGeom prst="ellipse">
            <a:avLst/>
          </a:prstGeom>
          <a:solidFill>
            <a:schemeClr val="accent1"/>
          </a:solidFill>
          <a:ln/>
        </p:spPr>
      </p:sp>
      <p:sp>
        <p:nvSpPr>
          <p:cNvPr id="7" name="Text 4"/>
          <p:cNvSpPr txBox="1"/>
          <p:nvPr/>
        </p:nvSpPr>
        <p:spPr>
          <a:xfrm>
            <a:off x="731520"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31520"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Source systems</a:t>
            </a:r>
            <a:endParaRPr lang="en-US" sz="1600" dirty="0"/>
          </a:p>
        </p:txBody>
      </p:sp>
      <p:sp>
        <p:nvSpPr>
          <p:cNvPr id="9" name="Text 6"/>
          <p:cNvSpPr txBox="1"/>
          <p:nvPr/>
        </p:nvSpPr>
        <p:spPr>
          <a:xfrm>
            <a:off x="731520"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Product master, data vendor, transfer agent</a:t>
            </a:r>
            <a:endParaRPr lang="en-US" sz="1400" dirty="0"/>
          </a:p>
        </p:txBody>
      </p:sp>
      <p:sp>
        <p:nvSpPr>
          <p:cNvPr id="10" name="Shape 7"/>
          <p:cNvSpPr/>
          <p:nvPr/>
        </p:nvSpPr>
        <p:spPr>
          <a:xfrm>
            <a:off x="2532888" y="2834640"/>
            <a:ext cx="244602" cy="0"/>
          </a:xfrm>
          <a:prstGeom prst="line">
            <a:avLst/>
          </a:prstGeom>
          <a:noFill/>
          <a:ln w="22225">
            <a:solidFill>
              <a:schemeClr val="tx2"/>
            </a:solidFill>
            <a:prstDash val="solid"/>
            <a:tailEnd type="triangle"/>
          </a:ln>
        </p:spPr>
      </p:sp>
      <p:sp>
        <p:nvSpPr>
          <p:cNvPr id="11" name="Shape 8"/>
          <p:cNvSpPr/>
          <p:nvPr/>
        </p:nvSpPr>
        <p:spPr>
          <a:xfrm>
            <a:off x="1508760" y="3886200"/>
            <a:ext cx="0" cy="182880"/>
          </a:xfrm>
          <a:prstGeom prst="line">
            <a:avLst/>
          </a:prstGeom>
          <a:noFill/>
          <a:ln w="19050">
            <a:solidFill>
              <a:schemeClr val="accent1"/>
            </a:solidFill>
            <a:prstDash val="solid"/>
          </a:ln>
        </p:spPr>
      </p:sp>
      <p:sp>
        <p:nvSpPr>
          <p:cNvPr id="12" name="Shape 9"/>
          <p:cNvSpPr/>
          <p:nvPr/>
        </p:nvSpPr>
        <p:spPr>
          <a:xfrm>
            <a:off x="640080" y="4069080"/>
            <a:ext cx="1737360" cy="329184"/>
          </a:xfrm>
          <a:prstGeom prst="roundRect">
            <a:avLst>
              <a:gd name="adj" fmla="val 50000"/>
            </a:avLst>
          </a:prstGeom>
          <a:solidFill>
            <a:schemeClr val="bg1"/>
          </a:solidFill>
          <a:ln w="15875">
            <a:solidFill>
              <a:schemeClr val="accent1"/>
            </a:solidFill>
            <a:prstDash val="solid"/>
          </a:ln>
        </p:spPr>
      </p:sp>
      <p:sp>
        <p:nvSpPr>
          <p:cNvPr id="13" name="Text 10"/>
          <p:cNvSpPr txBox="1"/>
          <p:nvPr/>
        </p:nvSpPr>
        <p:spPr>
          <a:xfrm>
            <a:off x="640080"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Mapping target</a:t>
            </a:r>
            <a:endParaRPr lang="en-US" sz="1200" dirty="0"/>
          </a:p>
        </p:txBody>
      </p:sp>
      <p:sp>
        <p:nvSpPr>
          <p:cNvPr id="14" name="Shape 11"/>
          <p:cNvSpPr/>
          <p:nvPr/>
        </p:nvSpPr>
        <p:spPr>
          <a:xfrm>
            <a:off x="1508760" y="4398264"/>
            <a:ext cx="0" cy="310896"/>
          </a:xfrm>
          <a:prstGeom prst="line">
            <a:avLst/>
          </a:prstGeom>
          <a:noFill/>
          <a:ln w="19050">
            <a:solidFill>
              <a:schemeClr val="accent1"/>
            </a:solidFill>
            <a:prstDash val="solid"/>
          </a:ln>
        </p:spPr>
      </p:sp>
      <p:sp>
        <p:nvSpPr>
          <p:cNvPr id="15" name="Shape 12"/>
          <p:cNvSpPr/>
          <p:nvPr/>
        </p:nvSpPr>
        <p:spPr>
          <a:xfrm>
            <a:off x="2841498" y="1783080"/>
            <a:ext cx="1920240" cy="2103120"/>
          </a:xfrm>
          <a:prstGeom prst="roundRect">
            <a:avLst>
              <a:gd name="adj" fmla="val 3810"/>
            </a:avLst>
          </a:prstGeom>
          <a:solidFill>
            <a:schemeClr val="bg2"/>
          </a:solidFill>
          <a:ln/>
        </p:spPr>
      </p:sp>
      <p:sp>
        <p:nvSpPr>
          <p:cNvPr id="16" name="Shape 13"/>
          <p:cNvSpPr/>
          <p:nvPr/>
        </p:nvSpPr>
        <p:spPr>
          <a:xfrm>
            <a:off x="3024378" y="1938528"/>
            <a:ext cx="420624" cy="420624"/>
          </a:xfrm>
          <a:prstGeom prst="ellipse">
            <a:avLst/>
          </a:prstGeom>
          <a:solidFill>
            <a:schemeClr val="accent1"/>
          </a:solidFill>
          <a:ln/>
        </p:spPr>
      </p:sp>
      <p:sp>
        <p:nvSpPr>
          <p:cNvPr id="17" name="Text 14"/>
          <p:cNvSpPr txBox="1"/>
          <p:nvPr/>
        </p:nvSpPr>
        <p:spPr>
          <a:xfrm>
            <a:off x="3024378"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5"/>
          <p:cNvSpPr txBox="1"/>
          <p:nvPr/>
        </p:nvSpPr>
        <p:spPr>
          <a:xfrm>
            <a:off x="3024378"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Foundational data products</a:t>
            </a:r>
            <a:endParaRPr lang="en-US" sz="1600" dirty="0"/>
          </a:p>
        </p:txBody>
      </p:sp>
      <p:sp>
        <p:nvSpPr>
          <p:cNvPr id="19" name="Text 16"/>
          <p:cNvSpPr txBox="1"/>
          <p:nvPr/>
        </p:nvSpPr>
        <p:spPr>
          <a:xfrm>
            <a:off x="3024378"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DP-004, DP-014, DP-008</a:t>
            </a:r>
            <a:endParaRPr lang="en-US" sz="1400" dirty="0"/>
          </a:p>
        </p:txBody>
      </p:sp>
      <p:sp>
        <p:nvSpPr>
          <p:cNvPr id="20" name="Shape 17"/>
          <p:cNvSpPr/>
          <p:nvPr/>
        </p:nvSpPr>
        <p:spPr>
          <a:xfrm>
            <a:off x="4825746" y="2834640"/>
            <a:ext cx="244602" cy="0"/>
          </a:xfrm>
          <a:prstGeom prst="line">
            <a:avLst/>
          </a:prstGeom>
          <a:noFill/>
          <a:ln w="22225">
            <a:solidFill>
              <a:schemeClr val="tx2"/>
            </a:solidFill>
            <a:prstDash val="solid"/>
            <a:tailEnd type="triangle"/>
          </a:ln>
        </p:spPr>
      </p:sp>
      <p:sp>
        <p:nvSpPr>
          <p:cNvPr id="21" name="Shape 18"/>
          <p:cNvSpPr/>
          <p:nvPr/>
        </p:nvSpPr>
        <p:spPr>
          <a:xfrm>
            <a:off x="3801618" y="3886200"/>
            <a:ext cx="0" cy="182880"/>
          </a:xfrm>
          <a:prstGeom prst="line">
            <a:avLst/>
          </a:prstGeom>
          <a:noFill/>
          <a:ln w="19050">
            <a:solidFill>
              <a:schemeClr val="accent1"/>
            </a:solidFill>
            <a:prstDash val="solid"/>
          </a:ln>
        </p:spPr>
      </p:sp>
      <p:sp>
        <p:nvSpPr>
          <p:cNvPr id="22" name="Shape 19"/>
          <p:cNvSpPr/>
          <p:nvPr/>
        </p:nvSpPr>
        <p:spPr>
          <a:xfrm>
            <a:off x="2932938" y="4069080"/>
            <a:ext cx="1737360" cy="329184"/>
          </a:xfrm>
          <a:prstGeom prst="roundRect">
            <a:avLst>
              <a:gd name="adj" fmla="val 50000"/>
            </a:avLst>
          </a:prstGeom>
          <a:solidFill>
            <a:schemeClr val="bg1"/>
          </a:solidFill>
          <a:ln w="15875">
            <a:solidFill>
              <a:schemeClr val="accent1"/>
            </a:solidFill>
            <a:prstDash val="solid"/>
          </a:ln>
        </p:spPr>
      </p:sp>
      <p:sp>
        <p:nvSpPr>
          <p:cNvPr id="23" name="Text 20"/>
          <p:cNvSpPr txBox="1"/>
          <p:nvPr/>
        </p:nvSpPr>
        <p:spPr>
          <a:xfrm>
            <a:off x="2932938"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Bill of materials</a:t>
            </a:r>
            <a:endParaRPr lang="en-US" sz="1200" dirty="0"/>
          </a:p>
        </p:txBody>
      </p:sp>
      <p:sp>
        <p:nvSpPr>
          <p:cNvPr id="24" name="Shape 21"/>
          <p:cNvSpPr/>
          <p:nvPr/>
        </p:nvSpPr>
        <p:spPr>
          <a:xfrm>
            <a:off x="3801618" y="4398264"/>
            <a:ext cx="0" cy="310896"/>
          </a:xfrm>
          <a:prstGeom prst="line">
            <a:avLst/>
          </a:prstGeom>
          <a:noFill/>
          <a:ln w="19050">
            <a:solidFill>
              <a:schemeClr val="accent1"/>
            </a:solidFill>
            <a:prstDash val="solid"/>
          </a:ln>
        </p:spPr>
      </p:sp>
      <p:sp>
        <p:nvSpPr>
          <p:cNvPr id="25" name="Shape 22"/>
          <p:cNvSpPr/>
          <p:nvPr/>
        </p:nvSpPr>
        <p:spPr>
          <a:xfrm>
            <a:off x="5134356" y="1783080"/>
            <a:ext cx="1920240" cy="2103120"/>
          </a:xfrm>
          <a:prstGeom prst="roundRect">
            <a:avLst>
              <a:gd name="adj" fmla="val 3810"/>
            </a:avLst>
          </a:prstGeom>
          <a:solidFill>
            <a:schemeClr val="bg2"/>
          </a:solidFill>
          <a:ln/>
        </p:spPr>
      </p:sp>
      <p:sp>
        <p:nvSpPr>
          <p:cNvPr id="26" name="Shape 23"/>
          <p:cNvSpPr/>
          <p:nvPr/>
        </p:nvSpPr>
        <p:spPr>
          <a:xfrm>
            <a:off x="5317236" y="1938528"/>
            <a:ext cx="420624" cy="420624"/>
          </a:xfrm>
          <a:prstGeom prst="ellipse">
            <a:avLst/>
          </a:prstGeom>
          <a:solidFill>
            <a:schemeClr val="accent1"/>
          </a:solidFill>
          <a:ln/>
        </p:spPr>
      </p:sp>
      <p:sp>
        <p:nvSpPr>
          <p:cNvPr id="27" name="Text 24"/>
          <p:cNvSpPr txBox="1"/>
          <p:nvPr/>
        </p:nvSpPr>
        <p:spPr>
          <a:xfrm>
            <a:off x="5317236"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Text 25"/>
          <p:cNvSpPr txBox="1"/>
          <p:nvPr/>
        </p:nvSpPr>
        <p:spPr>
          <a:xfrm>
            <a:off x="5317236"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Consumer data products</a:t>
            </a:r>
            <a:endParaRPr lang="en-US" sz="1600" dirty="0"/>
          </a:p>
        </p:txBody>
      </p:sp>
      <p:sp>
        <p:nvSpPr>
          <p:cNvPr id="29" name="Text 26"/>
          <p:cNvSpPr txBox="1"/>
          <p:nvPr/>
        </p:nvSpPr>
        <p:spPr>
          <a:xfrm>
            <a:off x="5317236"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DP-030, DP-059</a:t>
            </a:r>
            <a:endParaRPr lang="en-US" sz="1400" dirty="0"/>
          </a:p>
        </p:txBody>
      </p:sp>
      <p:sp>
        <p:nvSpPr>
          <p:cNvPr id="30" name="Shape 27"/>
          <p:cNvSpPr/>
          <p:nvPr/>
        </p:nvSpPr>
        <p:spPr>
          <a:xfrm>
            <a:off x="7118604" y="2834640"/>
            <a:ext cx="244602" cy="0"/>
          </a:xfrm>
          <a:prstGeom prst="line">
            <a:avLst/>
          </a:prstGeom>
          <a:noFill/>
          <a:ln w="22225">
            <a:solidFill>
              <a:schemeClr val="tx2"/>
            </a:solidFill>
            <a:prstDash val="solid"/>
            <a:tailEnd type="triangle"/>
          </a:ln>
        </p:spPr>
      </p:sp>
      <p:sp>
        <p:nvSpPr>
          <p:cNvPr id="31" name="Shape 28"/>
          <p:cNvSpPr/>
          <p:nvPr/>
        </p:nvSpPr>
        <p:spPr>
          <a:xfrm>
            <a:off x="6094476" y="3886200"/>
            <a:ext cx="0" cy="182880"/>
          </a:xfrm>
          <a:prstGeom prst="line">
            <a:avLst/>
          </a:prstGeom>
          <a:noFill/>
          <a:ln w="19050">
            <a:solidFill>
              <a:schemeClr val="accent1"/>
            </a:solidFill>
            <a:prstDash val="solid"/>
          </a:ln>
        </p:spPr>
      </p:sp>
      <p:sp>
        <p:nvSpPr>
          <p:cNvPr id="32" name="Shape 29"/>
          <p:cNvSpPr/>
          <p:nvPr/>
        </p:nvSpPr>
        <p:spPr>
          <a:xfrm>
            <a:off x="5225796" y="4069080"/>
            <a:ext cx="1737360" cy="329184"/>
          </a:xfrm>
          <a:prstGeom prst="roundRect">
            <a:avLst>
              <a:gd name="adj" fmla="val 50000"/>
            </a:avLst>
          </a:prstGeom>
          <a:solidFill>
            <a:schemeClr val="bg1"/>
          </a:solidFill>
          <a:ln w="15875">
            <a:solidFill>
              <a:schemeClr val="accent1"/>
            </a:solidFill>
            <a:prstDash val="solid"/>
          </a:ln>
        </p:spPr>
      </p:sp>
      <p:sp>
        <p:nvSpPr>
          <p:cNvPr id="33" name="Text 30"/>
          <p:cNvSpPr txBox="1"/>
          <p:nvPr/>
        </p:nvSpPr>
        <p:spPr>
          <a:xfrm>
            <a:off x="5225796"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Safe joins</a:t>
            </a:r>
            <a:endParaRPr lang="en-US" sz="1200" dirty="0"/>
          </a:p>
        </p:txBody>
      </p:sp>
      <p:sp>
        <p:nvSpPr>
          <p:cNvPr id="34" name="Shape 31"/>
          <p:cNvSpPr/>
          <p:nvPr/>
        </p:nvSpPr>
        <p:spPr>
          <a:xfrm>
            <a:off x="6094476" y="4398264"/>
            <a:ext cx="0" cy="310896"/>
          </a:xfrm>
          <a:prstGeom prst="line">
            <a:avLst/>
          </a:prstGeom>
          <a:noFill/>
          <a:ln w="19050">
            <a:solidFill>
              <a:schemeClr val="accent1"/>
            </a:solidFill>
            <a:prstDash val="solid"/>
          </a:ln>
        </p:spPr>
      </p:sp>
      <p:sp>
        <p:nvSpPr>
          <p:cNvPr id="35" name="Shape 32"/>
          <p:cNvSpPr/>
          <p:nvPr/>
        </p:nvSpPr>
        <p:spPr>
          <a:xfrm>
            <a:off x="7427214" y="1783080"/>
            <a:ext cx="1920240" cy="2103120"/>
          </a:xfrm>
          <a:prstGeom prst="roundRect">
            <a:avLst>
              <a:gd name="adj" fmla="val 3810"/>
            </a:avLst>
          </a:prstGeom>
          <a:solidFill>
            <a:schemeClr val="bg2"/>
          </a:solidFill>
          <a:ln/>
        </p:spPr>
      </p:sp>
      <p:sp>
        <p:nvSpPr>
          <p:cNvPr id="36" name="Shape 33"/>
          <p:cNvSpPr/>
          <p:nvPr/>
        </p:nvSpPr>
        <p:spPr>
          <a:xfrm>
            <a:off x="7610094" y="1938528"/>
            <a:ext cx="420624" cy="420624"/>
          </a:xfrm>
          <a:prstGeom prst="ellipse">
            <a:avLst/>
          </a:prstGeom>
          <a:solidFill>
            <a:schemeClr val="accent1"/>
          </a:solidFill>
          <a:ln/>
        </p:spPr>
      </p:sp>
      <p:sp>
        <p:nvSpPr>
          <p:cNvPr id="37" name="Text 34"/>
          <p:cNvSpPr txBox="1"/>
          <p:nvPr/>
        </p:nvSpPr>
        <p:spPr>
          <a:xfrm>
            <a:off x="7610094"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8" name="Text 35"/>
          <p:cNvSpPr txBox="1"/>
          <p:nvPr/>
        </p:nvSpPr>
        <p:spPr>
          <a:xfrm>
            <a:off x="7610094"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Semantic model</a:t>
            </a:r>
            <a:endParaRPr lang="en-US" sz="1600" dirty="0"/>
          </a:p>
        </p:txBody>
      </p:sp>
      <p:sp>
        <p:nvSpPr>
          <p:cNvPr id="39" name="Text 36"/>
          <p:cNvSpPr txBox="1"/>
          <p:nvPr/>
        </p:nvSpPr>
        <p:spPr>
          <a:xfrm>
            <a:off x="7610094"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SM-06 metric: Fee Gap to Peer Median</a:t>
            </a:r>
            <a:endParaRPr lang="en-US" sz="1400" dirty="0"/>
          </a:p>
        </p:txBody>
      </p:sp>
      <p:sp>
        <p:nvSpPr>
          <p:cNvPr id="40" name="Shape 37"/>
          <p:cNvSpPr/>
          <p:nvPr/>
        </p:nvSpPr>
        <p:spPr>
          <a:xfrm>
            <a:off x="9411462" y="2834640"/>
            <a:ext cx="244602" cy="0"/>
          </a:xfrm>
          <a:prstGeom prst="line">
            <a:avLst/>
          </a:prstGeom>
          <a:noFill/>
          <a:ln w="22225">
            <a:solidFill>
              <a:schemeClr val="tx2"/>
            </a:solidFill>
            <a:prstDash val="solid"/>
            <a:tailEnd type="triangle"/>
          </a:ln>
        </p:spPr>
      </p:sp>
      <p:sp>
        <p:nvSpPr>
          <p:cNvPr id="41" name="Shape 38"/>
          <p:cNvSpPr/>
          <p:nvPr/>
        </p:nvSpPr>
        <p:spPr>
          <a:xfrm>
            <a:off x="8387334" y="3886200"/>
            <a:ext cx="0" cy="182880"/>
          </a:xfrm>
          <a:prstGeom prst="line">
            <a:avLst/>
          </a:prstGeom>
          <a:noFill/>
          <a:ln w="19050">
            <a:solidFill>
              <a:schemeClr val="accent1"/>
            </a:solidFill>
            <a:prstDash val="solid"/>
          </a:ln>
        </p:spPr>
      </p:sp>
      <p:sp>
        <p:nvSpPr>
          <p:cNvPr id="42" name="Shape 39"/>
          <p:cNvSpPr/>
          <p:nvPr/>
        </p:nvSpPr>
        <p:spPr>
          <a:xfrm>
            <a:off x="7518654" y="4069080"/>
            <a:ext cx="1737360" cy="329184"/>
          </a:xfrm>
          <a:prstGeom prst="roundRect">
            <a:avLst>
              <a:gd name="adj" fmla="val 50000"/>
            </a:avLst>
          </a:prstGeom>
          <a:solidFill>
            <a:schemeClr val="bg1"/>
          </a:solidFill>
          <a:ln w="15875">
            <a:solidFill>
              <a:schemeClr val="accent1"/>
            </a:solidFill>
            <a:prstDash val="solid"/>
          </a:ln>
        </p:spPr>
      </p:sp>
      <p:sp>
        <p:nvSpPr>
          <p:cNvPr id="43" name="Text 40"/>
          <p:cNvSpPr txBox="1"/>
          <p:nvPr/>
        </p:nvSpPr>
        <p:spPr>
          <a:xfrm>
            <a:off x="7518654"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Glossary</a:t>
            </a:r>
            <a:endParaRPr lang="en-US" sz="1200" dirty="0"/>
          </a:p>
        </p:txBody>
      </p:sp>
      <p:sp>
        <p:nvSpPr>
          <p:cNvPr id="44" name="Shape 41"/>
          <p:cNvSpPr/>
          <p:nvPr/>
        </p:nvSpPr>
        <p:spPr>
          <a:xfrm>
            <a:off x="8387334" y="4398264"/>
            <a:ext cx="0" cy="310896"/>
          </a:xfrm>
          <a:prstGeom prst="line">
            <a:avLst/>
          </a:prstGeom>
          <a:noFill/>
          <a:ln w="19050">
            <a:solidFill>
              <a:schemeClr val="accent1"/>
            </a:solidFill>
            <a:prstDash val="solid"/>
          </a:ln>
        </p:spPr>
      </p:sp>
      <p:sp>
        <p:nvSpPr>
          <p:cNvPr id="45" name="Shape 42"/>
          <p:cNvSpPr/>
          <p:nvPr/>
        </p:nvSpPr>
        <p:spPr>
          <a:xfrm>
            <a:off x="9720072" y="1783080"/>
            <a:ext cx="1920240" cy="2103120"/>
          </a:xfrm>
          <a:prstGeom prst="roundRect">
            <a:avLst>
              <a:gd name="adj" fmla="val 3810"/>
            </a:avLst>
          </a:prstGeom>
          <a:solidFill>
            <a:schemeClr val="bg2"/>
          </a:solidFill>
          <a:ln/>
        </p:spPr>
      </p:sp>
      <p:sp>
        <p:nvSpPr>
          <p:cNvPr id="46" name="Shape 43"/>
          <p:cNvSpPr/>
          <p:nvPr/>
        </p:nvSpPr>
        <p:spPr>
          <a:xfrm>
            <a:off x="9902952" y="1938528"/>
            <a:ext cx="420624" cy="420624"/>
          </a:xfrm>
          <a:prstGeom prst="ellipse">
            <a:avLst/>
          </a:prstGeom>
          <a:solidFill>
            <a:schemeClr val="accent1"/>
          </a:solidFill>
          <a:ln/>
        </p:spPr>
      </p:sp>
      <p:sp>
        <p:nvSpPr>
          <p:cNvPr id="47" name="Text 44"/>
          <p:cNvSpPr txBox="1"/>
          <p:nvPr/>
        </p:nvSpPr>
        <p:spPr>
          <a:xfrm>
            <a:off x="9902952"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8" name="Text 45"/>
          <p:cNvSpPr txBox="1"/>
          <p:nvPr/>
        </p:nvSpPr>
        <p:spPr>
          <a:xfrm>
            <a:off x="9902952"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Analytical use</a:t>
            </a:r>
            <a:endParaRPr lang="en-US" sz="1600" dirty="0"/>
          </a:p>
        </p:txBody>
      </p:sp>
      <p:sp>
        <p:nvSpPr>
          <p:cNvPr id="49" name="Text 46"/>
          <p:cNvSpPr txBox="1"/>
          <p:nvPr/>
        </p:nvSpPr>
        <p:spPr>
          <a:xfrm>
            <a:off x="9902952"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Dashboard or AI assistant</a:t>
            </a:r>
            <a:endParaRPr lang="en-US" sz="1400" dirty="0"/>
          </a:p>
        </p:txBody>
      </p:sp>
      <p:sp>
        <p:nvSpPr>
          <p:cNvPr id="50" name="Shape 47"/>
          <p:cNvSpPr/>
          <p:nvPr/>
        </p:nvSpPr>
        <p:spPr>
          <a:xfrm>
            <a:off x="10680192" y="3886200"/>
            <a:ext cx="0" cy="182880"/>
          </a:xfrm>
          <a:prstGeom prst="line">
            <a:avLst/>
          </a:prstGeom>
          <a:noFill/>
          <a:ln w="19050">
            <a:solidFill>
              <a:schemeClr val="accent1"/>
            </a:solidFill>
            <a:prstDash val="solid"/>
          </a:ln>
        </p:spPr>
      </p:sp>
      <p:sp>
        <p:nvSpPr>
          <p:cNvPr id="51" name="Shape 48"/>
          <p:cNvSpPr/>
          <p:nvPr/>
        </p:nvSpPr>
        <p:spPr>
          <a:xfrm>
            <a:off x="9811512" y="4069080"/>
            <a:ext cx="1737360" cy="329184"/>
          </a:xfrm>
          <a:prstGeom prst="roundRect">
            <a:avLst>
              <a:gd name="adj" fmla="val 50000"/>
            </a:avLst>
          </a:prstGeom>
          <a:solidFill>
            <a:schemeClr val="bg1"/>
          </a:solidFill>
          <a:ln w="15875">
            <a:solidFill>
              <a:schemeClr val="accent1"/>
            </a:solidFill>
            <a:prstDash val="solid"/>
          </a:ln>
        </p:spPr>
      </p:sp>
      <p:sp>
        <p:nvSpPr>
          <p:cNvPr id="52" name="Text 49"/>
          <p:cNvSpPr txBox="1"/>
          <p:nvPr/>
        </p:nvSpPr>
        <p:spPr>
          <a:xfrm>
            <a:off x="9811512"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Traceability</a:t>
            </a:r>
            <a:endParaRPr lang="en-US" sz="1200" dirty="0"/>
          </a:p>
        </p:txBody>
      </p:sp>
      <p:sp>
        <p:nvSpPr>
          <p:cNvPr id="53" name="Shape 50"/>
          <p:cNvSpPr/>
          <p:nvPr/>
        </p:nvSpPr>
        <p:spPr>
          <a:xfrm>
            <a:off x="10680192" y="4398264"/>
            <a:ext cx="0" cy="310896"/>
          </a:xfrm>
          <a:prstGeom prst="line">
            <a:avLst/>
          </a:prstGeom>
          <a:noFill/>
          <a:ln w="19050">
            <a:solidFill>
              <a:schemeClr val="accent1"/>
            </a:solidFill>
            <a:prstDash val="solid"/>
          </a:ln>
        </p:spPr>
      </p:sp>
      <p:sp>
        <p:nvSpPr>
          <p:cNvPr id="54" name="Shape 51"/>
          <p:cNvSpPr/>
          <p:nvPr/>
        </p:nvSpPr>
        <p:spPr>
          <a:xfrm>
            <a:off x="548640" y="4709160"/>
            <a:ext cx="11091672" cy="1188720"/>
          </a:xfrm>
          <a:prstGeom prst="roundRect">
            <a:avLst>
              <a:gd name="adj" fmla="val 6154"/>
            </a:avLst>
          </a:prstGeom>
          <a:solidFill>
            <a:schemeClr val="tx1"/>
          </a:solidFill>
          <a:ln/>
        </p:spPr>
      </p:sp>
      <p:sp>
        <p:nvSpPr>
          <p:cNvPr id="55" name="Text 52"/>
          <p:cNvSpPr txBox="1"/>
          <p:nvPr/>
        </p:nvSpPr>
        <p:spPr>
          <a:xfrm>
            <a:off x="822960" y="4846320"/>
            <a:ext cx="3657600"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DATA TAXONOMY</a:t>
            </a:r>
            <a:endParaRPr lang="en-US" sz="1200" dirty="0"/>
          </a:p>
        </p:txBody>
      </p:sp>
      <p:sp>
        <p:nvSpPr>
          <p:cNvPr id="56" name="Text 53"/>
          <p:cNvSpPr txBox="1"/>
          <p:nvPr/>
        </p:nvSpPr>
        <p:spPr>
          <a:xfrm>
            <a:off x="822960" y="5120640"/>
            <a:ext cx="10543032" cy="347472"/>
          </a:xfrm>
          <a:prstGeom prst="rect">
            <a:avLst/>
          </a:prstGeom>
          <a:noFill/>
          <a:ln/>
        </p:spPr>
        <p:txBody>
          <a:bodyPr wrap="square" lIns="0" tIns="0" rIns="0" bIns="0" rtlCol="0" anchor="ctr"/>
          <a:lstStyle/>
          <a:p>
            <a:pPr indent="0" marL="0">
              <a:buNone/>
            </a:pPr>
            <a:r>
              <a:rPr lang="en-US" sz="1800" b="1" dirty="0">
                <a:solidFill>
                  <a:schemeClr val="bg1"/>
                </a:solidFill>
              </a:rPr>
              <a:t>One definition and one owner for each concept</a:t>
            </a:r>
            <a:endParaRPr lang="en-US" sz="1800" dirty="0"/>
          </a:p>
        </p:txBody>
      </p:sp>
      <p:sp>
        <p:nvSpPr>
          <p:cNvPr id="57" name="Text 54"/>
          <p:cNvSpPr txBox="1"/>
          <p:nvPr/>
        </p:nvSpPr>
        <p:spPr>
          <a:xfrm>
            <a:off x="822960" y="5468112"/>
            <a:ext cx="10543032" cy="310896"/>
          </a:xfrm>
          <a:prstGeom prst="rect">
            <a:avLst/>
          </a:prstGeom>
          <a:noFill/>
          <a:ln/>
        </p:spPr>
        <p:txBody>
          <a:bodyPr wrap="square" lIns="0" tIns="0" rIns="0" bIns="0" rtlCol="0" anchor="ctr"/>
          <a:lstStyle/>
          <a:p>
            <a:pPr indent="0" marL="0">
              <a:buNone/>
            </a:pPr>
            <a:r>
              <a:rPr lang="en-US" sz="1400" dirty="0">
                <a:solidFill>
                  <a:schemeClr val="accent6"/>
                </a:solidFill>
              </a:rPr>
              <a:t>Net Expense Ratio   |   Peer Median Fee   |   Net Flows</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Every source maps to one target</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1 OF 5  |  SOURCE SYSTEMS</a:t>
            </a:r>
            <a:endParaRPr lang="en-US" sz="1200" dirty="0"/>
          </a:p>
        </p:txBody>
      </p:sp>
      <p:sp>
        <p:nvSpPr>
          <p:cNvPr id="5" name="Shape 2"/>
          <p:cNvSpPr/>
          <p:nvPr/>
        </p:nvSpPr>
        <p:spPr>
          <a:xfrm>
            <a:off x="6483096" y="384048"/>
            <a:ext cx="987552" cy="274320"/>
          </a:xfrm>
          <a:prstGeom prst="roundRect">
            <a:avLst>
              <a:gd name="adj" fmla="val 50000"/>
            </a:avLst>
          </a:prstGeom>
          <a:solidFill>
            <a:schemeClr val="accent1"/>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target that every source is mapped to</a:t>
            </a:r>
            <a:endParaRPr lang="en-US" sz="1800" dirty="0"/>
          </a:p>
        </p:txBody>
      </p:sp>
      <p:sp>
        <p:nvSpPr>
          <p:cNvPr id="18" name="Text 15"/>
          <p:cNvSpPr txBox="1"/>
          <p:nvPr/>
        </p:nvSpPr>
        <p:spPr>
          <a:xfrm>
            <a:off x="548640" y="2651760"/>
            <a:ext cx="4480560" cy="228600"/>
          </a:xfrm>
          <a:prstGeom prst="rect">
            <a:avLst/>
          </a:prstGeom>
          <a:noFill/>
          <a:ln/>
        </p:spPr>
        <p:txBody>
          <a:bodyPr wrap="square" lIns="0" tIns="0" rIns="0" bIns="0" rtlCol="0" anchor="t"/>
          <a:lstStyle/>
          <a:p>
            <a:pPr indent="0" marL="0">
              <a:buNone/>
            </a:pPr>
            <a:r>
              <a:rPr lang="en-US" sz="1000" b="1" spc="100" kern="0" dirty="0">
                <a:solidFill>
                  <a:schemeClr val="tx2"/>
                </a:solidFill>
              </a:rPr>
              <a:t>WHERE THE THREE IDEAS START</a:t>
            </a:r>
            <a:endParaRPr lang="en-US" sz="1000" dirty="0"/>
          </a:p>
        </p:txBody>
      </p:sp>
      <p:sp>
        <p:nvSpPr>
          <p:cNvPr id="19" name="Shape 16"/>
          <p:cNvSpPr/>
          <p:nvPr/>
        </p:nvSpPr>
        <p:spPr>
          <a:xfrm>
            <a:off x="548640" y="2944368"/>
            <a:ext cx="4480560" cy="896112"/>
          </a:xfrm>
          <a:prstGeom prst="roundRect">
            <a:avLst>
              <a:gd name="adj" fmla="val 8163"/>
            </a:avLst>
          </a:prstGeom>
          <a:solidFill>
            <a:schemeClr val="bg2"/>
          </a:solidFill>
          <a:ln/>
        </p:spPr>
      </p:sp>
      <p:sp>
        <p:nvSpPr>
          <p:cNvPr id="20" name="Shape 17"/>
          <p:cNvSpPr/>
          <p:nvPr/>
        </p:nvSpPr>
        <p:spPr>
          <a:xfrm>
            <a:off x="749808" y="3300984"/>
            <a:ext cx="201168" cy="201168"/>
          </a:xfrm>
          <a:prstGeom prst="ellipse">
            <a:avLst/>
          </a:prstGeom>
          <a:solidFill>
            <a:schemeClr val="accent2"/>
          </a:solidFill>
          <a:ln/>
        </p:spPr>
      </p:sp>
      <p:sp>
        <p:nvSpPr>
          <p:cNvPr id="21" name="Text 18"/>
          <p:cNvSpPr txBox="1"/>
          <p:nvPr/>
        </p:nvSpPr>
        <p:spPr>
          <a:xfrm>
            <a:off x="1115568" y="3035808"/>
            <a:ext cx="3749040" cy="292608"/>
          </a:xfrm>
          <a:prstGeom prst="rect">
            <a:avLst/>
          </a:prstGeom>
          <a:noFill/>
          <a:ln/>
        </p:spPr>
        <p:txBody>
          <a:bodyPr wrap="square" lIns="0" tIns="0" rIns="0" bIns="0" rtlCol="0" anchor="ctr"/>
          <a:lstStyle/>
          <a:p>
            <a:pPr indent="0" marL="0">
              <a:buNone/>
            </a:pPr>
            <a:r>
              <a:rPr lang="en-US" sz="1600" b="1" dirty="0">
                <a:solidFill>
                  <a:schemeClr val="tx1"/>
                </a:solidFill>
              </a:rPr>
              <a:t>Fund administration</a:t>
            </a:r>
            <a:endParaRPr lang="en-US" sz="1600" dirty="0"/>
          </a:p>
        </p:txBody>
      </p:sp>
      <p:sp>
        <p:nvSpPr>
          <p:cNvPr id="22" name="Text 19"/>
          <p:cNvSpPr txBox="1"/>
          <p:nvPr/>
        </p:nvSpPr>
        <p:spPr>
          <a:xfrm>
            <a:off x="1115568" y="3346704"/>
            <a:ext cx="3749040" cy="457200"/>
          </a:xfrm>
          <a:prstGeom prst="rect">
            <a:avLst/>
          </a:prstGeom>
          <a:noFill/>
          <a:ln/>
        </p:spPr>
        <p:txBody>
          <a:bodyPr wrap="square" lIns="0" tIns="0" rIns="0" bIns="0" rtlCol="0" anchor="t"/>
          <a:lstStyle/>
          <a:p>
            <a:pPr indent="0" marL="0">
              <a:buNone/>
            </a:pPr>
            <a:r>
              <a:rPr lang="en-US" sz="1400" dirty="0">
                <a:solidFill>
                  <a:schemeClr val="tx2"/>
                </a:solidFill>
              </a:rPr>
              <a:t>Our expense ratios and share class identifiers</a:t>
            </a:r>
            <a:endParaRPr lang="en-US" sz="1400" dirty="0"/>
          </a:p>
        </p:txBody>
      </p:sp>
      <p:sp>
        <p:nvSpPr>
          <p:cNvPr id="23" name="Shape 20"/>
          <p:cNvSpPr/>
          <p:nvPr/>
        </p:nvSpPr>
        <p:spPr>
          <a:xfrm>
            <a:off x="548640" y="3968496"/>
            <a:ext cx="4480560" cy="896112"/>
          </a:xfrm>
          <a:prstGeom prst="roundRect">
            <a:avLst>
              <a:gd name="adj" fmla="val 8163"/>
            </a:avLst>
          </a:prstGeom>
          <a:solidFill>
            <a:schemeClr val="bg2"/>
          </a:solidFill>
          <a:ln/>
        </p:spPr>
      </p:sp>
      <p:sp>
        <p:nvSpPr>
          <p:cNvPr id="24" name="Shape 21"/>
          <p:cNvSpPr/>
          <p:nvPr/>
        </p:nvSpPr>
        <p:spPr>
          <a:xfrm>
            <a:off x="749808" y="4325112"/>
            <a:ext cx="201168" cy="201168"/>
          </a:xfrm>
          <a:prstGeom prst="ellipse">
            <a:avLst/>
          </a:prstGeom>
          <a:solidFill>
            <a:schemeClr val="accent4"/>
          </a:solidFill>
          <a:ln/>
        </p:spPr>
      </p:sp>
      <p:sp>
        <p:nvSpPr>
          <p:cNvPr id="25" name="Text 22"/>
          <p:cNvSpPr txBox="1"/>
          <p:nvPr/>
        </p:nvSpPr>
        <p:spPr>
          <a:xfrm>
            <a:off x="1115568" y="4059936"/>
            <a:ext cx="3749040" cy="292608"/>
          </a:xfrm>
          <a:prstGeom prst="rect">
            <a:avLst/>
          </a:prstGeom>
          <a:noFill/>
          <a:ln/>
        </p:spPr>
        <p:txBody>
          <a:bodyPr wrap="square" lIns="0" tIns="0" rIns="0" bIns="0" rtlCol="0" anchor="ctr"/>
          <a:lstStyle/>
          <a:p>
            <a:pPr indent="0" marL="0">
              <a:buNone/>
            </a:pPr>
            <a:r>
              <a:rPr lang="en-US" sz="1600" b="1" dirty="0">
                <a:solidFill>
                  <a:schemeClr val="tx1"/>
                </a:solidFill>
              </a:rPr>
              <a:t>Licensed data vendor</a:t>
            </a:r>
            <a:endParaRPr lang="en-US" sz="1600" dirty="0"/>
          </a:p>
        </p:txBody>
      </p:sp>
      <p:sp>
        <p:nvSpPr>
          <p:cNvPr id="26" name="Text 23"/>
          <p:cNvSpPr txBox="1"/>
          <p:nvPr/>
        </p:nvSpPr>
        <p:spPr>
          <a:xfrm>
            <a:off x="1115568" y="4370832"/>
            <a:ext cx="3749040" cy="457200"/>
          </a:xfrm>
          <a:prstGeom prst="rect">
            <a:avLst/>
          </a:prstGeom>
          <a:noFill/>
          <a:ln/>
        </p:spPr>
        <p:txBody>
          <a:bodyPr wrap="square" lIns="0" tIns="0" rIns="0" bIns="0" rtlCol="0" anchor="t"/>
          <a:lstStyle/>
          <a:p>
            <a:pPr indent="0" marL="0">
              <a:buNone/>
            </a:pPr>
            <a:r>
              <a:rPr lang="en-US" sz="1400" dirty="0">
                <a:solidFill>
                  <a:schemeClr val="tx2"/>
                </a:solidFill>
              </a:rPr>
              <a:t>Peer funds, their fees and categories</a:t>
            </a:r>
            <a:endParaRPr lang="en-US" sz="1400" dirty="0"/>
          </a:p>
        </p:txBody>
      </p:sp>
      <p:sp>
        <p:nvSpPr>
          <p:cNvPr id="27" name="Shape 24"/>
          <p:cNvSpPr/>
          <p:nvPr/>
        </p:nvSpPr>
        <p:spPr>
          <a:xfrm>
            <a:off x="548640" y="4992624"/>
            <a:ext cx="4480560" cy="896112"/>
          </a:xfrm>
          <a:prstGeom prst="roundRect">
            <a:avLst>
              <a:gd name="adj" fmla="val 8163"/>
            </a:avLst>
          </a:prstGeom>
          <a:solidFill>
            <a:schemeClr val="bg2"/>
          </a:solidFill>
          <a:ln/>
        </p:spPr>
      </p:sp>
      <p:sp>
        <p:nvSpPr>
          <p:cNvPr id="28" name="Shape 25"/>
          <p:cNvSpPr/>
          <p:nvPr/>
        </p:nvSpPr>
        <p:spPr>
          <a:xfrm>
            <a:off x="749808" y="5349240"/>
            <a:ext cx="201168" cy="201168"/>
          </a:xfrm>
          <a:prstGeom prst="ellipse">
            <a:avLst/>
          </a:prstGeom>
          <a:solidFill>
            <a:schemeClr val="accent1"/>
          </a:solidFill>
          <a:ln/>
        </p:spPr>
      </p:sp>
      <p:sp>
        <p:nvSpPr>
          <p:cNvPr id="29" name="Text 26"/>
          <p:cNvSpPr txBox="1"/>
          <p:nvPr/>
        </p:nvSpPr>
        <p:spPr>
          <a:xfrm>
            <a:off x="1115568" y="5084064"/>
            <a:ext cx="3749040" cy="292608"/>
          </a:xfrm>
          <a:prstGeom prst="rect">
            <a:avLst/>
          </a:prstGeom>
          <a:noFill/>
          <a:ln/>
        </p:spPr>
        <p:txBody>
          <a:bodyPr wrap="square" lIns="0" tIns="0" rIns="0" bIns="0" rtlCol="0" anchor="ctr"/>
          <a:lstStyle/>
          <a:p>
            <a:pPr indent="0" marL="0">
              <a:buNone/>
            </a:pPr>
            <a:r>
              <a:rPr lang="en-US" sz="1600" b="1" dirty="0">
                <a:solidFill>
                  <a:schemeClr val="tx1"/>
                </a:solidFill>
              </a:rPr>
              <a:t>Transfer agent</a:t>
            </a:r>
            <a:endParaRPr lang="en-US" sz="1600" dirty="0"/>
          </a:p>
        </p:txBody>
      </p:sp>
      <p:sp>
        <p:nvSpPr>
          <p:cNvPr id="30" name="Text 27"/>
          <p:cNvSpPr txBox="1"/>
          <p:nvPr/>
        </p:nvSpPr>
        <p:spPr>
          <a:xfrm>
            <a:off x="1115568" y="5394960"/>
            <a:ext cx="3749040" cy="457200"/>
          </a:xfrm>
          <a:prstGeom prst="rect">
            <a:avLst/>
          </a:prstGeom>
          <a:noFill/>
          <a:ln/>
        </p:spPr>
        <p:txBody>
          <a:bodyPr wrap="square" lIns="0" tIns="0" rIns="0" bIns="0" rtlCol="0" anchor="t"/>
          <a:lstStyle/>
          <a:p>
            <a:pPr indent="0" marL="0">
              <a:buNone/>
            </a:pPr>
            <a:r>
              <a:rPr lang="en-US" sz="1400" dirty="0">
                <a:solidFill>
                  <a:schemeClr val="tx2"/>
                </a:solidFill>
              </a:rPr>
              <a:t>Purchases and redemptions by share class</a:t>
            </a:r>
            <a:endParaRPr lang="en-US" sz="1400" dirty="0"/>
          </a:p>
        </p:txBody>
      </p:sp>
      <p:sp>
        <p:nvSpPr>
          <p:cNvPr id="31" name="Shape 28"/>
          <p:cNvSpPr/>
          <p:nvPr/>
        </p:nvSpPr>
        <p:spPr>
          <a:xfrm>
            <a:off x="5138928" y="4416552"/>
            <a:ext cx="502920" cy="0"/>
          </a:xfrm>
          <a:prstGeom prst="line">
            <a:avLst/>
          </a:prstGeom>
          <a:noFill/>
          <a:ln w="22225">
            <a:solidFill>
              <a:schemeClr val="accent1"/>
            </a:solidFill>
            <a:prstDash val="solid"/>
            <a:tailEnd type="triangle"/>
          </a:ln>
        </p:spPr>
      </p:sp>
      <p:sp>
        <p:nvSpPr>
          <p:cNvPr id="32" name="Text 29"/>
          <p:cNvSpPr txBox="1"/>
          <p:nvPr/>
        </p:nvSpPr>
        <p:spPr>
          <a:xfrm>
            <a:off x="5760720" y="2651760"/>
            <a:ext cx="5879592" cy="228600"/>
          </a:xfrm>
          <a:prstGeom prst="rect">
            <a:avLst/>
          </a:prstGeom>
          <a:noFill/>
          <a:ln/>
        </p:spPr>
        <p:txBody>
          <a:bodyPr wrap="square" lIns="0" tIns="0" rIns="0" bIns="0" rtlCol="0" anchor="t"/>
          <a:lstStyle/>
          <a:p>
            <a:pPr indent="0" marL="0">
              <a:buNone/>
            </a:pPr>
            <a:r>
              <a:rPr lang="en-US" sz="1000" b="1" spc="100" kern="0" dirty="0">
                <a:solidFill>
                  <a:schemeClr val="tx2"/>
                </a:solidFill>
              </a:rPr>
              <a:t>WHAT THE TAXONOMY SETTLES BEFORE ANY DATA MOVES</a:t>
            </a:r>
            <a:endParaRPr lang="en-US" sz="1000" dirty="0"/>
          </a:p>
        </p:txBody>
      </p:sp>
      <p:sp>
        <p:nvSpPr>
          <p:cNvPr id="33" name="Shape 30"/>
          <p:cNvSpPr/>
          <p:nvPr/>
        </p:nvSpPr>
        <p:spPr>
          <a:xfrm>
            <a:off x="5760720" y="3017520"/>
            <a:ext cx="420624" cy="420624"/>
          </a:xfrm>
          <a:prstGeom prst="ellipse">
            <a:avLst/>
          </a:prstGeom>
          <a:solidFill>
            <a:schemeClr val="accent1"/>
          </a:solidFill>
          <a:ln/>
        </p:spPr>
      </p:sp>
      <p:sp>
        <p:nvSpPr>
          <p:cNvPr id="34" name="Text 31"/>
          <p:cNvSpPr txBox="1"/>
          <p:nvPr/>
        </p:nvSpPr>
        <p:spPr>
          <a:xfrm>
            <a:off x="576072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5" name="Text 32"/>
          <p:cNvSpPr txBox="1"/>
          <p:nvPr/>
        </p:nvSpPr>
        <p:spPr>
          <a:xfrm>
            <a:off x="6355080" y="2962656"/>
            <a:ext cx="5285232" cy="292608"/>
          </a:xfrm>
          <a:prstGeom prst="rect">
            <a:avLst/>
          </a:prstGeom>
          <a:noFill/>
          <a:ln/>
        </p:spPr>
        <p:txBody>
          <a:bodyPr wrap="square" lIns="0" tIns="0" rIns="0" bIns="0" rtlCol="0" anchor="ctr"/>
          <a:lstStyle/>
          <a:p>
            <a:pPr indent="0" marL="0">
              <a:buNone/>
            </a:pPr>
            <a:r>
              <a:rPr lang="en-US" sz="1600" b="1" dirty="0">
                <a:solidFill>
                  <a:schemeClr val="tx1"/>
                </a:solidFill>
              </a:rPr>
              <a:t>What each field means</a:t>
            </a:r>
            <a:endParaRPr lang="en-US" sz="1600" dirty="0"/>
          </a:p>
        </p:txBody>
      </p:sp>
      <p:sp>
        <p:nvSpPr>
          <p:cNvPr id="36" name="Text 33"/>
          <p:cNvSpPr txBox="1"/>
          <p:nvPr/>
        </p:nvSpPr>
        <p:spPr>
          <a:xfrm>
            <a:off x="6355080" y="3291840"/>
            <a:ext cx="5285232" cy="548640"/>
          </a:xfrm>
          <a:prstGeom prst="rect">
            <a:avLst/>
          </a:prstGeom>
          <a:noFill/>
          <a:ln/>
        </p:spPr>
        <p:txBody>
          <a:bodyPr wrap="square" lIns="0" tIns="0" rIns="0" bIns="0" rtlCol="0" anchor="t"/>
          <a:lstStyle/>
          <a:p>
            <a:pPr indent="0" marL="0">
              <a:buNone/>
            </a:pPr>
            <a:r>
              <a:rPr lang="en-US" sz="1400" dirty="0">
                <a:solidFill>
                  <a:schemeClr val="tx2"/>
                </a:solidFill>
              </a:rPr>
              <a:t>Net Expense Ratio is after waivers, Gross is before. Each fee study names the measure it compares.</a:t>
            </a:r>
            <a:endParaRPr lang="en-US" sz="1400" dirty="0"/>
          </a:p>
        </p:txBody>
      </p:sp>
      <p:sp>
        <p:nvSpPr>
          <p:cNvPr id="37" name="Shape 34"/>
          <p:cNvSpPr/>
          <p:nvPr/>
        </p:nvSpPr>
        <p:spPr>
          <a:xfrm>
            <a:off x="5760720" y="4041648"/>
            <a:ext cx="420624" cy="420624"/>
          </a:xfrm>
          <a:prstGeom prst="ellipse">
            <a:avLst/>
          </a:prstGeom>
          <a:solidFill>
            <a:schemeClr val="accent1"/>
          </a:solidFill>
          <a:ln/>
        </p:spPr>
      </p:sp>
      <p:sp>
        <p:nvSpPr>
          <p:cNvPr id="38" name="Text 35"/>
          <p:cNvSpPr txBox="1"/>
          <p:nvPr/>
        </p:nvSpPr>
        <p:spPr>
          <a:xfrm>
            <a:off x="5760720" y="40416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9" name="Text 36"/>
          <p:cNvSpPr txBox="1"/>
          <p:nvPr/>
        </p:nvSpPr>
        <p:spPr>
          <a:xfrm>
            <a:off x="6355080" y="3986784"/>
            <a:ext cx="5285232" cy="292608"/>
          </a:xfrm>
          <a:prstGeom prst="rect">
            <a:avLst/>
          </a:prstGeom>
          <a:noFill/>
          <a:ln/>
        </p:spPr>
        <p:txBody>
          <a:bodyPr wrap="square" lIns="0" tIns="0" rIns="0" bIns="0" rtlCol="0" anchor="ctr"/>
          <a:lstStyle/>
          <a:p>
            <a:pPr indent="0" marL="0">
              <a:buNone/>
            </a:pPr>
            <a:r>
              <a:rPr lang="en-US" sz="1600" b="1" dirty="0">
                <a:solidFill>
                  <a:schemeClr val="tx1"/>
                </a:solidFill>
              </a:rPr>
              <a:t>Who is right when sources disagree</a:t>
            </a:r>
            <a:endParaRPr lang="en-US" sz="1600" dirty="0"/>
          </a:p>
        </p:txBody>
      </p:sp>
      <p:sp>
        <p:nvSpPr>
          <p:cNvPr id="40" name="Text 37"/>
          <p:cNvSpPr txBox="1"/>
          <p:nvPr/>
        </p:nvSpPr>
        <p:spPr>
          <a:xfrm>
            <a:off x="6355080" y="4315968"/>
            <a:ext cx="5285232" cy="548640"/>
          </a:xfrm>
          <a:prstGeom prst="rect">
            <a:avLst/>
          </a:prstGeom>
          <a:noFill/>
          <a:ln/>
        </p:spPr>
        <p:txBody>
          <a:bodyPr wrap="square" lIns="0" tIns="0" rIns="0" bIns="0" rtlCol="0" anchor="t"/>
          <a:lstStyle/>
          <a:p>
            <a:pPr indent="0" marL="0">
              <a:buNone/>
            </a:pPr>
            <a:r>
              <a:rPr lang="en-US" sz="1400" dirty="0">
                <a:solidFill>
                  <a:schemeClr val="tx2"/>
                </a:solidFill>
              </a:rPr>
              <a:t>Domain 01 is the record for our own fee. The fee study in Domain 11 keeps only a dated copy.</a:t>
            </a:r>
            <a:endParaRPr lang="en-US" sz="1400" dirty="0"/>
          </a:p>
        </p:txBody>
      </p:sp>
      <p:sp>
        <p:nvSpPr>
          <p:cNvPr id="41" name="Shape 38"/>
          <p:cNvSpPr/>
          <p:nvPr/>
        </p:nvSpPr>
        <p:spPr>
          <a:xfrm>
            <a:off x="5760720" y="5065776"/>
            <a:ext cx="420624" cy="420624"/>
          </a:xfrm>
          <a:prstGeom prst="ellipse">
            <a:avLst/>
          </a:prstGeom>
          <a:solidFill>
            <a:schemeClr val="accent1"/>
          </a:solidFill>
          <a:ln/>
        </p:spPr>
      </p:sp>
      <p:sp>
        <p:nvSpPr>
          <p:cNvPr id="42" name="Text 39"/>
          <p:cNvSpPr txBox="1"/>
          <p:nvPr/>
        </p:nvSpPr>
        <p:spPr>
          <a:xfrm>
            <a:off x="5760720" y="50657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3" name="Text 40"/>
          <p:cNvSpPr txBox="1"/>
          <p:nvPr/>
        </p:nvSpPr>
        <p:spPr>
          <a:xfrm>
            <a:off x="6355080" y="5010912"/>
            <a:ext cx="5285232" cy="292608"/>
          </a:xfrm>
          <a:prstGeom prst="rect">
            <a:avLst/>
          </a:prstGeom>
          <a:noFill/>
          <a:ln/>
        </p:spPr>
        <p:txBody>
          <a:bodyPr wrap="square" lIns="0" tIns="0" rIns="0" bIns="0" rtlCol="0" anchor="ctr"/>
          <a:lstStyle/>
          <a:p>
            <a:pPr indent="0" marL="0">
              <a:buNone/>
            </a:pPr>
            <a:r>
              <a:rPr lang="en-US" sz="1600" b="1" dirty="0">
                <a:solidFill>
                  <a:schemeClr val="tx1"/>
                </a:solidFill>
              </a:rPr>
              <a:t>What we may do with bought-in data</a:t>
            </a:r>
            <a:endParaRPr lang="en-US" sz="1600" dirty="0"/>
          </a:p>
        </p:txBody>
      </p:sp>
      <p:sp>
        <p:nvSpPr>
          <p:cNvPr id="44" name="Text 41"/>
          <p:cNvSpPr txBox="1"/>
          <p:nvPr/>
        </p:nvSpPr>
        <p:spPr>
          <a:xfrm>
            <a:off x="6355080" y="5340096"/>
            <a:ext cx="5285232" cy="548640"/>
          </a:xfrm>
          <a:prstGeom prst="rect">
            <a:avLst/>
          </a:prstGeom>
          <a:noFill/>
          <a:ln/>
        </p:spPr>
        <p:txBody>
          <a:bodyPr wrap="square" lIns="0" tIns="0" rIns="0" bIns="0" rtlCol="0" anchor="t"/>
          <a:lstStyle/>
          <a:p>
            <a:pPr indent="0" marL="0">
              <a:buNone/>
            </a:pPr>
            <a:r>
              <a:rPr lang="en-US" sz="1400" dirty="0">
                <a:solidFill>
                  <a:schemeClr val="tx2"/>
                </a:solidFill>
              </a:rPr>
              <a:t>Domain 14 records each vendor dataset’s permitted uses and required attribution text.</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Clean each core thing once, then certify</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2 OF 5  |  FOUNDATIONAL DATA PRODUCTS</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accent1"/>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bill of materials: each product lists the exact attributes it uses</a:t>
            </a:r>
            <a:endParaRPr lang="en-US" sz="1800" dirty="0"/>
          </a:p>
        </p:txBody>
      </p:sp>
      <p:sp>
        <p:nvSpPr>
          <p:cNvPr id="18" name="Shape 15"/>
          <p:cNvSpPr/>
          <p:nvPr/>
        </p:nvSpPr>
        <p:spPr>
          <a:xfrm>
            <a:off x="548640" y="2651760"/>
            <a:ext cx="3538728" cy="2057400"/>
          </a:xfrm>
          <a:prstGeom prst="roundRect">
            <a:avLst>
              <a:gd name="adj" fmla="val 3556"/>
            </a:avLst>
          </a:prstGeom>
          <a:solidFill>
            <a:schemeClr val="bg2"/>
          </a:solidFill>
          <a:ln/>
        </p:spPr>
      </p:sp>
      <p:sp>
        <p:nvSpPr>
          <p:cNvPr id="19" name="Shape 16"/>
          <p:cNvSpPr/>
          <p:nvPr/>
        </p:nvSpPr>
        <p:spPr>
          <a:xfrm>
            <a:off x="777240" y="2807208"/>
            <a:ext cx="960120" cy="310896"/>
          </a:xfrm>
          <a:prstGeom prst="roundRect">
            <a:avLst>
              <a:gd name="adj" fmla="val 50000"/>
            </a:avLst>
          </a:prstGeom>
          <a:solidFill>
            <a:schemeClr val="accent1"/>
          </a:solidFill>
          <a:ln/>
        </p:spPr>
      </p:sp>
      <p:sp>
        <p:nvSpPr>
          <p:cNvPr id="20" name="Text 17"/>
          <p:cNvSpPr txBox="1"/>
          <p:nvPr/>
        </p:nvSpPr>
        <p:spPr>
          <a:xfrm>
            <a:off x="777240"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DP-004</a:t>
            </a:r>
            <a:endParaRPr lang="en-US" sz="1200" dirty="0"/>
          </a:p>
        </p:txBody>
      </p:sp>
      <p:sp>
        <p:nvSpPr>
          <p:cNvPr id="21" name="Text 18"/>
          <p:cNvSpPr txBox="1"/>
          <p:nvPr/>
        </p:nvSpPr>
        <p:spPr>
          <a:xfrm>
            <a:off x="777240" y="3200400"/>
            <a:ext cx="3081528" cy="566928"/>
          </a:xfrm>
          <a:prstGeom prst="rect">
            <a:avLst/>
          </a:prstGeom>
          <a:noFill/>
          <a:ln/>
        </p:spPr>
        <p:txBody>
          <a:bodyPr wrap="square" lIns="0" tIns="0" rIns="0" bIns="0" rtlCol="0" anchor="t"/>
          <a:lstStyle/>
          <a:p>
            <a:pPr indent="0" marL="0">
              <a:buNone/>
            </a:pPr>
            <a:r>
              <a:rPr lang="en-US" sz="1600" b="1" dirty="0">
                <a:solidFill>
                  <a:schemeClr val="tx1"/>
                </a:solidFill>
              </a:rPr>
              <a:t>Product &amp; Share Class Distribution Reference</a:t>
            </a:r>
            <a:endParaRPr lang="en-US" sz="1600" dirty="0"/>
          </a:p>
        </p:txBody>
      </p:sp>
      <p:sp>
        <p:nvSpPr>
          <p:cNvPr id="22" name="Text 19"/>
          <p:cNvSpPr txBox="1"/>
          <p:nvPr/>
        </p:nvSpPr>
        <p:spPr>
          <a:xfrm>
            <a:off x="777240" y="3813048"/>
            <a:ext cx="3081528" cy="822960"/>
          </a:xfrm>
          <a:prstGeom prst="rect">
            <a:avLst/>
          </a:prstGeom>
          <a:noFill/>
          <a:ln/>
        </p:spPr>
        <p:txBody>
          <a:bodyPr wrap="square" lIns="0" tIns="0" rIns="0" bIns="0" rtlCol="0" anchor="t"/>
          <a:lstStyle/>
          <a:p>
            <a:pPr indent="0" marL="0">
              <a:buNone/>
            </a:pPr>
            <a:r>
              <a:rPr lang="en-US" sz="1400" dirty="0">
                <a:solidFill>
                  <a:schemeClr val="tx2"/>
                </a:solidFill>
              </a:rPr>
              <a:t>One record per share class, identifiers conformed once. Net expense ratio never above gross.</a:t>
            </a:r>
            <a:endParaRPr lang="en-US" sz="1400" dirty="0"/>
          </a:p>
        </p:txBody>
      </p:sp>
      <p:sp>
        <p:nvSpPr>
          <p:cNvPr id="23" name="Shape 20"/>
          <p:cNvSpPr/>
          <p:nvPr/>
        </p:nvSpPr>
        <p:spPr>
          <a:xfrm>
            <a:off x="4325112" y="2651760"/>
            <a:ext cx="3538728" cy="2057400"/>
          </a:xfrm>
          <a:prstGeom prst="roundRect">
            <a:avLst>
              <a:gd name="adj" fmla="val 3556"/>
            </a:avLst>
          </a:prstGeom>
          <a:solidFill>
            <a:schemeClr val="bg2"/>
          </a:solidFill>
          <a:ln/>
        </p:spPr>
      </p:sp>
      <p:sp>
        <p:nvSpPr>
          <p:cNvPr id="24" name="Shape 21"/>
          <p:cNvSpPr/>
          <p:nvPr/>
        </p:nvSpPr>
        <p:spPr>
          <a:xfrm>
            <a:off x="4553712" y="2807208"/>
            <a:ext cx="960120" cy="310896"/>
          </a:xfrm>
          <a:prstGeom prst="roundRect">
            <a:avLst>
              <a:gd name="adj" fmla="val 50000"/>
            </a:avLst>
          </a:prstGeom>
          <a:solidFill>
            <a:schemeClr val="accent1"/>
          </a:solidFill>
          <a:ln/>
        </p:spPr>
      </p:sp>
      <p:sp>
        <p:nvSpPr>
          <p:cNvPr id="25" name="Text 22"/>
          <p:cNvSpPr txBox="1"/>
          <p:nvPr/>
        </p:nvSpPr>
        <p:spPr>
          <a:xfrm>
            <a:off x="4553712"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DP-014</a:t>
            </a:r>
            <a:endParaRPr lang="en-US" sz="1200" dirty="0"/>
          </a:p>
        </p:txBody>
      </p:sp>
      <p:sp>
        <p:nvSpPr>
          <p:cNvPr id="26" name="Text 23"/>
          <p:cNvSpPr txBox="1"/>
          <p:nvPr/>
        </p:nvSpPr>
        <p:spPr>
          <a:xfrm>
            <a:off x="4553712" y="3200400"/>
            <a:ext cx="3081528" cy="566928"/>
          </a:xfrm>
          <a:prstGeom prst="rect">
            <a:avLst/>
          </a:prstGeom>
          <a:noFill/>
          <a:ln/>
        </p:spPr>
        <p:txBody>
          <a:bodyPr wrap="square" lIns="0" tIns="0" rIns="0" bIns="0" rtlCol="0" anchor="t"/>
          <a:lstStyle/>
          <a:p>
            <a:pPr indent="0" marL="0">
              <a:buNone/>
            </a:pPr>
            <a:r>
              <a:rPr lang="en-US" sz="1600" b="1" dirty="0">
                <a:solidFill>
                  <a:schemeClr val="tx1"/>
                </a:solidFill>
              </a:rPr>
              <a:t>Industry Flows &amp; Peer Universe</a:t>
            </a:r>
            <a:endParaRPr lang="en-US" sz="1600" dirty="0"/>
          </a:p>
        </p:txBody>
      </p:sp>
      <p:sp>
        <p:nvSpPr>
          <p:cNvPr id="27" name="Text 24"/>
          <p:cNvSpPr txBox="1"/>
          <p:nvPr/>
        </p:nvSpPr>
        <p:spPr>
          <a:xfrm>
            <a:off x="4553712" y="3813048"/>
            <a:ext cx="3081528" cy="822960"/>
          </a:xfrm>
          <a:prstGeom prst="rect">
            <a:avLst/>
          </a:prstGeom>
          <a:noFill/>
          <a:ln/>
        </p:spPr>
        <p:txBody>
          <a:bodyPr wrap="square" lIns="0" tIns="0" rIns="0" bIns="0" rtlCol="0" anchor="t"/>
          <a:lstStyle/>
          <a:p>
            <a:pPr indent="0" marL="0">
              <a:buNone/>
            </a:pPr>
            <a:r>
              <a:rPr lang="en-US" sz="1400" dirty="0">
                <a:solidFill>
                  <a:schemeClr val="tx2"/>
                </a:solidFill>
              </a:rPr>
              <a:t>Loads each vendor release once. Matches our share class to its peer fund. Carries the license terms.</a:t>
            </a:r>
            <a:endParaRPr lang="en-US" sz="1400" dirty="0"/>
          </a:p>
        </p:txBody>
      </p:sp>
      <p:sp>
        <p:nvSpPr>
          <p:cNvPr id="28" name="Shape 25"/>
          <p:cNvSpPr/>
          <p:nvPr/>
        </p:nvSpPr>
        <p:spPr>
          <a:xfrm>
            <a:off x="8101584" y="2651760"/>
            <a:ext cx="3538728" cy="2057400"/>
          </a:xfrm>
          <a:prstGeom prst="roundRect">
            <a:avLst>
              <a:gd name="adj" fmla="val 3556"/>
            </a:avLst>
          </a:prstGeom>
          <a:solidFill>
            <a:schemeClr val="bg2"/>
          </a:solidFill>
          <a:ln/>
        </p:spPr>
      </p:sp>
      <p:sp>
        <p:nvSpPr>
          <p:cNvPr id="29" name="Shape 26"/>
          <p:cNvSpPr/>
          <p:nvPr/>
        </p:nvSpPr>
        <p:spPr>
          <a:xfrm>
            <a:off x="8330184" y="2807208"/>
            <a:ext cx="960120" cy="310896"/>
          </a:xfrm>
          <a:prstGeom prst="roundRect">
            <a:avLst>
              <a:gd name="adj" fmla="val 50000"/>
            </a:avLst>
          </a:prstGeom>
          <a:solidFill>
            <a:schemeClr val="accent1"/>
          </a:solidFill>
          <a:ln/>
        </p:spPr>
      </p:sp>
      <p:sp>
        <p:nvSpPr>
          <p:cNvPr id="30" name="Text 27"/>
          <p:cNvSpPr txBox="1"/>
          <p:nvPr/>
        </p:nvSpPr>
        <p:spPr>
          <a:xfrm>
            <a:off x="8330184"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31" name="Text 28"/>
          <p:cNvSpPr txBox="1"/>
          <p:nvPr/>
        </p:nvSpPr>
        <p:spPr>
          <a:xfrm>
            <a:off x="8330184" y="3200400"/>
            <a:ext cx="3081528" cy="566928"/>
          </a:xfrm>
          <a:prstGeom prst="rect">
            <a:avLst/>
          </a:prstGeom>
          <a:noFill/>
          <a:ln/>
        </p:spPr>
        <p:txBody>
          <a:bodyPr wrap="square" lIns="0" tIns="0" rIns="0" bIns="0" rtlCol="0" anchor="t"/>
          <a:lstStyle/>
          <a:p>
            <a:pPr indent="0" marL="0">
              <a:buNone/>
            </a:pPr>
            <a:r>
              <a:rPr lang="en-US" sz="1600" b="1" dirty="0">
                <a:solidFill>
                  <a:schemeClr val="tx1"/>
                </a:solidFill>
              </a:rPr>
              <a:t>Certified Flows &amp; AUM</a:t>
            </a:r>
            <a:endParaRPr lang="en-US" sz="1600" dirty="0"/>
          </a:p>
        </p:txBody>
      </p:sp>
      <p:sp>
        <p:nvSpPr>
          <p:cNvPr id="32" name="Text 29"/>
          <p:cNvSpPr txBox="1"/>
          <p:nvPr/>
        </p:nvSpPr>
        <p:spPr>
          <a:xfrm>
            <a:off x="8330184" y="3813048"/>
            <a:ext cx="3081528" cy="822960"/>
          </a:xfrm>
          <a:prstGeom prst="rect">
            <a:avLst/>
          </a:prstGeom>
          <a:noFill/>
          <a:ln/>
        </p:spPr>
        <p:txBody>
          <a:bodyPr wrap="square" lIns="0" tIns="0" rIns="0" bIns="0" rtlCol="0" anchor="t"/>
          <a:lstStyle/>
          <a:p>
            <a:pPr indent="0" marL="0">
              <a:buNone/>
            </a:pPr>
            <a:r>
              <a:rPr lang="en-US" sz="1400" dirty="0">
                <a:solidFill>
                  <a:schemeClr val="tx2"/>
                </a:solidFill>
              </a:rPr>
              <a:t>Applies the Net Flows definition. Preliminary on business day 3, locked on day 8.</a:t>
            </a:r>
            <a:endParaRPr lang="en-US" sz="1400" dirty="0"/>
          </a:p>
        </p:txBody>
      </p:sp>
      <p:sp>
        <p:nvSpPr>
          <p:cNvPr id="33" name="Shape 30"/>
          <p:cNvSpPr/>
          <p:nvPr/>
        </p:nvSpPr>
        <p:spPr>
          <a:xfrm>
            <a:off x="548640" y="4937760"/>
            <a:ext cx="11091672" cy="1005840"/>
          </a:xfrm>
          <a:prstGeom prst="roundRect">
            <a:avLst>
              <a:gd name="adj" fmla="val 7273"/>
            </a:avLst>
          </a:prstGeom>
          <a:solidFill>
            <a:schemeClr val="tx1"/>
          </a:solidFill>
          <a:ln/>
        </p:spPr>
      </p:sp>
      <p:sp>
        <p:nvSpPr>
          <p:cNvPr id="34" name="Text 31"/>
          <p:cNvSpPr txBox="1"/>
          <p:nvPr/>
        </p:nvSpPr>
        <p:spPr>
          <a:xfrm>
            <a:off x="822960" y="4937760"/>
            <a:ext cx="2103120" cy="1005840"/>
          </a:xfrm>
          <a:prstGeom prst="rect">
            <a:avLst/>
          </a:prstGeom>
          <a:noFill/>
          <a:ln/>
        </p:spPr>
        <p:txBody>
          <a:bodyPr wrap="square" lIns="0" tIns="0" rIns="0" bIns="0" rtlCol="0" anchor="ctr"/>
          <a:lstStyle/>
          <a:p>
            <a:pPr indent="0" marL="0">
              <a:buNone/>
            </a:pPr>
            <a:r>
              <a:rPr lang="en-US" sz="3600" b="1" dirty="0">
                <a:solidFill>
                  <a:schemeClr val="accent6"/>
                </a:solidFill>
              </a:rPr>
              <a:t>One ID</a:t>
            </a:r>
            <a:endParaRPr lang="en-US" sz="3600" dirty="0"/>
          </a:p>
        </p:txBody>
      </p:sp>
      <p:sp>
        <p:nvSpPr>
          <p:cNvPr id="35" name="Text 32"/>
          <p:cNvSpPr txBox="1"/>
          <p:nvPr/>
        </p:nvSpPr>
        <p:spPr>
          <a:xfrm>
            <a:off x="2880360" y="5074920"/>
            <a:ext cx="1737360" cy="274320"/>
          </a:xfrm>
          <a:prstGeom prst="rect">
            <a:avLst/>
          </a:prstGeom>
          <a:noFill/>
          <a:ln/>
        </p:spPr>
        <p:txBody>
          <a:bodyPr wrap="square" lIns="0" tIns="0" rIns="0" bIns="0" rtlCol="0" anchor="ctr"/>
          <a:lstStyle/>
          <a:p>
            <a:pPr indent="0" marL="0">
              <a:buNone/>
            </a:pPr>
            <a:r>
              <a:rPr lang="en-US" sz="1000" b="1" spc="100" kern="0" dirty="0">
                <a:solidFill>
                  <a:schemeClr val="accent6"/>
                </a:solidFill>
              </a:rPr>
              <a:t>PER SHARE CLASS</a:t>
            </a:r>
            <a:endParaRPr lang="en-US" sz="1000" dirty="0"/>
          </a:p>
        </p:txBody>
      </p:sp>
      <p:sp>
        <p:nvSpPr>
          <p:cNvPr id="36" name="Text 33"/>
          <p:cNvSpPr txBox="1"/>
          <p:nvPr/>
        </p:nvSpPr>
        <p:spPr>
          <a:xfrm>
            <a:off x="2880360" y="5330952"/>
            <a:ext cx="1828800" cy="365760"/>
          </a:xfrm>
          <a:prstGeom prst="rect">
            <a:avLst/>
          </a:prstGeom>
          <a:noFill/>
          <a:ln/>
        </p:spPr>
        <p:txBody>
          <a:bodyPr wrap="square" lIns="0" tIns="0" rIns="0" bIns="0" rtlCol="0" anchor="ctr"/>
          <a:lstStyle/>
          <a:p>
            <a:pPr indent="0" marL="0">
              <a:buNone/>
            </a:pPr>
            <a:r>
              <a:rPr lang="en-US" sz="1400" dirty="0">
                <a:solidFill>
                  <a:schemeClr val="bg1"/>
                </a:solidFill>
              </a:rPr>
              <a:t>Fees, peers, flows</a:t>
            </a:r>
            <a:endParaRPr lang="en-US" sz="1400" dirty="0"/>
          </a:p>
        </p:txBody>
      </p:sp>
      <p:sp>
        <p:nvSpPr>
          <p:cNvPr id="37" name="Text 34"/>
          <p:cNvSpPr txBox="1"/>
          <p:nvPr/>
        </p:nvSpPr>
        <p:spPr>
          <a:xfrm>
            <a:off x="4846320" y="4937760"/>
            <a:ext cx="6519672" cy="1005840"/>
          </a:xfrm>
          <a:prstGeom prst="rect">
            <a:avLst/>
          </a:prstGeom>
          <a:noFill/>
          <a:ln/>
        </p:spPr>
        <p:txBody>
          <a:bodyPr wrap="square" lIns="0" tIns="0" rIns="0" bIns="0" rtlCol="0" anchor="ctr"/>
          <a:lstStyle/>
          <a:p>
            <a:pPr indent="0" marL="0">
              <a:buNone/>
            </a:pPr>
            <a:r>
              <a:rPr lang="en-US" sz="1800" b="1" dirty="0">
                <a:solidFill>
                  <a:schemeClr val="bg1"/>
                </a:solidFill>
              </a:rPr>
              <a:t>The governing rule: a product assembles what the domains master. It never redefines it.</a:t>
            </a:r>
            <a:endParaRPr lang="en-US" sz="18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Assemble across domains, never redefine</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3 OF 5  |  CONSUMER DATA PRODUCTS</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accent1"/>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makes joins across domains safe: keys and meanings already match</a:t>
            </a:r>
            <a:endParaRPr lang="en-US" sz="1800" dirty="0"/>
          </a:p>
        </p:txBody>
      </p:sp>
      <p:sp>
        <p:nvSpPr>
          <p:cNvPr id="18" name="Shape 15"/>
          <p:cNvSpPr/>
          <p:nvPr/>
        </p:nvSpPr>
        <p:spPr>
          <a:xfrm>
            <a:off x="548640" y="2651760"/>
            <a:ext cx="11091672" cy="960120"/>
          </a:xfrm>
          <a:prstGeom prst="roundRect">
            <a:avLst>
              <a:gd name="adj" fmla="val 7619"/>
            </a:avLst>
          </a:prstGeom>
          <a:solidFill>
            <a:schemeClr val="bg1"/>
          </a:solidFill>
          <a:ln w="19050">
            <a:solidFill>
              <a:schemeClr val="accent1"/>
            </a:solidFill>
            <a:prstDash val="solid"/>
          </a:ln>
        </p:spPr>
      </p:sp>
      <p:sp>
        <p:nvSpPr>
          <p:cNvPr id="19" name="Text 16"/>
          <p:cNvSpPr txBox="1"/>
          <p:nvPr/>
        </p:nvSpPr>
        <p:spPr>
          <a:xfrm>
            <a:off x="822960" y="2743200"/>
            <a:ext cx="10543032" cy="256032"/>
          </a:xfrm>
          <a:prstGeom prst="rect">
            <a:avLst/>
          </a:prstGeom>
          <a:noFill/>
          <a:ln/>
        </p:spPr>
        <p:txBody>
          <a:bodyPr wrap="square" lIns="0" tIns="0" rIns="0" bIns="0" rtlCol="0" anchor="t"/>
          <a:lstStyle/>
          <a:p>
            <a:pPr indent="0" marL="0">
              <a:buNone/>
            </a:pPr>
            <a:r>
              <a:rPr lang="en-US" sz="1000" b="1" spc="100" kern="0" dirty="0">
                <a:solidFill>
                  <a:schemeClr val="accent1"/>
                </a:solidFill>
              </a:rPr>
              <a:t>THE MEASURE IN OUR QUESTION, DEFINED IN DP-030</a:t>
            </a:r>
            <a:endParaRPr lang="en-US" sz="1000" dirty="0"/>
          </a:p>
        </p:txBody>
      </p:sp>
      <p:sp>
        <p:nvSpPr>
          <p:cNvPr id="20" name="Text 17"/>
          <p:cNvSpPr txBox="1"/>
          <p:nvPr/>
        </p:nvSpPr>
        <p:spPr>
          <a:xfrm>
            <a:off x="822960" y="3017520"/>
            <a:ext cx="10543032" cy="502920"/>
          </a:xfrm>
          <a:prstGeom prst="rect">
            <a:avLst/>
          </a:prstGeom>
          <a:noFill/>
          <a:ln/>
        </p:spPr>
        <p:txBody>
          <a:bodyPr wrap="square" lIns="0" tIns="0" rIns="0" bIns="0" rtlCol="0" anchor="ctr"/>
          <a:lstStyle/>
          <a:p>
            <a:pPr indent="0" marL="0">
              <a:buNone/>
            </a:pPr>
            <a:r>
              <a:rPr lang="en-US" sz="1800" b="1" dirty="0">
                <a:solidFill>
                  <a:schemeClr val="tx1"/>
                </a:solidFill>
              </a:rPr>
              <a:t>Fee Gap to Peer Median (bps)</a:t>
            </a:r>
            <a:pPr indent="0" marL="0">
              <a:buNone/>
            </a:pPr>
            <a:r>
              <a:rPr lang="en-US" sz="1800" b="1" dirty="0">
                <a:solidFill>
                  <a:schemeClr val="tx1"/>
                </a:solidFill>
              </a:rPr>
              <a:t>  =  ( </a:t>
            </a:r>
            <a:pPr indent="0" marL="0">
              <a:buNone/>
            </a:pPr>
            <a:r>
              <a:rPr lang="en-US" sz="1800" b="1" dirty="0">
                <a:solidFill>
                  <a:schemeClr val="accent2"/>
                </a:solidFill>
              </a:rPr>
              <a:t>Own Fee Rate</a:t>
            </a:r>
            <a:pPr indent="0" marL="0">
              <a:buNone/>
            </a:pPr>
            <a:r>
              <a:rPr lang="en-US" sz="1800" b="1" dirty="0">
                <a:solidFill>
                  <a:schemeClr val="tx1"/>
                </a:solidFill>
              </a:rPr>
              <a:t>  −  </a:t>
            </a:r>
            <a:pPr indent="0" marL="0">
              <a:buNone/>
            </a:pPr>
            <a:r>
              <a:rPr lang="en-US" sz="1800" b="1" dirty="0">
                <a:solidFill>
                  <a:schemeClr val="accent4"/>
                </a:solidFill>
              </a:rPr>
              <a:t>Peer Median Fee</a:t>
            </a:r>
            <a:pPr indent="0" marL="0">
              <a:buNone/>
            </a:pPr>
            <a:r>
              <a:rPr lang="en-US" sz="1800" b="1" dirty="0">
                <a:solidFill>
                  <a:schemeClr val="tx1"/>
                </a:solidFill>
              </a:rPr>
              <a:t> )  ×  10,000</a:t>
            </a:r>
            <a:endParaRPr lang="en-US" sz="1800" dirty="0"/>
          </a:p>
        </p:txBody>
      </p:sp>
      <p:sp>
        <p:nvSpPr>
          <p:cNvPr id="21" name="Shape 18"/>
          <p:cNvSpPr/>
          <p:nvPr/>
        </p:nvSpPr>
        <p:spPr>
          <a:xfrm>
            <a:off x="548640" y="3767328"/>
            <a:ext cx="5408676" cy="1719072"/>
          </a:xfrm>
          <a:prstGeom prst="roundRect">
            <a:avLst>
              <a:gd name="adj" fmla="val 4255"/>
            </a:avLst>
          </a:prstGeom>
          <a:solidFill>
            <a:schemeClr val="bg2"/>
          </a:solidFill>
          <a:ln/>
        </p:spPr>
      </p:sp>
      <p:sp>
        <p:nvSpPr>
          <p:cNvPr id="22" name="Shape 19"/>
          <p:cNvSpPr/>
          <p:nvPr/>
        </p:nvSpPr>
        <p:spPr>
          <a:xfrm>
            <a:off x="777240" y="3895344"/>
            <a:ext cx="960120" cy="310896"/>
          </a:xfrm>
          <a:prstGeom prst="roundRect">
            <a:avLst>
              <a:gd name="adj" fmla="val 50000"/>
            </a:avLst>
          </a:prstGeom>
          <a:solidFill>
            <a:schemeClr val="accent1"/>
          </a:solidFill>
          <a:ln/>
        </p:spPr>
      </p:sp>
      <p:sp>
        <p:nvSpPr>
          <p:cNvPr id="23" name="Text 20"/>
          <p:cNvSpPr txBox="1"/>
          <p:nvPr/>
        </p:nvSpPr>
        <p:spPr>
          <a:xfrm>
            <a:off x="777240" y="3895344"/>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DP-030</a:t>
            </a:r>
            <a:endParaRPr lang="en-US" sz="1200" dirty="0"/>
          </a:p>
        </p:txBody>
      </p:sp>
      <p:sp>
        <p:nvSpPr>
          <p:cNvPr id="24" name="Text 21"/>
          <p:cNvSpPr txBox="1"/>
          <p:nvPr/>
        </p:nvSpPr>
        <p:spPr>
          <a:xfrm>
            <a:off x="1847088" y="3895344"/>
            <a:ext cx="3945636" cy="310896"/>
          </a:xfrm>
          <a:prstGeom prst="rect">
            <a:avLst/>
          </a:prstGeom>
          <a:noFill/>
          <a:ln/>
        </p:spPr>
        <p:txBody>
          <a:bodyPr wrap="square" lIns="0" tIns="0" rIns="0" bIns="0" rtlCol="0" anchor="ctr"/>
          <a:lstStyle/>
          <a:p>
            <a:pPr indent="0" marL="0">
              <a:buNone/>
            </a:pPr>
            <a:r>
              <a:rPr lang="en-US" sz="1400" b="1" dirty="0">
                <a:solidFill>
                  <a:schemeClr val="tx1"/>
                </a:solidFill>
              </a:rPr>
              <a:t>Competitive Positioning &amp; Peer Benchmarks</a:t>
            </a:r>
            <a:endParaRPr lang="en-US" sz="1400" dirty="0"/>
          </a:p>
        </p:txBody>
      </p:sp>
      <p:sp>
        <p:nvSpPr>
          <p:cNvPr id="25" name="Text 22"/>
          <p:cNvSpPr txBox="1"/>
          <p:nvPr/>
        </p:nvSpPr>
        <p:spPr>
          <a:xfrm>
            <a:off x="777240" y="4315968"/>
            <a:ext cx="4951476" cy="274320"/>
          </a:xfrm>
          <a:prstGeom prst="rect">
            <a:avLst/>
          </a:prstGeom>
          <a:noFill/>
          <a:ln/>
        </p:spPr>
        <p:txBody>
          <a:bodyPr wrap="square" lIns="0" tIns="0" rIns="0" bIns="0" rtlCol="0" anchor="ctr"/>
          <a:lstStyle/>
          <a:p>
            <a:pPr indent="0" marL="0">
              <a:buNone/>
            </a:pPr>
            <a:r>
              <a:rPr lang="en-US" sz="1200" b="1" dirty="0">
                <a:solidFill>
                  <a:schemeClr val="accent1"/>
                </a:solidFill>
              </a:rPr>
              <a:t>For product, institutional and RFP teams</a:t>
            </a:r>
            <a:endParaRPr lang="en-US" sz="1200" dirty="0"/>
          </a:p>
        </p:txBody>
      </p:sp>
      <p:sp>
        <p:nvSpPr>
          <p:cNvPr id="26" name="Text 23"/>
          <p:cNvSpPr txBox="1"/>
          <p:nvPr/>
        </p:nvSpPr>
        <p:spPr>
          <a:xfrm>
            <a:off x="777240" y="4626864"/>
            <a:ext cx="4951476" cy="777240"/>
          </a:xfrm>
          <a:prstGeom prst="rect">
            <a:avLst/>
          </a:prstGeom>
          <a:noFill/>
          <a:ln/>
        </p:spPr>
        <p:txBody>
          <a:bodyPr wrap="square" lIns="0" tIns="0" rIns="0" bIns="0" rtlCol="0" anchor="t"/>
          <a:lstStyle/>
          <a:p>
            <a:pPr indent="0" marL="0">
              <a:buNone/>
            </a:pPr>
            <a:r>
              <a:rPr lang="en-US" sz="1400" dirty="0">
                <a:solidFill>
                  <a:schemeClr val="tx2"/>
                </a:solidFill>
              </a:rPr>
              <a:t>Positions each share class against its peer universe. It does not restate our fee or build its own peer group.</a:t>
            </a:r>
            <a:endParaRPr lang="en-US" sz="1400" dirty="0"/>
          </a:p>
        </p:txBody>
      </p:sp>
      <p:sp>
        <p:nvSpPr>
          <p:cNvPr id="27" name="Shape 24"/>
          <p:cNvSpPr/>
          <p:nvPr/>
        </p:nvSpPr>
        <p:spPr>
          <a:xfrm>
            <a:off x="6231636" y="3767328"/>
            <a:ext cx="5408676" cy="1719072"/>
          </a:xfrm>
          <a:prstGeom prst="roundRect">
            <a:avLst>
              <a:gd name="adj" fmla="val 4255"/>
            </a:avLst>
          </a:prstGeom>
          <a:solidFill>
            <a:schemeClr val="bg2"/>
          </a:solidFill>
          <a:ln/>
        </p:spPr>
      </p:sp>
      <p:sp>
        <p:nvSpPr>
          <p:cNvPr id="28" name="Shape 25"/>
          <p:cNvSpPr/>
          <p:nvPr/>
        </p:nvSpPr>
        <p:spPr>
          <a:xfrm>
            <a:off x="6460236" y="3895344"/>
            <a:ext cx="960120" cy="310896"/>
          </a:xfrm>
          <a:prstGeom prst="roundRect">
            <a:avLst>
              <a:gd name="adj" fmla="val 50000"/>
            </a:avLst>
          </a:prstGeom>
          <a:solidFill>
            <a:schemeClr val="accent1"/>
          </a:solidFill>
          <a:ln/>
        </p:spPr>
      </p:sp>
      <p:sp>
        <p:nvSpPr>
          <p:cNvPr id="29" name="Text 26"/>
          <p:cNvSpPr txBox="1"/>
          <p:nvPr/>
        </p:nvSpPr>
        <p:spPr>
          <a:xfrm>
            <a:off x="6460236" y="3895344"/>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DP-059</a:t>
            </a:r>
            <a:endParaRPr lang="en-US" sz="1200" dirty="0"/>
          </a:p>
        </p:txBody>
      </p:sp>
      <p:sp>
        <p:nvSpPr>
          <p:cNvPr id="30" name="Text 27"/>
          <p:cNvSpPr txBox="1"/>
          <p:nvPr/>
        </p:nvSpPr>
        <p:spPr>
          <a:xfrm>
            <a:off x="7530084" y="3895344"/>
            <a:ext cx="3945636" cy="310896"/>
          </a:xfrm>
          <a:prstGeom prst="rect">
            <a:avLst/>
          </a:prstGeom>
          <a:noFill/>
          <a:ln/>
        </p:spPr>
        <p:txBody>
          <a:bodyPr wrap="square" lIns="0" tIns="0" rIns="0" bIns="0" rtlCol="0" anchor="ctr"/>
          <a:lstStyle/>
          <a:p>
            <a:pPr indent="0" marL="0">
              <a:buNone/>
            </a:pPr>
            <a:r>
              <a:rPr lang="en-US" sz="1400" b="1" dirty="0">
                <a:solidFill>
                  <a:schemeClr val="tx1"/>
                </a:solidFill>
              </a:rPr>
              <a:t>Pricing &amp; Fee Waiver Analytics</a:t>
            </a:r>
            <a:endParaRPr lang="en-US" sz="1400" dirty="0"/>
          </a:p>
        </p:txBody>
      </p:sp>
      <p:sp>
        <p:nvSpPr>
          <p:cNvPr id="31" name="Text 28"/>
          <p:cNvSpPr txBox="1"/>
          <p:nvPr/>
        </p:nvSpPr>
        <p:spPr>
          <a:xfrm>
            <a:off x="6460236" y="4315968"/>
            <a:ext cx="4951476" cy="274320"/>
          </a:xfrm>
          <a:prstGeom prst="rect">
            <a:avLst/>
          </a:prstGeom>
          <a:noFill/>
          <a:ln/>
        </p:spPr>
        <p:txBody>
          <a:bodyPr wrap="square" lIns="0" tIns="0" rIns="0" bIns="0" rtlCol="0" anchor="ctr"/>
          <a:lstStyle/>
          <a:p>
            <a:pPr indent="0" marL="0">
              <a:buNone/>
            </a:pPr>
            <a:r>
              <a:rPr lang="en-US" sz="1200" b="1" dirty="0">
                <a:solidFill>
                  <a:schemeClr val="accent1"/>
                </a:solidFill>
              </a:rPr>
              <a:t>For the pricing committee and the board’s fee review</a:t>
            </a:r>
            <a:endParaRPr lang="en-US" sz="1200" dirty="0"/>
          </a:p>
        </p:txBody>
      </p:sp>
      <p:sp>
        <p:nvSpPr>
          <p:cNvPr id="32" name="Text 29"/>
          <p:cNvSpPr txBox="1"/>
          <p:nvPr/>
        </p:nvSpPr>
        <p:spPr>
          <a:xfrm>
            <a:off x="6460236" y="4626864"/>
            <a:ext cx="4951476" cy="777240"/>
          </a:xfrm>
          <a:prstGeom prst="rect">
            <a:avLst/>
          </a:prstGeom>
          <a:noFill/>
          <a:ln/>
        </p:spPr>
        <p:txBody>
          <a:bodyPr wrap="square" lIns="0" tIns="0" rIns="0" bIns="0" rtlCol="0" anchor="t"/>
          <a:lstStyle/>
          <a:p>
            <a:pPr indent="0" marL="0">
              <a:buNone/>
            </a:pPr>
            <a:r>
              <a:rPr lang="en-US" sz="1400" dirty="0">
                <a:solidFill>
                  <a:schemeClr val="tx2"/>
                </a:solidFill>
              </a:rPr>
              <a:t>Sets the same fee gap beside certified flows from DP-008. It reuses DP-030’s fee studies.</a:t>
            </a:r>
            <a:endParaRPr lang="en-US" sz="1400" dirty="0"/>
          </a:p>
        </p:txBody>
      </p:sp>
      <p:sp>
        <p:nvSpPr>
          <p:cNvPr id="33" name="Text 30"/>
          <p:cNvSpPr txBox="1"/>
          <p:nvPr/>
        </p:nvSpPr>
        <p:spPr>
          <a:xfrm>
            <a:off x="548640" y="5577840"/>
            <a:ext cx="11091672" cy="384048"/>
          </a:xfrm>
          <a:prstGeom prst="rect">
            <a:avLst/>
          </a:prstGeom>
          <a:noFill/>
          <a:ln/>
        </p:spPr>
        <p:txBody>
          <a:bodyPr wrap="square" lIns="0" tIns="0" rIns="0" bIns="0" rtlCol="0" anchor="ctr"/>
          <a:lstStyle/>
          <a:p>
            <a:pPr indent="0" marL="0">
              <a:buNone/>
            </a:pPr>
            <a:r>
              <a:rPr lang="en-US" sz="1600" b="1" dirty="0">
                <a:solidFill>
                  <a:schemeClr val="tx1"/>
                </a:solidFill>
              </a:rPr>
              <a:t>Global Equity Income A: 0.95% − 0.77% = +18 bps.</a:t>
            </a:r>
            <a:pPr indent="0" marL="0">
              <a:buNone/>
            </a:pPr>
            <a:r>
              <a:rPr lang="en-US" sz="1600" dirty="0">
                <a:solidFill>
                  <a:schemeClr val="tx1"/>
                </a:solidFill>
              </a:rPr>
              <a:t>  Product, RFP and board materials show the same figure.</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metric, defined once, read correctly</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4 OF 5  |  SEMANTIC MODEL</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accent1"/>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glossary: every metric traces back to a taxonomy definition</a:t>
            </a:r>
            <a:endParaRPr lang="en-US" sz="1800" dirty="0"/>
          </a:p>
        </p:txBody>
      </p:sp>
      <p:sp>
        <p:nvSpPr>
          <p:cNvPr id="18" name="Text 15"/>
          <p:cNvSpPr txBox="1"/>
          <p:nvPr/>
        </p:nvSpPr>
        <p:spPr>
          <a:xfrm>
            <a:off x="548640" y="2606040"/>
            <a:ext cx="11091672" cy="411480"/>
          </a:xfrm>
          <a:prstGeom prst="rect">
            <a:avLst/>
          </a:prstGeom>
          <a:noFill/>
          <a:ln/>
        </p:spPr>
        <p:txBody>
          <a:bodyPr wrap="square" lIns="0" tIns="0" rIns="0" bIns="0" rtlCol="0" anchor="ctr"/>
          <a:lstStyle/>
          <a:p>
            <a:pPr indent="0" marL="0">
              <a:buNone/>
            </a:pPr>
            <a:r>
              <a:rPr lang="en-US" sz="1600" b="1" dirty="0">
                <a:solidFill>
                  <a:schemeClr val="tx1"/>
                </a:solidFill>
              </a:rPr>
              <a:t>SM-06 Product &amp; Market</a:t>
            </a:r>
            <a:pPr indent="0" marL="0">
              <a:buNone/>
            </a:pPr>
            <a:r>
              <a:rPr lang="en-US" sz="1600" dirty="0">
                <a:solidFill>
                  <a:schemeClr val="tx1"/>
                </a:solidFill>
              </a:rPr>
              <a:t> publishes Fee Gap to Peer Median from DP-030, beside certified Net Flows, with four rules.</a:t>
            </a:r>
            <a:endParaRPr lang="en-US" sz="1600" dirty="0"/>
          </a:p>
        </p:txBody>
      </p:sp>
      <p:sp>
        <p:nvSpPr>
          <p:cNvPr id="19" name="Shape 16"/>
          <p:cNvSpPr/>
          <p:nvPr/>
        </p:nvSpPr>
        <p:spPr>
          <a:xfrm>
            <a:off x="548640" y="3127248"/>
            <a:ext cx="5408676" cy="1280160"/>
          </a:xfrm>
          <a:prstGeom prst="roundRect">
            <a:avLst>
              <a:gd name="adj" fmla="val 5714"/>
            </a:avLst>
          </a:prstGeom>
          <a:solidFill>
            <a:schemeClr val="bg2"/>
          </a:solidFill>
          <a:ln/>
        </p:spPr>
      </p:sp>
      <p:sp>
        <p:nvSpPr>
          <p:cNvPr id="20" name="Shape 17"/>
          <p:cNvSpPr/>
          <p:nvPr/>
        </p:nvSpPr>
        <p:spPr>
          <a:xfrm>
            <a:off x="777240" y="3328416"/>
            <a:ext cx="420624" cy="420624"/>
          </a:xfrm>
          <a:prstGeom prst="ellipse">
            <a:avLst/>
          </a:prstGeom>
          <a:solidFill>
            <a:schemeClr val="accent1"/>
          </a:solidFill>
          <a:ln/>
        </p:spPr>
      </p:sp>
      <p:sp>
        <p:nvSpPr>
          <p:cNvPr id="21" name="Text 18"/>
          <p:cNvSpPr txBox="1"/>
          <p:nvPr/>
        </p:nvSpPr>
        <p:spPr>
          <a:xfrm>
            <a:off x="777240"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 19"/>
          <p:cNvSpPr txBox="1"/>
          <p:nvPr/>
        </p:nvSpPr>
        <p:spPr>
          <a:xfrm>
            <a:off x="1417320" y="331012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Never averaged</a:t>
            </a:r>
            <a:endParaRPr lang="en-US" sz="1600" dirty="0"/>
          </a:p>
        </p:txBody>
      </p:sp>
      <p:sp>
        <p:nvSpPr>
          <p:cNvPr id="23" name="Text 20"/>
          <p:cNvSpPr txBox="1"/>
          <p:nvPr/>
        </p:nvSpPr>
        <p:spPr>
          <a:xfrm>
            <a:off x="1417320" y="3703320"/>
            <a:ext cx="4311396" cy="658368"/>
          </a:xfrm>
          <a:prstGeom prst="rect">
            <a:avLst/>
          </a:prstGeom>
          <a:noFill/>
          <a:ln/>
        </p:spPr>
        <p:txBody>
          <a:bodyPr wrap="square" lIns="0" tIns="0" rIns="0" bIns="0" rtlCol="0" anchor="t"/>
          <a:lstStyle/>
          <a:p>
            <a:pPr indent="0" marL="0">
              <a:buNone/>
            </a:pPr>
            <a:r>
              <a:rPr lang="en-US" sz="1400" dirty="0">
                <a:solidFill>
                  <a:schemeClr val="tx2"/>
                </a:solidFill>
              </a:rPr>
              <a:t>The fee gap is shown per share class and fee measure. It is not averaged across a fund range.</a:t>
            </a:r>
            <a:endParaRPr lang="en-US" sz="1400" dirty="0"/>
          </a:p>
        </p:txBody>
      </p:sp>
      <p:sp>
        <p:nvSpPr>
          <p:cNvPr id="24" name="Shape 21"/>
          <p:cNvSpPr/>
          <p:nvPr/>
        </p:nvSpPr>
        <p:spPr>
          <a:xfrm>
            <a:off x="6231636" y="3127248"/>
            <a:ext cx="5408676" cy="1280160"/>
          </a:xfrm>
          <a:prstGeom prst="roundRect">
            <a:avLst>
              <a:gd name="adj" fmla="val 5714"/>
            </a:avLst>
          </a:prstGeom>
          <a:solidFill>
            <a:schemeClr val="bg2"/>
          </a:solidFill>
          <a:ln/>
        </p:spPr>
      </p:sp>
      <p:sp>
        <p:nvSpPr>
          <p:cNvPr id="25" name="Shape 22"/>
          <p:cNvSpPr/>
          <p:nvPr/>
        </p:nvSpPr>
        <p:spPr>
          <a:xfrm>
            <a:off x="6460236" y="3328416"/>
            <a:ext cx="420624" cy="420624"/>
          </a:xfrm>
          <a:prstGeom prst="ellipse">
            <a:avLst/>
          </a:prstGeom>
          <a:solidFill>
            <a:schemeClr val="accent1"/>
          </a:solidFill>
          <a:ln/>
        </p:spPr>
      </p:sp>
      <p:sp>
        <p:nvSpPr>
          <p:cNvPr id="26" name="Text 23"/>
          <p:cNvSpPr txBox="1"/>
          <p:nvPr/>
        </p:nvSpPr>
        <p:spPr>
          <a:xfrm>
            <a:off x="6460236"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7" name="Text 24"/>
          <p:cNvSpPr txBox="1"/>
          <p:nvPr/>
        </p:nvSpPr>
        <p:spPr>
          <a:xfrm>
            <a:off x="7100316" y="331012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Certified flows only</a:t>
            </a:r>
            <a:endParaRPr lang="en-US" sz="1600" dirty="0"/>
          </a:p>
        </p:txBody>
      </p:sp>
      <p:sp>
        <p:nvSpPr>
          <p:cNvPr id="28" name="Text 25"/>
          <p:cNvSpPr txBox="1"/>
          <p:nvPr/>
        </p:nvSpPr>
        <p:spPr>
          <a:xfrm>
            <a:off x="7100316" y="3703320"/>
            <a:ext cx="4311396" cy="658368"/>
          </a:xfrm>
          <a:prstGeom prst="rect">
            <a:avLst/>
          </a:prstGeom>
          <a:noFill/>
          <a:ln/>
        </p:spPr>
        <p:txBody>
          <a:bodyPr wrap="square" lIns="0" tIns="0" rIns="0" bIns="0" rtlCol="0" anchor="t"/>
          <a:lstStyle/>
          <a:p>
            <a:pPr indent="0" marL="0">
              <a:buNone/>
            </a:pPr>
            <a:r>
              <a:rPr lang="en-US" sz="1400" dirty="0">
                <a:solidFill>
                  <a:schemeClr val="tx2"/>
                </a:solidFill>
              </a:rPr>
              <a:t>Net Flows is the certified metric from DP-008, read from locked monthly rows. Vendor estimates stay separate.</a:t>
            </a:r>
            <a:endParaRPr lang="en-US" sz="1400" dirty="0"/>
          </a:p>
        </p:txBody>
      </p:sp>
      <p:sp>
        <p:nvSpPr>
          <p:cNvPr id="29" name="Shape 26"/>
          <p:cNvSpPr/>
          <p:nvPr/>
        </p:nvSpPr>
        <p:spPr>
          <a:xfrm>
            <a:off x="548640" y="4590288"/>
            <a:ext cx="5408676" cy="1280160"/>
          </a:xfrm>
          <a:prstGeom prst="roundRect">
            <a:avLst>
              <a:gd name="adj" fmla="val 5714"/>
            </a:avLst>
          </a:prstGeom>
          <a:solidFill>
            <a:schemeClr val="bg2"/>
          </a:solidFill>
          <a:ln/>
        </p:spPr>
      </p:sp>
      <p:sp>
        <p:nvSpPr>
          <p:cNvPr id="30" name="Shape 27"/>
          <p:cNvSpPr/>
          <p:nvPr/>
        </p:nvSpPr>
        <p:spPr>
          <a:xfrm>
            <a:off x="777240" y="4791456"/>
            <a:ext cx="420624" cy="420624"/>
          </a:xfrm>
          <a:prstGeom prst="ellipse">
            <a:avLst/>
          </a:prstGeom>
          <a:solidFill>
            <a:schemeClr val="accent1"/>
          </a:solidFill>
          <a:ln/>
        </p:spPr>
      </p:sp>
      <p:sp>
        <p:nvSpPr>
          <p:cNvPr id="31" name="Text 28"/>
          <p:cNvSpPr txBox="1"/>
          <p:nvPr/>
        </p:nvSpPr>
        <p:spPr>
          <a:xfrm>
            <a:off x="777240"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2" name="Text 29"/>
          <p:cNvSpPr txBox="1"/>
          <p:nvPr/>
        </p:nvSpPr>
        <p:spPr>
          <a:xfrm>
            <a:off x="1417320" y="477316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Lined up by share class</a:t>
            </a:r>
            <a:endParaRPr lang="en-US" sz="1600" dirty="0"/>
          </a:p>
        </p:txBody>
      </p:sp>
      <p:sp>
        <p:nvSpPr>
          <p:cNvPr id="33" name="Text 30"/>
          <p:cNvSpPr txBox="1"/>
          <p:nvPr/>
        </p:nvSpPr>
        <p:spPr>
          <a:xfrm>
            <a:off x="1417320" y="5166360"/>
            <a:ext cx="4311396" cy="658368"/>
          </a:xfrm>
          <a:prstGeom prst="rect">
            <a:avLst/>
          </a:prstGeom>
          <a:noFill/>
          <a:ln/>
        </p:spPr>
        <p:txBody>
          <a:bodyPr wrap="square" lIns="0" tIns="0" rIns="0" bIns="0" rtlCol="0" anchor="t"/>
          <a:lstStyle/>
          <a:p>
            <a:pPr indent="0" marL="0">
              <a:buNone/>
            </a:pPr>
            <a:r>
              <a:rPr lang="en-US" sz="1400" dirty="0">
                <a:solidFill>
                  <a:schemeClr val="tx2"/>
                </a:solidFill>
              </a:rPr>
              <a:t>The fee gap and the flows are worked out separately, then matched by share class.</a:t>
            </a:r>
            <a:endParaRPr lang="en-US" sz="1400" dirty="0"/>
          </a:p>
        </p:txBody>
      </p:sp>
      <p:sp>
        <p:nvSpPr>
          <p:cNvPr id="34" name="Shape 31"/>
          <p:cNvSpPr/>
          <p:nvPr/>
        </p:nvSpPr>
        <p:spPr>
          <a:xfrm>
            <a:off x="6231636" y="4590288"/>
            <a:ext cx="5408676" cy="1280160"/>
          </a:xfrm>
          <a:prstGeom prst="roundRect">
            <a:avLst>
              <a:gd name="adj" fmla="val 5714"/>
            </a:avLst>
          </a:prstGeom>
          <a:solidFill>
            <a:schemeClr val="bg2"/>
          </a:solidFill>
          <a:ln/>
        </p:spPr>
      </p:sp>
      <p:sp>
        <p:nvSpPr>
          <p:cNvPr id="35" name="Shape 32"/>
          <p:cNvSpPr/>
          <p:nvPr/>
        </p:nvSpPr>
        <p:spPr>
          <a:xfrm>
            <a:off x="6460236" y="4791456"/>
            <a:ext cx="420624" cy="420624"/>
          </a:xfrm>
          <a:prstGeom prst="ellipse">
            <a:avLst/>
          </a:prstGeom>
          <a:solidFill>
            <a:schemeClr val="accent1"/>
          </a:solidFill>
          <a:ln/>
        </p:spPr>
      </p:sp>
      <p:sp>
        <p:nvSpPr>
          <p:cNvPr id="36" name="Text 33"/>
          <p:cNvSpPr txBox="1"/>
          <p:nvPr/>
        </p:nvSpPr>
        <p:spPr>
          <a:xfrm>
            <a:off x="6460236"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7" name="Text 34"/>
          <p:cNvSpPr txBox="1"/>
          <p:nvPr/>
        </p:nvSpPr>
        <p:spPr>
          <a:xfrm>
            <a:off x="7100316" y="477316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Access follows the license</a:t>
            </a:r>
            <a:endParaRPr lang="en-US" sz="1600" dirty="0"/>
          </a:p>
        </p:txBody>
      </p:sp>
      <p:sp>
        <p:nvSpPr>
          <p:cNvPr id="38" name="Text 35"/>
          <p:cNvSpPr txBox="1"/>
          <p:nvPr/>
        </p:nvSpPr>
        <p:spPr>
          <a:xfrm>
            <a:off x="7100316" y="5166360"/>
            <a:ext cx="4311396" cy="658368"/>
          </a:xfrm>
          <a:prstGeom prst="rect">
            <a:avLst/>
          </a:prstGeom>
          <a:noFill/>
          <a:ln/>
        </p:spPr>
        <p:txBody>
          <a:bodyPr wrap="square" lIns="0" tIns="0" rIns="0" bIns="0" rtlCol="0" anchor="t"/>
          <a:lstStyle/>
          <a:p>
            <a:pPr indent="0" marL="0">
              <a:buNone/>
            </a:pPr>
            <a:r>
              <a:rPr lang="en-US" sz="1400" dirty="0">
                <a:solidFill>
                  <a:schemeClr val="tx2"/>
                </a:solidFill>
              </a:rPr>
              <a:t>Peer data appears only under a current permitted-use grant. Extracts carry the vendor’s attribution.</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answer, with its trail attached</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5 OF 5  |  ANALYTICAL USE</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accent1"/>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makes the answer traceable, back to a definition and an owner</a:t>
            </a:r>
            <a:endParaRPr lang="en-US" sz="1800" dirty="0"/>
          </a:p>
        </p:txBody>
      </p:sp>
      <p:sp>
        <p:nvSpPr>
          <p:cNvPr id="18" name="Shape 15"/>
          <p:cNvSpPr/>
          <p:nvPr/>
        </p:nvSpPr>
        <p:spPr>
          <a:xfrm>
            <a:off x="548640" y="2651760"/>
            <a:ext cx="4846320" cy="3291840"/>
          </a:xfrm>
          <a:prstGeom prst="roundRect">
            <a:avLst>
              <a:gd name="adj" fmla="val 2222"/>
            </a:avLst>
          </a:prstGeom>
          <a:solidFill>
            <a:schemeClr val="bg2"/>
          </a:solidFill>
          <a:ln/>
        </p:spPr>
      </p:sp>
      <p:sp>
        <p:nvSpPr>
          <p:cNvPr id="19" name="Text 16"/>
          <p:cNvSpPr txBox="1"/>
          <p:nvPr/>
        </p:nvSpPr>
        <p:spPr>
          <a:xfrm>
            <a:off x="822960" y="2816352"/>
            <a:ext cx="4297680" cy="256032"/>
          </a:xfrm>
          <a:prstGeom prst="rect">
            <a:avLst/>
          </a:prstGeom>
          <a:noFill/>
          <a:ln/>
        </p:spPr>
        <p:txBody>
          <a:bodyPr wrap="square" lIns="0" tIns="0" rIns="0" bIns="0" rtlCol="0" anchor="t"/>
          <a:lstStyle/>
          <a:p>
            <a:pPr indent="0" marL="0">
              <a:buNone/>
            </a:pPr>
            <a:r>
              <a:rPr lang="en-US" sz="1000" b="1" spc="100" kern="0" dirty="0">
                <a:solidFill>
                  <a:schemeClr val="tx2"/>
                </a:solidFill>
              </a:rPr>
              <a:t>ABOVE PEER MEDIAN AND IN NET OUTFLOW</a:t>
            </a:r>
            <a:endParaRPr lang="en-US" sz="1000" dirty="0"/>
          </a:p>
        </p:txBody>
      </p:sp>
      <p:sp>
        <p:nvSpPr>
          <p:cNvPr id="20" name="Text 17"/>
          <p:cNvSpPr txBox="1"/>
          <p:nvPr/>
        </p:nvSpPr>
        <p:spPr>
          <a:xfrm>
            <a:off x="822960" y="3108960"/>
            <a:ext cx="4297680" cy="1051560"/>
          </a:xfrm>
          <a:prstGeom prst="rect">
            <a:avLst/>
          </a:prstGeom>
          <a:noFill/>
          <a:ln/>
        </p:spPr>
        <p:txBody>
          <a:bodyPr wrap="square" lIns="0" tIns="0" rIns="0" bIns="0" rtlCol="0" anchor="ctr"/>
          <a:lstStyle/>
          <a:p>
            <a:pPr indent="0" marL="0">
              <a:buNone/>
            </a:pPr>
            <a:r>
              <a:rPr lang="en-US" sz="6600" b="1" dirty="0">
                <a:solidFill>
                  <a:schemeClr val="accent4"/>
                </a:solidFill>
              </a:rPr>
              <a:t>7 of 64</a:t>
            </a:r>
            <a:endParaRPr lang="en-US" sz="6600" dirty="0"/>
          </a:p>
        </p:txBody>
      </p:sp>
      <p:sp>
        <p:nvSpPr>
          <p:cNvPr id="21" name="Text 18"/>
          <p:cNvSpPr txBox="1"/>
          <p:nvPr/>
        </p:nvSpPr>
        <p:spPr>
          <a:xfrm>
            <a:off x="822960" y="4206240"/>
            <a:ext cx="4297680" cy="320040"/>
          </a:xfrm>
          <a:prstGeom prst="rect">
            <a:avLst/>
          </a:prstGeom>
          <a:noFill/>
          <a:ln/>
        </p:spPr>
        <p:txBody>
          <a:bodyPr wrap="square" lIns="0" tIns="0" rIns="0" bIns="0" rtlCol="0" anchor="ctr"/>
          <a:lstStyle/>
          <a:p>
            <a:pPr indent="0" marL="0">
              <a:buNone/>
            </a:pPr>
            <a:r>
              <a:rPr lang="en-US" sz="1600" dirty="0">
                <a:solidFill>
                  <a:schemeClr val="tx1"/>
                </a:solidFill>
              </a:rPr>
              <a:t>share classes, over the last 12 months</a:t>
            </a:r>
            <a:endParaRPr lang="en-US" sz="1600" dirty="0"/>
          </a:p>
        </p:txBody>
      </p:sp>
      <p:sp>
        <p:nvSpPr>
          <p:cNvPr id="22" name="Shape 19"/>
          <p:cNvSpPr/>
          <p:nvPr/>
        </p:nvSpPr>
        <p:spPr>
          <a:xfrm>
            <a:off x="822960" y="4709160"/>
            <a:ext cx="4297680" cy="0"/>
          </a:xfrm>
          <a:prstGeom prst="line">
            <a:avLst/>
          </a:prstGeom>
          <a:noFill/>
          <a:ln w="9525">
            <a:solidFill>
              <a:schemeClr val="tx2">
                <a:alpha val="40000"/>
              </a:schemeClr>
            </a:solidFill>
            <a:prstDash val="solid"/>
          </a:ln>
        </p:spPr>
      </p:sp>
      <p:sp>
        <p:nvSpPr>
          <p:cNvPr id="23" name="Text 20"/>
          <p:cNvSpPr txBox="1"/>
          <p:nvPr/>
        </p:nvSpPr>
        <p:spPr>
          <a:xfrm>
            <a:off x="822960" y="4846320"/>
            <a:ext cx="4297680" cy="685800"/>
          </a:xfrm>
          <a:prstGeom prst="rect">
            <a:avLst/>
          </a:prstGeom>
          <a:noFill/>
          <a:ln/>
        </p:spPr>
        <p:txBody>
          <a:bodyPr wrap="square" lIns="0" tIns="0" rIns="0" bIns="0" rtlCol="0" anchor="t"/>
          <a:lstStyle/>
          <a:p>
            <a:pPr indent="0" marL="0">
              <a:buNone/>
            </a:pPr>
            <a:r>
              <a:rPr lang="en-US" sz="1400" b="1" dirty="0">
                <a:solidFill>
                  <a:schemeClr val="tx1"/>
                </a:solidFill>
              </a:rPr>
              <a:t>Global Equity Income Fund, Class A</a:t>
            </a:r>
            <a:endParaRPr lang="en-US" sz="1400" dirty="0"/>
          </a:p>
          <a:p>
            <a:pPr indent="0" marL="0">
              <a:buNone/>
            </a:pPr>
            <a:r>
              <a:rPr lang="en-US" sz="1400" dirty="0">
                <a:solidFill>
                  <a:schemeClr val="tx2"/>
                </a:solidFill>
              </a:rPr>
              <a:t>+18 bps to peer median  |  −$210m net flows</a:t>
            </a:r>
            <a:endParaRPr lang="en-US" sz="1400" dirty="0"/>
          </a:p>
        </p:txBody>
      </p:sp>
      <p:sp>
        <p:nvSpPr>
          <p:cNvPr id="24" name="Text 21"/>
          <p:cNvSpPr txBox="1"/>
          <p:nvPr/>
        </p:nvSpPr>
        <p:spPr>
          <a:xfrm>
            <a:off x="822960" y="5623560"/>
            <a:ext cx="4297680" cy="228600"/>
          </a:xfrm>
          <a:prstGeom prst="rect">
            <a:avLst/>
          </a:prstGeom>
          <a:noFill/>
          <a:ln/>
        </p:spPr>
        <p:txBody>
          <a:bodyPr wrap="square" lIns="0" tIns="0" rIns="0" bIns="0" rtlCol="0" anchor="t"/>
          <a:lstStyle/>
          <a:p>
            <a:pPr indent="0" marL="0">
              <a:buNone/>
            </a:pPr>
            <a:r>
              <a:rPr lang="en-US" sz="1000" i="1" dirty="0">
                <a:solidFill>
                  <a:schemeClr val="tx2"/>
                </a:solidFill>
              </a:rPr>
              <a:t>Illustrative figures</a:t>
            </a:r>
            <a:endParaRPr lang="en-US" sz="1000" dirty="0"/>
          </a:p>
        </p:txBody>
      </p:sp>
      <p:sp>
        <p:nvSpPr>
          <p:cNvPr id="25" name="Text 22"/>
          <p:cNvSpPr txBox="1"/>
          <p:nvPr/>
        </p:nvSpPr>
        <p:spPr>
          <a:xfrm>
            <a:off x="5760720" y="2651760"/>
            <a:ext cx="5879592" cy="228600"/>
          </a:xfrm>
          <a:prstGeom prst="rect">
            <a:avLst/>
          </a:prstGeom>
          <a:noFill/>
          <a:ln/>
        </p:spPr>
        <p:txBody>
          <a:bodyPr wrap="square" lIns="0" tIns="0" rIns="0" bIns="0" rtlCol="0" anchor="t"/>
          <a:lstStyle/>
          <a:p>
            <a:pPr indent="0" marL="0">
              <a:buNone/>
            </a:pPr>
            <a:r>
              <a:rPr lang="en-US" sz="1000" b="1" spc="100" kern="0" dirty="0">
                <a:solidFill>
                  <a:schemeClr val="tx2"/>
                </a:solidFill>
              </a:rPr>
              <a:t>WHY THE ANSWER CAN BE USED</a:t>
            </a:r>
            <a:endParaRPr lang="en-US" sz="1000" dirty="0"/>
          </a:p>
        </p:txBody>
      </p:sp>
      <p:sp>
        <p:nvSpPr>
          <p:cNvPr id="26" name="Shape 23"/>
          <p:cNvSpPr/>
          <p:nvPr/>
        </p:nvSpPr>
        <p:spPr>
          <a:xfrm>
            <a:off x="5760720" y="3017520"/>
            <a:ext cx="420624" cy="420624"/>
          </a:xfrm>
          <a:prstGeom prst="ellipse">
            <a:avLst/>
          </a:prstGeom>
          <a:solidFill>
            <a:schemeClr val="accent1"/>
          </a:solidFill>
          <a:ln/>
        </p:spPr>
      </p:sp>
      <p:sp>
        <p:nvSpPr>
          <p:cNvPr id="27" name="Text 24"/>
          <p:cNvSpPr txBox="1"/>
          <p:nvPr/>
        </p:nvSpPr>
        <p:spPr>
          <a:xfrm>
            <a:off x="576072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Text 25"/>
          <p:cNvSpPr txBox="1"/>
          <p:nvPr/>
        </p:nvSpPr>
        <p:spPr>
          <a:xfrm>
            <a:off x="6355080" y="2999232"/>
            <a:ext cx="5285232" cy="365760"/>
          </a:xfrm>
          <a:prstGeom prst="rect">
            <a:avLst/>
          </a:prstGeom>
          <a:noFill/>
          <a:ln/>
        </p:spPr>
        <p:txBody>
          <a:bodyPr wrap="square" lIns="0" tIns="0" rIns="0" bIns="0" rtlCol="0" anchor="ctr"/>
          <a:lstStyle/>
          <a:p>
            <a:pPr indent="0" marL="0">
              <a:buNone/>
            </a:pPr>
            <a:r>
              <a:rPr lang="en-US" sz="1600" b="1" dirty="0">
                <a:solidFill>
                  <a:schemeClr val="tx1"/>
                </a:solidFill>
              </a:rPr>
              <a:t>It shows both of its dates</a:t>
            </a:r>
            <a:endParaRPr lang="en-US" sz="1600" dirty="0"/>
          </a:p>
        </p:txBody>
      </p:sp>
      <p:sp>
        <p:nvSpPr>
          <p:cNvPr id="29" name="Text 26"/>
          <p:cNvSpPr txBox="1"/>
          <p:nvPr/>
        </p:nvSpPr>
        <p:spPr>
          <a:xfrm>
            <a:off x="6355080" y="3383280"/>
            <a:ext cx="5285232" cy="548640"/>
          </a:xfrm>
          <a:prstGeom prst="rect">
            <a:avLst/>
          </a:prstGeom>
          <a:noFill/>
          <a:ln/>
        </p:spPr>
        <p:txBody>
          <a:bodyPr wrap="square" lIns="0" tIns="0" rIns="0" bIns="0" rtlCol="0" anchor="t"/>
          <a:lstStyle/>
          <a:p>
            <a:pPr indent="0" marL="0">
              <a:buNone/>
            </a:pPr>
            <a:r>
              <a:rPr lang="en-US" sz="1400" dirty="0">
                <a:solidFill>
                  <a:schemeClr val="tx2"/>
                </a:solidFill>
              </a:rPr>
              <a:t>The fee gap as of the latest fee study. Flows as of the last locked month-end.</a:t>
            </a:r>
            <a:endParaRPr lang="en-US" sz="1400" dirty="0"/>
          </a:p>
        </p:txBody>
      </p:sp>
      <p:sp>
        <p:nvSpPr>
          <p:cNvPr id="30" name="Shape 27"/>
          <p:cNvSpPr/>
          <p:nvPr/>
        </p:nvSpPr>
        <p:spPr>
          <a:xfrm>
            <a:off x="5760720" y="4160520"/>
            <a:ext cx="420624" cy="420624"/>
          </a:xfrm>
          <a:prstGeom prst="ellipse">
            <a:avLst/>
          </a:prstGeom>
          <a:solidFill>
            <a:schemeClr val="accent1"/>
          </a:solidFill>
          <a:ln/>
        </p:spPr>
      </p:sp>
      <p:sp>
        <p:nvSpPr>
          <p:cNvPr id="31" name="Text 28"/>
          <p:cNvSpPr txBox="1"/>
          <p:nvPr/>
        </p:nvSpPr>
        <p:spPr>
          <a:xfrm>
            <a:off x="5760720" y="4160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2" name="Text 29"/>
          <p:cNvSpPr txBox="1"/>
          <p:nvPr/>
        </p:nvSpPr>
        <p:spPr>
          <a:xfrm>
            <a:off x="6355080" y="4142232"/>
            <a:ext cx="5285232" cy="365760"/>
          </a:xfrm>
          <a:prstGeom prst="rect">
            <a:avLst/>
          </a:prstGeom>
          <a:noFill/>
          <a:ln/>
        </p:spPr>
        <p:txBody>
          <a:bodyPr wrap="square" lIns="0" tIns="0" rIns="0" bIns="0" rtlCol="0" anchor="ctr"/>
          <a:lstStyle/>
          <a:p>
            <a:pPr indent="0" marL="0">
              <a:buNone/>
            </a:pPr>
            <a:r>
              <a:rPr lang="en-US" sz="1600" b="1" dirty="0">
                <a:solidFill>
                  <a:schemeClr val="tx1"/>
                </a:solidFill>
              </a:rPr>
              <a:t>Anyone can follow it back</a:t>
            </a:r>
            <a:endParaRPr lang="en-US" sz="1600" dirty="0"/>
          </a:p>
        </p:txBody>
      </p:sp>
      <p:sp>
        <p:nvSpPr>
          <p:cNvPr id="33" name="Shape 30"/>
          <p:cNvSpPr/>
          <p:nvPr/>
        </p:nvSpPr>
        <p:spPr>
          <a:xfrm>
            <a:off x="6355080" y="4645152"/>
            <a:ext cx="1078992" cy="438912"/>
          </a:xfrm>
          <a:prstGeom prst="roundRect">
            <a:avLst>
              <a:gd name="adj" fmla="val 16667"/>
            </a:avLst>
          </a:prstGeom>
          <a:solidFill>
            <a:schemeClr val="accent1"/>
          </a:solidFill>
          <a:ln/>
        </p:spPr>
      </p:sp>
      <p:sp>
        <p:nvSpPr>
          <p:cNvPr id="34" name="Text 31"/>
          <p:cNvSpPr txBox="1"/>
          <p:nvPr/>
        </p:nvSpPr>
        <p:spPr>
          <a:xfrm>
            <a:off x="635508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Metric</a:t>
            </a:r>
            <a:endParaRPr lang="en-US" sz="1400" dirty="0"/>
          </a:p>
        </p:txBody>
      </p:sp>
      <p:sp>
        <p:nvSpPr>
          <p:cNvPr id="35" name="Shape 32"/>
          <p:cNvSpPr/>
          <p:nvPr/>
        </p:nvSpPr>
        <p:spPr>
          <a:xfrm>
            <a:off x="7470648" y="4864608"/>
            <a:ext cx="249936" cy="0"/>
          </a:xfrm>
          <a:prstGeom prst="line">
            <a:avLst/>
          </a:prstGeom>
          <a:noFill/>
          <a:ln w="22225">
            <a:solidFill>
              <a:schemeClr val="accent1"/>
            </a:solidFill>
            <a:prstDash val="solid"/>
            <a:tailEnd type="triangle"/>
          </a:ln>
        </p:spPr>
      </p:sp>
      <p:sp>
        <p:nvSpPr>
          <p:cNvPr id="36" name="Shape 33"/>
          <p:cNvSpPr/>
          <p:nvPr/>
        </p:nvSpPr>
        <p:spPr>
          <a:xfrm>
            <a:off x="7757160" y="4645152"/>
            <a:ext cx="1078992" cy="438912"/>
          </a:xfrm>
          <a:prstGeom prst="roundRect">
            <a:avLst>
              <a:gd name="adj" fmla="val 16667"/>
            </a:avLst>
          </a:prstGeom>
          <a:solidFill>
            <a:schemeClr val="accent1"/>
          </a:solidFill>
          <a:ln/>
        </p:spPr>
      </p:sp>
      <p:sp>
        <p:nvSpPr>
          <p:cNvPr id="37" name="Text 34"/>
          <p:cNvSpPr txBox="1"/>
          <p:nvPr/>
        </p:nvSpPr>
        <p:spPr>
          <a:xfrm>
            <a:off x="775716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Product</a:t>
            </a:r>
            <a:endParaRPr lang="en-US" sz="1400" dirty="0"/>
          </a:p>
        </p:txBody>
      </p:sp>
      <p:sp>
        <p:nvSpPr>
          <p:cNvPr id="38" name="Shape 35"/>
          <p:cNvSpPr/>
          <p:nvPr/>
        </p:nvSpPr>
        <p:spPr>
          <a:xfrm>
            <a:off x="8872728" y="4864608"/>
            <a:ext cx="249936" cy="0"/>
          </a:xfrm>
          <a:prstGeom prst="line">
            <a:avLst/>
          </a:prstGeom>
          <a:noFill/>
          <a:ln w="22225">
            <a:solidFill>
              <a:schemeClr val="accent1"/>
            </a:solidFill>
            <a:prstDash val="solid"/>
            <a:tailEnd type="triangle"/>
          </a:ln>
        </p:spPr>
      </p:sp>
      <p:sp>
        <p:nvSpPr>
          <p:cNvPr id="39" name="Shape 36"/>
          <p:cNvSpPr/>
          <p:nvPr/>
        </p:nvSpPr>
        <p:spPr>
          <a:xfrm>
            <a:off x="9159240" y="4645152"/>
            <a:ext cx="1078992" cy="438912"/>
          </a:xfrm>
          <a:prstGeom prst="roundRect">
            <a:avLst>
              <a:gd name="adj" fmla="val 16667"/>
            </a:avLst>
          </a:prstGeom>
          <a:solidFill>
            <a:schemeClr val="accent1"/>
          </a:solidFill>
          <a:ln/>
        </p:spPr>
      </p:sp>
      <p:sp>
        <p:nvSpPr>
          <p:cNvPr id="40" name="Text 37"/>
          <p:cNvSpPr txBox="1"/>
          <p:nvPr/>
        </p:nvSpPr>
        <p:spPr>
          <a:xfrm>
            <a:off x="915924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Definition</a:t>
            </a:r>
            <a:endParaRPr lang="en-US" sz="1400" dirty="0"/>
          </a:p>
        </p:txBody>
      </p:sp>
      <p:sp>
        <p:nvSpPr>
          <p:cNvPr id="41" name="Shape 38"/>
          <p:cNvSpPr/>
          <p:nvPr/>
        </p:nvSpPr>
        <p:spPr>
          <a:xfrm>
            <a:off x="10274808" y="4864608"/>
            <a:ext cx="249936" cy="0"/>
          </a:xfrm>
          <a:prstGeom prst="line">
            <a:avLst/>
          </a:prstGeom>
          <a:noFill/>
          <a:ln w="22225">
            <a:solidFill>
              <a:schemeClr val="accent1"/>
            </a:solidFill>
            <a:prstDash val="solid"/>
            <a:tailEnd type="triangle"/>
          </a:ln>
        </p:spPr>
      </p:sp>
      <p:sp>
        <p:nvSpPr>
          <p:cNvPr id="42" name="Shape 39"/>
          <p:cNvSpPr/>
          <p:nvPr/>
        </p:nvSpPr>
        <p:spPr>
          <a:xfrm>
            <a:off x="10561320" y="4645152"/>
            <a:ext cx="1078992" cy="438912"/>
          </a:xfrm>
          <a:prstGeom prst="roundRect">
            <a:avLst>
              <a:gd name="adj" fmla="val 16667"/>
            </a:avLst>
          </a:prstGeom>
          <a:solidFill>
            <a:schemeClr val="accent1"/>
          </a:solidFill>
          <a:ln/>
        </p:spPr>
      </p:sp>
      <p:sp>
        <p:nvSpPr>
          <p:cNvPr id="43" name="Text 40"/>
          <p:cNvSpPr txBox="1"/>
          <p:nvPr/>
        </p:nvSpPr>
        <p:spPr>
          <a:xfrm>
            <a:off x="1056132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Owner</a:t>
            </a:r>
            <a:endParaRPr lang="en-US" sz="1400" dirty="0"/>
          </a:p>
        </p:txBody>
      </p:sp>
      <p:sp>
        <p:nvSpPr>
          <p:cNvPr id="44" name="Text 41"/>
          <p:cNvSpPr txBox="1"/>
          <p:nvPr/>
        </p:nvSpPr>
        <p:spPr>
          <a:xfrm>
            <a:off x="6355080" y="5257800"/>
            <a:ext cx="5285232" cy="548640"/>
          </a:xfrm>
          <a:prstGeom prst="rect">
            <a:avLst/>
          </a:prstGeom>
          <a:noFill/>
          <a:ln/>
        </p:spPr>
        <p:txBody>
          <a:bodyPr wrap="square" lIns="0" tIns="0" rIns="0" bIns="0" rtlCol="0" anchor="t"/>
          <a:lstStyle/>
          <a:p>
            <a:pPr indent="0" marL="0">
              <a:buNone/>
            </a:pPr>
            <a:r>
              <a:rPr lang="en-US" sz="1400" dirty="0">
                <a:solidFill>
                  <a:schemeClr val="tx2"/>
                </a:solidFill>
              </a:rPr>
              <a:t>The same metrics answer the dashboard and a plain-English question to an AI assistant.</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bg1"/>
                </a:solidFill>
              </a:rPr>
              <a:t>What we can’t answer becomes a named gap</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CLOSING THE LOOP</a:t>
            </a:r>
            <a:endParaRPr lang="en-US" sz="1200" dirty="0"/>
          </a:p>
        </p:txBody>
      </p:sp>
      <p:sp>
        <p:nvSpPr>
          <p:cNvPr id="5" name="Text 2"/>
          <p:cNvSpPr txBox="1"/>
          <p:nvPr/>
        </p:nvSpPr>
        <p:spPr>
          <a:xfrm>
            <a:off x="548640" y="1783080"/>
            <a:ext cx="11091672" cy="274320"/>
          </a:xfrm>
          <a:prstGeom prst="rect">
            <a:avLst/>
          </a:prstGeom>
          <a:noFill/>
          <a:ln/>
        </p:spPr>
        <p:txBody>
          <a:bodyPr wrap="square" lIns="0" tIns="0" rIns="0" bIns="0" rtlCol="0" anchor="t"/>
          <a:lstStyle/>
          <a:p>
            <a:pPr indent="0" marL="0">
              <a:buNone/>
            </a:pPr>
            <a:r>
              <a:rPr lang="en-US" sz="1200" dirty="0">
                <a:solidFill>
                  <a:schemeClr val="accent6"/>
                </a:solidFill>
              </a:rPr>
              <a:t>The natural next question</a:t>
            </a:r>
            <a:endParaRPr lang="en-US" sz="1200" dirty="0"/>
          </a:p>
        </p:txBody>
      </p:sp>
      <p:sp>
        <p:nvSpPr>
          <p:cNvPr id="6" name="Text 3"/>
          <p:cNvSpPr txBox="1"/>
          <p:nvPr/>
        </p:nvSpPr>
        <p:spPr>
          <a:xfrm>
            <a:off x="548640" y="2084832"/>
            <a:ext cx="11091672" cy="548640"/>
          </a:xfrm>
          <a:prstGeom prst="rect">
            <a:avLst/>
          </a:prstGeom>
          <a:noFill/>
          <a:ln/>
        </p:spPr>
        <p:txBody>
          <a:bodyPr wrap="square" lIns="0" tIns="0" rIns="0" bIns="0" rtlCol="0" anchor="ctr"/>
          <a:lstStyle/>
          <a:p>
            <a:pPr indent="0" marL="0">
              <a:buNone/>
            </a:pPr>
            <a:r>
              <a:rPr lang="en-US" sz="2400" b="1" dirty="0">
                <a:solidFill>
                  <a:schemeClr val="bg1"/>
                </a:solidFill>
              </a:rPr>
              <a:t>“What would it cost us to cut that fee to the peer median?”</a:t>
            </a:r>
            <a:endParaRPr lang="en-US" sz="2400" dirty="0"/>
          </a:p>
        </p:txBody>
      </p:sp>
      <p:sp>
        <p:nvSpPr>
          <p:cNvPr id="7" name="Text 4"/>
          <p:cNvSpPr txBox="1"/>
          <p:nvPr/>
        </p:nvSpPr>
        <p:spPr>
          <a:xfrm>
            <a:off x="548640" y="2724912"/>
            <a:ext cx="11091672" cy="365760"/>
          </a:xfrm>
          <a:prstGeom prst="rect">
            <a:avLst/>
          </a:prstGeom>
          <a:noFill/>
          <a:ln/>
        </p:spPr>
        <p:txBody>
          <a:bodyPr wrap="square" lIns="0" tIns="0" rIns="0" bIns="0" rtlCol="0" anchor="ctr"/>
          <a:lstStyle/>
          <a:p>
            <a:pPr indent="0" marL="0">
              <a:buNone/>
            </a:pPr>
            <a:r>
              <a:rPr lang="en-US" sz="1600" dirty="0">
                <a:solidFill>
                  <a:schemeClr val="accent6"/>
                </a:solidFill>
              </a:rPr>
              <a:t>Today the semantic model cannot answer it: pricing scenarios have no home in the taxonomy.</a:t>
            </a:r>
            <a:endParaRPr lang="en-US" sz="1600" dirty="0"/>
          </a:p>
        </p:txBody>
      </p:sp>
      <p:sp>
        <p:nvSpPr>
          <p:cNvPr id="8" name="Shape 5"/>
          <p:cNvSpPr/>
          <p:nvPr/>
        </p:nvSpPr>
        <p:spPr>
          <a:xfrm>
            <a:off x="548640"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9" name="Shape 6"/>
          <p:cNvSpPr/>
          <p:nvPr/>
        </p:nvSpPr>
        <p:spPr>
          <a:xfrm>
            <a:off x="777240" y="3611880"/>
            <a:ext cx="420624" cy="420624"/>
          </a:xfrm>
          <a:prstGeom prst="ellipse">
            <a:avLst/>
          </a:prstGeom>
          <a:solidFill>
            <a:schemeClr val="accent1"/>
          </a:solidFill>
          <a:ln/>
        </p:spPr>
      </p:sp>
      <p:sp>
        <p:nvSpPr>
          <p:cNvPr id="10" name="Text 7"/>
          <p:cNvSpPr txBox="1"/>
          <p:nvPr/>
        </p:nvSpPr>
        <p:spPr>
          <a:xfrm>
            <a:off x="777240"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1371600"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Semantic model</a:t>
            </a:r>
            <a:endParaRPr lang="en-US" sz="1600" dirty="0"/>
          </a:p>
        </p:txBody>
      </p:sp>
      <p:sp>
        <p:nvSpPr>
          <p:cNvPr id="12" name="Text 9"/>
          <p:cNvSpPr txBox="1"/>
          <p:nvPr/>
        </p:nvSpPr>
        <p:spPr>
          <a:xfrm>
            <a:off x="777240"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SM-06 leaves pricing scenarios out. They stay in the DP-059 dashboard.</a:t>
            </a:r>
            <a:endParaRPr lang="en-US" sz="1400" dirty="0"/>
          </a:p>
        </p:txBody>
      </p:sp>
      <p:sp>
        <p:nvSpPr>
          <p:cNvPr id="13" name="Shape 10"/>
          <p:cNvSpPr/>
          <p:nvPr/>
        </p:nvSpPr>
        <p:spPr>
          <a:xfrm>
            <a:off x="4050792" y="4224528"/>
            <a:ext cx="256032" cy="0"/>
          </a:xfrm>
          <a:prstGeom prst="line">
            <a:avLst/>
          </a:prstGeom>
          <a:noFill/>
          <a:ln w="22225">
            <a:solidFill>
              <a:schemeClr val="accent6"/>
            </a:solidFill>
            <a:prstDash val="solid"/>
            <a:tailEnd type="triangle"/>
          </a:ln>
        </p:spPr>
      </p:sp>
      <p:sp>
        <p:nvSpPr>
          <p:cNvPr id="14" name="Shape 11"/>
          <p:cNvSpPr/>
          <p:nvPr/>
        </p:nvSpPr>
        <p:spPr>
          <a:xfrm>
            <a:off x="4379976"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15" name="Shape 12"/>
          <p:cNvSpPr/>
          <p:nvPr/>
        </p:nvSpPr>
        <p:spPr>
          <a:xfrm>
            <a:off x="4608576" y="3611880"/>
            <a:ext cx="420624" cy="420624"/>
          </a:xfrm>
          <a:prstGeom prst="ellipse">
            <a:avLst/>
          </a:prstGeom>
          <a:solidFill>
            <a:schemeClr val="accent1"/>
          </a:solidFill>
          <a:ln/>
        </p:spPr>
      </p:sp>
      <p:sp>
        <p:nvSpPr>
          <p:cNvPr id="16" name="Text 13"/>
          <p:cNvSpPr txBox="1"/>
          <p:nvPr/>
        </p:nvSpPr>
        <p:spPr>
          <a:xfrm>
            <a:off x="4608576"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5202936"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Gap register</a:t>
            </a:r>
            <a:endParaRPr lang="en-US" sz="1600" dirty="0"/>
          </a:p>
        </p:txBody>
      </p:sp>
      <p:sp>
        <p:nvSpPr>
          <p:cNvPr id="18" name="Text 15"/>
          <p:cNvSpPr txBox="1"/>
          <p:nvPr/>
        </p:nvSpPr>
        <p:spPr>
          <a:xfrm>
            <a:off x="4608576"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Recorded as GAP-01-014, priority Low, status Proposed.</a:t>
            </a:r>
            <a:endParaRPr lang="en-US" sz="1400" dirty="0"/>
          </a:p>
        </p:txBody>
      </p:sp>
      <p:sp>
        <p:nvSpPr>
          <p:cNvPr id="19" name="Shape 16"/>
          <p:cNvSpPr/>
          <p:nvPr/>
        </p:nvSpPr>
        <p:spPr>
          <a:xfrm>
            <a:off x="7882128" y="4224528"/>
            <a:ext cx="256032" cy="0"/>
          </a:xfrm>
          <a:prstGeom prst="line">
            <a:avLst/>
          </a:prstGeom>
          <a:noFill/>
          <a:ln w="22225">
            <a:solidFill>
              <a:schemeClr val="accent6"/>
            </a:solidFill>
            <a:prstDash val="solid"/>
            <a:tailEnd type="triangle"/>
          </a:ln>
        </p:spPr>
      </p:sp>
      <p:sp>
        <p:nvSpPr>
          <p:cNvPr id="20" name="Shape 17"/>
          <p:cNvSpPr/>
          <p:nvPr/>
        </p:nvSpPr>
        <p:spPr>
          <a:xfrm>
            <a:off x="8211312"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21" name="Shape 18"/>
          <p:cNvSpPr/>
          <p:nvPr/>
        </p:nvSpPr>
        <p:spPr>
          <a:xfrm>
            <a:off x="8439912" y="3611880"/>
            <a:ext cx="420624" cy="420624"/>
          </a:xfrm>
          <a:prstGeom prst="ellipse">
            <a:avLst/>
          </a:prstGeom>
          <a:solidFill>
            <a:schemeClr val="accent1"/>
          </a:solidFill>
          <a:ln/>
        </p:spPr>
      </p:sp>
      <p:sp>
        <p:nvSpPr>
          <p:cNvPr id="22" name="Text 19"/>
          <p:cNvSpPr txBox="1"/>
          <p:nvPr/>
        </p:nvSpPr>
        <p:spPr>
          <a:xfrm>
            <a:off x="8439912"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0"/>
          <p:cNvSpPr txBox="1"/>
          <p:nvPr/>
        </p:nvSpPr>
        <p:spPr>
          <a:xfrm>
            <a:off x="9034272"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Taxonomy decision</a:t>
            </a:r>
            <a:endParaRPr lang="en-US" sz="1600" dirty="0"/>
          </a:p>
        </p:txBody>
      </p:sp>
      <p:sp>
        <p:nvSpPr>
          <p:cNvPr id="24" name="Text 21"/>
          <p:cNvSpPr txBox="1"/>
          <p:nvPr/>
        </p:nvSpPr>
        <p:spPr>
          <a:xfrm>
            <a:off x="8439912"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Whether to add a Pricing Proposal object to Domain 01. Owner: Head of Product.</a:t>
            </a:r>
            <a:endParaRPr lang="en-US" sz="1400" dirty="0"/>
          </a:p>
        </p:txBody>
      </p:sp>
      <p:sp>
        <p:nvSpPr>
          <p:cNvPr id="25" name="Text 22"/>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1800" b="1" dirty="0">
                <a:solidFill>
                  <a:schemeClr val="bg1"/>
                </a:solidFill>
              </a:rPr>
              <a:t>The reason becomes a named decision for a named domain, not one team’s workaround.</a:t>
            </a:r>
            <a:endParaRPr lang="en-US" sz="18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the taxonomy does at each level</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651760"/>
                <a:gridCol w="4023360"/>
                <a:gridCol w="4416552"/>
              </a:tblGrid>
              <a:tr h="457200">
                <a:tc>
                  <a:txBody>
                    <a:bodyPr/>
                    <a:lstStyle/>
                    <a:p>
                      <a:pPr indent="0" marL="0">
                        <a:buNone/>
                      </a:pPr>
                      <a:r>
                        <a:rPr lang="en-US" sz="1400" b="1" dirty="0">
                          <a:solidFill>
                            <a:schemeClr val="bg1"/>
                          </a:solidFill>
                        </a:rPr>
                        <a:t>Level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In our example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What the taxonomy does there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r>
              <a:tr h="731520">
                <a:tc>
                  <a:txBody>
                    <a:bodyPr/>
                    <a:lstStyle/>
                    <a:p>
                      <a:pPr indent="0" marL="0">
                        <a:buNone/>
                      </a:pPr>
                      <a:r>
                        <a:rPr lang="en-US" sz="1400" b="1" dirty="0">
                          <a:solidFill>
                            <a:schemeClr val="accent1"/>
                          </a:solidFill>
                        </a:rPr>
                        <a:t>1  Source systems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Fund administration fees, vendor peer data, transfer agent trades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Mapping target: one meaning per field, one master per concept, license terms recorded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400" b="1" dirty="0">
                          <a:solidFill>
                            <a:schemeClr val="accent1"/>
                          </a:solidFill>
                        </a:rPr>
                        <a:t>2  Foundational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DP-004 share class, DP-014 peer universe, DP-008 certified flows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Bill of materials: exact attributes used, validated at build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400" b="1" dirty="0">
                          <a:solidFill>
                            <a:schemeClr val="accent1"/>
                          </a:solidFill>
                        </a:rPr>
                        <a:t>3  Consumer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DP-030 fee gap, DP-059 pricing analytics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Safe joins across domains: assemble, never redefine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400" b="1" dirty="0">
                          <a:solidFill>
                            <a:schemeClr val="accent1"/>
                          </a:solidFill>
                        </a:rPr>
                        <a:t>4  Semantic model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SM-06 metric: Fee Gap to Peer Median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Glossary: one name, one definition, traced to its source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400" b="1" dirty="0">
                          <a:solidFill>
                            <a:schemeClr val="accent1"/>
                          </a:solidFill>
                        </a:rPr>
                        <a:t>5  Analytical use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Dashboard or AI assistant, across all share classes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Traceability: questions that cannot be answered become registered gaps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Likely questions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BACKUP</a:t>
            </a:r>
            <a:endParaRPr lang="en-US" sz="1200" dirty="0"/>
          </a:p>
        </p:txBody>
      </p:sp>
      <p:sp>
        <p:nvSpPr>
          <p:cNvPr id="5" name="Shape 2"/>
          <p:cNvSpPr/>
          <p:nvPr/>
        </p:nvSpPr>
        <p:spPr>
          <a:xfrm>
            <a:off x="548640" y="1783080"/>
            <a:ext cx="5408676" cy="1965960"/>
          </a:xfrm>
          <a:prstGeom prst="roundRect">
            <a:avLst>
              <a:gd name="adj" fmla="val 3721"/>
            </a:avLst>
          </a:prstGeom>
          <a:solidFill>
            <a:schemeClr val="bg2"/>
          </a:solidFill>
          <a:ln/>
        </p:spPr>
      </p:sp>
      <p:sp>
        <p:nvSpPr>
          <p:cNvPr id="6" name="Text 3"/>
          <p:cNvSpPr txBox="1"/>
          <p:nvPr/>
        </p:nvSpPr>
        <p:spPr>
          <a:xfrm>
            <a:off x="822960" y="196596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Are these our real systems?</a:t>
            </a:r>
            <a:endParaRPr lang="en-US" sz="1600" dirty="0"/>
          </a:p>
        </p:txBody>
      </p:sp>
      <p:sp>
        <p:nvSpPr>
          <p:cNvPr id="7" name="Text 4"/>
          <p:cNvSpPr txBox="1"/>
          <p:nvPr/>
        </p:nvSpPr>
        <p:spPr>
          <a:xfrm>
            <a:off x="822960" y="2624328"/>
            <a:ext cx="4860036" cy="1005840"/>
          </a:xfrm>
          <a:prstGeom prst="rect">
            <a:avLst/>
          </a:prstGeom>
          <a:noFill/>
          <a:ln/>
        </p:spPr>
        <p:txBody>
          <a:bodyPr wrap="square" lIns="0" tIns="0" rIns="0" bIns="0" rtlCol="0" anchor="t"/>
          <a:lstStyle/>
          <a:p>
            <a:pPr indent="0" marL="0">
              <a:buNone/>
            </a:pPr>
            <a:r>
              <a:rPr lang="en-US" sz="1400" dirty="0">
                <a:solidFill>
                  <a:schemeClr val="tx1"/>
                </a:solidFill>
              </a:rPr>
              <a:t>No. Sources are named by type until the Phase D mapping is done. Each product’s lineage is the list of attributes to map.</a:t>
            </a:r>
            <a:endParaRPr lang="en-US" sz="1400" dirty="0"/>
          </a:p>
        </p:txBody>
      </p:sp>
      <p:sp>
        <p:nvSpPr>
          <p:cNvPr id="8" name="Shape 5"/>
          <p:cNvSpPr/>
          <p:nvPr/>
        </p:nvSpPr>
        <p:spPr>
          <a:xfrm>
            <a:off x="6231636" y="1783080"/>
            <a:ext cx="5408676" cy="1965960"/>
          </a:xfrm>
          <a:prstGeom prst="roundRect">
            <a:avLst>
              <a:gd name="adj" fmla="val 3721"/>
            </a:avLst>
          </a:prstGeom>
          <a:solidFill>
            <a:schemeClr val="bg2"/>
          </a:solidFill>
          <a:ln/>
        </p:spPr>
      </p:sp>
      <p:sp>
        <p:nvSpPr>
          <p:cNvPr id="9" name="Text 6"/>
          <p:cNvSpPr txBox="1"/>
          <p:nvPr/>
        </p:nvSpPr>
        <p:spPr>
          <a:xfrm>
            <a:off x="6505956" y="196596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Why are there two dates on the answer?</a:t>
            </a:r>
            <a:endParaRPr lang="en-US" sz="1600" dirty="0"/>
          </a:p>
        </p:txBody>
      </p:sp>
      <p:sp>
        <p:nvSpPr>
          <p:cNvPr id="10" name="Text 7"/>
          <p:cNvSpPr txBox="1"/>
          <p:nvPr/>
        </p:nvSpPr>
        <p:spPr>
          <a:xfrm>
            <a:off x="6505956" y="2624328"/>
            <a:ext cx="4860036" cy="1005840"/>
          </a:xfrm>
          <a:prstGeom prst="rect">
            <a:avLst/>
          </a:prstGeom>
          <a:noFill/>
          <a:ln/>
        </p:spPr>
        <p:txBody>
          <a:bodyPr wrap="square" lIns="0" tIns="0" rIns="0" bIns="0" rtlCol="0" anchor="t"/>
          <a:lstStyle/>
          <a:p>
            <a:pPr indent="0" marL="0">
              <a:buNone/>
            </a:pPr>
            <a:r>
              <a:rPr lang="en-US" sz="1400" dirty="0">
                <a:solidFill>
                  <a:schemeClr val="tx1"/>
                </a:solidFill>
              </a:rPr>
              <a:t>Fee studies are dated when they are run and flagged stale after 13 months. Flows are certified monthly. The dashboard shows both.</a:t>
            </a:r>
            <a:endParaRPr lang="en-US" sz="1400" dirty="0"/>
          </a:p>
        </p:txBody>
      </p:sp>
      <p:sp>
        <p:nvSpPr>
          <p:cNvPr id="11" name="Shape 8"/>
          <p:cNvSpPr/>
          <p:nvPr/>
        </p:nvSpPr>
        <p:spPr>
          <a:xfrm>
            <a:off x="548640" y="3931920"/>
            <a:ext cx="5408676" cy="1965960"/>
          </a:xfrm>
          <a:prstGeom prst="roundRect">
            <a:avLst>
              <a:gd name="adj" fmla="val 3721"/>
            </a:avLst>
          </a:prstGeom>
          <a:solidFill>
            <a:schemeClr val="bg2"/>
          </a:solidFill>
          <a:ln/>
        </p:spPr>
      </p:sp>
      <p:sp>
        <p:nvSpPr>
          <p:cNvPr id="12" name="Text 9"/>
          <p:cNvSpPr txBox="1"/>
          <p:nvPr/>
        </p:nvSpPr>
        <p:spPr>
          <a:xfrm>
            <a:off x="822960" y="411480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Is the fee gap defined in one place only?</a:t>
            </a:r>
            <a:endParaRPr lang="en-US" sz="1600" dirty="0"/>
          </a:p>
        </p:txBody>
      </p:sp>
      <p:sp>
        <p:nvSpPr>
          <p:cNvPr id="13" name="Text 10"/>
          <p:cNvSpPr txBox="1"/>
          <p:nvPr/>
        </p:nvSpPr>
        <p:spPr>
          <a:xfrm>
            <a:off x="822960" y="4773168"/>
            <a:ext cx="4860036" cy="1005840"/>
          </a:xfrm>
          <a:prstGeom prst="rect">
            <a:avLst/>
          </a:prstGeom>
          <a:noFill/>
          <a:ln/>
        </p:spPr>
        <p:txBody>
          <a:bodyPr wrap="square" lIns="0" tIns="0" rIns="0" bIns="0" rtlCol="0" anchor="t"/>
          <a:lstStyle/>
          <a:p>
            <a:pPr indent="0" marL="0">
              <a:buNone/>
            </a:pPr>
            <a:r>
              <a:rPr lang="en-US" sz="1400" dirty="0">
                <a:solidFill>
                  <a:schemeClr val="tx1"/>
                </a:solidFill>
              </a:rPr>
              <a:t>Not yet. DP-030 and DP-059 both define it. The semantic model publishes DP-030’s. Having DP-059 reference it is an open decision.</a:t>
            </a:r>
            <a:endParaRPr lang="en-US" sz="1400" dirty="0"/>
          </a:p>
        </p:txBody>
      </p:sp>
      <p:sp>
        <p:nvSpPr>
          <p:cNvPr id="14" name="Shape 11"/>
          <p:cNvSpPr/>
          <p:nvPr/>
        </p:nvSpPr>
        <p:spPr>
          <a:xfrm>
            <a:off x="6231636" y="3931920"/>
            <a:ext cx="5408676" cy="1965960"/>
          </a:xfrm>
          <a:prstGeom prst="roundRect">
            <a:avLst>
              <a:gd name="adj" fmla="val 3721"/>
            </a:avLst>
          </a:prstGeom>
          <a:solidFill>
            <a:schemeClr val="bg2"/>
          </a:solidFill>
          <a:ln/>
        </p:spPr>
      </p:sp>
      <p:sp>
        <p:nvSpPr>
          <p:cNvPr id="15" name="Text 12"/>
          <p:cNvSpPr txBox="1"/>
          <p:nvPr/>
        </p:nvSpPr>
        <p:spPr>
          <a:xfrm>
            <a:off x="6505956" y="411480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Can we use the peer numbers in client material?</a:t>
            </a:r>
            <a:endParaRPr lang="en-US" sz="1600" dirty="0"/>
          </a:p>
        </p:txBody>
      </p:sp>
      <p:sp>
        <p:nvSpPr>
          <p:cNvPr id="16" name="Text 13"/>
          <p:cNvSpPr txBox="1"/>
          <p:nvPr/>
        </p:nvSpPr>
        <p:spPr>
          <a:xfrm>
            <a:off x="6505956" y="4773168"/>
            <a:ext cx="4860036" cy="1005840"/>
          </a:xfrm>
          <a:prstGeom prst="rect">
            <a:avLst/>
          </a:prstGeom>
          <a:noFill/>
          <a:ln/>
        </p:spPr>
        <p:txBody>
          <a:bodyPr wrap="square" lIns="0" tIns="0" rIns="0" bIns="0" rtlCol="0" anchor="t"/>
          <a:lstStyle/>
          <a:p>
            <a:pPr indent="0" marL="0">
              <a:buNone/>
            </a:pPr>
            <a:r>
              <a:rPr lang="en-US" sz="1400" dirty="0">
                <a:solidFill>
                  <a:schemeClr val="tx1"/>
                </a:solidFill>
              </a:rPr>
              <a:t>Only where the vendor license permits it. Marketing use also needs compliance approval (DP-036) and license clearance (DP-044).</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product question, traced from source system to answer</dc:title>
  <dc:subject>PptxGenJS Presentation</dc:subject>
  <dc:creator>Jon Lee</dc:creator>
  <cp:lastModifiedBy>Jon Lee</cp:lastModifiedBy>
  <cp:revision>1</cp:revision>
  <dcterms:created xsi:type="dcterms:W3CDTF">2026-10-05T05:53:05Z</dcterms:created>
  <dcterms:modified xsi:type="dcterms:W3CDTF">2026-10-05T05:53:05Z</dcterms:modified>
</cp:coreProperties>
</file>