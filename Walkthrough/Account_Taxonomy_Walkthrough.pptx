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422ca5ac-1598-c23f-a2ac-98a2ad48ba05}">
          <p14:sldIdLst>
            <p14:sldId id="256"/>
            <p14:sldId id="257"/>
            <p14:sldId id="258"/>
            <p14:sldId id="259"/>
          </p14:sldIdLst>
        </p14:section>
        <p14:section name="What is included" id="{d8df3f4f-04a5-64cd-ea27-1ec0b10d2639}">
          <p14:sldIdLst>
            <p14:sldId id="260"/>
            <p14:sldId id="261"/>
            <p14:sldId id="262"/>
            <p14:sldId id="263"/>
            <p14:sldId id="264"/>
          </p14:sldIdLst>
        </p14:section>
        <p14:section name="What is excluded" id="{7e096c04-dd11-8006-b505-1d4b5563c881}">
          <p14:sldIdLst>
            <p14:sldId id="265"/>
            <p14:sldId id="266"/>
            <p14:sldId id="267"/>
          </p14:sldIdLst>
        </p14:section>
        <p14:section name="How it is used" id="{229f24e3-dcf7-6dc9-6a3d-e2b62738800e}">
          <p14:sldIdLst>
            <p14:sldId id="268"/>
            <p14:sldId id="269"/>
          </p14:sldIdLst>
        </p14:section>
        <p14:section name="Data products" id="{785178a6-3232-9559-7c2e-1790a3137038}">
          <p14:sldIdLst>
            <p14:sldId id="270"/>
            <p14:sldId id="271"/>
            <p14:sldId id="272"/>
            <p14:sldId id="273"/>
          </p14:sldIdLst>
        </p14:section>
        <p14:section name="Next steps" id="{ecf0bdee-19a8-f05d-f0b2-01ec0b3cc7ee}">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Sheet1!$A$2:$A$9</c:f>
              <c:multiLvlStrCache>
                <c:ptCount val="8"/>
                <c:lvl>
                  <c:pt idx="0">
                    <c:v>Internal (firm-defined)</c:v>
                  </c:pt>
                  <c:pt idx="1">
                    <c:v>IRS forms and tax code</c:v>
                  </c:pt>
                  <c:pt idx="2">
                    <c:v>DTCC / NSCC Networking</c:v>
                  </c:pt>
                  <c:pt idx="3">
                    <c:v>NACHA (ACH rules)</c:v>
                  </c:pt>
                  <c:pt idx="4">
                    <c:v>UTMA and Uniform TOD Act</c:v>
                  </c:pt>
                  <c:pt idx="5">
                    <c:v>ISO 20022 (acmt)</c:v>
                  </c:pt>
                  <c:pt idx="6">
                    <c:v>OECD CRS</c:v>
                  </c:pt>
                  <c:pt idx="7">
                    <c:v>Other standards and regulation</c:v>
                  </c:pt>
                </c:lvl>
              </c:multiLvlStrCache>
            </c:multiLvlStrRef>
          </c:cat>
          <c:val>
            <c:numRef>
              <c:f>Sheet1!$B$2:$B$9</c:f>
              <c:numCache>
                <c:formatCode>General</c:formatCode>
                <c:ptCount val="8"/>
                <c:pt idx="0">
                  <c:v>127</c:v>
                </c:pt>
                <c:pt idx="1">
                  <c:v>25</c:v>
                </c:pt>
                <c:pt idx="2">
                  <c:v>9</c:v>
                </c:pt>
                <c:pt idx="3">
                  <c:v>7</c:v>
                </c:pt>
                <c:pt idx="4">
                  <c:v>6</c:v>
                </c:pt>
                <c:pt idx="5">
                  <c:v>5</c:v>
                </c:pt>
                <c:pt idx="6">
                  <c:v>4</c:v>
                </c:pt>
                <c:pt idx="7">
                  <c:v>15</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5 of 23)</a:t>
            </a:r>
          </a:p>
        </c:rich>
      </c:tx>
      <c:layout/>
      <c:overlay val="0"/>
    </c:title>
    <c:autoTitleDeleted val="0"/>
    <c:plotArea>
      <c:layout/>
      <c:barChart>
        <c:barDir val="bar"/>
        <c:grouping val="clustered"/>
        <c:varyColors val="0"/>
        <c:ser>
          <c:idx val="0"/>
          <c:order val="0"/>
          <c:tx>
            <c:strRef>
              <c:f>Sheet1!$B$1</c:f>
              <c:strCache>
                <c:ptCount val="1"/>
                <c:pt idx="0">
                  <c:v>Products reading each object (top 5 of 23)</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Sheet1!$A$2:$A$6</c:f>
              <c:multiLvlStrCache>
                <c:ptCount val="5"/>
                <c:lvl>
                  <c:pt idx="0">
                    <c:v>Account</c:v>
                  </c:pt>
                  <c:pt idx="1">
                    <c:v>Intermediary Account Servicing</c:v>
                  </c:pt>
                  <c:pt idx="2">
                    <c:v>Account Restriction</c:v>
                  </c:pt>
                  <c:pt idx="3">
                    <c:v>Account Party Role</c:v>
                  </c:pt>
                  <c:pt idx="4">
                    <c:v>Plan Participant Account</c:v>
                  </c:pt>
                </c:lvl>
              </c:multiLvlStrCache>
            </c:multiLvlStrRef>
          </c:cat>
          <c:val>
            <c:numRef>
              <c:f>Sheet1!$B$2:$B$6</c:f>
              <c:numCache>
                <c:formatCode>General</c:formatCode>
                <c:ptCount val="5"/>
                <c:pt idx="0">
                  <c:v>13</c:v>
                </c:pt>
                <c:pt idx="1">
                  <c:v>6</c:v>
                </c:pt>
                <c:pt idx="2">
                  <c:v>4</c:v>
                </c:pt>
                <c:pt idx="3">
                  <c:v>4</c:v>
                </c:pt>
                <c:pt idx="4">
                  <c:v>3</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Account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Account is the account master. It describes every account through which a client, intermediary, retirement plan or participant holds the firm's products: the numbers it is known by, how it rolls up, who holds and services it, how it is registered and taxed, the instructions placed on it, and its life from application to closure. It was separated from Client &amp; Customer on October 5 because account stewardship sits with transfer agency and fund operations, not with the client data organization. The party stays in Client &amp; Customer; positions and transactions stay in Sales Transactions &amp; AUM Attribution. 14 of the 96 specified data products read the domain directly, and 87 of the other 95 depend on its foundational product, DP-093 Account Master,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Account is one of 16 domains. The purple text shows the path to one attribute, Networking Level, which we follow to an answer near the end of the deck. It sits in the servicing family, on the Intermediary Account Servicing group of the account, and records the NSCC Networking matrix level the account is held at, which decides whether the fund or the intermediary controls and services it. For every attribute the taxonomy records its meaning, the standard it aligns to and its owner. It does not hold data values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spine of the domain is the account record with its identifiers, hierarchy links and party roles. An account is one enterprise record, keyed ACC-, whatever it is called at the transfer agent, a platform, a custodian, a recordkeeper or in CRM: each of those numbers is an Account Identifier with a scheme and an issuer. Accounts link to each other through Account Hierarchy Links, omnibus to sub-account and plan to participant account. Every party on the account, owner, trustee, beneficiary, dealer or rep of record, is an effective-dated Account Party Role pointing at the party master in Client &amp; Customer. Registration, tax status, instructions, lifecycle and restrictions hang off the account as attribute groups or dated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8 data families. For this walkthrough they are grouped in three: the spine, which is the account record, its registration and its life from opening to closure, 88 attributes; how the account is held and serviced, through intermediaries, plans and programs, with the blocks and privileges on it, 41 attributes; and what the transfer agent needs to withhold, report and move money, which is tax status, standing and bank instructions and preferences, 69 attributes.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spine families hold 88 attributes in 11 objects. Account Master is the record itself: the account with its type, registration type and status, every identifier it carries in another system, the links between accounts, and the dated roles parties play on it. Registration, Ownership and Beneficiaries holds how the account is titled and for whom: the registration lines, trust and custodial detail for accounts held for minors, and beneficiary and transfer-on-death designations with their allocations. Account Lifecycle and Status follows the account from application to closure: how it was opened and by whom, every event that changed it, the history of its status and how it was closed. Business objects, in bold, have their own key. Attribute groups are held on the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families, 41 attributes. Intermediary, Institutional and Program Servicing records how an account is held through intermediaries and fund processing networks: the NSCC networking level, the dealer, branch and rep of record, the omnibus parent, and for institutional and plan accounts the mandate, custodian and governing agreement, plus enrollment in a sponsor's advisory or model program. Plan Participant Accounts covers the participants in retirement plans the firm itself recordkeeps. A participant account is an account like any other; it references the plan and the participant, and plan design, contributions, loans and distributions stay in Retirement Plan Administration. Account Restrictions and Privileges holds the blocks placed on an account, such as a stop purchase or a temporary hold under FINRA Rule 2165, and what the account is allowed to do by telephone, wire, check or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families, 69 attributes: the account-level facts the transfer agent needs to withhold, report and move money. Account Tax Status is split in two objects. Account Tax Certification is the history of W-9, W-8 and self-certification forms received, each with its signed date and expiry. Account Tax Reporting Status is the single current position derived from them and from IRS notices: classification, backup withholding, tax residence, reportable indicator and regimes. Cost Basis Election records the method elected for covered shares and moved here from Investor Servicing. Standing Instructions, Bank Instructions and Preferences holds the instructions that generate recurring transactions, the bank accounts on file for ACH and wire with their verification state, and servicing preferences that belong to the account rather than the party, such as statement frequency and the default way redemption proceeds are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names the standard or source it aligns to. 71 of the 198 attributes, 36 percent, align to an external standard, regulation or industry model. The IRS is the largest external source, 25 attributes across Forms W-9, W-8 and 1099-B and the backup withholding and cost basis sections of the tax code, followed by the DTCC and NSCC Networking service, NACHA rules for bank instructions, the uniform acts for custodial and transfer-on-death accounts, and ISO 20022 account management messages. 127 attributes are firm-defined because no authoritative external definition exists; account types, statuses, lifecycle events and restriction types are the firm's own lists. 49 attributes take their values from a controlled code list. 32 are flagged as personal data, and bank and tax identifiers are kept masked. The NSCC level definitions themselves are still unverified with the transfer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Account says what the account is, who is on it, and how it is serviced, taxed and controlled. It deliberately leaves out who the owner is as a person or organization, what the account holds, and what was done to it. This table shows where each excluded subject lives and what this domain keeps so it can point to it. Three boundaries are worth calling out. The account is not the party: names, addresses, dates of birth and the party's FATCA and CRS classification stay in Client &amp; Customer; the account holds the tax form on file and the account-level status. Standing instructions say what should recur; the transactions that happened are in Sales Transactions &amp; AUM Attribution. A participant account of a recordkept plan is an account here; eligibility, vesting, contributions and loans are in Retirement Plan Administration.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164 of the 198 are mastered in Account. 30 are references, which hold only the ID of a record mastered in another domain, and 4 are derived copies: the two registration lines, the rep code at the transfer agent and the bank account holder name, display copies of party data. Most references point at Client &amp; Customer, because every person or firm on an account, from owner to rep of record, is a party there. The traffic in the other direction is similar in size: 28 attributes across 10 other domains reference an account mastered here, led by Investor Servicing and Shareholder Communications with 9 and Retirement Plan Administration with 7. Record Metadata, governance attributes such as data owner and system of record, is excluded from every view and documented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register has no gap filed under Account as its primary domain, because the domain was created on October 5 from objects that already existed in Client &amp; Customer and Investor Servicing. The counts on the left are the fourteen gaps, three of them resolved, that name Account as an affected domain. Eleven are open, and the seven shown here are the ones that bear most on its objects: two high, three medium and two low. Two are the same kind of problem seen elsewhere, a record that cannot reach the account it belongs to. Two concern FINRA Rule 2165 holds and fraud referrals on Account Restriction. One is a modeling decision about omnibus sub-accounts. Each has a proposed resolution and a decision owner in the gap register, and all of them should be re-filed under Account now that it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every account source is mapped to: the transfer agent record layout, the NSCC Networking and Fund/SERV files, sub-accounting feeds, the recordkeeping platform and the CRM financial account. That mapping is not done, and the system of record for accounts is still open. Second, it is the bill of materials for data products: each product lists the exact attributes it uses, and the build fails if one does not exist. All 23 objects and 189 of the 198 attributes appear in a product specification. Third, DP-093 is the one conformed account record that positions, institutional relationships, servicing and plan administration key on; publishing it in SM-00 is proposed, not approved. Fourth, the ownership flags, 68 critical data elements and 32 personal data flags show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Account owns one foundational product, DP-093 Account Master, a Wave 4 master and reference product owned by the Head of Account Data in transfer agency. It is the conformed account: every investor, omnibus, sub-, plan, participant and institutional account, keyed on Account ID, with its identifiers, links, roles, beneficiaries, tax status, instructions, lifecycle and restrictions as child tables. It conforms the transfer agent, recordkeeper and institutional servicing copies once, so that positions, transactions, institutional relationships, shareholder servicing and plan administration all refer to the same account. That resolved GAP-02-010: DP-003 and DP-007 now take the Account record from it. 187 of its 198 attributes come from all 23 objects in this domain. It refreshes daily by 6am Eastern. Four products name it as a direct upstream and 87 depend on it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of the 96 specified data products list Account objects among their inputs: 4 foundational and 10 consumer-aligned. Every one of the 23 objects is used by at least one product, and 189 of the 198 attributes, 95 percent, appear in a product specification. Account is the most used object, read by 13 products, followed by Intermediary Account Servicing with 6, which carries the networking level and the dealer and rep of record that position, proxy and tax products need, then Account Restriction and Account Party Role with 4 each. Regulatory and control products are the largest group, 6 of the 14, which reflects how much of surveillance, eligibility, fraud monitoring and tax reporting depends on knowing exactly which account is which and who may act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data product has Account as its owning domain, and it is the foundational product, DP-093 Account Master. The domain is deliberately narrow: it masters the account and leaves the analysis of what happens on the account to the domains that own transactions, servicing and compliance, which is where the other 13 readers sit. The bar on the right shows that 187 of the product's 198 input attributes come from this domain. The other 11 are the parties, share classes, agreements and programs it reads only to validate the references the account carries; their masters stay in DP-001, DP-004 and DP-005. The product is classified as restricted personal data, so a servicing view without registration lines, bank details and beneficiaries is what analytics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13 products are owned by other domains but read Account attributes directly. They are grouped here by the business function they serve. Shareholder Account Maintenance and Fraud Monitoring takes the most, 20 attributes, mostly restrictions and standing instructions. Client Restrictions and KYC Status and Frequent Trading Surveillance take 16 each. Attributed Positions and AUM takes 10, including the networking level and the dealer, branch and rep of record that every position inherits. The two recordkeeping products take the participant account. Beyond these, 74 more products take the account only through DP-093, without reading the domain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Networking Level is defined once in Account, on the Intermediary Account Servicing group: the NSCC Networking matrix level that decides whether the fund or the intermediary controls and services the account. DP-093 carries it on the conformed account and derives the servicing model, direct, networked or omnibus look-through, from the level and the omnibus parent. DP-007 takes the Account from DP-093, so every position inherits the level. DP-084, the frequent trading surveillance product, reads the level with the positions and tests whether networked and omnibus accounts trade through a dealer with a Rule 22c-2 shareholder information agreement in place. No semantic model publishes the level yet; DP-093 is proposed as the conformed Account dimension in SM-00, not approved. The dealer's setup and agreement are mastered in Distribution Agreements and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in the register, where they were raised against Client &amp; Customer and its neighbors before the split. The first is who owns the networking level: the account holds the level as it is, the agreement holds the level contracted, and transactions carry it as delivered, on one shared list. The second is whether UK and EU platform nominee accounts need their own account type. The third is whether omnibus sub-accounts the transfer agent never sees become accounts here or keep a hashed key. The fourth confirms that dormant and restricted are account statuses here while the escheatment workflow stays in Investor Servicing. The next steps come from the taxonomy's own plan: a boundary workshop, source mapping, confirming networking definitions with the transfer agent, tax and privacy reviews, and client code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Account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ACCOUNT</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4400" b="1" dirty="0">
                <a:solidFill>
                  <a:schemeClr val="bg1"/>
                </a:solidFill>
              </a:rPr>
              <a:t>The Account taxonomy: a walkthrough</a:t>
            </a:r>
            <a:endParaRPr lang="en-US" sz="44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Account</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One record per account</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Account Identifier</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Every number it is known by</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Account Party Role</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Who holds and services it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the account,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23</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198</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68</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Every account through which a client, intermediary, plan or participant holds our products: identifiers, links, party roles, registration, beneficiaries, tax status, instructions, lifecycle and restrictions.</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The party itself and what the account holds: names, addresses, KYC and party tax profiles; positions and transactions; service requests and statements; plan design, contributions and distributions.</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transfer agent, recordkeeper and CRM account records, the bill of materials for data products, and the one conformed account that positions, servicing and plan administration key on.</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14 of the 96 data products read it directly. 87 of the other 95 depend on its foundational product, DP-093 Account Master, directly or indirectly.</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16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16</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Account</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8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Intermediary, Institutional &amp; Program Servicing</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23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Intermediary Account Servicing</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198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Networking Level</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account type or servicing arrangement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account, many identifiers and roles</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THE RECORD</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WHAT HANGS OFF IT</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WHO IS ON IT</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Account</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Keyed ACC-: type, registration, status</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Account Hierarchy Link</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Rolls up omnibus and plan accounts</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One enterprise key per account, however many numbers it carries</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Identifiers and party roles</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Every number it is known by; who is on it</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Registration, tax and instructions</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Title, beneficiaries, tax forms, bank</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Lifecycle and restrictions</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Opening to closure; blocks and privileges</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2651760"/>
            <a:ext cx="914400" cy="0"/>
          </a:xfrm>
          <a:prstGeom prst="line">
            <a:avLst/>
          </a:prstGeom>
          <a:noFill/>
          <a:ln w="19050">
            <a:solidFill>
              <a:schemeClr val="tx2"/>
            </a:solidFill>
            <a:prstDash val="solid"/>
            <a:tailEnd type="triangle"/>
          </a:ln>
        </p:spPr>
      </p:sp>
      <p:sp>
        <p:nvSpPr>
          <p:cNvPr id="29" name="Shape 26"/>
          <p:cNvSpPr/>
          <p:nvPr/>
        </p:nvSpPr>
        <p:spPr>
          <a:xfrm>
            <a:off x="8686800" y="2240280"/>
            <a:ext cx="2953512" cy="822960"/>
          </a:xfrm>
          <a:prstGeom prst="roundRect">
            <a:avLst>
              <a:gd name="adj" fmla="val 8889"/>
            </a:avLst>
          </a:prstGeom>
          <a:solidFill>
            <a:schemeClr val="accent4"/>
          </a:solidFill>
          <a:ln/>
        </p:spPr>
      </p:sp>
      <p:sp>
        <p:nvSpPr>
          <p:cNvPr id="30" name="Text 27"/>
          <p:cNvSpPr txBox="1"/>
          <p:nvPr/>
        </p:nvSpPr>
        <p:spPr>
          <a:xfrm>
            <a:off x="8915400" y="231343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Party</a:t>
            </a:r>
            <a:endParaRPr lang="en-US" sz="1400" dirty="0"/>
          </a:p>
        </p:txBody>
      </p:sp>
      <p:sp>
        <p:nvSpPr>
          <p:cNvPr id="31" name="Text 28"/>
          <p:cNvSpPr txBox="1"/>
          <p:nvPr/>
        </p:nvSpPr>
        <p:spPr>
          <a:xfrm>
            <a:off x="8915400" y="264261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Mastered in Client &amp; Customer</a:t>
            </a:r>
            <a:endParaRPr lang="en-US" sz="1200" dirty="0"/>
          </a:p>
        </p:txBody>
      </p:sp>
      <p:sp>
        <p:nvSpPr>
          <p:cNvPr id="32" name="Text 29"/>
          <p:cNvSpPr txBox="1"/>
          <p:nvPr/>
        </p:nvSpPr>
        <p:spPr>
          <a:xfrm>
            <a:off x="8686800" y="320040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Owners, trustees, beneficiaries, dealers and reps of record are dated Account Party Roles pointing at a party.</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The account is not the party: names, addresses and KYC stay in Client &amp; Customer. The account holds registration text, certification status and elections. Roles, identifiers, instructions and restrictions are effective-dated.</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8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Eight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3 families  |  11 objects  |  88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Account Master</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30 attributes  |  13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Registration, Ownership &amp; Beneficiaries</a:t>
            </a:r>
            <a:endParaRPr lang="en-US" sz="11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26 attributes  |  10 critical</a:t>
            </a:r>
            <a:endParaRPr lang="en-US" sz="1100" dirty="0"/>
          </a:p>
        </p:txBody>
      </p:sp>
      <p:sp>
        <p:nvSpPr>
          <p:cNvPr id="14" name="Shape 11"/>
          <p:cNvSpPr/>
          <p:nvPr/>
        </p:nvSpPr>
        <p:spPr>
          <a:xfrm>
            <a:off x="548640" y="4123944"/>
            <a:ext cx="3511296" cy="612648"/>
          </a:xfrm>
          <a:prstGeom prst="roundRect">
            <a:avLst>
              <a:gd name="adj" fmla="val 11940"/>
            </a:avLst>
          </a:prstGeom>
          <a:solidFill>
            <a:schemeClr val="bg2"/>
          </a:solidFill>
          <a:ln/>
        </p:spPr>
      </p:sp>
      <p:sp>
        <p:nvSpPr>
          <p:cNvPr id="15" name="Text 12"/>
          <p:cNvSpPr txBox="1"/>
          <p:nvPr/>
        </p:nvSpPr>
        <p:spPr>
          <a:xfrm>
            <a:off x="731520"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Account Lifecycle &amp; Status</a:t>
            </a:r>
            <a:endParaRPr lang="en-US" sz="1300" dirty="0"/>
          </a:p>
        </p:txBody>
      </p:sp>
      <p:sp>
        <p:nvSpPr>
          <p:cNvPr id="16" name="Text 13"/>
          <p:cNvSpPr txBox="1"/>
          <p:nvPr/>
        </p:nvSpPr>
        <p:spPr>
          <a:xfrm>
            <a:off x="731520"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32 attributes  |  10 critical</a:t>
            </a:r>
            <a:endParaRPr lang="en-US" sz="1100" dirty="0"/>
          </a:p>
        </p:txBody>
      </p:sp>
      <p:sp>
        <p:nvSpPr>
          <p:cNvPr id="17" name="Shape 14"/>
          <p:cNvSpPr/>
          <p:nvPr/>
        </p:nvSpPr>
        <p:spPr>
          <a:xfrm>
            <a:off x="4338828" y="1783080"/>
            <a:ext cx="3511296" cy="777240"/>
          </a:xfrm>
          <a:prstGeom prst="roundRect">
            <a:avLst>
              <a:gd name="adj" fmla="val 9412"/>
            </a:avLst>
          </a:prstGeom>
          <a:solidFill>
            <a:schemeClr val="accent2"/>
          </a:solidFill>
          <a:ln/>
        </p:spPr>
      </p:sp>
      <p:sp>
        <p:nvSpPr>
          <p:cNvPr id="18" name="Text 15"/>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How it is held and serviced</a:t>
            </a:r>
            <a:endParaRPr lang="en-US" sz="1400" dirty="0"/>
          </a:p>
        </p:txBody>
      </p:sp>
      <p:sp>
        <p:nvSpPr>
          <p:cNvPr id="19" name="Text 16"/>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3 families  |  6 objects  |  41 attributes</a:t>
            </a:r>
            <a:endParaRPr lang="en-US" sz="1200" dirty="0"/>
          </a:p>
        </p:txBody>
      </p:sp>
      <p:sp>
        <p:nvSpPr>
          <p:cNvPr id="20" name="Shape 17"/>
          <p:cNvSpPr/>
          <p:nvPr/>
        </p:nvSpPr>
        <p:spPr>
          <a:xfrm>
            <a:off x="4338828" y="2697480"/>
            <a:ext cx="3511296" cy="612648"/>
          </a:xfrm>
          <a:prstGeom prst="roundRect">
            <a:avLst>
              <a:gd name="adj" fmla="val 11940"/>
            </a:avLst>
          </a:prstGeom>
          <a:solidFill>
            <a:schemeClr val="bg2"/>
          </a:solidFill>
          <a:ln/>
        </p:spPr>
      </p:sp>
      <p:sp>
        <p:nvSpPr>
          <p:cNvPr id="21" name="Text 18"/>
          <p:cNvSpPr txBox="1"/>
          <p:nvPr/>
        </p:nvSpPr>
        <p:spPr>
          <a:xfrm>
            <a:off x="4521708" y="2734056"/>
            <a:ext cx="3145536" cy="329184"/>
          </a:xfrm>
          <a:prstGeom prst="rect">
            <a:avLst/>
          </a:prstGeom>
          <a:noFill/>
          <a:ln/>
        </p:spPr>
        <p:txBody>
          <a:bodyPr wrap="square" lIns="0" tIns="0" rIns="0" bIns="0" rtlCol="0" anchor="ctr"/>
          <a:lstStyle/>
          <a:p>
            <a:pPr algn="l" indent="0" marL="0">
              <a:buNone/>
            </a:pPr>
            <a:r>
              <a:rPr lang="en-US" sz="1000" b="1" dirty="0">
                <a:solidFill>
                  <a:schemeClr val="tx1"/>
                </a:solidFill>
              </a:rPr>
              <a:t>Intermediary, Institutional &amp; Program Servicing</a:t>
            </a:r>
            <a:endParaRPr lang="en-US" sz="1000" dirty="0"/>
          </a:p>
        </p:txBody>
      </p:sp>
      <p:sp>
        <p:nvSpPr>
          <p:cNvPr id="22" name="Text 19"/>
          <p:cNvSpPr txBox="1"/>
          <p:nvPr/>
        </p:nvSpPr>
        <p:spPr>
          <a:xfrm>
            <a:off x="4521708" y="3081528"/>
            <a:ext cx="3145536" cy="182880"/>
          </a:xfrm>
          <a:prstGeom prst="rect">
            <a:avLst/>
          </a:prstGeom>
          <a:noFill/>
          <a:ln/>
        </p:spPr>
        <p:txBody>
          <a:bodyPr wrap="square" lIns="0" tIns="0" rIns="0" bIns="0" rtlCol="0" anchor="ctr"/>
          <a:lstStyle/>
          <a:p>
            <a:pPr algn="l" indent="0" marL="0">
              <a:buNone/>
            </a:pPr>
            <a:r>
              <a:rPr lang="en-US" sz="1000" dirty="0">
                <a:solidFill>
                  <a:schemeClr val="tx2"/>
                </a:solidFill>
              </a:rPr>
              <a:t>3 objects  |  16 attributes  |  3 critical</a:t>
            </a:r>
            <a:endParaRPr lang="en-US" sz="1000" dirty="0"/>
          </a:p>
        </p:txBody>
      </p:sp>
      <p:sp>
        <p:nvSpPr>
          <p:cNvPr id="23" name="Shape 20"/>
          <p:cNvSpPr/>
          <p:nvPr/>
        </p:nvSpPr>
        <p:spPr>
          <a:xfrm>
            <a:off x="4338828" y="3410712"/>
            <a:ext cx="3511296" cy="612648"/>
          </a:xfrm>
          <a:prstGeom prst="roundRect">
            <a:avLst>
              <a:gd name="adj" fmla="val 11940"/>
            </a:avLst>
          </a:prstGeom>
          <a:solidFill>
            <a:schemeClr val="bg2"/>
          </a:solidFill>
          <a:ln/>
        </p:spPr>
      </p:sp>
      <p:sp>
        <p:nvSpPr>
          <p:cNvPr id="24" name="Text 21"/>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Plan Participant Accounts</a:t>
            </a:r>
            <a:endParaRPr lang="en-US" sz="1300" dirty="0"/>
          </a:p>
        </p:txBody>
      </p:sp>
      <p:sp>
        <p:nvSpPr>
          <p:cNvPr id="25" name="Text 22"/>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1 objects  |  9 attributes  |  5 critical</a:t>
            </a:r>
            <a:endParaRPr lang="en-US" sz="1100" dirty="0"/>
          </a:p>
        </p:txBody>
      </p:sp>
      <p:sp>
        <p:nvSpPr>
          <p:cNvPr id="26" name="Shape 23"/>
          <p:cNvSpPr/>
          <p:nvPr/>
        </p:nvSpPr>
        <p:spPr>
          <a:xfrm>
            <a:off x="4338828" y="4123944"/>
            <a:ext cx="3511296" cy="612648"/>
          </a:xfrm>
          <a:prstGeom prst="roundRect">
            <a:avLst>
              <a:gd name="adj" fmla="val 11940"/>
            </a:avLst>
          </a:prstGeom>
          <a:solidFill>
            <a:schemeClr val="bg2"/>
          </a:solidFill>
          <a:ln/>
        </p:spPr>
      </p:sp>
      <p:sp>
        <p:nvSpPr>
          <p:cNvPr id="27" name="Text 24"/>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Account Restrictions &amp; Privileges</a:t>
            </a:r>
            <a:endParaRPr lang="en-US" sz="1300" dirty="0"/>
          </a:p>
        </p:txBody>
      </p:sp>
      <p:sp>
        <p:nvSpPr>
          <p:cNvPr id="28" name="Text 25"/>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16 attributes  |  4 critical</a:t>
            </a:r>
            <a:endParaRPr lang="en-US" sz="1100" dirty="0"/>
          </a:p>
        </p:txBody>
      </p:sp>
      <p:sp>
        <p:nvSpPr>
          <p:cNvPr id="29" name="Shape 26"/>
          <p:cNvSpPr/>
          <p:nvPr/>
        </p:nvSpPr>
        <p:spPr>
          <a:xfrm>
            <a:off x="8129016" y="1783080"/>
            <a:ext cx="3511296" cy="777240"/>
          </a:xfrm>
          <a:prstGeom prst="roundRect">
            <a:avLst>
              <a:gd name="adj" fmla="val 9412"/>
            </a:avLst>
          </a:prstGeom>
          <a:solidFill>
            <a:schemeClr val="accent5"/>
          </a:solidFill>
          <a:ln/>
        </p:spPr>
      </p:sp>
      <p:sp>
        <p:nvSpPr>
          <p:cNvPr id="30" name="Text 27"/>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Tax, instructions and preferences</a:t>
            </a:r>
            <a:endParaRPr lang="en-US" sz="1400" dirty="0"/>
          </a:p>
        </p:txBody>
      </p:sp>
      <p:sp>
        <p:nvSpPr>
          <p:cNvPr id="31" name="Text 28"/>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6 objects  |  69 attributes</a:t>
            </a:r>
            <a:endParaRPr lang="en-US" sz="1200" dirty="0"/>
          </a:p>
        </p:txBody>
      </p:sp>
      <p:sp>
        <p:nvSpPr>
          <p:cNvPr id="32" name="Shape 29"/>
          <p:cNvSpPr/>
          <p:nvPr/>
        </p:nvSpPr>
        <p:spPr>
          <a:xfrm>
            <a:off x="8129016" y="2697480"/>
            <a:ext cx="3511296" cy="612648"/>
          </a:xfrm>
          <a:prstGeom prst="roundRect">
            <a:avLst>
              <a:gd name="adj" fmla="val 11940"/>
            </a:avLst>
          </a:prstGeom>
          <a:solidFill>
            <a:schemeClr val="bg2"/>
          </a:solidFill>
          <a:ln/>
        </p:spPr>
      </p:sp>
      <p:sp>
        <p:nvSpPr>
          <p:cNvPr id="33" name="Text 30"/>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Account Tax Status</a:t>
            </a:r>
            <a:endParaRPr lang="en-US" sz="1300" dirty="0"/>
          </a:p>
        </p:txBody>
      </p:sp>
      <p:sp>
        <p:nvSpPr>
          <p:cNvPr id="34" name="Text 31"/>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35 attributes  |  14 critical</a:t>
            </a:r>
            <a:endParaRPr lang="en-US" sz="1100" dirty="0"/>
          </a:p>
        </p:txBody>
      </p:sp>
      <p:sp>
        <p:nvSpPr>
          <p:cNvPr id="35" name="Shape 32"/>
          <p:cNvSpPr/>
          <p:nvPr/>
        </p:nvSpPr>
        <p:spPr>
          <a:xfrm>
            <a:off x="8129016" y="3410712"/>
            <a:ext cx="3511296" cy="612648"/>
          </a:xfrm>
          <a:prstGeom prst="roundRect">
            <a:avLst>
              <a:gd name="adj" fmla="val 11940"/>
            </a:avLst>
          </a:prstGeom>
          <a:solidFill>
            <a:schemeClr val="bg2"/>
          </a:solidFill>
          <a:ln/>
        </p:spPr>
      </p:sp>
      <p:sp>
        <p:nvSpPr>
          <p:cNvPr id="36" name="Text 33"/>
          <p:cNvSpPr txBox="1"/>
          <p:nvPr/>
        </p:nvSpPr>
        <p:spPr>
          <a:xfrm>
            <a:off x="8311896" y="3447288"/>
            <a:ext cx="3145536" cy="329184"/>
          </a:xfrm>
          <a:prstGeom prst="rect">
            <a:avLst/>
          </a:prstGeom>
          <a:noFill/>
          <a:ln/>
        </p:spPr>
        <p:txBody>
          <a:bodyPr wrap="square" lIns="0" tIns="0" rIns="0" bIns="0" rtlCol="0" anchor="ctr"/>
          <a:lstStyle/>
          <a:p>
            <a:pPr algn="l" indent="0" marL="0">
              <a:buNone/>
            </a:pPr>
            <a:r>
              <a:rPr lang="en-US" sz="1000" b="1" dirty="0">
                <a:solidFill>
                  <a:schemeClr val="tx1"/>
                </a:solidFill>
              </a:rPr>
              <a:t>Standing Instructions, Bank Instructions &amp; Preferences</a:t>
            </a:r>
            <a:endParaRPr lang="en-US" sz="1000" dirty="0"/>
          </a:p>
        </p:txBody>
      </p:sp>
      <p:sp>
        <p:nvSpPr>
          <p:cNvPr id="37" name="Text 34"/>
          <p:cNvSpPr txBox="1"/>
          <p:nvPr/>
        </p:nvSpPr>
        <p:spPr>
          <a:xfrm>
            <a:off x="8311896" y="3794760"/>
            <a:ext cx="3145536" cy="182880"/>
          </a:xfrm>
          <a:prstGeom prst="rect">
            <a:avLst/>
          </a:prstGeom>
          <a:noFill/>
          <a:ln/>
        </p:spPr>
        <p:txBody>
          <a:bodyPr wrap="square" lIns="0" tIns="0" rIns="0" bIns="0" rtlCol="0" anchor="ctr"/>
          <a:lstStyle/>
          <a:p>
            <a:pPr algn="l" indent="0" marL="0">
              <a:buNone/>
            </a:pPr>
            <a:r>
              <a:rPr lang="en-US" sz="1000" dirty="0">
                <a:solidFill>
                  <a:schemeClr val="tx2"/>
                </a:solidFill>
              </a:rPr>
              <a:t>3 objects  |  34 attributes  |  9 critical</a:t>
            </a:r>
            <a:endParaRPr lang="en-US" sz="1000" dirty="0"/>
          </a:p>
        </p:txBody>
      </p:sp>
      <p:sp>
        <p:nvSpPr>
          <p:cNvPr id="38" name="Text 35"/>
          <p:cNvSpPr txBox="1"/>
          <p:nvPr/>
        </p:nvSpPr>
        <p:spPr>
          <a:xfrm>
            <a:off x="548640" y="4974336"/>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the record, its title, its life</a:t>
            </a:r>
            <a:endParaRPr lang="en-US" sz="3600" dirty="0"/>
          </a:p>
        </p:txBody>
      </p:sp>
      <p:sp>
        <p:nvSpPr>
          <p:cNvPr id="5" name="Shape 2"/>
          <p:cNvSpPr/>
          <p:nvPr/>
        </p:nvSpPr>
        <p:spPr>
          <a:xfrm>
            <a:off x="548640" y="1783080"/>
            <a:ext cx="3511296" cy="4069080"/>
          </a:xfrm>
          <a:prstGeom prst="roundRect">
            <a:avLst>
              <a:gd name="adj" fmla="val 2083"/>
            </a:avLst>
          </a:prstGeom>
          <a:solidFill>
            <a:schemeClr val="bg2"/>
          </a:solidFill>
          <a:ln/>
        </p:spPr>
      </p:sp>
      <p:sp>
        <p:nvSpPr>
          <p:cNvPr id="6" name="Text 3"/>
          <p:cNvSpPr txBox="1"/>
          <p:nvPr/>
        </p:nvSpPr>
        <p:spPr>
          <a:xfrm>
            <a:off x="777240" y="1965960"/>
            <a:ext cx="3054096" cy="365760"/>
          </a:xfrm>
          <a:prstGeom prst="rect">
            <a:avLst/>
          </a:prstGeom>
          <a:noFill/>
          <a:ln/>
        </p:spPr>
        <p:txBody>
          <a:bodyPr wrap="square" lIns="0" tIns="0" rIns="0" bIns="0" rtlCol="0" anchor="ctr"/>
          <a:lstStyle/>
          <a:p>
            <a:pPr algn="l" indent="0" marL="0">
              <a:buNone/>
            </a:pPr>
            <a:r>
              <a:rPr lang="en-US" sz="1800" b="1" dirty="0">
                <a:solidFill>
                  <a:schemeClr val="accent1"/>
                </a:solidFill>
              </a:rPr>
              <a:t>Account Master</a:t>
            </a:r>
            <a:endParaRPr lang="en-US" sz="1800" dirty="0"/>
          </a:p>
        </p:txBody>
      </p:sp>
      <p:sp>
        <p:nvSpPr>
          <p:cNvPr id="7" name="Text 4"/>
          <p:cNvSpPr txBox="1"/>
          <p:nvPr/>
        </p:nvSpPr>
        <p:spPr>
          <a:xfrm>
            <a:off x="777240"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4 objects  |  30 attributes  |  13 critical</a:t>
            </a:r>
            <a:endParaRPr lang="en-US" sz="1200" dirty="0"/>
          </a:p>
        </p:txBody>
      </p:sp>
      <p:sp>
        <p:nvSpPr>
          <p:cNvPr id="8" name="Text 5"/>
          <p:cNvSpPr txBox="1"/>
          <p:nvPr/>
        </p:nvSpPr>
        <p:spPr>
          <a:xfrm>
            <a:off x="777240"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The account itself, every number it is known by, how accounts link, and who plays which role on it.</a:t>
            </a:r>
            <a:endParaRPr lang="en-US" sz="1300" dirty="0"/>
          </a:p>
        </p:txBody>
      </p:sp>
      <p:sp>
        <p:nvSpPr>
          <p:cNvPr id="9" name="Text 6"/>
          <p:cNvSpPr txBox="1"/>
          <p:nvPr/>
        </p:nvSpPr>
        <p:spPr>
          <a:xfrm>
            <a:off x="777240"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3054096" cy="822960"/>
          </a:xfrm>
          <a:prstGeom prst="rect">
            <a:avLst/>
          </a:prstGeom>
          <a:noFill/>
          <a:ln/>
        </p:spPr>
        <p:txBody>
          <a:bodyPr wrap="square" lIns="0" tIns="0" rIns="0" bIns="0" rtlCol="0" anchor="t"/>
          <a:lstStyle/>
          <a:p>
            <a:pPr indent="0" marL="0">
              <a:buNone/>
            </a:pPr>
            <a:r>
              <a:rPr lang="en-US" sz="1300" b="1" dirty="0">
                <a:solidFill>
                  <a:schemeClr val="tx1"/>
                </a:solidFill>
              </a:rPr>
              <a:t>Account, </a:t>
            </a:r>
            <a:pPr indent="0" marL="0">
              <a:buNone/>
            </a:pPr>
            <a:r>
              <a:rPr lang="en-US" sz="1300" b="1" dirty="0">
                <a:solidFill>
                  <a:schemeClr val="tx1"/>
                </a:solidFill>
              </a:rPr>
              <a:t>Account Identifier, </a:t>
            </a:r>
            <a:pPr indent="0" marL="0">
              <a:buNone/>
            </a:pPr>
            <a:r>
              <a:rPr lang="en-US" sz="1300" b="1" dirty="0">
                <a:solidFill>
                  <a:schemeClr val="tx1"/>
                </a:solidFill>
              </a:rPr>
              <a:t>Account Hierarchy Link, </a:t>
            </a:r>
            <a:pPr indent="0" marL="0">
              <a:buNone/>
            </a:pPr>
            <a:r>
              <a:rPr lang="en-US" sz="1300" b="1" dirty="0">
                <a:solidFill>
                  <a:schemeClr val="tx1"/>
                </a:solidFill>
              </a:rPr>
              <a:t>Account Party Role</a:t>
            </a:r>
            <a:endParaRPr lang="en-US" sz="1300" dirty="0"/>
          </a:p>
        </p:txBody>
      </p:sp>
      <p:sp>
        <p:nvSpPr>
          <p:cNvPr id="11" name="Text 8"/>
          <p:cNvSpPr txBox="1"/>
          <p:nvPr/>
        </p:nvSpPr>
        <p:spPr>
          <a:xfrm>
            <a:off x="777240"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Account ID, Account Type, Account Identifier Scheme, Account Link Type, Account Role Type</a:t>
            </a:r>
            <a:endParaRPr lang="en-US" sz="1300" dirty="0"/>
          </a:p>
        </p:txBody>
      </p:sp>
      <p:sp>
        <p:nvSpPr>
          <p:cNvPr id="13" name="Shape 10"/>
          <p:cNvSpPr/>
          <p:nvPr/>
        </p:nvSpPr>
        <p:spPr>
          <a:xfrm>
            <a:off x="4338828" y="1783080"/>
            <a:ext cx="3511296" cy="4069080"/>
          </a:xfrm>
          <a:prstGeom prst="roundRect">
            <a:avLst>
              <a:gd name="adj" fmla="val 2083"/>
            </a:avLst>
          </a:prstGeom>
          <a:solidFill>
            <a:schemeClr val="bg2"/>
          </a:solidFill>
          <a:ln/>
        </p:spPr>
      </p:sp>
      <p:sp>
        <p:nvSpPr>
          <p:cNvPr id="14" name="Text 11"/>
          <p:cNvSpPr txBox="1"/>
          <p:nvPr/>
        </p:nvSpPr>
        <p:spPr>
          <a:xfrm>
            <a:off x="4567428" y="1965960"/>
            <a:ext cx="3054096" cy="365760"/>
          </a:xfrm>
          <a:prstGeom prst="rect">
            <a:avLst/>
          </a:prstGeom>
          <a:noFill/>
          <a:ln/>
        </p:spPr>
        <p:txBody>
          <a:bodyPr wrap="square" lIns="0" tIns="0" rIns="0" bIns="0" rtlCol="0" anchor="ctr"/>
          <a:lstStyle/>
          <a:p>
            <a:pPr algn="l" indent="0" marL="0">
              <a:buNone/>
            </a:pPr>
            <a:r>
              <a:rPr lang="en-US" sz="1300" b="1" dirty="0">
                <a:solidFill>
                  <a:schemeClr val="accent2"/>
                </a:solidFill>
              </a:rPr>
              <a:t>Registration, Ownership &amp; Beneficiaries</a:t>
            </a:r>
            <a:endParaRPr lang="en-US" sz="1300" dirty="0"/>
          </a:p>
        </p:txBody>
      </p:sp>
      <p:sp>
        <p:nvSpPr>
          <p:cNvPr id="15" name="Text 12"/>
          <p:cNvSpPr txBox="1"/>
          <p:nvPr/>
        </p:nvSpPr>
        <p:spPr>
          <a:xfrm>
            <a:off x="4567428"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3 objects  |  26 attributes  |  10 critical</a:t>
            </a:r>
            <a:endParaRPr lang="en-US" sz="1200" dirty="0"/>
          </a:p>
        </p:txBody>
      </p:sp>
      <p:sp>
        <p:nvSpPr>
          <p:cNvPr id="16" name="Text 13"/>
          <p:cNvSpPr txBox="1"/>
          <p:nvPr/>
        </p:nvSpPr>
        <p:spPr>
          <a:xfrm>
            <a:off x="4567428"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How the account is titled and for whom it is held, including accounts for minors and named beneficiaries.</a:t>
            </a:r>
            <a:endParaRPr lang="en-US" sz="1300" dirty="0"/>
          </a:p>
        </p:txBody>
      </p:sp>
      <p:sp>
        <p:nvSpPr>
          <p:cNvPr id="17" name="Text 14"/>
          <p:cNvSpPr txBox="1"/>
          <p:nvPr/>
        </p:nvSpPr>
        <p:spPr>
          <a:xfrm>
            <a:off x="4567428"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4567428" y="3840480"/>
            <a:ext cx="3054096" cy="822960"/>
          </a:xfrm>
          <a:prstGeom prst="rect">
            <a:avLst/>
          </a:prstGeom>
          <a:noFill/>
          <a:ln/>
        </p:spPr>
        <p:txBody>
          <a:bodyPr wrap="square" lIns="0" tIns="0" rIns="0" bIns="0" rtlCol="0" anchor="t"/>
          <a:lstStyle/>
          <a:p>
            <a:pPr indent="0" marL="0">
              <a:buNone/>
            </a:pPr>
            <a:r>
              <a:rPr lang="en-US" sz="1300" dirty="0">
                <a:solidFill>
                  <a:schemeClr val="tx1"/>
                </a:solidFill>
              </a:rPr>
              <a:t>Account Registration Detail, </a:t>
            </a:r>
            <a:pPr indent="0" marL="0">
              <a:buNone/>
            </a:pPr>
            <a:r>
              <a:rPr lang="en-US" sz="1300" dirty="0">
                <a:solidFill>
                  <a:schemeClr val="tx1"/>
                </a:solidFill>
              </a:rPr>
              <a:t>Custodial Account Detail, </a:t>
            </a:r>
            <a:pPr indent="0" marL="0">
              <a:buNone/>
            </a:pPr>
            <a:r>
              <a:rPr lang="en-US" sz="1300" b="1" dirty="0">
                <a:solidFill>
                  <a:schemeClr val="tx1"/>
                </a:solidFill>
              </a:rPr>
              <a:t>Beneficiary Designation</a:t>
            </a:r>
            <a:endParaRPr lang="en-US" sz="1300" dirty="0"/>
          </a:p>
        </p:txBody>
      </p:sp>
      <p:sp>
        <p:nvSpPr>
          <p:cNvPr id="19" name="Text 16"/>
          <p:cNvSpPr txBox="1"/>
          <p:nvPr/>
        </p:nvSpPr>
        <p:spPr>
          <a:xfrm>
            <a:off x="4567428"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4567428"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Registration Line 1, Custodial Statute, Beneficiary Type, Beneficiary Allocation Percentage</a:t>
            </a:r>
            <a:endParaRPr lang="en-US" sz="1300" dirty="0"/>
          </a:p>
        </p:txBody>
      </p:sp>
      <p:sp>
        <p:nvSpPr>
          <p:cNvPr id="21" name="Shape 18"/>
          <p:cNvSpPr/>
          <p:nvPr/>
        </p:nvSpPr>
        <p:spPr>
          <a:xfrm>
            <a:off x="8129016" y="1783080"/>
            <a:ext cx="3511296" cy="4069080"/>
          </a:xfrm>
          <a:prstGeom prst="roundRect">
            <a:avLst>
              <a:gd name="adj" fmla="val 2083"/>
            </a:avLst>
          </a:prstGeom>
          <a:solidFill>
            <a:schemeClr val="bg2"/>
          </a:solidFill>
          <a:ln/>
        </p:spPr>
      </p:sp>
      <p:sp>
        <p:nvSpPr>
          <p:cNvPr id="22" name="Text 19"/>
          <p:cNvSpPr txBox="1"/>
          <p:nvPr/>
        </p:nvSpPr>
        <p:spPr>
          <a:xfrm>
            <a:off x="8357616" y="1965960"/>
            <a:ext cx="3054096" cy="365760"/>
          </a:xfrm>
          <a:prstGeom prst="rect">
            <a:avLst/>
          </a:prstGeom>
          <a:noFill/>
          <a:ln/>
        </p:spPr>
        <p:txBody>
          <a:bodyPr wrap="square" lIns="0" tIns="0" rIns="0" bIns="0" rtlCol="0" anchor="ctr"/>
          <a:lstStyle/>
          <a:p>
            <a:pPr algn="l" indent="0" marL="0">
              <a:buNone/>
            </a:pPr>
            <a:r>
              <a:rPr lang="en-US" sz="1500" b="1" dirty="0">
                <a:solidFill>
                  <a:schemeClr val="accent4"/>
                </a:solidFill>
              </a:rPr>
              <a:t>Account Lifecycle &amp; Status</a:t>
            </a:r>
            <a:endParaRPr lang="en-US" sz="1500" dirty="0"/>
          </a:p>
        </p:txBody>
      </p:sp>
      <p:sp>
        <p:nvSpPr>
          <p:cNvPr id="23" name="Text 20"/>
          <p:cNvSpPr txBox="1"/>
          <p:nvPr/>
        </p:nvSpPr>
        <p:spPr>
          <a:xfrm>
            <a:off x="8357616"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4 objects  |  32 attributes  |  10 critical</a:t>
            </a:r>
            <a:endParaRPr lang="en-US" sz="1200" dirty="0"/>
          </a:p>
        </p:txBody>
      </p:sp>
      <p:sp>
        <p:nvSpPr>
          <p:cNvPr id="24" name="Text 21"/>
          <p:cNvSpPr txBox="1"/>
          <p:nvPr/>
        </p:nvSpPr>
        <p:spPr>
          <a:xfrm>
            <a:off x="8357616"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The account from application to closure: how it was opened, every change, its status history and closure.</a:t>
            </a:r>
            <a:endParaRPr lang="en-US" sz="1300" dirty="0"/>
          </a:p>
        </p:txBody>
      </p:sp>
      <p:sp>
        <p:nvSpPr>
          <p:cNvPr id="25" name="Text 22"/>
          <p:cNvSpPr txBox="1"/>
          <p:nvPr/>
        </p:nvSpPr>
        <p:spPr>
          <a:xfrm>
            <a:off x="8357616"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26" name="Text 23"/>
          <p:cNvSpPr txBox="1"/>
          <p:nvPr/>
        </p:nvSpPr>
        <p:spPr>
          <a:xfrm>
            <a:off x="8357616" y="3840480"/>
            <a:ext cx="3054096" cy="822960"/>
          </a:xfrm>
          <a:prstGeom prst="rect">
            <a:avLst/>
          </a:prstGeom>
          <a:noFill/>
          <a:ln/>
        </p:spPr>
        <p:txBody>
          <a:bodyPr wrap="square" lIns="0" tIns="0" rIns="0" bIns="0" rtlCol="0" anchor="t"/>
          <a:lstStyle/>
          <a:p>
            <a:pPr indent="0" marL="0">
              <a:buNone/>
            </a:pPr>
            <a:r>
              <a:rPr lang="en-US" sz="1300" dirty="0">
                <a:solidFill>
                  <a:schemeClr val="tx1"/>
                </a:solidFill>
              </a:rPr>
              <a:t>Account Opening, </a:t>
            </a:r>
            <a:pPr indent="0" marL="0">
              <a:buNone/>
            </a:pPr>
            <a:r>
              <a:rPr lang="en-US" sz="1300" b="1" dirty="0">
                <a:solidFill>
                  <a:schemeClr val="tx1"/>
                </a:solidFill>
              </a:rPr>
              <a:t>Account Lifecycle Event, </a:t>
            </a:r>
            <a:pPr indent="0" marL="0">
              <a:buNone/>
            </a:pPr>
            <a:r>
              <a:rPr lang="en-US" sz="1300" dirty="0">
                <a:solidFill>
                  <a:schemeClr val="tx1"/>
                </a:solidFill>
              </a:rPr>
              <a:t>Account Status History, </a:t>
            </a:r>
            <a:pPr indent="0" marL="0">
              <a:buNone/>
            </a:pPr>
            <a:r>
              <a:rPr lang="en-US" sz="1300" dirty="0">
                <a:solidFill>
                  <a:schemeClr val="tx1"/>
                </a:solidFill>
              </a:rPr>
              <a:t>Account Closure</a:t>
            </a:r>
            <a:endParaRPr lang="en-US" sz="1300" dirty="0"/>
          </a:p>
        </p:txBody>
      </p:sp>
      <p:sp>
        <p:nvSpPr>
          <p:cNvPr id="27" name="Text 24"/>
          <p:cNvSpPr txBox="1"/>
          <p:nvPr/>
        </p:nvSpPr>
        <p:spPr>
          <a:xfrm>
            <a:off x="8357616"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8" name="Text 25"/>
          <p:cNvSpPr txBox="1"/>
          <p:nvPr/>
        </p:nvSpPr>
        <p:spPr>
          <a:xfrm>
            <a:off x="8357616"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Application Channel, Good Order Date, Lifecycle Event Type, Closure Reason</a:t>
            </a:r>
            <a:endParaRPr lang="en-US" sz="1300" dirty="0"/>
          </a:p>
        </p:txBody>
      </p:sp>
      <p:sp>
        <p:nvSpPr>
          <p:cNvPr id="29" name="Text 26"/>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account.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How the account is held and serviced</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Intermediary, Institutional &amp; Program Servicing</a:t>
                      </a:r>
                      <a:endParaRPr lang="en-US" sz="1200" dirty="0"/>
                    </a:p>
                    <a:p>
                      <a:pPr indent="0" marL="0">
                        <a:buNone/>
                      </a:pPr>
                      <a:r>
                        <a:rPr lang="en-US" sz="1100" dirty="0">
                          <a:solidFill>
                            <a:schemeClr val="tx2"/>
                          </a:solidFill>
                        </a:rPr>
                        <a:t>3 objects  |  16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Networking level, dealer and rep of record, omnibus parent, mandate, custodian and program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Intermediary Account Servicing, </a:t>
                      </a:r>
                      <a:pPr indent="0" marL="0">
                        <a:buNone/>
                      </a:pPr>
                      <a:r>
                        <a:rPr lang="en-US" sz="1200" dirty="0">
                          <a:solidFill>
                            <a:schemeClr val="tx1"/>
                          </a:solidFill>
                        </a:rPr>
                        <a:t>Institutional Account, </a:t>
                      </a:r>
                      <a:pPr indent="0" marL="0">
                        <a:buNone/>
                      </a:pPr>
                      <a:r>
                        <a:rPr lang="en-US" sz="1200" dirty="0">
                          <a:solidFill>
                            <a:schemeClr val="tx1"/>
                          </a:solidFill>
                        </a:rPr>
                        <a:t>Platform Program Enrollment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Networking Level, Dealer of Record, Omnibus Parent Account, Related Mandate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Plan Participant Accounts</a:t>
                      </a:r>
                      <a:endParaRPr lang="en-US" sz="1200" dirty="0"/>
                    </a:p>
                    <a:p>
                      <a:pPr indent="0" marL="0">
                        <a:buNone/>
                      </a:pPr>
                      <a:r>
                        <a:rPr lang="en-US" sz="1100" dirty="0">
                          <a:solidFill>
                            <a:schemeClr val="tx2"/>
                          </a:solidFill>
                        </a:rPr>
                        <a:t>1 objects  |  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Participant accounts of recordkept plans: participant, plan, money sources and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Plan Participant Account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Participant, Plan Account, Money Sources Held, Participant Account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Account Restrictions &amp; Privileges</a:t>
                      </a:r>
                      <a:endParaRPr lang="en-US" sz="1200" dirty="0"/>
                    </a:p>
                    <a:p>
                      <a:pPr indent="0" marL="0">
                        <a:buNone/>
                      </a:pPr>
                      <a:r>
                        <a:rPr lang="en-US" sz="1100" dirty="0">
                          <a:solidFill>
                            <a:schemeClr val="tx2"/>
                          </a:solidFill>
                        </a:rPr>
                        <a:t>2 objects  |  16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Blocks and holds placed on an account, and the transaction privileges granted to it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Account Restriction, </a:t>
                      </a:r>
                      <a:pPr indent="0" marL="0">
                        <a:buNone/>
                      </a:pPr>
                      <a:r>
                        <a:rPr lang="en-US" sz="1200" dirty="0">
                          <a:solidFill>
                            <a:schemeClr val="tx1"/>
                          </a:solidFill>
                        </a:rPr>
                        <a:t>Account Privilege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Account Restriction Type, Restriction Scope, Wire Redemption Privilege Indicator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account.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Tax status, instructions and bank details</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Account Tax Status</a:t>
                      </a:r>
                      <a:endParaRPr lang="en-US" sz="1200" dirty="0"/>
                    </a:p>
                    <a:p>
                      <a:pPr indent="0" marL="0">
                        <a:buNone/>
                      </a:pPr>
                      <a:r>
                        <a:rPr lang="en-US" sz="1100" dirty="0">
                          <a:solidFill>
                            <a:schemeClr val="tx2"/>
                          </a:solidFill>
                        </a:rPr>
                        <a:t>3 objects  |  35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Tax forms on file, TIN certification, backup withholding, FATCA and CRS status, cost basis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Account Tax Certification, </a:t>
                      </a:r>
                      <a:pPr indent="0" marL="0">
                        <a:buNone/>
                      </a:pPr>
                      <a:r>
                        <a:rPr lang="en-US" sz="1200" dirty="0">
                          <a:solidFill>
                            <a:schemeClr val="tx1"/>
                          </a:solidFill>
                        </a:rPr>
                        <a:t>Account Tax Reporting Status, </a:t>
                      </a:r>
                      <a:pPr indent="0" marL="0">
                        <a:buNone/>
                      </a:pPr>
                      <a:r>
                        <a:rPr lang="en-US" sz="1200" b="1" dirty="0">
                          <a:solidFill>
                            <a:schemeClr val="tx1"/>
                          </a:solidFill>
                        </a:rPr>
                        <a:t>Cost Basis Election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Tax Form Type, Backup Withholding Indicator, Tax Residence Country, Cost Basis Method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Standing Instructions, Bank Instructions &amp; Preferences</a:t>
                      </a:r>
                      <a:endParaRPr lang="en-US" sz="1200" dirty="0"/>
                    </a:p>
                    <a:p>
                      <a:pPr indent="0" marL="0">
                        <a:buNone/>
                      </a:pPr>
                      <a:r>
                        <a:rPr lang="en-US" sz="1100" dirty="0">
                          <a:solidFill>
                            <a:schemeClr val="tx2"/>
                          </a:solidFill>
                        </a:rPr>
                        <a:t>3 objects  |  34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Recurring instructions, verified bank accounts for ACH and wire, and account preferences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Account Standing Instruction, </a:t>
                      </a:r>
                      <a:pPr indent="0" marL="0">
                        <a:buNone/>
                      </a:pPr>
                      <a:r>
                        <a:rPr lang="en-US" sz="1200" b="1" dirty="0">
                          <a:solidFill>
                            <a:schemeClr val="tx1"/>
                          </a:solidFill>
                        </a:rPr>
                        <a:t>Bank Instruction, </a:t>
                      </a:r>
                      <a:pPr indent="0" marL="0">
                        <a:buNone/>
                      </a:pPr>
                      <a:r>
                        <a:rPr lang="en-US" sz="1200" dirty="0">
                          <a:solidFill>
                            <a:schemeClr val="tx1"/>
                          </a:solidFill>
                        </a:rPr>
                        <a:t>Account Preference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Instruction Type, Instruction Frequency, Bank Verification Status, Bank Account Type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account.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Built on NSCC, IRS and ISO account standards</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IRS = Forms W-9, W-8BEN, 1099-B and IRC 3406, 6045, 401(k). Other: FINRA, ERISA, DOL, SEC, FIBO, FSC.</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36%</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(71 of 198) align to an external standard, register or regulation</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49</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32</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are flagged as personal data; bank and tax identifiers are kept masked</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Parties, contact points, KYC and party tax profiles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Roles pointing at the party; registration lines as a derived copy of the owners' names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Products, share classes, mandates and model portfolios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Mandate on an institutional account, assigned model, share class of an election or instruction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Agreements and partner programs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Agreements &amp;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governing agreement and enrolled program on the account, by reference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Positions, transactions, balances and flows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funding and final transaction by ID; standing instructions say what should recur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Service requests, statements, tax forms, e-delivery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Investor Servicing &amp; Shareholder Comms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lifecycle event a request caused; statement frequency as an account preference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Custody set-up and settlement instructions for mandates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Institutional Client Servicing &amp; Reporting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custodian party on the institutional account, as the relationship fact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Plan design, eligibility, vesting, contributions, loans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Retirement Plan Administration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participant account itself: participant, plan, money sources held and participant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Employees who open accounts and approve lifted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Shared &amp; Enterprise Reference Data</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to the employee who opened, recorded or approved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164 attributes mastered, 34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164</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198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30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4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548640"/>
          </a:xfrm>
          <a:prstGeom prst="roundRect">
            <a:avLst>
              <a:gd name="adj" fmla="val 13333"/>
            </a:avLst>
          </a:prstGeom>
          <a:solidFill>
            <a:schemeClr val="bg2"/>
          </a:solidFill>
          <a:ln/>
        </p:spPr>
      </p:sp>
      <p:sp>
        <p:nvSpPr>
          <p:cNvPr id="13" name="Text 10"/>
          <p:cNvSpPr txBox="1"/>
          <p:nvPr/>
        </p:nvSpPr>
        <p:spPr>
          <a:xfrm>
            <a:off x="4343400" y="17830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4" name="Text 11"/>
          <p:cNvSpPr txBox="1"/>
          <p:nvPr/>
        </p:nvSpPr>
        <p:spPr>
          <a:xfrm>
            <a:off x="7132320" y="17830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17 references, 4 copies</a:t>
            </a:r>
            <a:endParaRPr lang="en-US" sz="1200" dirty="0"/>
          </a:p>
        </p:txBody>
      </p:sp>
      <p:sp>
        <p:nvSpPr>
          <p:cNvPr id="15" name="Text 12"/>
          <p:cNvSpPr txBox="1"/>
          <p:nvPr/>
        </p:nvSpPr>
        <p:spPr>
          <a:xfrm>
            <a:off x="8458200" y="17830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Every party on the account, owner to rep of record; registration lines and bank holder name as copies</a:t>
            </a:r>
            <a:endParaRPr lang="en-US" sz="1100" dirty="0"/>
          </a:p>
        </p:txBody>
      </p:sp>
      <p:sp>
        <p:nvSpPr>
          <p:cNvPr id="16" name="Shape 13"/>
          <p:cNvSpPr/>
          <p:nvPr/>
        </p:nvSpPr>
        <p:spPr>
          <a:xfrm>
            <a:off x="4114800" y="2423160"/>
            <a:ext cx="7525512" cy="548640"/>
          </a:xfrm>
          <a:prstGeom prst="roundRect">
            <a:avLst>
              <a:gd name="adj" fmla="val 13333"/>
            </a:avLst>
          </a:prstGeom>
          <a:solidFill>
            <a:schemeClr val="bg2"/>
          </a:solidFill>
          <a:ln/>
        </p:spPr>
      </p:sp>
      <p:sp>
        <p:nvSpPr>
          <p:cNvPr id="17" name="Text 14"/>
          <p:cNvSpPr txBox="1"/>
          <p:nvPr/>
        </p:nvSpPr>
        <p:spPr>
          <a:xfrm>
            <a:off x="4343400" y="242316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18" name="Text 15"/>
          <p:cNvSpPr txBox="1"/>
          <p:nvPr/>
        </p:nvSpPr>
        <p:spPr>
          <a:xfrm>
            <a:off x="7132320" y="242316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4 references</a:t>
            </a:r>
            <a:endParaRPr lang="en-US" sz="1200" dirty="0"/>
          </a:p>
        </p:txBody>
      </p:sp>
      <p:sp>
        <p:nvSpPr>
          <p:cNvPr id="19" name="Text 16"/>
          <p:cNvSpPr txBox="1"/>
          <p:nvPr/>
        </p:nvSpPr>
        <p:spPr>
          <a:xfrm>
            <a:off x="8458200" y="242316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Mandate on an institutional account, assigned model portfolio, share class of an election or instruction</a:t>
            </a:r>
            <a:endParaRPr lang="en-US" sz="1100" dirty="0"/>
          </a:p>
        </p:txBody>
      </p:sp>
      <p:sp>
        <p:nvSpPr>
          <p:cNvPr id="20" name="Shape 17"/>
          <p:cNvSpPr/>
          <p:nvPr/>
        </p:nvSpPr>
        <p:spPr>
          <a:xfrm>
            <a:off x="4114800" y="3063240"/>
            <a:ext cx="7525512" cy="548640"/>
          </a:xfrm>
          <a:prstGeom prst="roundRect">
            <a:avLst>
              <a:gd name="adj" fmla="val 13333"/>
            </a:avLst>
          </a:prstGeom>
          <a:solidFill>
            <a:schemeClr val="bg2"/>
          </a:solidFill>
          <a:ln/>
        </p:spPr>
      </p:sp>
      <p:sp>
        <p:nvSpPr>
          <p:cNvPr id="21" name="Text 18"/>
          <p:cNvSpPr txBox="1"/>
          <p:nvPr/>
        </p:nvSpPr>
        <p:spPr>
          <a:xfrm>
            <a:off x="4343400" y="306324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22" name="Text 19"/>
          <p:cNvSpPr txBox="1"/>
          <p:nvPr/>
        </p:nvSpPr>
        <p:spPr>
          <a:xfrm>
            <a:off x="7132320" y="306324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3 references</a:t>
            </a:r>
            <a:endParaRPr lang="en-US" sz="1200" dirty="0"/>
          </a:p>
        </p:txBody>
      </p:sp>
      <p:sp>
        <p:nvSpPr>
          <p:cNvPr id="23" name="Text 20"/>
          <p:cNvSpPr txBox="1"/>
          <p:nvPr/>
        </p:nvSpPr>
        <p:spPr>
          <a:xfrm>
            <a:off x="8458200" y="306324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employees who opened the account, recorded a lifecycle event or approved lifting a restriction</a:t>
            </a:r>
            <a:endParaRPr lang="en-US" sz="1100" dirty="0"/>
          </a:p>
        </p:txBody>
      </p:sp>
      <p:sp>
        <p:nvSpPr>
          <p:cNvPr id="24" name="Shape 21"/>
          <p:cNvSpPr/>
          <p:nvPr/>
        </p:nvSpPr>
        <p:spPr>
          <a:xfrm>
            <a:off x="4114800" y="3703320"/>
            <a:ext cx="7525512" cy="548640"/>
          </a:xfrm>
          <a:prstGeom prst="roundRect">
            <a:avLst>
              <a:gd name="adj" fmla="val 13333"/>
            </a:avLst>
          </a:prstGeom>
          <a:solidFill>
            <a:schemeClr val="bg2"/>
          </a:solidFill>
          <a:ln/>
        </p:spPr>
      </p:sp>
      <p:sp>
        <p:nvSpPr>
          <p:cNvPr id="25" name="Text 22"/>
          <p:cNvSpPr txBox="1"/>
          <p:nvPr/>
        </p:nvSpPr>
        <p:spPr>
          <a:xfrm>
            <a:off x="4343400" y="370332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Sales Transactions &amp; AUM Attribution</a:t>
            </a:r>
            <a:endParaRPr lang="en-US" sz="1200" dirty="0"/>
          </a:p>
        </p:txBody>
      </p:sp>
      <p:sp>
        <p:nvSpPr>
          <p:cNvPr id="26" name="Text 23"/>
          <p:cNvSpPr txBox="1"/>
          <p:nvPr/>
        </p:nvSpPr>
        <p:spPr>
          <a:xfrm>
            <a:off x="7132320" y="370332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3 references</a:t>
            </a:r>
            <a:endParaRPr lang="en-US" sz="1200" dirty="0"/>
          </a:p>
        </p:txBody>
      </p:sp>
      <p:sp>
        <p:nvSpPr>
          <p:cNvPr id="27" name="Text 24"/>
          <p:cNvSpPr txBox="1"/>
          <p:nvPr/>
        </p:nvSpPr>
        <p:spPr>
          <a:xfrm>
            <a:off x="8458200" y="370332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transaction that funded the account, triggered an event or closed it</a:t>
            </a:r>
            <a:endParaRPr lang="en-US" sz="1100" dirty="0"/>
          </a:p>
        </p:txBody>
      </p:sp>
      <p:sp>
        <p:nvSpPr>
          <p:cNvPr id="28" name="Shape 25"/>
          <p:cNvSpPr/>
          <p:nvPr/>
        </p:nvSpPr>
        <p:spPr>
          <a:xfrm>
            <a:off x="4114800" y="4343400"/>
            <a:ext cx="7525512" cy="548640"/>
          </a:xfrm>
          <a:prstGeom prst="roundRect">
            <a:avLst>
              <a:gd name="adj" fmla="val 13333"/>
            </a:avLst>
          </a:prstGeom>
          <a:solidFill>
            <a:schemeClr val="bg2"/>
          </a:solidFill>
          <a:ln/>
        </p:spPr>
      </p:sp>
      <p:sp>
        <p:nvSpPr>
          <p:cNvPr id="29" name="Text 26"/>
          <p:cNvSpPr txBox="1"/>
          <p:nvPr/>
        </p:nvSpPr>
        <p:spPr>
          <a:xfrm>
            <a:off x="4343400" y="434340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Distribution Agreements &amp; Partners</a:t>
            </a:r>
            <a:endParaRPr lang="en-US" sz="1200" dirty="0"/>
          </a:p>
        </p:txBody>
      </p:sp>
      <p:sp>
        <p:nvSpPr>
          <p:cNvPr id="30" name="Text 27"/>
          <p:cNvSpPr txBox="1"/>
          <p:nvPr/>
        </p:nvSpPr>
        <p:spPr>
          <a:xfrm>
            <a:off x="7132320" y="434340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 references</a:t>
            </a:r>
            <a:endParaRPr lang="en-US" sz="1200" dirty="0"/>
          </a:p>
        </p:txBody>
      </p:sp>
      <p:sp>
        <p:nvSpPr>
          <p:cNvPr id="31" name="Text 28"/>
          <p:cNvSpPr txBox="1"/>
          <p:nvPr/>
        </p:nvSpPr>
        <p:spPr>
          <a:xfrm>
            <a:off x="8458200" y="434340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governing agreement of an institutional account and the partner program it is enrolled in</a:t>
            </a:r>
            <a:endParaRPr lang="en-US" sz="1100" dirty="0"/>
          </a:p>
        </p:txBody>
      </p:sp>
      <p:sp>
        <p:nvSpPr>
          <p:cNvPr id="32" name="Shape 29"/>
          <p:cNvSpPr/>
          <p:nvPr/>
        </p:nvSpPr>
        <p:spPr>
          <a:xfrm>
            <a:off x="4114800" y="4983480"/>
            <a:ext cx="7525512" cy="548640"/>
          </a:xfrm>
          <a:prstGeom prst="roundRect">
            <a:avLst>
              <a:gd name="adj" fmla="val 13333"/>
            </a:avLst>
          </a:prstGeom>
          <a:solidFill>
            <a:schemeClr val="bg2"/>
          </a:solidFill>
          <a:ln/>
        </p:spPr>
      </p:sp>
      <p:sp>
        <p:nvSpPr>
          <p:cNvPr id="33" name="Text 30"/>
          <p:cNvSpPr txBox="1"/>
          <p:nvPr/>
        </p:nvSpPr>
        <p:spPr>
          <a:xfrm>
            <a:off x="4343400" y="49834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Investor Servicing &amp; Shareholder Communications</a:t>
            </a:r>
            <a:endParaRPr lang="en-US" sz="1200" dirty="0"/>
          </a:p>
        </p:txBody>
      </p:sp>
      <p:sp>
        <p:nvSpPr>
          <p:cNvPr id="34" name="Text 31"/>
          <p:cNvSpPr txBox="1"/>
          <p:nvPr/>
        </p:nvSpPr>
        <p:spPr>
          <a:xfrm>
            <a:off x="7132320" y="49834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 reference</a:t>
            </a:r>
            <a:endParaRPr lang="en-US" sz="1200" dirty="0"/>
          </a:p>
        </p:txBody>
      </p:sp>
      <p:sp>
        <p:nvSpPr>
          <p:cNvPr id="35" name="Text 32"/>
          <p:cNvSpPr txBox="1"/>
          <p:nvPr/>
        </p:nvSpPr>
        <p:spPr>
          <a:xfrm>
            <a:off x="8458200" y="49834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shareholder service request that triggered a lifecycle event</a:t>
            </a:r>
            <a:endParaRPr lang="en-US" sz="1100" dirty="0"/>
          </a:p>
        </p:txBody>
      </p:sp>
      <p:sp>
        <p:nvSpPr>
          <p:cNvPr id="36" name="Shape 33"/>
          <p:cNvSpPr/>
          <p:nvPr/>
        </p:nvSpPr>
        <p:spPr>
          <a:xfrm>
            <a:off x="548640" y="5687568"/>
            <a:ext cx="11091672" cy="530352"/>
          </a:xfrm>
          <a:prstGeom prst="roundRect">
            <a:avLst>
              <a:gd name="adj" fmla="val 13793"/>
            </a:avLst>
          </a:prstGeom>
          <a:solidFill>
            <a:schemeClr val="bg2"/>
          </a:solidFill>
          <a:ln/>
        </p:spPr>
      </p:sp>
      <p:sp>
        <p:nvSpPr>
          <p:cNvPr id="37" name="Text 34"/>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28 attributes in 10 other domains reference an account mastered here. Also excluded from every view: Record Metadata, which the program documents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11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14</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3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11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3 high, 5 medium, 3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GAP-02-003</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Account Party Role now carries its account, but DP-003, DP-070 and DP-085 still do not read it to join clients to accounts</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GAP-05-002</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Share Class Mapping has no platform reference, so an account cannot be tied to its platform for eligibility checks (DP-060)</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GAP-02-018</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Account Restriction lacks the specified-adult, hold-extension and regulator-report details for FINRA Rule 2165 holds (DP-085)</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GAP-08-004</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No fraud case object, so an account restriction cannot be linked to the referral that caused it (DP-085)</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GAP-13-006</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Cost basis lots and the date and effect of a method change are not modeled, so Form 1099-B basis cannot be evidenced (DP-091)</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Low</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GAP-02-020</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Account has no letter of intent or rights of accumulation attributes, so breakpoint entitlement cannot be shown (DP-060)</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Low</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GAP-02-022</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Decide whether omnibus sub-accounts not held at the transfer agent become accounts here or keep a hashed key (DP-084)</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Transfer agent records, Networking files, sub-accounting feeds, the recordkeeper and the CRM financial account each map to one definition per field. Not done yet.</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All 23 objects and 189 of 198 attributes appear in one.</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Conformed account</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DP-093 is the one account record that positions, institutional relationships, servicing and plan administration key on. Publishing it in SM-00 is proposed.</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68 proposed critical data elements and 32 personal data flags show stewards where to focus. Bank and tax numbers masked.</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100" b="1" dirty="0">
                <a:solidFill>
                  <a:schemeClr val="tx1"/>
                </a:solidFill>
              </a:rPr>
              <a:t>Transfer agent and platform files</a:t>
            </a:r>
            <a:endParaRPr lang="en-US" sz="11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200" b="1" dirty="0">
                <a:solidFill>
                  <a:schemeClr val="bg1"/>
                </a:solidFill>
              </a:rPr>
              <a:t>Account definitions</a:t>
            </a:r>
            <a:endParaRPr lang="en-US" sz="12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DP-093 Account Master</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feeds,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FOUNDATIONAL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product turns the domain into records</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DP-093</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Account Master</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Foundational  |  Master &amp; Reference  |  Owner: Head of Account Data (Transfer Agency)</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One row per account and effective period; identifiers, links, roles, beneficiaries, certifications, instructions, events and restrictions as children</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187 of its 198 attributes come from all 23 of this domain's objects. The other 11 validate the parties, share classes, agreements and programs named</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Daily, by 6am Eastern on T+1 for transfer agent and recordkeeper changes; institutional and plan changes within one business day of confirmation</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Full history on the account and every child table since 2015. Closed accounts kept to the Records Retention End Date, at least seven years</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Restricted, personal data. A servicing view without registration lines, bank details and beneficiaries is published for analytics</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4</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name it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87</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depend on it directly or indirectly</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Every parent, child and plan account resolves to an Account ID; no account is its own parent</a:t>
            </a:r>
            <a:endParaRPr lang="en-US" sz="1300" dirty="0"/>
          </a:p>
          <a:p>
            <a:pPr marL="177800" indent="-177800">
              <a:spcAft>
                <a:spcPts val="600"/>
              </a:spcAft>
              <a:buSzPct val="100000"/>
              <a:buChar char="•"/>
            </a:pPr>
            <a:r>
              <a:rPr lang="en-US" sz="1300" dirty="0">
                <a:solidFill>
                  <a:schemeClr val="tx1"/>
                </a:solidFill>
              </a:rPr>
              <a:t>At most one primary identifier per scheme on any date; effective periods never overlap</a:t>
            </a:r>
            <a:endParaRPr lang="en-US" sz="1300" dirty="0"/>
          </a:p>
          <a:p>
            <a:pPr marL="177800" indent="-177800">
              <a:spcAft>
                <a:spcPts val="600"/>
              </a:spcAft>
              <a:buSzPct val="100000"/>
              <a:buChar char="•"/>
            </a:pPr>
            <a:r>
              <a:rPr lang="en-US" sz="1300" dirty="0">
                <a:solidFill>
                  <a:schemeClr val="tx1"/>
                </a:solidFill>
              </a:rPr>
              <a:t>Backup withholding always carries a reason and a start date</a:t>
            </a:r>
            <a:endParaRPr lang="en-US" sz="1300" dirty="0"/>
          </a:p>
          <a:p>
            <a:pPr marL="177800" indent="-177800">
              <a:spcAft>
                <a:spcPts val="600"/>
              </a:spcAft>
              <a:buSzPct val="100000"/>
              <a:buChar char="•"/>
            </a:pPr>
            <a:r>
              <a:rPr lang="en-US" sz="1300" dirty="0">
                <a:solidFill>
                  <a:schemeClr val="tx1"/>
                </a:solidFill>
              </a:rPr>
              <a:t>A standing instruction only debits a verified bank instruction on the same account</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14 of 96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14</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4 foundational and 10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23 of 23</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95%</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(189 of 198)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6</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regulatory and control products, the largest group of the 14</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6 regulatory and control, 3 master and reference, 2 analytical, 2 operational, 1 conformed facts.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product is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5399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DP-093</a:t>
            </a:r>
            <a:endParaRPr lang="en-US" sz="1200" dirty="0"/>
          </a:p>
        </p:txBody>
      </p:sp>
      <p:sp>
        <p:nvSpPr>
          <p:cNvPr id="8" name="Text 5"/>
          <p:cNvSpPr txBox="1"/>
          <p:nvPr/>
        </p:nvSpPr>
        <p:spPr>
          <a:xfrm>
            <a:off x="1828800" y="211226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Account Master</a:t>
            </a:r>
            <a:endParaRPr lang="en-US" sz="1300" dirty="0"/>
          </a:p>
        </p:txBody>
      </p:sp>
      <p:sp>
        <p:nvSpPr>
          <p:cNvPr id="9" name="Text 6"/>
          <p:cNvSpPr txBox="1"/>
          <p:nvPr/>
        </p:nvSpPr>
        <p:spPr>
          <a:xfrm>
            <a:off x="1828800" y="253288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Foundational  |  Investor Servicing and Fund Operations</a:t>
            </a:r>
            <a:endParaRPr lang="en-US" sz="1000" dirty="0"/>
          </a:p>
        </p:txBody>
      </p:sp>
      <p:sp>
        <p:nvSpPr>
          <p:cNvPr id="10" name="Text 7"/>
          <p:cNvSpPr txBox="1"/>
          <p:nvPr/>
        </p:nvSpPr>
        <p:spPr>
          <a:xfrm>
            <a:off x="5897880" y="205740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Every account, once: identifiers, links, roles, registration, tax status, instructions, lifecycle and restrictions.</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1295400"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187 of 198</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13 more rely on it for the account record</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Positions, AUM and look-through</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DP-007, DP-076</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Account type, registration type and status, networking level, dealer, branch and rep of record, roles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Institutional and plan relationships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DP-003</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Institutional and plan accounts with their related retirement plan and custodian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Recordkeeping operations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DP-094, DP-095</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Participant accounts: plan account, money sources held and status; beneficiary designations on file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Compliance and surveillance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DP-060, DP-077, DP-084</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Account restrictions, party roles, networking level, omnibus parent and nominee designation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Shareholder servicing and fraud monitoring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DP-085, DP-069, DP-071</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Account restrictions, standing instructions, and the dealer and rep of record for proxy and mailing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Tax reporting and escheatment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DP-091, DP-070</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Cost basis elections, networking level and dealer of record; account status and open date for dormancy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A further 74 products take the account only through DP-093, without reading this domain directly.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attribute,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Networking Level</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on Intermediary Account Servicing: the NSCC level that decides who controls and services the account.</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FOUNDATIONAL</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DP-093</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Carries the level on the conformed account and derives the servicing model from it and the omnibus parent.</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CONSUMER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DP-007 then</a:t>
            </a:r>
            <a:endParaRPr lang="en-US" sz="1400" dirty="0"/>
          </a:p>
          <a:p>
            <a:pPr algn="l" indent="0" marL="0">
              <a:buNone/>
            </a:pPr>
            <a:r>
              <a:rPr lang="en-US" sz="1400" b="1" dirty="0">
                <a:solidFill>
                  <a:schemeClr val="tx1"/>
                </a:solidFill>
              </a:rPr>
              <a:t>DP-084</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Positions inherit the level. Surveillance tests networked and omnibus accounts for a Rule 22c-2 agreement.</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Proposed for SM-00</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DP-093 is proposed as the conformed Account dimension in SM-00, not yet approved. No model publishes the level yet.</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Compliance dashboard</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“Which networked or omnibus accounts trade through a dealer with no Rule 22c-2 shareholder information agreement?”</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22c-2 Agreement Gap  =  networked or omnibus accounts whose dealer has no Rule 22c-2 agreement</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The dealer's Networking Setup and Rule 22c-2 agreement are mastered in Distribution Agreements &amp; Partners. Account supplies level and omnibus parent.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CD-034</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Networking level ownership: the account holds the level here, the agreement the contracted level, transactions as delivered. One shared list.</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CD-018</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Add a platform nominee account type for UK and EU distribution, with delivered sub-account identifiers rolling up to it.</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GAP-02-022</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Whether omnibus sub-accounts not held at the transfer agent become accounts here or keep a stable hashed key in Sales Transactions.</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CD-014</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Dormant and restricted are account statuses here; the escheatment workflow and its statuses stay in Investor Servicing and update them by request.</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Hold a boundary workshop with the party, transactions, servicing and plan administration domains to confirm the splits and the 68 CDEs</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Map attributes to the transfer agent layout, Networking files, sub-accounting feeds, the recordkeeper and CRM; record the system of record</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Confirm networking level definitions and account identifier schemes with the transfer agent and update the shared Networking Level list</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Have Fund Tax review the tax certification and reporting status objects, and the Data Protection Officer the personal data and masking rules</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Replace illustrative code lists with client values and agree the participant account status list with Retirement Plan Administration</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 taxonomy walkthrough</dc:title>
  <dc:subject>PptxGenJS Presentation</dc:subject>
  <dc:creator>Distribution Data Taxonomy Program</dc:creator>
  <cp:lastModifiedBy>Distribution Data Taxonomy Program</cp:lastModifiedBy>
  <cp:revision>1</cp:revision>
  <dcterms:created xsi:type="dcterms:W3CDTF">2026-10-06T08:48:26Z</dcterms:created>
  <dcterms:modified xsi:type="dcterms:W3CDTF">2026-10-06T08:48:26Z</dcterms:modified>
</cp:coreProperties>
</file>