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36a757bc-a807-5d82-714c-c46fe50dbeb0}">
          <p14:sldIdLst>
            <p14:sldId id="256"/>
            <p14:sldId id="257"/>
            <p14:sldId id="258"/>
            <p14:sldId id="259"/>
          </p14:sldIdLst>
        </p14:section>
        <p14:section name="What is included" id="{c40226dd-9eec-7496-1c20-7dc227ed6b02}">
          <p14:sldIdLst>
            <p14:sldId id="260"/>
            <p14:sldId id="261"/>
            <p14:sldId id="262"/>
            <p14:sldId id="263"/>
            <p14:sldId id="264"/>
          </p14:sldIdLst>
        </p14:section>
        <p14:section name="What is excluded" id="{3e8775c1-7739-2c02-2f1a-5bfb288dd0e3}">
          <p14:sldIdLst>
            <p14:sldId id="265"/>
            <p14:sldId id="266"/>
            <p14:sldId id="267"/>
          </p14:sldIdLst>
        </p14:section>
        <p14:section name="How it is used" id="{1f99ef2e-cabf-b069-e5aa-6539d13b5dd5}">
          <p14:sldIdLst>
            <p14:sldId id="268"/>
            <p14:sldId id="269"/>
          </p14:sldIdLst>
        </p14:section>
        <p14:section name="Data products" id="{9058b1a1-248d-887e-d6f1-50a6f957db92}">
          <p14:sldIdLst>
            <p14:sldId id="270"/>
            <p14:sldId id="271"/>
            <p14:sldId id="272"/>
            <p14:sldId id="273"/>
          </p14:sldIdLst>
        </p14:section>
        <p14:section name="Next steps" id="{28cdb45e-e8e6-7c21-f15a-e7a69248047a}">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Attributes by primary reference standard</a:t>
            </a:r>
          </a:p>
        </c:rich>
      </c:tx>
      <c:layout/>
      <c:overlay val="0"/>
    </c:title>
    <c:autoTitleDeleted val="0"/>
    <c:plotArea>
      <c:layout/>
      <c:barChart>
        <c:barDir val="bar"/>
        <c:grouping val="clustered"/>
        <c:varyColors val="0"/>
        <c:ser>
          <c:idx val="0"/>
          <c:order val="0"/>
          <c:tx>
            <c:strRef>
              <c:f>Sheet1!$B$1</c:f>
              <c:strCache>
                <c:ptCount val="1"/>
                <c:pt idx="0">
                  <c:v>Attributes by primary reference standard</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Sheet1!$A$2:$A$9</c:f>
              <c:multiLvlStrCache>
                <c:ptCount val="8"/>
                <c:lvl>
                  <c:pt idx="0">
                    <c:v>Internal (firm-defined)</c:v>
                  </c:pt>
                  <c:pt idx="1">
                    <c:v>FINRA (CRD, Form BR)</c:v>
                  </c:pt>
                  <c:pt idx="2">
                    <c:v>Salesforce FSC</c:v>
                  </c:pt>
                  <c:pt idx="3">
                    <c:v>GDPR (EU and UK)</c:v>
                  </c:pt>
                  <c:pt idx="4">
                    <c:v>SEC (Form ADV, EDGAR)</c:v>
                  </c:pt>
                  <c:pt idx="5">
                    <c:v>DOL Form 5500</c:v>
                  </c:pt>
                  <c:pt idx="6">
                    <c:v>GLEIF LEI</c:v>
                  </c:pt>
                  <c:pt idx="7">
                    <c:v>Other standards and regulation</c:v>
                  </c:pt>
                </c:lvl>
              </c:multiLvlStrCache>
            </c:multiLvlStrRef>
          </c:cat>
          <c:val>
            <c:numRef>
              <c:f>Sheet1!$B$2:$B$9</c:f>
              <c:numCache>
                <c:formatCode>General</c:formatCode>
                <c:ptCount val="8"/>
                <c:pt idx="0">
                  <c:v>129</c:v>
                </c:pt>
                <c:pt idx="1">
                  <c:v>18</c:v>
                </c:pt>
                <c:pt idx="2">
                  <c:v>13</c:v>
                </c:pt>
                <c:pt idx="3">
                  <c:v>17</c:v>
                </c:pt>
                <c:pt idx="4">
                  <c:v>15</c:v>
                </c:pt>
                <c:pt idx="5">
                  <c:v>13</c:v>
                </c:pt>
                <c:pt idx="6">
                  <c:v>12</c:v>
                </c:pt>
                <c:pt idx="7">
                  <c:v>69</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Products reading each object (top 5 of 51)</a:t>
            </a:r>
          </a:p>
        </c:rich>
      </c:tx>
      <c:layout/>
      <c:overlay val="0"/>
    </c:title>
    <c:autoTitleDeleted val="0"/>
    <c:plotArea>
      <c:layout/>
      <c:barChart>
        <c:barDir val="bar"/>
        <c:grouping val="clustered"/>
        <c:varyColors val="0"/>
        <c:ser>
          <c:idx val="0"/>
          <c:order val="0"/>
          <c:tx>
            <c:strRef>
              <c:f>Sheet1!$B$1</c:f>
              <c:strCache>
                <c:ptCount val="1"/>
                <c:pt idx="0">
                  <c:v>Products reading each object (top 5 of 51)</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Sheet1!$A$2:$A$6</c:f>
              <c:multiLvlStrCache>
                <c:ptCount val="5"/>
                <c:lvl>
                  <c:pt idx="0">
                    <c:v>Party</c:v>
                  </c:pt>
                  <c:pt idx="1">
                    <c:v>Distributor Firm</c:v>
                  </c:pt>
                  <c:pt idx="2">
                    <c:v>Employment Affiliation</c:v>
                  </c:pt>
                  <c:pt idx="3">
                    <c:v>Financial Professional</c:v>
                  </c:pt>
                  <c:pt idx="4">
                    <c:v>Privacy Profile</c:v>
                  </c:pt>
                </c:lvl>
              </c:multiLvlStrCache>
            </c:multiLvlStrRef>
          </c:cat>
          <c:val>
            <c:numRef>
              <c:f>Sheet1!$B$2:$B$6</c:f>
              <c:numCache>
                <c:formatCode>General</c:formatCode>
                <c:ptCount val="5"/>
                <c:pt idx="0">
                  <c:v>24</c:v>
                </c:pt>
                <c:pt idx="1">
                  <c:v>9</c:v>
                </c:pt>
                <c:pt idx="2">
                  <c:v>8</c:v>
                </c:pt>
                <c:pt idx="3">
                  <c:v>6</c:v>
                </c:pt>
                <c:pt idx="4">
                  <c:v>6</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the Client &amp; Customer data domain. It answers four questions: what is in the domain, what is deliberately left out, how the taxonomy is used, and which data products it helps define. All counts come from the current drafts of the taxonomy, the data product specifications and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short version. Client &amp; Customer is the party master. It describes every external organization and individual the firm deals with, the roles they play, how they are related, and the records that govern how the firm may engage them. What those parties buy, the accounts they hold, and what the firm does with them, is left to the owning domain and referenced by ID. 39 of the 96 specified data products read the domain directly, and 92 of the other 95 depend on its foundational hierarchy product, DP-001, directly or indirectly.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has four levels: data domain, data family, business object and attribute. Client &amp; Customer is one of 16 domains. The purple text shows the path to one attribute, Employing Firm, which we follow to an answer near the end of the deck. For every attribute the taxonomy records its meaning and its owner. It does not hold data values or system field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spine of the domain is party, role and relationship. A party is one real-world external organization or individual, recorded once. What the party is to the firm is recorded as effective-dated roles, in three broad groups: intermediaries, institutional and retirement clients, and end investors. Parties are linked to each other by relationships. Every party also carries the privacy, preference and restriction records that govern how the firm may engage it. The accounts a party holds or services are mastered in Account and point back to the party by ID. Because roles and relationships are dated, history such as an advisor changing firm can be rebuilt.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has 12 data families. For this walkthrough they are grouped in three: the spine, which is party and relationship; who the parties are; and how the firm reaches them and may engage them. The three-way grouping is a presentation aid and is not a level in the taxonomy. The next three slides take each group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spine families hold 55 attributes. Party Master is the golden record for every external organization and individual, with the legal-entity tree above an organization and the roles each party plays. Party Relationships records the dated links between parties: household and team membership, which consultant advises which client, and who services a retirement plan. The accounts through which products are held moved to the Account domain in October 2026 and reference the party. Business objects, in bold, have their own key. Attribute groups are sets of attributes held on their parent.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families, 113 attributes. Party Identifiers holds the public and vendor identifiers used to recognize and match a party: LEI, CRD, FCA reference numbers, SEC file numbers and dealer numbers. Intermediary Firm and Hierarchy holds distributor firms and the hierarchy from firm through home office, branch and team. The hierarchy is multi-typed: regulatory, firm operational, vendor and the firm's own coverage view are kept side by side. Financial Professional and Practice holds each advisor, the practice profile and the employment history, so an advisor changing firm is a first-class event. Institutional and Retirement Clients holds asset owners, consultants, plans and recordkeepers. End Investor and Household holds investors behind intermediaries on a look-through basis, with minimum data: a pseudonymized key, an age band and a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families, 118 attributes. Classification and Segmentation holds regulatory client categories such as the MiFID category, the firm's own segments and vendor classifications. Contact Points holds addresses, emails, phones and digital profiles and how each is used. Client Onboarding and KYC covers clients only; due diligence on distributors belongs to Distribution Compliance. Privacy, Consent and Data Governance holds the lawful basis for each processing purpose, the consent that evidences it, data subject requests and retention. Client Preferences and Restrictions is the largest family in the domain. It moved here from Marketing in version 0.3, so that every domain sees one view of how a client wants to be engaged and what restrictions apply.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attribute definition names the standard or source it is aligned to. 157 of the 286 attributes, 55 percent, align to an external standard, register, regulation or industry data model. The regulatory registers, FINRA CRD and SEC Form ADV, and GDPR are the largest external sources. 129 attributes are firm-defined because no authoritative external definition exists; that is higher than in the product domain because segmentation, preferences and restrictions are firm-specific. 99 attributes take their values from a controlled code list. 68 attributes are flagged as personal data. Vendor references show where data is usually sourced; vendor schemas are licensed and were not reproduced.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 &amp; Customer says who a party is and how the firm may engage them. It deliberately leaves out what they bought, who covers them and what the firm has agreed with them. This table shows where each excluded subject lives and the small amount Client &amp; Customer keeps so that it can point to it. Three boundaries are worth calling out. Accounts, the roles parties play on them and account restrictions moved to the Account domain in October 2026; this domain keeps the party and references the account by ID. KYC of clients is here, but due diligence on distributors is in Distribution Compliance. Registrations of external advisors are here, but licenses of the firm's own sales staff are in Distribution Compliance.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attribute carries an ownership flag. 281 of the 286 are mastered in Client &amp; Customer. 4 are references, which hold only the ID of a record mastered in another domain. 1 is a derived copy. The traffic is far heavier in the other direction: 217 attributes across all 15 other domains reference a party mastered here, led by Sales Transactions and AUM Attribution with 29, Retirement Plan Administration with 25 and Account with 21. That asymmetry is what makes this a master domain. Record Metadata, the governance attributes such as data owner and system of record, is excluded from every taxonomy view and documented separately by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Specifying and modeling the data products surfaced 30 gaps against Client &amp; Customer. Nine are resolved. Twenty-one are open: 20 proposed and waiting for a decision, and one partly resolved. Six are high priority, seven medium and eight low. The slide shows the six high-priority gaps and the first medium one. The first three are the same kind of problem: a child object that does not name the party or account it belongs to. The next three are modeling decisions for the foundational products. Each gap has a proposed resolution and a decision owner in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is used in four ways. First, it is the target that every party source is mapped to: CRM, the regulatory registers, vendor advisor data, transfer agent files and the KYC and consent tools. That mapping to the firm's actual systems is Phase D and has not been done. Second, it is the bill of materials for data products: each product lists the exact attributes it uses, and the build fails if one does not exist. Third, firm, office, team, advisor, institutional client, consultant, recordkeeper and plan are published once as shared dimensions in the semantic layer. Fourth, the ownership flags, the 88 proposed critical data elements and the personal data flags tell stewards where to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the product domain has one foundational product, this domain has three, one for each kind of party. DP-001, Distributor Hierarchy, conforms firm identifiers and channel codes once, so that attribution, coverage, crediting and partner payments all roll up the same way. DP-002, Financial Professional Profile, resolves vendor, CRM and regulatory register records into one person. DP-003 gives institutional, consultant relations, DCIO and client service teams one view of who the client is and who influences its decisions. All three refresh daily by 6am Eastern and keep history. 66 other products name DP-001 as a direct upstream, and 92 of the other 95 depend on it directly or indirectly.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 of the 96 specified data products list Client &amp; Customer objects among their inputs: 6 foundational and 33 consumer-aligned. Every one of the 51 objects is used by at least one product, and 269 of the 286 attributes, 94 percent, appear in a product specification. Party is by far the most used object, read by 24 products, followed by Distributor Firm and Employment Affiliation. Regulatory and control products are the largest group, which reflects how much of compliance, privacy and surveillance depends on knowing exactly who a party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data products have Client &amp; Customer as their owning domain. The first three are the foundational products. The other four are consumer-aligned. Advisor Movement and Breakaway Alerts tells wholesalers within days that an advisor has moved, with the assets at stake. Retirement Plan Prospecting gives DCIO wholesalers a scored list of plans. Client Restrictions and KYC Status is the single eligibility list that marketing and sales products read instead of re-deriving restrictions. Data Subject Rights and Retention is the Data Protection Officer's evidence that privacy rights were honored. The bar on the right shows how many of each product's input attributes come from Client &amp; Customer. The rest come from other domains, for example positions from Sales Transactions &amp; AUM Attribution or plan market data from Market &amp; Competitive Intelligence.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further 32 products are owned by other domains but read Client &amp; Customer attributes directly. They are grouped here by the business function they serve. Field sales and sales operations is the largest group, led by Advisor 360, which takes 44 attributes. Marketing Audience and Consent takes 43, mostly consent, lawful basis, preferences and restrictions. The foundational products of the new Account and Retirement Plan Administration domains read the party and the retirement plan from here. Beyond these, 54 more products take firms, advisors and clients only through the three foundational products, without reading the domain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this concrete, follow one attribute. Employing Firm is defined once in Client &amp; Customer, in the Employment Affiliation object, with a start date, a change reason and the date a move was detected. DP-002 resolves register, vendor and CRM records into one advisor and publishes the Recent Move Flag. DP-017, Advisor 360, shows the move beside the advisor's holdings and coverage, and DP-048 raises a breakaway alert. The semantic model SM-00 publishes advisor and advisor affiliation as shared dimensions. The same definition then answers the wholesaler's question in CRM or through an AI assistant. Note the boundary: who covers the advisor is mastered in Compensation &amp; Territory. Client &amp; Customer supplies who the advisor is and where they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decisions shape the domain and are still open. The most important is which distributor hierarchy is the system of record for attribution and coverage; the recommendation is the firm-defined coverage hierarchy, built from CRD plus one licensed vendor. The second is who owns rep codes and the crosswalk that matches them. The third is whether UK and EU platform nominee accounts need their own account type. The fourth is how to key UK pension schemes. The next steps on the right come from the taxonomy's own plan: validate with the business, map to source systems in Phase D, confirm transfer agent conventions, have the Data Protection Officer review the personal data, and triage the open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C233C"/>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rtlCol="0"/>
          <a:lstStyle>
            <a:lvl1pPr indent="0" marL="0">
              <a:buNone/>
              <a:defRPr lang="en-US" sz="1200" b="1" spc="150" kern="0" dirty="0">
                <a:solidFill>
                  <a:schemeClr val="accent6"/>
                </a:solidFill>
              </a:defRPr>
            </a:lvl1pPr>
          </a:lstStyle>
          <a:p>
            <a:pPr indent="0" marL="0">
              <a:buNone/>
            </a:pP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3977640"/>
            <a:ext cx="6400800" cy="100584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
        <p:nvSpPr>
          <p:cNvPr id="5" name="Text 0"/>
          <p:cNvSpPr/>
          <p:nvPr/>
        </p:nvSpPr>
        <p:spPr>
          <a:xfrm>
            <a:off x="548640" y="6035040"/>
            <a:ext cx="8229600" cy="274320"/>
          </a:xfrm>
          <a:prstGeom prst="rect">
            <a:avLst/>
          </a:prstGeom>
          <a:noFill/>
          <a:ln/>
        </p:spPr>
        <p:txBody>
          <a:bodyPr wrap="square" lIns="0" tIns="0" rIns="0" bIns="0" rtlCol="0" anchor="ctr"/>
          <a:lstStyle/>
          <a:p>
            <a:pPr indent="0" marL="0">
              <a:buNone/>
            </a:pPr>
            <a:r>
              <a:rPr lang="en-US" sz="1200" dirty="0">
                <a:solidFill>
                  <a:schemeClr val="accent6"/>
                </a:solidFill>
              </a:rPr>
              <a:t>Distribution Data Taxonomy Program  |  Draft, October 2026  |  Counts are taken from the current drafts</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rtlCol="0"/>
          <a:lstStyle>
            <a:lvl1pPr indent="0" marL="0">
              <a:buNone/>
              <a:defRPr lang="en-US" sz="1200" b="1" spc="15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Client &amp; Customer taxonomy walkthrough  |  Draft, October 2026</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lIns="0" tIns="0" rIns="0" bIns="0" rtlCol="0" anchor="ctr"/>
          <a:lstStyle/>
          <a:p>
            <a:pPr indent="0" marL="0">
              <a:buNone/>
            </a:pPr>
            <a:r>
              <a:rPr lang="en-US" sz="1200" b="1" spc="150" kern="0" dirty="0">
                <a:solidFill>
                  <a:schemeClr val="accent6"/>
                </a:solidFill>
              </a:rPr>
              <a:t>DATA DOMAIN  |  CLIENT &amp; CUSTOMER</a:t>
            </a: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lIns="0" tIns="0" rIns="0" bIns="0" rtlCol="0" anchor="t"/>
          <a:lstStyle/>
          <a:p>
            <a:pPr algn="l" indent="0" marL="0">
              <a:buNone/>
            </a:pPr>
            <a:r>
              <a:rPr lang="en-US" sz="4400" b="1" dirty="0">
                <a:solidFill>
                  <a:schemeClr val="bg1"/>
                </a:solidFill>
              </a:rPr>
              <a:t>The Client &amp; Customer taxonomy: a walkthrough</a:t>
            </a:r>
            <a:endParaRPr lang="en-US" sz="4400" dirty="0"/>
          </a:p>
        </p:txBody>
      </p:sp>
      <p:sp>
        <p:nvSpPr>
          <p:cNvPr id="4" name="Text 0"/>
          <p:cNvSpPr/>
          <p:nvPr>
            <p:ph idx="102" type="body" hasCustomPrompt="1"/>
          </p:nvPr>
        </p:nvSpPr>
        <p:spPr>
          <a:xfrm>
            <a:off x="548640" y="3977640"/>
            <a:ext cx="6400800" cy="1005840"/>
          </a:xfrm>
          <a:prstGeom prst="rect">
            <a:avLst/>
          </a:prstGeom>
          <a:noFill/>
          <a:ln/>
        </p:spPr>
        <p:txBody>
          <a:bodyPr wrap="square" lIns="0" tIns="0" rIns="0" bIns="0" rtlCol="0" anchor="t"/>
          <a:lstStyle/>
          <a:p>
            <a:pPr indent="0" marL="0">
              <a:buNone/>
            </a:pPr>
            <a:r>
              <a:rPr lang="en-US" sz="1800" dirty="0">
                <a:solidFill>
                  <a:schemeClr val="bg1"/>
                </a:solidFill>
              </a:rPr>
              <a:t>What the domain includes, what it leaves out, how it is used, and the data products it helps define</a:t>
            </a:r>
            <a:endParaRPr lang="en-US" sz="1800" dirty="0"/>
          </a:p>
        </p:txBody>
      </p:sp>
      <p:sp>
        <p:nvSpPr>
          <p:cNvPr id="5" name="Shape 3"/>
          <p:cNvSpPr/>
          <p:nvPr/>
        </p:nvSpPr>
        <p:spPr>
          <a:xfrm>
            <a:off x="8138160" y="1554480"/>
            <a:ext cx="3291840" cy="960120"/>
          </a:xfrm>
          <a:prstGeom prst="roundRect">
            <a:avLst>
              <a:gd name="adj" fmla="val 7619"/>
            </a:avLst>
          </a:prstGeom>
          <a:solidFill>
            <a:schemeClr val="accent1"/>
          </a:solidFill>
          <a:ln/>
        </p:spPr>
      </p:sp>
      <p:sp>
        <p:nvSpPr>
          <p:cNvPr id="6" name="Text 4"/>
          <p:cNvSpPr txBox="1"/>
          <p:nvPr/>
        </p:nvSpPr>
        <p:spPr>
          <a:xfrm>
            <a:off x="8412480" y="17190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Party</a:t>
            </a:r>
            <a:endParaRPr lang="en-US" sz="1800" dirty="0"/>
          </a:p>
        </p:txBody>
      </p:sp>
      <p:sp>
        <p:nvSpPr>
          <p:cNvPr id="7" name="Text 5"/>
          <p:cNvSpPr txBox="1"/>
          <p:nvPr/>
        </p:nvSpPr>
        <p:spPr>
          <a:xfrm>
            <a:off x="8412480" y="20665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Who we deal with</a:t>
            </a:r>
            <a:endParaRPr lang="en-US" sz="1300" dirty="0"/>
          </a:p>
        </p:txBody>
      </p:sp>
      <p:sp>
        <p:nvSpPr>
          <p:cNvPr id="8" name="Shape 6"/>
          <p:cNvSpPr/>
          <p:nvPr/>
        </p:nvSpPr>
        <p:spPr>
          <a:xfrm>
            <a:off x="9784080" y="2514600"/>
            <a:ext cx="0" cy="411480"/>
          </a:xfrm>
          <a:prstGeom prst="line">
            <a:avLst/>
          </a:prstGeom>
          <a:noFill/>
          <a:ln w="19050">
            <a:solidFill>
              <a:schemeClr val="accent6"/>
            </a:solidFill>
            <a:prstDash val="solid"/>
            <a:tailEnd type="triangle"/>
          </a:ln>
        </p:spPr>
      </p:sp>
      <p:sp>
        <p:nvSpPr>
          <p:cNvPr id="9" name="Shape 7"/>
          <p:cNvSpPr/>
          <p:nvPr/>
        </p:nvSpPr>
        <p:spPr>
          <a:xfrm>
            <a:off x="8138160" y="2926080"/>
            <a:ext cx="3291840" cy="960120"/>
          </a:xfrm>
          <a:prstGeom prst="roundRect">
            <a:avLst>
              <a:gd name="adj" fmla="val 7619"/>
            </a:avLst>
          </a:prstGeom>
          <a:solidFill>
            <a:schemeClr val="accent2"/>
          </a:solidFill>
          <a:ln/>
        </p:spPr>
      </p:sp>
      <p:sp>
        <p:nvSpPr>
          <p:cNvPr id="10" name="Text 8"/>
          <p:cNvSpPr txBox="1"/>
          <p:nvPr/>
        </p:nvSpPr>
        <p:spPr>
          <a:xfrm>
            <a:off x="8412480" y="30906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Party Role</a:t>
            </a:r>
            <a:endParaRPr lang="en-US" sz="1800" dirty="0"/>
          </a:p>
        </p:txBody>
      </p:sp>
      <p:sp>
        <p:nvSpPr>
          <p:cNvPr id="11" name="Text 9"/>
          <p:cNvSpPr txBox="1"/>
          <p:nvPr/>
        </p:nvSpPr>
        <p:spPr>
          <a:xfrm>
            <a:off x="8412480" y="34381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What they are to us</a:t>
            </a:r>
            <a:endParaRPr lang="en-US" sz="1300" dirty="0"/>
          </a:p>
        </p:txBody>
      </p:sp>
      <p:sp>
        <p:nvSpPr>
          <p:cNvPr id="12" name="Shape 10"/>
          <p:cNvSpPr/>
          <p:nvPr/>
        </p:nvSpPr>
        <p:spPr>
          <a:xfrm>
            <a:off x="9784080" y="3886200"/>
            <a:ext cx="0" cy="411480"/>
          </a:xfrm>
          <a:prstGeom prst="line">
            <a:avLst/>
          </a:prstGeom>
          <a:noFill/>
          <a:ln w="19050">
            <a:solidFill>
              <a:schemeClr val="accent6"/>
            </a:solidFill>
            <a:prstDash val="solid"/>
            <a:tailEnd type="triangle"/>
          </a:ln>
        </p:spPr>
      </p:sp>
      <p:sp>
        <p:nvSpPr>
          <p:cNvPr id="13" name="Shape 11"/>
          <p:cNvSpPr/>
          <p:nvPr/>
        </p:nvSpPr>
        <p:spPr>
          <a:xfrm>
            <a:off x="8138160" y="4297680"/>
            <a:ext cx="3291840" cy="960120"/>
          </a:xfrm>
          <a:prstGeom prst="roundRect">
            <a:avLst>
              <a:gd name="adj" fmla="val 7619"/>
            </a:avLst>
          </a:prstGeom>
          <a:solidFill>
            <a:schemeClr val="accent4"/>
          </a:solidFill>
          <a:ln/>
        </p:spPr>
      </p:sp>
      <p:sp>
        <p:nvSpPr>
          <p:cNvPr id="14" name="Text 12"/>
          <p:cNvSpPr txBox="1"/>
          <p:nvPr/>
        </p:nvSpPr>
        <p:spPr>
          <a:xfrm>
            <a:off x="8412480" y="44622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Preferences</a:t>
            </a:r>
            <a:endParaRPr lang="en-US" sz="1800" dirty="0"/>
          </a:p>
        </p:txBody>
      </p:sp>
      <p:sp>
        <p:nvSpPr>
          <p:cNvPr id="15" name="Text 13"/>
          <p:cNvSpPr txBox="1"/>
          <p:nvPr/>
        </p:nvSpPr>
        <p:spPr>
          <a:xfrm>
            <a:off x="8412480" y="48097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How we may engage them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SUMMARY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This domain defines who we deal with, once</a:t>
            </a:r>
            <a:endParaRPr lang="en-US" sz="3600" dirty="0"/>
          </a:p>
        </p:txBody>
      </p:sp>
      <p:sp>
        <p:nvSpPr>
          <p:cNvPr id="5" name="Shape 2"/>
          <p:cNvSpPr/>
          <p:nvPr/>
        </p:nvSpPr>
        <p:spPr>
          <a:xfrm>
            <a:off x="548640" y="1783080"/>
            <a:ext cx="2651760" cy="4434840"/>
          </a:xfrm>
          <a:prstGeom prst="roundRect">
            <a:avLst>
              <a:gd name="adj" fmla="val 2759"/>
            </a:avLst>
          </a:prstGeom>
          <a:solidFill>
            <a:schemeClr val="tx1"/>
          </a:solidFill>
          <a:ln/>
        </p:spPr>
      </p:sp>
      <p:sp>
        <p:nvSpPr>
          <p:cNvPr id="6" name="Text 3"/>
          <p:cNvSpPr txBox="1"/>
          <p:nvPr/>
        </p:nvSpPr>
        <p:spPr>
          <a:xfrm>
            <a:off x="822960" y="2011680"/>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12</a:t>
            </a:r>
            <a:endParaRPr lang="en-US" sz="3600" dirty="0"/>
          </a:p>
        </p:txBody>
      </p:sp>
      <p:sp>
        <p:nvSpPr>
          <p:cNvPr id="7" name="Text 4"/>
          <p:cNvSpPr txBox="1"/>
          <p:nvPr/>
        </p:nvSpPr>
        <p:spPr>
          <a:xfrm>
            <a:off x="822960" y="2560320"/>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data families</a:t>
            </a:r>
            <a:endParaRPr lang="en-US" sz="1300" dirty="0"/>
          </a:p>
        </p:txBody>
      </p:sp>
      <p:sp>
        <p:nvSpPr>
          <p:cNvPr id="8" name="Text 5"/>
          <p:cNvSpPr txBox="1"/>
          <p:nvPr/>
        </p:nvSpPr>
        <p:spPr>
          <a:xfrm>
            <a:off x="822960" y="3044952"/>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51</a:t>
            </a:r>
            <a:endParaRPr lang="en-US" sz="3600" dirty="0"/>
          </a:p>
        </p:txBody>
      </p:sp>
      <p:sp>
        <p:nvSpPr>
          <p:cNvPr id="9" name="Text 6"/>
          <p:cNvSpPr txBox="1"/>
          <p:nvPr/>
        </p:nvSpPr>
        <p:spPr>
          <a:xfrm>
            <a:off x="822960" y="3593592"/>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objects</a:t>
            </a:r>
            <a:endParaRPr lang="en-US" sz="1300" dirty="0"/>
          </a:p>
        </p:txBody>
      </p:sp>
      <p:sp>
        <p:nvSpPr>
          <p:cNvPr id="10" name="Text 7"/>
          <p:cNvSpPr txBox="1"/>
          <p:nvPr/>
        </p:nvSpPr>
        <p:spPr>
          <a:xfrm>
            <a:off x="822960" y="4078224"/>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286</a:t>
            </a:r>
            <a:endParaRPr lang="en-US" sz="3600" dirty="0"/>
          </a:p>
        </p:txBody>
      </p:sp>
      <p:sp>
        <p:nvSpPr>
          <p:cNvPr id="11" name="Text 8"/>
          <p:cNvSpPr txBox="1"/>
          <p:nvPr/>
        </p:nvSpPr>
        <p:spPr>
          <a:xfrm>
            <a:off x="822960" y="4626864"/>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attributes</a:t>
            </a:r>
            <a:endParaRPr lang="en-US" sz="1300" dirty="0"/>
          </a:p>
        </p:txBody>
      </p:sp>
      <p:sp>
        <p:nvSpPr>
          <p:cNvPr id="12" name="Text 9"/>
          <p:cNvSpPr txBox="1"/>
          <p:nvPr/>
        </p:nvSpPr>
        <p:spPr>
          <a:xfrm>
            <a:off x="822960" y="5111496"/>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88</a:t>
            </a:r>
            <a:endParaRPr lang="en-US" sz="3600" dirty="0"/>
          </a:p>
        </p:txBody>
      </p:sp>
      <p:sp>
        <p:nvSpPr>
          <p:cNvPr id="13" name="Text 10"/>
          <p:cNvSpPr txBox="1"/>
          <p:nvPr/>
        </p:nvSpPr>
        <p:spPr>
          <a:xfrm>
            <a:off x="822960" y="5660136"/>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proposed critical data elements</a:t>
            </a:r>
            <a:endParaRPr lang="en-US" sz="1300" dirty="0"/>
          </a:p>
        </p:txBody>
      </p:sp>
      <p:sp>
        <p:nvSpPr>
          <p:cNvPr id="14" name="Shape 11"/>
          <p:cNvSpPr/>
          <p:nvPr/>
        </p:nvSpPr>
        <p:spPr>
          <a:xfrm>
            <a:off x="3474720" y="1783080"/>
            <a:ext cx="3945636" cy="2080260"/>
          </a:xfrm>
          <a:prstGeom prst="roundRect">
            <a:avLst>
              <a:gd name="adj" fmla="val 3516"/>
            </a:avLst>
          </a:prstGeom>
          <a:solidFill>
            <a:schemeClr val="bg2"/>
          </a:solidFill>
          <a:ln/>
        </p:spPr>
      </p:sp>
      <p:sp>
        <p:nvSpPr>
          <p:cNvPr id="15" name="Text 12"/>
          <p:cNvSpPr/>
          <p:nvPr/>
        </p:nvSpPr>
        <p:spPr>
          <a:xfrm>
            <a:off x="3703320" y="201168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6" name="Text 13"/>
          <p:cNvSpPr txBox="1"/>
          <p:nvPr/>
        </p:nvSpPr>
        <p:spPr>
          <a:xfrm>
            <a:off x="4224528"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included</a:t>
            </a:r>
            <a:endParaRPr lang="en-US" sz="1600" dirty="0"/>
          </a:p>
        </p:txBody>
      </p:sp>
      <p:sp>
        <p:nvSpPr>
          <p:cNvPr id="17" name="Text 14"/>
          <p:cNvSpPr txBox="1"/>
          <p:nvPr/>
        </p:nvSpPr>
        <p:spPr>
          <a:xfrm>
            <a:off x="3703320"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Every external organization and individual, the roles they play, their relationships, and the identifiers, classifications, contact points, KYC, privacy and preference records attached to them.</a:t>
            </a:r>
            <a:endParaRPr lang="en-US" sz="1300" dirty="0"/>
          </a:p>
        </p:txBody>
      </p:sp>
      <p:sp>
        <p:nvSpPr>
          <p:cNvPr id="18" name="Shape 15"/>
          <p:cNvSpPr/>
          <p:nvPr/>
        </p:nvSpPr>
        <p:spPr>
          <a:xfrm>
            <a:off x="7694676" y="1783080"/>
            <a:ext cx="3945636" cy="2080260"/>
          </a:xfrm>
          <a:prstGeom prst="roundRect">
            <a:avLst>
              <a:gd name="adj" fmla="val 3516"/>
            </a:avLst>
          </a:prstGeom>
          <a:solidFill>
            <a:schemeClr val="bg2"/>
          </a:solidFill>
          <a:ln/>
        </p:spPr>
      </p:sp>
      <p:sp>
        <p:nvSpPr>
          <p:cNvPr id="19" name="Text 16"/>
          <p:cNvSpPr/>
          <p:nvPr/>
        </p:nvSpPr>
        <p:spPr>
          <a:xfrm>
            <a:off x="7923276" y="2011680"/>
            <a:ext cx="384048" cy="384048"/>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0" name="Text 17"/>
          <p:cNvSpPr txBox="1"/>
          <p:nvPr/>
        </p:nvSpPr>
        <p:spPr>
          <a:xfrm>
            <a:off x="8444484"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excluded</a:t>
            </a:r>
            <a:endParaRPr lang="en-US" sz="1600" dirty="0"/>
          </a:p>
        </p:txBody>
      </p:sp>
      <p:sp>
        <p:nvSpPr>
          <p:cNvPr id="21" name="Text 18"/>
          <p:cNvSpPr txBox="1"/>
          <p:nvPr/>
        </p:nvSpPr>
        <p:spPr>
          <a:xfrm>
            <a:off x="7923276"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What parties buy, hold and do with us: products, accounts, transactions and AUM, agreements, sales activity, campaigns, coverage and crediting, and due diligence on distributors.</a:t>
            </a:r>
            <a:endParaRPr lang="en-US" sz="1300" dirty="0"/>
          </a:p>
        </p:txBody>
      </p:sp>
      <p:sp>
        <p:nvSpPr>
          <p:cNvPr id="22" name="Shape 19"/>
          <p:cNvSpPr/>
          <p:nvPr/>
        </p:nvSpPr>
        <p:spPr>
          <a:xfrm>
            <a:off x="3474720" y="4137660"/>
            <a:ext cx="3945636" cy="2080260"/>
          </a:xfrm>
          <a:prstGeom prst="roundRect">
            <a:avLst>
              <a:gd name="adj" fmla="val 3516"/>
            </a:avLst>
          </a:prstGeom>
          <a:solidFill>
            <a:schemeClr val="bg2"/>
          </a:solidFill>
          <a:ln/>
        </p:spPr>
      </p:sp>
      <p:sp>
        <p:nvSpPr>
          <p:cNvPr id="23" name="Text 20"/>
          <p:cNvSpPr/>
          <p:nvPr/>
        </p:nvSpPr>
        <p:spPr>
          <a:xfrm>
            <a:off x="3703320" y="4366260"/>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21"/>
          <p:cNvSpPr txBox="1"/>
          <p:nvPr/>
        </p:nvSpPr>
        <p:spPr>
          <a:xfrm>
            <a:off x="4224528"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How it is used</a:t>
            </a:r>
            <a:endParaRPr lang="en-US" sz="1600" dirty="0"/>
          </a:p>
        </p:txBody>
      </p:sp>
      <p:sp>
        <p:nvSpPr>
          <p:cNvPr id="25" name="Text 22"/>
          <p:cNvSpPr txBox="1"/>
          <p:nvPr/>
        </p:nvSpPr>
        <p:spPr>
          <a:xfrm>
            <a:off x="3703320"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As the mapping target for party sources, the bill of materials for data products, and the firm, advisor, client and plan dimensions that every semantic model shares.</a:t>
            </a:r>
            <a:endParaRPr lang="en-US" sz="1300" dirty="0"/>
          </a:p>
        </p:txBody>
      </p:sp>
      <p:sp>
        <p:nvSpPr>
          <p:cNvPr id="26" name="Shape 23"/>
          <p:cNvSpPr/>
          <p:nvPr/>
        </p:nvSpPr>
        <p:spPr>
          <a:xfrm>
            <a:off x="7694676" y="4137660"/>
            <a:ext cx="3945636" cy="2080260"/>
          </a:xfrm>
          <a:prstGeom prst="roundRect">
            <a:avLst>
              <a:gd name="adj" fmla="val 3516"/>
            </a:avLst>
          </a:prstGeom>
          <a:solidFill>
            <a:schemeClr val="bg2"/>
          </a:solidFill>
          <a:ln/>
        </p:spPr>
      </p:sp>
      <p:sp>
        <p:nvSpPr>
          <p:cNvPr id="27" name="Text 24"/>
          <p:cNvSpPr/>
          <p:nvPr/>
        </p:nvSpPr>
        <p:spPr>
          <a:xfrm>
            <a:off x="7923276" y="4366260"/>
            <a:ext cx="384048" cy="384048"/>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8" name="Text 25"/>
          <p:cNvSpPr txBox="1"/>
          <p:nvPr/>
        </p:nvSpPr>
        <p:spPr>
          <a:xfrm>
            <a:off x="8444484"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it helps define</a:t>
            </a:r>
            <a:endParaRPr lang="en-US" sz="1600" dirty="0"/>
          </a:p>
        </p:txBody>
      </p:sp>
      <p:sp>
        <p:nvSpPr>
          <p:cNvPr id="29" name="Text 26"/>
          <p:cNvSpPr txBox="1"/>
          <p:nvPr/>
        </p:nvSpPr>
        <p:spPr>
          <a:xfrm>
            <a:off x="7923276"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39 of the 96 data products read it directly. 92 of the other 95 depend on its foundational hierarchy product, DP-001.</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WHERE THE DOMAIN SITS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of 16 data domains, four levels deep</a:t>
            </a:r>
            <a:endParaRPr lang="en-US" sz="3600" dirty="0"/>
          </a:p>
        </p:txBody>
      </p:sp>
      <p:sp>
        <p:nvSpPr>
          <p:cNvPr id="5" name="Shape 2"/>
          <p:cNvSpPr/>
          <p:nvPr/>
        </p:nvSpPr>
        <p:spPr>
          <a:xfrm>
            <a:off x="548640" y="1783080"/>
            <a:ext cx="6126480" cy="868680"/>
          </a:xfrm>
          <a:prstGeom prst="roundRect">
            <a:avLst>
              <a:gd name="adj" fmla="val 8421"/>
            </a:avLst>
          </a:prstGeom>
          <a:solidFill>
            <a:schemeClr val="bg2"/>
          </a:solidFill>
          <a:ln/>
        </p:spPr>
      </p:sp>
      <p:sp>
        <p:nvSpPr>
          <p:cNvPr id="6" name="Text 3"/>
          <p:cNvSpPr/>
          <p:nvPr/>
        </p:nvSpPr>
        <p:spPr>
          <a:xfrm>
            <a:off x="731520" y="201168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L1</a:t>
            </a:r>
            <a:endParaRPr lang="en-US" sz="1300" dirty="0"/>
          </a:p>
        </p:txBody>
      </p:sp>
      <p:sp>
        <p:nvSpPr>
          <p:cNvPr id="7" name="Text 4"/>
          <p:cNvSpPr txBox="1"/>
          <p:nvPr/>
        </p:nvSpPr>
        <p:spPr>
          <a:xfrm>
            <a:off x="1463040" y="191109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Domain</a:t>
            </a:r>
            <a:endParaRPr lang="en-US" sz="1600" dirty="0"/>
          </a:p>
        </p:txBody>
      </p:sp>
      <p:sp>
        <p:nvSpPr>
          <p:cNvPr id="8" name="Text 5"/>
          <p:cNvSpPr txBox="1"/>
          <p:nvPr/>
        </p:nvSpPr>
        <p:spPr>
          <a:xfrm>
            <a:off x="1463040" y="224028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 of 16</a:t>
            </a:r>
            <a:endParaRPr lang="en-US" sz="1200" dirty="0"/>
          </a:p>
        </p:txBody>
      </p:sp>
      <p:sp>
        <p:nvSpPr>
          <p:cNvPr id="9" name="Text 6"/>
          <p:cNvSpPr txBox="1"/>
          <p:nvPr/>
        </p:nvSpPr>
        <p:spPr>
          <a:xfrm>
            <a:off x="3474720" y="1911096"/>
            <a:ext cx="3017520" cy="612648"/>
          </a:xfrm>
          <a:prstGeom prst="rect">
            <a:avLst/>
          </a:prstGeom>
          <a:noFill/>
          <a:ln/>
        </p:spPr>
        <p:txBody>
          <a:bodyPr wrap="square" lIns="0" tIns="0" rIns="0" bIns="0" rtlCol="0" anchor="ctr"/>
          <a:lstStyle/>
          <a:p>
            <a:pPr algn="l" indent="0" marL="0">
              <a:buNone/>
            </a:pPr>
            <a:r>
              <a:rPr lang="en-US" sz="1400" b="1" dirty="0">
                <a:solidFill>
                  <a:schemeClr val="accent2"/>
                </a:solidFill>
              </a:rPr>
              <a:t>Client &amp; Customer</a:t>
            </a:r>
            <a:endParaRPr lang="en-US" sz="1400" dirty="0"/>
          </a:p>
        </p:txBody>
      </p:sp>
      <p:sp>
        <p:nvSpPr>
          <p:cNvPr id="10" name="Shape 7"/>
          <p:cNvSpPr/>
          <p:nvPr/>
        </p:nvSpPr>
        <p:spPr>
          <a:xfrm>
            <a:off x="822960" y="2788920"/>
            <a:ext cx="5852160" cy="868680"/>
          </a:xfrm>
          <a:prstGeom prst="roundRect">
            <a:avLst>
              <a:gd name="adj" fmla="val 8421"/>
            </a:avLst>
          </a:prstGeom>
          <a:solidFill>
            <a:schemeClr val="bg2"/>
          </a:solidFill>
          <a:ln/>
        </p:spPr>
      </p:sp>
      <p:sp>
        <p:nvSpPr>
          <p:cNvPr id="11" name="Text 8"/>
          <p:cNvSpPr/>
          <p:nvPr/>
        </p:nvSpPr>
        <p:spPr>
          <a:xfrm>
            <a:off x="1005840" y="301752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L2</a:t>
            </a:r>
            <a:endParaRPr lang="en-US" sz="1300" dirty="0"/>
          </a:p>
        </p:txBody>
      </p:sp>
      <p:sp>
        <p:nvSpPr>
          <p:cNvPr id="12" name="Text 9"/>
          <p:cNvSpPr txBox="1"/>
          <p:nvPr/>
        </p:nvSpPr>
        <p:spPr>
          <a:xfrm>
            <a:off x="1737360" y="291693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Family</a:t>
            </a:r>
            <a:endParaRPr lang="en-US" sz="1600" dirty="0"/>
          </a:p>
        </p:txBody>
      </p:sp>
      <p:sp>
        <p:nvSpPr>
          <p:cNvPr id="13" name="Text 10"/>
          <p:cNvSpPr txBox="1"/>
          <p:nvPr/>
        </p:nvSpPr>
        <p:spPr>
          <a:xfrm>
            <a:off x="1737360" y="324612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12 families</a:t>
            </a:r>
            <a:endParaRPr lang="en-US" sz="1200" dirty="0"/>
          </a:p>
        </p:txBody>
      </p:sp>
      <p:sp>
        <p:nvSpPr>
          <p:cNvPr id="14" name="Text 11"/>
          <p:cNvSpPr txBox="1"/>
          <p:nvPr/>
        </p:nvSpPr>
        <p:spPr>
          <a:xfrm>
            <a:off x="3749040" y="2916936"/>
            <a:ext cx="2743200" cy="612648"/>
          </a:xfrm>
          <a:prstGeom prst="rect">
            <a:avLst/>
          </a:prstGeom>
          <a:noFill/>
          <a:ln/>
        </p:spPr>
        <p:txBody>
          <a:bodyPr wrap="square" lIns="0" tIns="0" rIns="0" bIns="0" rtlCol="0" anchor="ctr"/>
          <a:lstStyle/>
          <a:p>
            <a:pPr algn="l" indent="0" marL="0">
              <a:buNone/>
            </a:pPr>
            <a:r>
              <a:rPr lang="en-US" sz="1400" b="1" dirty="0">
                <a:solidFill>
                  <a:schemeClr val="accent2"/>
                </a:solidFill>
              </a:rPr>
              <a:t>Financial Professional &amp; Practice</a:t>
            </a:r>
            <a:endParaRPr lang="en-US" sz="1400" dirty="0"/>
          </a:p>
        </p:txBody>
      </p:sp>
      <p:sp>
        <p:nvSpPr>
          <p:cNvPr id="15" name="Shape 12"/>
          <p:cNvSpPr/>
          <p:nvPr/>
        </p:nvSpPr>
        <p:spPr>
          <a:xfrm>
            <a:off x="1097280" y="3794760"/>
            <a:ext cx="5577840" cy="868680"/>
          </a:xfrm>
          <a:prstGeom prst="roundRect">
            <a:avLst>
              <a:gd name="adj" fmla="val 8421"/>
            </a:avLst>
          </a:prstGeom>
          <a:solidFill>
            <a:schemeClr val="bg2"/>
          </a:solidFill>
          <a:ln/>
        </p:spPr>
      </p:sp>
      <p:sp>
        <p:nvSpPr>
          <p:cNvPr id="16" name="Text 13"/>
          <p:cNvSpPr/>
          <p:nvPr/>
        </p:nvSpPr>
        <p:spPr>
          <a:xfrm>
            <a:off x="1280160" y="402336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L3</a:t>
            </a:r>
            <a:endParaRPr lang="en-US" sz="1300" dirty="0"/>
          </a:p>
        </p:txBody>
      </p:sp>
      <p:sp>
        <p:nvSpPr>
          <p:cNvPr id="17" name="Text 14"/>
          <p:cNvSpPr txBox="1"/>
          <p:nvPr/>
        </p:nvSpPr>
        <p:spPr>
          <a:xfrm>
            <a:off x="2011680" y="392277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Business Object</a:t>
            </a:r>
            <a:endParaRPr lang="en-US" sz="1600" dirty="0"/>
          </a:p>
        </p:txBody>
      </p:sp>
      <p:sp>
        <p:nvSpPr>
          <p:cNvPr id="18" name="Text 15"/>
          <p:cNvSpPr txBox="1"/>
          <p:nvPr/>
        </p:nvSpPr>
        <p:spPr>
          <a:xfrm>
            <a:off x="2011680" y="425196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51 objects</a:t>
            </a:r>
            <a:endParaRPr lang="en-US" sz="1200" dirty="0"/>
          </a:p>
        </p:txBody>
      </p:sp>
      <p:sp>
        <p:nvSpPr>
          <p:cNvPr id="19" name="Text 16"/>
          <p:cNvSpPr txBox="1"/>
          <p:nvPr/>
        </p:nvSpPr>
        <p:spPr>
          <a:xfrm>
            <a:off x="4023360" y="3922776"/>
            <a:ext cx="2468880" cy="612648"/>
          </a:xfrm>
          <a:prstGeom prst="rect">
            <a:avLst/>
          </a:prstGeom>
          <a:noFill/>
          <a:ln/>
        </p:spPr>
        <p:txBody>
          <a:bodyPr wrap="square" lIns="0" tIns="0" rIns="0" bIns="0" rtlCol="0" anchor="ctr"/>
          <a:lstStyle/>
          <a:p>
            <a:pPr algn="l" indent="0" marL="0">
              <a:buNone/>
            </a:pPr>
            <a:r>
              <a:rPr lang="en-US" sz="1400" b="1" dirty="0">
                <a:solidFill>
                  <a:schemeClr val="accent2"/>
                </a:solidFill>
              </a:rPr>
              <a:t>Employment Affiliation</a:t>
            </a:r>
            <a:endParaRPr lang="en-US" sz="1400" dirty="0"/>
          </a:p>
        </p:txBody>
      </p:sp>
      <p:sp>
        <p:nvSpPr>
          <p:cNvPr id="20" name="Shape 17"/>
          <p:cNvSpPr/>
          <p:nvPr/>
        </p:nvSpPr>
        <p:spPr>
          <a:xfrm>
            <a:off x="1371600" y="4800600"/>
            <a:ext cx="5303520" cy="868680"/>
          </a:xfrm>
          <a:prstGeom prst="roundRect">
            <a:avLst>
              <a:gd name="adj" fmla="val 8421"/>
            </a:avLst>
          </a:prstGeom>
          <a:solidFill>
            <a:schemeClr val="bg2"/>
          </a:solidFill>
          <a:ln/>
        </p:spPr>
      </p:sp>
      <p:sp>
        <p:nvSpPr>
          <p:cNvPr id="21" name="Text 18"/>
          <p:cNvSpPr/>
          <p:nvPr/>
        </p:nvSpPr>
        <p:spPr>
          <a:xfrm>
            <a:off x="1554480" y="502920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L4</a:t>
            </a:r>
            <a:endParaRPr lang="en-US" sz="1300" dirty="0"/>
          </a:p>
        </p:txBody>
      </p:sp>
      <p:sp>
        <p:nvSpPr>
          <p:cNvPr id="22" name="Text 19"/>
          <p:cNvSpPr txBox="1"/>
          <p:nvPr/>
        </p:nvSpPr>
        <p:spPr>
          <a:xfrm>
            <a:off x="2286000" y="492861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Attribute</a:t>
            </a:r>
            <a:endParaRPr lang="en-US" sz="1600" dirty="0"/>
          </a:p>
        </p:txBody>
      </p:sp>
      <p:sp>
        <p:nvSpPr>
          <p:cNvPr id="23" name="Text 20"/>
          <p:cNvSpPr txBox="1"/>
          <p:nvPr/>
        </p:nvSpPr>
        <p:spPr>
          <a:xfrm>
            <a:off x="2286000" y="525780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286 attributes</a:t>
            </a:r>
            <a:endParaRPr lang="en-US" sz="1200" dirty="0"/>
          </a:p>
        </p:txBody>
      </p:sp>
      <p:sp>
        <p:nvSpPr>
          <p:cNvPr id="24" name="Text 21"/>
          <p:cNvSpPr txBox="1"/>
          <p:nvPr/>
        </p:nvSpPr>
        <p:spPr>
          <a:xfrm>
            <a:off x="4297680" y="4928616"/>
            <a:ext cx="2194560" cy="612648"/>
          </a:xfrm>
          <a:prstGeom prst="rect">
            <a:avLst/>
          </a:prstGeom>
          <a:noFill/>
          <a:ln/>
        </p:spPr>
        <p:txBody>
          <a:bodyPr wrap="square" lIns="0" tIns="0" rIns="0" bIns="0" rtlCol="0" anchor="ctr"/>
          <a:lstStyle/>
          <a:p>
            <a:pPr algn="l" indent="0" marL="0">
              <a:buNone/>
            </a:pPr>
            <a:r>
              <a:rPr lang="en-US" sz="1400" b="1" dirty="0">
                <a:solidFill>
                  <a:schemeClr val="accent2"/>
                </a:solidFill>
              </a:rPr>
              <a:t>Employing Firm</a:t>
            </a:r>
            <a:endParaRPr lang="en-US" sz="1400" dirty="0"/>
          </a:p>
        </p:txBody>
      </p:sp>
      <p:sp>
        <p:nvSpPr>
          <p:cNvPr id="25" name="Text 22"/>
          <p:cNvSpPr txBox="1"/>
          <p:nvPr/>
        </p:nvSpPr>
        <p:spPr>
          <a:xfrm>
            <a:off x="548640" y="5852160"/>
            <a:ext cx="6126480" cy="274320"/>
          </a:xfrm>
          <a:prstGeom prst="rect">
            <a:avLst/>
          </a:prstGeom>
          <a:noFill/>
          <a:ln/>
        </p:spPr>
        <p:txBody>
          <a:bodyPr wrap="square" lIns="0" tIns="0" rIns="0" bIns="0" rtlCol="0" anchor="ctr"/>
          <a:lstStyle/>
          <a:p>
            <a:pPr algn="l" indent="0" marL="0">
              <a:buNone/>
            </a:pPr>
            <a:r>
              <a:rPr lang="en-US" sz="1200" dirty="0">
                <a:solidFill>
                  <a:schemeClr val="accent2"/>
                </a:solidFill>
              </a:rPr>
              <a:t>Purple text: the path to one attribute followed later in this deck</a:t>
            </a:r>
            <a:endParaRPr lang="en-US" sz="1200" dirty="0"/>
          </a:p>
        </p:txBody>
      </p:sp>
      <p:sp>
        <p:nvSpPr>
          <p:cNvPr id="26" name="Text 23"/>
          <p:cNvSpPr txBox="1"/>
          <p:nvPr/>
        </p:nvSpPr>
        <p:spPr>
          <a:xfrm>
            <a:off x="7040880" y="1783080"/>
            <a:ext cx="457200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FOR EVERY ATTRIBUTE, IT RECORDS</a:t>
            </a:r>
            <a:endParaRPr lang="en-US" sz="1200" dirty="0"/>
          </a:p>
        </p:txBody>
      </p:sp>
      <p:sp>
        <p:nvSpPr>
          <p:cNvPr id="27" name="Text 24"/>
          <p:cNvSpPr txBox="1"/>
          <p:nvPr/>
        </p:nvSpPr>
        <p:spPr>
          <a:xfrm>
            <a:off x="7040880" y="2148840"/>
            <a:ext cx="4599432" cy="251460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One definition, with an example value</a:t>
            </a:r>
            <a:endParaRPr lang="en-US" sz="1400" dirty="0"/>
          </a:p>
          <a:p>
            <a:pPr marL="177800" indent="-177800">
              <a:spcAft>
                <a:spcPts val="700"/>
              </a:spcAft>
              <a:buSzPct val="100000"/>
              <a:buChar char="•"/>
            </a:pPr>
            <a:r>
              <a:rPr lang="en-US" sz="1400" dirty="0">
                <a:solidFill>
                  <a:schemeClr val="tx1"/>
                </a:solidFill>
              </a:rPr>
              <a:t>The data type and, where coded, the code list</a:t>
            </a:r>
            <a:endParaRPr lang="en-US" sz="1400" dirty="0"/>
          </a:p>
          <a:p>
            <a:pPr marL="177800" indent="-177800">
              <a:spcAft>
                <a:spcPts val="700"/>
              </a:spcAft>
              <a:buSzPct val="100000"/>
              <a:buChar char="•"/>
            </a:pPr>
            <a:r>
              <a:rPr lang="en-US" sz="1400" dirty="0">
                <a:solidFill>
                  <a:schemeClr val="tx1"/>
                </a:solidFill>
              </a:rPr>
              <a:t>The party type, role or record it applies to</a:t>
            </a:r>
            <a:endParaRPr lang="en-US" sz="1400" dirty="0"/>
          </a:p>
          <a:p>
            <a:pPr marL="177800" indent="-177800">
              <a:spcAft>
                <a:spcPts val="700"/>
              </a:spcAft>
              <a:buSzPct val="100000"/>
              <a:buChar char="•"/>
            </a:pPr>
            <a:r>
              <a:rPr lang="en-US" sz="1400" dirty="0">
                <a:solidFill>
                  <a:schemeClr val="tx1"/>
                </a:solidFill>
              </a:rPr>
              <a:t>The standard, register or regulation it aligns to</a:t>
            </a:r>
            <a:endParaRPr lang="en-US" sz="1400" dirty="0"/>
          </a:p>
          <a:p>
            <a:pPr marL="177800" indent="-177800">
              <a:spcAft>
                <a:spcPts val="700"/>
              </a:spcAft>
              <a:buSzPct val="100000"/>
              <a:buChar char="•"/>
            </a:pPr>
            <a:r>
              <a:rPr lang="en-US" sz="1400" dirty="0">
                <a:solidFill>
                  <a:schemeClr val="tx1"/>
                </a:solidFill>
              </a:rPr>
              <a:t>Whether it is a proposed critical data element, and whether it is personal data</a:t>
            </a:r>
            <a:endParaRPr lang="en-US" sz="1400" dirty="0"/>
          </a:p>
          <a:p>
            <a:pPr marL="177800" indent="-177800">
              <a:spcAft>
                <a:spcPts val="700"/>
              </a:spcAft>
              <a:buSzPct val="100000"/>
              <a:buChar char="•"/>
            </a:pPr>
            <a:r>
              <a:rPr lang="en-US" sz="1400" dirty="0">
                <a:solidFill>
                  <a:schemeClr val="tx1"/>
                </a:solidFill>
              </a:rPr>
              <a:t>Whether it is mastered here, referenced or a derived copy</a:t>
            </a:r>
            <a:endParaRPr lang="en-US" sz="1400" dirty="0"/>
          </a:p>
        </p:txBody>
      </p:sp>
      <p:sp>
        <p:nvSpPr>
          <p:cNvPr id="28" name="Shape 25"/>
          <p:cNvSpPr/>
          <p:nvPr/>
        </p:nvSpPr>
        <p:spPr>
          <a:xfrm>
            <a:off x="7040880" y="4800600"/>
            <a:ext cx="4599432" cy="914400"/>
          </a:xfrm>
          <a:prstGeom prst="roundRect">
            <a:avLst>
              <a:gd name="adj" fmla="val 8000"/>
            </a:avLst>
          </a:prstGeom>
          <a:solidFill>
            <a:schemeClr val="bg2"/>
          </a:solidFill>
          <a:ln/>
        </p:spPr>
      </p:sp>
      <p:sp>
        <p:nvSpPr>
          <p:cNvPr id="29" name="Text 26"/>
          <p:cNvSpPr txBox="1"/>
          <p:nvPr/>
        </p:nvSpPr>
        <p:spPr>
          <a:xfrm>
            <a:off x="7269480" y="4800600"/>
            <a:ext cx="4142232" cy="914400"/>
          </a:xfrm>
          <a:prstGeom prst="rect">
            <a:avLst/>
          </a:prstGeom>
          <a:noFill/>
          <a:ln/>
        </p:spPr>
        <p:txBody>
          <a:bodyPr wrap="square" lIns="0" tIns="0" rIns="0" bIns="0" rtlCol="0" anchor="ctr"/>
          <a:lstStyle/>
          <a:p>
            <a:pPr algn="l" indent="0" marL="0">
              <a:buNone/>
            </a:pPr>
            <a:r>
              <a:rPr lang="en-US" sz="1400" b="1" dirty="0">
                <a:solidFill>
                  <a:schemeClr val="tx1"/>
                </a:solidFill>
              </a:rPr>
              <a:t>It defines meaning and ownership. It does not hold data values or system field names.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THE CORE MODEL</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core model has three parts</a:t>
            </a:r>
            <a:endParaRPr lang="en-US" sz="3600" dirty="0"/>
          </a:p>
        </p:txBody>
      </p:sp>
      <p:sp>
        <p:nvSpPr>
          <p:cNvPr id="5" name="Text 2"/>
          <p:cNvSpPr txBox="1"/>
          <p:nvPr/>
        </p:nvSpPr>
        <p:spPr>
          <a:xfrm>
            <a:off x="548640" y="1783080"/>
            <a:ext cx="3017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WHO THEY ARE</a:t>
            </a:r>
            <a:endParaRPr lang="en-US" sz="1200" dirty="0"/>
          </a:p>
        </p:txBody>
      </p:sp>
      <p:sp>
        <p:nvSpPr>
          <p:cNvPr id="6" name="Text 3"/>
          <p:cNvSpPr txBox="1"/>
          <p:nvPr/>
        </p:nvSpPr>
        <p:spPr>
          <a:xfrm>
            <a:off x="4480560" y="1783080"/>
            <a:ext cx="3291840" cy="256032"/>
          </a:xfrm>
          <a:prstGeom prst="rect">
            <a:avLst/>
          </a:prstGeom>
          <a:noFill/>
          <a:ln/>
        </p:spPr>
        <p:txBody>
          <a:bodyPr wrap="square" lIns="0" tIns="0" rIns="0" bIns="0" rtlCol="0" anchor="ctr"/>
          <a:lstStyle/>
          <a:p>
            <a:pPr algn="l" indent="0" marL="0">
              <a:buNone/>
            </a:pPr>
            <a:r>
              <a:rPr lang="en-US" sz="1200" b="1" spc="150" kern="0" dirty="0">
                <a:solidFill>
                  <a:schemeClr val="accent2"/>
                </a:solidFill>
              </a:rPr>
              <a:t>WHAT THEY ARE TO US</a:t>
            </a:r>
            <a:endParaRPr lang="en-US" sz="1200" dirty="0"/>
          </a:p>
        </p:txBody>
      </p:sp>
      <p:sp>
        <p:nvSpPr>
          <p:cNvPr id="7" name="Text 4"/>
          <p:cNvSpPr txBox="1"/>
          <p:nvPr/>
        </p:nvSpPr>
        <p:spPr>
          <a:xfrm>
            <a:off x="8686800" y="1783080"/>
            <a:ext cx="2953512" cy="256032"/>
          </a:xfrm>
          <a:prstGeom prst="rect">
            <a:avLst/>
          </a:prstGeom>
          <a:noFill/>
          <a:ln/>
        </p:spPr>
        <p:txBody>
          <a:bodyPr wrap="square" lIns="0" tIns="0" rIns="0" bIns="0" rtlCol="0" anchor="ctr"/>
          <a:lstStyle/>
          <a:p>
            <a:pPr algn="l" indent="0" marL="0">
              <a:buNone/>
            </a:pPr>
            <a:r>
              <a:rPr lang="en-US" sz="1200" b="1" spc="150" kern="0" dirty="0">
                <a:solidFill>
                  <a:schemeClr val="accent4"/>
                </a:solidFill>
              </a:rPr>
              <a:t>HOW WE MAY ENGAGE THEM</a:t>
            </a:r>
            <a:endParaRPr lang="en-US" sz="1200" dirty="0"/>
          </a:p>
        </p:txBody>
      </p:sp>
      <p:sp>
        <p:nvSpPr>
          <p:cNvPr id="8" name="Shape 5"/>
          <p:cNvSpPr/>
          <p:nvPr/>
        </p:nvSpPr>
        <p:spPr>
          <a:xfrm>
            <a:off x="548640" y="2788920"/>
            <a:ext cx="3017520" cy="914400"/>
          </a:xfrm>
          <a:prstGeom prst="roundRect">
            <a:avLst>
              <a:gd name="adj" fmla="val 8000"/>
            </a:avLst>
          </a:prstGeom>
          <a:solidFill>
            <a:schemeClr val="accent1"/>
          </a:solidFill>
          <a:ln/>
        </p:spPr>
      </p:sp>
      <p:sp>
        <p:nvSpPr>
          <p:cNvPr id="9" name="Text 6"/>
          <p:cNvSpPr txBox="1"/>
          <p:nvPr/>
        </p:nvSpPr>
        <p:spPr>
          <a:xfrm>
            <a:off x="777240" y="2880360"/>
            <a:ext cx="2560320" cy="365760"/>
          </a:xfrm>
          <a:prstGeom prst="rect">
            <a:avLst/>
          </a:prstGeom>
          <a:noFill/>
          <a:ln/>
        </p:spPr>
        <p:txBody>
          <a:bodyPr wrap="square" lIns="0" tIns="0" rIns="0" bIns="0" rtlCol="0" anchor="ctr"/>
          <a:lstStyle/>
          <a:p>
            <a:pPr algn="l" indent="0" marL="0">
              <a:buNone/>
            </a:pPr>
            <a:r>
              <a:rPr lang="en-US" sz="1600" b="1" dirty="0">
                <a:solidFill>
                  <a:schemeClr val="bg1"/>
                </a:solidFill>
              </a:rPr>
              <a:t>Party</a:t>
            </a:r>
            <a:endParaRPr lang="en-US" sz="1600" dirty="0"/>
          </a:p>
        </p:txBody>
      </p:sp>
      <p:sp>
        <p:nvSpPr>
          <p:cNvPr id="10" name="Text 7"/>
          <p:cNvSpPr txBox="1"/>
          <p:nvPr/>
        </p:nvSpPr>
        <p:spPr>
          <a:xfrm>
            <a:off x="777240" y="3246120"/>
            <a:ext cx="2560320" cy="274320"/>
          </a:xfrm>
          <a:prstGeom prst="rect">
            <a:avLst/>
          </a:prstGeom>
          <a:noFill/>
          <a:ln/>
        </p:spPr>
        <p:txBody>
          <a:bodyPr wrap="square" lIns="0" tIns="0" rIns="0" bIns="0" rtlCol="0" anchor="ctr"/>
          <a:lstStyle/>
          <a:p>
            <a:pPr algn="l" indent="0" marL="0">
              <a:buNone/>
            </a:pPr>
            <a:r>
              <a:rPr lang="en-US" sz="1200" dirty="0">
                <a:solidFill>
                  <a:schemeClr val="bg1"/>
                </a:solidFill>
              </a:rPr>
              <a:t>Organization or individual, keyed PTY-</a:t>
            </a:r>
            <a:endParaRPr lang="en-US" sz="1200" dirty="0"/>
          </a:p>
        </p:txBody>
      </p:sp>
      <p:sp>
        <p:nvSpPr>
          <p:cNvPr id="11" name="Shape 8"/>
          <p:cNvSpPr/>
          <p:nvPr/>
        </p:nvSpPr>
        <p:spPr>
          <a:xfrm>
            <a:off x="2057400" y="3703320"/>
            <a:ext cx="0" cy="457200"/>
          </a:xfrm>
          <a:prstGeom prst="line">
            <a:avLst/>
          </a:prstGeom>
          <a:noFill/>
          <a:ln w="19050">
            <a:solidFill>
              <a:schemeClr val="tx2"/>
            </a:solidFill>
            <a:prstDash val="solid"/>
            <a:tailEnd type="triangle"/>
          </a:ln>
        </p:spPr>
      </p:sp>
      <p:sp>
        <p:nvSpPr>
          <p:cNvPr id="12" name="Shape 9"/>
          <p:cNvSpPr/>
          <p:nvPr/>
        </p:nvSpPr>
        <p:spPr>
          <a:xfrm>
            <a:off x="548640" y="4160520"/>
            <a:ext cx="3017520" cy="822960"/>
          </a:xfrm>
          <a:prstGeom prst="roundRect">
            <a:avLst>
              <a:gd name="adj" fmla="val 8889"/>
            </a:avLst>
          </a:prstGeom>
          <a:solidFill>
            <a:schemeClr val="bg2"/>
          </a:solidFill>
          <a:ln/>
        </p:spPr>
      </p:sp>
      <p:sp>
        <p:nvSpPr>
          <p:cNvPr id="13" name="Text 10"/>
          <p:cNvSpPr txBox="1"/>
          <p:nvPr/>
        </p:nvSpPr>
        <p:spPr>
          <a:xfrm>
            <a:off x="777240" y="4224528"/>
            <a:ext cx="2560320" cy="329184"/>
          </a:xfrm>
          <a:prstGeom prst="rect">
            <a:avLst/>
          </a:prstGeom>
          <a:noFill/>
          <a:ln/>
        </p:spPr>
        <p:txBody>
          <a:bodyPr wrap="square" lIns="0" tIns="0" rIns="0" bIns="0" rtlCol="0" anchor="ctr"/>
          <a:lstStyle/>
          <a:p>
            <a:pPr algn="l" indent="0" marL="0">
              <a:buNone/>
            </a:pPr>
            <a:r>
              <a:rPr lang="en-US" sz="1400" b="1" dirty="0">
                <a:solidFill>
                  <a:schemeClr val="tx1"/>
                </a:solidFill>
              </a:rPr>
              <a:t>Party Relationship</a:t>
            </a:r>
            <a:endParaRPr lang="en-US" sz="1400" dirty="0"/>
          </a:p>
        </p:txBody>
      </p:sp>
      <p:sp>
        <p:nvSpPr>
          <p:cNvPr id="14" name="Text 11"/>
          <p:cNvSpPr txBox="1"/>
          <p:nvPr/>
        </p:nvSpPr>
        <p:spPr>
          <a:xfrm>
            <a:off x="777240" y="4553712"/>
            <a:ext cx="2560320" cy="274320"/>
          </a:xfrm>
          <a:prstGeom prst="rect">
            <a:avLst/>
          </a:prstGeom>
          <a:noFill/>
          <a:ln/>
        </p:spPr>
        <p:txBody>
          <a:bodyPr wrap="square" lIns="0" tIns="0" rIns="0" bIns="0" rtlCol="0" anchor="ctr"/>
          <a:lstStyle/>
          <a:p>
            <a:pPr algn="l" indent="0" marL="0">
              <a:buNone/>
            </a:pPr>
            <a:r>
              <a:rPr lang="en-US" sz="1200" dirty="0">
                <a:solidFill>
                  <a:schemeClr val="tx2"/>
                </a:solidFill>
              </a:rPr>
              <a:t>Employs, advises, serves, belongs to</a:t>
            </a:r>
            <a:endParaRPr lang="en-US" sz="1200" dirty="0"/>
          </a:p>
        </p:txBody>
      </p:sp>
      <p:sp>
        <p:nvSpPr>
          <p:cNvPr id="15" name="Text 12"/>
          <p:cNvSpPr txBox="1"/>
          <p:nvPr/>
        </p:nvSpPr>
        <p:spPr>
          <a:xfrm>
            <a:off x="548640" y="2194560"/>
            <a:ext cx="3017520" cy="457200"/>
          </a:xfrm>
          <a:prstGeom prst="rect">
            <a:avLst/>
          </a:prstGeom>
          <a:noFill/>
          <a:ln/>
        </p:spPr>
        <p:txBody>
          <a:bodyPr wrap="square" lIns="0" tIns="0" rIns="0" bIns="0" rtlCol="0" anchor="ctr"/>
          <a:lstStyle/>
          <a:p>
            <a:pPr algn="l" indent="0" marL="0">
              <a:buNone/>
            </a:pPr>
            <a:r>
              <a:rPr lang="en-US" sz="1200" dirty="0">
                <a:solidFill>
                  <a:schemeClr val="tx2"/>
                </a:solidFill>
              </a:rPr>
              <a:t>One record for each real-world party, however many roles it plays</a:t>
            </a:r>
            <a:endParaRPr lang="en-US" sz="1200" dirty="0"/>
          </a:p>
        </p:txBody>
      </p:sp>
      <p:sp>
        <p:nvSpPr>
          <p:cNvPr id="16" name="Shape 13"/>
          <p:cNvSpPr/>
          <p:nvPr/>
        </p:nvSpPr>
        <p:spPr>
          <a:xfrm>
            <a:off x="4480560" y="2240280"/>
            <a:ext cx="3291840" cy="822960"/>
          </a:xfrm>
          <a:prstGeom prst="roundRect">
            <a:avLst>
              <a:gd name="adj" fmla="val 8889"/>
            </a:avLst>
          </a:prstGeom>
          <a:solidFill>
            <a:schemeClr val="accent2"/>
          </a:solidFill>
          <a:ln/>
        </p:spPr>
      </p:sp>
      <p:sp>
        <p:nvSpPr>
          <p:cNvPr id="17" name="Text 14"/>
          <p:cNvSpPr txBox="1"/>
          <p:nvPr/>
        </p:nvSpPr>
        <p:spPr>
          <a:xfrm>
            <a:off x="4709160" y="2313432"/>
            <a:ext cx="2834640" cy="329184"/>
          </a:xfrm>
          <a:prstGeom prst="rect">
            <a:avLst/>
          </a:prstGeom>
          <a:noFill/>
          <a:ln/>
        </p:spPr>
        <p:txBody>
          <a:bodyPr wrap="square" lIns="0" tIns="0" rIns="0" bIns="0" rtlCol="0" anchor="ctr"/>
          <a:lstStyle/>
          <a:p>
            <a:pPr algn="l" indent="0" marL="0">
              <a:buNone/>
            </a:pPr>
            <a:r>
              <a:rPr lang="en-US" sz="1400" b="1" dirty="0">
                <a:solidFill>
                  <a:schemeClr val="bg1"/>
                </a:solidFill>
              </a:rPr>
              <a:t>Intermediary roles</a:t>
            </a:r>
            <a:endParaRPr lang="en-US" sz="1400" dirty="0"/>
          </a:p>
        </p:txBody>
      </p:sp>
      <p:sp>
        <p:nvSpPr>
          <p:cNvPr id="18" name="Text 15"/>
          <p:cNvSpPr txBox="1"/>
          <p:nvPr/>
        </p:nvSpPr>
        <p:spPr>
          <a:xfrm>
            <a:off x="4709160" y="2642616"/>
            <a:ext cx="2834640" cy="329184"/>
          </a:xfrm>
          <a:prstGeom prst="rect">
            <a:avLst/>
          </a:prstGeom>
          <a:noFill/>
          <a:ln/>
        </p:spPr>
        <p:txBody>
          <a:bodyPr wrap="square" lIns="0" tIns="0" rIns="0" bIns="0" rtlCol="0" anchor="ctr"/>
          <a:lstStyle/>
          <a:p>
            <a:pPr algn="l" indent="0" marL="0">
              <a:buNone/>
            </a:pPr>
            <a:r>
              <a:rPr lang="en-US" sz="1200" dirty="0">
                <a:solidFill>
                  <a:schemeClr val="bg1"/>
                </a:solidFill>
              </a:rPr>
              <a:t>Distributor firm, branch, team, advisor</a:t>
            </a:r>
            <a:endParaRPr lang="en-US" sz="1200" dirty="0"/>
          </a:p>
        </p:txBody>
      </p:sp>
      <p:sp>
        <p:nvSpPr>
          <p:cNvPr id="19" name="Shape 16"/>
          <p:cNvSpPr/>
          <p:nvPr/>
        </p:nvSpPr>
        <p:spPr>
          <a:xfrm>
            <a:off x="4480560" y="3246120"/>
            <a:ext cx="3291840" cy="822960"/>
          </a:xfrm>
          <a:prstGeom prst="roundRect">
            <a:avLst>
              <a:gd name="adj" fmla="val 8889"/>
            </a:avLst>
          </a:prstGeom>
          <a:solidFill>
            <a:schemeClr val="bg2"/>
          </a:solidFill>
          <a:ln/>
        </p:spPr>
      </p:sp>
      <p:sp>
        <p:nvSpPr>
          <p:cNvPr id="20" name="Text 17"/>
          <p:cNvSpPr txBox="1"/>
          <p:nvPr/>
        </p:nvSpPr>
        <p:spPr>
          <a:xfrm>
            <a:off x="4709160" y="331927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Institutional and retirement roles</a:t>
            </a:r>
            <a:endParaRPr lang="en-US" sz="1400" dirty="0"/>
          </a:p>
        </p:txBody>
      </p:sp>
      <p:sp>
        <p:nvSpPr>
          <p:cNvPr id="21" name="Text 18"/>
          <p:cNvSpPr txBox="1"/>
          <p:nvPr/>
        </p:nvSpPr>
        <p:spPr>
          <a:xfrm>
            <a:off x="4709160" y="364845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Client, consultant, plan, recordkeeper</a:t>
            </a:r>
            <a:endParaRPr lang="en-US" sz="1200" dirty="0"/>
          </a:p>
        </p:txBody>
      </p:sp>
      <p:sp>
        <p:nvSpPr>
          <p:cNvPr id="22" name="Shape 19"/>
          <p:cNvSpPr/>
          <p:nvPr/>
        </p:nvSpPr>
        <p:spPr>
          <a:xfrm>
            <a:off x="4480560" y="4251960"/>
            <a:ext cx="3291840" cy="822960"/>
          </a:xfrm>
          <a:prstGeom prst="roundRect">
            <a:avLst>
              <a:gd name="adj" fmla="val 8889"/>
            </a:avLst>
          </a:prstGeom>
          <a:solidFill>
            <a:schemeClr val="bg2"/>
          </a:solidFill>
          <a:ln/>
        </p:spPr>
      </p:sp>
      <p:sp>
        <p:nvSpPr>
          <p:cNvPr id="23" name="Text 20"/>
          <p:cNvSpPr txBox="1"/>
          <p:nvPr/>
        </p:nvSpPr>
        <p:spPr>
          <a:xfrm>
            <a:off x="4709160" y="432511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End-investor roles</a:t>
            </a:r>
            <a:endParaRPr lang="en-US" sz="1400" dirty="0"/>
          </a:p>
        </p:txBody>
      </p:sp>
      <p:sp>
        <p:nvSpPr>
          <p:cNvPr id="24" name="Text 21"/>
          <p:cNvSpPr txBox="1"/>
          <p:nvPr/>
        </p:nvSpPr>
        <p:spPr>
          <a:xfrm>
            <a:off x="4709160" y="465429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Look-through investor and household</a:t>
            </a:r>
            <a:endParaRPr lang="en-US" sz="1200" dirty="0"/>
          </a:p>
        </p:txBody>
      </p:sp>
      <p:sp>
        <p:nvSpPr>
          <p:cNvPr id="25" name="Shape 22"/>
          <p:cNvSpPr/>
          <p:nvPr/>
        </p:nvSpPr>
        <p:spPr>
          <a:xfrm flipV="1">
            <a:off x="3566160" y="2651760"/>
            <a:ext cx="914400" cy="594360"/>
          </a:xfrm>
          <a:prstGeom prst="line">
            <a:avLst/>
          </a:prstGeom>
          <a:noFill/>
          <a:ln w="19050">
            <a:solidFill>
              <a:schemeClr val="tx2"/>
            </a:solidFill>
            <a:prstDash val="solid"/>
            <a:tailEnd type="triangle"/>
          </a:ln>
        </p:spPr>
      </p:sp>
      <p:sp>
        <p:nvSpPr>
          <p:cNvPr id="26" name="Shape 23"/>
          <p:cNvSpPr/>
          <p:nvPr/>
        </p:nvSpPr>
        <p:spPr>
          <a:xfrm>
            <a:off x="3566160" y="3246120"/>
            <a:ext cx="914400" cy="411480"/>
          </a:xfrm>
          <a:prstGeom prst="line">
            <a:avLst/>
          </a:prstGeom>
          <a:noFill/>
          <a:ln w="19050">
            <a:solidFill>
              <a:schemeClr val="tx2"/>
            </a:solidFill>
            <a:prstDash val="solid"/>
            <a:tailEnd type="triangle"/>
          </a:ln>
        </p:spPr>
      </p:sp>
      <p:sp>
        <p:nvSpPr>
          <p:cNvPr id="27" name="Shape 24"/>
          <p:cNvSpPr/>
          <p:nvPr/>
        </p:nvSpPr>
        <p:spPr>
          <a:xfrm>
            <a:off x="3566160" y="3246120"/>
            <a:ext cx="914400" cy="1417320"/>
          </a:xfrm>
          <a:prstGeom prst="line">
            <a:avLst/>
          </a:prstGeom>
          <a:noFill/>
          <a:ln w="19050">
            <a:solidFill>
              <a:schemeClr val="tx2"/>
            </a:solidFill>
            <a:prstDash val="solid"/>
            <a:tailEnd type="triangle"/>
          </a:ln>
        </p:spPr>
      </p:sp>
      <p:sp>
        <p:nvSpPr>
          <p:cNvPr id="28" name="Shape 25"/>
          <p:cNvSpPr/>
          <p:nvPr/>
        </p:nvSpPr>
        <p:spPr>
          <a:xfrm>
            <a:off x="7772400" y="3657600"/>
            <a:ext cx="914400" cy="0"/>
          </a:xfrm>
          <a:prstGeom prst="line">
            <a:avLst/>
          </a:prstGeom>
          <a:noFill/>
          <a:ln w="19050">
            <a:solidFill>
              <a:schemeClr val="tx2"/>
            </a:solidFill>
            <a:prstDash val="solid"/>
            <a:tailEnd type="triangle"/>
          </a:ln>
        </p:spPr>
      </p:sp>
      <p:sp>
        <p:nvSpPr>
          <p:cNvPr id="29" name="Shape 26"/>
          <p:cNvSpPr/>
          <p:nvPr/>
        </p:nvSpPr>
        <p:spPr>
          <a:xfrm>
            <a:off x="8686800" y="3246120"/>
            <a:ext cx="2953512" cy="822960"/>
          </a:xfrm>
          <a:prstGeom prst="roundRect">
            <a:avLst>
              <a:gd name="adj" fmla="val 8889"/>
            </a:avLst>
          </a:prstGeom>
          <a:solidFill>
            <a:schemeClr val="accent4"/>
          </a:solidFill>
          <a:ln/>
        </p:spPr>
      </p:sp>
      <p:sp>
        <p:nvSpPr>
          <p:cNvPr id="30" name="Text 27"/>
          <p:cNvSpPr txBox="1"/>
          <p:nvPr/>
        </p:nvSpPr>
        <p:spPr>
          <a:xfrm>
            <a:off x="8915400" y="3319272"/>
            <a:ext cx="2496312" cy="329184"/>
          </a:xfrm>
          <a:prstGeom prst="rect">
            <a:avLst/>
          </a:prstGeom>
          <a:noFill/>
          <a:ln/>
        </p:spPr>
        <p:txBody>
          <a:bodyPr wrap="square" lIns="0" tIns="0" rIns="0" bIns="0" rtlCol="0" anchor="ctr"/>
          <a:lstStyle/>
          <a:p>
            <a:pPr algn="l" indent="0" marL="0">
              <a:buNone/>
            </a:pPr>
            <a:r>
              <a:rPr lang="en-US" sz="1400" b="1" dirty="0">
                <a:solidFill>
                  <a:schemeClr val="bg1"/>
                </a:solidFill>
              </a:rPr>
              <a:t>Preferences &amp; Restrictions</a:t>
            </a:r>
            <a:endParaRPr lang="en-US" sz="1400" dirty="0"/>
          </a:p>
        </p:txBody>
      </p:sp>
      <p:sp>
        <p:nvSpPr>
          <p:cNvPr id="31" name="Text 28"/>
          <p:cNvSpPr txBox="1"/>
          <p:nvPr/>
        </p:nvSpPr>
        <p:spPr>
          <a:xfrm>
            <a:off x="8915400" y="3648456"/>
            <a:ext cx="2496312" cy="329184"/>
          </a:xfrm>
          <a:prstGeom prst="rect">
            <a:avLst/>
          </a:prstGeom>
          <a:noFill/>
          <a:ln/>
        </p:spPr>
        <p:txBody>
          <a:bodyPr wrap="square" lIns="0" tIns="0" rIns="0" bIns="0" rtlCol="0" anchor="ctr"/>
          <a:lstStyle/>
          <a:p>
            <a:pPr algn="l" indent="0" marL="0">
              <a:buNone/>
            </a:pPr>
            <a:r>
              <a:rPr lang="en-US" sz="1200" dirty="0">
                <a:solidFill>
                  <a:schemeClr val="bg1"/>
                </a:solidFill>
              </a:rPr>
              <a:t>Consent, contact, restriction</a:t>
            </a:r>
            <a:endParaRPr lang="en-US" sz="1200" dirty="0"/>
          </a:p>
        </p:txBody>
      </p:sp>
      <p:sp>
        <p:nvSpPr>
          <p:cNvPr id="32" name="Text 29"/>
          <p:cNvSpPr txBox="1"/>
          <p:nvPr/>
        </p:nvSpPr>
        <p:spPr>
          <a:xfrm>
            <a:off x="8686800" y="4206240"/>
            <a:ext cx="2953512" cy="640080"/>
          </a:xfrm>
          <a:prstGeom prst="rect">
            <a:avLst/>
          </a:prstGeom>
          <a:noFill/>
          <a:ln/>
        </p:spPr>
        <p:txBody>
          <a:bodyPr wrap="square" lIns="0" tIns="0" rIns="0" bIns="0" rtlCol="0" anchor="t"/>
          <a:lstStyle/>
          <a:p>
            <a:pPr algn="l" indent="0" marL="0">
              <a:buNone/>
            </a:pPr>
            <a:r>
              <a:rPr lang="en-US" sz="1200" dirty="0">
                <a:solidFill>
                  <a:schemeClr val="tx2"/>
                </a:solidFill>
              </a:rPr>
              <a:t>Privacy, preference and restriction records sit on the party. Accounts are mastered in Account and point to it.</a:t>
            </a:r>
            <a:endParaRPr lang="en-US" sz="1200" dirty="0"/>
          </a:p>
        </p:txBody>
      </p:sp>
      <p:sp>
        <p:nvSpPr>
          <p:cNvPr id="33" name="Shape 30"/>
          <p:cNvSpPr/>
          <p:nvPr/>
        </p:nvSpPr>
        <p:spPr>
          <a:xfrm>
            <a:off x="548640" y="5303520"/>
            <a:ext cx="11091672" cy="868680"/>
          </a:xfrm>
          <a:prstGeom prst="roundRect">
            <a:avLst>
              <a:gd name="adj" fmla="val 8421"/>
            </a:avLst>
          </a:prstGeom>
          <a:solidFill>
            <a:schemeClr val="bg2"/>
          </a:solidFill>
          <a:ln/>
        </p:spPr>
      </p:sp>
      <p:sp>
        <p:nvSpPr>
          <p:cNvPr id="34" name="Text 31"/>
          <p:cNvSpPr txBox="1"/>
          <p:nvPr/>
        </p:nvSpPr>
        <p:spPr>
          <a:xfrm>
            <a:off x="822960" y="5303520"/>
            <a:ext cx="10543032" cy="868680"/>
          </a:xfrm>
          <a:prstGeom prst="rect">
            <a:avLst/>
          </a:prstGeom>
          <a:noFill/>
          <a:ln/>
        </p:spPr>
        <p:txBody>
          <a:bodyPr wrap="square" lIns="0" tIns="0" rIns="0" bIns="0" rtlCol="0" anchor="ctr"/>
          <a:lstStyle/>
          <a:p>
            <a:pPr algn="l" indent="0" marL="0">
              <a:buNone/>
            </a:pPr>
            <a:r>
              <a:rPr lang="en-US" sz="1400" dirty="0">
                <a:solidFill>
                  <a:schemeClr val="tx1"/>
                </a:solidFill>
              </a:rPr>
              <a:t>One party, many roles: a firm that is a distributor, an institutional client and a model sponsor is still one record. Roles, relationships, affiliations and classifications are all effective-dated, so history can be rebuilt.</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THE 12 FAMILIES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Twelve families in three groups</a:t>
            </a:r>
            <a:endParaRPr lang="en-US" sz="3600" dirty="0"/>
          </a:p>
        </p:txBody>
      </p:sp>
      <p:sp>
        <p:nvSpPr>
          <p:cNvPr id="5" name="Shape 2"/>
          <p:cNvSpPr/>
          <p:nvPr/>
        </p:nvSpPr>
        <p:spPr>
          <a:xfrm>
            <a:off x="548640" y="1783080"/>
            <a:ext cx="3511296" cy="777240"/>
          </a:xfrm>
          <a:prstGeom prst="roundRect">
            <a:avLst>
              <a:gd name="adj" fmla="val 9412"/>
            </a:avLst>
          </a:prstGeom>
          <a:solidFill>
            <a:schemeClr val="accent1"/>
          </a:solidFill>
          <a:ln/>
        </p:spPr>
      </p:sp>
      <p:sp>
        <p:nvSpPr>
          <p:cNvPr id="6" name="Text 3"/>
          <p:cNvSpPr txBox="1"/>
          <p:nvPr/>
        </p:nvSpPr>
        <p:spPr>
          <a:xfrm>
            <a:off x="731520"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The spine</a:t>
            </a:r>
            <a:endParaRPr lang="en-US" sz="1400" dirty="0"/>
          </a:p>
        </p:txBody>
      </p:sp>
      <p:sp>
        <p:nvSpPr>
          <p:cNvPr id="7" name="Text 4"/>
          <p:cNvSpPr txBox="1"/>
          <p:nvPr/>
        </p:nvSpPr>
        <p:spPr>
          <a:xfrm>
            <a:off x="731520"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2 families  |  10 objects  |  55 attributes</a:t>
            </a:r>
            <a:endParaRPr lang="en-US" sz="1200" dirty="0"/>
          </a:p>
        </p:txBody>
      </p:sp>
      <p:sp>
        <p:nvSpPr>
          <p:cNvPr id="8" name="Shape 5"/>
          <p:cNvSpPr/>
          <p:nvPr/>
        </p:nvSpPr>
        <p:spPr>
          <a:xfrm>
            <a:off x="548640" y="2697480"/>
            <a:ext cx="3511296" cy="612648"/>
          </a:xfrm>
          <a:prstGeom prst="roundRect">
            <a:avLst>
              <a:gd name="adj" fmla="val 11940"/>
            </a:avLst>
          </a:prstGeom>
          <a:solidFill>
            <a:schemeClr val="bg2"/>
          </a:solidFill>
          <a:ln/>
        </p:spPr>
      </p:sp>
      <p:sp>
        <p:nvSpPr>
          <p:cNvPr id="9" name="Text 6"/>
          <p:cNvSpPr txBox="1"/>
          <p:nvPr/>
        </p:nvSpPr>
        <p:spPr>
          <a:xfrm>
            <a:off x="731520"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Party Master</a:t>
            </a:r>
            <a:endParaRPr lang="en-US" sz="1300" dirty="0"/>
          </a:p>
        </p:txBody>
      </p:sp>
      <p:sp>
        <p:nvSpPr>
          <p:cNvPr id="10" name="Text 7"/>
          <p:cNvSpPr txBox="1"/>
          <p:nvPr/>
        </p:nvSpPr>
        <p:spPr>
          <a:xfrm>
            <a:off x="731520"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5 objects  |  32 attributes  |  13 critical</a:t>
            </a:r>
            <a:endParaRPr lang="en-US" sz="1100" dirty="0"/>
          </a:p>
        </p:txBody>
      </p:sp>
      <p:sp>
        <p:nvSpPr>
          <p:cNvPr id="11" name="Shape 8"/>
          <p:cNvSpPr/>
          <p:nvPr/>
        </p:nvSpPr>
        <p:spPr>
          <a:xfrm>
            <a:off x="548640" y="3410712"/>
            <a:ext cx="3511296" cy="612648"/>
          </a:xfrm>
          <a:prstGeom prst="roundRect">
            <a:avLst>
              <a:gd name="adj" fmla="val 11940"/>
            </a:avLst>
          </a:prstGeom>
          <a:solidFill>
            <a:schemeClr val="bg2"/>
          </a:solidFill>
          <a:ln/>
        </p:spPr>
      </p:sp>
      <p:sp>
        <p:nvSpPr>
          <p:cNvPr id="12" name="Text 9"/>
          <p:cNvSpPr txBox="1"/>
          <p:nvPr/>
        </p:nvSpPr>
        <p:spPr>
          <a:xfrm>
            <a:off x="731520"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Party Relationships</a:t>
            </a:r>
            <a:endParaRPr lang="en-US" sz="1300" dirty="0"/>
          </a:p>
        </p:txBody>
      </p:sp>
      <p:sp>
        <p:nvSpPr>
          <p:cNvPr id="13" name="Text 10"/>
          <p:cNvSpPr txBox="1"/>
          <p:nvPr/>
        </p:nvSpPr>
        <p:spPr>
          <a:xfrm>
            <a:off x="731520"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5 objects  |  23 attributes  |  5 critical</a:t>
            </a:r>
            <a:endParaRPr lang="en-US" sz="1100" dirty="0"/>
          </a:p>
        </p:txBody>
      </p:sp>
      <p:sp>
        <p:nvSpPr>
          <p:cNvPr id="14" name="Shape 11"/>
          <p:cNvSpPr/>
          <p:nvPr/>
        </p:nvSpPr>
        <p:spPr>
          <a:xfrm>
            <a:off x="4338828" y="1783080"/>
            <a:ext cx="3511296" cy="777240"/>
          </a:xfrm>
          <a:prstGeom prst="roundRect">
            <a:avLst>
              <a:gd name="adj" fmla="val 9412"/>
            </a:avLst>
          </a:prstGeom>
          <a:solidFill>
            <a:schemeClr val="accent2"/>
          </a:solidFill>
          <a:ln/>
        </p:spPr>
      </p:sp>
      <p:sp>
        <p:nvSpPr>
          <p:cNvPr id="15" name="Text 12"/>
          <p:cNvSpPr txBox="1"/>
          <p:nvPr/>
        </p:nvSpPr>
        <p:spPr>
          <a:xfrm>
            <a:off x="4521708"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Who the parties are</a:t>
            </a:r>
            <a:endParaRPr lang="en-US" sz="1400" dirty="0"/>
          </a:p>
        </p:txBody>
      </p:sp>
      <p:sp>
        <p:nvSpPr>
          <p:cNvPr id="16" name="Text 13"/>
          <p:cNvSpPr txBox="1"/>
          <p:nvPr/>
        </p:nvSpPr>
        <p:spPr>
          <a:xfrm>
            <a:off x="4521708"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5 families  |  20 objects  |  113 attributes</a:t>
            </a:r>
            <a:endParaRPr lang="en-US" sz="1200" dirty="0"/>
          </a:p>
        </p:txBody>
      </p:sp>
      <p:sp>
        <p:nvSpPr>
          <p:cNvPr id="17" name="Shape 14"/>
          <p:cNvSpPr/>
          <p:nvPr/>
        </p:nvSpPr>
        <p:spPr>
          <a:xfrm>
            <a:off x="4338828" y="2697480"/>
            <a:ext cx="3511296" cy="612648"/>
          </a:xfrm>
          <a:prstGeom prst="roundRect">
            <a:avLst>
              <a:gd name="adj" fmla="val 11940"/>
            </a:avLst>
          </a:prstGeom>
          <a:solidFill>
            <a:schemeClr val="bg2"/>
          </a:solidFill>
          <a:ln/>
        </p:spPr>
      </p:sp>
      <p:sp>
        <p:nvSpPr>
          <p:cNvPr id="18" name="Text 15"/>
          <p:cNvSpPr txBox="1"/>
          <p:nvPr/>
        </p:nvSpPr>
        <p:spPr>
          <a:xfrm>
            <a:off x="4521708"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Party Identifiers</a:t>
            </a:r>
            <a:endParaRPr lang="en-US" sz="1300" dirty="0"/>
          </a:p>
        </p:txBody>
      </p:sp>
      <p:sp>
        <p:nvSpPr>
          <p:cNvPr id="19" name="Text 16"/>
          <p:cNvSpPr txBox="1"/>
          <p:nvPr/>
        </p:nvSpPr>
        <p:spPr>
          <a:xfrm>
            <a:off x="4521708"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5 objects  |  22 attributes  |  8 critical</a:t>
            </a:r>
            <a:endParaRPr lang="en-US" sz="1100" dirty="0"/>
          </a:p>
        </p:txBody>
      </p:sp>
      <p:sp>
        <p:nvSpPr>
          <p:cNvPr id="20" name="Shape 17"/>
          <p:cNvSpPr/>
          <p:nvPr/>
        </p:nvSpPr>
        <p:spPr>
          <a:xfrm>
            <a:off x="4338828" y="3410712"/>
            <a:ext cx="3511296" cy="612648"/>
          </a:xfrm>
          <a:prstGeom prst="roundRect">
            <a:avLst>
              <a:gd name="adj" fmla="val 11940"/>
            </a:avLst>
          </a:prstGeom>
          <a:solidFill>
            <a:schemeClr val="bg2"/>
          </a:solidFill>
          <a:ln/>
        </p:spPr>
      </p:sp>
      <p:sp>
        <p:nvSpPr>
          <p:cNvPr id="21" name="Text 18"/>
          <p:cNvSpPr txBox="1"/>
          <p:nvPr/>
        </p:nvSpPr>
        <p:spPr>
          <a:xfrm>
            <a:off x="4521708"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Intermediary Firm &amp; Hierarchy</a:t>
            </a:r>
            <a:endParaRPr lang="en-US" sz="1300" dirty="0"/>
          </a:p>
        </p:txBody>
      </p:sp>
      <p:sp>
        <p:nvSpPr>
          <p:cNvPr id="22" name="Text 19"/>
          <p:cNvSpPr txBox="1"/>
          <p:nvPr/>
        </p:nvSpPr>
        <p:spPr>
          <a:xfrm>
            <a:off x="4521708"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6 objects  |  28 attributes  |  8 critical</a:t>
            </a:r>
            <a:endParaRPr lang="en-US" sz="1100" dirty="0"/>
          </a:p>
        </p:txBody>
      </p:sp>
      <p:sp>
        <p:nvSpPr>
          <p:cNvPr id="23" name="Shape 20"/>
          <p:cNvSpPr/>
          <p:nvPr/>
        </p:nvSpPr>
        <p:spPr>
          <a:xfrm>
            <a:off x="4338828" y="4123944"/>
            <a:ext cx="3511296" cy="612648"/>
          </a:xfrm>
          <a:prstGeom prst="roundRect">
            <a:avLst>
              <a:gd name="adj" fmla="val 11940"/>
            </a:avLst>
          </a:prstGeom>
          <a:solidFill>
            <a:schemeClr val="bg2"/>
          </a:solidFill>
          <a:ln/>
        </p:spPr>
      </p:sp>
      <p:sp>
        <p:nvSpPr>
          <p:cNvPr id="24" name="Text 21"/>
          <p:cNvSpPr txBox="1"/>
          <p:nvPr/>
        </p:nvSpPr>
        <p:spPr>
          <a:xfrm>
            <a:off x="4521708" y="4178808"/>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Financial Professional &amp; Practice</a:t>
            </a:r>
            <a:endParaRPr lang="en-US" sz="1300" dirty="0"/>
          </a:p>
        </p:txBody>
      </p:sp>
      <p:sp>
        <p:nvSpPr>
          <p:cNvPr id="25" name="Text 22"/>
          <p:cNvSpPr txBox="1"/>
          <p:nvPr/>
        </p:nvSpPr>
        <p:spPr>
          <a:xfrm>
            <a:off x="4521708"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3 objects  |  25 attributes  |  7 critical</a:t>
            </a:r>
            <a:endParaRPr lang="en-US" sz="1100" dirty="0"/>
          </a:p>
        </p:txBody>
      </p:sp>
      <p:sp>
        <p:nvSpPr>
          <p:cNvPr id="26" name="Shape 23"/>
          <p:cNvSpPr/>
          <p:nvPr/>
        </p:nvSpPr>
        <p:spPr>
          <a:xfrm>
            <a:off x="4338828" y="4837176"/>
            <a:ext cx="3511296" cy="612648"/>
          </a:xfrm>
          <a:prstGeom prst="roundRect">
            <a:avLst>
              <a:gd name="adj" fmla="val 11940"/>
            </a:avLst>
          </a:prstGeom>
          <a:solidFill>
            <a:schemeClr val="bg2"/>
          </a:solidFill>
          <a:ln/>
        </p:spPr>
      </p:sp>
      <p:sp>
        <p:nvSpPr>
          <p:cNvPr id="27" name="Text 24"/>
          <p:cNvSpPr txBox="1"/>
          <p:nvPr/>
        </p:nvSpPr>
        <p:spPr>
          <a:xfrm>
            <a:off x="4521708" y="4892040"/>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Institutional &amp; Retirement Clients</a:t>
            </a:r>
            <a:endParaRPr lang="en-US" sz="1300" dirty="0"/>
          </a:p>
        </p:txBody>
      </p:sp>
      <p:sp>
        <p:nvSpPr>
          <p:cNvPr id="28" name="Text 25"/>
          <p:cNvSpPr txBox="1"/>
          <p:nvPr/>
        </p:nvSpPr>
        <p:spPr>
          <a:xfrm>
            <a:off x="4521708" y="5157216"/>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25 attributes  |  8 critical</a:t>
            </a:r>
            <a:endParaRPr lang="en-US" sz="1100" dirty="0"/>
          </a:p>
        </p:txBody>
      </p:sp>
      <p:sp>
        <p:nvSpPr>
          <p:cNvPr id="29" name="Shape 26"/>
          <p:cNvSpPr/>
          <p:nvPr/>
        </p:nvSpPr>
        <p:spPr>
          <a:xfrm>
            <a:off x="4338828" y="5550408"/>
            <a:ext cx="3511296" cy="612648"/>
          </a:xfrm>
          <a:prstGeom prst="roundRect">
            <a:avLst>
              <a:gd name="adj" fmla="val 11940"/>
            </a:avLst>
          </a:prstGeom>
          <a:solidFill>
            <a:schemeClr val="bg2"/>
          </a:solidFill>
          <a:ln/>
        </p:spPr>
      </p:sp>
      <p:sp>
        <p:nvSpPr>
          <p:cNvPr id="30" name="Text 27"/>
          <p:cNvSpPr txBox="1"/>
          <p:nvPr/>
        </p:nvSpPr>
        <p:spPr>
          <a:xfrm>
            <a:off x="4521708" y="5605272"/>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End Investor &amp; Household</a:t>
            </a:r>
            <a:endParaRPr lang="en-US" sz="1300" dirty="0"/>
          </a:p>
        </p:txBody>
      </p:sp>
      <p:sp>
        <p:nvSpPr>
          <p:cNvPr id="31" name="Text 28"/>
          <p:cNvSpPr txBox="1"/>
          <p:nvPr/>
        </p:nvSpPr>
        <p:spPr>
          <a:xfrm>
            <a:off x="4521708" y="5870448"/>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2 objects  |  13 attributes  |  4 critical</a:t>
            </a:r>
            <a:endParaRPr lang="en-US" sz="1100" dirty="0"/>
          </a:p>
        </p:txBody>
      </p:sp>
      <p:sp>
        <p:nvSpPr>
          <p:cNvPr id="32" name="Shape 29"/>
          <p:cNvSpPr/>
          <p:nvPr/>
        </p:nvSpPr>
        <p:spPr>
          <a:xfrm>
            <a:off x="8129016" y="1783080"/>
            <a:ext cx="3511296" cy="777240"/>
          </a:xfrm>
          <a:prstGeom prst="roundRect">
            <a:avLst>
              <a:gd name="adj" fmla="val 9412"/>
            </a:avLst>
          </a:prstGeom>
          <a:solidFill>
            <a:schemeClr val="accent5"/>
          </a:solidFill>
          <a:ln/>
        </p:spPr>
      </p:sp>
      <p:sp>
        <p:nvSpPr>
          <p:cNvPr id="33" name="Text 30"/>
          <p:cNvSpPr txBox="1"/>
          <p:nvPr/>
        </p:nvSpPr>
        <p:spPr>
          <a:xfrm>
            <a:off x="8311896"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How we reach and may engage them</a:t>
            </a:r>
            <a:endParaRPr lang="en-US" sz="1400" dirty="0"/>
          </a:p>
        </p:txBody>
      </p:sp>
      <p:sp>
        <p:nvSpPr>
          <p:cNvPr id="34" name="Text 31"/>
          <p:cNvSpPr txBox="1"/>
          <p:nvPr/>
        </p:nvSpPr>
        <p:spPr>
          <a:xfrm>
            <a:off x="8311896"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5 families  |  21 objects  |  118 attributes</a:t>
            </a:r>
            <a:endParaRPr lang="en-US" sz="1200" dirty="0"/>
          </a:p>
        </p:txBody>
      </p:sp>
      <p:sp>
        <p:nvSpPr>
          <p:cNvPr id="35" name="Shape 32"/>
          <p:cNvSpPr/>
          <p:nvPr/>
        </p:nvSpPr>
        <p:spPr>
          <a:xfrm>
            <a:off x="8129016" y="2697480"/>
            <a:ext cx="3511296" cy="612648"/>
          </a:xfrm>
          <a:prstGeom prst="roundRect">
            <a:avLst>
              <a:gd name="adj" fmla="val 11940"/>
            </a:avLst>
          </a:prstGeom>
          <a:solidFill>
            <a:schemeClr val="bg2"/>
          </a:solidFill>
          <a:ln/>
        </p:spPr>
      </p:sp>
      <p:sp>
        <p:nvSpPr>
          <p:cNvPr id="36" name="Text 33"/>
          <p:cNvSpPr txBox="1"/>
          <p:nvPr/>
        </p:nvSpPr>
        <p:spPr>
          <a:xfrm>
            <a:off x="8311896"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Classification &amp; Segmentation</a:t>
            </a:r>
            <a:endParaRPr lang="en-US" sz="1300" dirty="0"/>
          </a:p>
        </p:txBody>
      </p:sp>
      <p:sp>
        <p:nvSpPr>
          <p:cNvPr id="37" name="Text 34"/>
          <p:cNvSpPr txBox="1"/>
          <p:nvPr/>
        </p:nvSpPr>
        <p:spPr>
          <a:xfrm>
            <a:off x="8311896"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3 objects  |  17 attributes  |  4 critical</a:t>
            </a:r>
            <a:endParaRPr lang="en-US" sz="1100" dirty="0"/>
          </a:p>
        </p:txBody>
      </p:sp>
      <p:sp>
        <p:nvSpPr>
          <p:cNvPr id="38" name="Shape 35"/>
          <p:cNvSpPr/>
          <p:nvPr/>
        </p:nvSpPr>
        <p:spPr>
          <a:xfrm>
            <a:off x="8129016" y="3410712"/>
            <a:ext cx="3511296" cy="612648"/>
          </a:xfrm>
          <a:prstGeom prst="roundRect">
            <a:avLst>
              <a:gd name="adj" fmla="val 11940"/>
            </a:avLst>
          </a:prstGeom>
          <a:solidFill>
            <a:schemeClr val="bg2"/>
          </a:solidFill>
          <a:ln/>
        </p:spPr>
      </p:sp>
      <p:sp>
        <p:nvSpPr>
          <p:cNvPr id="39" name="Text 36"/>
          <p:cNvSpPr txBox="1"/>
          <p:nvPr/>
        </p:nvSpPr>
        <p:spPr>
          <a:xfrm>
            <a:off x="8311896"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Contact Points</a:t>
            </a:r>
            <a:endParaRPr lang="en-US" sz="1300" dirty="0"/>
          </a:p>
        </p:txBody>
      </p:sp>
      <p:sp>
        <p:nvSpPr>
          <p:cNvPr id="40" name="Text 37"/>
          <p:cNvSpPr txBox="1"/>
          <p:nvPr/>
        </p:nvSpPr>
        <p:spPr>
          <a:xfrm>
            <a:off x="8311896"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5 objects  |  18 attributes  |  4 critical</a:t>
            </a:r>
            <a:endParaRPr lang="en-US" sz="1100" dirty="0"/>
          </a:p>
        </p:txBody>
      </p:sp>
      <p:sp>
        <p:nvSpPr>
          <p:cNvPr id="41" name="Shape 38"/>
          <p:cNvSpPr/>
          <p:nvPr/>
        </p:nvSpPr>
        <p:spPr>
          <a:xfrm>
            <a:off x="8129016" y="4123944"/>
            <a:ext cx="3511296" cy="612648"/>
          </a:xfrm>
          <a:prstGeom prst="roundRect">
            <a:avLst>
              <a:gd name="adj" fmla="val 11940"/>
            </a:avLst>
          </a:prstGeom>
          <a:solidFill>
            <a:schemeClr val="bg2"/>
          </a:solidFill>
          <a:ln/>
        </p:spPr>
      </p:sp>
      <p:sp>
        <p:nvSpPr>
          <p:cNvPr id="42" name="Text 39"/>
          <p:cNvSpPr txBox="1"/>
          <p:nvPr/>
        </p:nvSpPr>
        <p:spPr>
          <a:xfrm>
            <a:off x="8311896" y="4178808"/>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Client Onboarding &amp; KYC</a:t>
            </a:r>
            <a:endParaRPr lang="en-US" sz="1300" dirty="0"/>
          </a:p>
        </p:txBody>
      </p:sp>
      <p:sp>
        <p:nvSpPr>
          <p:cNvPr id="43" name="Text 40"/>
          <p:cNvSpPr txBox="1"/>
          <p:nvPr/>
        </p:nvSpPr>
        <p:spPr>
          <a:xfrm>
            <a:off x="8311896"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22 attributes  |  6 critical</a:t>
            </a:r>
            <a:endParaRPr lang="en-US" sz="1100" dirty="0"/>
          </a:p>
        </p:txBody>
      </p:sp>
      <p:sp>
        <p:nvSpPr>
          <p:cNvPr id="44" name="Shape 41"/>
          <p:cNvSpPr/>
          <p:nvPr/>
        </p:nvSpPr>
        <p:spPr>
          <a:xfrm>
            <a:off x="8129016" y="4837176"/>
            <a:ext cx="3511296" cy="612648"/>
          </a:xfrm>
          <a:prstGeom prst="roundRect">
            <a:avLst>
              <a:gd name="adj" fmla="val 11940"/>
            </a:avLst>
          </a:prstGeom>
          <a:solidFill>
            <a:schemeClr val="bg2"/>
          </a:solidFill>
          <a:ln/>
        </p:spPr>
      </p:sp>
      <p:sp>
        <p:nvSpPr>
          <p:cNvPr id="45" name="Text 42"/>
          <p:cNvSpPr txBox="1"/>
          <p:nvPr/>
        </p:nvSpPr>
        <p:spPr>
          <a:xfrm>
            <a:off x="8311896" y="4892040"/>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Privacy, Consent &amp; Data Governance</a:t>
            </a:r>
            <a:endParaRPr lang="en-US" sz="1300" dirty="0"/>
          </a:p>
        </p:txBody>
      </p:sp>
      <p:sp>
        <p:nvSpPr>
          <p:cNvPr id="46" name="Text 43"/>
          <p:cNvSpPr txBox="1"/>
          <p:nvPr/>
        </p:nvSpPr>
        <p:spPr>
          <a:xfrm>
            <a:off x="8311896" y="5157216"/>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5 objects  |  23 attributes  |  7 critical</a:t>
            </a:r>
            <a:endParaRPr lang="en-US" sz="1100" dirty="0"/>
          </a:p>
        </p:txBody>
      </p:sp>
      <p:sp>
        <p:nvSpPr>
          <p:cNvPr id="47" name="Shape 44"/>
          <p:cNvSpPr/>
          <p:nvPr/>
        </p:nvSpPr>
        <p:spPr>
          <a:xfrm>
            <a:off x="8129016" y="5550408"/>
            <a:ext cx="3511296" cy="612648"/>
          </a:xfrm>
          <a:prstGeom prst="roundRect">
            <a:avLst>
              <a:gd name="adj" fmla="val 11940"/>
            </a:avLst>
          </a:prstGeom>
          <a:solidFill>
            <a:schemeClr val="bg2"/>
          </a:solidFill>
          <a:ln/>
        </p:spPr>
      </p:sp>
      <p:sp>
        <p:nvSpPr>
          <p:cNvPr id="48" name="Text 45"/>
          <p:cNvSpPr txBox="1"/>
          <p:nvPr/>
        </p:nvSpPr>
        <p:spPr>
          <a:xfrm>
            <a:off x="8311896" y="5605272"/>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Client Preferences &amp; Restrictions</a:t>
            </a:r>
            <a:endParaRPr lang="en-US" sz="1300" dirty="0"/>
          </a:p>
        </p:txBody>
      </p:sp>
      <p:sp>
        <p:nvSpPr>
          <p:cNvPr id="49" name="Text 46"/>
          <p:cNvSpPr txBox="1"/>
          <p:nvPr/>
        </p:nvSpPr>
        <p:spPr>
          <a:xfrm>
            <a:off x="8311896" y="5870448"/>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38 attributes  |  14 critical</a:t>
            </a:r>
            <a:endParaRPr lang="en-US" sz="1100" dirty="0"/>
          </a:p>
        </p:txBody>
      </p:sp>
      <p:sp>
        <p:nvSpPr>
          <p:cNvPr id="50" name="Text 47"/>
          <p:cNvSpPr txBox="1"/>
          <p:nvPr/>
        </p:nvSpPr>
        <p:spPr>
          <a:xfrm>
            <a:off x="548640" y="4261104"/>
            <a:ext cx="3511296" cy="914400"/>
          </a:xfrm>
          <a:prstGeom prst="rect">
            <a:avLst/>
          </a:prstGeom>
          <a:noFill/>
          <a:ln/>
        </p:spPr>
        <p:txBody>
          <a:bodyPr wrap="square" lIns="0" tIns="0" rIns="0" bIns="0" rtlCol="0" anchor="t"/>
          <a:lstStyle/>
          <a:p>
            <a:pPr algn="l" indent="0" marL="0">
              <a:buNone/>
            </a:pPr>
            <a:r>
              <a:rPr lang="en-US" sz="1200" dirty="0">
                <a:solidFill>
                  <a:schemeClr val="tx2"/>
                </a:solidFill>
              </a:rPr>
              <a:t>The three groups are a presentation aid for this walkthrough. In the taxonomy, families sit directly under the domain.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1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spine: party and relationship</a:t>
            </a:r>
            <a:endParaRPr lang="en-US" sz="3600" dirty="0"/>
          </a:p>
        </p:txBody>
      </p:sp>
      <p:sp>
        <p:nvSpPr>
          <p:cNvPr id="5" name="Shape 2"/>
          <p:cNvSpPr/>
          <p:nvPr/>
        </p:nvSpPr>
        <p:spPr>
          <a:xfrm>
            <a:off x="548640" y="1783080"/>
            <a:ext cx="5394960" cy="4069080"/>
          </a:xfrm>
          <a:prstGeom prst="roundRect">
            <a:avLst>
              <a:gd name="adj" fmla="val 1798"/>
            </a:avLst>
          </a:prstGeom>
          <a:solidFill>
            <a:schemeClr val="bg2"/>
          </a:solidFill>
          <a:ln/>
        </p:spPr>
      </p:sp>
      <p:sp>
        <p:nvSpPr>
          <p:cNvPr id="6" name="Text 3"/>
          <p:cNvSpPr txBox="1"/>
          <p:nvPr/>
        </p:nvSpPr>
        <p:spPr>
          <a:xfrm>
            <a:off x="777240" y="1965960"/>
            <a:ext cx="4937760" cy="365760"/>
          </a:xfrm>
          <a:prstGeom prst="rect">
            <a:avLst/>
          </a:prstGeom>
          <a:noFill/>
          <a:ln/>
        </p:spPr>
        <p:txBody>
          <a:bodyPr wrap="square" lIns="0" tIns="0" rIns="0" bIns="0" rtlCol="0" anchor="ctr"/>
          <a:lstStyle/>
          <a:p>
            <a:pPr algn="l" indent="0" marL="0">
              <a:buNone/>
            </a:pPr>
            <a:r>
              <a:rPr lang="en-US" sz="1800" b="1" dirty="0">
                <a:solidFill>
                  <a:schemeClr val="accent1"/>
                </a:solidFill>
              </a:rPr>
              <a:t>Party Master</a:t>
            </a:r>
            <a:endParaRPr lang="en-US" sz="1800" dirty="0"/>
          </a:p>
        </p:txBody>
      </p:sp>
      <p:sp>
        <p:nvSpPr>
          <p:cNvPr id="7" name="Text 4"/>
          <p:cNvSpPr txBox="1"/>
          <p:nvPr/>
        </p:nvSpPr>
        <p:spPr>
          <a:xfrm>
            <a:off x="777240" y="2331720"/>
            <a:ext cx="4937760" cy="256032"/>
          </a:xfrm>
          <a:prstGeom prst="rect">
            <a:avLst/>
          </a:prstGeom>
          <a:noFill/>
          <a:ln/>
        </p:spPr>
        <p:txBody>
          <a:bodyPr wrap="square" lIns="0" tIns="0" rIns="0" bIns="0" rtlCol="0" anchor="ctr"/>
          <a:lstStyle/>
          <a:p>
            <a:pPr algn="l" indent="0" marL="0">
              <a:buNone/>
            </a:pPr>
            <a:r>
              <a:rPr lang="en-US" sz="1200" dirty="0">
                <a:solidFill>
                  <a:schemeClr val="tx2"/>
                </a:solidFill>
              </a:rPr>
              <a:t>5 objects  |  32 attributes  |  13 critical</a:t>
            </a:r>
            <a:endParaRPr lang="en-US" sz="1200" dirty="0"/>
          </a:p>
        </p:txBody>
      </p:sp>
      <p:sp>
        <p:nvSpPr>
          <p:cNvPr id="8" name="Text 5"/>
          <p:cNvSpPr txBox="1"/>
          <p:nvPr/>
        </p:nvSpPr>
        <p:spPr>
          <a:xfrm>
            <a:off x="777240" y="2697480"/>
            <a:ext cx="4937760" cy="822960"/>
          </a:xfrm>
          <a:prstGeom prst="rect">
            <a:avLst/>
          </a:prstGeom>
          <a:noFill/>
          <a:ln/>
        </p:spPr>
        <p:txBody>
          <a:bodyPr wrap="square" lIns="0" tIns="0" rIns="0" bIns="0" rtlCol="0" anchor="t"/>
          <a:lstStyle/>
          <a:p>
            <a:pPr algn="l" indent="0" marL="0">
              <a:buNone/>
            </a:pPr>
            <a:r>
              <a:rPr lang="en-US" sz="1300" dirty="0">
                <a:solidFill>
                  <a:schemeClr val="tx1"/>
                </a:solidFill>
              </a:rPr>
              <a:t>The golden record for every external organization and individual, with the roles each one plays.</a:t>
            </a:r>
            <a:endParaRPr lang="en-US" sz="1300" dirty="0"/>
          </a:p>
        </p:txBody>
      </p:sp>
      <p:sp>
        <p:nvSpPr>
          <p:cNvPr id="9" name="Text 6"/>
          <p:cNvSpPr txBox="1"/>
          <p:nvPr/>
        </p:nvSpPr>
        <p:spPr>
          <a:xfrm>
            <a:off x="777240" y="3566160"/>
            <a:ext cx="493776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0" name="Text 7"/>
          <p:cNvSpPr txBox="1"/>
          <p:nvPr/>
        </p:nvSpPr>
        <p:spPr>
          <a:xfrm>
            <a:off x="777240" y="3840480"/>
            <a:ext cx="4937760" cy="822960"/>
          </a:xfrm>
          <a:prstGeom prst="rect">
            <a:avLst/>
          </a:prstGeom>
          <a:noFill/>
          <a:ln/>
        </p:spPr>
        <p:txBody>
          <a:bodyPr wrap="square" lIns="0" tIns="0" rIns="0" bIns="0" rtlCol="0" anchor="t"/>
          <a:lstStyle/>
          <a:p>
            <a:pPr indent="0" marL="0">
              <a:buNone/>
            </a:pPr>
            <a:r>
              <a:rPr lang="en-US" sz="1300" b="1" dirty="0">
                <a:solidFill>
                  <a:schemeClr val="tx1"/>
                </a:solidFill>
              </a:rPr>
              <a:t>Party, </a:t>
            </a:r>
            <a:pPr indent="0" marL="0">
              <a:buNone/>
            </a:pPr>
            <a:r>
              <a:rPr lang="en-US" sz="1300" dirty="0">
                <a:solidFill>
                  <a:schemeClr val="tx1"/>
                </a:solidFill>
              </a:rPr>
              <a:t>Organization, </a:t>
            </a:r>
            <a:pPr indent="0" marL="0">
              <a:buNone/>
            </a:pPr>
            <a:r>
              <a:rPr lang="en-US" sz="1300" dirty="0">
                <a:solidFill>
                  <a:schemeClr val="tx1"/>
                </a:solidFill>
              </a:rPr>
              <a:t>Legal Entity Hierarchy, </a:t>
            </a:r>
            <a:pPr indent="0" marL="0">
              <a:buNone/>
            </a:pPr>
            <a:r>
              <a:rPr lang="en-US" sz="1300" dirty="0">
                <a:solidFill>
                  <a:schemeClr val="tx1"/>
                </a:solidFill>
              </a:rPr>
              <a:t>Individual, </a:t>
            </a:r>
            <a:pPr indent="0" marL="0">
              <a:buNone/>
            </a:pPr>
            <a:r>
              <a:rPr lang="en-US" sz="1300" b="1" dirty="0">
                <a:solidFill>
                  <a:schemeClr val="tx1"/>
                </a:solidFill>
              </a:rPr>
              <a:t>Party Role</a:t>
            </a:r>
            <a:endParaRPr lang="en-US" sz="1300" dirty="0"/>
          </a:p>
        </p:txBody>
      </p:sp>
      <p:sp>
        <p:nvSpPr>
          <p:cNvPr id="11" name="Text 8"/>
          <p:cNvSpPr txBox="1"/>
          <p:nvPr/>
        </p:nvSpPr>
        <p:spPr>
          <a:xfrm>
            <a:off x="777240" y="4709160"/>
            <a:ext cx="493776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12" name="Text 9"/>
          <p:cNvSpPr txBox="1"/>
          <p:nvPr/>
        </p:nvSpPr>
        <p:spPr>
          <a:xfrm>
            <a:off x="777240" y="4983480"/>
            <a:ext cx="4937760" cy="731520"/>
          </a:xfrm>
          <a:prstGeom prst="rect">
            <a:avLst/>
          </a:prstGeom>
          <a:noFill/>
          <a:ln/>
        </p:spPr>
        <p:txBody>
          <a:bodyPr wrap="square" lIns="0" tIns="0" rIns="0" bIns="0" rtlCol="0" anchor="t"/>
          <a:lstStyle/>
          <a:p>
            <a:pPr algn="l" indent="0" marL="0">
              <a:buNone/>
            </a:pPr>
            <a:r>
              <a:rPr lang="en-US" sz="1300" dirty="0">
                <a:solidFill>
                  <a:schemeClr val="tx1"/>
                </a:solidFill>
              </a:rPr>
              <a:t>Party ID, Party Type, Legal Name, Ultimate Parent, Role Type</a:t>
            </a:r>
            <a:endParaRPr lang="en-US" sz="1300" dirty="0"/>
          </a:p>
        </p:txBody>
      </p:sp>
      <p:sp>
        <p:nvSpPr>
          <p:cNvPr id="13" name="Shape 10"/>
          <p:cNvSpPr/>
          <p:nvPr/>
        </p:nvSpPr>
        <p:spPr>
          <a:xfrm>
            <a:off x="6245352" y="1783080"/>
            <a:ext cx="5394960" cy="4069080"/>
          </a:xfrm>
          <a:prstGeom prst="roundRect">
            <a:avLst>
              <a:gd name="adj" fmla="val 1798"/>
            </a:avLst>
          </a:prstGeom>
          <a:solidFill>
            <a:schemeClr val="bg2"/>
          </a:solidFill>
          <a:ln/>
        </p:spPr>
      </p:sp>
      <p:sp>
        <p:nvSpPr>
          <p:cNvPr id="14" name="Text 11"/>
          <p:cNvSpPr txBox="1"/>
          <p:nvPr/>
        </p:nvSpPr>
        <p:spPr>
          <a:xfrm>
            <a:off x="6473952" y="1965960"/>
            <a:ext cx="4937760" cy="365760"/>
          </a:xfrm>
          <a:prstGeom prst="rect">
            <a:avLst/>
          </a:prstGeom>
          <a:noFill/>
          <a:ln/>
        </p:spPr>
        <p:txBody>
          <a:bodyPr wrap="square" lIns="0" tIns="0" rIns="0" bIns="0" rtlCol="0" anchor="ctr"/>
          <a:lstStyle/>
          <a:p>
            <a:pPr algn="l" indent="0" marL="0">
              <a:buNone/>
            </a:pPr>
            <a:r>
              <a:rPr lang="en-US" sz="1800" b="1" dirty="0">
                <a:solidFill>
                  <a:schemeClr val="accent2"/>
                </a:solidFill>
              </a:rPr>
              <a:t>Party Relationships</a:t>
            </a:r>
            <a:endParaRPr lang="en-US" sz="1800" dirty="0"/>
          </a:p>
        </p:txBody>
      </p:sp>
      <p:sp>
        <p:nvSpPr>
          <p:cNvPr id="15" name="Text 12"/>
          <p:cNvSpPr txBox="1"/>
          <p:nvPr/>
        </p:nvSpPr>
        <p:spPr>
          <a:xfrm>
            <a:off x="6473952" y="2331720"/>
            <a:ext cx="4937760" cy="256032"/>
          </a:xfrm>
          <a:prstGeom prst="rect">
            <a:avLst/>
          </a:prstGeom>
          <a:noFill/>
          <a:ln/>
        </p:spPr>
        <p:txBody>
          <a:bodyPr wrap="square" lIns="0" tIns="0" rIns="0" bIns="0" rtlCol="0" anchor="ctr"/>
          <a:lstStyle/>
          <a:p>
            <a:pPr algn="l" indent="0" marL="0">
              <a:buNone/>
            </a:pPr>
            <a:r>
              <a:rPr lang="en-US" sz="1200" dirty="0">
                <a:solidFill>
                  <a:schemeClr val="tx2"/>
                </a:solidFill>
              </a:rPr>
              <a:t>5 objects  |  23 attributes  |  5 critical</a:t>
            </a:r>
            <a:endParaRPr lang="en-US" sz="1200" dirty="0"/>
          </a:p>
        </p:txBody>
      </p:sp>
      <p:sp>
        <p:nvSpPr>
          <p:cNvPr id="16" name="Text 13"/>
          <p:cNvSpPr txBox="1"/>
          <p:nvPr/>
        </p:nvSpPr>
        <p:spPr>
          <a:xfrm>
            <a:off x="6473952" y="2697480"/>
            <a:ext cx="4937760" cy="822960"/>
          </a:xfrm>
          <a:prstGeom prst="rect">
            <a:avLst/>
          </a:prstGeom>
          <a:noFill/>
          <a:ln/>
        </p:spPr>
        <p:txBody>
          <a:bodyPr wrap="square" lIns="0" tIns="0" rIns="0" bIns="0" rtlCol="0" anchor="t"/>
          <a:lstStyle/>
          <a:p>
            <a:pPr algn="l" indent="0" marL="0">
              <a:buNone/>
            </a:pPr>
            <a:r>
              <a:rPr lang="en-US" sz="1300" dirty="0">
                <a:solidFill>
                  <a:schemeClr val="tx1"/>
                </a:solidFill>
              </a:rPr>
              <a:t>Dated links between parties: who belongs to a household or team, who advises whom, who serves a plan.</a:t>
            </a:r>
            <a:endParaRPr lang="en-US" sz="1300" dirty="0"/>
          </a:p>
        </p:txBody>
      </p:sp>
      <p:sp>
        <p:nvSpPr>
          <p:cNvPr id="17" name="Text 14"/>
          <p:cNvSpPr txBox="1"/>
          <p:nvPr/>
        </p:nvSpPr>
        <p:spPr>
          <a:xfrm>
            <a:off x="6473952" y="3566160"/>
            <a:ext cx="493776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8" name="Text 15"/>
          <p:cNvSpPr txBox="1"/>
          <p:nvPr/>
        </p:nvSpPr>
        <p:spPr>
          <a:xfrm>
            <a:off x="6473952" y="3840480"/>
            <a:ext cx="4937760" cy="822960"/>
          </a:xfrm>
          <a:prstGeom prst="rect">
            <a:avLst/>
          </a:prstGeom>
          <a:noFill/>
          <a:ln/>
        </p:spPr>
        <p:txBody>
          <a:bodyPr wrap="square" lIns="0" tIns="0" rIns="0" bIns="0" rtlCol="0" anchor="t"/>
          <a:lstStyle/>
          <a:p>
            <a:pPr indent="0" marL="0">
              <a:buNone/>
            </a:pPr>
            <a:r>
              <a:rPr lang="en-US" sz="1300" b="1" dirty="0">
                <a:solidFill>
                  <a:schemeClr val="tx1"/>
                </a:solidFill>
              </a:rPr>
              <a:t>Party Relationship, </a:t>
            </a:r>
            <a:pPr indent="0" marL="0">
              <a:buNone/>
            </a:pPr>
            <a:r>
              <a:rPr lang="en-US" sz="1300" b="1" dirty="0">
                <a:solidFill>
                  <a:schemeClr val="tx1"/>
                </a:solidFill>
              </a:rPr>
              <a:t>Household Membership, </a:t>
            </a:r>
            <a:pPr indent="0" marL="0">
              <a:buNone/>
            </a:pPr>
            <a:r>
              <a:rPr lang="en-US" sz="1300" b="1" dirty="0">
                <a:solidFill>
                  <a:schemeClr val="tx1"/>
                </a:solidFill>
              </a:rPr>
              <a:t>Team Membership, </a:t>
            </a:r>
            <a:pPr indent="0" marL="0">
              <a:buNone/>
            </a:pPr>
            <a:r>
              <a:rPr lang="en-US" sz="1300" b="1" dirty="0">
                <a:solidFill>
                  <a:schemeClr val="tx1"/>
                </a:solidFill>
              </a:rPr>
              <a:t>Consultant Advisory Relationship, </a:t>
            </a:r>
            <a:pPr indent="0" marL="0">
              <a:buNone/>
            </a:pPr>
            <a:r>
              <a:rPr lang="en-US" sz="1300" b="1" dirty="0">
                <a:solidFill>
                  <a:schemeClr val="tx1"/>
                </a:solidFill>
              </a:rPr>
              <a:t>Plan Service Provider</a:t>
            </a:r>
            <a:endParaRPr lang="en-US" sz="1300" dirty="0"/>
          </a:p>
        </p:txBody>
      </p:sp>
      <p:sp>
        <p:nvSpPr>
          <p:cNvPr id="19" name="Text 16"/>
          <p:cNvSpPr txBox="1"/>
          <p:nvPr/>
        </p:nvSpPr>
        <p:spPr>
          <a:xfrm>
            <a:off x="6473952" y="4709160"/>
            <a:ext cx="493776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20" name="Text 17"/>
          <p:cNvSpPr txBox="1"/>
          <p:nvPr/>
        </p:nvSpPr>
        <p:spPr>
          <a:xfrm>
            <a:off x="6473952" y="4983480"/>
            <a:ext cx="4937760" cy="731520"/>
          </a:xfrm>
          <a:prstGeom prst="rect">
            <a:avLst/>
          </a:prstGeom>
          <a:noFill/>
          <a:ln/>
        </p:spPr>
        <p:txBody>
          <a:bodyPr wrap="square" lIns="0" tIns="0" rIns="0" bIns="0" rtlCol="0" anchor="t"/>
          <a:lstStyle/>
          <a:p>
            <a:pPr algn="l" indent="0" marL="0">
              <a:buNone/>
            </a:pPr>
            <a:r>
              <a:rPr lang="en-US" sz="1300" dirty="0">
                <a:solidFill>
                  <a:schemeClr val="tx1"/>
                </a:solidFill>
              </a:rPr>
              <a:t>Relationship Type, Team Member Role, Consulting Engagement Type, Plan Service Role</a:t>
            </a:r>
            <a:endParaRPr lang="en-US" sz="1300" dirty="0"/>
          </a:p>
        </p:txBody>
      </p:sp>
      <p:sp>
        <p:nvSpPr>
          <p:cNvPr id="21" name="Text 18"/>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party or contact point.</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2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Who the parties are</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Party Identifiers</a:t>
                      </a:r>
                      <a:endParaRPr lang="en-US" sz="1200" dirty="0"/>
                    </a:p>
                    <a:p>
                      <a:pPr indent="0" marL="0">
                        <a:buNone/>
                      </a:pPr>
                      <a:r>
                        <a:rPr lang="en-US" sz="1100" dirty="0">
                          <a:solidFill>
                            <a:schemeClr val="tx2"/>
                          </a:solidFill>
                        </a:rPr>
                        <a:t>5 objects  |  22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Regulatory, market, tax and vendor identifiers used to recognize and match parties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Party Identifier, </a:t>
                      </a:r>
                      <a:pPr indent="0" marL="0">
                        <a:buNone/>
                      </a:pPr>
                      <a:r>
                        <a:rPr lang="en-US" sz="1200" dirty="0">
                          <a:solidFill>
                            <a:schemeClr val="tx1"/>
                          </a:solidFill>
                        </a:rPr>
                        <a:t>LEI Record, </a:t>
                      </a:r>
                      <a:pPr indent="0" marL="0">
                        <a:buNone/>
                      </a:pPr>
                      <a:r>
                        <a:rPr lang="en-US" sz="1200" dirty="0">
                          <a:solidFill>
                            <a:schemeClr val="tx1"/>
                          </a:solidFill>
                        </a:rPr>
                        <a:t>US Regulatory Identifier, </a:t>
                      </a:r>
                      <a:pPr indent="0" marL="0">
                        <a:buNone/>
                      </a:pPr>
                      <a:r>
                        <a:rPr lang="en-US" sz="1200" dirty="0">
                          <a:solidFill>
                            <a:schemeClr val="tx1"/>
                          </a:solidFill>
                        </a:rPr>
                        <a:t>UK &amp; EU Regulatory Identifier, </a:t>
                      </a:r>
                      <a:pPr indent="0" marL="0">
                        <a:buNone/>
                      </a:pPr>
                      <a:r>
                        <a:rPr lang="en-US" sz="1200" dirty="0">
                          <a:solidFill>
                            <a:schemeClr val="tx1"/>
                          </a:solidFill>
                        </a:rPr>
                        <a:t>Market Infrastructure &amp; Vendor Identifier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LEI, Firm CRD Number, FCA Firm Reference Number, Transfer Agent Dealer Number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Intermediary Firm &amp; Hierarchy</a:t>
                      </a:r>
                      <a:endParaRPr lang="en-US" sz="1200" dirty="0"/>
                    </a:p>
                    <a:p>
                      <a:pPr indent="0" marL="0">
                        <a:buNone/>
                      </a:pPr>
                      <a:r>
                        <a:rPr lang="en-US" sz="1100" dirty="0">
                          <a:solidFill>
                            <a:schemeClr val="tx2"/>
                          </a:solidFill>
                        </a:rPr>
                        <a:t>6 objects  |  28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Distributor firms, their regulatory profile and the hierarchy from firm to team</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Distributor Firm, </a:t>
                      </a:r>
                      <a:pPr indent="0" marL="0">
                        <a:buNone/>
                      </a:pPr>
                      <a:r>
                        <a:rPr lang="en-US" sz="1200" dirty="0">
                          <a:solidFill>
                            <a:schemeClr val="tx1"/>
                          </a:solidFill>
                        </a:rPr>
                        <a:t>Form ADV Profile, </a:t>
                      </a:r>
                      <a:pPr indent="0" marL="0">
                        <a:buNone/>
                      </a:pPr>
                      <a:r>
                        <a:rPr lang="en-US" sz="1200" b="1" dirty="0">
                          <a:solidFill>
                            <a:schemeClr val="tx1"/>
                          </a:solidFill>
                        </a:rPr>
                        <a:t>Hierarchy Node, </a:t>
                      </a:r>
                      <a:pPr indent="0" marL="0">
                        <a:buNone/>
                      </a:pPr>
                      <a:r>
                        <a:rPr lang="en-US" sz="1200" dirty="0">
                          <a:solidFill>
                            <a:schemeClr val="tx1"/>
                          </a:solidFill>
                        </a:rPr>
                        <a:t>Branch / Office, </a:t>
                      </a:r>
                      <a:pPr indent="0" marL="0">
                        <a:buNone/>
                      </a:pPr>
                      <a:r>
                        <a:rPr lang="en-US" sz="1200" dirty="0">
                          <a:solidFill>
                            <a:schemeClr val="tx1"/>
                          </a:solidFill>
                        </a:rPr>
                        <a:t>Advisor Team, </a:t>
                      </a:r>
                      <a:pPr indent="0" marL="0">
                        <a:buNone/>
                      </a:pPr>
                      <a:r>
                        <a:rPr lang="en-US" sz="1200" dirty="0">
                          <a:solidFill>
                            <a:schemeClr val="tx1"/>
                          </a:solidFill>
                        </a:rPr>
                        <a:t>Gatekeeper Profile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Channel, Hierarchy Level, Parent Node, Team Rep Code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Financial Professional &amp; Practice</a:t>
                      </a:r>
                      <a:endParaRPr lang="en-US" sz="1200" dirty="0"/>
                    </a:p>
                    <a:p>
                      <a:pPr indent="0" marL="0">
                        <a:buNone/>
                      </a:pPr>
                      <a:r>
                        <a:rPr lang="en-US" sz="1100" dirty="0">
                          <a:solidFill>
                            <a:schemeClr val="tx2"/>
                          </a:solidFill>
                        </a:rPr>
                        <a:t>3 objects  |  25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Individual advisors: their registrations, practice profile and employment history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Financial Professional, </a:t>
                      </a:r>
                      <a:pPr indent="0" marL="0">
                        <a:buNone/>
                      </a:pPr>
                      <a:r>
                        <a:rPr lang="en-US" sz="1200" dirty="0">
                          <a:solidFill>
                            <a:schemeClr val="tx1"/>
                          </a:solidFill>
                        </a:rPr>
                        <a:t>Advisor Practice, </a:t>
                      </a:r>
                      <a:pPr indent="0" marL="0">
                        <a:buNone/>
                      </a:pPr>
                      <a:r>
                        <a:rPr lang="en-US" sz="1200" b="1" dirty="0">
                          <a:solidFill>
                            <a:schemeClr val="tx1"/>
                          </a:solidFill>
                        </a:rPr>
                        <a:t>Employment Affiliation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Professional Type, Registration Status, Practice AUM, Employing Firm</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Institutional &amp; Retirement Clients</a:t>
                      </a:r>
                      <a:endParaRPr lang="en-US" sz="1200" dirty="0"/>
                    </a:p>
                    <a:p>
                      <a:pPr indent="0" marL="0">
                        <a:buNone/>
                      </a:pPr>
                      <a:r>
                        <a:rPr lang="en-US" sz="1100" dirty="0">
                          <a:solidFill>
                            <a:schemeClr val="tx2"/>
                          </a:solidFill>
                        </a:rPr>
                        <a:t>4 objects  |  25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Asset owners, investment consultants, and retirement plans with their recordkeepers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Institutional Client, </a:t>
                      </a:r>
                      <a:pPr indent="0" marL="0">
                        <a:buNone/>
                      </a:pPr>
                      <a:r>
                        <a:rPr lang="en-US" sz="1200" dirty="0">
                          <a:solidFill>
                            <a:schemeClr val="tx1"/>
                          </a:solidFill>
                        </a:rPr>
                        <a:t>Consultant Profile, </a:t>
                      </a:r>
                      <a:pPr indent="0" marL="0">
                        <a:buNone/>
                      </a:pPr>
                      <a:r>
                        <a:rPr lang="en-US" sz="1200" b="1" dirty="0">
                          <a:solidFill>
                            <a:schemeClr val="tx1"/>
                          </a:solidFill>
                        </a:rPr>
                        <a:t>Retirement Plan, </a:t>
                      </a:r>
                      <a:pPr indent="0" marL="0">
                        <a:buNone/>
                      </a:pPr>
                      <a:r>
                        <a:rPr lang="en-US" sz="1200" dirty="0">
                          <a:solidFill>
                            <a:schemeClr val="tx1"/>
                          </a:solidFill>
                        </a:rPr>
                        <a:t>Recordkeeper Profile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Institutional Client Type, Total Investable Assets, Sponsor EIN, Plan Number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End Investor &amp; Household</a:t>
                      </a:r>
                      <a:endParaRPr lang="en-US" sz="1200" dirty="0"/>
                    </a:p>
                    <a:p>
                      <a:pPr indent="0" marL="0">
                        <a:buNone/>
                      </a:pPr>
                      <a:r>
                        <a:rPr lang="en-US" sz="1100" dirty="0">
                          <a:solidFill>
                            <a:schemeClr val="tx2"/>
                          </a:solidFill>
                        </a:rPr>
                        <a:t>2 objects  |  13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End investors behind intermediaries, on a look-through basis, and their households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End Investor, </a:t>
                      </a:r>
                      <a:pPr indent="0" marL="0">
                        <a:buNone/>
                      </a:pPr>
                      <a:r>
                        <a:rPr lang="en-US" sz="1200" b="1" dirty="0">
                          <a:solidFill>
                            <a:schemeClr val="tx1"/>
                          </a:solidFill>
                        </a:rPr>
                        <a:t>Household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Look-Through Data Basis, Pseudonymized Investor Key, Investor Age Band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party or contact point.</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3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How we reach and may engage them</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Classification &amp; Segmentation</a:t>
                      </a:r>
                      <a:endParaRPr lang="en-US" sz="1200" dirty="0"/>
                    </a:p>
                    <a:p>
                      <a:pPr indent="0" marL="0">
                        <a:buNone/>
                      </a:pPr>
                      <a:r>
                        <a:rPr lang="en-US" sz="1100" dirty="0">
                          <a:solidFill>
                            <a:schemeClr val="tx2"/>
                          </a:solidFill>
                        </a:rPr>
                        <a:t>3 objects  |  17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Regulatory client categories, firm-defined segments and vendor classifications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Regulatory Classification, </a:t>
                      </a:r>
                      <a:pPr indent="0" marL="0">
                        <a:buNone/>
                      </a:pPr>
                      <a:r>
                        <a:rPr lang="en-US" sz="1200" b="1" dirty="0">
                          <a:solidFill>
                            <a:schemeClr val="tx1"/>
                          </a:solidFill>
                        </a:rPr>
                        <a:t>Segment Assignment, </a:t>
                      </a:r>
                      <a:pPr indent="0" marL="0">
                        <a:buNone/>
                      </a:pPr>
                      <a:r>
                        <a:rPr lang="en-US" sz="1200" b="1" dirty="0">
                          <a:solidFill>
                            <a:schemeClr val="tx1"/>
                          </a:solidFill>
                        </a:rPr>
                        <a:t>External Classification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MiFID Client Category, US Investor Qualification, Segment, Vendor Channel</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Contact Points</a:t>
                      </a:r>
                      <a:endParaRPr lang="en-US" sz="1200" dirty="0"/>
                    </a:p>
                    <a:p>
                      <a:pPr indent="0" marL="0">
                        <a:buNone/>
                      </a:pPr>
                      <a:r>
                        <a:rPr lang="en-US" sz="1100" dirty="0">
                          <a:solidFill>
                            <a:schemeClr val="tx2"/>
                          </a:solidFill>
                        </a:rPr>
                        <a:t>5 objects  |  18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Addresses, emails, phones and digital profiles, with usage and verification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Contact Point Address, </a:t>
                      </a:r>
                      <a:pPr indent="0" marL="0">
                        <a:buNone/>
                      </a:pPr>
                      <a:r>
                        <a:rPr lang="en-US" sz="1200" dirty="0">
                          <a:solidFill>
                            <a:schemeClr val="tx1"/>
                          </a:solidFill>
                        </a:rPr>
                        <a:t>Contact Point Email, </a:t>
                      </a:r>
                      <a:pPr indent="0" marL="0">
                        <a:buNone/>
                      </a:pPr>
                      <a:r>
                        <a:rPr lang="en-US" sz="1200" dirty="0">
                          <a:solidFill>
                            <a:schemeClr val="tx1"/>
                          </a:solidFill>
                        </a:rPr>
                        <a:t>Contact Point Phone, </a:t>
                      </a:r>
                      <a:pPr indent="0" marL="0">
                        <a:buNone/>
                      </a:pPr>
                      <a:r>
                        <a:rPr lang="en-US" sz="1200" dirty="0">
                          <a:solidFill>
                            <a:schemeClr val="tx1"/>
                          </a:solidFill>
                        </a:rPr>
                        <a:t>Digital Profile, </a:t>
                      </a:r>
                      <a:pPr indent="0" marL="0">
                        <a:buNone/>
                      </a:pPr>
                      <a:r>
                        <a:rPr lang="en-US" sz="1200" b="1" dirty="0">
                          <a:solidFill>
                            <a:schemeClr val="tx1"/>
                          </a:solidFill>
                        </a:rPr>
                        <a:t>Contact Point Usage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Country, Email Address, Phone Number, Primary Contact Point Indicator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Client Onboarding &amp; KYC</a:t>
                      </a:r>
                      <a:endParaRPr lang="en-US" sz="1200" dirty="0"/>
                    </a:p>
                    <a:p>
                      <a:pPr indent="0" marL="0">
                        <a:buNone/>
                      </a:pPr>
                      <a:r>
                        <a:rPr lang="en-US" sz="1100" dirty="0">
                          <a:solidFill>
                            <a:schemeClr val="tx2"/>
                          </a:solidFill>
                        </a:rPr>
                        <a:t>4 objects  |  22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Onboarding, due diligence, beneficial ownership and tax status of clients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Onboarding Case, </a:t>
                      </a:r>
                      <a:pPr indent="0" marL="0">
                        <a:buNone/>
                      </a:pPr>
                      <a:r>
                        <a:rPr lang="en-US" sz="1200" dirty="0">
                          <a:solidFill>
                            <a:schemeClr val="tx1"/>
                          </a:solidFill>
                        </a:rPr>
                        <a:t>KYC Profile, </a:t>
                      </a:r>
                      <a:pPr indent="0" marL="0">
                        <a:buNone/>
                      </a:pPr>
                      <a:r>
                        <a:rPr lang="en-US" sz="1200" b="1" dirty="0">
                          <a:solidFill>
                            <a:schemeClr val="tx1"/>
                          </a:solidFill>
                        </a:rPr>
                        <a:t>Beneficial Ownership, </a:t>
                      </a:r>
                      <a:pPr indent="0" marL="0">
                        <a:buNone/>
                      </a:pPr>
                      <a:r>
                        <a:rPr lang="en-US" sz="1200" dirty="0">
                          <a:solidFill>
                            <a:schemeClr val="tx1"/>
                          </a:solidFill>
                        </a:rPr>
                        <a:t>Tax Profile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KYC Status, AML Risk Rating, PEP Status, FATCA Status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Privacy, Consent &amp; Data Governance</a:t>
                      </a:r>
                      <a:endParaRPr lang="en-US" sz="1200" dirty="0"/>
                    </a:p>
                    <a:p>
                      <a:pPr indent="0" marL="0">
                        <a:buNone/>
                      </a:pPr>
                      <a:r>
                        <a:rPr lang="en-US" sz="1100" dirty="0">
                          <a:solidFill>
                            <a:schemeClr val="tx2"/>
                          </a:solidFill>
                        </a:rPr>
                        <a:t>5 objects  |  23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Privacy status, lawful basis, consent, data subject requests and retention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Privacy Profile, </a:t>
                      </a:r>
                      <a:pPr indent="0" marL="0">
                        <a:buNone/>
                      </a:pPr>
                      <a:r>
                        <a:rPr lang="en-US" sz="1200" b="1" dirty="0">
                          <a:solidFill>
                            <a:schemeClr val="tx1"/>
                          </a:solidFill>
                        </a:rPr>
                        <a:t>Processing Legal Basis, </a:t>
                      </a:r>
                      <a:pPr indent="0" marL="0">
                        <a:buNone/>
                      </a:pPr>
                      <a:r>
                        <a:rPr lang="en-US" sz="1200" b="1" dirty="0">
                          <a:solidFill>
                            <a:schemeClr val="tx1"/>
                          </a:solidFill>
                        </a:rPr>
                        <a:t>Consent Record, </a:t>
                      </a:r>
                      <a:pPr indent="0" marL="0">
                        <a:buNone/>
                      </a:pPr>
                      <a:r>
                        <a:rPr lang="en-US" sz="1200" b="1" dirty="0">
                          <a:solidFill>
                            <a:schemeClr val="tx1"/>
                          </a:solidFill>
                        </a:rPr>
                        <a:t>Data Subject Request, </a:t>
                      </a:r>
                      <a:pPr indent="0" marL="0">
                        <a:buNone/>
                      </a:pPr>
                      <a:r>
                        <a:rPr lang="en-US" sz="1200" dirty="0">
                          <a:solidFill>
                            <a:schemeClr val="tx1"/>
                          </a:solidFill>
                        </a:rPr>
                        <a:t>Retention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Lawful Basis, Consent Status, Do Not Contact Indicator, Request Type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Client Preferences &amp; Restrictions</a:t>
                      </a:r>
                      <a:endParaRPr lang="en-US" sz="1200" dirty="0"/>
                    </a:p>
                    <a:p>
                      <a:pPr indent="0" marL="0">
                        <a:buNone/>
                      </a:pPr>
                      <a:r>
                        <a:rPr lang="en-US" sz="1100" dirty="0">
                          <a:solidFill>
                            <a:schemeClr val="tx2"/>
                          </a:solidFill>
                        </a:rPr>
                        <a:t>4 objects  |  38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How each client wants to be engaged, and the restrictions that apply to them</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Contact Preference, </a:t>
                      </a:r>
                      <a:pPr indent="0" marL="0">
                        <a:buNone/>
                      </a:pPr>
                      <a:r>
                        <a:rPr lang="en-US" sz="1200" b="1" dirty="0">
                          <a:solidFill>
                            <a:schemeClr val="tx1"/>
                          </a:solidFill>
                        </a:rPr>
                        <a:t>Communication Preference, </a:t>
                      </a:r>
                      <a:pPr indent="0" marL="0">
                        <a:buNone/>
                      </a:pPr>
                      <a:r>
                        <a:rPr lang="en-US" sz="1200" b="1" dirty="0">
                          <a:solidFill>
                            <a:schemeClr val="tx1"/>
                          </a:solidFill>
                        </a:rPr>
                        <a:t>Client Restriction, </a:t>
                      </a:r>
                      <a:pPr indent="0" marL="0">
                        <a:buNone/>
                      </a:pPr>
                      <a:r>
                        <a:rPr lang="en-US" sz="1200" b="1" dirty="0">
                          <a:solidFill>
                            <a:schemeClr val="tx1"/>
                          </a:solidFill>
                        </a:rPr>
                        <a:t>Restricted Client Status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Preferred Contact Channel, Opt-In Status, Restriction Category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party or contact point.</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WHERE THE DEFINITIONS COME FROM</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Built on standards and public registers</a:t>
            </a:r>
            <a:endParaRPr lang="en-US" sz="3600" dirty="0"/>
          </a:p>
        </p:txBody>
      </p:sp>
      <p:graphicFrame>
        <p:nvGraphicFramePr>
          <p:cNvPr id="5" name="Chart 0" descr=""/>
          <p:cNvGraphicFramePr/>
          <p:nvPr/>
        </p:nvGraphicFramePr>
        <p:xfrm>
          <a:off x="548640" y="1783080"/>
          <a:ext cx="6400800" cy="40690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70448"/>
            <a:ext cx="6400800" cy="411480"/>
          </a:xfrm>
          <a:prstGeom prst="rect">
            <a:avLst/>
          </a:prstGeom>
          <a:noFill/>
          <a:ln/>
        </p:spPr>
        <p:txBody>
          <a:bodyPr wrap="square" lIns="0" tIns="0" rIns="0" bIns="0" rtlCol="0" anchor="t"/>
          <a:lstStyle/>
          <a:p>
            <a:pPr algn="l" indent="0" marL="0">
              <a:buNone/>
            </a:pPr>
            <a:r>
              <a:rPr lang="en-US" sz="1100" dirty="0">
                <a:solidFill>
                  <a:schemeClr val="tx2"/>
                </a:solidFill>
              </a:rPr>
              <a:t>Internal = no authoritative external definition exists. Other includes ISO 20022, DTCC / NSCC, FIBO, MiFID II, FATF, FATCA and CRS, FCA and vendor schemes.</a:t>
            </a:r>
            <a:endParaRPr lang="en-US" sz="1100" dirty="0"/>
          </a:p>
        </p:txBody>
      </p:sp>
      <p:sp>
        <p:nvSpPr>
          <p:cNvPr id="7" name="Shape 3"/>
          <p:cNvSpPr/>
          <p:nvPr/>
        </p:nvSpPr>
        <p:spPr>
          <a:xfrm>
            <a:off x="7315200" y="1783080"/>
            <a:ext cx="4325112" cy="1280160"/>
          </a:xfrm>
          <a:prstGeom prst="roundRect">
            <a:avLst>
              <a:gd name="adj" fmla="val 5714"/>
            </a:avLst>
          </a:prstGeom>
          <a:solidFill>
            <a:schemeClr val="bg2"/>
          </a:solidFill>
          <a:ln/>
        </p:spPr>
      </p:sp>
      <p:sp>
        <p:nvSpPr>
          <p:cNvPr id="8" name="Text 4"/>
          <p:cNvSpPr txBox="1"/>
          <p:nvPr/>
        </p:nvSpPr>
        <p:spPr>
          <a:xfrm>
            <a:off x="7543800" y="189280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55%</a:t>
            </a:r>
            <a:endParaRPr lang="en-US" sz="3200" dirty="0"/>
          </a:p>
        </p:txBody>
      </p:sp>
      <p:sp>
        <p:nvSpPr>
          <p:cNvPr id="9" name="Text 5"/>
          <p:cNvSpPr txBox="1"/>
          <p:nvPr/>
        </p:nvSpPr>
        <p:spPr>
          <a:xfrm>
            <a:off x="7543800" y="245973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of attributes (157 of 286) align to an external standard, register or regulation</a:t>
            </a:r>
            <a:endParaRPr lang="en-US" sz="1300" dirty="0"/>
          </a:p>
        </p:txBody>
      </p:sp>
      <p:sp>
        <p:nvSpPr>
          <p:cNvPr id="10" name="Shape 6"/>
          <p:cNvSpPr/>
          <p:nvPr/>
        </p:nvSpPr>
        <p:spPr>
          <a:xfrm>
            <a:off x="7315200" y="3246120"/>
            <a:ext cx="4325112" cy="1280160"/>
          </a:xfrm>
          <a:prstGeom prst="roundRect">
            <a:avLst>
              <a:gd name="adj" fmla="val 5714"/>
            </a:avLst>
          </a:prstGeom>
          <a:solidFill>
            <a:schemeClr val="bg2"/>
          </a:solidFill>
          <a:ln/>
        </p:spPr>
      </p:sp>
      <p:sp>
        <p:nvSpPr>
          <p:cNvPr id="11" name="Text 7"/>
          <p:cNvSpPr txBox="1"/>
          <p:nvPr/>
        </p:nvSpPr>
        <p:spPr>
          <a:xfrm>
            <a:off x="7543800" y="335584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99</a:t>
            </a:r>
            <a:endParaRPr lang="en-US" sz="3200" dirty="0"/>
          </a:p>
        </p:txBody>
      </p:sp>
      <p:sp>
        <p:nvSpPr>
          <p:cNvPr id="12" name="Text 8"/>
          <p:cNvSpPr txBox="1"/>
          <p:nvPr/>
        </p:nvSpPr>
        <p:spPr>
          <a:xfrm>
            <a:off x="7543800" y="392277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take their values from a controlled code list, not free text</a:t>
            </a:r>
            <a:endParaRPr lang="en-US" sz="1300" dirty="0"/>
          </a:p>
        </p:txBody>
      </p:sp>
      <p:sp>
        <p:nvSpPr>
          <p:cNvPr id="13" name="Shape 9"/>
          <p:cNvSpPr/>
          <p:nvPr/>
        </p:nvSpPr>
        <p:spPr>
          <a:xfrm>
            <a:off x="7315200" y="4709160"/>
            <a:ext cx="4325112" cy="1280160"/>
          </a:xfrm>
          <a:prstGeom prst="roundRect">
            <a:avLst>
              <a:gd name="adj" fmla="val 5714"/>
            </a:avLst>
          </a:prstGeom>
          <a:solidFill>
            <a:schemeClr val="bg2"/>
          </a:solidFill>
          <a:ln/>
        </p:spPr>
      </p:sp>
      <p:sp>
        <p:nvSpPr>
          <p:cNvPr id="14" name="Text 10"/>
          <p:cNvSpPr txBox="1"/>
          <p:nvPr/>
        </p:nvSpPr>
        <p:spPr>
          <a:xfrm>
            <a:off x="7543800" y="481888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68</a:t>
            </a:r>
            <a:endParaRPr lang="en-US" sz="3200" dirty="0"/>
          </a:p>
        </p:txBody>
      </p:sp>
      <p:sp>
        <p:nvSpPr>
          <p:cNvPr id="15" name="Text 11"/>
          <p:cNvSpPr txBox="1"/>
          <p:nvPr/>
        </p:nvSpPr>
        <p:spPr>
          <a:xfrm>
            <a:off x="7543800" y="538581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are flagged as personal data under GDPR and US state privacy law</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SCOPE BOUNDARY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Out of scope by design, and where it lives</a:t>
            </a:r>
            <a:endParaRPr lang="en-US" sz="3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840480"/>
                <a:gridCol w="3566160"/>
                <a:gridCol w="3685032"/>
              </a:tblGrid>
              <a:tr h="365760">
                <a:tc>
                  <a:txBody>
                    <a:bodyPr/>
                    <a:lstStyle/>
                    <a:p>
                      <a:pPr indent="0" marL="0">
                        <a:buNone/>
                      </a:pPr>
                      <a:r>
                        <a:rPr lang="en-US" sz="1200" b="1" dirty="0">
                          <a:solidFill>
                            <a:schemeClr val="bg1"/>
                          </a:solidFill>
                        </a:rPr>
                        <a:t>Not in this domain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Where it lives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keeps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02920">
                <a:tc>
                  <a:txBody>
                    <a:bodyPr/>
                    <a:lstStyle/>
                    <a:p>
                      <a:pPr indent="0" marL="0">
                        <a:buNone/>
                      </a:pPr>
                      <a:r>
                        <a:rPr lang="en-US" sz="1200" b="1" dirty="0">
                          <a:solidFill>
                            <a:schemeClr val="tx1"/>
                          </a:solidFill>
                        </a:rPr>
                        <a:t>Products, share classes and mandates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Investment Product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Restricted products and strategies on a client restriction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Our own sales staff, activities, opportunities and RFPs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Nothing. Those records point to the party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Campaigns, leads, subscription topics, suppression lists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Marketing &amp; Digital</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Each party's opt-in by topic and channel, and the consent behind it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Accounts, account party roles and account restrictions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Account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 restricted account reference on a client restriction. Accounts point back to the party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Transactions, positions, flows and AUM</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 Transactions &amp; AUM Attribution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Practice AUM as a vendor estimate only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Territories, coverage, goals and crediting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Compensation &amp; Territory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advisor team and its rep code. Split percentages stay there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Due diligence on distributors, complaints, staff licenses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Compliance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KYC of clients, and registrations of external advisors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Employees and our own legal entities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Shared &amp; Enterprise Reference Data</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 reference to the employee who approves a restricted-client status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REFERENCED, NOT MASTERED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281 attributes mastered, 5 borrowed</a:t>
            </a:r>
            <a:endParaRPr lang="en-US" sz="3600" dirty="0"/>
          </a:p>
        </p:txBody>
      </p:sp>
      <p:sp>
        <p:nvSpPr>
          <p:cNvPr id="5" name="Shape 2"/>
          <p:cNvSpPr/>
          <p:nvPr/>
        </p:nvSpPr>
        <p:spPr>
          <a:xfrm>
            <a:off x="548640" y="1783080"/>
            <a:ext cx="3291840" cy="3730752"/>
          </a:xfrm>
          <a:prstGeom prst="roundRect">
            <a:avLst>
              <a:gd name="adj" fmla="val 2222"/>
            </a:avLst>
          </a:prstGeom>
          <a:solidFill>
            <a:schemeClr val="tx1"/>
          </a:solidFill>
          <a:ln/>
        </p:spPr>
      </p:sp>
      <p:sp>
        <p:nvSpPr>
          <p:cNvPr id="6" name="Text 3"/>
          <p:cNvSpPr txBox="1"/>
          <p:nvPr/>
        </p:nvSpPr>
        <p:spPr>
          <a:xfrm>
            <a:off x="822960" y="2057400"/>
            <a:ext cx="2743200" cy="868680"/>
          </a:xfrm>
          <a:prstGeom prst="rect">
            <a:avLst/>
          </a:prstGeom>
          <a:noFill/>
          <a:ln/>
        </p:spPr>
        <p:txBody>
          <a:bodyPr wrap="square" lIns="0" tIns="0" rIns="0" bIns="0" rtlCol="0" anchor="ctr"/>
          <a:lstStyle/>
          <a:p>
            <a:pPr algn="l" indent="0" marL="0">
              <a:buNone/>
            </a:pPr>
            <a:r>
              <a:rPr lang="en-US" sz="6000" b="1" dirty="0">
                <a:solidFill>
                  <a:schemeClr val="accent6"/>
                </a:solidFill>
              </a:rPr>
              <a:t>281</a:t>
            </a:r>
            <a:endParaRPr lang="en-US" sz="6000" dirty="0"/>
          </a:p>
        </p:txBody>
      </p:sp>
      <p:sp>
        <p:nvSpPr>
          <p:cNvPr id="7" name="Text 4"/>
          <p:cNvSpPr txBox="1"/>
          <p:nvPr/>
        </p:nvSpPr>
        <p:spPr>
          <a:xfrm>
            <a:off x="822960" y="2971800"/>
            <a:ext cx="2743200" cy="548640"/>
          </a:xfrm>
          <a:prstGeom prst="rect">
            <a:avLst/>
          </a:prstGeom>
          <a:noFill/>
          <a:ln/>
        </p:spPr>
        <p:txBody>
          <a:bodyPr wrap="square" lIns="0" tIns="0" rIns="0" bIns="0" rtlCol="0" anchor="t"/>
          <a:lstStyle/>
          <a:p>
            <a:pPr algn="l" indent="0" marL="0">
              <a:buNone/>
            </a:pPr>
            <a:r>
              <a:rPr lang="en-US" sz="1400" dirty="0">
                <a:solidFill>
                  <a:schemeClr val="bg1"/>
                </a:solidFill>
              </a:rPr>
              <a:t>of 286 attributes are mastered in Client &amp; Customer</a:t>
            </a:r>
            <a:endParaRPr lang="en-US" sz="1400" dirty="0"/>
          </a:p>
        </p:txBody>
      </p:sp>
      <p:sp>
        <p:nvSpPr>
          <p:cNvPr id="8" name="Text 5"/>
          <p:cNvSpPr txBox="1"/>
          <p:nvPr/>
        </p:nvSpPr>
        <p:spPr>
          <a:xfrm>
            <a:off x="822960" y="3840480"/>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4 references</a:t>
            </a:r>
            <a:endParaRPr lang="en-US" sz="1600" dirty="0"/>
          </a:p>
        </p:txBody>
      </p:sp>
      <p:sp>
        <p:nvSpPr>
          <p:cNvPr id="9" name="Text 6"/>
          <p:cNvSpPr txBox="1"/>
          <p:nvPr/>
        </p:nvSpPr>
        <p:spPr>
          <a:xfrm>
            <a:off x="822960" y="4133088"/>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Hold only the ID of a record another domain masters</a:t>
            </a:r>
            <a:endParaRPr lang="en-US" sz="1200" dirty="0"/>
          </a:p>
        </p:txBody>
      </p:sp>
      <p:sp>
        <p:nvSpPr>
          <p:cNvPr id="10" name="Text 7"/>
          <p:cNvSpPr txBox="1"/>
          <p:nvPr/>
        </p:nvSpPr>
        <p:spPr>
          <a:xfrm>
            <a:off x="822960" y="4636008"/>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1 derived copy</a:t>
            </a:r>
            <a:endParaRPr lang="en-US" sz="1600" dirty="0"/>
          </a:p>
        </p:txBody>
      </p:sp>
      <p:sp>
        <p:nvSpPr>
          <p:cNvPr id="11" name="Text 8"/>
          <p:cNvSpPr txBox="1"/>
          <p:nvPr/>
        </p:nvSpPr>
        <p:spPr>
          <a:xfrm>
            <a:off x="822960" y="4928616"/>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Display only; never edited here</a:t>
            </a:r>
            <a:endParaRPr lang="en-US" sz="1200" dirty="0"/>
          </a:p>
        </p:txBody>
      </p:sp>
      <p:sp>
        <p:nvSpPr>
          <p:cNvPr id="12" name="Shape 9"/>
          <p:cNvSpPr/>
          <p:nvPr/>
        </p:nvSpPr>
        <p:spPr>
          <a:xfrm>
            <a:off x="4114800" y="1783080"/>
            <a:ext cx="7525512" cy="658368"/>
          </a:xfrm>
          <a:prstGeom prst="roundRect">
            <a:avLst>
              <a:gd name="adj" fmla="val 11111"/>
            </a:avLst>
          </a:prstGeom>
          <a:solidFill>
            <a:schemeClr val="bg2"/>
          </a:solidFill>
          <a:ln/>
        </p:spPr>
      </p:sp>
      <p:sp>
        <p:nvSpPr>
          <p:cNvPr id="13" name="Text 10"/>
          <p:cNvSpPr txBox="1"/>
          <p:nvPr/>
        </p:nvSpPr>
        <p:spPr>
          <a:xfrm>
            <a:off x="4343400" y="1783080"/>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Investment Product</a:t>
            </a:r>
            <a:endParaRPr lang="en-US" sz="1200" dirty="0"/>
          </a:p>
        </p:txBody>
      </p:sp>
      <p:sp>
        <p:nvSpPr>
          <p:cNvPr id="14" name="Text 11"/>
          <p:cNvSpPr txBox="1"/>
          <p:nvPr/>
        </p:nvSpPr>
        <p:spPr>
          <a:xfrm>
            <a:off x="7132320" y="1783080"/>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1 reference</a:t>
            </a:r>
            <a:endParaRPr lang="en-US" sz="1200" dirty="0"/>
          </a:p>
        </p:txBody>
      </p:sp>
      <p:sp>
        <p:nvSpPr>
          <p:cNvPr id="15" name="Text 12"/>
          <p:cNvSpPr txBox="1"/>
          <p:nvPr/>
        </p:nvSpPr>
        <p:spPr>
          <a:xfrm>
            <a:off x="8458200" y="1783080"/>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Restricted products and strategies on a client restriction</a:t>
            </a:r>
            <a:endParaRPr lang="en-US" sz="1100" dirty="0"/>
          </a:p>
        </p:txBody>
      </p:sp>
      <p:sp>
        <p:nvSpPr>
          <p:cNvPr id="16" name="Shape 13"/>
          <p:cNvSpPr/>
          <p:nvPr/>
        </p:nvSpPr>
        <p:spPr>
          <a:xfrm>
            <a:off x="4114800" y="2551176"/>
            <a:ext cx="7525512" cy="658368"/>
          </a:xfrm>
          <a:prstGeom prst="roundRect">
            <a:avLst>
              <a:gd name="adj" fmla="val 11111"/>
            </a:avLst>
          </a:prstGeom>
          <a:solidFill>
            <a:schemeClr val="bg2"/>
          </a:solidFill>
          <a:ln/>
        </p:spPr>
      </p:sp>
      <p:sp>
        <p:nvSpPr>
          <p:cNvPr id="17" name="Text 14"/>
          <p:cNvSpPr txBox="1"/>
          <p:nvPr/>
        </p:nvSpPr>
        <p:spPr>
          <a:xfrm>
            <a:off x="4343400" y="2551176"/>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Shared &amp; Enterprise Reference Data</a:t>
            </a:r>
            <a:endParaRPr lang="en-US" sz="1200" dirty="0"/>
          </a:p>
        </p:txBody>
      </p:sp>
      <p:sp>
        <p:nvSpPr>
          <p:cNvPr id="18" name="Text 15"/>
          <p:cNvSpPr txBox="1"/>
          <p:nvPr/>
        </p:nvSpPr>
        <p:spPr>
          <a:xfrm>
            <a:off x="7132320" y="2551176"/>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1 reference</a:t>
            </a:r>
            <a:endParaRPr lang="en-US" sz="1200" dirty="0"/>
          </a:p>
        </p:txBody>
      </p:sp>
      <p:sp>
        <p:nvSpPr>
          <p:cNvPr id="19" name="Text 16"/>
          <p:cNvSpPr txBox="1"/>
          <p:nvPr/>
        </p:nvSpPr>
        <p:spPr>
          <a:xfrm>
            <a:off x="8458200" y="2551176"/>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The employee who approves a restricted-client status</a:t>
            </a:r>
            <a:endParaRPr lang="en-US" sz="1100" dirty="0"/>
          </a:p>
        </p:txBody>
      </p:sp>
      <p:sp>
        <p:nvSpPr>
          <p:cNvPr id="20" name="Shape 17"/>
          <p:cNvSpPr/>
          <p:nvPr/>
        </p:nvSpPr>
        <p:spPr>
          <a:xfrm>
            <a:off x="4114800" y="3319272"/>
            <a:ext cx="7525512" cy="658368"/>
          </a:xfrm>
          <a:prstGeom prst="roundRect">
            <a:avLst>
              <a:gd name="adj" fmla="val 11111"/>
            </a:avLst>
          </a:prstGeom>
          <a:solidFill>
            <a:schemeClr val="bg2"/>
          </a:solidFill>
          <a:ln/>
        </p:spPr>
      </p:sp>
      <p:sp>
        <p:nvSpPr>
          <p:cNvPr id="21" name="Text 18"/>
          <p:cNvSpPr txBox="1"/>
          <p:nvPr/>
        </p:nvSpPr>
        <p:spPr>
          <a:xfrm>
            <a:off x="4343400" y="3319272"/>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Account</a:t>
            </a:r>
            <a:endParaRPr lang="en-US" sz="1200" dirty="0"/>
          </a:p>
        </p:txBody>
      </p:sp>
      <p:sp>
        <p:nvSpPr>
          <p:cNvPr id="22" name="Text 19"/>
          <p:cNvSpPr txBox="1"/>
          <p:nvPr/>
        </p:nvSpPr>
        <p:spPr>
          <a:xfrm>
            <a:off x="7132320" y="3319272"/>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1 reference</a:t>
            </a:r>
            <a:endParaRPr lang="en-US" sz="1200" dirty="0"/>
          </a:p>
        </p:txBody>
      </p:sp>
      <p:sp>
        <p:nvSpPr>
          <p:cNvPr id="23" name="Text 20"/>
          <p:cNvSpPr txBox="1"/>
          <p:nvPr/>
        </p:nvSpPr>
        <p:spPr>
          <a:xfrm>
            <a:off x="8458200" y="3319272"/>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Restricted account on a client restriction</a:t>
            </a:r>
            <a:endParaRPr lang="en-US" sz="1100" dirty="0"/>
          </a:p>
        </p:txBody>
      </p:sp>
      <p:sp>
        <p:nvSpPr>
          <p:cNvPr id="24" name="Shape 21"/>
          <p:cNvSpPr/>
          <p:nvPr/>
        </p:nvSpPr>
        <p:spPr>
          <a:xfrm>
            <a:off x="4114800" y="4087368"/>
            <a:ext cx="7525512" cy="658368"/>
          </a:xfrm>
          <a:prstGeom prst="roundRect">
            <a:avLst>
              <a:gd name="adj" fmla="val 11111"/>
            </a:avLst>
          </a:prstGeom>
          <a:solidFill>
            <a:schemeClr val="bg2"/>
          </a:solidFill>
          <a:ln/>
        </p:spPr>
      </p:sp>
      <p:sp>
        <p:nvSpPr>
          <p:cNvPr id="25" name="Text 22"/>
          <p:cNvSpPr txBox="1"/>
          <p:nvPr/>
        </p:nvSpPr>
        <p:spPr>
          <a:xfrm>
            <a:off x="4343400" y="4087368"/>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Marketing &amp; Digital</a:t>
            </a:r>
            <a:endParaRPr lang="en-US" sz="1200" dirty="0"/>
          </a:p>
        </p:txBody>
      </p:sp>
      <p:sp>
        <p:nvSpPr>
          <p:cNvPr id="26" name="Text 23"/>
          <p:cNvSpPr txBox="1"/>
          <p:nvPr/>
        </p:nvSpPr>
        <p:spPr>
          <a:xfrm>
            <a:off x="7132320" y="4087368"/>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1 reference</a:t>
            </a:r>
            <a:endParaRPr lang="en-US" sz="1200" dirty="0"/>
          </a:p>
        </p:txBody>
      </p:sp>
      <p:sp>
        <p:nvSpPr>
          <p:cNvPr id="27" name="Text 24"/>
          <p:cNvSpPr txBox="1"/>
          <p:nvPr/>
        </p:nvSpPr>
        <p:spPr>
          <a:xfrm>
            <a:off x="8458200" y="4087368"/>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Subscription topic on a communication preference</a:t>
            </a:r>
            <a:endParaRPr lang="en-US" sz="1100" dirty="0"/>
          </a:p>
        </p:txBody>
      </p:sp>
      <p:sp>
        <p:nvSpPr>
          <p:cNvPr id="28" name="Shape 25"/>
          <p:cNvSpPr/>
          <p:nvPr/>
        </p:nvSpPr>
        <p:spPr>
          <a:xfrm>
            <a:off x="4114800" y="4855464"/>
            <a:ext cx="7525512" cy="658368"/>
          </a:xfrm>
          <a:prstGeom prst="roundRect">
            <a:avLst>
              <a:gd name="adj" fmla="val 11111"/>
            </a:avLst>
          </a:prstGeom>
          <a:solidFill>
            <a:schemeClr val="bg2"/>
          </a:solidFill>
          <a:ln/>
        </p:spPr>
      </p:sp>
      <p:sp>
        <p:nvSpPr>
          <p:cNvPr id="29" name="Text 26"/>
          <p:cNvSpPr txBox="1"/>
          <p:nvPr/>
        </p:nvSpPr>
        <p:spPr>
          <a:xfrm>
            <a:off x="4343400" y="4855464"/>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Third-Party Data &amp; Licensing</a:t>
            </a:r>
            <a:endParaRPr lang="en-US" sz="1200" dirty="0"/>
          </a:p>
        </p:txBody>
      </p:sp>
      <p:sp>
        <p:nvSpPr>
          <p:cNvPr id="30" name="Text 27"/>
          <p:cNvSpPr txBox="1"/>
          <p:nvPr/>
        </p:nvSpPr>
        <p:spPr>
          <a:xfrm>
            <a:off x="7132320" y="4855464"/>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1 copy</a:t>
            </a:r>
            <a:endParaRPr lang="en-US" sz="1200" dirty="0"/>
          </a:p>
        </p:txBody>
      </p:sp>
      <p:sp>
        <p:nvSpPr>
          <p:cNvPr id="31" name="Text 28"/>
          <p:cNvSpPr txBox="1"/>
          <p:nvPr/>
        </p:nvSpPr>
        <p:spPr>
          <a:xfrm>
            <a:off x="8458200" y="4855464"/>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Vendor behind an external classification</a:t>
            </a:r>
            <a:endParaRPr lang="en-US" sz="1100" dirty="0"/>
          </a:p>
        </p:txBody>
      </p:sp>
      <p:sp>
        <p:nvSpPr>
          <p:cNvPr id="32" name="Shape 29"/>
          <p:cNvSpPr/>
          <p:nvPr/>
        </p:nvSpPr>
        <p:spPr>
          <a:xfrm>
            <a:off x="548640" y="5687568"/>
            <a:ext cx="11091672" cy="530352"/>
          </a:xfrm>
          <a:prstGeom prst="roundRect">
            <a:avLst>
              <a:gd name="adj" fmla="val 13793"/>
            </a:avLst>
          </a:prstGeom>
          <a:solidFill>
            <a:schemeClr val="bg2"/>
          </a:solidFill>
          <a:ln/>
        </p:spPr>
      </p:sp>
      <p:sp>
        <p:nvSpPr>
          <p:cNvPr id="33" name="Text 30"/>
          <p:cNvSpPr txBox="1"/>
          <p:nvPr/>
        </p:nvSpPr>
        <p:spPr>
          <a:xfrm>
            <a:off x="777240" y="5687568"/>
            <a:ext cx="10634472" cy="530352"/>
          </a:xfrm>
          <a:prstGeom prst="rect">
            <a:avLst/>
          </a:prstGeom>
          <a:noFill/>
          <a:ln/>
        </p:spPr>
        <p:txBody>
          <a:bodyPr wrap="square" lIns="0" tIns="0" rIns="0" bIns="0" rtlCol="0" anchor="ctr"/>
          <a:lstStyle/>
          <a:p>
            <a:pPr algn="l" indent="0" marL="0">
              <a:buNone/>
            </a:pPr>
            <a:r>
              <a:rPr lang="en-US" sz="1200" dirty="0">
                <a:solidFill>
                  <a:schemeClr val="tx1"/>
                </a:solidFill>
              </a:rPr>
              <a:t>In the other direction, 217 attributes in the 15 other domains reference a party mastered here. Also excluded from every view: Record Metadata, which the program documents separately.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NOT YET COVERED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Not yet covered: 21 open gaps</a:t>
            </a:r>
            <a:endParaRPr lang="en-US" sz="3600" dirty="0"/>
          </a:p>
        </p:txBody>
      </p:sp>
      <p:sp>
        <p:nvSpPr>
          <p:cNvPr id="5" name="Shape 2"/>
          <p:cNvSpPr/>
          <p:nvPr/>
        </p:nvSpPr>
        <p:spPr>
          <a:xfrm>
            <a:off x="548640" y="1783080"/>
            <a:ext cx="3017520" cy="4187952"/>
          </a:xfrm>
          <a:prstGeom prst="roundRect">
            <a:avLst>
              <a:gd name="adj" fmla="val 2424"/>
            </a:avLst>
          </a:prstGeom>
          <a:solidFill>
            <a:schemeClr val="bg2"/>
          </a:solidFill>
          <a:ln/>
        </p:spPr>
      </p:sp>
      <p:sp>
        <p:nvSpPr>
          <p:cNvPr id="6" name="Text 3"/>
          <p:cNvSpPr txBox="1"/>
          <p:nvPr/>
        </p:nvSpPr>
        <p:spPr>
          <a:xfrm>
            <a:off x="822960" y="2011680"/>
            <a:ext cx="2468880" cy="777240"/>
          </a:xfrm>
          <a:prstGeom prst="rect">
            <a:avLst/>
          </a:prstGeom>
          <a:noFill/>
          <a:ln/>
        </p:spPr>
        <p:txBody>
          <a:bodyPr wrap="square" lIns="0" tIns="0" rIns="0" bIns="0" rtlCol="0" anchor="ctr"/>
          <a:lstStyle/>
          <a:p>
            <a:pPr algn="l" indent="0" marL="0">
              <a:buNone/>
            </a:pPr>
            <a:r>
              <a:rPr lang="en-US" sz="5400" b="1" dirty="0">
                <a:solidFill>
                  <a:schemeClr val="accent1"/>
                </a:solidFill>
              </a:rPr>
              <a:t>30</a:t>
            </a:r>
            <a:endParaRPr lang="en-US" sz="5400" dirty="0"/>
          </a:p>
        </p:txBody>
      </p:sp>
      <p:sp>
        <p:nvSpPr>
          <p:cNvPr id="7" name="Text 4"/>
          <p:cNvSpPr txBox="1"/>
          <p:nvPr/>
        </p:nvSpPr>
        <p:spPr>
          <a:xfrm>
            <a:off x="822960" y="2834640"/>
            <a:ext cx="2468880" cy="822960"/>
          </a:xfrm>
          <a:prstGeom prst="rect">
            <a:avLst/>
          </a:prstGeom>
          <a:noFill/>
          <a:ln/>
        </p:spPr>
        <p:txBody>
          <a:bodyPr wrap="square" lIns="0" tIns="0" rIns="0" bIns="0" rtlCol="0" anchor="t"/>
          <a:lstStyle/>
          <a:p>
            <a:pPr algn="l" indent="0" marL="0">
              <a:buNone/>
            </a:pPr>
            <a:r>
              <a:rPr lang="en-US" sz="1300" dirty="0">
                <a:solidFill>
                  <a:schemeClr val="tx1"/>
                </a:solidFill>
              </a:rPr>
              <a:t>gaps raised against Client &amp; Customer while specifying and modeling data products</a:t>
            </a:r>
            <a:endParaRPr lang="en-US" sz="1300" dirty="0"/>
          </a:p>
        </p:txBody>
      </p:sp>
      <p:sp>
        <p:nvSpPr>
          <p:cNvPr id="8" name="Text 5"/>
          <p:cNvSpPr txBox="1"/>
          <p:nvPr/>
        </p:nvSpPr>
        <p:spPr>
          <a:xfrm>
            <a:off x="822960" y="3886200"/>
            <a:ext cx="2468880" cy="320040"/>
          </a:xfrm>
          <a:prstGeom prst="rect">
            <a:avLst/>
          </a:prstGeom>
          <a:noFill/>
          <a:ln/>
        </p:spPr>
        <p:txBody>
          <a:bodyPr wrap="square" lIns="0" tIns="0" rIns="0" bIns="0" rtlCol="0" anchor="ctr"/>
          <a:lstStyle/>
          <a:p>
            <a:pPr algn="l" indent="0" marL="0">
              <a:buNone/>
            </a:pPr>
            <a:r>
              <a:rPr lang="en-US" sz="1600" b="1" dirty="0">
                <a:solidFill>
                  <a:schemeClr val="accent5"/>
                </a:solidFill>
              </a:rPr>
              <a:t>9 resolved</a:t>
            </a:r>
            <a:endParaRPr lang="en-US" sz="1600" dirty="0"/>
          </a:p>
        </p:txBody>
      </p:sp>
      <p:sp>
        <p:nvSpPr>
          <p:cNvPr id="9" name="Text 6"/>
          <p:cNvSpPr txBox="1"/>
          <p:nvPr/>
        </p:nvSpPr>
        <p:spPr>
          <a:xfrm>
            <a:off x="822960" y="4389120"/>
            <a:ext cx="2468880" cy="320040"/>
          </a:xfrm>
          <a:prstGeom prst="rect">
            <a:avLst/>
          </a:prstGeom>
          <a:noFill/>
          <a:ln/>
        </p:spPr>
        <p:txBody>
          <a:bodyPr wrap="square" lIns="0" tIns="0" rIns="0" bIns="0" rtlCol="0" anchor="ctr"/>
          <a:lstStyle/>
          <a:p>
            <a:pPr algn="l" indent="0" marL="0">
              <a:buNone/>
            </a:pPr>
            <a:r>
              <a:rPr lang="en-US" sz="1600" b="1" dirty="0">
                <a:solidFill>
                  <a:schemeClr val="accent4"/>
                </a:solidFill>
              </a:rPr>
              <a:t>21 open</a:t>
            </a:r>
            <a:endParaRPr lang="en-US" sz="1600" dirty="0"/>
          </a:p>
        </p:txBody>
      </p:sp>
      <p:sp>
        <p:nvSpPr>
          <p:cNvPr id="10" name="Text 7"/>
          <p:cNvSpPr txBox="1"/>
          <p:nvPr/>
        </p:nvSpPr>
        <p:spPr>
          <a:xfrm>
            <a:off x="822960" y="4709160"/>
            <a:ext cx="2468880" cy="274320"/>
          </a:xfrm>
          <a:prstGeom prst="rect">
            <a:avLst/>
          </a:prstGeom>
          <a:noFill/>
          <a:ln/>
        </p:spPr>
        <p:txBody>
          <a:bodyPr wrap="square" lIns="0" tIns="0" rIns="0" bIns="0" rtlCol="0" anchor="ctr"/>
          <a:lstStyle/>
          <a:p>
            <a:pPr algn="l" indent="0" marL="0">
              <a:buNone/>
            </a:pPr>
            <a:r>
              <a:rPr lang="en-US" sz="1200" dirty="0">
                <a:solidFill>
                  <a:schemeClr val="tx2"/>
                </a:solidFill>
              </a:rPr>
              <a:t>6 high, 7 medium, 8 low priority</a:t>
            </a:r>
            <a:endParaRPr lang="en-US" sz="1200" dirty="0"/>
          </a:p>
        </p:txBody>
      </p:sp>
      <p:sp>
        <p:nvSpPr>
          <p:cNvPr id="11" name="Shape 8"/>
          <p:cNvSpPr/>
          <p:nvPr/>
        </p:nvSpPr>
        <p:spPr>
          <a:xfrm>
            <a:off x="3840480" y="1783080"/>
            <a:ext cx="7799832" cy="530352"/>
          </a:xfrm>
          <a:prstGeom prst="roundRect">
            <a:avLst>
              <a:gd name="adj" fmla="val 13793"/>
            </a:avLst>
          </a:prstGeom>
          <a:solidFill>
            <a:schemeClr val="bg2"/>
          </a:solidFill>
          <a:ln/>
        </p:spPr>
      </p:sp>
      <p:sp>
        <p:nvSpPr>
          <p:cNvPr id="12" name="Text 9"/>
          <p:cNvSpPr/>
          <p:nvPr/>
        </p:nvSpPr>
        <p:spPr>
          <a:xfrm>
            <a:off x="3977640" y="1892808"/>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13" name="Text 10"/>
          <p:cNvSpPr txBox="1"/>
          <p:nvPr/>
        </p:nvSpPr>
        <p:spPr>
          <a:xfrm>
            <a:off x="4983480" y="178308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GAP-02-003</a:t>
            </a:r>
            <a:endParaRPr lang="en-US" sz="1200" dirty="0"/>
          </a:p>
        </p:txBody>
      </p:sp>
      <p:sp>
        <p:nvSpPr>
          <p:cNvPr id="14" name="Text 11"/>
          <p:cNvSpPr txBox="1"/>
          <p:nvPr/>
        </p:nvSpPr>
        <p:spPr>
          <a:xfrm>
            <a:off x="6126480" y="178308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Account Party Role does not name its account, and End Investor has no as-of date (DP-003, DP-070, DP-076, DP-085)</a:t>
            </a:r>
            <a:endParaRPr lang="en-US" sz="1200" dirty="0"/>
          </a:p>
        </p:txBody>
      </p:sp>
      <p:sp>
        <p:nvSpPr>
          <p:cNvPr id="15" name="Shape 12"/>
          <p:cNvSpPr/>
          <p:nvPr/>
        </p:nvSpPr>
        <p:spPr>
          <a:xfrm>
            <a:off x="3840480" y="2386584"/>
            <a:ext cx="7799832" cy="530352"/>
          </a:xfrm>
          <a:prstGeom prst="roundRect">
            <a:avLst>
              <a:gd name="adj" fmla="val 13793"/>
            </a:avLst>
          </a:prstGeom>
          <a:solidFill>
            <a:schemeClr val="bg2"/>
          </a:solidFill>
          <a:ln/>
        </p:spPr>
      </p:sp>
      <p:sp>
        <p:nvSpPr>
          <p:cNvPr id="16" name="Text 13"/>
          <p:cNvSpPr/>
          <p:nvPr/>
        </p:nvSpPr>
        <p:spPr>
          <a:xfrm>
            <a:off x="3977640" y="2496312"/>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17" name="Text 14"/>
          <p:cNvSpPr txBox="1"/>
          <p:nvPr/>
        </p:nvSpPr>
        <p:spPr>
          <a:xfrm>
            <a:off x="4983480" y="238658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GAP-02-004</a:t>
            </a:r>
            <a:endParaRPr lang="en-US" sz="1200" dirty="0"/>
          </a:p>
        </p:txBody>
      </p:sp>
      <p:sp>
        <p:nvSpPr>
          <p:cNvPr id="18" name="Text 15"/>
          <p:cNvSpPr txBox="1"/>
          <p:nvPr/>
        </p:nvSpPr>
        <p:spPr>
          <a:xfrm>
            <a:off x="6126480" y="238658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Contact Point Usage does not name its party, contact point or usage type (DP-002, DP-028, DP-054)</a:t>
            </a:r>
            <a:endParaRPr lang="en-US" sz="1200" dirty="0"/>
          </a:p>
        </p:txBody>
      </p:sp>
      <p:sp>
        <p:nvSpPr>
          <p:cNvPr id="19" name="Shape 16"/>
          <p:cNvSpPr/>
          <p:nvPr/>
        </p:nvSpPr>
        <p:spPr>
          <a:xfrm>
            <a:off x="3840480" y="2990088"/>
            <a:ext cx="7799832" cy="530352"/>
          </a:xfrm>
          <a:prstGeom prst="roundRect">
            <a:avLst>
              <a:gd name="adj" fmla="val 13793"/>
            </a:avLst>
          </a:prstGeom>
          <a:solidFill>
            <a:schemeClr val="bg2"/>
          </a:solidFill>
          <a:ln/>
        </p:spPr>
      </p:sp>
      <p:sp>
        <p:nvSpPr>
          <p:cNvPr id="20" name="Text 17"/>
          <p:cNvSpPr/>
          <p:nvPr/>
        </p:nvSpPr>
        <p:spPr>
          <a:xfrm>
            <a:off x="3977640" y="3099816"/>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1" name="Text 18"/>
          <p:cNvSpPr txBox="1"/>
          <p:nvPr/>
        </p:nvSpPr>
        <p:spPr>
          <a:xfrm>
            <a:off x="4983480" y="2990088"/>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GAP-02-005</a:t>
            </a:r>
            <a:endParaRPr lang="en-US" sz="1200" dirty="0"/>
          </a:p>
        </p:txBody>
      </p:sp>
      <p:sp>
        <p:nvSpPr>
          <p:cNvPr id="22" name="Text 19"/>
          <p:cNvSpPr txBox="1"/>
          <p:nvPr/>
        </p:nvSpPr>
        <p:spPr>
          <a:xfrm>
            <a:off x="6126480" y="2990088"/>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Consent Record, Processing Legal Basis and Data Subject Request do not name their party (DP-011, DP-028, DP-080)</a:t>
            </a:r>
            <a:endParaRPr lang="en-US" sz="1200" dirty="0"/>
          </a:p>
        </p:txBody>
      </p:sp>
      <p:sp>
        <p:nvSpPr>
          <p:cNvPr id="23" name="Shape 20"/>
          <p:cNvSpPr/>
          <p:nvPr/>
        </p:nvSpPr>
        <p:spPr>
          <a:xfrm>
            <a:off x="3840480" y="3593592"/>
            <a:ext cx="7799832" cy="530352"/>
          </a:xfrm>
          <a:prstGeom prst="roundRect">
            <a:avLst>
              <a:gd name="adj" fmla="val 13793"/>
            </a:avLst>
          </a:prstGeom>
          <a:solidFill>
            <a:schemeClr val="bg2"/>
          </a:solidFill>
          <a:ln/>
        </p:spPr>
      </p:sp>
      <p:sp>
        <p:nvSpPr>
          <p:cNvPr id="24" name="Text 21"/>
          <p:cNvSpPr/>
          <p:nvPr/>
        </p:nvSpPr>
        <p:spPr>
          <a:xfrm>
            <a:off x="3977640" y="3703320"/>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5" name="Text 22"/>
          <p:cNvSpPr txBox="1"/>
          <p:nvPr/>
        </p:nvSpPr>
        <p:spPr>
          <a:xfrm>
            <a:off x="4983480" y="3593592"/>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GAP-02-006</a:t>
            </a:r>
            <a:endParaRPr lang="en-US" sz="1200" dirty="0"/>
          </a:p>
        </p:txBody>
      </p:sp>
      <p:sp>
        <p:nvSpPr>
          <p:cNvPr id="26" name="Text 23"/>
          <p:cNvSpPr txBox="1"/>
          <p:nvPr/>
        </p:nvSpPr>
        <p:spPr>
          <a:xfrm>
            <a:off x="6126480" y="3593592"/>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No foundational product publishes individuals who are not advisors (DP-002, DP-060, DP-080)</a:t>
            </a:r>
            <a:endParaRPr lang="en-US" sz="1200" dirty="0"/>
          </a:p>
        </p:txBody>
      </p:sp>
      <p:sp>
        <p:nvSpPr>
          <p:cNvPr id="27" name="Shape 24"/>
          <p:cNvSpPr/>
          <p:nvPr/>
        </p:nvSpPr>
        <p:spPr>
          <a:xfrm>
            <a:off x="3840480" y="4197096"/>
            <a:ext cx="7799832" cy="530352"/>
          </a:xfrm>
          <a:prstGeom prst="roundRect">
            <a:avLst>
              <a:gd name="adj" fmla="val 13793"/>
            </a:avLst>
          </a:prstGeom>
          <a:solidFill>
            <a:schemeClr val="bg2"/>
          </a:solidFill>
          <a:ln/>
        </p:spPr>
      </p:sp>
      <p:sp>
        <p:nvSpPr>
          <p:cNvPr id="28" name="Text 25"/>
          <p:cNvSpPr/>
          <p:nvPr/>
        </p:nvSpPr>
        <p:spPr>
          <a:xfrm>
            <a:off x="3977640" y="4306824"/>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9" name="Text 26"/>
          <p:cNvSpPr txBox="1"/>
          <p:nvPr/>
        </p:nvSpPr>
        <p:spPr>
          <a:xfrm>
            <a:off x="4983480" y="4197096"/>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GAP-02-008</a:t>
            </a:r>
            <a:endParaRPr lang="en-US" sz="1200" dirty="0"/>
          </a:p>
        </p:txBody>
      </p:sp>
      <p:sp>
        <p:nvSpPr>
          <p:cNvPr id="30" name="Text 27"/>
          <p:cNvSpPr txBox="1"/>
          <p:nvPr/>
        </p:nvSpPr>
        <p:spPr>
          <a:xfrm>
            <a:off x="6126480" y="4197096"/>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The Retirement Plan key, sponsor EIN plus plan number, does not work for UK pension schemes (DP-003)</a:t>
            </a:r>
            <a:endParaRPr lang="en-US" sz="1200" dirty="0"/>
          </a:p>
        </p:txBody>
      </p:sp>
      <p:sp>
        <p:nvSpPr>
          <p:cNvPr id="31" name="Shape 28"/>
          <p:cNvSpPr/>
          <p:nvPr/>
        </p:nvSpPr>
        <p:spPr>
          <a:xfrm>
            <a:off x="3840480" y="4800600"/>
            <a:ext cx="7799832" cy="530352"/>
          </a:xfrm>
          <a:prstGeom prst="roundRect">
            <a:avLst>
              <a:gd name="adj" fmla="val 13793"/>
            </a:avLst>
          </a:prstGeom>
          <a:solidFill>
            <a:schemeClr val="bg2"/>
          </a:solidFill>
          <a:ln/>
        </p:spPr>
      </p:sp>
      <p:sp>
        <p:nvSpPr>
          <p:cNvPr id="32" name="Text 29"/>
          <p:cNvSpPr/>
          <p:nvPr/>
        </p:nvSpPr>
        <p:spPr>
          <a:xfrm>
            <a:off x="3977640" y="4910328"/>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33" name="Text 30"/>
          <p:cNvSpPr txBox="1"/>
          <p:nvPr/>
        </p:nvSpPr>
        <p:spPr>
          <a:xfrm>
            <a:off x="4983480" y="480060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GAP-02-009</a:t>
            </a:r>
            <a:endParaRPr lang="en-US" sz="1200" dirty="0"/>
          </a:p>
        </p:txBody>
      </p:sp>
      <p:sp>
        <p:nvSpPr>
          <p:cNvPr id="34" name="Text 31"/>
          <p:cNvSpPr txBox="1"/>
          <p:nvPr/>
        </p:nvSpPr>
        <p:spPr>
          <a:xfrm>
            <a:off x="6126480" y="480060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One party entity, or separate consultant and recordkeeper entities, in DP-003</a:t>
            </a:r>
            <a:endParaRPr lang="en-US" sz="1200" dirty="0"/>
          </a:p>
        </p:txBody>
      </p:sp>
      <p:sp>
        <p:nvSpPr>
          <p:cNvPr id="35" name="Shape 32"/>
          <p:cNvSpPr/>
          <p:nvPr/>
        </p:nvSpPr>
        <p:spPr>
          <a:xfrm>
            <a:off x="3840480" y="5404104"/>
            <a:ext cx="7799832" cy="530352"/>
          </a:xfrm>
          <a:prstGeom prst="roundRect">
            <a:avLst>
              <a:gd name="adj" fmla="val 13793"/>
            </a:avLst>
          </a:prstGeom>
          <a:solidFill>
            <a:schemeClr val="bg2"/>
          </a:solidFill>
          <a:ln/>
        </p:spPr>
      </p:sp>
      <p:sp>
        <p:nvSpPr>
          <p:cNvPr id="36" name="Text 33"/>
          <p:cNvSpPr/>
          <p:nvPr/>
        </p:nvSpPr>
        <p:spPr>
          <a:xfrm>
            <a:off x="3977640" y="5513832"/>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37" name="Text 34"/>
          <p:cNvSpPr txBox="1"/>
          <p:nvPr/>
        </p:nvSpPr>
        <p:spPr>
          <a:xfrm>
            <a:off x="4983480" y="540410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GAP-02-011</a:t>
            </a:r>
            <a:endParaRPr lang="en-US" sz="1200" dirty="0"/>
          </a:p>
        </p:txBody>
      </p:sp>
      <p:sp>
        <p:nvSpPr>
          <p:cNvPr id="38" name="Text 35"/>
          <p:cNvSpPr txBox="1"/>
          <p:nvPr/>
        </p:nvSpPr>
        <p:spPr>
          <a:xfrm>
            <a:off x="6126480" y="540410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Onboarding Case has no subject, target or completion date, and no outcome (DP-077, DP-086)</a:t>
            </a:r>
            <a:endParaRPr lang="en-US" sz="1200" dirty="0"/>
          </a:p>
        </p:txBody>
      </p:sp>
      <p:sp>
        <p:nvSpPr>
          <p:cNvPr id="39" name="Text 36"/>
          <p:cNvSpPr txBox="1"/>
          <p:nvPr/>
        </p:nvSpPr>
        <p:spPr>
          <a:xfrm>
            <a:off x="3840480" y="6062472"/>
            <a:ext cx="7799832" cy="274320"/>
          </a:xfrm>
          <a:prstGeom prst="rect">
            <a:avLst/>
          </a:prstGeom>
          <a:noFill/>
          <a:ln/>
        </p:spPr>
        <p:txBody>
          <a:bodyPr wrap="square" lIns="0" tIns="0" rIns="0" bIns="0" rtlCol="0" anchor="ctr"/>
          <a:lstStyle/>
          <a:p>
            <a:pPr algn="l" indent="0" marL="0">
              <a:buNone/>
            </a:pPr>
            <a:r>
              <a:rPr lang="en-US" sz="1200" dirty="0">
                <a:solidFill>
                  <a:schemeClr val="tx2"/>
                </a:solidFill>
              </a:rPr>
              <a:t>Each gap has a proposed resolution and a decision owner in Gap_Register.xlsx.</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taxonomy does four jobs</a:t>
            </a:r>
            <a:endParaRPr lang="en-US" sz="3600" dirty="0"/>
          </a:p>
        </p:txBody>
      </p:sp>
      <p:sp>
        <p:nvSpPr>
          <p:cNvPr id="5" name="Shape 2"/>
          <p:cNvSpPr/>
          <p:nvPr/>
        </p:nvSpPr>
        <p:spPr>
          <a:xfrm>
            <a:off x="548640" y="1783080"/>
            <a:ext cx="2560320" cy="2971800"/>
          </a:xfrm>
          <a:prstGeom prst="roundRect">
            <a:avLst>
              <a:gd name="adj" fmla="val 2857"/>
            </a:avLst>
          </a:prstGeom>
          <a:solidFill>
            <a:schemeClr val="bg2"/>
          </a:solidFill>
          <a:ln/>
        </p:spPr>
      </p:sp>
      <p:sp>
        <p:nvSpPr>
          <p:cNvPr id="6" name="Text 3"/>
          <p:cNvSpPr/>
          <p:nvPr/>
        </p:nvSpPr>
        <p:spPr>
          <a:xfrm>
            <a:off x="777240" y="201168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777240"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Mapping target</a:t>
            </a:r>
            <a:endParaRPr lang="en-US" sz="1600" dirty="0"/>
          </a:p>
        </p:txBody>
      </p:sp>
      <p:sp>
        <p:nvSpPr>
          <p:cNvPr id="8" name="Text 5"/>
          <p:cNvSpPr txBox="1"/>
          <p:nvPr/>
        </p:nvSpPr>
        <p:spPr>
          <a:xfrm>
            <a:off x="777240"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CRM, regulatory registers, vendor advisor data, transfer agent files and KYC tools each map to one definition per field. Source mapping is Phase D and is not yet done.</a:t>
            </a:r>
            <a:endParaRPr lang="en-US" sz="1300" dirty="0"/>
          </a:p>
        </p:txBody>
      </p:sp>
      <p:sp>
        <p:nvSpPr>
          <p:cNvPr id="9" name="Shape 6"/>
          <p:cNvSpPr/>
          <p:nvPr/>
        </p:nvSpPr>
        <p:spPr>
          <a:xfrm>
            <a:off x="3392424" y="1783080"/>
            <a:ext cx="2560320" cy="2971800"/>
          </a:xfrm>
          <a:prstGeom prst="roundRect">
            <a:avLst>
              <a:gd name="adj" fmla="val 2857"/>
            </a:avLst>
          </a:prstGeom>
          <a:solidFill>
            <a:schemeClr val="bg2"/>
          </a:solidFill>
          <a:ln/>
        </p:spPr>
      </p:sp>
      <p:sp>
        <p:nvSpPr>
          <p:cNvPr id="10" name="Text 7"/>
          <p:cNvSpPr/>
          <p:nvPr/>
        </p:nvSpPr>
        <p:spPr>
          <a:xfrm>
            <a:off x="3621024" y="201168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8"/>
          <p:cNvSpPr txBox="1"/>
          <p:nvPr/>
        </p:nvSpPr>
        <p:spPr>
          <a:xfrm>
            <a:off x="3621024"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Bill of materials</a:t>
            </a:r>
            <a:endParaRPr lang="en-US" sz="1600" dirty="0"/>
          </a:p>
        </p:txBody>
      </p:sp>
      <p:sp>
        <p:nvSpPr>
          <p:cNvPr id="12" name="Text 9"/>
          <p:cNvSpPr txBox="1"/>
          <p:nvPr/>
        </p:nvSpPr>
        <p:spPr>
          <a:xfrm>
            <a:off x="3621024"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Each data product lists the exact objects and attributes it uses. The build fails if one does not exist in the taxonomy.</a:t>
            </a:r>
            <a:endParaRPr lang="en-US" sz="1300" dirty="0"/>
          </a:p>
        </p:txBody>
      </p:sp>
      <p:sp>
        <p:nvSpPr>
          <p:cNvPr id="13" name="Shape 10"/>
          <p:cNvSpPr/>
          <p:nvPr/>
        </p:nvSpPr>
        <p:spPr>
          <a:xfrm>
            <a:off x="6236208" y="1783080"/>
            <a:ext cx="2560320" cy="2971800"/>
          </a:xfrm>
          <a:prstGeom prst="roundRect">
            <a:avLst>
              <a:gd name="adj" fmla="val 2857"/>
            </a:avLst>
          </a:prstGeom>
          <a:solidFill>
            <a:schemeClr val="bg2"/>
          </a:solidFill>
          <a:ln/>
        </p:spPr>
      </p:sp>
      <p:sp>
        <p:nvSpPr>
          <p:cNvPr id="14" name="Text 11"/>
          <p:cNvSpPr/>
          <p:nvPr/>
        </p:nvSpPr>
        <p:spPr>
          <a:xfrm>
            <a:off x="6464808" y="2011680"/>
            <a:ext cx="411480" cy="41148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2"/>
          <p:cNvSpPr txBox="1"/>
          <p:nvPr/>
        </p:nvSpPr>
        <p:spPr>
          <a:xfrm>
            <a:off x="6464808"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Shared dimension</a:t>
            </a:r>
            <a:endParaRPr lang="en-US" sz="1600" dirty="0"/>
          </a:p>
        </p:txBody>
      </p:sp>
      <p:sp>
        <p:nvSpPr>
          <p:cNvPr id="16" name="Text 13"/>
          <p:cNvSpPr txBox="1"/>
          <p:nvPr/>
        </p:nvSpPr>
        <p:spPr>
          <a:xfrm>
            <a:off x="6464808"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Firm, office, team, advisor, client, consultant and plan are published once, in SM-00 Shared Dimensions, and every semantic model joins to them.</a:t>
            </a:r>
            <a:endParaRPr lang="en-US" sz="1300" dirty="0"/>
          </a:p>
        </p:txBody>
      </p:sp>
      <p:sp>
        <p:nvSpPr>
          <p:cNvPr id="17" name="Shape 14"/>
          <p:cNvSpPr/>
          <p:nvPr/>
        </p:nvSpPr>
        <p:spPr>
          <a:xfrm>
            <a:off x="9079992" y="1783080"/>
            <a:ext cx="2560320" cy="2971800"/>
          </a:xfrm>
          <a:prstGeom prst="roundRect">
            <a:avLst>
              <a:gd name="adj" fmla="val 2857"/>
            </a:avLst>
          </a:prstGeom>
          <a:solidFill>
            <a:schemeClr val="bg2"/>
          </a:solidFill>
          <a:ln/>
        </p:spPr>
      </p:sp>
      <p:sp>
        <p:nvSpPr>
          <p:cNvPr id="18" name="Text 15"/>
          <p:cNvSpPr/>
          <p:nvPr/>
        </p:nvSpPr>
        <p:spPr>
          <a:xfrm>
            <a:off x="9308592" y="2011680"/>
            <a:ext cx="411480" cy="411480"/>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Text 16"/>
          <p:cNvSpPr txBox="1"/>
          <p:nvPr/>
        </p:nvSpPr>
        <p:spPr>
          <a:xfrm>
            <a:off x="9308592"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Governance focus</a:t>
            </a:r>
            <a:endParaRPr lang="en-US" sz="1600" dirty="0"/>
          </a:p>
        </p:txBody>
      </p:sp>
      <p:sp>
        <p:nvSpPr>
          <p:cNvPr id="20" name="Text 17"/>
          <p:cNvSpPr txBox="1"/>
          <p:nvPr/>
        </p:nvSpPr>
        <p:spPr>
          <a:xfrm>
            <a:off x="9308592"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A named owning domain for every attribute, 88 proposed critical data elements and 68 personal data flags show stewards where to focus.</a:t>
            </a:r>
            <a:endParaRPr lang="en-US" sz="1300" dirty="0"/>
          </a:p>
        </p:txBody>
      </p:sp>
      <p:sp>
        <p:nvSpPr>
          <p:cNvPr id="21" name="Text 18"/>
          <p:cNvSpPr txBox="1"/>
          <p:nvPr/>
        </p:nvSpPr>
        <p:spPr>
          <a:xfrm>
            <a:off x="548640" y="4937760"/>
            <a:ext cx="548640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WHERE THE DEFINITIONS TRAVEL</a:t>
            </a:r>
            <a:endParaRPr lang="en-US" sz="1200" dirty="0"/>
          </a:p>
        </p:txBody>
      </p:sp>
      <p:sp>
        <p:nvSpPr>
          <p:cNvPr id="22" name="Text 19"/>
          <p:cNvSpPr/>
          <p:nvPr/>
        </p:nvSpPr>
        <p:spPr>
          <a:xfrm>
            <a:off x="54864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Party sources</a:t>
            </a:r>
            <a:endParaRPr lang="en-US" sz="1200" dirty="0"/>
          </a:p>
        </p:txBody>
      </p:sp>
      <p:sp>
        <p:nvSpPr>
          <p:cNvPr id="23" name="Shape 20"/>
          <p:cNvSpPr/>
          <p:nvPr/>
        </p:nvSpPr>
        <p:spPr>
          <a:xfrm>
            <a:off x="2203704" y="5692140"/>
            <a:ext cx="202997" cy="0"/>
          </a:xfrm>
          <a:prstGeom prst="line">
            <a:avLst/>
          </a:prstGeom>
          <a:noFill/>
          <a:ln w="19050">
            <a:solidFill>
              <a:schemeClr val="tx2"/>
            </a:solidFill>
            <a:prstDash val="solid"/>
            <a:tailEnd type="triangle"/>
          </a:ln>
        </p:spPr>
      </p:sp>
      <p:sp>
        <p:nvSpPr>
          <p:cNvPr id="24" name="Text 21"/>
          <p:cNvSpPr/>
          <p:nvPr/>
        </p:nvSpPr>
        <p:spPr>
          <a:xfrm>
            <a:off x="2443277" y="5257800"/>
            <a:ext cx="1618488" cy="868680"/>
          </a:xfrm>
          <a:prstGeom prst="roundRect">
            <a:avLst>
              <a:gd name="adj" fmla="val 8421"/>
            </a:avLst>
          </a:prstGeom>
          <a:solidFill>
            <a:schemeClr val="accent1"/>
          </a:solidFill>
          <a:ln/>
        </p:spPr>
        <p:txBody>
          <a:bodyPr wrap="square" lIns="1016" tIns="1016" rIns="1016" bIns="1016" rtlCol="0" anchor="ctr"/>
          <a:lstStyle/>
          <a:p>
            <a:pPr algn="ctr" indent="0" marL="0">
              <a:buNone/>
            </a:pPr>
            <a:r>
              <a:rPr lang="en-US" sz="1200" b="1" dirty="0">
                <a:solidFill>
                  <a:schemeClr val="bg1"/>
                </a:solidFill>
              </a:rPr>
              <a:t>Client &amp; Customer definitions</a:t>
            </a:r>
            <a:endParaRPr lang="en-US" sz="1200" dirty="0"/>
          </a:p>
        </p:txBody>
      </p:sp>
      <p:sp>
        <p:nvSpPr>
          <p:cNvPr id="25" name="Shape 22"/>
          <p:cNvSpPr/>
          <p:nvPr/>
        </p:nvSpPr>
        <p:spPr>
          <a:xfrm>
            <a:off x="4098341" y="5692140"/>
            <a:ext cx="202997" cy="0"/>
          </a:xfrm>
          <a:prstGeom prst="line">
            <a:avLst/>
          </a:prstGeom>
          <a:noFill/>
          <a:ln w="19050">
            <a:solidFill>
              <a:schemeClr val="tx2"/>
            </a:solidFill>
            <a:prstDash val="solid"/>
            <a:tailEnd type="triangle"/>
          </a:ln>
        </p:spPr>
      </p:sp>
      <p:sp>
        <p:nvSpPr>
          <p:cNvPr id="26" name="Text 23"/>
          <p:cNvSpPr/>
          <p:nvPr/>
        </p:nvSpPr>
        <p:spPr>
          <a:xfrm>
            <a:off x="433791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DP-001, DP-002, DP-003 foundational</a:t>
            </a:r>
            <a:endParaRPr lang="en-US" sz="1200" dirty="0"/>
          </a:p>
        </p:txBody>
      </p:sp>
      <p:sp>
        <p:nvSpPr>
          <p:cNvPr id="27" name="Shape 24"/>
          <p:cNvSpPr/>
          <p:nvPr/>
        </p:nvSpPr>
        <p:spPr>
          <a:xfrm>
            <a:off x="5992978" y="5692140"/>
            <a:ext cx="202997" cy="0"/>
          </a:xfrm>
          <a:prstGeom prst="line">
            <a:avLst/>
          </a:prstGeom>
          <a:noFill/>
          <a:ln w="19050">
            <a:solidFill>
              <a:schemeClr val="tx2"/>
            </a:solidFill>
            <a:prstDash val="solid"/>
            <a:tailEnd type="triangle"/>
          </a:ln>
        </p:spPr>
      </p:sp>
      <p:sp>
        <p:nvSpPr>
          <p:cNvPr id="28" name="Text 25"/>
          <p:cNvSpPr/>
          <p:nvPr/>
        </p:nvSpPr>
        <p:spPr>
          <a:xfrm>
            <a:off x="623255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Consumer data products</a:t>
            </a:r>
            <a:endParaRPr lang="en-US" sz="1200" dirty="0"/>
          </a:p>
        </p:txBody>
      </p:sp>
      <p:sp>
        <p:nvSpPr>
          <p:cNvPr id="29" name="Shape 26"/>
          <p:cNvSpPr/>
          <p:nvPr/>
        </p:nvSpPr>
        <p:spPr>
          <a:xfrm>
            <a:off x="7887614" y="5692140"/>
            <a:ext cx="202997" cy="0"/>
          </a:xfrm>
          <a:prstGeom prst="line">
            <a:avLst/>
          </a:prstGeom>
          <a:noFill/>
          <a:ln w="19050">
            <a:solidFill>
              <a:schemeClr val="tx2"/>
            </a:solidFill>
            <a:prstDash val="solid"/>
            <a:tailEnd type="triangle"/>
          </a:ln>
        </p:spPr>
      </p:sp>
      <p:sp>
        <p:nvSpPr>
          <p:cNvPr id="30" name="Text 27"/>
          <p:cNvSpPr/>
          <p:nvPr/>
        </p:nvSpPr>
        <p:spPr>
          <a:xfrm>
            <a:off x="8127187"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Semantic models</a:t>
            </a:r>
            <a:endParaRPr lang="en-US" sz="1200" dirty="0"/>
          </a:p>
        </p:txBody>
      </p:sp>
      <p:sp>
        <p:nvSpPr>
          <p:cNvPr id="31" name="Shape 28"/>
          <p:cNvSpPr/>
          <p:nvPr/>
        </p:nvSpPr>
        <p:spPr>
          <a:xfrm>
            <a:off x="9782251" y="5692140"/>
            <a:ext cx="202997" cy="0"/>
          </a:xfrm>
          <a:prstGeom prst="line">
            <a:avLst/>
          </a:prstGeom>
          <a:noFill/>
          <a:ln w="19050">
            <a:solidFill>
              <a:schemeClr val="tx2"/>
            </a:solidFill>
            <a:prstDash val="solid"/>
            <a:tailEnd type="triangle"/>
          </a:ln>
        </p:spPr>
      </p:sp>
      <p:sp>
        <p:nvSpPr>
          <p:cNvPr id="32" name="Text 29"/>
          <p:cNvSpPr/>
          <p:nvPr/>
        </p:nvSpPr>
        <p:spPr>
          <a:xfrm>
            <a:off x="1002182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Dashboards, feeds, AI assistants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  |  THE FOUNDATIONAL PRODUCTS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Three products turn the domain into records</a:t>
            </a:r>
            <a:endParaRPr lang="en-US" sz="3600" dirty="0"/>
          </a:p>
        </p:txBody>
      </p:sp>
      <p:sp>
        <p:nvSpPr>
          <p:cNvPr id="5" name="Shape 2"/>
          <p:cNvSpPr/>
          <p:nvPr/>
        </p:nvSpPr>
        <p:spPr>
          <a:xfrm>
            <a:off x="548640" y="1783080"/>
            <a:ext cx="3511296" cy="3520440"/>
          </a:xfrm>
          <a:prstGeom prst="roundRect">
            <a:avLst>
              <a:gd name="adj" fmla="val 2083"/>
            </a:avLst>
          </a:prstGeom>
          <a:solidFill>
            <a:schemeClr val="bg2"/>
          </a:solidFill>
          <a:ln/>
        </p:spPr>
      </p:sp>
      <p:sp>
        <p:nvSpPr>
          <p:cNvPr id="6" name="Text 3"/>
          <p:cNvSpPr/>
          <p:nvPr/>
        </p:nvSpPr>
        <p:spPr>
          <a:xfrm>
            <a:off x="777240" y="1965960"/>
            <a:ext cx="914400" cy="347472"/>
          </a:xfrm>
          <a:prstGeom prst="roundRect">
            <a:avLst>
              <a:gd name="adj" fmla="val 15789"/>
            </a:avLst>
          </a:prstGeom>
          <a:solidFill>
            <a:schemeClr val="accent1"/>
          </a:solidFill>
          <a:ln/>
        </p:spPr>
        <p:txBody>
          <a:bodyPr wrap="square" lIns="0" tIns="0" rIns="0" bIns="0" rtlCol="0" anchor="ctr"/>
          <a:lstStyle/>
          <a:p>
            <a:pPr algn="ctr" indent="0" marL="0">
              <a:buNone/>
            </a:pPr>
            <a:r>
              <a:rPr lang="en-US" sz="1200" b="1" dirty="0">
                <a:solidFill>
                  <a:schemeClr val="bg1"/>
                </a:solidFill>
              </a:rPr>
              <a:t>DP-001</a:t>
            </a:r>
            <a:endParaRPr lang="en-US" sz="1200" dirty="0"/>
          </a:p>
        </p:txBody>
      </p:sp>
      <p:sp>
        <p:nvSpPr>
          <p:cNvPr id="7" name="Text 4"/>
          <p:cNvSpPr txBox="1"/>
          <p:nvPr/>
        </p:nvSpPr>
        <p:spPr>
          <a:xfrm>
            <a:off x="777240" y="2386584"/>
            <a:ext cx="3054096" cy="512064"/>
          </a:xfrm>
          <a:prstGeom prst="rect">
            <a:avLst/>
          </a:prstGeom>
          <a:noFill/>
          <a:ln/>
        </p:spPr>
        <p:txBody>
          <a:bodyPr wrap="square" lIns="0" tIns="0" rIns="0" bIns="0" rtlCol="0" anchor="ctr"/>
          <a:lstStyle/>
          <a:p>
            <a:pPr algn="l" indent="0" marL="0">
              <a:buNone/>
            </a:pPr>
            <a:r>
              <a:rPr lang="en-US" sz="1600" b="1" dirty="0">
                <a:solidFill>
                  <a:schemeClr val="tx1"/>
                </a:solidFill>
              </a:rPr>
              <a:t>Distributor Hierarchy</a:t>
            </a:r>
            <a:endParaRPr lang="en-US" sz="1600" dirty="0"/>
          </a:p>
        </p:txBody>
      </p:sp>
      <p:sp>
        <p:nvSpPr>
          <p:cNvPr id="8" name="Shape 5"/>
          <p:cNvSpPr/>
          <p:nvPr/>
        </p:nvSpPr>
        <p:spPr>
          <a:xfrm>
            <a:off x="777240" y="2971800"/>
            <a:ext cx="3054096" cy="0"/>
          </a:xfrm>
          <a:prstGeom prst="line">
            <a:avLst/>
          </a:prstGeom>
          <a:noFill/>
          <a:ln w="9525">
            <a:solidFill>
              <a:srgbClr val="D5D9E1"/>
            </a:solidFill>
            <a:prstDash val="solid"/>
          </a:ln>
        </p:spPr>
      </p:sp>
      <p:sp>
        <p:nvSpPr>
          <p:cNvPr id="9" name="Text 6"/>
          <p:cNvSpPr txBox="1"/>
          <p:nvPr/>
        </p:nvSpPr>
        <p:spPr>
          <a:xfrm>
            <a:off x="777240" y="3026664"/>
            <a:ext cx="3054096" cy="237744"/>
          </a:xfrm>
          <a:prstGeom prst="rect">
            <a:avLst/>
          </a:prstGeom>
          <a:noFill/>
          <a:ln/>
        </p:spPr>
        <p:txBody>
          <a:bodyPr wrap="square" lIns="0" tIns="0" rIns="0" bIns="0" rtlCol="0" anchor="ctr"/>
          <a:lstStyle/>
          <a:p>
            <a:pPr algn="l" indent="0" marL="0">
              <a:buNone/>
            </a:pPr>
            <a:r>
              <a:rPr lang="en-US" sz="1100" b="1" spc="150" kern="0" dirty="0">
                <a:solidFill>
                  <a:schemeClr val="accent1"/>
                </a:solidFill>
              </a:rPr>
              <a:t>GRAIN</a:t>
            </a:r>
            <a:endParaRPr lang="en-US" sz="1100" dirty="0"/>
          </a:p>
        </p:txBody>
      </p:sp>
      <p:sp>
        <p:nvSpPr>
          <p:cNvPr id="10" name="Text 7"/>
          <p:cNvSpPr txBox="1"/>
          <p:nvPr/>
        </p:nvSpPr>
        <p:spPr>
          <a:xfrm>
            <a:off x="777240" y="3282696"/>
            <a:ext cx="3054096" cy="402336"/>
          </a:xfrm>
          <a:prstGeom prst="rect">
            <a:avLst/>
          </a:prstGeom>
          <a:noFill/>
          <a:ln/>
        </p:spPr>
        <p:txBody>
          <a:bodyPr wrap="square" lIns="0" tIns="0" rIns="0" bIns="0" rtlCol="0" anchor="t"/>
          <a:lstStyle/>
          <a:p>
            <a:pPr algn="l" indent="0" marL="0">
              <a:buNone/>
            </a:pPr>
            <a:r>
              <a:rPr lang="en-US" sz="1200" dirty="0">
                <a:solidFill>
                  <a:schemeClr val="tx1"/>
                </a:solidFill>
              </a:rPr>
              <a:t>One row per hierarchy node, hierarchy type and effective period</a:t>
            </a:r>
            <a:endParaRPr lang="en-US" sz="1200" dirty="0"/>
          </a:p>
        </p:txBody>
      </p:sp>
      <p:sp>
        <p:nvSpPr>
          <p:cNvPr id="11" name="Shape 8"/>
          <p:cNvSpPr/>
          <p:nvPr/>
        </p:nvSpPr>
        <p:spPr>
          <a:xfrm>
            <a:off x="777240" y="3739896"/>
            <a:ext cx="3054096" cy="0"/>
          </a:xfrm>
          <a:prstGeom prst="line">
            <a:avLst/>
          </a:prstGeom>
          <a:noFill/>
          <a:ln w="9525">
            <a:solidFill>
              <a:srgbClr val="D5D9E1"/>
            </a:solidFill>
            <a:prstDash val="solid"/>
          </a:ln>
        </p:spPr>
      </p:sp>
      <p:sp>
        <p:nvSpPr>
          <p:cNvPr id="12" name="Text 9"/>
          <p:cNvSpPr txBox="1"/>
          <p:nvPr/>
        </p:nvSpPr>
        <p:spPr>
          <a:xfrm>
            <a:off x="777240" y="3794760"/>
            <a:ext cx="3054096" cy="237744"/>
          </a:xfrm>
          <a:prstGeom prst="rect">
            <a:avLst/>
          </a:prstGeom>
          <a:noFill/>
          <a:ln/>
        </p:spPr>
        <p:txBody>
          <a:bodyPr wrap="square" lIns="0" tIns="0" rIns="0" bIns="0" rtlCol="0" anchor="ctr"/>
          <a:lstStyle/>
          <a:p>
            <a:pPr algn="l" indent="0" marL="0">
              <a:buNone/>
            </a:pPr>
            <a:r>
              <a:rPr lang="en-US" sz="1100" b="1" spc="150" kern="0" dirty="0">
                <a:solidFill>
                  <a:schemeClr val="accent1"/>
                </a:solidFill>
              </a:rPr>
              <a:t>INPUTS</a:t>
            </a:r>
            <a:endParaRPr lang="en-US" sz="1100" dirty="0"/>
          </a:p>
        </p:txBody>
      </p:sp>
      <p:sp>
        <p:nvSpPr>
          <p:cNvPr id="13" name="Text 10"/>
          <p:cNvSpPr txBox="1"/>
          <p:nvPr/>
        </p:nvSpPr>
        <p:spPr>
          <a:xfrm>
            <a:off x="777240" y="4050792"/>
            <a:ext cx="3054096" cy="402336"/>
          </a:xfrm>
          <a:prstGeom prst="rect">
            <a:avLst/>
          </a:prstGeom>
          <a:noFill/>
          <a:ln/>
        </p:spPr>
        <p:txBody>
          <a:bodyPr wrap="square" lIns="0" tIns="0" rIns="0" bIns="0" rtlCol="0" anchor="t"/>
          <a:lstStyle/>
          <a:p>
            <a:pPr algn="l" indent="0" marL="0">
              <a:buNone/>
            </a:pPr>
            <a:r>
              <a:rPr lang="en-US" sz="1200" dirty="0">
                <a:solidFill>
                  <a:schemeClr val="tx1"/>
                </a:solidFill>
              </a:rPr>
              <a:t>69 of its 78 attributes come from 16 of this domain's 51 objects</a:t>
            </a:r>
            <a:endParaRPr lang="en-US" sz="1200" dirty="0"/>
          </a:p>
        </p:txBody>
      </p:sp>
      <p:sp>
        <p:nvSpPr>
          <p:cNvPr id="14" name="Shape 11"/>
          <p:cNvSpPr/>
          <p:nvPr/>
        </p:nvSpPr>
        <p:spPr>
          <a:xfrm>
            <a:off x="777240" y="4507992"/>
            <a:ext cx="3054096" cy="0"/>
          </a:xfrm>
          <a:prstGeom prst="line">
            <a:avLst/>
          </a:prstGeom>
          <a:noFill/>
          <a:ln w="9525">
            <a:solidFill>
              <a:srgbClr val="D5D9E1"/>
            </a:solidFill>
            <a:prstDash val="solid"/>
          </a:ln>
        </p:spPr>
      </p:sp>
      <p:sp>
        <p:nvSpPr>
          <p:cNvPr id="15" name="Text 12"/>
          <p:cNvSpPr txBox="1"/>
          <p:nvPr/>
        </p:nvSpPr>
        <p:spPr>
          <a:xfrm>
            <a:off x="777240" y="4562856"/>
            <a:ext cx="3054096" cy="237744"/>
          </a:xfrm>
          <a:prstGeom prst="rect">
            <a:avLst/>
          </a:prstGeom>
          <a:noFill/>
          <a:ln/>
        </p:spPr>
        <p:txBody>
          <a:bodyPr wrap="square" lIns="0" tIns="0" rIns="0" bIns="0" rtlCol="0" anchor="ctr"/>
          <a:lstStyle/>
          <a:p>
            <a:pPr algn="l" indent="0" marL="0">
              <a:buNone/>
            </a:pPr>
            <a:r>
              <a:rPr lang="en-US" sz="1100" b="1" spc="150" kern="0" dirty="0">
                <a:solidFill>
                  <a:schemeClr val="accent1"/>
                </a:solidFill>
              </a:rPr>
              <a:t>QUALITY RULE, FOR EXAMPLE</a:t>
            </a:r>
            <a:endParaRPr lang="en-US" sz="1100" dirty="0"/>
          </a:p>
        </p:txBody>
      </p:sp>
      <p:sp>
        <p:nvSpPr>
          <p:cNvPr id="16" name="Text 13"/>
          <p:cNvSpPr txBox="1"/>
          <p:nvPr/>
        </p:nvSpPr>
        <p:spPr>
          <a:xfrm>
            <a:off x="777240" y="4818888"/>
            <a:ext cx="3054096" cy="402336"/>
          </a:xfrm>
          <a:prstGeom prst="rect">
            <a:avLst/>
          </a:prstGeom>
          <a:noFill/>
          <a:ln/>
        </p:spPr>
        <p:txBody>
          <a:bodyPr wrap="square" lIns="0" tIns="0" rIns="0" bIns="0" rtlCol="0" anchor="t"/>
          <a:lstStyle/>
          <a:p>
            <a:pPr algn="l" indent="0" marL="0">
              <a:buNone/>
            </a:pPr>
            <a:r>
              <a:rPr lang="en-US" sz="1200" dirty="0">
                <a:solidFill>
                  <a:schemeClr val="tx1"/>
                </a:solidFill>
              </a:rPr>
              <a:t>No two active firms share a verified CRD number, LEI or FCA reference number</a:t>
            </a:r>
            <a:endParaRPr lang="en-US" sz="1200" dirty="0"/>
          </a:p>
        </p:txBody>
      </p:sp>
      <p:sp>
        <p:nvSpPr>
          <p:cNvPr id="17" name="Shape 14"/>
          <p:cNvSpPr/>
          <p:nvPr/>
        </p:nvSpPr>
        <p:spPr>
          <a:xfrm>
            <a:off x="548640" y="5486400"/>
            <a:ext cx="3511296" cy="731520"/>
          </a:xfrm>
          <a:prstGeom prst="roundRect">
            <a:avLst>
              <a:gd name="adj" fmla="val 10000"/>
            </a:avLst>
          </a:prstGeom>
          <a:solidFill>
            <a:schemeClr val="tx1"/>
          </a:solidFill>
          <a:ln/>
        </p:spPr>
      </p:sp>
      <p:sp>
        <p:nvSpPr>
          <p:cNvPr id="18" name="Text 15"/>
          <p:cNvSpPr txBox="1"/>
          <p:nvPr/>
        </p:nvSpPr>
        <p:spPr>
          <a:xfrm>
            <a:off x="777240" y="5486400"/>
            <a:ext cx="685800" cy="731520"/>
          </a:xfrm>
          <a:prstGeom prst="rect">
            <a:avLst/>
          </a:prstGeom>
          <a:noFill/>
          <a:ln/>
        </p:spPr>
        <p:txBody>
          <a:bodyPr wrap="square" lIns="0" tIns="0" rIns="0" bIns="0" rtlCol="0" anchor="ctr"/>
          <a:lstStyle/>
          <a:p>
            <a:pPr algn="l" indent="0" marL="0">
              <a:buNone/>
            </a:pPr>
            <a:r>
              <a:rPr lang="en-US" sz="2800" b="1" dirty="0">
                <a:solidFill>
                  <a:schemeClr val="accent6"/>
                </a:solidFill>
              </a:rPr>
              <a:t>66</a:t>
            </a:r>
            <a:endParaRPr lang="en-US" sz="2800" dirty="0"/>
          </a:p>
        </p:txBody>
      </p:sp>
      <p:sp>
        <p:nvSpPr>
          <p:cNvPr id="19" name="Text 16"/>
          <p:cNvSpPr txBox="1"/>
          <p:nvPr/>
        </p:nvSpPr>
        <p:spPr>
          <a:xfrm>
            <a:off x="1508760" y="5486400"/>
            <a:ext cx="2368296" cy="731520"/>
          </a:xfrm>
          <a:prstGeom prst="rect">
            <a:avLst/>
          </a:prstGeom>
          <a:noFill/>
          <a:ln/>
        </p:spPr>
        <p:txBody>
          <a:bodyPr wrap="square" lIns="0" tIns="0" rIns="0" bIns="0" rtlCol="0" anchor="ctr"/>
          <a:lstStyle/>
          <a:p>
            <a:pPr algn="l" indent="0" marL="0">
              <a:buNone/>
            </a:pPr>
            <a:r>
              <a:rPr lang="en-US" sz="1200" dirty="0">
                <a:solidFill>
                  <a:schemeClr val="bg1"/>
                </a:solidFill>
              </a:rPr>
              <a:t>other products name DP-001 as a direct upstream</a:t>
            </a:r>
            <a:endParaRPr lang="en-US" sz="1200" dirty="0"/>
          </a:p>
        </p:txBody>
      </p:sp>
      <p:sp>
        <p:nvSpPr>
          <p:cNvPr id="20" name="Shape 17"/>
          <p:cNvSpPr/>
          <p:nvPr/>
        </p:nvSpPr>
        <p:spPr>
          <a:xfrm>
            <a:off x="4338828" y="1783080"/>
            <a:ext cx="3511296" cy="3520440"/>
          </a:xfrm>
          <a:prstGeom prst="roundRect">
            <a:avLst>
              <a:gd name="adj" fmla="val 2083"/>
            </a:avLst>
          </a:prstGeom>
          <a:solidFill>
            <a:schemeClr val="bg2"/>
          </a:solidFill>
          <a:ln/>
        </p:spPr>
      </p:sp>
      <p:sp>
        <p:nvSpPr>
          <p:cNvPr id="21" name="Text 18"/>
          <p:cNvSpPr/>
          <p:nvPr/>
        </p:nvSpPr>
        <p:spPr>
          <a:xfrm>
            <a:off x="4567428" y="1965960"/>
            <a:ext cx="914400" cy="347472"/>
          </a:xfrm>
          <a:prstGeom prst="roundRect">
            <a:avLst>
              <a:gd name="adj" fmla="val 15789"/>
            </a:avLst>
          </a:prstGeom>
          <a:solidFill>
            <a:schemeClr val="accent2"/>
          </a:solidFill>
          <a:ln/>
        </p:spPr>
        <p:txBody>
          <a:bodyPr wrap="square" lIns="0" tIns="0" rIns="0" bIns="0" rtlCol="0" anchor="ctr"/>
          <a:lstStyle/>
          <a:p>
            <a:pPr algn="ctr" indent="0" marL="0">
              <a:buNone/>
            </a:pPr>
            <a:r>
              <a:rPr lang="en-US" sz="1200" b="1" dirty="0">
                <a:solidFill>
                  <a:schemeClr val="bg1"/>
                </a:solidFill>
              </a:rPr>
              <a:t>DP-002</a:t>
            </a:r>
            <a:endParaRPr lang="en-US" sz="1200" dirty="0"/>
          </a:p>
        </p:txBody>
      </p:sp>
      <p:sp>
        <p:nvSpPr>
          <p:cNvPr id="22" name="Text 19"/>
          <p:cNvSpPr txBox="1"/>
          <p:nvPr/>
        </p:nvSpPr>
        <p:spPr>
          <a:xfrm>
            <a:off x="4567428" y="2386584"/>
            <a:ext cx="3054096" cy="512064"/>
          </a:xfrm>
          <a:prstGeom prst="rect">
            <a:avLst/>
          </a:prstGeom>
          <a:noFill/>
          <a:ln/>
        </p:spPr>
        <p:txBody>
          <a:bodyPr wrap="square" lIns="0" tIns="0" rIns="0" bIns="0" rtlCol="0" anchor="ctr"/>
          <a:lstStyle/>
          <a:p>
            <a:pPr algn="l" indent="0" marL="0">
              <a:buNone/>
            </a:pPr>
            <a:r>
              <a:rPr lang="en-US" sz="1600" b="1" dirty="0">
                <a:solidFill>
                  <a:schemeClr val="tx1"/>
                </a:solidFill>
              </a:rPr>
              <a:t>Financial Professional Profile</a:t>
            </a:r>
            <a:endParaRPr lang="en-US" sz="1600" dirty="0"/>
          </a:p>
        </p:txBody>
      </p:sp>
      <p:sp>
        <p:nvSpPr>
          <p:cNvPr id="23" name="Shape 20"/>
          <p:cNvSpPr/>
          <p:nvPr/>
        </p:nvSpPr>
        <p:spPr>
          <a:xfrm>
            <a:off x="4567428" y="2971800"/>
            <a:ext cx="3054096" cy="0"/>
          </a:xfrm>
          <a:prstGeom prst="line">
            <a:avLst/>
          </a:prstGeom>
          <a:noFill/>
          <a:ln w="9525">
            <a:solidFill>
              <a:srgbClr val="D5D9E1"/>
            </a:solidFill>
            <a:prstDash val="solid"/>
          </a:ln>
        </p:spPr>
      </p:sp>
      <p:sp>
        <p:nvSpPr>
          <p:cNvPr id="24" name="Text 21"/>
          <p:cNvSpPr txBox="1"/>
          <p:nvPr/>
        </p:nvSpPr>
        <p:spPr>
          <a:xfrm>
            <a:off x="4567428" y="3026664"/>
            <a:ext cx="3054096" cy="237744"/>
          </a:xfrm>
          <a:prstGeom prst="rect">
            <a:avLst/>
          </a:prstGeom>
          <a:noFill/>
          <a:ln/>
        </p:spPr>
        <p:txBody>
          <a:bodyPr wrap="square" lIns="0" tIns="0" rIns="0" bIns="0" rtlCol="0" anchor="ctr"/>
          <a:lstStyle/>
          <a:p>
            <a:pPr algn="l" indent="0" marL="0">
              <a:buNone/>
            </a:pPr>
            <a:r>
              <a:rPr lang="en-US" sz="1100" b="1" spc="150" kern="0" dirty="0">
                <a:solidFill>
                  <a:schemeClr val="accent1"/>
                </a:solidFill>
              </a:rPr>
              <a:t>GRAIN</a:t>
            </a:r>
            <a:endParaRPr lang="en-US" sz="1100" dirty="0"/>
          </a:p>
        </p:txBody>
      </p:sp>
      <p:sp>
        <p:nvSpPr>
          <p:cNvPr id="25" name="Text 22"/>
          <p:cNvSpPr txBox="1"/>
          <p:nvPr/>
        </p:nvSpPr>
        <p:spPr>
          <a:xfrm>
            <a:off x="4567428" y="3282696"/>
            <a:ext cx="3054096" cy="402336"/>
          </a:xfrm>
          <a:prstGeom prst="rect">
            <a:avLst/>
          </a:prstGeom>
          <a:noFill/>
          <a:ln/>
        </p:spPr>
        <p:txBody>
          <a:bodyPr wrap="square" lIns="0" tIns="0" rIns="0" bIns="0" rtlCol="0" anchor="t"/>
          <a:lstStyle/>
          <a:p>
            <a:pPr algn="l" indent="0" marL="0">
              <a:buNone/>
            </a:pPr>
            <a:r>
              <a:rPr lang="en-US" sz="1200" dirty="0">
                <a:solidFill>
                  <a:schemeClr val="tx1"/>
                </a:solidFill>
              </a:rPr>
              <a:t>One row per financial professional and profile effective period</a:t>
            </a:r>
            <a:endParaRPr lang="en-US" sz="1200" dirty="0"/>
          </a:p>
        </p:txBody>
      </p:sp>
      <p:sp>
        <p:nvSpPr>
          <p:cNvPr id="26" name="Shape 23"/>
          <p:cNvSpPr/>
          <p:nvPr/>
        </p:nvSpPr>
        <p:spPr>
          <a:xfrm>
            <a:off x="4567428" y="3739896"/>
            <a:ext cx="3054096" cy="0"/>
          </a:xfrm>
          <a:prstGeom prst="line">
            <a:avLst/>
          </a:prstGeom>
          <a:noFill/>
          <a:ln w="9525">
            <a:solidFill>
              <a:srgbClr val="D5D9E1"/>
            </a:solidFill>
            <a:prstDash val="solid"/>
          </a:ln>
        </p:spPr>
      </p:sp>
      <p:sp>
        <p:nvSpPr>
          <p:cNvPr id="27" name="Text 24"/>
          <p:cNvSpPr txBox="1"/>
          <p:nvPr/>
        </p:nvSpPr>
        <p:spPr>
          <a:xfrm>
            <a:off x="4567428" y="3794760"/>
            <a:ext cx="3054096" cy="237744"/>
          </a:xfrm>
          <a:prstGeom prst="rect">
            <a:avLst/>
          </a:prstGeom>
          <a:noFill/>
          <a:ln/>
        </p:spPr>
        <p:txBody>
          <a:bodyPr wrap="square" lIns="0" tIns="0" rIns="0" bIns="0" rtlCol="0" anchor="ctr"/>
          <a:lstStyle/>
          <a:p>
            <a:pPr algn="l" indent="0" marL="0">
              <a:buNone/>
            </a:pPr>
            <a:r>
              <a:rPr lang="en-US" sz="1100" b="1" spc="150" kern="0" dirty="0">
                <a:solidFill>
                  <a:schemeClr val="accent1"/>
                </a:solidFill>
              </a:rPr>
              <a:t>INPUTS</a:t>
            </a:r>
            <a:endParaRPr lang="en-US" sz="1100" dirty="0"/>
          </a:p>
        </p:txBody>
      </p:sp>
      <p:sp>
        <p:nvSpPr>
          <p:cNvPr id="28" name="Text 25"/>
          <p:cNvSpPr txBox="1"/>
          <p:nvPr/>
        </p:nvSpPr>
        <p:spPr>
          <a:xfrm>
            <a:off x="4567428" y="4050792"/>
            <a:ext cx="3054096" cy="402336"/>
          </a:xfrm>
          <a:prstGeom prst="rect">
            <a:avLst/>
          </a:prstGeom>
          <a:noFill/>
          <a:ln/>
        </p:spPr>
        <p:txBody>
          <a:bodyPr wrap="square" lIns="0" tIns="0" rIns="0" bIns="0" rtlCol="0" anchor="t"/>
          <a:lstStyle/>
          <a:p>
            <a:pPr algn="l" indent="0" marL="0">
              <a:buNone/>
            </a:pPr>
            <a:r>
              <a:rPr lang="en-US" sz="1200" dirty="0">
                <a:solidFill>
                  <a:schemeClr val="tx1"/>
                </a:solidFill>
              </a:rPr>
              <a:t>All 89 of its attributes come from 20 of this domain's 51 objects</a:t>
            </a:r>
            <a:endParaRPr lang="en-US" sz="1200" dirty="0"/>
          </a:p>
        </p:txBody>
      </p:sp>
      <p:sp>
        <p:nvSpPr>
          <p:cNvPr id="29" name="Shape 26"/>
          <p:cNvSpPr/>
          <p:nvPr/>
        </p:nvSpPr>
        <p:spPr>
          <a:xfrm>
            <a:off x="4567428" y="4507992"/>
            <a:ext cx="3054096" cy="0"/>
          </a:xfrm>
          <a:prstGeom prst="line">
            <a:avLst/>
          </a:prstGeom>
          <a:noFill/>
          <a:ln w="9525">
            <a:solidFill>
              <a:srgbClr val="D5D9E1"/>
            </a:solidFill>
            <a:prstDash val="solid"/>
          </a:ln>
        </p:spPr>
      </p:sp>
      <p:sp>
        <p:nvSpPr>
          <p:cNvPr id="30" name="Text 27"/>
          <p:cNvSpPr txBox="1"/>
          <p:nvPr/>
        </p:nvSpPr>
        <p:spPr>
          <a:xfrm>
            <a:off x="4567428" y="4562856"/>
            <a:ext cx="3054096" cy="237744"/>
          </a:xfrm>
          <a:prstGeom prst="rect">
            <a:avLst/>
          </a:prstGeom>
          <a:noFill/>
          <a:ln/>
        </p:spPr>
        <p:txBody>
          <a:bodyPr wrap="square" lIns="0" tIns="0" rIns="0" bIns="0" rtlCol="0" anchor="ctr"/>
          <a:lstStyle/>
          <a:p>
            <a:pPr algn="l" indent="0" marL="0">
              <a:buNone/>
            </a:pPr>
            <a:r>
              <a:rPr lang="en-US" sz="1100" b="1" spc="150" kern="0" dirty="0">
                <a:solidFill>
                  <a:schemeClr val="accent1"/>
                </a:solidFill>
              </a:rPr>
              <a:t>QUALITY RULE, FOR EXAMPLE</a:t>
            </a:r>
            <a:endParaRPr lang="en-US" sz="1100" dirty="0"/>
          </a:p>
        </p:txBody>
      </p:sp>
      <p:sp>
        <p:nvSpPr>
          <p:cNvPr id="31" name="Text 28"/>
          <p:cNvSpPr txBox="1"/>
          <p:nvPr/>
        </p:nvSpPr>
        <p:spPr>
          <a:xfrm>
            <a:off x="4567428" y="4818888"/>
            <a:ext cx="3054096" cy="402336"/>
          </a:xfrm>
          <a:prstGeom prst="rect">
            <a:avLst/>
          </a:prstGeom>
          <a:noFill/>
          <a:ln/>
        </p:spPr>
        <p:txBody>
          <a:bodyPr wrap="square" lIns="0" tIns="0" rIns="0" bIns="0" rtlCol="0" anchor="t"/>
          <a:lstStyle/>
          <a:p>
            <a:pPr algn="l" indent="0" marL="0">
              <a:buNone/>
            </a:pPr>
            <a:r>
              <a:rPr lang="en-US" sz="1200" dirty="0">
                <a:solidFill>
                  <a:schemeClr val="tx1"/>
                </a:solidFill>
              </a:rPr>
              <a:t>Each advisor has at most one open primary employment affiliation</a:t>
            </a:r>
            <a:endParaRPr lang="en-US" sz="1200" dirty="0"/>
          </a:p>
        </p:txBody>
      </p:sp>
      <p:sp>
        <p:nvSpPr>
          <p:cNvPr id="32" name="Shape 29"/>
          <p:cNvSpPr/>
          <p:nvPr/>
        </p:nvSpPr>
        <p:spPr>
          <a:xfrm>
            <a:off x="4338828" y="5486400"/>
            <a:ext cx="3511296" cy="731520"/>
          </a:xfrm>
          <a:prstGeom prst="roundRect">
            <a:avLst>
              <a:gd name="adj" fmla="val 10000"/>
            </a:avLst>
          </a:prstGeom>
          <a:solidFill>
            <a:schemeClr val="tx1"/>
          </a:solidFill>
          <a:ln/>
        </p:spPr>
      </p:sp>
      <p:sp>
        <p:nvSpPr>
          <p:cNvPr id="33" name="Text 30"/>
          <p:cNvSpPr txBox="1"/>
          <p:nvPr/>
        </p:nvSpPr>
        <p:spPr>
          <a:xfrm>
            <a:off x="4567428" y="5486400"/>
            <a:ext cx="685800" cy="731520"/>
          </a:xfrm>
          <a:prstGeom prst="rect">
            <a:avLst/>
          </a:prstGeom>
          <a:noFill/>
          <a:ln/>
        </p:spPr>
        <p:txBody>
          <a:bodyPr wrap="square" lIns="0" tIns="0" rIns="0" bIns="0" rtlCol="0" anchor="ctr"/>
          <a:lstStyle/>
          <a:p>
            <a:pPr algn="l" indent="0" marL="0">
              <a:buNone/>
            </a:pPr>
            <a:r>
              <a:rPr lang="en-US" sz="2800" b="1" dirty="0">
                <a:solidFill>
                  <a:schemeClr val="accent6"/>
                </a:solidFill>
              </a:rPr>
              <a:t>39</a:t>
            </a:r>
            <a:endParaRPr lang="en-US" sz="2800" dirty="0"/>
          </a:p>
        </p:txBody>
      </p:sp>
      <p:sp>
        <p:nvSpPr>
          <p:cNvPr id="34" name="Text 31"/>
          <p:cNvSpPr txBox="1"/>
          <p:nvPr/>
        </p:nvSpPr>
        <p:spPr>
          <a:xfrm>
            <a:off x="5298948" y="5486400"/>
            <a:ext cx="2368296" cy="731520"/>
          </a:xfrm>
          <a:prstGeom prst="rect">
            <a:avLst/>
          </a:prstGeom>
          <a:noFill/>
          <a:ln/>
        </p:spPr>
        <p:txBody>
          <a:bodyPr wrap="square" lIns="0" tIns="0" rIns="0" bIns="0" rtlCol="0" anchor="ctr"/>
          <a:lstStyle/>
          <a:p>
            <a:pPr algn="l" indent="0" marL="0">
              <a:buNone/>
            </a:pPr>
            <a:r>
              <a:rPr lang="en-US" sz="1200" dirty="0">
                <a:solidFill>
                  <a:schemeClr val="bg1"/>
                </a:solidFill>
              </a:rPr>
              <a:t>other products name DP-002 as a direct upstream</a:t>
            </a:r>
            <a:endParaRPr lang="en-US" sz="1200" dirty="0"/>
          </a:p>
        </p:txBody>
      </p:sp>
      <p:sp>
        <p:nvSpPr>
          <p:cNvPr id="35" name="Shape 32"/>
          <p:cNvSpPr/>
          <p:nvPr/>
        </p:nvSpPr>
        <p:spPr>
          <a:xfrm>
            <a:off x="8129016" y="1783080"/>
            <a:ext cx="3511296" cy="3520440"/>
          </a:xfrm>
          <a:prstGeom prst="roundRect">
            <a:avLst>
              <a:gd name="adj" fmla="val 2083"/>
            </a:avLst>
          </a:prstGeom>
          <a:solidFill>
            <a:schemeClr val="bg2"/>
          </a:solidFill>
          <a:ln/>
        </p:spPr>
      </p:sp>
      <p:sp>
        <p:nvSpPr>
          <p:cNvPr id="36" name="Text 33"/>
          <p:cNvSpPr/>
          <p:nvPr/>
        </p:nvSpPr>
        <p:spPr>
          <a:xfrm>
            <a:off x="8357616" y="1965960"/>
            <a:ext cx="9144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200" b="1" dirty="0">
                <a:solidFill>
                  <a:schemeClr val="bg1"/>
                </a:solidFill>
              </a:rPr>
              <a:t>DP-003</a:t>
            </a:r>
            <a:endParaRPr lang="en-US" sz="1200" dirty="0"/>
          </a:p>
        </p:txBody>
      </p:sp>
      <p:sp>
        <p:nvSpPr>
          <p:cNvPr id="37" name="Text 34"/>
          <p:cNvSpPr txBox="1"/>
          <p:nvPr/>
        </p:nvSpPr>
        <p:spPr>
          <a:xfrm>
            <a:off x="8357616" y="2386584"/>
            <a:ext cx="3054096" cy="512064"/>
          </a:xfrm>
          <a:prstGeom prst="rect">
            <a:avLst/>
          </a:prstGeom>
          <a:noFill/>
          <a:ln/>
        </p:spPr>
        <p:txBody>
          <a:bodyPr wrap="square" lIns="0" tIns="0" rIns="0" bIns="0" rtlCol="0" anchor="ctr"/>
          <a:lstStyle/>
          <a:p>
            <a:pPr algn="l" indent="0" marL="0">
              <a:buNone/>
            </a:pPr>
            <a:r>
              <a:rPr lang="en-US" sz="1600" b="1" dirty="0">
                <a:solidFill>
                  <a:schemeClr val="tx1"/>
                </a:solidFill>
              </a:rPr>
              <a:t>Institutional, Consultant &amp; Plan Relationships</a:t>
            </a:r>
            <a:endParaRPr lang="en-US" sz="1600" dirty="0"/>
          </a:p>
        </p:txBody>
      </p:sp>
      <p:sp>
        <p:nvSpPr>
          <p:cNvPr id="38" name="Shape 35"/>
          <p:cNvSpPr/>
          <p:nvPr/>
        </p:nvSpPr>
        <p:spPr>
          <a:xfrm>
            <a:off x="8357616" y="2971800"/>
            <a:ext cx="3054096" cy="0"/>
          </a:xfrm>
          <a:prstGeom prst="line">
            <a:avLst/>
          </a:prstGeom>
          <a:noFill/>
          <a:ln w="9525">
            <a:solidFill>
              <a:srgbClr val="D5D9E1"/>
            </a:solidFill>
            <a:prstDash val="solid"/>
          </a:ln>
        </p:spPr>
      </p:sp>
      <p:sp>
        <p:nvSpPr>
          <p:cNvPr id="39" name="Text 36"/>
          <p:cNvSpPr txBox="1"/>
          <p:nvPr/>
        </p:nvSpPr>
        <p:spPr>
          <a:xfrm>
            <a:off x="8357616" y="3026664"/>
            <a:ext cx="3054096" cy="237744"/>
          </a:xfrm>
          <a:prstGeom prst="rect">
            <a:avLst/>
          </a:prstGeom>
          <a:noFill/>
          <a:ln/>
        </p:spPr>
        <p:txBody>
          <a:bodyPr wrap="square" lIns="0" tIns="0" rIns="0" bIns="0" rtlCol="0" anchor="ctr"/>
          <a:lstStyle/>
          <a:p>
            <a:pPr algn="l" indent="0" marL="0">
              <a:buNone/>
            </a:pPr>
            <a:r>
              <a:rPr lang="en-US" sz="1100" b="1" spc="150" kern="0" dirty="0">
                <a:solidFill>
                  <a:schemeClr val="accent1"/>
                </a:solidFill>
              </a:rPr>
              <a:t>GRAIN</a:t>
            </a:r>
            <a:endParaRPr lang="en-US" sz="1100" dirty="0"/>
          </a:p>
        </p:txBody>
      </p:sp>
      <p:sp>
        <p:nvSpPr>
          <p:cNvPr id="40" name="Text 37"/>
          <p:cNvSpPr txBox="1"/>
          <p:nvPr/>
        </p:nvSpPr>
        <p:spPr>
          <a:xfrm>
            <a:off x="8357616" y="3282696"/>
            <a:ext cx="3054096" cy="402336"/>
          </a:xfrm>
          <a:prstGeom prst="rect">
            <a:avLst/>
          </a:prstGeom>
          <a:noFill/>
          <a:ln/>
        </p:spPr>
        <p:txBody>
          <a:bodyPr wrap="square" lIns="0" tIns="0" rIns="0" bIns="0" rtlCol="0" anchor="t"/>
          <a:lstStyle/>
          <a:p>
            <a:pPr algn="l" indent="0" marL="0">
              <a:buNone/>
            </a:pPr>
            <a:r>
              <a:rPr lang="en-US" sz="1200" dirty="0">
                <a:solidFill>
                  <a:schemeClr val="tx1"/>
                </a:solidFill>
              </a:rPr>
              <a:t>One row per party or plan, relationship and effective period</a:t>
            </a:r>
            <a:endParaRPr lang="en-US" sz="1200" dirty="0"/>
          </a:p>
        </p:txBody>
      </p:sp>
      <p:sp>
        <p:nvSpPr>
          <p:cNvPr id="41" name="Shape 38"/>
          <p:cNvSpPr/>
          <p:nvPr/>
        </p:nvSpPr>
        <p:spPr>
          <a:xfrm>
            <a:off x="8357616" y="3739896"/>
            <a:ext cx="3054096" cy="0"/>
          </a:xfrm>
          <a:prstGeom prst="line">
            <a:avLst/>
          </a:prstGeom>
          <a:noFill/>
          <a:ln w="9525">
            <a:solidFill>
              <a:srgbClr val="D5D9E1"/>
            </a:solidFill>
            <a:prstDash val="solid"/>
          </a:ln>
        </p:spPr>
      </p:sp>
      <p:sp>
        <p:nvSpPr>
          <p:cNvPr id="42" name="Text 39"/>
          <p:cNvSpPr txBox="1"/>
          <p:nvPr/>
        </p:nvSpPr>
        <p:spPr>
          <a:xfrm>
            <a:off x="8357616" y="3794760"/>
            <a:ext cx="3054096" cy="237744"/>
          </a:xfrm>
          <a:prstGeom prst="rect">
            <a:avLst/>
          </a:prstGeom>
          <a:noFill/>
          <a:ln/>
        </p:spPr>
        <p:txBody>
          <a:bodyPr wrap="square" lIns="0" tIns="0" rIns="0" bIns="0" rtlCol="0" anchor="ctr"/>
          <a:lstStyle/>
          <a:p>
            <a:pPr algn="l" indent="0" marL="0">
              <a:buNone/>
            </a:pPr>
            <a:r>
              <a:rPr lang="en-US" sz="1100" b="1" spc="150" kern="0" dirty="0">
                <a:solidFill>
                  <a:schemeClr val="accent1"/>
                </a:solidFill>
              </a:rPr>
              <a:t>INPUTS</a:t>
            </a:r>
            <a:endParaRPr lang="en-US" sz="1100" dirty="0"/>
          </a:p>
        </p:txBody>
      </p:sp>
      <p:sp>
        <p:nvSpPr>
          <p:cNvPr id="43" name="Text 40"/>
          <p:cNvSpPr txBox="1"/>
          <p:nvPr/>
        </p:nvSpPr>
        <p:spPr>
          <a:xfrm>
            <a:off x="8357616" y="4050792"/>
            <a:ext cx="3054096" cy="402336"/>
          </a:xfrm>
          <a:prstGeom prst="rect">
            <a:avLst/>
          </a:prstGeom>
          <a:noFill/>
          <a:ln/>
        </p:spPr>
        <p:txBody>
          <a:bodyPr wrap="square" lIns="0" tIns="0" rIns="0" bIns="0" rtlCol="0" anchor="t"/>
          <a:lstStyle/>
          <a:p>
            <a:pPr algn="l" indent="0" marL="0">
              <a:buNone/>
            </a:pPr>
            <a:r>
              <a:rPr lang="en-US" sz="1200" dirty="0">
                <a:solidFill>
                  <a:schemeClr val="tx1"/>
                </a:solidFill>
              </a:rPr>
              <a:t>61 of its 74 attributes come from 13 of this domain's 51 objects</a:t>
            </a:r>
            <a:endParaRPr lang="en-US" sz="1200" dirty="0"/>
          </a:p>
        </p:txBody>
      </p:sp>
      <p:sp>
        <p:nvSpPr>
          <p:cNvPr id="44" name="Shape 41"/>
          <p:cNvSpPr/>
          <p:nvPr/>
        </p:nvSpPr>
        <p:spPr>
          <a:xfrm>
            <a:off x="8357616" y="4507992"/>
            <a:ext cx="3054096" cy="0"/>
          </a:xfrm>
          <a:prstGeom prst="line">
            <a:avLst/>
          </a:prstGeom>
          <a:noFill/>
          <a:ln w="9525">
            <a:solidFill>
              <a:srgbClr val="D5D9E1"/>
            </a:solidFill>
            <a:prstDash val="solid"/>
          </a:ln>
        </p:spPr>
      </p:sp>
      <p:sp>
        <p:nvSpPr>
          <p:cNvPr id="45" name="Text 42"/>
          <p:cNvSpPr txBox="1"/>
          <p:nvPr/>
        </p:nvSpPr>
        <p:spPr>
          <a:xfrm>
            <a:off x="8357616" y="4562856"/>
            <a:ext cx="3054096" cy="237744"/>
          </a:xfrm>
          <a:prstGeom prst="rect">
            <a:avLst/>
          </a:prstGeom>
          <a:noFill/>
          <a:ln/>
        </p:spPr>
        <p:txBody>
          <a:bodyPr wrap="square" lIns="0" tIns="0" rIns="0" bIns="0" rtlCol="0" anchor="ctr"/>
          <a:lstStyle/>
          <a:p>
            <a:pPr algn="l" indent="0" marL="0">
              <a:buNone/>
            </a:pPr>
            <a:r>
              <a:rPr lang="en-US" sz="1100" b="1" spc="150" kern="0" dirty="0">
                <a:solidFill>
                  <a:schemeClr val="accent1"/>
                </a:solidFill>
              </a:rPr>
              <a:t>QUALITY RULE, FOR EXAMPLE</a:t>
            </a:r>
            <a:endParaRPr lang="en-US" sz="1100" dirty="0"/>
          </a:p>
        </p:txBody>
      </p:sp>
      <p:sp>
        <p:nvSpPr>
          <p:cNvPr id="46" name="Text 43"/>
          <p:cNvSpPr txBox="1"/>
          <p:nvPr/>
        </p:nvSpPr>
        <p:spPr>
          <a:xfrm>
            <a:off x="8357616" y="4818888"/>
            <a:ext cx="3054096" cy="402336"/>
          </a:xfrm>
          <a:prstGeom prst="rect">
            <a:avLst/>
          </a:prstGeom>
          <a:noFill/>
          <a:ln/>
        </p:spPr>
        <p:txBody>
          <a:bodyPr wrap="square" lIns="0" tIns="0" rIns="0" bIns="0" rtlCol="0" anchor="t"/>
          <a:lstStyle/>
          <a:p>
            <a:pPr algn="l" indent="0" marL="0">
              <a:buNone/>
            </a:pPr>
            <a:r>
              <a:rPr lang="en-US" sz="1200" dirty="0">
                <a:solidFill>
                  <a:schemeClr val="tx1"/>
                </a:solidFill>
              </a:rPr>
              <a:t>Each retirement plan is unique on sponsor EIN plus plan number</a:t>
            </a:r>
            <a:endParaRPr lang="en-US" sz="1200" dirty="0"/>
          </a:p>
        </p:txBody>
      </p:sp>
      <p:sp>
        <p:nvSpPr>
          <p:cNvPr id="47" name="Shape 44"/>
          <p:cNvSpPr/>
          <p:nvPr/>
        </p:nvSpPr>
        <p:spPr>
          <a:xfrm>
            <a:off x="8129016" y="5486400"/>
            <a:ext cx="3511296" cy="731520"/>
          </a:xfrm>
          <a:prstGeom prst="roundRect">
            <a:avLst>
              <a:gd name="adj" fmla="val 10000"/>
            </a:avLst>
          </a:prstGeom>
          <a:solidFill>
            <a:schemeClr val="tx1"/>
          </a:solidFill>
          <a:ln/>
        </p:spPr>
      </p:sp>
      <p:sp>
        <p:nvSpPr>
          <p:cNvPr id="48" name="Text 45"/>
          <p:cNvSpPr txBox="1"/>
          <p:nvPr/>
        </p:nvSpPr>
        <p:spPr>
          <a:xfrm>
            <a:off x="8357616" y="5486400"/>
            <a:ext cx="685800" cy="731520"/>
          </a:xfrm>
          <a:prstGeom prst="rect">
            <a:avLst/>
          </a:prstGeom>
          <a:noFill/>
          <a:ln/>
        </p:spPr>
        <p:txBody>
          <a:bodyPr wrap="square" lIns="0" tIns="0" rIns="0" bIns="0" rtlCol="0" anchor="ctr"/>
          <a:lstStyle/>
          <a:p>
            <a:pPr algn="l" indent="0" marL="0">
              <a:buNone/>
            </a:pPr>
            <a:r>
              <a:rPr lang="en-US" sz="2800" b="1" dirty="0">
                <a:solidFill>
                  <a:schemeClr val="accent6"/>
                </a:solidFill>
              </a:rPr>
              <a:t>23</a:t>
            </a:r>
            <a:endParaRPr lang="en-US" sz="2800" dirty="0"/>
          </a:p>
        </p:txBody>
      </p:sp>
      <p:sp>
        <p:nvSpPr>
          <p:cNvPr id="49" name="Text 46"/>
          <p:cNvSpPr txBox="1"/>
          <p:nvPr/>
        </p:nvSpPr>
        <p:spPr>
          <a:xfrm>
            <a:off x="9089136" y="5486400"/>
            <a:ext cx="2368296" cy="731520"/>
          </a:xfrm>
          <a:prstGeom prst="rect">
            <a:avLst/>
          </a:prstGeom>
          <a:noFill/>
          <a:ln/>
        </p:spPr>
        <p:txBody>
          <a:bodyPr wrap="square" lIns="0" tIns="0" rIns="0" bIns="0" rtlCol="0" anchor="ctr"/>
          <a:lstStyle/>
          <a:p>
            <a:pPr algn="l" indent="0" marL="0">
              <a:buNone/>
            </a:pPr>
            <a:r>
              <a:rPr lang="en-US" sz="1200" dirty="0">
                <a:solidFill>
                  <a:schemeClr val="bg1"/>
                </a:solidFill>
              </a:rPr>
              <a:t>other products name DP-003 as a direct upstream</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REACH</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39 of 96 data products read it directly</a:t>
            </a:r>
            <a:endParaRPr lang="en-US" sz="3600" dirty="0"/>
          </a:p>
        </p:txBody>
      </p:sp>
      <p:graphicFrame>
        <p:nvGraphicFramePr>
          <p:cNvPr id="5" name="Chart 0" descr=""/>
          <p:cNvGraphicFramePr/>
          <p:nvPr/>
        </p:nvGraphicFramePr>
        <p:xfrm>
          <a:off x="548640" y="1783080"/>
          <a:ext cx="6217920" cy="43434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132320" y="1783080"/>
            <a:ext cx="2116836" cy="1691640"/>
          </a:xfrm>
          <a:prstGeom prst="roundRect">
            <a:avLst>
              <a:gd name="adj" fmla="val 4324"/>
            </a:avLst>
          </a:prstGeom>
          <a:solidFill>
            <a:schemeClr val="bg2"/>
          </a:solidFill>
          <a:ln/>
        </p:spPr>
      </p:sp>
      <p:sp>
        <p:nvSpPr>
          <p:cNvPr id="7" name="Text 3"/>
          <p:cNvSpPr txBox="1"/>
          <p:nvPr/>
        </p:nvSpPr>
        <p:spPr>
          <a:xfrm>
            <a:off x="7315200"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39</a:t>
            </a:r>
            <a:endParaRPr lang="en-US" sz="2800" dirty="0"/>
          </a:p>
        </p:txBody>
      </p:sp>
      <p:sp>
        <p:nvSpPr>
          <p:cNvPr id="8" name="Text 4"/>
          <p:cNvSpPr txBox="1"/>
          <p:nvPr/>
        </p:nvSpPr>
        <p:spPr>
          <a:xfrm>
            <a:off x="7315200"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products read this domain directly: 6 foundational and 33 consumer-aligned</a:t>
            </a:r>
            <a:endParaRPr lang="en-US" sz="1200" dirty="0"/>
          </a:p>
        </p:txBody>
      </p:sp>
      <p:sp>
        <p:nvSpPr>
          <p:cNvPr id="9" name="Shape 5"/>
          <p:cNvSpPr/>
          <p:nvPr/>
        </p:nvSpPr>
        <p:spPr>
          <a:xfrm>
            <a:off x="9523476" y="1783080"/>
            <a:ext cx="2116836" cy="1691640"/>
          </a:xfrm>
          <a:prstGeom prst="roundRect">
            <a:avLst>
              <a:gd name="adj" fmla="val 4324"/>
            </a:avLst>
          </a:prstGeom>
          <a:solidFill>
            <a:schemeClr val="bg2"/>
          </a:solidFill>
          <a:ln/>
        </p:spPr>
      </p:sp>
      <p:sp>
        <p:nvSpPr>
          <p:cNvPr id="10" name="Text 6"/>
          <p:cNvSpPr txBox="1"/>
          <p:nvPr/>
        </p:nvSpPr>
        <p:spPr>
          <a:xfrm>
            <a:off x="9706356"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51 of 51</a:t>
            </a:r>
            <a:endParaRPr lang="en-US" sz="2800" dirty="0"/>
          </a:p>
        </p:txBody>
      </p:sp>
      <p:sp>
        <p:nvSpPr>
          <p:cNvPr id="11" name="Text 7"/>
          <p:cNvSpPr txBox="1"/>
          <p:nvPr/>
        </p:nvSpPr>
        <p:spPr>
          <a:xfrm>
            <a:off x="9706356"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objects are used by at least one product</a:t>
            </a:r>
            <a:endParaRPr lang="en-US" sz="1200" dirty="0"/>
          </a:p>
        </p:txBody>
      </p:sp>
      <p:sp>
        <p:nvSpPr>
          <p:cNvPr id="12" name="Shape 8"/>
          <p:cNvSpPr/>
          <p:nvPr/>
        </p:nvSpPr>
        <p:spPr>
          <a:xfrm>
            <a:off x="7132320" y="3657600"/>
            <a:ext cx="2116836" cy="1691640"/>
          </a:xfrm>
          <a:prstGeom prst="roundRect">
            <a:avLst>
              <a:gd name="adj" fmla="val 4324"/>
            </a:avLst>
          </a:prstGeom>
          <a:solidFill>
            <a:schemeClr val="bg2"/>
          </a:solidFill>
          <a:ln/>
        </p:spPr>
      </p:sp>
      <p:sp>
        <p:nvSpPr>
          <p:cNvPr id="13" name="Text 9"/>
          <p:cNvSpPr txBox="1"/>
          <p:nvPr/>
        </p:nvSpPr>
        <p:spPr>
          <a:xfrm>
            <a:off x="7315200"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94%</a:t>
            </a:r>
            <a:endParaRPr lang="en-US" sz="2800" dirty="0"/>
          </a:p>
        </p:txBody>
      </p:sp>
      <p:sp>
        <p:nvSpPr>
          <p:cNvPr id="14" name="Text 10"/>
          <p:cNvSpPr txBox="1"/>
          <p:nvPr/>
        </p:nvSpPr>
        <p:spPr>
          <a:xfrm>
            <a:off x="7315200"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of attributes (269 of 286) appear in a product specification</a:t>
            </a:r>
            <a:endParaRPr lang="en-US" sz="1200" dirty="0"/>
          </a:p>
        </p:txBody>
      </p:sp>
      <p:sp>
        <p:nvSpPr>
          <p:cNvPr id="15" name="Shape 11"/>
          <p:cNvSpPr/>
          <p:nvPr/>
        </p:nvSpPr>
        <p:spPr>
          <a:xfrm>
            <a:off x="9523476" y="3657600"/>
            <a:ext cx="2116836" cy="1691640"/>
          </a:xfrm>
          <a:prstGeom prst="roundRect">
            <a:avLst>
              <a:gd name="adj" fmla="val 4324"/>
            </a:avLst>
          </a:prstGeom>
          <a:solidFill>
            <a:schemeClr val="bg2"/>
          </a:solidFill>
          <a:ln/>
        </p:spPr>
      </p:sp>
      <p:sp>
        <p:nvSpPr>
          <p:cNvPr id="16" name="Text 12"/>
          <p:cNvSpPr txBox="1"/>
          <p:nvPr/>
        </p:nvSpPr>
        <p:spPr>
          <a:xfrm>
            <a:off x="9706356"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12</a:t>
            </a:r>
            <a:endParaRPr lang="en-US" sz="2800" dirty="0"/>
          </a:p>
        </p:txBody>
      </p:sp>
      <p:sp>
        <p:nvSpPr>
          <p:cNvPr id="17" name="Text 13"/>
          <p:cNvSpPr txBox="1"/>
          <p:nvPr/>
        </p:nvSpPr>
        <p:spPr>
          <a:xfrm>
            <a:off x="9706356"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are regulatory and control products, the largest group of the 39</a:t>
            </a:r>
            <a:endParaRPr lang="en-US" sz="1200" dirty="0"/>
          </a:p>
        </p:txBody>
      </p:sp>
      <p:sp>
        <p:nvSpPr>
          <p:cNvPr id="18" name="Text 14"/>
          <p:cNvSpPr txBox="1"/>
          <p:nvPr/>
        </p:nvSpPr>
        <p:spPr>
          <a:xfrm>
            <a:off x="7132320" y="5623560"/>
            <a:ext cx="4507992" cy="457200"/>
          </a:xfrm>
          <a:prstGeom prst="rect">
            <a:avLst/>
          </a:prstGeom>
          <a:noFill/>
          <a:ln/>
        </p:spPr>
        <p:txBody>
          <a:bodyPr wrap="square" lIns="0" tIns="0" rIns="0" bIns="0" rtlCol="0" anchor="t"/>
          <a:lstStyle/>
          <a:p>
            <a:pPr algn="l" indent="0" marL="0">
              <a:buNone/>
            </a:pPr>
            <a:r>
              <a:rPr lang="en-US" sz="1200" dirty="0">
                <a:solidFill>
                  <a:schemeClr val="tx2"/>
                </a:solidFill>
              </a:rPr>
              <a:t>By type: 12 regulatory and control, 11 analytical, 10 operational, 5 master and reference, 1 conformed facts.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THIS DOMAIN</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Seven products are owned by this domain</a:t>
            </a:r>
            <a:endParaRPr lang="en-US" sz="3600" dirty="0"/>
          </a:p>
        </p:txBody>
      </p:sp>
      <p:sp>
        <p:nvSpPr>
          <p:cNvPr id="5" name="Text 2"/>
          <p:cNvSpPr txBox="1"/>
          <p:nvPr/>
        </p:nvSpPr>
        <p:spPr>
          <a:xfrm>
            <a:off x="9326880" y="1764792"/>
            <a:ext cx="2313432" cy="228600"/>
          </a:xfrm>
          <a:prstGeom prst="rect">
            <a:avLst/>
          </a:prstGeom>
          <a:noFill/>
          <a:ln/>
        </p:spPr>
        <p:txBody>
          <a:bodyPr wrap="square" lIns="0" tIns="0" rIns="0" bIns="0" rtlCol="0" anchor="ctr"/>
          <a:lstStyle/>
          <a:p>
            <a:pPr algn="l" indent="0" marL="0">
              <a:buNone/>
            </a:pPr>
            <a:r>
              <a:rPr lang="en-US" sz="1000" b="1" spc="100" kern="0" dirty="0">
                <a:solidFill>
                  <a:schemeClr val="tx2"/>
                </a:solidFill>
              </a:rPr>
              <a:t>INPUTS FROM THIS DOMAIN</a:t>
            </a:r>
            <a:endParaRPr lang="en-US" sz="1000" dirty="0"/>
          </a:p>
        </p:txBody>
      </p:sp>
      <p:sp>
        <p:nvSpPr>
          <p:cNvPr id="6" name="Shape 3"/>
          <p:cNvSpPr/>
          <p:nvPr/>
        </p:nvSpPr>
        <p:spPr>
          <a:xfrm>
            <a:off x="548640" y="2057400"/>
            <a:ext cx="11091672" cy="530352"/>
          </a:xfrm>
          <a:prstGeom prst="roundRect">
            <a:avLst>
              <a:gd name="adj" fmla="val 13793"/>
            </a:avLst>
          </a:prstGeom>
          <a:solidFill>
            <a:schemeClr val="bg2"/>
          </a:solidFill>
          <a:ln/>
        </p:spPr>
      </p:sp>
      <p:sp>
        <p:nvSpPr>
          <p:cNvPr id="7" name="Text 4"/>
          <p:cNvSpPr/>
          <p:nvPr/>
        </p:nvSpPr>
        <p:spPr>
          <a:xfrm>
            <a:off x="731520" y="2157984"/>
            <a:ext cx="914400" cy="329184"/>
          </a:xfrm>
          <a:prstGeom prst="roundRect">
            <a:avLst>
              <a:gd name="adj" fmla="val 16667"/>
            </a:avLst>
          </a:prstGeom>
          <a:solidFill>
            <a:schemeClr val="accent1"/>
          </a:solidFill>
          <a:ln/>
        </p:spPr>
        <p:txBody>
          <a:bodyPr wrap="square" lIns="0" tIns="0" rIns="0" bIns="0" rtlCol="0" anchor="ctr"/>
          <a:lstStyle/>
          <a:p>
            <a:pPr algn="ctr" indent="0" marL="0">
              <a:buNone/>
            </a:pPr>
            <a:r>
              <a:rPr lang="en-US" sz="1200" b="1" dirty="0">
                <a:solidFill>
                  <a:schemeClr val="bg1"/>
                </a:solidFill>
              </a:rPr>
              <a:t>DP-001</a:t>
            </a:r>
            <a:endParaRPr lang="en-US" sz="1200" dirty="0"/>
          </a:p>
        </p:txBody>
      </p:sp>
      <p:sp>
        <p:nvSpPr>
          <p:cNvPr id="8" name="Text 5"/>
          <p:cNvSpPr txBox="1"/>
          <p:nvPr/>
        </p:nvSpPr>
        <p:spPr>
          <a:xfrm>
            <a:off x="1828800" y="2103120"/>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Distributor Hierarchy</a:t>
            </a:r>
            <a:endParaRPr lang="en-US" sz="1300" dirty="0"/>
          </a:p>
        </p:txBody>
      </p:sp>
      <p:sp>
        <p:nvSpPr>
          <p:cNvPr id="9" name="Text 6"/>
          <p:cNvSpPr txBox="1"/>
          <p:nvPr/>
        </p:nvSpPr>
        <p:spPr>
          <a:xfrm>
            <a:off x="1828800" y="2359152"/>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Foundational  |  Sales operations</a:t>
            </a:r>
            <a:endParaRPr lang="en-US" sz="1000" dirty="0"/>
          </a:p>
        </p:txBody>
      </p:sp>
      <p:sp>
        <p:nvSpPr>
          <p:cNvPr id="10" name="Text 7"/>
          <p:cNvSpPr txBox="1"/>
          <p:nvPr/>
        </p:nvSpPr>
        <p:spPr>
          <a:xfrm>
            <a:off x="5897880" y="2057400"/>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Every firm, office, team and advisor, linked parent to child with effective dates.</a:t>
            </a:r>
            <a:endParaRPr lang="en-US" sz="1100" dirty="0"/>
          </a:p>
        </p:txBody>
      </p:sp>
      <p:sp>
        <p:nvSpPr>
          <p:cNvPr id="11" name="Shape 8"/>
          <p:cNvSpPr/>
          <p:nvPr/>
        </p:nvSpPr>
        <p:spPr>
          <a:xfrm>
            <a:off x="9326880" y="2258568"/>
            <a:ext cx="1371600" cy="128016"/>
          </a:xfrm>
          <a:prstGeom prst="rect">
            <a:avLst/>
          </a:prstGeom>
          <a:solidFill>
            <a:schemeClr val="bg1"/>
          </a:solidFill>
          <a:ln/>
        </p:spPr>
      </p:sp>
      <p:sp>
        <p:nvSpPr>
          <p:cNvPr id="12" name="Shape 9"/>
          <p:cNvSpPr/>
          <p:nvPr/>
        </p:nvSpPr>
        <p:spPr>
          <a:xfrm>
            <a:off x="9326880" y="2258568"/>
            <a:ext cx="1213338" cy="128016"/>
          </a:xfrm>
          <a:prstGeom prst="rect">
            <a:avLst/>
          </a:prstGeom>
          <a:solidFill>
            <a:schemeClr val="accent1"/>
          </a:solidFill>
          <a:ln/>
        </p:spPr>
      </p:sp>
      <p:sp>
        <p:nvSpPr>
          <p:cNvPr id="13" name="Text 10"/>
          <p:cNvSpPr txBox="1"/>
          <p:nvPr/>
        </p:nvSpPr>
        <p:spPr>
          <a:xfrm>
            <a:off x="10789920" y="2057400"/>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69 of 78</a:t>
            </a:r>
            <a:endParaRPr lang="en-US" sz="1200" dirty="0"/>
          </a:p>
        </p:txBody>
      </p:sp>
      <p:sp>
        <p:nvSpPr>
          <p:cNvPr id="14" name="Shape 11"/>
          <p:cNvSpPr/>
          <p:nvPr/>
        </p:nvSpPr>
        <p:spPr>
          <a:xfrm>
            <a:off x="548640" y="2660904"/>
            <a:ext cx="11091672" cy="530352"/>
          </a:xfrm>
          <a:prstGeom prst="roundRect">
            <a:avLst>
              <a:gd name="adj" fmla="val 13793"/>
            </a:avLst>
          </a:prstGeom>
          <a:solidFill>
            <a:schemeClr val="bg2"/>
          </a:solidFill>
          <a:ln/>
        </p:spPr>
      </p:sp>
      <p:sp>
        <p:nvSpPr>
          <p:cNvPr id="15" name="Text 12"/>
          <p:cNvSpPr/>
          <p:nvPr/>
        </p:nvSpPr>
        <p:spPr>
          <a:xfrm>
            <a:off x="731520" y="2761488"/>
            <a:ext cx="914400" cy="329184"/>
          </a:xfrm>
          <a:prstGeom prst="roundRect">
            <a:avLst>
              <a:gd name="adj" fmla="val 16667"/>
            </a:avLst>
          </a:prstGeom>
          <a:solidFill>
            <a:schemeClr val="accent1"/>
          </a:solidFill>
          <a:ln/>
        </p:spPr>
        <p:txBody>
          <a:bodyPr wrap="square" lIns="0" tIns="0" rIns="0" bIns="0" rtlCol="0" anchor="ctr"/>
          <a:lstStyle/>
          <a:p>
            <a:pPr algn="ctr" indent="0" marL="0">
              <a:buNone/>
            </a:pPr>
            <a:r>
              <a:rPr lang="en-US" sz="1200" b="1" dirty="0">
                <a:solidFill>
                  <a:schemeClr val="bg1"/>
                </a:solidFill>
              </a:rPr>
              <a:t>DP-002</a:t>
            </a:r>
            <a:endParaRPr lang="en-US" sz="1200" dirty="0"/>
          </a:p>
        </p:txBody>
      </p:sp>
      <p:sp>
        <p:nvSpPr>
          <p:cNvPr id="16" name="Text 13"/>
          <p:cNvSpPr txBox="1"/>
          <p:nvPr/>
        </p:nvSpPr>
        <p:spPr>
          <a:xfrm>
            <a:off x="1828800" y="2706624"/>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Financial Professional Profile</a:t>
            </a:r>
            <a:endParaRPr lang="en-US" sz="1300" dirty="0"/>
          </a:p>
        </p:txBody>
      </p:sp>
      <p:sp>
        <p:nvSpPr>
          <p:cNvPr id="17" name="Text 14"/>
          <p:cNvSpPr txBox="1"/>
          <p:nvPr/>
        </p:nvSpPr>
        <p:spPr>
          <a:xfrm>
            <a:off x="1828800" y="2962656"/>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Foundational  |  Sales operations</a:t>
            </a:r>
            <a:endParaRPr lang="en-US" sz="1000" dirty="0"/>
          </a:p>
        </p:txBody>
      </p:sp>
      <p:sp>
        <p:nvSpPr>
          <p:cNvPr id="18" name="Text 15"/>
          <p:cNvSpPr txBox="1"/>
          <p:nvPr/>
        </p:nvSpPr>
        <p:spPr>
          <a:xfrm>
            <a:off x="5897880" y="2660904"/>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One profile per advisor: identity, firms, practice, team, segment and contact details.</a:t>
            </a:r>
            <a:endParaRPr lang="en-US" sz="1100" dirty="0"/>
          </a:p>
        </p:txBody>
      </p:sp>
      <p:sp>
        <p:nvSpPr>
          <p:cNvPr id="19" name="Shape 16"/>
          <p:cNvSpPr/>
          <p:nvPr/>
        </p:nvSpPr>
        <p:spPr>
          <a:xfrm>
            <a:off x="9326880" y="2862072"/>
            <a:ext cx="1371600" cy="128016"/>
          </a:xfrm>
          <a:prstGeom prst="rect">
            <a:avLst/>
          </a:prstGeom>
          <a:solidFill>
            <a:schemeClr val="bg1"/>
          </a:solidFill>
          <a:ln/>
        </p:spPr>
      </p:sp>
      <p:sp>
        <p:nvSpPr>
          <p:cNvPr id="20" name="Shape 17"/>
          <p:cNvSpPr/>
          <p:nvPr/>
        </p:nvSpPr>
        <p:spPr>
          <a:xfrm>
            <a:off x="9326880" y="2862072"/>
            <a:ext cx="1371600" cy="128016"/>
          </a:xfrm>
          <a:prstGeom prst="rect">
            <a:avLst/>
          </a:prstGeom>
          <a:solidFill>
            <a:schemeClr val="accent1"/>
          </a:solidFill>
          <a:ln/>
        </p:spPr>
      </p:sp>
      <p:sp>
        <p:nvSpPr>
          <p:cNvPr id="21" name="Text 18"/>
          <p:cNvSpPr txBox="1"/>
          <p:nvPr/>
        </p:nvSpPr>
        <p:spPr>
          <a:xfrm>
            <a:off x="10789920" y="2660904"/>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89 of 89</a:t>
            </a:r>
            <a:endParaRPr lang="en-US" sz="1200" dirty="0"/>
          </a:p>
        </p:txBody>
      </p:sp>
      <p:sp>
        <p:nvSpPr>
          <p:cNvPr id="22" name="Shape 19"/>
          <p:cNvSpPr/>
          <p:nvPr/>
        </p:nvSpPr>
        <p:spPr>
          <a:xfrm>
            <a:off x="548640" y="3264408"/>
            <a:ext cx="11091672" cy="530352"/>
          </a:xfrm>
          <a:prstGeom prst="roundRect">
            <a:avLst>
              <a:gd name="adj" fmla="val 13793"/>
            </a:avLst>
          </a:prstGeom>
          <a:solidFill>
            <a:schemeClr val="bg2"/>
          </a:solidFill>
          <a:ln/>
        </p:spPr>
      </p:sp>
      <p:sp>
        <p:nvSpPr>
          <p:cNvPr id="23" name="Text 20"/>
          <p:cNvSpPr/>
          <p:nvPr/>
        </p:nvSpPr>
        <p:spPr>
          <a:xfrm>
            <a:off x="731520" y="3364992"/>
            <a:ext cx="914400" cy="329184"/>
          </a:xfrm>
          <a:prstGeom prst="roundRect">
            <a:avLst>
              <a:gd name="adj" fmla="val 16667"/>
            </a:avLst>
          </a:prstGeom>
          <a:solidFill>
            <a:schemeClr val="accent1"/>
          </a:solidFill>
          <a:ln/>
        </p:spPr>
        <p:txBody>
          <a:bodyPr wrap="square" lIns="0" tIns="0" rIns="0" bIns="0" rtlCol="0" anchor="ctr"/>
          <a:lstStyle/>
          <a:p>
            <a:pPr algn="ctr" indent="0" marL="0">
              <a:buNone/>
            </a:pPr>
            <a:r>
              <a:rPr lang="en-US" sz="1200" b="1" dirty="0">
                <a:solidFill>
                  <a:schemeClr val="bg1"/>
                </a:solidFill>
              </a:rPr>
              <a:t>DP-003</a:t>
            </a:r>
            <a:endParaRPr lang="en-US" sz="1200" dirty="0"/>
          </a:p>
        </p:txBody>
      </p:sp>
      <p:sp>
        <p:nvSpPr>
          <p:cNvPr id="24" name="Text 21"/>
          <p:cNvSpPr txBox="1"/>
          <p:nvPr/>
        </p:nvSpPr>
        <p:spPr>
          <a:xfrm>
            <a:off x="1828800" y="3310128"/>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Institutional, Consultant &amp; Plan Relationships</a:t>
            </a:r>
            <a:endParaRPr lang="en-US" sz="1300" dirty="0"/>
          </a:p>
        </p:txBody>
      </p:sp>
      <p:sp>
        <p:nvSpPr>
          <p:cNvPr id="25" name="Text 22"/>
          <p:cNvSpPr txBox="1"/>
          <p:nvPr/>
        </p:nvSpPr>
        <p:spPr>
          <a:xfrm>
            <a:off x="1828800" y="3566160"/>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Foundational  |  Institutional sales</a:t>
            </a:r>
            <a:endParaRPr lang="en-US" sz="1000" dirty="0"/>
          </a:p>
        </p:txBody>
      </p:sp>
      <p:sp>
        <p:nvSpPr>
          <p:cNvPr id="26" name="Text 23"/>
          <p:cNvSpPr txBox="1"/>
          <p:nvPr/>
        </p:nvSpPr>
        <p:spPr>
          <a:xfrm>
            <a:off x="5897880" y="3264408"/>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Institutional clients, consultants, plans and recordkeepers, and who advises or serves whom.</a:t>
            </a:r>
            <a:endParaRPr lang="en-US" sz="1100" dirty="0"/>
          </a:p>
        </p:txBody>
      </p:sp>
      <p:sp>
        <p:nvSpPr>
          <p:cNvPr id="27" name="Shape 24"/>
          <p:cNvSpPr/>
          <p:nvPr/>
        </p:nvSpPr>
        <p:spPr>
          <a:xfrm>
            <a:off x="9326880" y="3465576"/>
            <a:ext cx="1371600" cy="128016"/>
          </a:xfrm>
          <a:prstGeom prst="rect">
            <a:avLst/>
          </a:prstGeom>
          <a:solidFill>
            <a:schemeClr val="bg1"/>
          </a:solidFill>
          <a:ln/>
        </p:spPr>
      </p:sp>
      <p:sp>
        <p:nvSpPr>
          <p:cNvPr id="28" name="Shape 25"/>
          <p:cNvSpPr/>
          <p:nvPr/>
        </p:nvSpPr>
        <p:spPr>
          <a:xfrm>
            <a:off x="9326880" y="3465576"/>
            <a:ext cx="1130643" cy="128016"/>
          </a:xfrm>
          <a:prstGeom prst="rect">
            <a:avLst/>
          </a:prstGeom>
          <a:solidFill>
            <a:schemeClr val="accent1"/>
          </a:solidFill>
          <a:ln/>
        </p:spPr>
      </p:sp>
      <p:sp>
        <p:nvSpPr>
          <p:cNvPr id="29" name="Text 26"/>
          <p:cNvSpPr txBox="1"/>
          <p:nvPr/>
        </p:nvSpPr>
        <p:spPr>
          <a:xfrm>
            <a:off x="10789920" y="3264408"/>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61 of 74</a:t>
            </a:r>
            <a:endParaRPr lang="en-US" sz="1200" dirty="0"/>
          </a:p>
        </p:txBody>
      </p:sp>
      <p:sp>
        <p:nvSpPr>
          <p:cNvPr id="30" name="Shape 27"/>
          <p:cNvSpPr/>
          <p:nvPr/>
        </p:nvSpPr>
        <p:spPr>
          <a:xfrm>
            <a:off x="548640" y="3867912"/>
            <a:ext cx="11091672" cy="530352"/>
          </a:xfrm>
          <a:prstGeom prst="roundRect">
            <a:avLst>
              <a:gd name="adj" fmla="val 13793"/>
            </a:avLst>
          </a:prstGeom>
          <a:solidFill>
            <a:schemeClr val="bg2"/>
          </a:solidFill>
          <a:ln/>
        </p:spPr>
      </p:sp>
      <p:sp>
        <p:nvSpPr>
          <p:cNvPr id="31" name="Text 28"/>
          <p:cNvSpPr/>
          <p:nvPr/>
        </p:nvSpPr>
        <p:spPr>
          <a:xfrm>
            <a:off x="731520" y="3968496"/>
            <a:ext cx="914400" cy="329184"/>
          </a:xfrm>
          <a:prstGeom prst="roundRect">
            <a:avLst>
              <a:gd name="adj" fmla="val 16667"/>
            </a:avLst>
          </a:prstGeom>
          <a:solidFill>
            <a:schemeClr val="accent1"/>
          </a:solidFill>
          <a:ln/>
        </p:spPr>
        <p:txBody>
          <a:bodyPr wrap="square" lIns="0" tIns="0" rIns="0" bIns="0" rtlCol="0" anchor="ctr"/>
          <a:lstStyle/>
          <a:p>
            <a:pPr algn="ctr" indent="0" marL="0">
              <a:buNone/>
            </a:pPr>
            <a:r>
              <a:rPr lang="en-US" sz="1200" b="1" dirty="0">
                <a:solidFill>
                  <a:schemeClr val="bg1"/>
                </a:solidFill>
              </a:rPr>
              <a:t>DP-048</a:t>
            </a:r>
            <a:endParaRPr lang="en-US" sz="1200" dirty="0"/>
          </a:p>
        </p:txBody>
      </p:sp>
      <p:sp>
        <p:nvSpPr>
          <p:cNvPr id="32" name="Text 29"/>
          <p:cNvSpPr txBox="1"/>
          <p:nvPr/>
        </p:nvSpPr>
        <p:spPr>
          <a:xfrm>
            <a:off x="1828800" y="3913632"/>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Advisor Movement &amp; Breakaway Alerts</a:t>
            </a:r>
            <a:endParaRPr lang="en-US" sz="1300" dirty="0"/>
          </a:p>
        </p:txBody>
      </p:sp>
      <p:sp>
        <p:nvSpPr>
          <p:cNvPr id="33" name="Text 30"/>
          <p:cNvSpPr txBox="1"/>
          <p:nvPr/>
        </p:nvSpPr>
        <p:spPr>
          <a:xfrm>
            <a:off x="1828800" y="4169664"/>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Operational  |  External wholesaling</a:t>
            </a:r>
            <a:endParaRPr lang="en-US" sz="1000" dirty="0"/>
          </a:p>
        </p:txBody>
      </p:sp>
      <p:sp>
        <p:nvSpPr>
          <p:cNvPr id="34" name="Text 31"/>
          <p:cNvSpPr txBox="1"/>
          <p:nvPr/>
        </p:nvSpPr>
        <p:spPr>
          <a:xfrm>
            <a:off x="5897880" y="3867912"/>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Alerts when an advisor or team changes firm, with the assets at stake.</a:t>
            </a:r>
            <a:endParaRPr lang="en-US" sz="1100" dirty="0"/>
          </a:p>
        </p:txBody>
      </p:sp>
      <p:sp>
        <p:nvSpPr>
          <p:cNvPr id="35" name="Shape 32"/>
          <p:cNvSpPr/>
          <p:nvPr/>
        </p:nvSpPr>
        <p:spPr>
          <a:xfrm>
            <a:off x="9326880" y="4069080"/>
            <a:ext cx="1371600" cy="128016"/>
          </a:xfrm>
          <a:prstGeom prst="rect">
            <a:avLst/>
          </a:prstGeom>
          <a:solidFill>
            <a:schemeClr val="bg1"/>
          </a:solidFill>
          <a:ln/>
        </p:spPr>
      </p:sp>
      <p:sp>
        <p:nvSpPr>
          <p:cNvPr id="36" name="Shape 33"/>
          <p:cNvSpPr/>
          <p:nvPr/>
        </p:nvSpPr>
        <p:spPr>
          <a:xfrm>
            <a:off x="9326880" y="4069080"/>
            <a:ext cx="631371" cy="128016"/>
          </a:xfrm>
          <a:prstGeom prst="rect">
            <a:avLst/>
          </a:prstGeom>
          <a:solidFill>
            <a:schemeClr val="accent1"/>
          </a:solidFill>
          <a:ln/>
        </p:spPr>
      </p:sp>
      <p:sp>
        <p:nvSpPr>
          <p:cNvPr id="37" name="Text 34"/>
          <p:cNvSpPr txBox="1"/>
          <p:nvPr/>
        </p:nvSpPr>
        <p:spPr>
          <a:xfrm>
            <a:off x="10789920" y="3867912"/>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29 of 63</a:t>
            </a:r>
            <a:endParaRPr lang="en-US" sz="1200" dirty="0"/>
          </a:p>
        </p:txBody>
      </p:sp>
      <p:sp>
        <p:nvSpPr>
          <p:cNvPr id="38" name="Shape 35"/>
          <p:cNvSpPr/>
          <p:nvPr/>
        </p:nvSpPr>
        <p:spPr>
          <a:xfrm>
            <a:off x="548640" y="4471416"/>
            <a:ext cx="11091672" cy="530352"/>
          </a:xfrm>
          <a:prstGeom prst="roundRect">
            <a:avLst>
              <a:gd name="adj" fmla="val 13793"/>
            </a:avLst>
          </a:prstGeom>
          <a:solidFill>
            <a:schemeClr val="bg2"/>
          </a:solidFill>
          <a:ln/>
        </p:spPr>
      </p:sp>
      <p:sp>
        <p:nvSpPr>
          <p:cNvPr id="39" name="Text 36"/>
          <p:cNvSpPr/>
          <p:nvPr/>
        </p:nvSpPr>
        <p:spPr>
          <a:xfrm>
            <a:off x="731520" y="4572000"/>
            <a:ext cx="914400" cy="329184"/>
          </a:xfrm>
          <a:prstGeom prst="roundRect">
            <a:avLst>
              <a:gd name="adj" fmla="val 16667"/>
            </a:avLst>
          </a:prstGeom>
          <a:solidFill>
            <a:schemeClr val="accent1"/>
          </a:solidFill>
          <a:ln/>
        </p:spPr>
        <p:txBody>
          <a:bodyPr wrap="square" lIns="0" tIns="0" rIns="0" bIns="0" rtlCol="0" anchor="ctr"/>
          <a:lstStyle/>
          <a:p>
            <a:pPr algn="ctr" indent="0" marL="0">
              <a:buNone/>
            </a:pPr>
            <a:r>
              <a:rPr lang="en-US" sz="1200" b="1" dirty="0">
                <a:solidFill>
                  <a:schemeClr val="bg1"/>
                </a:solidFill>
              </a:rPr>
              <a:t>DP-066</a:t>
            </a:r>
            <a:endParaRPr lang="en-US" sz="1200" dirty="0"/>
          </a:p>
        </p:txBody>
      </p:sp>
      <p:sp>
        <p:nvSpPr>
          <p:cNvPr id="40" name="Text 37"/>
          <p:cNvSpPr txBox="1"/>
          <p:nvPr/>
        </p:nvSpPr>
        <p:spPr>
          <a:xfrm>
            <a:off x="1828800" y="4517136"/>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Retirement Plan Prospecting</a:t>
            </a:r>
            <a:endParaRPr lang="en-US" sz="1300" dirty="0"/>
          </a:p>
        </p:txBody>
      </p:sp>
      <p:sp>
        <p:nvSpPr>
          <p:cNvPr id="41" name="Text 38"/>
          <p:cNvSpPr txBox="1"/>
          <p:nvPr/>
        </p:nvSpPr>
        <p:spPr>
          <a:xfrm>
            <a:off x="1828800" y="4773168"/>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Analytical  |  Retirement and DCIO</a:t>
            </a:r>
            <a:endParaRPr lang="en-US" sz="1000" dirty="0"/>
          </a:p>
        </p:txBody>
      </p:sp>
      <p:sp>
        <p:nvSpPr>
          <p:cNvPr id="42" name="Text 39"/>
          <p:cNvSpPr txBox="1"/>
          <p:nvPr/>
        </p:nvSpPr>
        <p:spPr>
          <a:xfrm>
            <a:off x="5897880" y="4471416"/>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A scored prospect list of US defined contribution plans and their service providers.</a:t>
            </a:r>
            <a:endParaRPr lang="en-US" sz="1100" dirty="0"/>
          </a:p>
        </p:txBody>
      </p:sp>
      <p:sp>
        <p:nvSpPr>
          <p:cNvPr id="43" name="Shape 40"/>
          <p:cNvSpPr/>
          <p:nvPr/>
        </p:nvSpPr>
        <p:spPr>
          <a:xfrm>
            <a:off x="9326880" y="4672584"/>
            <a:ext cx="1371600" cy="128016"/>
          </a:xfrm>
          <a:prstGeom prst="rect">
            <a:avLst/>
          </a:prstGeom>
          <a:solidFill>
            <a:schemeClr val="bg1"/>
          </a:solidFill>
          <a:ln/>
        </p:spPr>
      </p:sp>
      <p:sp>
        <p:nvSpPr>
          <p:cNvPr id="44" name="Shape 41"/>
          <p:cNvSpPr/>
          <p:nvPr/>
        </p:nvSpPr>
        <p:spPr>
          <a:xfrm>
            <a:off x="9326880" y="4672584"/>
            <a:ext cx="548640" cy="128016"/>
          </a:xfrm>
          <a:prstGeom prst="rect">
            <a:avLst/>
          </a:prstGeom>
          <a:solidFill>
            <a:schemeClr val="accent1"/>
          </a:solidFill>
          <a:ln/>
        </p:spPr>
      </p:sp>
      <p:sp>
        <p:nvSpPr>
          <p:cNvPr id="45" name="Text 42"/>
          <p:cNvSpPr txBox="1"/>
          <p:nvPr/>
        </p:nvSpPr>
        <p:spPr>
          <a:xfrm>
            <a:off x="10789920" y="4471416"/>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26 of 65</a:t>
            </a:r>
            <a:endParaRPr lang="en-US" sz="1200" dirty="0"/>
          </a:p>
        </p:txBody>
      </p:sp>
      <p:sp>
        <p:nvSpPr>
          <p:cNvPr id="46" name="Shape 43"/>
          <p:cNvSpPr/>
          <p:nvPr/>
        </p:nvSpPr>
        <p:spPr>
          <a:xfrm>
            <a:off x="548640" y="5074920"/>
            <a:ext cx="11091672" cy="530352"/>
          </a:xfrm>
          <a:prstGeom prst="roundRect">
            <a:avLst>
              <a:gd name="adj" fmla="val 13793"/>
            </a:avLst>
          </a:prstGeom>
          <a:solidFill>
            <a:schemeClr val="bg2"/>
          </a:solidFill>
          <a:ln/>
        </p:spPr>
      </p:sp>
      <p:sp>
        <p:nvSpPr>
          <p:cNvPr id="47" name="Text 44"/>
          <p:cNvSpPr/>
          <p:nvPr/>
        </p:nvSpPr>
        <p:spPr>
          <a:xfrm>
            <a:off x="731520" y="5175504"/>
            <a:ext cx="914400" cy="329184"/>
          </a:xfrm>
          <a:prstGeom prst="roundRect">
            <a:avLst>
              <a:gd name="adj" fmla="val 16667"/>
            </a:avLst>
          </a:prstGeom>
          <a:solidFill>
            <a:schemeClr val="accent1"/>
          </a:solidFill>
          <a:ln/>
        </p:spPr>
        <p:txBody>
          <a:bodyPr wrap="square" lIns="0" tIns="0" rIns="0" bIns="0" rtlCol="0" anchor="ctr"/>
          <a:lstStyle/>
          <a:p>
            <a:pPr algn="ctr" indent="0" marL="0">
              <a:buNone/>
            </a:pPr>
            <a:r>
              <a:rPr lang="en-US" sz="1200" b="1" dirty="0">
                <a:solidFill>
                  <a:schemeClr val="bg1"/>
                </a:solidFill>
              </a:rPr>
              <a:t>DP-077</a:t>
            </a:r>
            <a:endParaRPr lang="en-US" sz="1200" dirty="0"/>
          </a:p>
        </p:txBody>
      </p:sp>
      <p:sp>
        <p:nvSpPr>
          <p:cNvPr id="48" name="Text 45"/>
          <p:cNvSpPr txBox="1"/>
          <p:nvPr/>
        </p:nvSpPr>
        <p:spPr>
          <a:xfrm>
            <a:off x="1828800" y="5120640"/>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Client Restrictions &amp; KYC Status</a:t>
            </a:r>
            <a:endParaRPr lang="en-US" sz="1300" dirty="0"/>
          </a:p>
        </p:txBody>
      </p:sp>
      <p:sp>
        <p:nvSpPr>
          <p:cNvPr id="49" name="Text 46"/>
          <p:cNvSpPr txBox="1"/>
          <p:nvPr/>
        </p:nvSpPr>
        <p:spPr>
          <a:xfrm>
            <a:off x="1828800" y="5376672"/>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Compliance</a:t>
            </a:r>
            <a:endParaRPr lang="en-US" sz="1000" dirty="0"/>
          </a:p>
        </p:txBody>
      </p:sp>
      <p:sp>
        <p:nvSpPr>
          <p:cNvPr id="50" name="Text 47"/>
          <p:cNvSpPr txBox="1"/>
          <p:nvPr/>
        </p:nvSpPr>
        <p:spPr>
          <a:xfrm>
            <a:off x="5897880" y="5074920"/>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One eligibility list of the parties and accounts the firm must not market or sell to.</a:t>
            </a:r>
            <a:endParaRPr lang="en-US" sz="1100" dirty="0"/>
          </a:p>
        </p:txBody>
      </p:sp>
      <p:sp>
        <p:nvSpPr>
          <p:cNvPr id="51" name="Shape 48"/>
          <p:cNvSpPr/>
          <p:nvPr/>
        </p:nvSpPr>
        <p:spPr>
          <a:xfrm>
            <a:off x="9326880" y="5276088"/>
            <a:ext cx="1371600" cy="128016"/>
          </a:xfrm>
          <a:prstGeom prst="rect">
            <a:avLst/>
          </a:prstGeom>
          <a:solidFill>
            <a:schemeClr val="bg1"/>
          </a:solidFill>
          <a:ln/>
        </p:spPr>
      </p:sp>
      <p:sp>
        <p:nvSpPr>
          <p:cNvPr id="52" name="Shape 49"/>
          <p:cNvSpPr/>
          <p:nvPr/>
        </p:nvSpPr>
        <p:spPr>
          <a:xfrm>
            <a:off x="9326880" y="5276088"/>
            <a:ext cx="921224" cy="128016"/>
          </a:xfrm>
          <a:prstGeom prst="rect">
            <a:avLst/>
          </a:prstGeom>
          <a:solidFill>
            <a:schemeClr val="accent1"/>
          </a:solidFill>
          <a:ln/>
        </p:spPr>
      </p:sp>
      <p:sp>
        <p:nvSpPr>
          <p:cNvPr id="53" name="Text 50"/>
          <p:cNvSpPr txBox="1"/>
          <p:nvPr/>
        </p:nvSpPr>
        <p:spPr>
          <a:xfrm>
            <a:off x="10789920" y="5074920"/>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45 of 67</a:t>
            </a:r>
            <a:endParaRPr lang="en-US" sz="1200" dirty="0"/>
          </a:p>
        </p:txBody>
      </p:sp>
      <p:sp>
        <p:nvSpPr>
          <p:cNvPr id="54" name="Shape 51"/>
          <p:cNvSpPr/>
          <p:nvPr/>
        </p:nvSpPr>
        <p:spPr>
          <a:xfrm>
            <a:off x="548640" y="5678424"/>
            <a:ext cx="11091672" cy="530352"/>
          </a:xfrm>
          <a:prstGeom prst="roundRect">
            <a:avLst>
              <a:gd name="adj" fmla="val 13793"/>
            </a:avLst>
          </a:prstGeom>
          <a:solidFill>
            <a:schemeClr val="bg2"/>
          </a:solidFill>
          <a:ln/>
        </p:spPr>
      </p:sp>
      <p:sp>
        <p:nvSpPr>
          <p:cNvPr id="55" name="Text 52"/>
          <p:cNvSpPr/>
          <p:nvPr/>
        </p:nvSpPr>
        <p:spPr>
          <a:xfrm>
            <a:off x="731520" y="5779008"/>
            <a:ext cx="914400" cy="329184"/>
          </a:xfrm>
          <a:prstGeom prst="roundRect">
            <a:avLst>
              <a:gd name="adj" fmla="val 16667"/>
            </a:avLst>
          </a:prstGeom>
          <a:solidFill>
            <a:schemeClr val="accent1"/>
          </a:solidFill>
          <a:ln/>
        </p:spPr>
        <p:txBody>
          <a:bodyPr wrap="square" lIns="0" tIns="0" rIns="0" bIns="0" rtlCol="0" anchor="ctr"/>
          <a:lstStyle/>
          <a:p>
            <a:pPr algn="ctr" indent="0" marL="0">
              <a:buNone/>
            </a:pPr>
            <a:r>
              <a:rPr lang="en-US" sz="1200" b="1" dirty="0">
                <a:solidFill>
                  <a:schemeClr val="bg1"/>
                </a:solidFill>
              </a:rPr>
              <a:t>DP-080</a:t>
            </a:r>
            <a:endParaRPr lang="en-US" sz="1200" dirty="0"/>
          </a:p>
        </p:txBody>
      </p:sp>
      <p:sp>
        <p:nvSpPr>
          <p:cNvPr id="56" name="Text 53"/>
          <p:cNvSpPr txBox="1"/>
          <p:nvPr/>
        </p:nvSpPr>
        <p:spPr>
          <a:xfrm>
            <a:off x="1828800" y="5724144"/>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Data Subject Rights &amp; Retention</a:t>
            </a:r>
            <a:endParaRPr lang="en-US" sz="1300" dirty="0"/>
          </a:p>
        </p:txBody>
      </p:sp>
      <p:sp>
        <p:nvSpPr>
          <p:cNvPr id="57" name="Text 54"/>
          <p:cNvSpPr txBox="1"/>
          <p:nvPr/>
        </p:nvSpPr>
        <p:spPr>
          <a:xfrm>
            <a:off x="1828800" y="5980176"/>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Data office</a:t>
            </a:r>
            <a:endParaRPr lang="en-US" sz="1000" dirty="0"/>
          </a:p>
        </p:txBody>
      </p:sp>
      <p:sp>
        <p:nvSpPr>
          <p:cNvPr id="58" name="Text 55"/>
          <p:cNvSpPr txBox="1"/>
          <p:nvPr/>
        </p:nvSpPr>
        <p:spPr>
          <a:xfrm>
            <a:off x="5897880" y="5678424"/>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Data subject requests and retention schedules, with evidence that rights were honored.</a:t>
            </a:r>
            <a:endParaRPr lang="en-US" sz="1100" dirty="0"/>
          </a:p>
        </p:txBody>
      </p:sp>
      <p:sp>
        <p:nvSpPr>
          <p:cNvPr id="59" name="Shape 56"/>
          <p:cNvSpPr/>
          <p:nvPr/>
        </p:nvSpPr>
        <p:spPr>
          <a:xfrm>
            <a:off x="9326880" y="5879592"/>
            <a:ext cx="1371600" cy="128016"/>
          </a:xfrm>
          <a:prstGeom prst="rect">
            <a:avLst/>
          </a:prstGeom>
          <a:solidFill>
            <a:schemeClr val="bg1"/>
          </a:solidFill>
          <a:ln/>
        </p:spPr>
      </p:sp>
      <p:sp>
        <p:nvSpPr>
          <p:cNvPr id="60" name="Shape 57"/>
          <p:cNvSpPr/>
          <p:nvPr/>
        </p:nvSpPr>
        <p:spPr>
          <a:xfrm>
            <a:off x="9326880" y="5879592"/>
            <a:ext cx="800100" cy="128016"/>
          </a:xfrm>
          <a:prstGeom prst="rect">
            <a:avLst/>
          </a:prstGeom>
          <a:solidFill>
            <a:schemeClr val="accent1"/>
          </a:solidFill>
          <a:ln/>
        </p:spPr>
      </p:sp>
      <p:sp>
        <p:nvSpPr>
          <p:cNvPr id="61" name="Text 58"/>
          <p:cNvSpPr txBox="1"/>
          <p:nvPr/>
        </p:nvSpPr>
        <p:spPr>
          <a:xfrm>
            <a:off x="10789920" y="5678424"/>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28 of 48</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OTHER DOMAINS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32 more rely on it for party context</a:t>
            </a:r>
            <a:endParaRPr lang="en-US" sz="3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200400"/>
                <a:gridCol w="3200400"/>
                <a:gridCol w="4690872"/>
              </a:tblGrid>
              <a:tr h="365760">
                <a:tc>
                  <a:txBody>
                    <a:bodyPr/>
                    <a:lstStyle/>
                    <a:p>
                      <a:pPr indent="0" marL="0">
                        <a:buNone/>
                      </a:pPr>
                      <a:r>
                        <a:rPr lang="en-US" sz="1200" b="1" dirty="0">
                          <a:solidFill>
                            <a:schemeClr val="bg1"/>
                          </a:solidFill>
                        </a:rPr>
                        <a:t>Who it serves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Products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supplies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12064">
                <a:tc>
                  <a:txBody>
                    <a:bodyPr/>
                    <a:lstStyle/>
                    <a:p>
                      <a:pPr indent="0" marL="0">
                        <a:buNone/>
                      </a:pPr>
                      <a:r>
                        <a:rPr lang="en-US" sz="1200" b="1" dirty="0">
                          <a:solidFill>
                            <a:schemeClr val="tx1"/>
                          </a:solidFill>
                        </a:rPr>
                        <a:t>Field sales and sales operations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DP-017, DP-018, DP-046, DP-047, DP-049, DP-052, DP-053</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Advisor identity, practice profile, employment affiliations, teams, segments and contact preferences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Compliance and product governance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DP-037, DP-038, DP-060, DP-061, DP-063</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Distributor firms and their regulatory identifiers, individuals and advisors, household membership</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Marketing and digital</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DP-011, DP-027, DP-028, DP-087</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Consent, lawful basis, communication preferences, client restrictions, regulatory classification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Investor servicing and fund operations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DP-070, DP-085, DP-093</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Individuals behind shareholder accounts; the party behind every account in Account Master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Institutional sales, RFP and client service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DP-022, DP-023, DP-086, DP-092</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Institutional clients, consultants and who they advise, KYC profile, client restrictions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Partners, platforms and retirement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DP-020, DP-021, DP-024, DP-094, DP-096</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Distributor firms, Form ADV profile, retirement plans, plan service providers, recordkeepers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Product, territory, intelligence and EU / UK</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DP-054, DP-065, DP-076, DP-088</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End investors on a look-through basis, contact point addresses, party identity, UK and EU identifiers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89788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A further 54 products take firms, advisors and clients only through DP-001, DP-002 or DP-003, without reading Client &amp; Customer directly.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ONE ATTRIBUTE, END TO END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attribute, followed to an answer</a:t>
            </a:r>
            <a:endParaRPr lang="en-US" sz="3600" dirty="0"/>
          </a:p>
        </p:txBody>
      </p:sp>
      <p:sp>
        <p:nvSpPr>
          <p:cNvPr id="5" name="Shape 2"/>
          <p:cNvSpPr/>
          <p:nvPr/>
        </p:nvSpPr>
        <p:spPr>
          <a:xfrm>
            <a:off x="548640" y="1874520"/>
            <a:ext cx="1938528" cy="2514600"/>
          </a:xfrm>
          <a:prstGeom prst="roundRect">
            <a:avLst>
              <a:gd name="adj" fmla="val 3774"/>
            </a:avLst>
          </a:prstGeom>
          <a:solidFill>
            <a:schemeClr val="accent2"/>
          </a:solidFill>
          <a:ln/>
        </p:spPr>
      </p:sp>
      <p:sp>
        <p:nvSpPr>
          <p:cNvPr id="6" name="Text 3"/>
          <p:cNvSpPr txBox="1"/>
          <p:nvPr/>
        </p:nvSpPr>
        <p:spPr>
          <a:xfrm>
            <a:off x="731520"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bg1"/>
                </a:solidFill>
              </a:rPr>
              <a:t>TAXONOMY</a:t>
            </a:r>
            <a:endParaRPr lang="en-US" sz="1100" dirty="0"/>
          </a:p>
        </p:txBody>
      </p:sp>
      <p:sp>
        <p:nvSpPr>
          <p:cNvPr id="7" name="Text 4"/>
          <p:cNvSpPr txBox="1"/>
          <p:nvPr/>
        </p:nvSpPr>
        <p:spPr>
          <a:xfrm>
            <a:off x="731520" y="2331720"/>
            <a:ext cx="1572768" cy="548640"/>
          </a:xfrm>
          <a:prstGeom prst="rect">
            <a:avLst/>
          </a:prstGeom>
          <a:noFill/>
          <a:ln/>
        </p:spPr>
        <p:txBody>
          <a:bodyPr wrap="square" lIns="0" tIns="0" rIns="0" bIns="0" rtlCol="0" anchor="ctr"/>
          <a:lstStyle/>
          <a:p>
            <a:pPr algn="l" indent="0" marL="0">
              <a:buNone/>
            </a:pPr>
            <a:r>
              <a:rPr lang="en-US" sz="1400" b="1" dirty="0">
                <a:solidFill>
                  <a:schemeClr val="bg1"/>
                </a:solidFill>
              </a:rPr>
              <a:t>Employing Firm</a:t>
            </a:r>
            <a:endParaRPr lang="en-US" sz="1400" dirty="0"/>
          </a:p>
        </p:txBody>
      </p:sp>
      <p:sp>
        <p:nvSpPr>
          <p:cNvPr id="8" name="Text 5"/>
          <p:cNvSpPr txBox="1"/>
          <p:nvPr/>
        </p:nvSpPr>
        <p:spPr>
          <a:xfrm>
            <a:off x="731520" y="2971800"/>
            <a:ext cx="1572768" cy="1280160"/>
          </a:xfrm>
          <a:prstGeom prst="rect">
            <a:avLst/>
          </a:prstGeom>
          <a:noFill/>
          <a:ln/>
        </p:spPr>
        <p:txBody>
          <a:bodyPr wrap="square" lIns="0" tIns="0" rIns="0" bIns="0" rtlCol="0" anchor="t"/>
          <a:lstStyle/>
          <a:p>
            <a:pPr algn="l" indent="0" marL="0">
              <a:buNone/>
            </a:pPr>
            <a:r>
              <a:rPr lang="en-US" sz="1200" dirty="0">
                <a:solidFill>
                  <a:schemeClr val="bg1"/>
                </a:solidFill>
              </a:rPr>
              <a:t>Defined once, in the Employment Affiliation object: the firm an advisor is affiliated with, from a start date.</a:t>
            </a:r>
            <a:endParaRPr lang="en-US" sz="1200" dirty="0"/>
          </a:p>
        </p:txBody>
      </p:sp>
      <p:sp>
        <p:nvSpPr>
          <p:cNvPr id="9" name="Shape 6"/>
          <p:cNvSpPr/>
          <p:nvPr/>
        </p:nvSpPr>
        <p:spPr>
          <a:xfrm>
            <a:off x="2532888" y="3131820"/>
            <a:ext cx="258318" cy="0"/>
          </a:xfrm>
          <a:prstGeom prst="line">
            <a:avLst/>
          </a:prstGeom>
          <a:noFill/>
          <a:ln w="19050">
            <a:solidFill>
              <a:schemeClr val="tx2"/>
            </a:solidFill>
            <a:prstDash val="solid"/>
            <a:tailEnd type="triangle"/>
          </a:ln>
        </p:spPr>
      </p:sp>
      <p:sp>
        <p:nvSpPr>
          <p:cNvPr id="10" name="Shape 7"/>
          <p:cNvSpPr/>
          <p:nvPr/>
        </p:nvSpPr>
        <p:spPr>
          <a:xfrm>
            <a:off x="2836926" y="1874520"/>
            <a:ext cx="1938528" cy="2514600"/>
          </a:xfrm>
          <a:prstGeom prst="roundRect">
            <a:avLst>
              <a:gd name="adj" fmla="val 3774"/>
            </a:avLst>
          </a:prstGeom>
          <a:solidFill>
            <a:schemeClr val="bg2"/>
          </a:solidFill>
          <a:ln/>
        </p:spPr>
      </p:sp>
      <p:sp>
        <p:nvSpPr>
          <p:cNvPr id="11" name="Text 8"/>
          <p:cNvSpPr txBox="1"/>
          <p:nvPr/>
        </p:nvSpPr>
        <p:spPr>
          <a:xfrm>
            <a:off x="3019806"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FOUNDATIONAL</a:t>
            </a:r>
            <a:endParaRPr lang="en-US" sz="1100" dirty="0"/>
          </a:p>
        </p:txBody>
      </p:sp>
      <p:sp>
        <p:nvSpPr>
          <p:cNvPr id="12" name="Text 9"/>
          <p:cNvSpPr txBox="1"/>
          <p:nvPr/>
        </p:nvSpPr>
        <p:spPr>
          <a:xfrm>
            <a:off x="3019806"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DP-002</a:t>
            </a:r>
            <a:endParaRPr lang="en-US" sz="1400" dirty="0"/>
          </a:p>
        </p:txBody>
      </p:sp>
      <p:sp>
        <p:nvSpPr>
          <p:cNvPr id="13" name="Text 10"/>
          <p:cNvSpPr txBox="1"/>
          <p:nvPr/>
        </p:nvSpPr>
        <p:spPr>
          <a:xfrm>
            <a:off x="3019806"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Resolves register, vendor and CRM records into one advisor. Quality rule: one primary affiliation at a time.</a:t>
            </a:r>
            <a:endParaRPr lang="en-US" sz="1200" dirty="0"/>
          </a:p>
        </p:txBody>
      </p:sp>
      <p:sp>
        <p:nvSpPr>
          <p:cNvPr id="14" name="Shape 11"/>
          <p:cNvSpPr/>
          <p:nvPr/>
        </p:nvSpPr>
        <p:spPr>
          <a:xfrm>
            <a:off x="4821174" y="3131820"/>
            <a:ext cx="258318" cy="0"/>
          </a:xfrm>
          <a:prstGeom prst="line">
            <a:avLst/>
          </a:prstGeom>
          <a:noFill/>
          <a:ln w="19050">
            <a:solidFill>
              <a:schemeClr val="tx2"/>
            </a:solidFill>
            <a:prstDash val="solid"/>
            <a:tailEnd type="triangle"/>
          </a:ln>
        </p:spPr>
      </p:sp>
      <p:sp>
        <p:nvSpPr>
          <p:cNvPr id="15" name="Shape 12"/>
          <p:cNvSpPr/>
          <p:nvPr/>
        </p:nvSpPr>
        <p:spPr>
          <a:xfrm>
            <a:off x="5125212" y="1874520"/>
            <a:ext cx="1938528" cy="2514600"/>
          </a:xfrm>
          <a:prstGeom prst="roundRect">
            <a:avLst>
              <a:gd name="adj" fmla="val 3774"/>
            </a:avLst>
          </a:prstGeom>
          <a:solidFill>
            <a:schemeClr val="bg2"/>
          </a:solidFill>
          <a:ln/>
        </p:spPr>
      </p:sp>
      <p:sp>
        <p:nvSpPr>
          <p:cNvPr id="16" name="Text 13"/>
          <p:cNvSpPr txBox="1"/>
          <p:nvPr/>
        </p:nvSpPr>
        <p:spPr>
          <a:xfrm>
            <a:off x="5308092"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CONSUMER</a:t>
            </a:r>
            <a:endParaRPr lang="en-US" sz="1100" dirty="0"/>
          </a:p>
        </p:txBody>
      </p:sp>
      <p:sp>
        <p:nvSpPr>
          <p:cNvPr id="17" name="Text 14"/>
          <p:cNvSpPr txBox="1"/>
          <p:nvPr/>
        </p:nvSpPr>
        <p:spPr>
          <a:xfrm>
            <a:off x="5308092"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DP-017 and</a:t>
            </a:r>
            <a:endParaRPr lang="en-US" sz="1400" dirty="0"/>
          </a:p>
          <a:p>
            <a:pPr algn="l" indent="0" marL="0">
              <a:buNone/>
            </a:pPr>
            <a:r>
              <a:rPr lang="en-US" sz="1400" b="1" dirty="0">
                <a:solidFill>
                  <a:schemeClr val="tx1"/>
                </a:solidFill>
              </a:rPr>
              <a:t>DP-048</a:t>
            </a:r>
            <a:endParaRPr lang="en-US" sz="1400" dirty="0"/>
          </a:p>
        </p:txBody>
      </p:sp>
      <p:sp>
        <p:nvSpPr>
          <p:cNvPr id="18" name="Text 15"/>
          <p:cNvSpPr txBox="1"/>
          <p:nvPr/>
        </p:nvSpPr>
        <p:spPr>
          <a:xfrm>
            <a:off x="5308092"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Advisor 360 shows the move beside holdings and coverage. DP-048 raises a breakaway alert.</a:t>
            </a:r>
            <a:endParaRPr lang="en-US" sz="1200" dirty="0"/>
          </a:p>
        </p:txBody>
      </p:sp>
      <p:sp>
        <p:nvSpPr>
          <p:cNvPr id="19" name="Shape 16"/>
          <p:cNvSpPr/>
          <p:nvPr/>
        </p:nvSpPr>
        <p:spPr>
          <a:xfrm>
            <a:off x="7109460" y="3131820"/>
            <a:ext cx="258318" cy="0"/>
          </a:xfrm>
          <a:prstGeom prst="line">
            <a:avLst/>
          </a:prstGeom>
          <a:noFill/>
          <a:ln w="19050">
            <a:solidFill>
              <a:schemeClr val="tx2"/>
            </a:solidFill>
            <a:prstDash val="solid"/>
            <a:tailEnd type="triangle"/>
          </a:ln>
        </p:spPr>
      </p:sp>
      <p:sp>
        <p:nvSpPr>
          <p:cNvPr id="20" name="Shape 17"/>
          <p:cNvSpPr/>
          <p:nvPr/>
        </p:nvSpPr>
        <p:spPr>
          <a:xfrm>
            <a:off x="7413498" y="1874520"/>
            <a:ext cx="1938528" cy="2514600"/>
          </a:xfrm>
          <a:prstGeom prst="roundRect">
            <a:avLst>
              <a:gd name="adj" fmla="val 3774"/>
            </a:avLst>
          </a:prstGeom>
          <a:solidFill>
            <a:schemeClr val="bg2"/>
          </a:solidFill>
          <a:ln/>
        </p:spPr>
      </p:sp>
      <p:sp>
        <p:nvSpPr>
          <p:cNvPr id="21" name="Text 18"/>
          <p:cNvSpPr txBox="1"/>
          <p:nvPr/>
        </p:nvSpPr>
        <p:spPr>
          <a:xfrm>
            <a:off x="7596378"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SEMANTIC MODEL</a:t>
            </a:r>
            <a:endParaRPr lang="en-US" sz="1100" dirty="0"/>
          </a:p>
        </p:txBody>
      </p:sp>
      <p:sp>
        <p:nvSpPr>
          <p:cNvPr id="22" name="Text 19"/>
          <p:cNvSpPr txBox="1"/>
          <p:nvPr/>
        </p:nvSpPr>
        <p:spPr>
          <a:xfrm>
            <a:off x="7596378"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SM-00 Shared Dimensions</a:t>
            </a:r>
            <a:endParaRPr lang="en-US" sz="1400" dirty="0"/>
          </a:p>
        </p:txBody>
      </p:sp>
      <p:sp>
        <p:nvSpPr>
          <p:cNvPr id="23" name="Text 20"/>
          <p:cNvSpPr txBox="1"/>
          <p:nvPr/>
        </p:nvSpPr>
        <p:spPr>
          <a:xfrm>
            <a:off x="7596378"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Publishes advisor and advisor affiliation once. Every subject-area model joins to them.</a:t>
            </a:r>
            <a:endParaRPr lang="en-US" sz="1200" dirty="0"/>
          </a:p>
        </p:txBody>
      </p:sp>
      <p:sp>
        <p:nvSpPr>
          <p:cNvPr id="24" name="Shape 21"/>
          <p:cNvSpPr/>
          <p:nvPr/>
        </p:nvSpPr>
        <p:spPr>
          <a:xfrm>
            <a:off x="9397746" y="3131820"/>
            <a:ext cx="258318" cy="0"/>
          </a:xfrm>
          <a:prstGeom prst="line">
            <a:avLst/>
          </a:prstGeom>
          <a:noFill/>
          <a:ln w="19050">
            <a:solidFill>
              <a:schemeClr val="tx2"/>
            </a:solidFill>
            <a:prstDash val="solid"/>
            <a:tailEnd type="triangle"/>
          </a:ln>
        </p:spPr>
      </p:sp>
      <p:sp>
        <p:nvSpPr>
          <p:cNvPr id="25" name="Shape 22"/>
          <p:cNvSpPr/>
          <p:nvPr/>
        </p:nvSpPr>
        <p:spPr>
          <a:xfrm>
            <a:off x="9701784" y="1874520"/>
            <a:ext cx="1938528" cy="2514600"/>
          </a:xfrm>
          <a:prstGeom prst="roundRect">
            <a:avLst>
              <a:gd name="adj" fmla="val 3774"/>
            </a:avLst>
          </a:prstGeom>
          <a:solidFill>
            <a:schemeClr val="bg2"/>
          </a:solidFill>
          <a:ln/>
        </p:spPr>
      </p:sp>
      <p:sp>
        <p:nvSpPr>
          <p:cNvPr id="26" name="Text 23"/>
          <p:cNvSpPr txBox="1"/>
          <p:nvPr/>
        </p:nvSpPr>
        <p:spPr>
          <a:xfrm>
            <a:off x="9884664"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USE</a:t>
            </a:r>
            <a:endParaRPr lang="en-US" sz="1100" dirty="0"/>
          </a:p>
        </p:txBody>
      </p:sp>
      <p:sp>
        <p:nvSpPr>
          <p:cNvPr id="27" name="Text 24"/>
          <p:cNvSpPr txBox="1"/>
          <p:nvPr/>
        </p:nvSpPr>
        <p:spPr>
          <a:xfrm>
            <a:off x="9884664"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CRM or AI assistant</a:t>
            </a:r>
            <a:endParaRPr lang="en-US" sz="1400" dirty="0"/>
          </a:p>
        </p:txBody>
      </p:sp>
      <p:sp>
        <p:nvSpPr>
          <p:cNvPr id="28" name="Text 25"/>
          <p:cNvSpPr txBox="1"/>
          <p:nvPr/>
        </p:nvSpPr>
        <p:spPr>
          <a:xfrm>
            <a:off x="9884664"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“Which of my advisors moved firm in the last 90 days?”</a:t>
            </a:r>
            <a:endParaRPr lang="en-US" sz="1200" dirty="0"/>
          </a:p>
        </p:txBody>
      </p:sp>
      <p:sp>
        <p:nvSpPr>
          <p:cNvPr id="29" name="Shape 26"/>
          <p:cNvSpPr/>
          <p:nvPr/>
        </p:nvSpPr>
        <p:spPr>
          <a:xfrm>
            <a:off x="548640" y="4663440"/>
            <a:ext cx="11091672" cy="731520"/>
          </a:xfrm>
          <a:prstGeom prst="roundRect">
            <a:avLst>
              <a:gd name="adj" fmla="val 10000"/>
            </a:avLst>
          </a:prstGeom>
          <a:solidFill>
            <a:schemeClr val="tx1"/>
          </a:solidFill>
          <a:ln/>
        </p:spPr>
      </p:sp>
      <p:sp>
        <p:nvSpPr>
          <p:cNvPr id="30" name="Text 27"/>
          <p:cNvSpPr txBox="1"/>
          <p:nvPr/>
        </p:nvSpPr>
        <p:spPr>
          <a:xfrm>
            <a:off x="548640" y="4663440"/>
            <a:ext cx="11091672" cy="731520"/>
          </a:xfrm>
          <a:prstGeom prst="rect">
            <a:avLst/>
          </a:prstGeom>
          <a:noFill/>
          <a:ln/>
        </p:spPr>
        <p:txBody>
          <a:bodyPr wrap="square" lIns="0" tIns="0" rIns="0" bIns="0" rtlCol="0" anchor="ctr"/>
          <a:lstStyle/>
          <a:p>
            <a:pPr algn="ctr" indent="0" marL="0">
              <a:buNone/>
            </a:pPr>
            <a:r>
              <a:rPr lang="en-US" sz="1600" b="1" dirty="0">
                <a:solidFill>
                  <a:schemeClr val="bg1"/>
                </a:solidFill>
              </a:rPr>
              <a:t>Recent Move Flag  =  a new primary affiliation at a different Employing Firm in the last 90 days</a:t>
            </a:r>
            <a:endParaRPr lang="en-US" sz="1600" dirty="0"/>
          </a:p>
        </p:txBody>
      </p:sp>
      <p:sp>
        <p:nvSpPr>
          <p:cNvPr id="31" name="Text 28"/>
          <p:cNvSpPr txBox="1"/>
          <p:nvPr/>
        </p:nvSpPr>
        <p:spPr>
          <a:xfrm>
            <a:off x="548640" y="562356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Who covers the advisor is mastered in Compensation &amp; Territory. Client &amp; Customer supplies who the advisor is and where they work.</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NEXT STEPS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What needs deciding next</a:t>
            </a:r>
            <a:endParaRPr lang="en-US" sz="3600" dirty="0"/>
          </a:p>
        </p:txBody>
      </p:sp>
      <p:sp>
        <p:nvSpPr>
          <p:cNvPr id="5" name="Text 2"/>
          <p:cNvSpPr txBox="1"/>
          <p:nvPr/>
        </p:nvSpPr>
        <p:spPr>
          <a:xfrm>
            <a:off x="548640"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OPEN DECISIONS</a:t>
            </a:r>
            <a:endParaRPr lang="en-US" sz="1200" dirty="0"/>
          </a:p>
        </p:txBody>
      </p:sp>
      <p:sp>
        <p:nvSpPr>
          <p:cNvPr id="6" name="Shape 3"/>
          <p:cNvSpPr/>
          <p:nvPr/>
        </p:nvSpPr>
        <p:spPr>
          <a:xfrm>
            <a:off x="548640" y="2148840"/>
            <a:ext cx="5303520" cy="841248"/>
          </a:xfrm>
          <a:prstGeom prst="roundRect">
            <a:avLst>
              <a:gd name="adj" fmla="val 8696"/>
            </a:avLst>
          </a:prstGeom>
          <a:solidFill>
            <a:schemeClr val="bg2"/>
          </a:solidFill>
          <a:ln/>
        </p:spPr>
      </p:sp>
      <p:sp>
        <p:nvSpPr>
          <p:cNvPr id="7" name="Text 4"/>
          <p:cNvSpPr/>
          <p:nvPr/>
        </p:nvSpPr>
        <p:spPr>
          <a:xfrm>
            <a:off x="731520" y="239572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CD-017</a:t>
            </a:r>
            <a:endParaRPr lang="en-US" sz="1100" dirty="0"/>
          </a:p>
        </p:txBody>
      </p:sp>
      <p:sp>
        <p:nvSpPr>
          <p:cNvPr id="8" name="Text 5"/>
          <p:cNvSpPr txBox="1"/>
          <p:nvPr/>
        </p:nvSpPr>
        <p:spPr>
          <a:xfrm>
            <a:off x="2057400" y="214884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Which distributor hierarchy is the system of record. Recommended: the firm-defined coverage hierarchy.</a:t>
            </a:r>
            <a:endParaRPr lang="en-US" sz="1200" dirty="0"/>
          </a:p>
        </p:txBody>
      </p:sp>
      <p:sp>
        <p:nvSpPr>
          <p:cNvPr id="9" name="Shape 6"/>
          <p:cNvSpPr/>
          <p:nvPr/>
        </p:nvSpPr>
        <p:spPr>
          <a:xfrm>
            <a:off x="548640" y="3108960"/>
            <a:ext cx="5303520" cy="841248"/>
          </a:xfrm>
          <a:prstGeom prst="roundRect">
            <a:avLst>
              <a:gd name="adj" fmla="val 8696"/>
            </a:avLst>
          </a:prstGeom>
          <a:solidFill>
            <a:schemeClr val="bg2"/>
          </a:solidFill>
          <a:ln/>
        </p:spPr>
      </p:sp>
      <p:sp>
        <p:nvSpPr>
          <p:cNvPr id="10" name="Text 7"/>
          <p:cNvSpPr/>
          <p:nvPr/>
        </p:nvSpPr>
        <p:spPr>
          <a:xfrm>
            <a:off x="731520" y="335584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CD-004</a:t>
            </a:r>
            <a:endParaRPr lang="en-US" sz="1100" dirty="0"/>
          </a:p>
        </p:txBody>
      </p:sp>
      <p:sp>
        <p:nvSpPr>
          <p:cNvPr id="11" name="Text 8"/>
          <p:cNvSpPr txBox="1"/>
          <p:nvPr/>
        </p:nvSpPr>
        <p:spPr>
          <a:xfrm>
            <a:off x="2057400" y="310896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Rep codes are party identifiers owned here; Sales Transactions &amp; AUM Attribution owns the crosswalk.</a:t>
            </a:r>
            <a:endParaRPr lang="en-US" sz="1200" dirty="0"/>
          </a:p>
        </p:txBody>
      </p:sp>
      <p:sp>
        <p:nvSpPr>
          <p:cNvPr id="12" name="Shape 9"/>
          <p:cNvSpPr/>
          <p:nvPr/>
        </p:nvSpPr>
        <p:spPr>
          <a:xfrm>
            <a:off x="548640" y="4069080"/>
            <a:ext cx="5303520" cy="841248"/>
          </a:xfrm>
          <a:prstGeom prst="roundRect">
            <a:avLst>
              <a:gd name="adj" fmla="val 8696"/>
            </a:avLst>
          </a:prstGeom>
          <a:solidFill>
            <a:schemeClr val="bg2"/>
          </a:solidFill>
          <a:ln/>
        </p:spPr>
      </p:sp>
      <p:sp>
        <p:nvSpPr>
          <p:cNvPr id="13" name="Text 10"/>
          <p:cNvSpPr/>
          <p:nvPr/>
        </p:nvSpPr>
        <p:spPr>
          <a:xfrm>
            <a:off x="731520" y="431596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CD-018</a:t>
            </a:r>
            <a:endParaRPr lang="en-US" sz="1100" dirty="0"/>
          </a:p>
        </p:txBody>
      </p:sp>
      <p:sp>
        <p:nvSpPr>
          <p:cNvPr id="14" name="Text 11"/>
          <p:cNvSpPr txBox="1"/>
          <p:nvPr/>
        </p:nvSpPr>
        <p:spPr>
          <a:xfrm>
            <a:off x="2057400" y="406908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Add a platform nominee account type for UK and EU distribution, now a question for the Account domain.</a:t>
            </a:r>
            <a:endParaRPr lang="en-US" sz="1200" dirty="0"/>
          </a:p>
        </p:txBody>
      </p:sp>
      <p:sp>
        <p:nvSpPr>
          <p:cNvPr id="15" name="Shape 12"/>
          <p:cNvSpPr/>
          <p:nvPr/>
        </p:nvSpPr>
        <p:spPr>
          <a:xfrm>
            <a:off x="548640" y="5029200"/>
            <a:ext cx="5303520" cy="841248"/>
          </a:xfrm>
          <a:prstGeom prst="roundRect">
            <a:avLst>
              <a:gd name="adj" fmla="val 8696"/>
            </a:avLst>
          </a:prstGeom>
          <a:solidFill>
            <a:schemeClr val="bg2"/>
          </a:solidFill>
          <a:ln/>
        </p:spPr>
      </p:sp>
      <p:sp>
        <p:nvSpPr>
          <p:cNvPr id="16" name="Text 13"/>
          <p:cNvSpPr/>
          <p:nvPr/>
        </p:nvSpPr>
        <p:spPr>
          <a:xfrm>
            <a:off x="731520" y="527608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GAP-02-008</a:t>
            </a:r>
            <a:endParaRPr lang="en-US" sz="1100" dirty="0"/>
          </a:p>
        </p:txBody>
      </p:sp>
      <p:sp>
        <p:nvSpPr>
          <p:cNvPr id="17" name="Text 14"/>
          <p:cNvSpPr txBox="1"/>
          <p:nvPr/>
        </p:nvSpPr>
        <p:spPr>
          <a:xfrm>
            <a:off x="2057400" y="502920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How to key UK pension schemes, which have no sponsor EIN and plan number.</a:t>
            </a:r>
            <a:endParaRPr lang="en-US" sz="1200" dirty="0"/>
          </a:p>
        </p:txBody>
      </p:sp>
      <p:sp>
        <p:nvSpPr>
          <p:cNvPr id="18" name="Text 15"/>
          <p:cNvSpPr txBox="1"/>
          <p:nvPr/>
        </p:nvSpPr>
        <p:spPr>
          <a:xfrm>
            <a:off x="6336792"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NEXT STEPS</a:t>
            </a:r>
            <a:endParaRPr lang="en-US" sz="1200" dirty="0"/>
          </a:p>
        </p:txBody>
      </p:sp>
      <p:sp>
        <p:nvSpPr>
          <p:cNvPr id="19" name="Text 16"/>
          <p:cNvSpPr/>
          <p:nvPr/>
        </p:nvSpPr>
        <p:spPr>
          <a:xfrm>
            <a:off x="6336792" y="224028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0" name="Text 17"/>
          <p:cNvSpPr txBox="1"/>
          <p:nvPr/>
        </p:nvSpPr>
        <p:spPr>
          <a:xfrm>
            <a:off x="6903720" y="2148840"/>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Validate the families, party roles and 88 proposed critical data elements with Distribution, Institutional, DCIO, Compliance and Privacy</a:t>
            </a:r>
            <a:endParaRPr lang="en-US" sz="1300" dirty="0"/>
          </a:p>
        </p:txBody>
      </p:sp>
      <p:sp>
        <p:nvSpPr>
          <p:cNvPr id="21" name="Text 18"/>
          <p:cNvSpPr/>
          <p:nvPr/>
        </p:nvSpPr>
        <p:spPr>
          <a:xfrm>
            <a:off x="6336792" y="3008376"/>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2" name="Text 19"/>
          <p:cNvSpPr txBox="1"/>
          <p:nvPr/>
        </p:nvSpPr>
        <p:spPr>
          <a:xfrm>
            <a:off x="6903720" y="2916936"/>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Map attributes to source systems: CRM, vendor feeds, transfer agent and NSCC files, the KYC tool and the consent platform (Phase D)</a:t>
            </a:r>
            <a:endParaRPr lang="en-US" sz="1300" dirty="0"/>
          </a:p>
        </p:txBody>
      </p:sp>
      <p:sp>
        <p:nvSpPr>
          <p:cNvPr id="23" name="Text 20"/>
          <p:cNvSpPr/>
          <p:nvPr/>
        </p:nvSpPr>
        <p:spPr>
          <a:xfrm>
            <a:off x="6336792" y="3776472"/>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4" name="Text 21"/>
          <p:cNvSpPr txBox="1"/>
          <p:nvPr/>
        </p:nvSpPr>
        <p:spPr>
          <a:xfrm>
            <a:off x="6903720" y="3685032"/>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Confirm networking level definitions and dealer number conventions with the transfer agent</a:t>
            </a:r>
            <a:endParaRPr lang="en-US" sz="1300" dirty="0"/>
          </a:p>
        </p:txBody>
      </p:sp>
      <p:sp>
        <p:nvSpPr>
          <p:cNvPr id="25" name="Text 22"/>
          <p:cNvSpPr/>
          <p:nvPr/>
        </p:nvSpPr>
        <p:spPr>
          <a:xfrm>
            <a:off x="6336792" y="4544568"/>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6" name="Text 23"/>
          <p:cNvSpPr txBox="1"/>
          <p:nvPr/>
        </p:nvSpPr>
        <p:spPr>
          <a:xfrm>
            <a:off x="6903720" y="4453128"/>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Have the Data Protection Officer review personal data flags, look-through data and lawful bases</a:t>
            </a:r>
            <a:endParaRPr lang="en-US" sz="1300" dirty="0"/>
          </a:p>
        </p:txBody>
      </p:sp>
      <p:sp>
        <p:nvSpPr>
          <p:cNvPr id="27" name="Text 24"/>
          <p:cNvSpPr/>
          <p:nvPr/>
        </p:nvSpPr>
        <p:spPr>
          <a:xfrm>
            <a:off x="6336792" y="5312664"/>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8" name="Text 25"/>
          <p:cNvSpPr txBox="1"/>
          <p:nvPr/>
        </p:nvSpPr>
        <p:spPr>
          <a:xfrm>
            <a:off x="6903720" y="5221224"/>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Decide the 21 open gaps, starting with the six high-priority ones</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CG Taxonomy">
  <a:themeElements>
    <a:clrScheme name="CG Taxonomy">
      <a:dk1>
        <a:srgbClr val="0C233C"/>
      </a:dk1>
      <a:lt1>
        <a:srgbClr val="FFFFFF"/>
      </a:lt1>
      <a:dk2>
        <a:srgbClr val="535E6C"/>
      </a:dk2>
      <a:lt2>
        <a:srgbClr val="EEF1F8"/>
      </a:lt2>
      <a:accent1>
        <a:srgbClr val="1E49E2"/>
      </a:accent1>
      <a:accent2>
        <a:srgbClr val="7213EA"/>
      </a:accent2>
      <a:accent3>
        <a:srgbClr val="00B8F5"/>
      </a:accent3>
      <a:accent4>
        <a:srgbClr val="C8166F"/>
      </a:accent4>
      <a:accent5>
        <a:srgbClr val="00796F"/>
      </a:accent5>
      <a:accent6>
        <a:srgbClr val="ACEAFF"/>
      </a:accent6>
      <a:hlink>
        <a:srgbClr val="1E49E2"/>
      </a:hlink>
      <a:folHlink>
        <a:srgbClr val="7213EA"/>
      </a:folHlink>
    </a:clrScheme>
    <a:fontScheme name="CG Taxonom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Client &amp; Customer taxonomy walkthrough</dc:title>
  <dc:subject>PptxGenJS Presentation</dc:subject>
  <dc:creator>Distribution Data Taxonomy Program</dc:creator>
  <cp:lastModifiedBy>Distribution Data Taxonomy Program</cp:lastModifiedBy>
  <cp:revision>1</cp:revision>
  <dcterms:created xsi:type="dcterms:W3CDTF">2026-10-06T08:45:46Z</dcterms:created>
  <dcterms:modified xsi:type="dcterms:W3CDTF">2026-10-06T08:45:46Z</dcterms:modified>
</cp:coreProperties>
</file>