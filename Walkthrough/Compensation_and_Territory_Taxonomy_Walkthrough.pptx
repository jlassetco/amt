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188605f-f49d-a9d8-0905-a39d9988ff83}">
          <p14:sldIdLst>
            <p14:sldId id="256"/>
            <p14:sldId id="257"/>
            <p14:sldId id="258"/>
            <p14:sldId id="259"/>
          </p14:sldIdLst>
        </p14:section>
        <p14:section name="What is included" id="{c9d329f9-5277-e0a5-d229-70dce80ffb2e}">
          <p14:sldIdLst>
            <p14:sldId id="260"/>
            <p14:sldId id="261"/>
            <p14:sldId id="262"/>
            <p14:sldId id="263"/>
            <p14:sldId id="264"/>
          </p14:sldIdLst>
        </p14:section>
        <p14:section name="What is excluded" id="{93665cd6-29fc-1426-2b83-0548125021f4}">
          <p14:sldIdLst>
            <p14:sldId id="265"/>
            <p14:sldId id="266"/>
            <p14:sldId id="267"/>
          </p14:sldIdLst>
        </p14:section>
        <p14:section name="How it is used" id="{18a6ee3e-cfbb-0ce0-2e21-95d177e61e34}">
          <p14:sldIdLst>
            <p14:sldId id="268"/>
            <p14:sldId id="269"/>
          </p14:sldIdLst>
        </p14:section>
        <p14:section name="Data products" id="{7e813ce9-c04b-292c-3ca7-3da68ef7c2d8}">
          <p14:sldIdLst>
            <p14:sldId id="270"/>
            <p14:sldId id="271"/>
            <p14:sldId id="272"/>
            <p14:sldId id="273"/>
          </p14:sldIdLst>
        </p14:section>
        <p14:section name="Next steps" id="{06ae2a6f-1dad-39ba-5669-e6576eb998b3}">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Sheet1!$A$2:$A$7</c:f>
              <c:multiLvlStrCache>
                <c:ptCount val="6"/>
                <c:lvl>
                  <c:pt idx="0">
                    <c:v>Internal (firm-defined)</c:v>
                  </c:pt>
                  <c:pt idx="1">
                    <c:v>Xactly</c:v>
                  </c:pt>
                  <c:pt idx="2">
                    <c:v>Salesforce ETM</c:v>
                  </c:pt>
                  <c:pt idx="3">
                    <c:v>Sales remuneration rules</c:v>
                  </c:pt>
                  <c:pt idx="4">
                    <c:v>Official geography standards</c:v>
                  </c:pt>
                  <c:pt idx="5">
                    <c:v>Other standards and regulation</c:v>
                  </c:pt>
                </c:lvl>
              </c:multiLvlStrCache>
            </c:multiLvlStrRef>
          </c:cat>
          <c:val>
            <c:numRef>
              <c:f>Sheet1!$B$2:$B$7</c:f>
              <c:numCache>
                <c:formatCode>General</c:formatCode>
                <c:ptCount val="6"/>
                <c:pt idx="0">
                  <c:v>174</c:v>
                </c:pt>
                <c:pt idx="1">
                  <c:v>24</c:v>
                </c:pt>
                <c:pt idx="2">
                  <c:v>21</c:v>
                </c:pt>
                <c:pt idx="3">
                  <c:v>8</c:v>
                </c:pt>
                <c:pt idx="4">
                  <c:v>7</c:v>
                </c:pt>
                <c:pt idx="5">
                  <c:v>8</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6 of 48)</a:t>
            </a:r>
          </a:p>
        </c:rich>
      </c:tx>
      <c:layout/>
      <c:overlay val="0"/>
    </c:title>
    <c:autoTitleDeleted val="0"/>
    <c:plotArea>
      <c:layout/>
      <c:barChart>
        <c:barDir val="bar"/>
        <c:grouping val="clustered"/>
        <c:varyColors val="0"/>
        <c:ser>
          <c:idx val="0"/>
          <c:order val="0"/>
          <c:tx>
            <c:strRef>
              <c:f>Sheet1!$B$1</c:f>
              <c:strCache>
                <c:ptCount val="1"/>
                <c:pt idx="0">
                  <c:v>Products reading each object (top 6 of 48)</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Sheet1!$A$2:$A$7</c:f>
              <c:multiLvlStrCache>
                <c:ptCount val="6"/>
                <c:lvl>
                  <c:pt idx="0">
                    <c:v>Party Coverage Assignment</c:v>
                  </c:pt>
                  <c:pt idx="1">
                    <c:v>Territory Salesperson Assignment</c:v>
                  </c:pt>
                  <c:pt idx="2">
                    <c:v>Party Territory Alignment</c:v>
                  </c:pt>
                  <c:pt idx="3">
                    <c:v>Coverage Tier Assignment</c:v>
                  </c:pt>
                  <c:pt idx="4">
                    <c:v>Call Frequency Standard</c:v>
                  </c:pt>
                  <c:pt idx="5">
                    <c:v>Goal</c:v>
                  </c:pt>
                </c:lvl>
              </c:multiLvlStrCache>
            </c:multiLvlStrRef>
          </c:cat>
          <c:val>
            <c:numRef>
              <c:f>Sheet1!$B$2:$B$7</c:f>
              <c:numCache>
                <c:formatCode>General</c:formatCode>
                <c:ptCount val="6"/>
                <c:pt idx="0">
                  <c:v>9</c:v>
                </c:pt>
                <c:pt idx="1">
                  <c:v>6</c:v>
                </c:pt>
                <c:pt idx="2">
                  <c:v>6</c:v>
                </c:pt>
                <c:pt idx="3">
                  <c:v>6</c:v>
                </c:pt>
                <c:pt idx="4">
                  <c:v>5</c:v>
                </c:pt>
                <c:pt idx="5">
                  <c:v>4</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Compensation &amp; Territory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Compensation &amp; Territory describes how the firm divides its market into territories, which firms and advisors sit in each one, which salespeople cover them, what goals they carry, how sales credit is given and how incentive pay is calculated from it. The people, clients, products and transactions themselves are mastered elsewhere and held here by ID. The domain has 9 families, 48 objects and 242 attributes, of which 75 are proposed critical data elements. 19 of the 96 specified data products read it directly, and 80 of the other 95 depend on its foundational product, DP-009,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Compensation &amp; Territory is one of 16 domains, with 9 families, 48 objects and 242 attributes. The purple text shows the path to one attribute, Coverage Tier, which we follow to an answer near the end of the deck. For every attribute the taxonomy records its meaning, its data type, the standard or source it aligns to, whether it is a proposed critical data element and who masters it.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reads as a chain. A territory model is one complete, versioned design for a market and plan year, and only one is active per market. Its territories form a hierarchy of division, region, territory and sub-territory. Three things are set on a territory. Alignment rules place firms, branches, advisors and plans in it. Coverage assignments put salespeople into a role on the territory and on individual parties. Goals are set for the territory or the salesperson. Crediting rules then turn attributed flows and AUM into credit allocations for the salespeople who cover, and incentive plans turn credits and attainment into earnings, statements and payroll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9 data families. For this walkthrough they are grouped in three. The spine is the territory itself: its structure and its geography and market scope. The second group covers which parties are placed in a territory, who covers them and what goals are set. The third group follows credit through to pay: crediting rules, incentive plans, payout calculation and the controls around them.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8 objects and 41 attributes. Territory Structure holds the territory model, which is one versioned design per market and plan year, the territories in it, the types that classify them and the parent-child hierarchy used to roll up goals, credits and potential. Territory Geography and Market Scope says what each territory is made of: geographic units such as ZIP codes, counties, CBSAs, NUTS regions and UK postcode districts, plus the channels, named firms and products in scope. It also holds the market-potential metrics used to size and balance territories. Business objects, in bold, have their own key. Attribute groups are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16 objects and 83 attributes. Alignment Rules holds the rules that place firms, branches, advisors and plans into territories, with their precedence and criteria stored as data, the named exceptions that override them, the resulting alignment of each party, and the realignment events that change it. Coverage Model and Assignments records who covers what: salespeople assigned to a territory in a coverage role, salespeople assigned to an individual party or account, coverage teams and pairings, the coverage tier of each covered party and the call frequency standard each tier must meet. Goals and Quotas holds the goals set for territories, teams and salespeople, how they cascade and are adjusted, and attainment, which is built from credit allocations.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24 objects and 118 attributes, almost half the domain. Crediting Rules decides who is credited, on what basis and in what share for each attributed flow or asset, and stores the resulting credit allocations with their adjustments and clawbacks. Incentive Compensation Plans holds each plan, its components, rate tables and product compensation tiers, SPIFs and MBOs, and which participant is on which plan. Payout Calculation and Statements holds the compensation periods, calculated earnings, draws, disputes, statements, payroll instructions and accruals. Compensation Governance and Controls holds plan approvals, the remuneration conflict assessment of each plan against US, EU and UK rules, financial controls and the change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Territory design and sales compensation are firm-specific, so 174 of the 242 attributes are firm-defined. The other 68, or 28 percent, align to an external reference. The largest are the two platform vocabularies: Xactly for incentive compensation with 24 attributes, and Salesforce Enterprise Territory Management with 21. Eight attributes align to rules on sales remuneration, such as SEC Regulation Best Interest and the UK FCA code for sales staff, and seven to official geography standards. 71 attributes take their values from a controlled code list, and 18 are flagged as personal data. Platform alignment is at concept level, because vendor documentation was only partly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Compensation &amp; Territory says how the market is divided, who covers whom and how coverage is credited and paid. It leaves out the people, the clients, the products and the transactions, and holds each of them by ID. This table shows where each excluded subject lives and what this domain keeps. Three boundaries matter most. Territory is a market partition, so reporting lines stay in Sales. Sales Transactions &amp; AUM Attribution attributes flows to a territory, and this domain only applies crediting rules to them. Rules on gifts, non-cash compensation and licenses belong to Distribution Compliance, and this domain keeps only plan-side flags and the conflict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204 of the 242 are mastered in Compensation &amp; Territory. 25 are references, which hold only the ID of a record mastered in another domain, and 13 are derived copies. More than half of what is borrowed comes from Shared &amp; Enterprise Reference Data: the employee behind every assignment, credit, statement and approval, and the geography codes that define a territory. In the other direction, 14 attributes in 4 other domains reference a territory, goal, crediting rule or period mastered here, led by Sales Transactions &amp; AUM Attribution with 5. Record Metadata, the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17 gaps against Compensation &amp; Territory. Three are resolved. Fourteen are open, all proposed and waiting for a decision: five high priority, six medium and three low. The slide shows the five high-priority gaps and two of the medium ones. All five high-priority gaps affect the foundational product, DP-009, and four of them are about coverage: what caused a change, whether coverage belongs to a territory, whether the coverage role lists match, and how many parties a salesperson is meant to cover. The two medium gaps are missing links along the pay chain. Each gap has a proposed resolution and a decision owner, either the Head of Sales Operations or the Head of Sales Compensation.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territory and compensation sources are mapped to: the CRM territory model, the incentive compensation platform, payroll and the general ledger. That mapping has not been done, and which platforms are in use is still an open question for the client. Second, it is the bill of materials for data products: each product lists the exact attributes it uses, and the build fails if one does not exist. Third, territory, the territory hierarchy, alignment, coverage assignment and coverage tier are published once as shared dimensions in the semantic layer. Fourth, the ownership flags, the 75 proposed critical data elements and the 18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owns one foundational product, DP-009, Sales Organization and Coverage. It joins the HR employee record, the sales profile and the territory and coverage design once, so that activity reporting, crediting, scorecards and compensation all resolve who covers whom the same way. 91 of its 151 attributes come from 18 of this domain's 48 objects. It refreshes daily by 7am Eastern and keeps full effective-dated history since 2015, with territory models kept by version. 50 other products name it as a direct upstream, and 80 of the other 95 products depend on it directly or indirectly. Because it names individual employees it is classified confidential personal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of the 96 specified data products list Compensation &amp; Territory objects among their inputs: 2 foundational and 17 consumer-aligned. Every one of the 48 objects is used by at least one product, and 238 of the 242 attributes, 98 percent, appear in a product specification. Party Coverage Assignment is the most used object, read by 9 products, followed by Territory Salesperson Assignment, Party Territory Alignment and Coverage Tier Assignment with 6 each. So the most reused part of the domain is coverage, not compensation. Operational products are the largest group of readers with 8, followed by 6 analytical products and 3 regulatory and control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data products have Compensation &amp; Territory as their owning domain. DP-009 is the foundational product. The other six are consumer-aligned. The Wholesaler Territory Scorecard sets flows and goal attainment beside activity and coverage. Sales Crediting and Goal Attainment applies the crediting rules once, and Incentive Compensation Payouts calculates pay from those credits. Territory Alignment Scenarios models a realignment before it takes effect. Wholesaler Productivity and Expense compares cost with results, and Sales Compensation Governance and Controls is the control evidence. The bar on the right shows how many of each product's input attributes come from this domain. Payouts take all 63 from here. The productivity product takes only 22 of 60, because activity, expense and cost come from other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12 products are owned by other domains but read Compensation &amp; Territory attributes directly. Nearly all of them want the same thing: who covers a party, at which tier and against which call standard. Advisor 360 and Next-Best-Action Recommendations take 14 attributes each, and Advisor Movement and Breakaway Alerts takes 12 so that an alert reaches the salesperson who covers the advisor. Two products read the compensation side: Sales Pipeline and Win/Loss reads goals and attainment, and Capitalized Contract Costs reads plan components. Beyond these, 62 more products do not read the domain directly and depend on it only through DP-009.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Coverage Tier is defined once in this domain, on the Coverage Tier Assignment: the coverage priority of a covered party, with an effective date. DP-009 publishes it with who covers the party and in which role. DP-016, the Wholesaler Territory Scorecard, matches each tier and role to the Call Frequency Standard and counts completed qualifying activities against it. The semantic model SM-02, Advisors and Field Sales, publishes the result as Coverage Compliance percent. The same definition then answers a sales manager's question in a dashboard or through an AI assistant. Note the boundary: the activities are mastered in Sales. Also note the open gap: the tier is not yet tied to a territory.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most important is the hand-off from attribution to crediting: the recommendation is that this domain consumes only locked snapshots, with later restatements treated as prior-period adjustments inside a defined look-back. The second is the certified net flow definition that goals and credit bases would reference. The third is where accrual amounts and the GL account live. The fourth is whether coverage is scoped to a territory. The next steps on the right come from the taxonomy's own plan: walk through alignment and crediting with three real cases, agree the hand-off contract, map to source systems, have Compliance confirm the remuneration fields, and decide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Compensation &amp; Territory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COMPENSATION &amp; TERRITORY</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Compensation &amp; Territory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Territory</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How the market is divided</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Coverage</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covers which clients</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Credit and pay</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salespeople earn for 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coverage and pay,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9</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48</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242</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75</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Territory models and territories, the rules that place parties in them, coverage assignments and tiers, goals, crediting rules and credit allocations, incentive plans, payouts, statements and controls.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Salespeople and reporting lines, the party master, products, transactions and their attribution, the rules on gifts and non-cash compensation, licenses, payroll and base salary.</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CRM territory and incentive compensation systems, the bill of materials for data products, and the territory and coverage dimensions that semantic models share.</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19 of the 96 data products read it directly. 80 of the other 95 depend on its foundational product, DP-009, directly or indirectly.</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Compensation &amp; Territory</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9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Coverage Model &amp; Assignments</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48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Coverage Tier Assignment</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242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Coverage Tier</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territory, assignment, rule or plan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runs from territory to pay</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MARKET PARTITION</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IS SET ON IT</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IS CREDITED AND PAID</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Territory</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Market coverage unit, keyed TER-</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Territory Model</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One version per market and year</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Division, region, territory, sub-territory. Not the reporting line</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Party Territory Alignment</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Firms and advisors placed by rule</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Coverage assignments</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Salespeople in a role on territory and party</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Goal</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A target by holder, measure and period</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3657600"/>
            <a:ext cx="914400" cy="0"/>
          </a:xfrm>
          <a:prstGeom prst="line">
            <a:avLst/>
          </a:prstGeom>
          <a:noFill/>
          <a:ln w="19050">
            <a:solidFill>
              <a:schemeClr val="tx2"/>
            </a:solidFill>
            <a:prstDash val="solid"/>
            <a:tailEnd type="triangle"/>
          </a:ln>
        </p:spPr>
      </p:sp>
      <p:sp>
        <p:nvSpPr>
          <p:cNvPr id="29" name="Shape 26"/>
          <p:cNvSpPr/>
          <p:nvPr/>
        </p:nvSpPr>
        <p:spPr>
          <a:xfrm>
            <a:off x="8686800" y="3246120"/>
            <a:ext cx="2953512" cy="822960"/>
          </a:xfrm>
          <a:prstGeom prst="roundRect">
            <a:avLst>
              <a:gd name="adj" fmla="val 8889"/>
            </a:avLst>
          </a:prstGeom>
          <a:solidFill>
            <a:schemeClr val="accent4"/>
          </a:solidFill>
          <a:ln/>
        </p:spPr>
      </p:sp>
      <p:sp>
        <p:nvSpPr>
          <p:cNvPr id="30" name="Text 27"/>
          <p:cNvSpPr txBox="1"/>
          <p:nvPr/>
        </p:nvSpPr>
        <p:spPr>
          <a:xfrm>
            <a:off x="8915400" y="331927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Credit Allocation</a:t>
            </a:r>
            <a:endParaRPr lang="en-US" sz="1400" dirty="0"/>
          </a:p>
        </p:txBody>
      </p:sp>
      <p:sp>
        <p:nvSpPr>
          <p:cNvPr id="31" name="Text 28"/>
          <p:cNvSpPr txBox="1"/>
          <p:nvPr/>
        </p:nvSpPr>
        <p:spPr>
          <a:xfrm>
            <a:off x="8915400" y="364845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Who is credited, and how much</a:t>
            </a:r>
            <a:endParaRPr lang="en-US" sz="1200" dirty="0"/>
          </a:p>
        </p:txBody>
      </p:sp>
      <p:sp>
        <p:nvSpPr>
          <p:cNvPr id="32" name="Text 29"/>
          <p:cNvSpPr txBox="1"/>
          <p:nvPr/>
        </p:nvSpPr>
        <p:spPr>
          <a:xfrm>
            <a:off x="8686800" y="420624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Crediting rules turn attributed flows and AUM into credits. Plans turn credits and attainment into earnings.</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Attribution and crediting are separate. Sales Transactions &amp; AUM Attribution attributes each flow to a firm, advisor and territory. This domain applies crediting rules to pay people. All of it is effective-dated.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9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Nine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8 objects  |  41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Territory Structure</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20 attributes  |  7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Territory Geography &amp; Market Scope</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21 attributes  |  6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Who is placed, covered and targeted</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16 objects  |  83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Alignment Rules</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27 attributes  |  9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Coverage Model &amp; Assignments</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31 attributes  |  8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Goals &amp; Quotas</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25 attributes  |  7 critical</a:t>
            </a:r>
            <a:endParaRPr lang="en-US" sz="1100" dirty="0"/>
          </a:p>
        </p:txBody>
      </p:sp>
      <p:sp>
        <p:nvSpPr>
          <p:cNvPr id="26" name="Shape 23"/>
          <p:cNvSpPr/>
          <p:nvPr/>
        </p:nvSpPr>
        <p:spPr>
          <a:xfrm>
            <a:off x="8129016" y="1783080"/>
            <a:ext cx="3511296" cy="777240"/>
          </a:xfrm>
          <a:prstGeom prst="roundRect">
            <a:avLst>
              <a:gd name="adj" fmla="val 9412"/>
            </a:avLst>
          </a:prstGeom>
          <a:solidFill>
            <a:schemeClr val="accent5"/>
          </a:solidFill>
          <a:ln/>
        </p:spPr>
      </p:sp>
      <p:sp>
        <p:nvSpPr>
          <p:cNvPr id="27" name="Text 24"/>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How credit becomes pay</a:t>
            </a:r>
            <a:endParaRPr lang="en-US" sz="1400" dirty="0"/>
          </a:p>
        </p:txBody>
      </p:sp>
      <p:sp>
        <p:nvSpPr>
          <p:cNvPr id="28" name="Text 25"/>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24 objects  |  118 attributes</a:t>
            </a:r>
            <a:endParaRPr lang="en-US" sz="1200" dirty="0"/>
          </a:p>
        </p:txBody>
      </p:sp>
      <p:sp>
        <p:nvSpPr>
          <p:cNvPr id="29" name="Shape 26"/>
          <p:cNvSpPr/>
          <p:nvPr/>
        </p:nvSpPr>
        <p:spPr>
          <a:xfrm>
            <a:off x="8129016" y="2697480"/>
            <a:ext cx="3511296" cy="612648"/>
          </a:xfrm>
          <a:prstGeom prst="roundRect">
            <a:avLst>
              <a:gd name="adj" fmla="val 11940"/>
            </a:avLst>
          </a:prstGeom>
          <a:solidFill>
            <a:schemeClr val="bg2"/>
          </a:solidFill>
          <a:ln/>
        </p:spPr>
      </p:sp>
      <p:sp>
        <p:nvSpPr>
          <p:cNvPr id="30" name="Text 27"/>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Crediting Rules</a:t>
            </a:r>
            <a:endParaRPr lang="en-US" sz="1300" dirty="0"/>
          </a:p>
        </p:txBody>
      </p:sp>
      <p:sp>
        <p:nvSpPr>
          <p:cNvPr id="31" name="Text 28"/>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33 attributes  |  11 critical</a:t>
            </a:r>
            <a:endParaRPr lang="en-US" sz="1100" dirty="0"/>
          </a:p>
        </p:txBody>
      </p:sp>
      <p:sp>
        <p:nvSpPr>
          <p:cNvPr id="32" name="Shape 29"/>
          <p:cNvSpPr/>
          <p:nvPr/>
        </p:nvSpPr>
        <p:spPr>
          <a:xfrm>
            <a:off x="8129016" y="3410712"/>
            <a:ext cx="3511296" cy="612648"/>
          </a:xfrm>
          <a:prstGeom prst="roundRect">
            <a:avLst>
              <a:gd name="adj" fmla="val 11940"/>
            </a:avLst>
          </a:prstGeom>
          <a:solidFill>
            <a:schemeClr val="bg2"/>
          </a:solidFill>
          <a:ln/>
        </p:spPr>
      </p:sp>
      <p:sp>
        <p:nvSpPr>
          <p:cNvPr id="33" name="Text 30"/>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Incentive Compensation Plans</a:t>
            </a:r>
            <a:endParaRPr lang="en-US" sz="1300" dirty="0"/>
          </a:p>
        </p:txBody>
      </p:sp>
      <p:sp>
        <p:nvSpPr>
          <p:cNvPr id="34" name="Text 31"/>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32 attributes  |  10 critical</a:t>
            </a:r>
            <a:endParaRPr lang="en-US" sz="1100" dirty="0"/>
          </a:p>
        </p:txBody>
      </p:sp>
      <p:sp>
        <p:nvSpPr>
          <p:cNvPr id="35" name="Shape 32"/>
          <p:cNvSpPr/>
          <p:nvPr/>
        </p:nvSpPr>
        <p:spPr>
          <a:xfrm>
            <a:off x="8129016" y="4123944"/>
            <a:ext cx="3511296" cy="612648"/>
          </a:xfrm>
          <a:prstGeom prst="roundRect">
            <a:avLst>
              <a:gd name="adj" fmla="val 11940"/>
            </a:avLst>
          </a:prstGeom>
          <a:solidFill>
            <a:schemeClr val="bg2"/>
          </a:solidFill>
          <a:ln/>
        </p:spPr>
      </p:sp>
      <p:sp>
        <p:nvSpPr>
          <p:cNvPr id="36" name="Text 33"/>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Payout Calculation &amp; Statements</a:t>
            </a:r>
            <a:endParaRPr lang="en-US" sz="1300" dirty="0"/>
          </a:p>
        </p:txBody>
      </p:sp>
      <p:sp>
        <p:nvSpPr>
          <p:cNvPr id="37" name="Text 34"/>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8 objects  |  31 attributes  |  8 critical</a:t>
            </a:r>
            <a:endParaRPr lang="en-US" sz="1100" dirty="0"/>
          </a:p>
        </p:txBody>
      </p:sp>
      <p:sp>
        <p:nvSpPr>
          <p:cNvPr id="38" name="Shape 35"/>
          <p:cNvSpPr/>
          <p:nvPr/>
        </p:nvSpPr>
        <p:spPr>
          <a:xfrm>
            <a:off x="8129016" y="4837176"/>
            <a:ext cx="3511296" cy="612648"/>
          </a:xfrm>
          <a:prstGeom prst="roundRect">
            <a:avLst>
              <a:gd name="adj" fmla="val 11940"/>
            </a:avLst>
          </a:prstGeom>
          <a:solidFill>
            <a:schemeClr val="bg2"/>
          </a:solidFill>
          <a:ln/>
        </p:spPr>
      </p:sp>
      <p:sp>
        <p:nvSpPr>
          <p:cNvPr id="39" name="Text 36"/>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Compensation Governance &amp; Controls</a:t>
            </a:r>
            <a:endParaRPr lang="en-US" sz="1300" dirty="0"/>
          </a:p>
        </p:txBody>
      </p:sp>
      <p:sp>
        <p:nvSpPr>
          <p:cNvPr id="40" name="Text 37"/>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22 attributes  |  9 critical</a:t>
            </a:r>
            <a:endParaRPr lang="en-US" sz="1100" dirty="0"/>
          </a:p>
        </p:txBody>
      </p:sp>
      <p:sp>
        <p:nvSpPr>
          <p:cNvPr id="41" name="Text 38"/>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the territory and its scope</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Territory Structure</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4 objects  |  20 attributes  |  7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The versioned territory model, its territories and types, and the hierarchy from division down to sub-territory.</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Territory Model, </a:t>
            </a:r>
            <a:pPr indent="0" marL="0">
              <a:buNone/>
            </a:pPr>
            <a:r>
              <a:rPr lang="en-US" sz="1300" b="1" dirty="0">
                <a:solidFill>
                  <a:schemeClr val="tx1"/>
                </a:solidFill>
              </a:rPr>
              <a:t>Territory, </a:t>
            </a:r>
            <a:pPr indent="0" marL="0">
              <a:buNone/>
            </a:pPr>
            <a:r>
              <a:rPr lang="en-US" sz="1300" b="1" dirty="0">
                <a:solidFill>
                  <a:schemeClr val="tx1"/>
                </a:solidFill>
              </a:rPr>
              <a:t>Territory Type Definition, </a:t>
            </a:r>
            <a:pPr indent="0" marL="0">
              <a:buNone/>
            </a:pPr>
            <a:r>
              <a:rPr lang="en-US" sz="1300" dirty="0">
                <a:solidFill>
                  <a:schemeClr val="tx1"/>
                </a:solidFill>
              </a:rPr>
              <a:t>Territory Hierarchy Node</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Territory Model State, Territory Type, Territory Level, Parent Territory</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Territory Geography &amp; Market Scope</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4 objects  |  21 attributes  |  6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What each territory is made of: geographic units, channels, named firms and products, plus its market potential.</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dirty="0">
                <a:solidFill>
                  <a:schemeClr val="tx1"/>
                </a:solidFill>
              </a:rPr>
              <a:t>Territory Geographic Unit, </a:t>
            </a:r>
            <a:pPr indent="0" marL="0">
              <a:buNone/>
            </a:pPr>
            <a:r>
              <a:rPr lang="en-US" sz="1300" b="1" dirty="0">
                <a:solidFill>
                  <a:schemeClr val="tx1"/>
                </a:solidFill>
              </a:rPr>
              <a:t>Sales Cluster, </a:t>
            </a:r>
            <a:pPr indent="0" marL="0">
              <a:buNone/>
            </a:pPr>
            <a:r>
              <a:rPr lang="en-US" sz="1300" dirty="0">
                <a:solidFill>
                  <a:schemeClr val="tx1"/>
                </a:solidFill>
              </a:rPr>
              <a:t>Territory Scope, </a:t>
            </a:r>
            <a:pPr indent="0" marL="0">
              <a:buNone/>
            </a:pPr>
            <a:r>
              <a:rPr lang="en-US" sz="1300" dirty="0">
                <a:solidFill>
                  <a:schemeClr val="tx1"/>
                </a:solidFill>
              </a:rPr>
              <a:t>Territory Potential Metric</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Geographic Unit Type, CBSA Code, Sales Channel in Scope, Potential Metric Value</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or grain. Regular = attribute group held on its parent territory, rule, goal or plan.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Who is placed, covered and targeted</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Alignment Rules</a:t>
                      </a:r>
                      <a:endParaRPr lang="en-US" sz="1200" dirty="0"/>
                    </a:p>
                    <a:p>
                      <a:pPr indent="0" marL="0">
                        <a:buNone/>
                      </a:pPr>
                      <a:r>
                        <a:rPr lang="en-US" sz="1100" dirty="0">
                          <a:solidFill>
                            <a:schemeClr val="tx2"/>
                          </a:solidFill>
                        </a:rPr>
                        <a:t>5 objects  |  27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rules and exceptions that place parties in territories, and the resulting alignments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Alignment Rule, </a:t>
                      </a:r>
                      <a:pPr indent="0" marL="0">
                        <a:buNone/>
                      </a:pPr>
                      <a:r>
                        <a:rPr lang="en-US" sz="1200" dirty="0">
                          <a:solidFill>
                            <a:schemeClr val="tx1"/>
                          </a:solidFill>
                        </a:rPr>
                        <a:t>Alignment Rule Criterion, </a:t>
                      </a:r>
                      <a:pPr indent="0" marL="0">
                        <a:buNone/>
                      </a:pPr>
                      <a:r>
                        <a:rPr lang="en-US" sz="1200" b="1" dirty="0">
                          <a:solidFill>
                            <a:schemeClr val="tx1"/>
                          </a:solidFill>
                        </a:rPr>
                        <a:t>Alignment Exception, </a:t>
                      </a:r>
                      <a:pPr indent="0" marL="0">
                        <a:buNone/>
                      </a:pPr>
                      <a:r>
                        <a:rPr lang="en-US" sz="1200" b="1" dirty="0">
                          <a:solidFill>
                            <a:schemeClr val="tx1"/>
                          </a:solidFill>
                        </a:rPr>
                        <a:t>Party Territory Alignment, </a:t>
                      </a:r>
                      <a:pPr indent="0" marL="0">
                        <a:buNone/>
                      </a:pPr>
                      <a:r>
                        <a:rPr lang="en-US" sz="1200" b="1" dirty="0">
                          <a:solidFill>
                            <a:schemeClr val="tx1"/>
                          </a:solidFill>
                        </a:rPr>
                        <a:t>Realignment Event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Alignment Rule Type, Rule Precedence, Exception Type, Alignment Cause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Coverage Model &amp; Assignments</a:t>
                      </a:r>
                      <a:endParaRPr lang="en-US" sz="1200" dirty="0"/>
                    </a:p>
                    <a:p>
                      <a:pPr indent="0" marL="0">
                        <a:buNone/>
                      </a:pPr>
                      <a:r>
                        <a:rPr lang="en-US" sz="1100" dirty="0">
                          <a:solidFill>
                            <a:schemeClr val="tx2"/>
                          </a:solidFill>
                        </a:rPr>
                        <a:t>6 objects  |  31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Who covers each territory and party, in which role, at which tier and call standard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Coverage Model, </a:t>
                      </a:r>
                      <a:pPr indent="0" marL="0">
                        <a:buNone/>
                      </a:pPr>
                      <a:r>
                        <a:rPr lang="en-US" sz="1200" b="1" dirty="0">
                          <a:solidFill>
                            <a:schemeClr val="tx1"/>
                          </a:solidFill>
                        </a:rPr>
                        <a:t>Territory Salesperson Assignment, </a:t>
                      </a:r>
                      <a:pPr indent="0" marL="0">
                        <a:buNone/>
                      </a:pPr>
                      <a:r>
                        <a:rPr lang="en-US" sz="1200" b="1" dirty="0">
                          <a:solidFill>
                            <a:schemeClr val="tx1"/>
                          </a:solidFill>
                        </a:rPr>
                        <a:t>Coverage Team, </a:t>
                      </a:r>
                      <a:pPr indent="0" marL="0">
                        <a:buNone/>
                      </a:pPr>
                      <a:r>
                        <a:rPr lang="en-US" sz="1200" b="1" dirty="0">
                          <a:solidFill>
                            <a:schemeClr val="tx1"/>
                          </a:solidFill>
                        </a:rPr>
                        <a:t>Party Coverage Assignment, </a:t>
                      </a:r>
                      <a:pPr indent="0" marL="0">
                        <a:buNone/>
                      </a:pPr>
                      <a:r>
                        <a:rPr lang="en-US" sz="1200" dirty="0">
                          <a:solidFill>
                            <a:schemeClr val="tx1"/>
                          </a:solidFill>
                        </a:rPr>
                        <a:t>Coverage Tier Assignment, </a:t>
                      </a:r>
                      <a:pPr indent="0" marL="0">
                        <a:buNone/>
                      </a:pPr>
                      <a:r>
                        <a:rPr lang="en-US" sz="1200" b="1" dirty="0">
                          <a:solidFill>
                            <a:schemeClr val="tx1"/>
                          </a:solidFill>
                        </a:rPr>
                        <a:t>Call Frequency Standard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Coverage Role, Allocation Percentage, Covered Party, Coverage Tier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Goals &amp; Quotas</a:t>
                      </a:r>
                      <a:endParaRPr lang="en-US" sz="1200" dirty="0"/>
                    </a:p>
                    <a:p>
                      <a:pPr indent="0" marL="0">
                        <a:buNone/>
                      </a:pPr>
                      <a:r>
                        <a:rPr lang="en-US" sz="1100" dirty="0">
                          <a:solidFill>
                            <a:schemeClr val="tx2"/>
                          </a:solidFill>
                        </a:rPr>
                        <a:t>5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Goals by holder, measure and period, how they cascade and adjust, and attainment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Goal Plan, </a:t>
                      </a:r>
                      <a:pPr indent="0" marL="0">
                        <a:buNone/>
                      </a:pPr>
                      <a:r>
                        <a:rPr lang="en-US" sz="1200" b="1" dirty="0">
                          <a:solidFill>
                            <a:schemeClr val="tx1"/>
                          </a:solidFill>
                        </a:rPr>
                        <a:t>Goal, </a:t>
                      </a:r>
                      <a:pPr indent="0" marL="0">
                        <a:buNone/>
                      </a:pPr>
                      <a:r>
                        <a:rPr lang="en-US" sz="1200" dirty="0">
                          <a:solidFill>
                            <a:schemeClr val="tx1"/>
                          </a:solidFill>
                        </a:rPr>
                        <a:t>Goal Cascade, </a:t>
                      </a:r>
                      <a:pPr indent="0" marL="0">
                        <a:buNone/>
                      </a:pPr>
                      <a:r>
                        <a:rPr lang="en-US" sz="1200" dirty="0">
                          <a:solidFill>
                            <a:schemeClr val="tx1"/>
                          </a:solidFill>
                        </a:rPr>
                        <a:t>Goal Adjustment, </a:t>
                      </a:r>
                      <a:pPr indent="0" marL="0">
                        <a:buNone/>
                      </a:pPr>
                      <a:r>
                        <a:rPr lang="en-US" sz="1200" dirty="0">
                          <a:solidFill>
                            <a:schemeClr val="tx1"/>
                          </a:solidFill>
                        </a:rPr>
                        <a:t>Goal Attainment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Goal Type, Goal Value, Adjusted Goal Value, Credited Actual Value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or grain. Regular = attribute group held on its parent territory, rule, goal or plan.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How credit becomes pay</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Crediting Rules</a:t>
                      </a:r>
                      <a:endParaRPr lang="en-US" sz="1200" dirty="0"/>
                    </a:p>
                    <a:p>
                      <a:pPr indent="0" marL="0">
                        <a:buNone/>
                      </a:pPr>
                      <a:r>
                        <a:rPr lang="en-US" sz="1100" dirty="0">
                          <a:solidFill>
                            <a:schemeClr val="tx2"/>
                          </a:solidFill>
                        </a:rPr>
                        <a:t>6 objects  |  33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Who is credited, on what basis and in what share, and the resulting credit records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Crediting Rule, </a:t>
                      </a:r>
                      <a:pPr indent="0" marL="0">
                        <a:buNone/>
                      </a:pPr>
                      <a:r>
                        <a:rPr lang="en-US" sz="1200" dirty="0">
                          <a:solidFill>
                            <a:schemeClr val="tx1"/>
                          </a:solidFill>
                        </a:rPr>
                        <a:t>Credit Split, </a:t>
                      </a:r>
                      <a:pPr indent="0" marL="0">
                        <a:buNone/>
                      </a:pPr>
                      <a:r>
                        <a:rPr lang="en-US" sz="1200" dirty="0">
                          <a:solidFill>
                            <a:schemeClr val="tx1"/>
                          </a:solidFill>
                        </a:rPr>
                        <a:t>Credit Eligibility Criterion, </a:t>
                      </a:r>
                      <a:pPr indent="0" marL="0">
                        <a:buNone/>
                      </a:pPr>
                      <a:r>
                        <a:rPr lang="en-US" sz="1200" dirty="0">
                          <a:solidFill>
                            <a:schemeClr val="tx1"/>
                          </a:solidFill>
                        </a:rPr>
                        <a:t>Transition Credit Rule, </a:t>
                      </a:r>
                      <a:pPr indent="0" marL="0">
                        <a:buNone/>
                      </a:pPr>
                      <a:r>
                        <a:rPr lang="en-US" sz="1200" b="1" dirty="0">
                          <a:solidFill>
                            <a:schemeClr val="tx1"/>
                          </a:solidFill>
                        </a:rPr>
                        <a:t>Credit Allocation, </a:t>
                      </a:r>
                      <a:pPr indent="0" marL="0">
                        <a:buNone/>
                      </a:pPr>
                      <a:r>
                        <a:rPr lang="en-US" sz="1200" b="1" dirty="0">
                          <a:solidFill>
                            <a:schemeClr val="tx1"/>
                          </a:solidFill>
                        </a:rPr>
                        <a:t>Credit Adjustment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Credit Basis, Split Percentage, Holdover Period, Credit Amount, Clawback Window</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Incentive Compensation Plans</a:t>
                      </a:r>
                      <a:endParaRPr lang="en-US" sz="1200" dirty="0"/>
                    </a:p>
                    <a:p>
                      <a:pPr indent="0" marL="0">
                        <a:buNone/>
                      </a:pPr>
                      <a:r>
                        <a:rPr lang="en-US" sz="1100" dirty="0">
                          <a:solidFill>
                            <a:schemeClr val="tx2"/>
                          </a:solidFill>
                        </a:rPr>
                        <a:t>6 objects  |  32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Plans, components, rate tables and product tiers, and who is on which plan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Incentive Compensation Plan, </a:t>
                      </a:r>
                      <a:pPr indent="0" marL="0">
                        <a:buNone/>
                      </a:pPr>
                      <a:r>
                        <a:rPr lang="en-US" sz="1200" b="1" dirty="0">
                          <a:solidFill>
                            <a:schemeClr val="tx1"/>
                          </a:solidFill>
                        </a:rPr>
                        <a:t>Plan Component, </a:t>
                      </a:r>
                      <a:pPr indent="0" marL="0">
                        <a:buNone/>
                      </a:pPr>
                      <a:r>
                        <a:rPr lang="en-US" sz="1200" dirty="0">
                          <a:solidFill>
                            <a:schemeClr val="tx1"/>
                          </a:solidFill>
                        </a:rPr>
                        <a:t>Rate Table Tier, </a:t>
                      </a:r>
                      <a:pPr indent="0" marL="0">
                        <a:buNone/>
                      </a:pPr>
                      <a:r>
                        <a:rPr lang="en-US" sz="1200" b="1" dirty="0">
                          <a:solidFill>
                            <a:schemeClr val="tx1"/>
                          </a:solidFill>
                        </a:rPr>
                        <a:t>Product Compensation Tier Mapping, </a:t>
                      </a:r>
                      <a:pPr indent="0" marL="0">
                        <a:buNone/>
                      </a:pPr>
                      <a:r>
                        <a:rPr lang="en-US" sz="1200" dirty="0">
                          <a:solidFill>
                            <a:schemeClr val="tx1"/>
                          </a:solidFill>
                        </a:rPr>
                        <a:t>SPIF &amp; MBO, </a:t>
                      </a:r>
                      <a:pPr indent="0" marL="0">
                        <a:buNone/>
                      </a:pPr>
                      <a:r>
                        <a:rPr lang="en-US" sz="1200" b="1" dirty="0">
                          <a:solidFill>
                            <a:schemeClr val="tx1"/>
                          </a:solidFill>
                        </a:rPr>
                        <a:t>Plan Participant Assignment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Plan Type, Component Type, Commission Rate, Target Incentive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Payout Calculation &amp; Statements</a:t>
                      </a:r>
                      <a:endParaRPr lang="en-US" sz="1200" dirty="0"/>
                    </a:p>
                    <a:p>
                      <a:pPr indent="0" marL="0">
                        <a:buNone/>
                      </a:pPr>
                      <a:r>
                        <a:rPr lang="en-US" sz="1100" dirty="0">
                          <a:solidFill>
                            <a:schemeClr val="tx2"/>
                          </a:solidFill>
                        </a:rPr>
                        <a:t>8 objects  |  31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Periods, earnings, draws, disputes, statements, payroll instructions and accruals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Compensation Period, </a:t>
                      </a:r>
                      <a:pPr indent="0" marL="0">
                        <a:buNone/>
                      </a:pPr>
                      <a:r>
                        <a:rPr lang="en-US" sz="1200" b="1" dirty="0">
                          <a:solidFill>
                            <a:schemeClr val="tx1"/>
                          </a:solidFill>
                        </a:rPr>
                        <a:t>Earnings Result, </a:t>
                      </a:r>
                      <a:pPr indent="0" marL="0">
                        <a:buNone/>
                      </a:pPr>
                      <a:r>
                        <a:rPr lang="en-US" sz="1200" b="1" dirty="0">
                          <a:solidFill>
                            <a:schemeClr val="tx1"/>
                          </a:solidFill>
                        </a:rPr>
                        <a:t>Compensation Dispute, </a:t>
                      </a:r>
                      <a:pPr indent="0" marL="0">
                        <a:buNone/>
                      </a:pPr>
                      <a:r>
                        <a:rPr lang="en-US" sz="1200" b="1" dirty="0">
                          <a:solidFill>
                            <a:schemeClr val="tx1"/>
                          </a:solidFill>
                        </a:rPr>
                        <a:t>Compensation Statement, </a:t>
                      </a:r>
                      <a:pPr indent="0" marL="0">
                        <a:buNone/>
                      </a:pPr>
                      <a:r>
                        <a:rPr lang="en-US" sz="1200" b="1" dirty="0">
                          <a:solidFill>
                            <a:schemeClr val="tx1"/>
                          </a:solidFill>
                        </a:rPr>
                        <a:t>Payroll Payment Instruction, </a:t>
                      </a:r>
                      <a:pPr indent="0" marL="0">
                        <a:buNone/>
                      </a:pPr>
                      <a:r>
                        <a:rPr lang="en-US" sz="1200" dirty="0">
                          <a:solidFill>
                            <a:schemeClr val="tx1"/>
                          </a:solidFill>
                        </a:rPr>
                        <a:t>and 3 more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Credit Cut-off Date, Earned Amount, Net Payable Amount, Accrual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Compensation Governance &amp; Controls</a:t>
                      </a:r>
                      <a:endParaRPr lang="en-US" sz="1200" dirty="0"/>
                    </a:p>
                    <a:p>
                      <a:pPr indent="0" marL="0">
                        <a:buNone/>
                      </a:pPr>
                      <a:r>
                        <a:rPr lang="en-US" sz="1100" dirty="0">
                          <a:solidFill>
                            <a:schemeClr val="tx2"/>
                          </a:solidFill>
                        </a:rPr>
                        <a:t>4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Approvals, remuneration conflict assessments, controls and the change audit trail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Governance Approval, </a:t>
                      </a:r>
                      <a:pPr indent="0" marL="0">
                        <a:buNone/>
                      </a:pPr>
                      <a:r>
                        <a:rPr lang="en-US" sz="1200" b="1" dirty="0">
                          <a:solidFill>
                            <a:schemeClr val="tx1"/>
                          </a:solidFill>
                        </a:rPr>
                        <a:t>Remuneration Conflict Assessment, </a:t>
                      </a:r>
                      <a:pPr indent="0" marL="0">
                        <a:buNone/>
                      </a:pPr>
                      <a:r>
                        <a:rPr lang="en-US" sz="1200" b="1" dirty="0">
                          <a:solidFill>
                            <a:schemeClr val="tx1"/>
                          </a:solidFill>
                        </a:rPr>
                        <a:t>Compensation Control, </a:t>
                      </a:r>
                      <a:pPr indent="0" marL="0">
                        <a:buNone/>
                      </a:pPr>
                      <a:r>
                        <a:rPr lang="en-US" sz="1200" b="1" dirty="0">
                          <a:solidFill>
                            <a:schemeClr val="tx1"/>
                          </a:solidFill>
                        </a:rPr>
                        <a:t>Change Audit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Approval Decision, Assessment Outcome, SOX Key Control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or grain. Regular = attribute group held on its parent territory, rule, goal or plan.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Mostly firm-defined, shaped by platforms</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covers Salesforce Spiff, ASC 710, COSO and SOX. Platform alignment is at concept level.</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28%</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(68 of 242) align to an external platform model, standard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71</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18</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flagged as personal data; compensation data is confidential</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Sales roles, reporting lines, activities and opportunities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coverage role in a territory, and the call frequency standard activities count toward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Party master, firm hierarchy, segmentation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aligned and covered parties and the tier; a covered account points to 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Products and share classes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product compensation tier of each product, and product scope on goals and rules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positions, measures and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credit allocation, which points to the transaction or position it credits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Rules on gifts, non-cash compensation and licenses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Plan-side flags, the compliance review link, the required license and the conflict assessment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Employees, geography code lists, sales clusters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Shared &amp; Enterprise Reference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Employee references on every assignment, and copies of the codes that define a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Booked accruals and the general ledger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&amp; Profitability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calculated compensation accrual, with a copy of the GL 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Payroll, HR job architecture and base salary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HR systems, outside the taxonomy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payroll payment instruction for incentive pay only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204 attributes mastered, 38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204</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242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25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13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12 references, 10 copies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employee on each assignment, goal, credit, statement and approval; geography codes and sales clusters</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4 references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Aligned, excepted and covered parties, and the named firms in a territory's scope</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Compliance</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 2 copies</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Required license, compliance review of a SPIF, and the relevant person and identified staff flags</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source transaction or position behind a credit, and the data feed behind a potential metric</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Product scope of a goal, products eligible for credit, and products mapped to a compensation tier</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 reference, 1 copy</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Account: the covered account on an assignment. Distribution Finance &amp; Profitability: the GL account</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14 attributes in 4 other domains reference a territory, goal or crediting rule mastered here. Also excluded from every view: Record Metadata, documented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14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17</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3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14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5 high, 6 medium, 3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GAP-07-003</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alignment, assignment or credit names the Realignment Event that caused it (DP-009, DP-032)</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GAP-07-004</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Territory Type Definition has no type code, so a territory cannot be joined to its type (DP-009)</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GAP-07-005</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Party coverage and coverage tier are not tied to a territory (DP-009)</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GAP-07-006</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Coverage role is held in separate code lists with no stated link between them (DP-009)</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GAP-07-007</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attribute holds how many parties a salesperson is meant to cover (DP-009)</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GAP-07-008</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Plan components, statements and payroll instructions do not name their plan, period or statement (DP-033, DP-057)</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GAP-07-009</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Credit allocations and adjustments carry no compensation period (DP-032, DP-082)</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The CRM territory model, the incentive compensation platform, payroll and the general ledger each map to one definition per field. Source mapping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dimension</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Territory, its hierarchy, party alignment, coverage assignment and coverage tier are published once, in SM-00 Shared Dimensions, from DP-009.</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75 proposed critical data elements and 18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CRM, compensation, payroll sources</a:t>
            </a:r>
            <a:endParaRPr lang="en-US" sz="11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100" b="1" dirty="0">
                <a:solidFill>
                  <a:schemeClr val="bg1"/>
                </a:solidFill>
              </a:rPr>
              <a:t>Compensation &amp; Territory definitions</a:t>
            </a:r>
            <a:endParaRPr lang="en-US" sz="11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DP-009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answers who covers whom</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DP-009</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Sales Organization &amp; Coverage</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Master &amp; Reference  |  Owner: Head of Sales Operations</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salesperson, territory or covered party, coverage role and effective period</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91 of its 151 attributes come from 18 of this domain's 48 objects. The rest are the employee record, sales profile and registrations.</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Daily, by 7am ET on T+1. HR changes are reflected within one business day of the HR effective date.</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Every assignment, alignment, role and membership kept as dated history since 2015. Territory models kept by version indefinitely.</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Confidential, personal data. Product owner: Head of Sales Operations.</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50</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name DP-009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80</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of the other 95 products depend on it in some way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Allocation Percentage sums to 100% for each territory and coverage role on every date</a:t>
            </a:r>
            <a:endParaRPr lang="en-US" sz="1300" dirty="0"/>
          </a:p>
          <a:p>
            <a:pPr marL="177800" indent="-177800">
              <a:spcAft>
                <a:spcPts val="600"/>
              </a:spcAft>
              <a:buSzPct val="100000"/>
              <a:buChar char="•"/>
            </a:pPr>
            <a:r>
              <a:rPr lang="en-US" sz="1300" dirty="0">
                <a:solidFill>
                  <a:schemeClr val="tx1"/>
                </a:solidFill>
              </a:rPr>
              <a:t>No party has more than one primary territory alignment on any date</a:t>
            </a:r>
            <a:endParaRPr lang="en-US" sz="1300" dirty="0"/>
          </a:p>
          <a:p>
            <a:pPr marL="177800" indent="-177800">
              <a:spcAft>
                <a:spcPts val="600"/>
              </a:spcAft>
              <a:buSzPct val="100000"/>
              <a:buChar char="•"/>
            </a:pPr>
            <a:r>
              <a:rPr lang="en-US" sz="1300" dirty="0">
                <a:solidFill>
                  <a:schemeClr val="tx1"/>
                </a:solidFill>
              </a:rPr>
              <a:t>Every active leaf territory has a parent and at least one geographic unit or named firm</a:t>
            </a:r>
            <a:endParaRPr lang="en-US" sz="1300" dirty="0"/>
          </a:p>
          <a:p>
            <a:pPr marL="177800" indent="-177800">
              <a:spcAft>
                <a:spcPts val="600"/>
              </a:spcAft>
              <a:buSzPct val="100000"/>
              <a:buChar char="•"/>
            </a:pPr>
            <a:r>
              <a:rPr lang="en-US" sz="1300" dirty="0">
                <a:solidFill>
                  <a:schemeClr val="tx1"/>
                </a:solidFill>
              </a:rPr>
              <a:t>Every alignment traces to an alignment rule in effect, or to an open exception</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19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19</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2 foundational and 17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48 of 48</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98%</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(238 of 242)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8</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operational products, the largest group of the 19</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8 operational, 6 analytical, 3 regulatory and control, 1 master and reference, 1 conformed facts.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Seven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530352"/>
          </a:xfrm>
          <a:prstGeom prst="roundRect">
            <a:avLst>
              <a:gd name="adj" fmla="val 13793"/>
            </a:avLst>
          </a:prstGeom>
          <a:solidFill>
            <a:schemeClr val="bg2"/>
          </a:solidFill>
          <a:ln/>
        </p:spPr>
      </p:sp>
      <p:sp>
        <p:nvSpPr>
          <p:cNvPr id="7" name="Text 4"/>
          <p:cNvSpPr/>
          <p:nvPr/>
        </p:nvSpPr>
        <p:spPr>
          <a:xfrm>
            <a:off x="731520" y="215341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DP-009</a:t>
            </a:r>
            <a:endParaRPr lang="en-US" sz="1200" dirty="0"/>
          </a:p>
        </p:txBody>
      </p:sp>
      <p:sp>
        <p:nvSpPr>
          <p:cNvPr id="8" name="Text 5"/>
          <p:cNvSpPr txBox="1"/>
          <p:nvPr/>
        </p:nvSpPr>
        <p:spPr>
          <a:xfrm>
            <a:off x="1828800" y="210312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Sales Organization &amp; Coverage</a:t>
            </a:r>
            <a:endParaRPr lang="en-US" sz="1300" dirty="0"/>
          </a:p>
        </p:txBody>
      </p:sp>
      <p:sp>
        <p:nvSpPr>
          <p:cNvPr id="9" name="Text 6"/>
          <p:cNvSpPr txBox="1"/>
          <p:nvPr/>
        </p:nvSpPr>
        <p:spPr>
          <a:xfrm>
            <a:off x="1828800" y="235915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Foundational  |  Sales Compensation</a:t>
            </a:r>
            <a:endParaRPr lang="en-US" sz="1000" dirty="0"/>
          </a:p>
        </p:txBody>
      </p:sp>
      <p:sp>
        <p:nvSpPr>
          <p:cNvPr id="10" name="Text 7"/>
          <p:cNvSpPr txBox="1"/>
          <p:nvPr/>
        </p:nvSpPr>
        <p:spPr>
          <a:xfrm>
            <a:off x="5897880" y="205740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Every salesperson, territory, alignment rule and coverage assignment, with dated history.</a:t>
            </a:r>
            <a:endParaRPr lang="en-US" sz="1100" dirty="0"/>
          </a:p>
        </p:txBody>
      </p:sp>
      <p:sp>
        <p:nvSpPr>
          <p:cNvPr id="11" name="Shape 8"/>
          <p:cNvSpPr/>
          <p:nvPr/>
        </p:nvSpPr>
        <p:spPr>
          <a:xfrm>
            <a:off x="9326880" y="2258568"/>
            <a:ext cx="1371600" cy="128016"/>
          </a:xfrm>
          <a:prstGeom prst="rect">
            <a:avLst/>
          </a:prstGeom>
          <a:solidFill>
            <a:schemeClr val="bg1"/>
          </a:solidFill>
          <a:ln/>
        </p:spPr>
      </p:sp>
      <p:sp>
        <p:nvSpPr>
          <p:cNvPr id="12" name="Shape 9"/>
          <p:cNvSpPr/>
          <p:nvPr/>
        </p:nvSpPr>
        <p:spPr>
          <a:xfrm>
            <a:off x="9326880" y="2258568"/>
            <a:ext cx="826593" cy="128016"/>
          </a:xfrm>
          <a:prstGeom prst="rect">
            <a:avLst/>
          </a:prstGeom>
          <a:solidFill>
            <a:schemeClr val="accent1"/>
          </a:solidFill>
          <a:ln/>
        </p:spPr>
      </p:sp>
      <p:sp>
        <p:nvSpPr>
          <p:cNvPr id="13" name="Text 10"/>
          <p:cNvSpPr txBox="1"/>
          <p:nvPr/>
        </p:nvSpPr>
        <p:spPr>
          <a:xfrm>
            <a:off x="10789920" y="205740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91 of 151</a:t>
            </a:r>
            <a:endParaRPr lang="en-US" sz="1200" dirty="0"/>
          </a:p>
        </p:txBody>
      </p:sp>
      <p:sp>
        <p:nvSpPr>
          <p:cNvPr id="14" name="Shape 11"/>
          <p:cNvSpPr/>
          <p:nvPr/>
        </p:nvSpPr>
        <p:spPr>
          <a:xfrm>
            <a:off x="548640" y="2660904"/>
            <a:ext cx="11091672" cy="530352"/>
          </a:xfrm>
          <a:prstGeom prst="roundRect">
            <a:avLst>
              <a:gd name="adj" fmla="val 13793"/>
            </a:avLst>
          </a:prstGeom>
          <a:solidFill>
            <a:schemeClr val="bg2"/>
          </a:solidFill>
          <a:ln/>
        </p:spPr>
      </p:sp>
      <p:sp>
        <p:nvSpPr>
          <p:cNvPr id="15" name="Text 12"/>
          <p:cNvSpPr/>
          <p:nvPr/>
        </p:nvSpPr>
        <p:spPr>
          <a:xfrm>
            <a:off x="731520" y="2756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DP-016</a:t>
            </a:r>
            <a:endParaRPr lang="en-US" sz="1200" dirty="0"/>
          </a:p>
        </p:txBody>
      </p:sp>
      <p:sp>
        <p:nvSpPr>
          <p:cNvPr id="16" name="Text 13"/>
          <p:cNvSpPr txBox="1"/>
          <p:nvPr/>
        </p:nvSpPr>
        <p:spPr>
          <a:xfrm>
            <a:off x="1828800" y="270662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Wholesaler Territory Scorecard</a:t>
            </a:r>
            <a:endParaRPr lang="en-US" sz="1300" dirty="0"/>
          </a:p>
        </p:txBody>
      </p:sp>
      <p:sp>
        <p:nvSpPr>
          <p:cNvPr id="17" name="Text 14"/>
          <p:cNvSpPr txBox="1"/>
          <p:nvPr/>
        </p:nvSpPr>
        <p:spPr>
          <a:xfrm>
            <a:off x="1828800" y="296265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External Wholesaling</a:t>
            </a:r>
            <a:endParaRPr lang="en-US" sz="1000" dirty="0"/>
          </a:p>
        </p:txBody>
      </p:sp>
      <p:sp>
        <p:nvSpPr>
          <p:cNvPr id="18" name="Text 15"/>
          <p:cNvSpPr txBox="1"/>
          <p:nvPr/>
        </p:nvSpPr>
        <p:spPr>
          <a:xfrm>
            <a:off x="5897880" y="266090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Flows, goal attainment, activity, coverage compliance and potential for each wholesaler.</a:t>
            </a:r>
            <a:endParaRPr lang="en-US" sz="1100" dirty="0"/>
          </a:p>
        </p:txBody>
      </p:sp>
      <p:sp>
        <p:nvSpPr>
          <p:cNvPr id="19" name="Shape 16"/>
          <p:cNvSpPr/>
          <p:nvPr/>
        </p:nvSpPr>
        <p:spPr>
          <a:xfrm>
            <a:off x="9326880" y="2862072"/>
            <a:ext cx="1371600" cy="128016"/>
          </a:xfrm>
          <a:prstGeom prst="rect">
            <a:avLst/>
          </a:prstGeom>
          <a:solidFill>
            <a:schemeClr val="bg1"/>
          </a:solidFill>
          <a:ln/>
        </p:spPr>
      </p:sp>
      <p:sp>
        <p:nvSpPr>
          <p:cNvPr id="20" name="Shape 17"/>
          <p:cNvSpPr/>
          <p:nvPr/>
        </p:nvSpPr>
        <p:spPr>
          <a:xfrm>
            <a:off x="9326880" y="2862072"/>
            <a:ext cx="935915" cy="128016"/>
          </a:xfrm>
          <a:prstGeom prst="rect">
            <a:avLst/>
          </a:prstGeom>
          <a:solidFill>
            <a:schemeClr val="accent1"/>
          </a:solidFill>
          <a:ln/>
        </p:spPr>
      </p:sp>
      <p:sp>
        <p:nvSpPr>
          <p:cNvPr id="21" name="Text 18"/>
          <p:cNvSpPr txBox="1"/>
          <p:nvPr/>
        </p:nvSpPr>
        <p:spPr>
          <a:xfrm>
            <a:off x="10789920" y="266090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58 of 85</a:t>
            </a:r>
            <a:endParaRPr lang="en-US" sz="1200" dirty="0"/>
          </a:p>
        </p:txBody>
      </p:sp>
      <p:sp>
        <p:nvSpPr>
          <p:cNvPr id="22" name="Shape 19"/>
          <p:cNvSpPr/>
          <p:nvPr/>
        </p:nvSpPr>
        <p:spPr>
          <a:xfrm>
            <a:off x="548640" y="3264408"/>
            <a:ext cx="11091672" cy="530352"/>
          </a:xfrm>
          <a:prstGeom prst="roundRect">
            <a:avLst>
              <a:gd name="adj" fmla="val 13793"/>
            </a:avLst>
          </a:prstGeom>
          <a:solidFill>
            <a:schemeClr val="bg2"/>
          </a:solidFill>
          <a:ln/>
        </p:spPr>
      </p:sp>
      <p:sp>
        <p:nvSpPr>
          <p:cNvPr id="23" name="Text 20"/>
          <p:cNvSpPr/>
          <p:nvPr/>
        </p:nvSpPr>
        <p:spPr>
          <a:xfrm>
            <a:off x="731520" y="3360420"/>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DP-032</a:t>
            </a:r>
            <a:endParaRPr lang="en-US" sz="1200" dirty="0"/>
          </a:p>
        </p:txBody>
      </p:sp>
      <p:sp>
        <p:nvSpPr>
          <p:cNvPr id="24" name="Text 21"/>
          <p:cNvSpPr txBox="1"/>
          <p:nvPr/>
        </p:nvSpPr>
        <p:spPr>
          <a:xfrm>
            <a:off x="1828800" y="3310128"/>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Sales Crediting &amp; Goal Attainment</a:t>
            </a:r>
            <a:endParaRPr lang="en-US" sz="1300" dirty="0"/>
          </a:p>
        </p:txBody>
      </p:sp>
      <p:sp>
        <p:nvSpPr>
          <p:cNvPr id="25" name="Text 22"/>
          <p:cNvSpPr txBox="1"/>
          <p:nvPr/>
        </p:nvSpPr>
        <p:spPr>
          <a:xfrm>
            <a:off x="1828800" y="3566160"/>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Operational  |  Sales Compensation and Territory Management</a:t>
            </a:r>
            <a:endParaRPr lang="en-US" sz="1000" dirty="0"/>
          </a:p>
        </p:txBody>
      </p:sp>
      <p:sp>
        <p:nvSpPr>
          <p:cNvPr id="26" name="Text 23"/>
          <p:cNvSpPr txBox="1"/>
          <p:nvPr/>
        </p:nvSpPr>
        <p:spPr>
          <a:xfrm>
            <a:off x="5897880" y="3264408"/>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Every sales credit with the rule behind it, adjustments and clawbacks, and attainment by goal.</a:t>
            </a:r>
            <a:endParaRPr lang="en-US" sz="1100" dirty="0"/>
          </a:p>
        </p:txBody>
      </p:sp>
      <p:sp>
        <p:nvSpPr>
          <p:cNvPr id="27" name="Shape 24"/>
          <p:cNvSpPr/>
          <p:nvPr/>
        </p:nvSpPr>
        <p:spPr>
          <a:xfrm>
            <a:off x="9326880" y="3465576"/>
            <a:ext cx="1371600" cy="128016"/>
          </a:xfrm>
          <a:prstGeom prst="rect">
            <a:avLst/>
          </a:prstGeom>
          <a:solidFill>
            <a:schemeClr val="bg1"/>
          </a:solidFill>
          <a:ln/>
        </p:spPr>
      </p:sp>
      <p:sp>
        <p:nvSpPr>
          <p:cNvPr id="28" name="Shape 25"/>
          <p:cNvSpPr/>
          <p:nvPr/>
        </p:nvSpPr>
        <p:spPr>
          <a:xfrm>
            <a:off x="9326880" y="3465576"/>
            <a:ext cx="1224643" cy="128016"/>
          </a:xfrm>
          <a:prstGeom prst="rect">
            <a:avLst/>
          </a:prstGeom>
          <a:solidFill>
            <a:schemeClr val="accent1"/>
          </a:solidFill>
          <a:ln/>
        </p:spPr>
      </p:sp>
      <p:sp>
        <p:nvSpPr>
          <p:cNvPr id="29" name="Text 26"/>
          <p:cNvSpPr txBox="1"/>
          <p:nvPr/>
        </p:nvSpPr>
        <p:spPr>
          <a:xfrm>
            <a:off x="10789920" y="3264408"/>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75 of 84</a:t>
            </a:r>
            <a:endParaRPr lang="en-US" sz="1200" dirty="0"/>
          </a:p>
        </p:txBody>
      </p:sp>
      <p:sp>
        <p:nvSpPr>
          <p:cNvPr id="30" name="Shape 27"/>
          <p:cNvSpPr/>
          <p:nvPr/>
        </p:nvSpPr>
        <p:spPr>
          <a:xfrm>
            <a:off x="548640" y="3867912"/>
            <a:ext cx="11091672" cy="530352"/>
          </a:xfrm>
          <a:prstGeom prst="roundRect">
            <a:avLst>
              <a:gd name="adj" fmla="val 13793"/>
            </a:avLst>
          </a:prstGeom>
          <a:solidFill>
            <a:schemeClr val="bg2"/>
          </a:solidFill>
          <a:ln/>
        </p:spPr>
      </p:sp>
      <p:sp>
        <p:nvSpPr>
          <p:cNvPr id="31" name="Text 28"/>
          <p:cNvSpPr/>
          <p:nvPr/>
        </p:nvSpPr>
        <p:spPr>
          <a:xfrm>
            <a:off x="731520" y="3963924"/>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DP-033</a:t>
            </a:r>
            <a:endParaRPr lang="en-US" sz="1200" dirty="0"/>
          </a:p>
        </p:txBody>
      </p:sp>
      <p:sp>
        <p:nvSpPr>
          <p:cNvPr id="32" name="Text 29"/>
          <p:cNvSpPr txBox="1"/>
          <p:nvPr/>
        </p:nvSpPr>
        <p:spPr>
          <a:xfrm>
            <a:off x="1828800" y="3913632"/>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Incentive Compensation Payouts</a:t>
            </a:r>
            <a:endParaRPr lang="en-US" sz="1300" dirty="0"/>
          </a:p>
        </p:txBody>
      </p:sp>
      <p:sp>
        <p:nvSpPr>
          <p:cNvPr id="33" name="Text 30"/>
          <p:cNvSpPr txBox="1"/>
          <p:nvPr/>
        </p:nvSpPr>
        <p:spPr>
          <a:xfrm>
            <a:off x="1828800" y="4169664"/>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Operational  |  Sales Compensation and Territory Management</a:t>
            </a:r>
            <a:endParaRPr lang="en-US" sz="1000" dirty="0"/>
          </a:p>
        </p:txBody>
      </p:sp>
      <p:sp>
        <p:nvSpPr>
          <p:cNvPr id="34" name="Text 31"/>
          <p:cNvSpPr txBox="1"/>
          <p:nvPr/>
        </p:nvSpPr>
        <p:spPr>
          <a:xfrm>
            <a:off x="5897880" y="3867912"/>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Earnings by plan component, draws, statements, payroll instructions and accruals each period.</a:t>
            </a:r>
            <a:endParaRPr lang="en-US" sz="1100" dirty="0"/>
          </a:p>
        </p:txBody>
      </p:sp>
      <p:sp>
        <p:nvSpPr>
          <p:cNvPr id="35" name="Shape 32"/>
          <p:cNvSpPr/>
          <p:nvPr/>
        </p:nvSpPr>
        <p:spPr>
          <a:xfrm>
            <a:off x="9326880" y="4069080"/>
            <a:ext cx="1371600" cy="128016"/>
          </a:xfrm>
          <a:prstGeom prst="rect">
            <a:avLst/>
          </a:prstGeom>
          <a:solidFill>
            <a:schemeClr val="bg1"/>
          </a:solidFill>
          <a:ln/>
        </p:spPr>
      </p:sp>
      <p:sp>
        <p:nvSpPr>
          <p:cNvPr id="36" name="Shape 33"/>
          <p:cNvSpPr/>
          <p:nvPr/>
        </p:nvSpPr>
        <p:spPr>
          <a:xfrm>
            <a:off x="9326880" y="4069080"/>
            <a:ext cx="1371600" cy="128016"/>
          </a:xfrm>
          <a:prstGeom prst="rect">
            <a:avLst/>
          </a:prstGeom>
          <a:solidFill>
            <a:schemeClr val="accent1"/>
          </a:solidFill>
          <a:ln/>
        </p:spPr>
      </p:sp>
      <p:sp>
        <p:nvSpPr>
          <p:cNvPr id="37" name="Text 34"/>
          <p:cNvSpPr txBox="1"/>
          <p:nvPr/>
        </p:nvSpPr>
        <p:spPr>
          <a:xfrm>
            <a:off x="10789920" y="3867912"/>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63 of 63</a:t>
            </a:r>
            <a:endParaRPr lang="en-US" sz="1200" dirty="0"/>
          </a:p>
        </p:txBody>
      </p:sp>
      <p:sp>
        <p:nvSpPr>
          <p:cNvPr id="38" name="Shape 35"/>
          <p:cNvSpPr/>
          <p:nvPr/>
        </p:nvSpPr>
        <p:spPr>
          <a:xfrm>
            <a:off x="548640" y="4471416"/>
            <a:ext cx="11091672" cy="530352"/>
          </a:xfrm>
          <a:prstGeom prst="roundRect">
            <a:avLst>
              <a:gd name="adj" fmla="val 13793"/>
            </a:avLst>
          </a:prstGeom>
          <a:solidFill>
            <a:schemeClr val="bg2"/>
          </a:solidFill>
          <a:ln/>
        </p:spPr>
      </p:sp>
      <p:sp>
        <p:nvSpPr>
          <p:cNvPr id="39" name="Text 36"/>
          <p:cNvSpPr/>
          <p:nvPr/>
        </p:nvSpPr>
        <p:spPr>
          <a:xfrm>
            <a:off x="731520" y="4567428"/>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DP-054</a:t>
            </a:r>
            <a:endParaRPr lang="en-US" sz="1200" dirty="0"/>
          </a:p>
        </p:txBody>
      </p:sp>
      <p:sp>
        <p:nvSpPr>
          <p:cNvPr id="40" name="Text 37"/>
          <p:cNvSpPr txBox="1"/>
          <p:nvPr/>
        </p:nvSpPr>
        <p:spPr>
          <a:xfrm>
            <a:off x="1828800" y="4517136"/>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Territory Alignment Scenarios</a:t>
            </a:r>
            <a:endParaRPr lang="en-US" sz="1300" dirty="0"/>
          </a:p>
        </p:txBody>
      </p:sp>
      <p:sp>
        <p:nvSpPr>
          <p:cNvPr id="41" name="Text 38"/>
          <p:cNvSpPr txBox="1"/>
          <p:nvPr/>
        </p:nvSpPr>
        <p:spPr>
          <a:xfrm>
            <a:off x="1828800" y="4773168"/>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Sales Compensation and Territory Management</a:t>
            </a:r>
            <a:endParaRPr lang="en-US" sz="1000" dirty="0"/>
          </a:p>
        </p:txBody>
      </p:sp>
      <p:sp>
        <p:nvSpPr>
          <p:cNvPr id="42" name="Text 39"/>
          <p:cNvSpPr txBox="1"/>
          <p:nvPr/>
        </p:nvSpPr>
        <p:spPr>
          <a:xfrm>
            <a:off x="5897880" y="4471416"/>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What-if comparison of a proposed territory model with the active one, before it takes effect.</a:t>
            </a:r>
            <a:endParaRPr lang="en-US" sz="1100" dirty="0"/>
          </a:p>
        </p:txBody>
      </p:sp>
      <p:sp>
        <p:nvSpPr>
          <p:cNvPr id="43" name="Shape 40"/>
          <p:cNvSpPr/>
          <p:nvPr/>
        </p:nvSpPr>
        <p:spPr>
          <a:xfrm>
            <a:off x="9326880" y="4672584"/>
            <a:ext cx="1371600" cy="128016"/>
          </a:xfrm>
          <a:prstGeom prst="rect">
            <a:avLst/>
          </a:prstGeom>
          <a:solidFill>
            <a:schemeClr val="bg1"/>
          </a:solidFill>
          <a:ln/>
        </p:spPr>
      </p:sp>
      <p:sp>
        <p:nvSpPr>
          <p:cNvPr id="44" name="Shape 41"/>
          <p:cNvSpPr/>
          <p:nvPr/>
        </p:nvSpPr>
        <p:spPr>
          <a:xfrm>
            <a:off x="9326880" y="4672584"/>
            <a:ext cx="1094362" cy="128016"/>
          </a:xfrm>
          <a:prstGeom prst="rect">
            <a:avLst/>
          </a:prstGeom>
          <a:solidFill>
            <a:schemeClr val="accent1"/>
          </a:solidFill>
          <a:ln/>
        </p:spPr>
      </p:sp>
      <p:sp>
        <p:nvSpPr>
          <p:cNvPr id="45" name="Text 42"/>
          <p:cNvSpPr txBox="1"/>
          <p:nvPr/>
        </p:nvSpPr>
        <p:spPr>
          <a:xfrm>
            <a:off x="10789920" y="4471416"/>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75 of 94</a:t>
            </a:r>
            <a:endParaRPr lang="en-US" sz="1200" dirty="0"/>
          </a:p>
        </p:txBody>
      </p:sp>
      <p:sp>
        <p:nvSpPr>
          <p:cNvPr id="46" name="Shape 43"/>
          <p:cNvSpPr/>
          <p:nvPr/>
        </p:nvSpPr>
        <p:spPr>
          <a:xfrm>
            <a:off x="548640" y="5074920"/>
            <a:ext cx="11091672" cy="530352"/>
          </a:xfrm>
          <a:prstGeom prst="roundRect">
            <a:avLst>
              <a:gd name="adj" fmla="val 13793"/>
            </a:avLst>
          </a:prstGeom>
          <a:solidFill>
            <a:schemeClr val="bg2"/>
          </a:solidFill>
          <a:ln/>
        </p:spPr>
      </p:sp>
      <p:sp>
        <p:nvSpPr>
          <p:cNvPr id="47" name="Text 44"/>
          <p:cNvSpPr/>
          <p:nvPr/>
        </p:nvSpPr>
        <p:spPr>
          <a:xfrm>
            <a:off x="731520" y="517093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DP-057</a:t>
            </a:r>
            <a:endParaRPr lang="en-US" sz="1200" dirty="0"/>
          </a:p>
        </p:txBody>
      </p:sp>
      <p:sp>
        <p:nvSpPr>
          <p:cNvPr id="48" name="Text 45"/>
          <p:cNvSpPr txBox="1"/>
          <p:nvPr/>
        </p:nvSpPr>
        <p:spPr>
          <a:xfrm>
            <a:off x="1828800" y="512064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Wholesaler Productivity &amp; Expense</a:t>
            </a:r>
            <a:endParaRPr lang="en-US" sz="1300" dirty="0"/>
          </a:p>
        </p:txBody>
      </p:sp>
      <p:sp>
        <p:nvSpPr>
          <p:cNvPr id="49" name="Text 46"/>
          <p:cNvSpPr txBox="1"/>
          <p:nvPr/>
        </p:nvSpPr>
        <p:spPr>
          <a:xfrm>
            <a:off x="1828800" y="537667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Distribution Leadership and Strategy</a:t>
            </a:r>
            <a:endParaRPr lang="en-US" sz="1000" dirty="0"/>
          </a:p>
        </p:txBody>
      </p:sp>
      <p:sp>
        <p:nvSpPr>
          <p:cNvPr id="50" name="Text 47"/>
          <p:cNvSpPr txBox="1"/>
          <p:nvPr/>
        </p:nvSpPr>
        <p:spPr>
          <a:xfrm>
            <a:off x="5897880" y="507492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Activity, expense, compensation cost and credited sales per wholesaler, sized to potential.</a:t>
            </a:r>
            <a:endParaRPr lang="en-US" sz="1100" dirty="0"/>
          </a:p>
        </p:txBody>
      </p:sp>
      <p:sp>
        <p:nvSpPr>
          <p:cNvPr id="51" name="Shape 48"/>
          <p:cNvSpPr/>
          <p:nvPr/>
        </p:nvSpPr>
        <p:spPr>
          <a:xfrm>
            <a:off x="9326880" y="5276088"/>
            <a:ext cx="1371600" cy="128016"/>
          </a:xfrm>
          <a:prstGeom prst="rect">
            <a:avLst/>
          </a:prstGeom>
          <a:solidFill>
            <a:schemeClr val="bg1"/>
          </a:solidFill>
          <a:ln/>
        </p:spPr>
      </p:sp>
      <p:sp>
        <p:nvSpPr>
          <p:cNvPr id="52" name="Shape 49"/>
          <p:cNvSpPr/>
          <p:nvPr/>
        </p:nvSpPr>
        <p:spPr>
          <a:xfrm>
            <a:off x="9326880" y="5276088"/>
            <a:ext cx="502920" cy="128016"/>
          </a:xfrm>
          <a:prstGeom prst="rect">
            <a:avLst/>
          </a:prstGeom>
          <a:solidFill>
            <a:schemeClr val="accent1"/>
          </a:solidFill>
          <a:ln/>
        </p:spPr>
      </p:sp>
      <p:sp>
        <p:nvSpPr>
          <p:cNvPr id="53" name="Text 50"/>
          <p:cNvSpPr txBox="1"/>
          <p:nvPr/>
        </p:nvSpPr>
        <p:spPr>
          <a:xfrm>
            <a:off x="10789920" y="507492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22 of 60</a:t>
            </a:r>
            <a:endParaRPr lang="en-US" sz="1200" dirty="0"/>
          </a:p>
        </p:txBody>
      </p:sp>
      <p:sp>
        <p:nvSpPr>
          <p:cNvPr id="54" name="Shape 51"/>
          <p:cNvSpPr/>
          <p:nvPr/>
        </p:nvSpPr>
        <p:spPr>
          <a:xfrm>
            <a:off x="548640" y="5678424"/>
            <a:ext cx="11091672" cy="530352"/>
          </a:xfrm>
          <a:prstGeom prst="roundRect">
            <a:avLst>
              <a:gd name="adj" fmla="val 13793"/>
            </a:avLst>
          </a:prstGeom>
          <a:solidFill>
            <a:schemeClr val="bg2"/>
          </a:solidFill>
          <a:ln/>
        </p:spPr>
      </p:sp>
      <p:sp>
        <p:nvSpPr>
          <p:cNvPr id="55" name="Text 52"/>
          <p:cNvSpPr/>
          <p:nvPr/>
        </p:nvSpPr>
        <p:spPr>
          <a:xfrm>
            <a:off x="731520" y="577443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DP-082</a:t>
            </a:r>
            <a:endParaRPr lang="en-US" sz="1200" dirty="0"/>
          </a:p>
        </p:txBody>
      </p:sp>
      <p:sp>
        <p:nvSpPr>
          <p:cNvPr id="56" name="Text 53"/>
          <p:cNvSpPr txBox="1"/>
          <p:nvPr/>
        </p:nvSpPr>
        <p:spPr>
          <a:xfrm>
            <a:off x="1828800" y="572414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Sales Compensation Governance &amp; Controls</a:t>
            </a:r>
            <a:endParaRPr lang="en-US" sz="1300" dirty="0"/>
          </a:p>
        </p:txBody>
      </p:sp>
      <p:sp>
        <p:nvSpPr>
          <p:cNvPr id="57" name="Text 54"/>
          <p:cNvSpPr txBox="1"/>
          <p:nvPr/>
        </p:nvSpPr>
        <p:spPr>
          <a:xfrm>
            <a:off x="1828800" y="598017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Sales Compensation</a:t>
            </a:r>
            <a:endParaRPr lang="en-US" sz="1000" dirty="0"/>
          </a:p>
        </p:txBody>
      </p:sp>
      <p:sp>
        <p:nvSpPr>
          <p:cNvPr id="58" name="Text 55"/>
          <p:cNvSpPr txBox="1"/>
          <p:nvPr/>
        </p:nvSpPr>
        <p:spPr>
          <a:xfrm>
            <a:off x="5897880" y="567842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Approvals, conflict assessments, control tests and the change audit trail for incentive pay.</a:t>
            </a:r>
            <a:endParaRPr lang="en-US" sz="1100" dirty="0"/>
          </a:p>
        </p:txBody>
      </p:sp>
      <p:sp>
        <p:nvSpPr>
          <p:cNvPr id="59" name="Shape 56"/>
          <p:cNvSpPr/>
          <p:nvPr/>
        </p:nvSpPr>
        <p:spPr>
          <a:xfrm>
            <a:off x="9326880" y="5879592"/>
            <a:ext cx="1371600" cy="128016"/>
          </a:xfrm>
          <a:prstGeom prst="rect">
            <a:avLst/>
          </a:prstGeom>
          <a:solidFill>
            <a:schemeClr val="bg1"/>
          </a:solidFill>
          <a:ln/>
        </p:spPr>
      </p:sp>
      <p:sp>
        <p:nvSpPr>
          <p:cNvPr id="60" name="Shape 57"/>
          <p:cNvSpPr/>
          <p:nvPr/>
        </p:nvSpPr>
        <p:spPr>
          <a:xfrm>
            <a:off x="9326880" y="5879592"/>
            <a:ext cx="1284790" cy="128016"/>
          </a:xfrm>
          <a:prstGeom prst="rect">
            <a:avLst/>
          </a:prstGeom>
          <a:solidFill>
            <a:schemeClr val="accent1"/>
          </a:solidFill>
          <a:ln/>
        </p:spPr>
      </p:sp>
      <p:sp>
        <p:nvSpPr>
          <p:cNvPr id="61" name="Text 58"/>
          <p:cNvSpPr txBox="1"/>
          <p:nvPr/>
        </p:nvSpPr>
        <p:spPr>
          <a:xfrm>
            <a:off x="10789920" y="567842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74 of 79</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12 more rely on it for coverage context</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Field sales and advisor coverage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DP-017, DP-018, DP-046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Coverage assignments, coverage tiers, call frequency standards and territory alignment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Sales activity reporting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call frequency standard that completed activities are counted against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and consultant relations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DP-019, DP-022, DP-092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Coverage assignments for clients and consultants; goals and goal attainment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Marketing and lead hand-off</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covering salesperson a lead is handed to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Advisor moves and plan prospecting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DP-048, DP-066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Coverage assignments and the territory each advisor or plan is aligned to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finance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DP-039, DP-089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Salesperson assignments and territory geography for licensing; plan components for cost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62 products do not read this domain directly and depend on it only through DP-009.</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Coverage Tier</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Coverage Tier Assignment: the coverage priority of a covered party, from an effective date.</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DP-009</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who covers each party, in which role and at which tier, with dated history.</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DP-016</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The territory scorecard matches tier and role to the Call Frequency Standard and counts qualifying activities.</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SM-02 Advisors &amp;</a:t>
            </a:r>
            <a:endParaRPr lang="en-US" sz="1400" dirty="0"/>
          </a:p>
          <a:p>
            <a:pPr algn="l" indent="0" marL="0">
              <a:buNone/>
            </a:pPr>
            <a:r>
              <a:rPr lang="en-US" sz="1400" b="1" dirty="0">
                <a:solidFill>
                  <a:schemeClr val="tx1"/>
                </a:solidFill>
              </a:rPr>
              <a:t>Field Sales</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Coverage Compliance % and joins coverage tier to the call frequency standard.</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“Which wholesalers fall short of the call frequency standard for tier-A advisors?”</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Coverage Compliance %  =  tiered parties seen as often as the standard requires / all tiered parties</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The activities counted are mastered in Sales. Open gap GAP-07-005: coverage tier is not yet tied to a territory.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CD-054</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Attribution to crediting hand-off. Recommended: credit only from locked snapshots; later restatements become prior-period adjustments.</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CD-041</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One certified net flow definition, published by Sales Transactions &amp; AUM Attribution, for goals and credit bases to reference.</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CD-030</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Accruals: this domain keeps the calculated accrual; the booked accrual and GL account sit in Distribution Finance &amp; Profitability.</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GAP-07-005</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coverage is scoped to a territory. If not, coverage tier becomes a party-level tier.</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Walk through alignment and crediting with Sales Operations and Sales Comp using three real cases, such as an IBD branch in a split ZIP</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the hand-off contract with Sales Transactions &amp; AUM Attribution: attributed fields to credit allocation, and measures for goals</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the CRM, incentive compensation, payroll and GL systems, then confirm the 75 proposed critical data elements with owners</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Ask Compliance to confirm the remuneration regime list and the conflict assessment fields</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14 open gaps, starting with the five high-priority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Compensation &amp; Territory taxonomy walkthrough</dc:title>
  <dc:subject>PptxGenJS Presentation</dc:subject>
  <dc:creator>Distribution Data Taxonomy Program</dc:creator>
  <cp:lastModifiedBy>Distribution Data Taxonomy Program</cp:lastModifiedBy>
  <cp:revision>1</cp:revision>
  <dcterms:created xsi:type="dcterms:W3CDTF">2026-10-06T08:38:16Z</dcterms:created>
  <dcterms:modified xsi:type="dcterms:W3CDTF">2026-10-06T08:38:16Z</dcterms:modified>
</cp:coreProperties>
</file>