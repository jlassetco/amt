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11a75764-18f5-b007-1d31-88aa4887b6e3}">
          <p14:sldIdLst>
            <p14:sldId id="256"/>
            <p14:sldId id="257"/>
            <p14:sldId id="258"/>
            <p14:sldId id="259"/>
          </p14:sldIdLst>
        </p14:section>
        <p14:section name="What is included" id="{fb45e475-1076-afb1-3769-90c6a0e1d18b}">
          <p14:sldIdLst>
            <p14:sldId id="260"/>
            <p14:sldId id="261"/>
            <p14:sldId id="262"/>
            <p14:sldId id="263"/>
            <p14:sldId id="264"/>
          </p14:sldIdLst>
        </p14:section>
        <p14:section name="What is excluded" id="{18646547-2f59-9c20-c9aa-955bfd8776f9}">
          <p14:sldIdLst>
            <p14:sldId id="265"/>
            <p14:sldId id="266"/>
            <p14:sldId id="267"/>
          </p14:sldIdLst>
        </p14:section>
        <p14:section name="How it is used" id="{108c873e-1ed7-5c08-13c1-398c3f218903}">
          <p14:sldIdLst>
            <p14:sldId id="268"/>
            <p14:sldId id="269"/>
          </p14:sldIdLst>
        </p14:section>
        <p14:section name="Data products" id="{a9c28b4f-7c2f-199d-8feb-2249071832f1}">
          <p14:sldIdLst>
            <p14:sldId id="270"/>
            <p14:sldId id="271"/>
            <p14:sldId id="272"/>
            <p14:sldId id="273"/>
          </p14:sldIdLst>
        </p14:section>
        <p14:section name="Next steps" id="{00fbcb5a-6614-84ec-0bbd-90b2dc906d7d}">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Attributes by primary reference standard</a:t>
            </a:r>
          </a:p>
        </c:rich>
      </c:tx>
      <c:layout/>
      <c:overlay val="0"/>
    </c:title>
    <c:autoTitleDeleted val="0"/>
    <c:plotArea>
      <c:layout/>
      <c:barChart>
        <c:barDir val="bar"/>
        <c:grouping val="clustered"/>
        <c:varyColors val="0"/>
        <c:ser>
          <c:idx val="0"/>
          <c:order val="0"/>
          <c:tx>
            <c:strRef>
              <c:f>Sheet1!$B$1</c:f>
              <c:strCache>
                <c:ptCount val="1"/>
                <c:pt idx="0">
                  <c:v>Attributes by primary reference standard</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Sheet1!$A$2:$A$8</c:f>
              <c:multiLvlStrCache>
                <c:ptCount val="7"/>
                <c:lvl>
                  <c:pt idx="0">
                    <c:v>Internal (firm-defined)</c:v>
                  </c:pt>
                  <c:pt idx="1">
                    <c:v>SEC rules and guidance</c:v>
                  </c:pt>
                  <c:pt idx="2">
                    <c:v>MiFID II and UK FCA COBS</c:v>
                  </c:pt>
                  <c:pt idx="3">
                    <c:v>DTCC NSCC</c:v>
                  </c:pt>
                  <c:pt idx="4">
                    <c:v>DOL 408(b)(2)</c:v>
                  </c:pt>
                  <c:pt idx="5">
                    <c:v>FinDatEx EMT</c:v>
                  </c:pt>
                  <c:pt idx="6">
                    <c:v>Other standards and regulation</c:v>
                  </c:pt>
                </c:lvl>
              </c:multiLvlStrCache>
            </c:multiLvlStrRef>
          </c:cat>
          <c:val>
            <c:numRef>
              <c:f>Sheet1!$B$2:$B$8</c:f>
              <c:numCache>
                <c:formatCode>General</c:formatCode>
                <c:ptCount val="7"/>
                <c:pt idx="0">
                  <c:v>215</c:v>
                </c:pt>
                <c:pt idx="1">
                  <c:v>15</c:v>
                </c:pt>
                <c:pt idx="2">
                  <c:v>9</c:v>
                </c:pt>
                <c:pt idx="3">
                  <c:v>8</c:v>
                </c:pt>
                <c:pt idx="4">
                  <c:v>6</c:v>
                </c:pt>
                <c:pt idx="5">
                  <c:v>4</c:v>
                </c:pt>
                <c:pt idx="6">
                  <c:v>5</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Products reading each object (top 7 of 36)</a:t>
            </a:r>
          </a:p>
        </c:rich>
      </c:tx>
      <c:layout/>
      <c:overlay val="0"/>
    </c:title>
    <c:autoTitleDeleted val="0"/>
    <c:plotArea>
      <c:layout/>
      <c:barChart>
        <c:barDir val="bar"/>
        <c:grouping val="clustered"/>
        <c:varyColors val="0"/>
        <c:ser>
          <c:idx val="0"/>
          <c:order val="0"/>
          <c:tx>
            <c:strRef>
              <c:f>Sheet1!$B$1</c:f>
              <c:strCache>
                <c:ptCount val="1"/>
                <c:pt idx="0">
                  <c:v>Products reading each object (top 7 of 36)</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Sheet1!$A$2:$A$8</c:f>
              <c:multiLvlStrCache>
                <c:ptCount val="7"/>
                <c:lvl>
                  <c:pt idx="0">
                    <c:v>Shelf Placement</c:v>
                  </c:pt>
                  <c:pt idx="1">
                    <c:v>Payment Arrangement</c:v>
                  </c:pt>
                  <c:pt idx="2">
                    <c:v>Distribution Agreement</c:v>
                  </c:pt>
                  <c:pt idx="3">
                    <c:v>Payment Calculation</c:v>
                  </c:pt>
                  <c:pt idx="4">
                    <c:v>Partner Research Rating</c:v>
                  </c:pt>
                  <c:pt idx="5">
                    <c:v>Agreement Product Coverage</c:v>
                  </c:pt>
                  <c:pt idx="6">
                    <c:v>Agreement Party Role</c:v>
                  </c:pt>
                </c:lvl>
              </c:multiLvlStrCache>
            </c:multiLvlStrRef>
          </c:cat>
          <c:val>
            <c:numRef>
              <c:f>Sheet1!$B$2:$B$8</c:f>
              <c:numCache>
                <c:formatCode>General</c:formatCode>
                <c:ptCount val="7"/>
                <c:pt idx="0">
                  <c:v>13</c:v>
                </c:pt>
                <c:pt idx="1">
                  <c:v>8</c:v>
                </c:pt>
                <c:pt idx="2">
                  <c:v>8</c:v>
                </c:pt>
                <c:pt idx="3">
                  <c:v>4</c:v>
                </c:pt>
                <c:pt idx="4">
                  <c:v>4</c:v>
                </c:pt>
                <c:pt idx="5">
                  <c:v>4</c:v>
                </c:pt>
                <c:pt idx="6">
                  <c:v>4</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Distribution Agreements &amp; Partners data domain. It answers four questions: what is in the domain, what is deliberately left out, how the taxonomy is used, and which data products it helps define. All counts come from the current drafts of the taxonomy, the data product specifications and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Distribution Agreements &amp; Partners is the record of what the firm has agreed with each distribution partner. It holds the agreements and what they cover, the payment arrangements under them and the payment cycle, the partner programs the firm joins, and the status of every product on each partner's shelf. The partner firms, the products and the assets that payments are calculated on are left to their owning domains and referenced by ID. 26 of the 96 specified data products read the domain directly, and 88 of the other 95 depend on its foundational product, DP-005, directly or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has four levels: data domain, data family, business object and attribute. Distribution Agreements &amp; Partners is one of 16 domains, with 9 families, 36 business objects and 262 attributes. The purple text shows the path to one attribute, Placement Status, which we follow to an answer near the end of the deck. For every attribute the taxonomy records its meaning, its data type, its owner and the standard it aligns to. It does not hold data values, contract text or system field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is built around three anchor records. The agreement is the contract between one of the firm's own legal entities and a partner, with its scope: which products, jurisdictions, channels and account types it covers. Under an agreement sit payment arrangements, one for each payment stream, such as revenue sharing, sub-transfer agency fees or a retrocession. Each arrangement is calculated every period, invoiced and paid. Beside the agreement sit the shelf placements, which record where each product is approved, and the operational setup and obligations. Each of the three has its own effective dates, so a rate or a shelf status can change without the contract changing.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has 9 data families. For this walkthrough they are grouped in three. The spine is the contract itself: the agreement master and the scope of each agreement. The second group is the money and the shelf: payment arrangements, the payment cycle, partner programs, and where each product is available. The third group is how the partnership is run and overseen: operational setup, disclosures, and obligations and service levels. The three-way grouping is a presentation aid and is not a level in the taxonomy. The next three slides take each group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spine families hold 57 attributes. Agreement Master is the contract register: the type and status of each agreement, the parties and the role each plays, the term with its renewal and notice dates, amendments and side letters, and the executed documents. One of the parties is always one of the firm's own legal entities. Agreement Scope says what an agreement covers: the products, share classes and models included or excluded, the jurisdictions, channels and investor types the partner may sell to, and the transfer agent accounts the agreement governs. Business objects, in bold, have their own key. Attribute groups are sets of attributes held on their 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families, 138 attributes, more than half the domain. Payment and Fee Arrangements is the largest family, with 56 attributes. It holds each payment stream with its funding source, rate schedule and tiers, sub-accounting and 12b-1 pass-through terms, caps and payment terms. Partner Payment Processing is the payment cycle: the amount calculated for each arrangement and period, the partner's invoice with any variance or dispute, and the settled payment. The assets behind a calculation are referenced from Sales Transactions &amp; AUM Attribution. Partner Programs holds the programs partners run, the tier the firm holds and the benefits it uses. Product Shelf and Availability records the status of each product on each partner list, the partner's research rating, the share class used for each account type, and model placements.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families, 67 attributes. Partner Operational Setup holds what is needed to trade and service business with a partner: the dealer number the transfer agent assigns, the dealing and settlement route, the networking level and who keeps shareholder records, and the data feeds the partner has agreed to supply. Partner Disclosures and Transparency holds what is published or exchanged about payments: partner revenue-sharing disclosures, ERISA 408(b)(2) indirect compensation disclosures, and the MiFID II cost and inducement data sent to EU and UK distributors. Contract Obligations and SLAs holds the obligations each side takes on, the service levels and measured performance, and the attestations partners owe.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attribute definition names the standard or source it is aligned to. This domain is unusual: 215 of the 262 attributes, 82 percent, are firm-defined, because contract and commercial terms have no public data standard. The 47 that do align to an external source are the ones regulators and fund boards care about. SEC rules and guidance, led by Rule 12b-1 and the 2016 guidance on sub-accounting fees, account for 15. MiFID II and the UK FCA rules account for 9, DTCC for 8 and the ERISA 408(b)(2) rule for 6. 74 attributes take their values from a controlled code list, and 83 are proposed as critical data elements. Only 3 attributes are flagged as personal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domain says what the firm has agreed with a partner, what it pays and where its products are approved. It deliberately leaves out who the partner is, what the products are and what was sold. This table shows where each excluded subject lives and the small amount this domain keeps so that it can point to it. Three boundaries are worth calling out. The payment calculation is here, but the assets it is calculated on are in Sales Transactions &amp; AUM Attribution. The partner's due diligence on our products is here, but our due diligence on the partner is in Distribution Compliance. The commercial terms of a partner data feed are here, but the technical feed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attribute carries an ownership flag. 221 of the 262 are mastered in this domain. 35 are references, which hold only the ID of a record mastered elsewhere, and 6 are derived copies. That is a high share of borrowed attributes, and it is by design: an agreement is between parties, about products, paid on assets, and all three are mastered in other domains. Client &amp; Customer supplies 17 of the 41, mostly the partner in each of its roles. In the other direction, 26 attributes in 10 other domains point to an agreement, payment arrangement or shelf record here, led by Distribution Compliance with 6 and Distribution Finance &amp; Profitability with 5. Record Metadata is excluded from every view and documented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Specifying and modeling the data products surfaced 28 gaps against this domain. Five are resolved. Twenty-three are open, all proposed and waiting for a decision: 6 high priority, 6 medium and 11 low. The slide shows the six high-priority gaps and one of the medium ones. The high-priority gaps are all the same kind of problem. A child record does not name the agreement, partner firm or program it belongs to, so DP-005 has to borrow or derive the key. The fix in each case is to add a reference attribute. Each gap has a proposed resolution and a decision owner in the gap register, in most cases the Head of Strategic Partnerships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used in four ways. First, it is the target that every source is mapped to: the contract repository, the partner payments engine, partner shelf and research reports, and transfer agent dealer files. Which systems those are at this firm is still an open question, and source mapping is Phase D. Second, it is the bill of materials for data products: each product lists the exact attributes it uses, and the build fails if one does not exist. Third, agreement, payment arrangement, partner program, shelf placement and research rating are published once as shared dimensions in the semantic layer. Fourth, the ownership flags, the 83 proposed critical data elements and the funding source on every arrangement tell stewards where to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owns one foundational product, DP-005, Distribution Agreements &amp; Shelf Status. It is the register of agreements with each intermediary and platform, joined to the shelf status of every product and share class at each partner. Every one of its 103 attributes comes from this domain, drawn from 15 of the 36 objects. It refreshes daily by 7am Eastern and keeps history from 2015. Because it holds commercial terms it is classified as restricted. 32 other products name it as a direct upstream, and 88 of the other 95 depend on it directly or indirectly. That reach is why its quality rules matter: for example, no overlapping status periods for the same 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of the 96 specified data products list this domain's objects among their inputs: 2 foundational and 24 consumer-aligned. Every one of the 36 objects is used by at least one product, and 243 of the 262 attributes, 93 percent, appear in a product specification. Shelf Placement is by far the most used object, read by 13 products, followed by Payment Arrangement with 8 and Distribution Agreement with 8. Analytical products are the largest group with 10, then operational and regulatory products with 7 each. The pattern is that sales and product teams need shelf status, while finance and compliance need the payment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data products have this domain as their owning domain. DP-005 is the foundational product. The other five are consumer-aligned. The National Account Partner Scorecard shows whether each partnership earns its cost. Platform Shelf and Placement Coverage shows where each product can be sold and how fast new share classes reach the shelf. Model Portfolio and SMA Placement and Flows does the same for model delivery. Revenue Sharing and Inducement Disclosure checks that every disclosure matches the payments actually made. Partner Contract Obligations and SLAs shows which commitments are being missed. The bar on the right shows how many of each product's input attributes come from this domain. The rest come from other domains, for example flows and AUM from Sales Transactions &amp; AUM Attribution.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further 20 products are owned by other domains but read this domain's attributes directly. They are grouped here by the business function they serve. Most take only a handful of attributes, usually the shelf placement status at a firm. The two heavy users are in finance and compliance. Intermediary Payments and Revenue-Sharing Accruals, DP-034, takes 71 attributes: it is the payment engine's view of arrangements, rates, calculations, invoices and payments. Inducement and Retrocession Monitoring, DP-065, takes 34. Beyond these, 63 more products take agreements and shelf status only through DP-005, without reading the domain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follow one attribute. Placement Status is defined once in this domain, in the Shelf Placement object, as a coded status with effective dates: for example proposed, approved, on watch or removed. DP-005 publishes one status per partner, platform, share class and list type, and checks that status periods never overlap. DP-021, Platform Shelf and Placement Coverage, turns those records into Shelf Coverage percent: approved placements divided by the placements the partner's agreements cover. The semantic model SM-03, Partners and Platforms, publishes the status and the metric. The same definition then answers the national account manager's question. All 13 products that read Shelf Placement take this attribute. Note the boundary: the partner firm and the share class are mastered in other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shape the domain and are still open. The first is whether the transfer agent dealer number belongs here or with the party identifiers in Client &amp; Customer, which depends on whether the transfer agent assigns one number per firm. The second is who owns the firm's normalized shelf status and research rating scale; the recommendation is National Accounts. The third is which domain owns the fund advisory agreement, so that this domain stays distribution-only. The fourth is whether a sponsor program is a partner program record. The next steps on the right come from the taxonomy's own plan: validate with the business, pilot the top 20 partners' agreements, agree the boundaries, confirm the DTCC and EMT details, and decide the open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rtlCol="0"/>
          <a:lstStyle>
            <a:lvl1pPr indent="0" marL="0">
              <a:buNone/>
              <a:defRPr lang="en-US" sz="1200" b="1" spc="15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035040"/>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Distribution Data Taxonomy Program  |  Draft, October 2026  |  Counts are taken from the current drafts</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Distribution Agreements &amp; Partners taxonomy walkthrough  |  Draft,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DATA DOMAIN  |  DISTRIBUTION AGREEMENTS &amp; PARTNERS</a:t>
            </a: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lIns="0" tIns="0" rIns="0" bIns="0" rtlCol="0" anchor="t"/>
          <a:lstStyle/>
          <a:p>
            <a:pPr algn="l" indent="0" marL="0">
              <a:buNone/>
            </a:pPr>
            <a:r>
              <a:rPr lang="en-US" sz="3600" b="1" dirty="0">
                <a:solidFill>
                  <a:schemeClr val="bg1"/>
                </a:solidFill>
              </a:rPr>
              <a:t>The Distribution Agreements &amp; Partners taxonomy: a walkthrough</a:t>
            </a: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lIns="0" tIns="0" rIns="0" bIns="0" rtlCol="0" anchor="t"/>
          <a:lstStyle/>
          <a:p>
            <a:pPr indent="0" marL="0">
              <a:buNone/>
            </a:pPr>
            <a:r>
              <a:rPr lang="en-US" sz="1800" dirty="0">
                <a:solidFill>
                  <a:schemeClr val="bg1"/>
                </a:solidFill>
              </a:rPr>
              <a:t>What the domain includes, what it leaves out, how it is used, and the data products it helps define</a:t>
            </a:r>
            <a:endParaRPr lang="en-US" sz="1800" dirty="0"/>
          </a:p>
        </p:txBody>
      </p:sp>
      <p:sp>
        <p:nvSpPr>
          <p:cNvPr id="5" name="Shape 3"/>
          <p:cNvSpPr/>
          <p:nvPr/>
        </p:nvSpPr>
        <p:spPr>
          <a:xfrm>
            <a:off x="8138160" y="1554480"/>
            <a:ext cx="3291840" cy="960120"/>
          </a:xfrm>
          <a:prstGeom prst="roundRect">
            <a:avLst>
              <a:gd name="adj" fmla="val 7619"/>
            </a:avLst>
          </a:prstGeom>
          <a:solidFill>
            <a:schemeClr val="accent1"/>
          </a:solidFill>
          <a:ln/>
        </p:spPr>
      </p:sp>
      <p:sp>
        <p:nvSpPr>
          <p:cNvPr id="6" name="Text 4"/>
          <p:cNvSpPr txBox="1"/>
          <p:nvPr/>
        </p:nvSpPr>
        <p:spPr>
          <a:xfrm>
            <a:off x="8412480" y="17190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Agreement</a:t>
            </a:r>
            <a:endParaRPr lang="en-US" sz="1800" dirty="0"/>
          </a:p>
        </p:txBody>
      </p:sp>
      <p:sp>
        <p:nvSpPr>
          <p:cNvPr id="7" name="Text 5"/>
          <p:cNvSpPr txBox="1"/>
          <p:nvPr/>
        </p:nvSpPr>
        <p:spPr>
          <a:xfrm>
            <a:off x="8412480" y="20665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The contract and its scope</a:t>
            </a:r>
            <a:endParaRPr lang="en-US" sz="1300" dirty="0"/>
          </a:p>
        </p:txBody>
      </p:sp>
      <p:sp>
        <p:nvSpPr>
          <p:cNvPr id="8" name="Shape 6"/>
          <p:cNvSpPr/>
          <p:nvPr/>
        </p:nvSpPr>
        <p:spPr>
          <a:xfrm>
            <a:off x="9784080" y="2514600"/>
            <a:ext cx="0" cy="411480"/>
          </a:xfrm>
          <a:prstGeom prst="line">
            <a:avLst/>
          </a:prstGeom>
          <a:noFill/>
          <a:ln w="19050">
            <a:solidFill>
              <a:schemeClr val="accent6"/>
            </a:solidFill>
            <a:prstDash val="solid"/>
            <a:tailEnd type="triangle"/>
          </a:ln>
        </p:spPr>
      </p:sp>
      <p:sp>
        <p:nvSpPr>
          <p:cNvPr id="9" name="Shape 7"/>
          <p:cNvSpPr/>
          <p:nvPr/>
        </p:nvSpPr>
        <p:spPr>
          <a:xfrm>
            <a:off x="8138160" y="2926080"/>
            <a:ext cx="3291840" cy="960120"/>
          </a:xfrm>
          <a:prstGeom prst="roundRect">
            <a:avLst>
              <a:gd name="adj" fmla="val 7619"/>
            </a:avLst>
          </a:prstGeom>
          <a:solidFill>
            <a:schemeClr val="accent2"/>
          </a:solidFill>
          <a:ln/>
        </p:spPr>
      </p:sp>
      <p:sp>
        <p:nvSpPr>
          <p:cNvPr id="10" name="Text 8"/>
          <p:cNvSpPr txBox="1"/>
          <p:nvPr/>
        </p:nvSpPr>
        <p:spPr>
          <a:xfrm>
            <a:off x="8412480" y="30906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Payment Arrangement</a:t>
            </a:r>
            <a:endParaRPr lang="en-US" sz="1800" dirty="0"/>
          </a:p>
        </p:txBody>
      </p:sp>
      <p:sp>
        <p:nvSpPr>
          <p:cNvPr id="11" name="Text 9"/>
          <p:cNvSpPr txBox="1"/>
          <p:nvPr/>
        </p:nvSpPr>
        <p:spPr>
          <a:xfrm>
            <a:off x="8412480" y="34381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is paid, and from where</a:t>
            </a:r>
            <a:endParaRPr lang="en-US" sz="1300" dirty="0"/>
          </a:p>
        </p:txBody>
      </p:sp>
      <p:sp>
        <p:nvSpPr>
          <p:cNvPr id="12" name="Shape 10"/>
          <p:cNvSpPr/>
          <p:nvPr/>
        </p:nvSpPr>
        <p:spPr>
          <a:xfrm>
            <a:off x="9784080" y="3886200"/>
            <a:ext cx="0" cy="411480"/>
          </a:xfrm>
          <a:prstGeom prst="line">
            <a:avLst/>
          </a:prstGeom>
          <a:noFill/>
          <a:ln w="19050">
            <a:solidFill>
              <a:schemeClr val="accent6"/>
            </a:solidFill>
            <a:prstDash val="solid"/>
            <a:tailEnd type="triangle"/>
          </a:ln>
        </p:spPr>
      </p:sp>
      <p:sp>
        <p:nvSpPr>
          <p:cNvPr id="13" name="Shape 11"/>
          <p:cNvSpPr/>
          <p:nvPr/>
        </p:nvSpPr>
        <p:spPr>
          <a:xfrm>
            <a:off x="8138160" y="4297680"/>
            <a:ext cx="3291840" cy="960120"/>
          </a:xfrm>
          <a:prstGeom prst="roundRect">
            <a:avLst>
              <a:gd name="adj" fmla="val 7619"/>
            </a:avLst>
          </a:prstGeom>
          <a:solidFill>
            <a:schemeClr val="accent4"/>
          </a:solidFill>
          <a:ln/>
        </p:spPr>
      </p:sp>
      <p:sp>
        <p:nvSpPr>
          <p:cNvPr id="14" name="Text 12"/>
          <p:cNvSpPr txBox="1"/>
          <p:nvPr/>
        </p:nvSpPr>
        <p:spPr>
          <a:xfrm>
            <a:off x="8412480" y="44622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Shelf Placement</a:t>
            </a:r>
            <a:endParaRPr lang="en-US" sz="1800" dirty="0"/>
          </a:p>
        </p:txBody>
      </p:sp>
      <p:sp>
        <p:nvSpPr>
          <p:cNvPr id="15" name="Text 13"/>
          <p:cNvSpPr txBox="1"/>
          <p:nvPr/>
        </p:nvSpPr>
        <p:spPr>
          <a:xfrm>
            <a:off x="8412480" y="48097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Where each product is approved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This domain defines partner agreements, once</a:t>
            </a:r>
            <a:endParaRPr lang="en-US" sz="3600" dirty="0"/>
          </a:p>
        </p:txBody>
      </p:sp>
      <p:sp>
        <p:nvSpPr>
          <p:cNvPr id="5" name="Shape 2"/>
          <p:cNvSpPr/>
          <p:nvPr/>
        </p:nvSpPr>
        <p:spPr>
          <a:xfrm>
            <a:off x="548640" y="1783080"/>
            <a:ext cx="2651760" cy="4434840"/>
          </a:xfrm>
          <a:prstGeom prst="roundRect">
            <a:avLst>
              <a:gd name="adj" fmla="val 2759"/>
            </a:avLst>
          </a:prstGeom>
          <a:solidFill>
            <a:schemeClr val="tx1"/>
          </a:solidFill>
          <a:ln/>
        </p:spPr>
      </p:sp>
      <p:sp>
        <p:nvSpPr>
          <p:cNvPr id="6" name="Text 3"/>
          <p:cNvSpPr txBox="1"/>
          <p:nvPr/>
        </p:nvSpPr>
        <p:spPr>
          <a:xfrm>
            <a:off x="822960" y="2011680"/>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9</a:t>
            </a:r>
            <a:endParaRPr lang="en-US" sz="3600" dirty="0"/>
          </a:p>
        </p:txBody>
      </p:sp>
      <p:sp>
        <p:nvSpPr>
          <p:cNvPr id="7" name="Text 4"/>
          <p:cNvSpPr txBox="1"/>
          <p:nvPr/>
        </p:nvSpPr>
        <p:spPr>
          <a:xfrm>
            <a:off x="822960" y="2560320"/>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data families</a:t>
            </a:r>
            <a:endParaRPr lang="en-US" sz="1300" dirty="0"/>
          </a:p>
        </p:txBody>
      </p:sp>
      <p:sp>
        <p:nvSpPr>
          <p:cNvPr id="8" name="Text 5"/>
          <p:cNvSpPr txBox="1"/>
          <p:nvPr/>
        </p:nvSpPr>
        <p:spPr>
          <a:xfrm>
            <a:off x="822960" y="3044952"/>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36</a:t>
            </a:r>
            <a:endParaRPr lang="en-US" sz="3600" dirty="0"/>
          </a:p>
        </p:txBody>
      </p:sp>
      <p:sp>
        <p:nvSpPr>
          <p:cNvPr id="9" name="Text 6"/>
          <p:cNvSpPr txBox="1"/>
          <p:nvPr/>
        </p:nvSpPr>
        <p:spPr>
          <a:xfrm>
            <a:off x="822960" y="3593592"/>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objects</a:t>
            </a:r>
            <a:endParaRPr lang="en-US" sz="1300" dirty="0"/>
          </a:p>
        </p:txBody>
      </p:sp>
      <p:sp>
        <p:nvSpPr>
          <p:cNvPr id="10" name="Text 7"/>
          <p:cNvSpPr txBox="1"/>
          <p:nvPr/>
        </p:nvSpPr>
        <p:spPr>
          <a:xfrm>
            <a:off x="822960" y="4078224"/>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262</a:t>
            </a:r>
            <a:endParaRPr lang="en-US" sz="3600" dirty="0"/>
          </a:p>
        </p:txBody>
      </p:sp>
      <p:sp>
        <p:nvSpPr>
          <p:cNvPr id="11" name="Text 8"/>
          <p:cNvSpPr txBox="1"/>
          <p:nvPr/>
        </p:nvSpPr>
        <p:spPr>
          <a:xfrm>
            <a:off x="822960" y="4626864"/>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attributes</a:t>
            </a:r>
            <a:endParaRPr lang="en-US" sz="1300" dirty="0"/>
          </a:p>
        </p:txBody>
      </p:sp>
      <p:sp>
        <p:nvSpPr>
          <p:cNvPr id="12" name="Text 9"/>
          <p:cNvSpPr txBox="1"/>
          <p:nvPr/>
        </p:nvSpPr>
        <p:spPr>
          <a:xfrm>
            <a:off x="822960" y="5111496"/>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83</a:t>
            </a:r>
            <a:endParaRPr lang="en-US" sz="3600" dirty="0"/>
          </a:p>
        </p:txBody>
      </p:sp>
      <p:sp>
        <p:nvSpPr>
          <p:cNvPr id="13" name="Text 10"/>
          <p:cNvSpPr txBox="1"/>
          <p:nvPr/>
        </p:nvSpPr>
        <p:spPr>
          <a:xfrm>
            <a:off x="822960" y="5660136"/>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proposed critical data elements</a:t>
            </a:r>
            <a:endParaRPr lang="en-US" sz="1300" dirty="0"/>
          </a:p>
        </p:txBody>
      </p:sp>
      <p:sp>
        <p:nvSpPr>
          <p:cNvPr id="14" name="Shape 11"/>
          <p:cNvSpPr/>
          <p:nvPr/>
        </p:nvSpPr>
        <p:spPr>
          <a:xfrm>
            <a:off x="3474720" y="1783080"/>
            <a:ext cx="3945636" cy="2080260"/>
          </a:xfrm>
          <a:prstGeom prst="roundRect">
            <a:avLst>
              <a:gd name="adj" fmla="val 3516"/>
            </a:avLst>
          </a:prstGeom>
          <a:solidFill>
            <a:schemeClr val="bg2"/>
          </a:solidFill>
          <a:ln/>
        </p:spPr>
      </p:sp>
      <p:sp>
        <p:nvSpPr>
          <p:cNvPr id="15" name="Text 12"/>
          <p:cNvSpPr/>
          <p:nvPr/>
        </p:nvSpPr>
        <p:spPr>
          <a:xfrm>
            <a:off x="3703320" y="20116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3"/>
          <p:cNvSpPr txBox="1"/>
          <p:nvPr/>
        </p:nvSpPr>
        <p:spPr>
          <a:xfrm>
            <a:off x="4224528"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included</a:t>
            </a:r>
            <a:endParaRPr lang="en-US" sz="1600" dirty="0"/>
          </a:p>
        </p:txBody>
      </p:sp>
      <p:sp>
        <p:nvSpPr>
          <p:cNvPr id="17" name="Text 14"/>
          <p:cNvSpPr txBox="1"/>
          <p:nvPr/>
        </p:nvSpPr>
        <p:spPr>
          <a:xfrm>
            <a:off x="3703320"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Agreements with distribution partners and what they cover, the payment arrangements and payment cycle under them, partner programs, shelf status and research ratings, operational setup, disclosures and SLAs.</a:t>
            </a:r>
            <a:endParaRPr lang="en-US" sz="1300" dirty="0"/>
          </a:p>
        </p:txBody>
      </p:sp>
      <p:sp>
        <p:nvSpPr>
          <p:cNvPr id="18" name="Shape 15"/>
          <p:cNvSpPr/>
          <p:nvPr/>
        </p:nvSpPr>
        <p:spPr>
          <a:xfrm>
            <a:off x="7694676" y="1783080"/>
            <a:ext cx="3945636" cy="2080260"/>
          </a:xfrm>
          <a:prstGeom prst="roundRect">
            <a:avLst>
              <a:gd name="adj" fmla="val 3516"/>
            </a:avLst>
          </a:prstGeom>
          <a:solidFill>
            <a:schemeClr val="bg2"/>
          </a:solidFill>
          <a:ln/>
        </p:spPr>
      </p:sp>
      <p:sp>
        <p:nvSpPr>
          <p:cNvPr id="19" name="Text 16"/>
          <p:cNvSpPr/>
          <p:nvPr/>
        </p:nvSpPr>
        <p:spPr>
          <a:xfrm>
            <a:off x="7923276" y="201168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8444484"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excluded</a:t>
            </a:r>
            <a:endParaRPr lang="en-US" sz="1600" dirty="0"/>
          </a:p>
        </p:txBody>
      </p:sp>
      <p:sp>
        <p:nvSpPr>
          <p:cNvPr id="21" name="Text 18"/>
          <p:cNvSpPr txBox="1"/>
          <p:nvPr/>
        </p:nvSpPr>
        <p:spPr>
          <a:xfrm>
            <a:off x="7923276"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The partner firms themselves, products and share classes, transactions and AUM, wholesaler compensation, and compliance assessments of inducements and distributors. These are referenced by ID.</a:t>
            </a:r>
            <a:endParaRPr lang="en-US" sz="1300" dirty="0"/>
          </a:p>
        </p:txBody>
      </p:sp>
      <p:sp>
        <p:nvSpPr>
          <p:cNvPr id="22" name="Shape 19"/>
          <p:cNvSpPr/>
          <p:nvPr/>
        </p:nvSpPr>
        <p:spPr>
          <a:xfrm>
            <a:off x="3474720" y="4137660"/>
            <a:ext cx="3945636" cy="2080260"/>
          </a:xfrm>
          <a:prstGeom prst="roundRect">
            <a:avLst>
              <a:gd name="adj" fmla="val 3516"/>
            </a:avLst>
          </a:prstGeom>
          <a:solidFill>
            <a:schemeClr val="bg2"/>
          </a:solidFill>
          <a:ln/>
        </p:spPr>
      </p:sp>
      <p:sp>
        <p:nvSpPr>
          <p:cNvPr id="23" name="Text 20"/>
          <p:cNvSpPr/>
          <p:nvPr/>
        </p:nvSpPr>
        <p:spPr>
          <a:xfrm>
            <a:off x="3703320" y="43662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1"/>
          <p:cNvSpPr txBox="1"/>
          <p:nvPr/>
        </p:nvSpPr>
        <p:spPr>
          <a:xfrm>
            <a:off x="4224528"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How it is used</a:t>
            </a:r>
            <a:endParaRPr lang="en-US" sz="1600" dirty="0"/>
          </a:p>
        </p:txBody>
      </p:sp>
      <p:sp>
        <p:nvSpPr>
          <p:cNvPr id="25" name="Text 22"/>
          <p:cNvSpPr txBox="1"/>
          <p:nvPr/>
        </p:nvSpPr>
        <p:spPr>
          <a:xfrm>
            <a:off x="3703320"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As the mapping target for contract, payment and shelf sources, the bill of materials for data products, and the agreement, payment arrangement and shelf placement dimensions the semantic models share.</a:t>
            </a:r>
            <a:endParaRPr lang="en-US" sz="1300" dirty="0"/>
          </a:p>
        </p:txBody>
      </p:sp>
      <p:sp>
        <p:nvSpPr>
          <p:cNvPr id="26" name="Shape 23"/>
          <p:cNvSpPr/>
          <p:nvPr/>
        </p:nvSpPr>
        <p:spPr>
          <a:xfrm>
            <a:off x="7694676" y="4137660"/>
            <a:ext cx="3945636" cy="2080260"/>
          </a:xfrm>
          <a:prstGeom prst="roundRect">
            <a:avLst>
              <a:gd name="adj" fmla="val 3516"/>
            </a:avLst>
          </a:prstGeom>
          <a:solidFill>
            <a:schemeClr val="bg2"/>
          </a:solidFill>
          <a:ln/>
        </p:spPr>
      </p:sp>
      <p:sp>
        <p:nvSpPr>
          <p:cNvPr id="27" name="Text 24"/>
          <p:cNvSpPr/>
          <p:nvPr/>
        </p:nvSpPr>
        <p:spPr>
          <a:xfrm>
            <a:off x="7923276" y="436626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8444484"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it helps define</a:t>
            </a:r>
            <a:endParaRPr lang="en-US" sz="1600" dirty="0"/>
          </a:p>
        </p:txBody>
      </p:sp>
      <p:sp>
        <p:nvSpPr>
          <p:cNvPr id="29" name="Text 26"/>
          <p:cNvSpPr txBox="1"/>
          <p:nvPr/>
        </p:nvSpPr>
        <p:spPr>
          <a:xfrm>
            <a:off x="7923276"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26 of the 96 data products read it directly. 88 of the other 95 depend on its foundational product, DP-005, directly or indirectly.</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WHERE THE DOMAIN SITS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of 16 data domains, four levels deep</a:t>
            </a:r>
            <a:endParaRPr lang="en-US" sz="3600" dirty="0"/>
          </a:p>
        </p:txBody>
      </p:sp>
      <p:sp>
        <p:nvSpPr>
          <p:cNvPr id="5" name="Shape 2"/>
          <p:cNvSpPr/>
          <p:nvPr/>
        </p:nvSpPr>
        <p:spPr>
          <a:xfrm>
            <a:off x="548640" y="1783080"/>
            <a:ext cx="6126480" cy="868680"/>
          </a:xfrm>
          <a:prstGeom prst="roundRect">
            <a:avLst>
              <a:gd name="adj" fmla="val 8421"/>
            </a:avLst>
          </a:prstGeom>
          <a:solidFill>
            <a:schemeClr val="bg2"/>
          </a:solidFill>
          <a:ln/>
        </p:spPr>
      </p:sp>
      <p:sp>
        <p:nvSpPr>
          <p:cNvPr id="6" name="Text 3"/>
          <p:cNvSpPr/>
          <p:nvPr/>
        </p:nvSpPr>
        <p:spPr>
          <a:xfrm>
            <a:off x="731520" y="201168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L1</a:t>
            </a:r>
            <a:endParaRPr lang="en-US" sz="1300" dirty="0"/>
          </a:p>
        </p:txBody>
      </p:sp>
      <p:sp>
        <p:nvSpPr>
          <p:cNvPr id="7" name="Text 4"/>
          <p:cNvSpPr txBox="1"/>
          <p:nvPr/>
        </p:nvSpPr>
        <p:spPr>
          <a:xfrm>
            <a:off x="1463040" y="191109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Domain</a:t>
            </a:r>
            <a:endParaRPr lang="en-US" sz="1600" dirty="0"/>
          </a:p>
        </p:txBody>
      </p:sp>
      <p:sp>
        <p:nvSpPr>
          <p:cNvPr id="8" name="Text 5"/>
          <p:cNvSpPr txBox="1"/>
          <p:nvPr/>
        </p:nvSpPr>
        <p:spPr>
          <a:xfrm>
            <a:off x="1463040" y="224028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 of 16</a:t>
            </a:r>
            <a:endParaRPr lang="en-US" sz="1200" dirty="0"/>
          </a:p>
        </p:txBody>
      </p:sp>
      <p:sp>
        <p:nvSpPr>
          <p:cNvPr id="9" name="Text 6"/>
          <p:cNvSpPr txBox="1"/>
          <p:nvPr/>
        </p:nvSpPr>
        <p:spPr>
          <a:xfrm>
            <a:off x="3474720" y="1911096"/>
            <a:ext cx="3017520" cy="612648"/>
          </a:xfrm>
          <a:prstGeom prst="rect">
            <a:avLst/>
          </a:prstGeom>
          <a:noFill/>
          <a:ln/>
        </p:spPr>
        <p:txBody>
          <a:bodyPr wrap="square" lIns="0" tIns="0" rIns="0" bIns="0" rtlCol="0" anchor="ctr"/>
          <a:lstStyle/>
          <a:p>
            <a:pPr algn="l" indent="0" marL="0">
              <a:buNone/>
            </a:pPr>
            <a:r>
              <a:rPr lang="en-US" sz="1400" b="1" dirty="0">
                <a:solidFill>
                  <a:schemeClr val="accent2"/>
                </a:solidFill>
              </a:rPr>
              <a:t>Distribution Agreements &amp; Partners</a:t>
            </a:r>
            <a:endParaRPr lang="en-US" sz="1400" dirty="0"/>
          </a:p>
        </p:txBody>
      </p:sp>
      <p:sp>
        <p:nvSpPr>
          <p:cNvPr id="10" name="Shape 7"/>
          <p:cNvSpPr/>
          <p:nvPr/>
        </p:nvSpPr>
        <p:spPr>
          <a:xfrm>
            <a:off x="822960" y="2788920"/>
            <a:ext cx="5852160" cy="868680"/>
          </a:xfrm>
          <a:prstGeom prst="roundRect">
            <a:avLst>
              <a:gd name="adj" fmla="val 8421"/>
            </a:avLst>
          </a:prstGeom>
          <a:solidFill>
            <a:schemeClr val="bg2"/>
          </a:solidFill>
          <a:ln/>
        </p:spPr>
      </p:sp>
      <p:sp>
        <p:nvSpPr>
          <p:cNvPr id="11" name="Text 8"/>
          <p:cNvSpPr/>
          <p:nvPr/>
        </p:nvSpPr>
        <p:spPr>
          <a:xfrm>
            <a:off x="1005840" y="301752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L2</a:t>
            </a:r>
            <a:endParaRPr lang="en-US" sz="1300" dirty="0"/>
          </a:p>
        </p:txBody>
      </p:sp>
      <p:sp>
        <p:nvSpPr>
          <p:cNvPr id="12" name="Text 9"/>
          <p:cNvSpPr txBox="1"/>
          <p:nvPr/>
        </p:nvSpPr>
        <p:spPr>
          <a:xfrm>
            <a:off x="1737360" y="291693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Family</a:t>
            </a:r>
            <a:endParaRPr lang="en-US" sz="1600" dirty="0"/>
          </a:p>
        </p:txBody>
      </p:sp>
      <p:sp>
        <p:nvSpPr>
          <p:cNvPr id="13" name="Text 10"/>
          <p:cNvSpPr txBox="1"/>
          <p:nvPr/>
        </p:nvSpPr>
        <p:spPr>
          <a:xfrm>
            <a:off x="1737360" y="324612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9 families</a:t>
            </a:r>
            <a:endParaRPr lang="en-US" sz="1200" dirty="0"/>
          </a:p>
        </p:txBody>
      </p:sp>
      <p:sp>
        <p:nvSpPr>
          <p:cNvPr id="14" name="Text 11"/>
          <p:cNvSpPr txBox="1"/>
          <p:nvPr/>
        </p:nvSpPr>
        <p:spPr>
          <a:xfrm>
            <a:off x="3749040" y="2916936"/>
            <a:ext cx="2743200" cy="612648"/>
          </a:xfrm>
          <a:prstGeom prst="rect">
            <a:avLst/>
          </a:prstGeom>
          <a:noFill/>
          <a:ln/>
        </p:spPr>
        <p:txBody>
          <a:bodyPr wrap="square" lIns="0" tIns="0" rIns="0" bIns="0" rtlCol="0" anchor="ctr"/>
          <a:lstStyle/>
          <a:p>
            <a:pPr algn="l" indent="0" marL="0">
              <a:buNone/>
            </a:pPr>
            <a:r>
              <a:rPr lang="en-US" sz="1400" b="1" dirty="0">
                <a:solidFill>
                  <a:schemeClr val="accent2"/>
                </a:solidFill>
              </a:rPr>
              <a:t>Product Shelf &amp; Availability</a:t>
            </a:r>
            <a:endParaRPr lang="en-US" sz="1400" dirty="0"/>
          </a:p>
        </p:txBody>
      </p:sp>
      <p:sp>
        <p:nvSpPr>
          <p:cNvPr id="15" name="Shape 12"/>
          <p:cNvSpPr/>
          <p:nvPr/>
        </p:nvSpPr>
        <p:spPr>
          <a:xfrm>
            <a:off x="1097280" y="3794760"/>
            <a:ext cx="5577840" cy="868680"/>
          </a:xfrm>
          <a:prstGeom prst="roundRect">
            <a:avLst>
              <a:gd name="adj" fmla="val 8421"/>
            </a:avLst>
          </a:prstGeom>
          <a:solidFill>
            <a:schemeClr val="bg2"/>
          </a:solidFill>
          <a:ln/>
        </p:spPr>
      </p:sp>
      <p:sp>
        <p:nvSpPr>
          <p:cNvPr id="16" name="Text 13"/>
          <p:cNvSpPr/>
          <p:nvPr/>
        </p:nvSpPr>
        <p:spPr>
          <a:xfrm>
            <a:off x="1280160" y="402336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L3</a:t>
            </a:r>
            <a:endParaRPr lang="en-US" sz="1300" dirty="0"/>
          </a:p>
        </p:txBody>
      </p:sp>
      <p:sp>
        <p:nvSpPr>
          <p:cNvPr id="17" name="Text 14"/>
          <p:cNvSpPr txBox="1"/>
          <p:nvPr/>
        </p:nvSpPr>
        <p:spPr>
          <a:xfrm>
            <a:off x="2011680" y="392277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Business Object</a:t>
            </a:r>
            <a:endParaRPr lang="en-US" sz="1600" dirty="0"/>
          </a:p>
        </p:txBody>
      </p:sp>
      <p:sp>
        <p:nvSpPr>
          <p:cNvPr id="18" name="Text 15"/>
          <p:cNvSpPr txBox="1"/>
          <p:nvPr/>
        </p:nvSpPr>
        <p:spPr>
          <a:xfrm>
            <a:off x="2011680" y="425196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36 objects</a:t>
            </a:r>
            <a:endParaRPr lang="en-US" sz="1200" dirty="0"/>
          </a:p>
        </p:txBody>
      </p:sp>
      <p:sp>
        <p:nvSpPr>
          <p:cNvPr id="19" name="Text 16"/>
          <p:cNvSpPr txBox="1"/>
          <p:nvPr/>
        </p:nvSpPr>
        <p:spPr>
          <a:xfrm>
            <a:off x="4023360" y="3922776"/>
            <a:ext cx="2468880" cy="612648"/>
          </a:xfrm>
          <a:prstGeom prst="rect">
            <a:avLst/>
          </a:prstGeom>
          <a:noFill/>
          <a:ln/>
        </p:spPr>
        <p:txBody>
          <a:bodyPr wrap="square" lIns="0" tIns="0" rIns="0" bIns="0" rtlCol="0" anchor="ctr"/>
          <a:lstStyle/>
          <a:p>
            <a:pPr algn="l" indent="0" marL="0">
              <a:buNone/>
            </a:pPr>
            <a:r>
              <a:rPr lang="en-US" sz="1400" b="1" dirty="0">
                <a:solidFill>
                  <a:schemeClr val="accent2"/>
                </a:solidFill>
              </a:rPr>
              <a:t>Shelf Placement</a:t>
            </a:r>
            <a:endParaRPr lang="en-US" sz="1400" dirty="0"/>
          </a:p>
        </p:txBody>
      </p:sp>
      <p:sp>
        <p:nvSpPr>
          <p:cNvPr id="20" name="Shape 17"/>
          <p:cNvSpPr/>
          <p:nvPr/>
        </p:nvSpPr>
        <p:spPr>
          <a:xfrm>
            <a:off x="1371600" y="4800600"/>
            <a:ext cx="5303520" cy="868680"/>
          </a:xfrm>
          <a:prstGeom prst="roundRect">
            <a:avLst>
              <a:gd name="adj" fmla="val 8421"/>
            </a:avLst>
          </a:prstGeom>
          <a:solidFill>
            <a:schemeClr val="bg2"/>
          </a:solidFill>
          <a:ln/>
        </p:spPr>
      </p:sp>
      <p:sp>
        <p:nvSpPr>
          <p:cNvPr id="21" name="Text 18"/>
          <p:cNvSpPr/>
          <p:nvPr/>
        </p:nvSpPr>
        <p:spPr>
          <a:xfrm>
            <a:off x="1554480" y="502920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L4</a:t>
            </a:r>
            <a:endParaRPr lang="en-US" sz="1300" dirty="0"/>
          </a:p>
        </p:txBody>
      </p:sp>
      <p:sp>
        <p:nvSpPr>
          <p:cNvPr id="22" name="Text 19"/>
          <p:cNvSpPr txBox="1"/>
          <p:nvPr/>
        </p:nvSpPr>
        <p:spPr>
          <a:xfrm>
            <a:off x="2286000" y="492861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Attribute</a:t>
            </a:r>
            <a:endParaRPr lang="en-US" sz="1600" dirty="0"/>
          </a:p>
        </p:txBody>
      </p:sp>
      <p:sp>
        <p:nvSpPr>
          <p:cNvPr id="23" name="Text 20"/>
          <p:cNvSpPr txBox="1"/>
          <p:nvPr/>
        </p:nvSpPr>
        <p:spPr>
          <a:xfrm>
            <a:off x="2286000" y="525780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262 attributes</a:t>
            </a:r>
            <a:endParaRPr lang="en-US" sz="1200" dirty="0"/>
          </a:p>
        </p:txBody>
      </p:sp>
      <p:sp>
        <p:nvSpPr>
          <p:cNvPr id="24" name="Text 21"/>
          <p:cNvSpPr txBox="1"/>
          <p:nvPr/>
        </p:nvSpPr>
        <p:spPr>
          <a:xfrm>
            <a:off x="4297680" y="4928616"/>
            <a:ext cx="2194560" cy="612648"/>
          </a:xfrm>
          <a:prstGeom prst="rect">
            <a:avLst/>
          </a:prstGeom>
          <a:noFill/>
          <a:ln/>
        </p:spPr>
        <p:txBody>
          <a:bodyPr wrap="square" lIns="0" tIns="0" rIns="0" bIns="0" rtlCol="0" anchor="ctr"/>
          <a:lstStyle/>
          <a:p>
            <a:pPr algn="l" indent="0" marL="0">
              <a:buNone/>
            </a:pPr>
            <a:r>
              <a:rPr lang="en-US" sz="1400" b="1" dirty="0">
                <a:solidFill>
                  <a:schemeClr val="accent2"/>
                </a:solidFill>
              </a:rPr>
              <a:t>Placement Status</a:t>
            </a:r>
            <a:endParaRPr lang="en-US" sz="1400" dirty="0"/>
          </a:p>
        </p:txBody>
      </p:sp>
      <p:sp>
        <p:nvSpPr>
          <p:cNvPr id="25" name="Text 22"/>
          <p:cNvSpPr txBox="1"/>
          <p:nvPr/>
        </p:nvSpPr>
        <p:spPr>
          <a:xfrm>
            <a:off x="548640" y="5852160"/>
            <a:ext cx="6126480" cy="274320"/>
          </a:xfrm>
          <a:prstGeom prst="rect">
            <a:avLst/>
          </a:prstGeom>
          <a:noFill/>
          <a:ln/>
        </p:spPr>
        <p:txBody>
          <a:bodyPr wrap="square" lIns="0" tIns="0" rIns="0" bIns="0" rtlCol="0" anchor="ctr"/>
          <a:lstStyle/>
          <a:p>
            <a:pPr algn="l" indent="0" marL="0">
              <a:buNone/>
            </a:pPr>
            <a:r>
              <a:rPr lang="en-US" sz="1200" dirty="0">
                <a:solidFill>
                  <a:schemeClr val="accent2"/>
                </a:solidFill>
              </a:rPr>
              <a:t>Purple text: the path to one attribute followed later in this deck</a:t>
            </a:r>
            <a:endParaRPr lang="en-US" sz="1200" dirty="0"/>
          </a:p>
        </p:txBody>
      </p:sp>
      <p:sp>
        <p:nvSpPr>
          <p:cNvPr id="26" name="Text 23"/>
          <p:cNvSpPr txBox="1"/>
          <p:nvPr/>
        </p:nvSpPr>
        <p:spPr>
          <a:xfrm>
            <a:off x="7040880" y="1783080"/>
            <a:ext cx="457200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FOR EVERY ATTRIBUTE, IT RECORDS</a:t>
            </a:r>
            <a:endParaRPr lang="en-US" sz="1200" dirty="0"/>
          </a:p>
        </p:txBody>
      </p:sp>
      <p:sp>
        <p:nvSpPr>
          <p:cNvPr id="27" name="Text 24"/>
          <p:cNvSpPr txBox="1"/>
          <p:nvPr/>
        </p:nvSpPr>
        <p:spPr>
          <a:xfrm>
            <a:off x="7040880" y="2148840"/>
            <a:ext cx="4599432" cy="25146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One definition, with an example value</a:t>
            </a:r>
            <a:endParaRPr lang="en-US" sz="1400" dirty="0"/>
          </a:p>
          <a:p>
            <a:pPr marL="177800" indent="-177800">
              <a:spcAft>
                <a:spcPts val="700"/>
              </a:spcAft>
              <a:buSzPct val="100000"/>
              <a:buChar char="•"/>
            </a:pPr>
            <a:r>
              <a:rPr lang="en-US" sz="1400" dirty="0">
                <a:solidFill>
                  <a:schemeClr val="tx1"/>
                </a:solidFill>
              </a:rPr>
              <a:t>The data type and, where coded, the code list</a:t>
            </a:r>
            <a:endParaRPr lang="en-US" sz="1400" dirty="0"/>
          </a:p>
          <a:p>
            <a:pPr marL="177800" indent="-177800">
              <a:spcAft>
                <a:spcPts val="700"/>
              </a:spcAft>
              <a:buSzPct val="100000"/>
              <a:buChar char="•"/>
            </a:pPr>
            <a:r>
              <a:rPr lang="en-US" sz="1400" dirty="0">
                <a:solidFill>
                  <a:schemeClr val="tx1"/>
                </a:solidFill>
              </a:rPr>
              <a:t>The agreement, arrangement or placement it applies to</a:t>
            </a:r>
            <a:endParaRPr lang="en-US" sz="1400" dirty="0"/>
          </a:p>
          <a:p>
            <a:pPr marL="177800" indent="-177800">
              <a:spcAft>
                <a:spcPts val="700"/>
              </a:spcAft>
              <a:buSzPct val="100000"/>
              <a:buChar char="•"/>
            </a:pPr>
            <a:r>
              <a:rPr lang="en-US" sz="1400" dirty="0">
                <a:solidFill>
                  <a:schemeClr val="tx1"/>
                </a:solidFill>
              </a:rPr>
              <a:t>The standard, regulation or source it aligns to</a:t>
            </a:r>
            <a:endParaRPr lang="en-US" sz="1400" dirty="0"/>
          </a:p>
          <a:p>
            <a:pPr marL="177800" indent="-177800">
              <a:spcAft>
                <a:spcPts val="700"/>
              </a:spcAft>
              <a:buSzPct val="100000"/>
              <a:buChar char="•"/>
            </a:pPr>
            <a:r>
              <a:rPr lang="en-US" sz="1400" dirty="0">
                <a:solidFill>
                  <a:schemeClr val="tx1"/>
                </a:solidFill>
              </a:rPr>
              <a:t>Whether it is a proposed critical data element</a:t>
            </a:r>
            <a:endParaRPr lang="en-US" sz="1400" dirty="0"/>
          </a:p>
          <a:p>
            <a:pPr marL="177800" indent="-177800">
              <a:spcAft>
                <a:spcPts val="700"/>
              </a:spcAft>
              <a:buSzPct val="100000"/>
              <a:buChar char="•"/>
            </a:pPr>
            <a:r>
              <a:rPr lang="en-US" sz="1400" dirty="0">
                <a:solidFill>
                  <a:schemeClr val="tx1"/>
                </a:solidFill>
              </a:rPr>
              <a:t>Whether it is mastered here, referenced or a derived copy</a:t>
            </a:r>
            <a:endParaRPr lang="en-US" sz="1400" dirty="0"/>
          </a:p>
        </p:txBody>
      </p:sp>
      <p:sp>
        <p:nvSpPr>
          <p:cNvPr id="28" name="Shape 25"/>
          <p:cNvSpPr/>
          <p:nvPr/>
        </p:nvSpPr>
        <p:spPr>
          <a:xfrm>
            <a:off x="7040880" y="4800600"/>
            <a:ext cx="4599432" cy="914400"/>
          </a:xfrm>
          <a:prstGeom prst="roundRect">
            <a:avLst>
              <a:gd name="adj" fmla="val 8000"/>
            </a:avLst>
          </a:prstGeom>
          <a:solidFill>
            <a:schemeClr val="bg2"/>
          </a:solidFill>
          <a:ln/>
        </p:spPr>
      </p:sp>
      <p:sp>
        <p:nvSpPr>
          <p:cNvPr id="29" name="Text 26"/>
          <p:cNvSpPr txBox="1"/>
          <p:nvPr/>
        </p:nvSpPr>
        <p:spPr>
          <a:xfrm>
            <a:off x="7269480" y="4800600"/>
            <a:ext cx="4142232" cy="914400"/>
          </a:xfrm>
          <a:prstGeom prst="rect">
            <a:avLst/>
          </a:prstGeom>
          <a:noFill/>
          <a:ln/>
        </p:spPr>
        <p:txBody>
          <a:bodyPr wrap="square" lIns="0" tIns="0" rIns="0" bIns="0" rtlCol="0" anchor="ctr"/>
          <a:lstStyle/>
          <a:p>
            <a:pPr algn="l"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CORE MODEL</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core model: contract, money and shelf</a:t>
            </a:r>
            <a:endParaRPr lang="en-US" sz="3600" dirty="0"/>
          </a:p>
        </p:txBody>
      </p:sp>
      <p:sp>
        <p:nvSpPr>
          <p:cNvPr id="5" name="Text 2"/>
          <p:cNvSpPr txBox="1"/>
          <p:nvPr/>
        </p:nvSpPr>
        <p:spPr>
          <a:xfrm>
            <a:off x="548640" y="1783080"/>
            <a:ext cx="3017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THE CONTRACT</a:t>
            </a:r>
            <a:endParaRPr lang="en-US" sz="1200" dirty="0"/>
          </a:p>
        </p:txBody>
      </p:sp>
      <p:sp>
        <p:nvSpPr>
          <p:cNvPr id="6" name="Text 3"/>
          <p:cNvSpPr txBox="1"/>
          <p:nvPr/>
        </p:nvSpPr>
        <p:spPr>
          <a:xfrm>
            <a:off x="4480560" y="1783080"/>
            <a:ext cx="3291840" cy="256032"/>
          </a:xfrm>
          <a:prstGeom prst="rect">
            <a:avLst/>
          </a:prstGeom>
          <a:noFill/>
          <a:ln/>
        </p:spPr>
        <p:txBody>
          <a:bodyPr wrap="square" lIns="0" tIns="0" rIns="0" bIns="0" rtlCol="0" anchor="ctr"/>
          <a:lstStyle/>
          <a:p>
            <a:pPr algn="l" indent="0" marL="0">
              <a:buNone/>
            </a:pPr>
            <a:r>
              <a:rPr lang="en-US" sz="1200" b="1" spc="150" kern="0" dirty="0">
                <a:solidFill>
                  <a:schemeClr val="accent2"/>
                </a:solidFill>
              </a:rPr>
              <a:t>MONEY, SHELF, OPERATIONS</a:t>
            </a:r>
            <a:endParaRPr lang="en-US" sz="1200" dirty="0"/>
          </a:p>
        </p:txBody>
      </p:sp>
      <p:sp>
        <p:nvSpPr>
          <p:cNvPr id="7" name="Text 4"/>
          <p:cNvSpPr txBox="1"/>
          <p:nvPr/>
        </p:nvSpPr>
        <p:spPr>
          <a:xfrm>
            <a:off x="8686800" y="1783080"/>
            <a:ext cx="2953512" cy="256032"/>
          </a:xfrm>
          <a:prstGeom prst="rect">
            <a:avLst/>
          </a:prstGeom>
          <a:noFill/>
          <a:ln/>
        </p:spPr>
        <p:txBody>
          <a:bodyPr wrap="square" lIns="0" tIns="0" rIns="0" bIns="0" rtlCol="0" anchor="ctr"/>
          <a:lstStyle/>
          <a:p>
            <a:pPr algn="l" indent="0" marL="0">
              <a:buNone/>
            </a:pPr>
            <a:r>
              <a:rPr lang="en-US" sz="1200" b="1" spc="150" kern="0" dirty="0">
                <a:solidFill>
                  <a:schemeClr val="accent4"/>
                </a:solidFill>
              </a:rPr>
              <a:t>THE PAYMENT CYCLE</a:t>
            </a:r>
            <a:endParaRPr lang="en-US" sz="1200" dirty="0"/>
          </a:p>
        </p:txBody>
      </p:sp>
      <p:sp>
        <p:nvSpPr>
          <p:cNvPr id="8" name="Shape 5"/>
          <p:cNvSpPr/>
          <p:nvPr/>
        </p:nvSpPr>
        <p:spPr>
          <a:xfrm>
            <a:off x="548640" y="2788920"/>
            <a:ext cx="3017520" cy="914400"/>
          </a:xfrm>
          <a:prstGeom prst="roundRect">
            <a:avLst>
              <a:gd name="adj" fmla="val 8000"/>
            </a:avLst>
          </a:prstGeom>
          <a:solidFill>
            <a:schemeClr val="accent1"/>
          </a:solidFill>
          <a:ln/>
        </p:spPr>
      </p:sp>
      <p:sp>
        <p:nvSpPr>
          <p:cNvPr id="9" name="Text 6"/>
          <p:cNvSpPr txBox="1"/>
          <p:nvPr/>
        </p:nvSpPr>
        <p:spPr>
          <a:xfrm>
            <a:off x="777240" y="2880360"/>
            <a:ext cx="2560320" cy="365760"/>
          </a:xfrm>
          <a:prstGeom prst="rect">
            <a:avLst/>
          </a:prstGeom>
          <a:noFill/>
          <a:ln/>
        </p:spPr>
        <p:txBody>
          <a:bodyPr wrap="square" lIns="0" tIns="0" rIns="0" bIns="0" rtlCol="0" anchor="ctr"/>
          <a:lstStyle/>
          <a:p>
            <a:pPr algn="l" indent="0" marL="0">
              <a:buNone/>
            </a:pPr>
            <a:r>
              <a:rPr lang="en-US" sz="1600" b="1" dirty="0">
                <a:solidFill>
                  <a:schemeClr val="bg1"/>
                </a:solidFill>
              </a:rPr>
              <a:t>Distribution Agreement</a:t>
            </a:r>
            <a:endParaRPr lang="en-US" sz="1600" dirty="0"/>
          </a:p>
        </p:txBody>
      </p:sp>
      <p:sp>
        <p:nvSpPr>
          <p:cNvPr id="10" name="Text 7"/>
          <p:cNvSpPr txBox="1"/>
          <p:nvPr/>
        </p:nvSpPr>
        <p:spPr>
          <a:xfrm>
            <a:off x="777240" y="3246120"/>
            <a:ext cx="2560320" cy="274320"/>
          </a:xfrm>
          <a:prstGeom prst="rect">
            <a:avLst/>
          </a:prstGeom>
          <a:noFill/>
          <a:ln/>
        </p:spPr>
        <p:txBody>
          <a:bodyPr wrap="square" lIns="0" tIns="0" rIns="0" bIns="0" rtlCol="0" anchor="ctr"/>
          <a:lstStyle/>
          <a:p>
            <a:pPr algn="l" indent="0" marL="0">
              <a:buNone/>
            </a:pPr>
            <a:r>
              <a:rPr lang="en-US" sz="1200" dirty="0">
                <a:solidFill>
                  <a:schemeClr val="bg1"/>
                </a:solidFill>
              </a:rPr>
              <a:t>Contract with a partner, keyed AGR-</a:t>
            </a:r>
            <a:endParaRPr lang="en-US" sz="1200" dirty="0"/>
          </a:p>
        </p:txBody>
      </p:sp>
      <p:sp>
        <p:nvSpPr>
          <p:cNvPr id="11" name="Shape 8"/>
          <p:cNvSpPr/>
          <p:nvPr/>
        </p:nvSpPr>
        <p:spPr>
          <a:xfrm>
            <a:off x="2057400" y="3703320"/>
            <a:ext cx="0" cy="457200"/>
          </a:xfrm>
          <a:prstGeom prst="line">
            <a:avLst/>
          </a:prstGeom>
          <a:noFill/>
          <a:ln w="19050">
            <a:solidFill>
              <a:schemeClr val="tx2"/>
            </a:solidFill>
            <a:prstDash val="solid"/>
            <a:tailEnd type="triangle"/>
          </a:ln>
        </p:spPr>
      </p:sp>
      <p:sp>
        <p:nvSpPr>
          <p:cNvPr id="12" name="Shape 9"/>
          <p:cNvSpPr/>
          <p:nvPr/>
        </p:nvSpPr>
        <p:spPr>
          <a:xfrm>
            <a:off x="548640" y="4160520"/>
            <a:ext cx="3017520" cy="822960"/>
          </a:xfrm>
          <a:prstGeom prst="roundRect">
            <a:avLst>
              <a:gd name="adj" fmla="val 8889"/>
            </a:avLst>
          </a:prstGeom>
          <a:solidFill>
            <a:schemeClr val="bg2"/>
          </a:solidFill>
          <a:ln/>
        </p:spPr>
      </p:sp>
      <p:sp>
        <p:nvSpPr>
          <p:cNvPr id="13" name="Text 10"/>
          <p:cNvSpPr txBox="1"/>
          <p:nvPr/>
        </p:nvSpPr>
        <p:spPr>
          <a:xfrm>
            <a:off x="777240" y="4224528"/>
            <a:ext cx="2560320" cy="329184"/>
          </a:xfrm>
          <a:prstGeom prst="rect">
            <a:avLst/>
          </a:prstGeom>
          <a:noFill/>
          <a:ln/>
        </p:spPr>
        <p:txBody>
          <a:bodyPr wrap="square" lIns="0" tIns="0" rIns="0" bIns="0" rtlCol="0" anchor="ctr"/>
          <a:lstStyle/>
          <a:p>
            <a:pPr algn="l" indent="0" marL="0">
              <a:buNone/>
            </a:pPr>
            <a:r>
              <a:rPr lang="en-US" sz="1400" b="1" dirty="0">
                <a:solidFill>
                  <a:schemeClr val="tx1"/>
                </a:solidFill>
              </a:rPr>
              <a:t>Agreement Scope</a:t>
            </a:r>
            <a:endParaRPr lang="en-US" sz="1400" dirty="0"/>
          </a:p>
        </p:txBody>
      </p:sp>
      <p:sp>
        <p:nvSpPr>
          <p:cNvPr id="14" name="Text 11"/>
          <p:cNvSpPr txBox="1"/>
          <p:nvPr/>
        </p:nvSpPr>
        <p:spPr>
          <a:xfrm>
            <a:off x="777240" y="4553712"/>
            <a:ext cx="2560320" cy="274320"/>
          </a:xfrm>
          <a:prstGeom prst="rect">
            <a:avLst/>
          </a:prstGeom>
          <a:noFill/>
          <a:ln/>
        </p:spPr>
        <p:txBody>
          <a:bodyPr wrap="square" lIns="0" tIns="0" rIns="0" bIns="0" rtlCol="0" anchor="ctr"/>
          <a:lstStyle/>
          <a:p>
            <a:pPr algn="l" indent="0" marL="0">
              <a:buNone/>
            </a:pPr>
            <a:r>
              <a:rPr lang="en-US" sz="1200" dirty="0">
                <a:solidFill>
                  <a:schemeClr val="tx2"/>
                </a:solidFill>
              </a:rPr>
              <a:t>Products, jurisdictions and channels covered</a:t>
            </a:r>
            <a:endParaRPr lang="en-US" sz="1200" dirty="0"/>
          </a:p>
        </p:txBody>
      </p:sp>
      <p:sp>
        <p:nvSpPr>
          <p:cNvPr id="15" name="Text 12"/>
          <p:cNvSpPr txBox="1"/>
          <p:nvPr/>
        </p:nvSpPr>
        <p:spPr>
          <a:xfrm>
            <a:off x="548640" y="2194560"/>
            <a:ext cx="3017520" cy="457200"/>
          </a:xfrm>
          <a:prstGeom prst="rect">
            <a:avLst/>
          </a:prstGeom>
          <a:noFill/>
          <a:ln/>
        </p:spPr>
        <p:txBody>
          <a:bodyPr wrap="square" lIns="0" tIns="0" rIns="0" bIns="0" rtlCol="0" anchor="ctr"/>
          <a:lstStyle/>
          <a:p>
            <a:pPr algn="l" indent="0" marL="0">
              <a:buNone/>
            </a:pPr>
            <a:r>
              <a:rPr lang="en-US" sz="1200" dirty="0">
                <a:solidFill>
                  <a:schemeClr val="tx2"/>
                </a:solidFill>
              </a:rPr>
              <a:t>One record for each agreement, with its parties, term and amendments</a:t>
            </a:r>
            <a:endParaRPr lang="en-US" sz="1200" dirty="0"/>
          </a:p>
        </p:txBody>
      </p:sp>
      <p:sp>
        <p:nvSpPr>
          <p:cNvPr id="16" name="Shape 13"/>
          <p:cNvSpPr/>
          <p:nvPr/>
        </p:nvSpPr>
        <p:spPr>
          <a:xfrm>
            <a:off x="4480560" y="2240280"/>
            <a:ext cx="3291840" cy="822960"/>
          </a:xfrm>
          <a:prstGeom prst="roundRect">
            <a:avLst>
              <a:gd name="adj" fmla="val 8889"/>
            </a:avLst>
          </a:prstGeom>
          <a:solidFill>
            <a:schemeClr val="accent2"/>
          </a:solidFill>
          <a:ln/>
        </p:spPr>
      </p:sp>
      <p:sp>
        <p:nvSpPr>
          <p:cNvPr id="17" name="Text 14"/>
          <p:cNvSpPr txBox="1"/>
          <p:nvPr/>
        </p:nvSpPr>
        <p:spPr>
          <a:xfrm>
            <a:off x="4709160" y="2313432"/>
            <a:ext cx="2834640" cy="329184"/>
          </a:xfrm>
          <a:prstGeom prst="rect">
            <a:avLst/>
          </a:prstGeom>
          <a:noFill/>
          <a:ln/>
        </p:spPr>
        <p:txBody>
          <a:bodyPr wrap="square" lIns="0" tIns="0" rIns="0" bIns="0" rtlCol="0" anchor="ctr"/>
          <a:lstStyle/>
          <a:p>
            <a:pPr algn="l" indent="0" marL="0">
              <a:buNone/>
            </a:pPr>
            <a:r>
              <a:rPr lang="en-US" sz="1400" b="1" dirty="0">
                <a:solidFill>
                  <a:schemeClr val="bg1"/>
                </a:solidFill>
              </a:rPr>
              <a:t>Payment Arrangement</a:t>
            </a:r>
            <a:endParaRPr lang="en-US" sz="1400" dirty="0"/>
          </a:p>
        </p:txBody>
      </p:sp>
      <p:sp>
        <p:nvSpPr>
          <p:cNvPr id="18" name="Text 15"/>
          <p:cNvSpPr txBox="1"/>
          <p:nvPr/>
        </p:nvSpPr>
        <p:spPr>
          <a:xfrm>
            <a:off x="4709160" y="2642616"/>
            <a:ext cx="2834640" cy="329184"/>
          </a:xfrm>
          <a:prstGeom prst="rect">
            <a:avLst/>
          </a:prstGeom>
          <a:noFill/>
          <a:ln/>
        </p:spPr>
        <p:txBody>
          <a:bodyPr wrap="square" lIns="0" tIns="0" rIns="0" bIns="0" rtlCol="0" anchor="ctr"/>
          <a:lstStyle/>
          <a:p>
            <a:pPr algn="l" indent="0" marL="0">
              <a:buNone/>
            </a:pPr>
            <a:r>
              <a:rPr lang="en-US" sz="1200" dirty="0">
                <a:solidFill>
                  <a:schemeClr val="bg1"/>
                </a:solidFill>
              </a:rPr>
              <a:t>What is paid, by whom, from which source</a:t>
            </a:r>
            <a:endParaRPr lang="en-US" sz="1200" dirty="0"/>
          </a:p>
        </p:txBody>
      </p:sp>
      <p:sp>
        <p:nvSpPr>
          <p:cNvPr id="19" name="Shape 16"/>
          <p:cNvSpPr/>
          <p:nvPr/>
        </p:nvSpPr>
        <p:spPr>
          <a:xfrm>
            <a:off x="4480560" y="3246120"/>
            <a:ext cx="3291840" cy="822960"/>
          </a:xfrm>
          <a:prstGeom prst="roundRect">
            <a:avLst>
              <a:gd name="adj" fmla="val 8889"/>
            </a:avLst>
          </a:prstGeom>
          <a:solidFill>
            <a:schemeClr val="bg2"/>
          </a:solidFill>
          <a:ln/>
        </p:spPr>
      </p:sp>
      <p:sp>
        <p:nvSpPr>
          <p:cNvPr id="20" name="Text 17"/>
          <p:cNvSpPr txBox="1"/>
          <p:nvPr/>
        </p:nvSpPr>
        <p:spPr>
          <a:xfrm>
            <a:off x="4709160" y="331927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Shelf Placement</a:t>
            </a:r>
            <a:endParaRPr lang="en-US" sz="1400" dirty="0"/>
          </a:p>
        </p:txBody>
      </p:sp>
      <p:sp>
        <p:nvSpPr>
          <p:cNvPr id="21" name="Text 18"/>
          <p:cNvSpPr txBox="1"/>
          <p:nvPr/>
        </p:nvSpPr>
        <p:spPr>
          <a:xfrm>
            <a:off x="4709160" y="364845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Status of a product on a partner's list</a:t>
            </a:r>
            <a:endParaRPr lang="en-US" sz="1200" dirty="0"/>
          </a:p>
        </p:txBody>
      </p:sp>
      <p:sp>
        <p:nvSpPr>
          <p:cNvPr id="22" name="Shape 19"/>
          <p:cNvSpPr/>
          <p:nvPr/>
        </p:nvSpPr>
        <p:spPr>
          <a:xfrm>
            <a:off x="4480560" y="4251960"/>
            <a:ext cx="3291840" cy="822960"/>
          </a:xfrm>
          <a:prstGeom prst="roundRect">
            <a:avLst>
              <a:gd name="adj" fmla="val 8889"/>
            </a:avLst>
          </a:prstGeom>
          <a:solidFill>
            <a:schemeClr val="bg2"/>
          </a:solidFill>
          <a:ln/>
        </p:spPr>
      </p:sp>
      <p:sp>
        <p:nvSpPr>
          <p:cNvPr id="23" name="Text 20"/>
          <p:cNvSpPr txBox="1"/>
          <p:nvPr/>
        </p:nvSpPr>
        <p:spPr>
          <a:xfrm>
            <a:off x="4709160" y="432511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Setup and obligations</a:t>
            </a:r>
            <a:endParaRPr lang="en-US" sz="1400" dirty="0"/>
          </a:p>
        </p:txBody>
      </p:sp>
      <p:sp>
        <p:nvSpPr>
          <p:cNvPr id="24" name="Text 21"/>
          <p:cNvSpPr txBox="1"/>
          <p:nvPr/>
        </p:nvSpPr>
        <p:spPr>
          <a:xfrm>
            <a:off x="4709160" y="465429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Dealer setup, data feeds, SLAs, disclosures</a:t>
            </a:r>
            <a:endParaRPr lang="en-US" sz="1200" dirty="0"/>
          </a:p>
        </p:txBody>
      </p:sp>
      <p:sp>
        <p:nvSpPr>
          <p:cNvPr id="25" name="Shape 22"/>
          <p:cNvSpPr/>
          <p:nvPr/>
        </p:nvSpPr>
        <p:spPr>
          <a:xfrm flipV="1">
            <a:off x="3566160" y="2651760"/>
            <a:ext cx="914400" cy="594360"/>
          </a:xfrm>
          <a:prstGeom prst="line">
            <a:avLst/>
          </a:prstGeom>
          <a:noFill/>
          <a:ln w="19050">
            <a:solidFill>
              <a:schemeClr val="tx2"/>
            </a:solidFill>
            <a:prstDash val="solid"/>
            <a:tailEnd type="triangle"/>
          </a:ln>
        </p:spPr>
      </p:sp>
      <p:sp>
        <p:nvSpPr>
          <p:cNvPr id="26" name="Shape 23"/>
          <p:cNvSpPr/>
          <p:nvPr/>
        </p:nvSpPr>
        <p:spPr>
          <a:xfrm>
            <a:off x="3566160" y="3246120"/>
            <a:ext cx="914400" cy="411480"/>
          </a:xfrm>
          <a:prstGeom prst="line">
            <a:avLst/>
          </a:prstGeom>
          <a:noFill/>
          <a:ln w="19050">
            <a:solidFill>
              <a:schemeClr val="tx2"/>
            </a:solidFill>
            <a:prstDash val="solid"/>
            <a:tailEnd type="triangle"/>
          </a:ln>
        </p:spPr>
      </p:sp>
      <p:sp>
        <p:nvSpPr>
          <p:cNvPr id="27" name="Shape 24"/>
          <p:cNvSpPr/>
          <p:nvPr/>
        </p:nvSpPr>
        <p:spPr>
          <a:xfrm>
            <a:off x="3566160" y="3246120"/>
            <a:ext cx="914400" cy="1417320"/>
          </a:xfrm>
          <a:prstGeom prst="line">
            <a:avLst/>
          </a:prstGeom>
          <a:noFill/>
          <a:ln w="19050">
            <a:solidFill>
              <a:schemeClr val="tx2"/>
            </a:solidFill>
            <a:prstDash val="solid"/>
            <a:tailEnd type="triangle"/>
          </a:ln>
        </p:spPr>
      </p:sp>
      <p:sp>
        <p:nvSpPr>
          <p:cNvPr id="28" name="Shape 25"/>
          <p:cNvSpPr/>
          <p:nvPr/>
        </p:nvSpPr>
        <p:spPr>
          <a:xfrm>
            <a:off x="7772400" y="2651760"/>
            <a:ext cx="914400" cy="0"/>
          </a:xfrm>
          <a:prstGeom prst="line">
            <a:avLst/>
          </a:prstGeom>
          <a:noFill/>
          <a:ln w="19050">
            <a:solidFill>
              <a:schemeClr val="tx2"/>
            </a:solidFill>
            <a:prstDash val="solid"/>
            <a:tailEnd type="triangle"/>
          </a:ln>
        </p:spPr>
      </p:sp>
      <p:sp>
        <p:nvSpPr>
          <p:cNvPr id="29" name="Shape 26"/>
          <p:cNvSpPr/>
          <p:nvPr/>
        </p:nvSpPr>
        <p:spPr>
          <a:xfrm>
            <a:off x="8686800" y="2240280"/>
            <a:ext cx="2953512" cy="822960"/>
          </a:xfrm>
          <a:prstGeom prst="roundRect">
            <a:avLst>
              <a:gd name="adj" fmla="val 8889"/>
            </a:avLst>
          </a:prstGeom>
          <a:solidFill>
            <a:schemeClr val="accent4"/>
          </a:solidFill>
          <a:ln/>
        </p:spPr>
      </p:sp>
      <p:sp>
        <p:nvSpPr>
          <p:cNvPr id="30" name="Text 27"/>
          <p:cNvSpPr txBox="1"/>
          <p:nvPr/>
        </p:nvSpPr>
        <p:spPr>
          <a:xfrm>
            <a:off x="8915400" y="2313432"/>
            <a:ext cx="2496312" cy="329184"/>
          </a:xfrm>
          <a:prstGeom prst="rect">
            <a:avLst/>
          </a:prstGeom>
          <a:noFill/>
          <a:ln/>
        </p:spPr>
        <p:txBody>
          <a:bodyPr wrap="square" lIns="0" tIns="0" rIns="0" bIns="0" rtlCol="0" anchor="ctr"/>
          <a:lstStyle/>
          <a:p>
            <a:pPr algn="l" indent="0" marL="0">
              <a:buNone/>
            </a:pPr>
            <a:r>
              <a:rPr lang="en-US" sz="1400" b="1" dirty="0">
                <a:solidFill>
                  <a:schemeClr val="bg1"/>
                </a:solidFill>
              </a:rPr>
              <a:t>Partner Payment</a:t>
            </a:r>
            <a:endParaRPr lang="en-US" sz="1400" dirty="0"/>
          </a:p>
        </p:txBody>
      </p:sp>
      <p:sp>
        <p:nvSpPr>
          <p:cNvPr id="31" name="Text 28"/>
          <p:cNvSpPr txBox="1"/>
          <p:nvPr/>
        </p:nvSpPr>
        <p:spPr>
          <a:xfrm>
            <a:off x="8915400" y="2642616"/>
            <a:ext cx="2496312" cy="329184"/>
          </a:xfrm>
          <a:prstGeom prst="rect">
            <a:avLst/>
          </a:prstGeom>
          <a:noFill/>
          <a:ln/>
        </p:spPr>
        <p:txBody>
          <a:bodyPr wrap="square" lIns="0" tIns="0" rIns="0" bIns="0" rtlCol="0" anchor="ctr"/>
          <a:lstStyle/>
          <a:p>
            <a:pPr algn="l" indent="0" marL="0">
              <a:buNone/>
            </a:pPr>
            <a:r>
              <a:rPr lang="en-US" sz="1200" dirty="0">
                <a:solidFill>
                  <a:schemeClr val="bg1"/>
                </a:solidFill>
              </a:rPr>
              <a:t>Calculation, then invoice, then payment</a:t>
            </a:r>
            <a:endParaRPr lang="en-US" sz="1200" dirty="0"/>
          </a:p>
        </p:txBody>
      </p:sp>
      <p:sp>
        <p:nvSpPr>
          <p:cNvPr id="32" name="Text 29"/>
          <p:cNvSpPr txBox="1"/>
          <p:nvPr/>
        </p:nvSpPr>
        <p:spPr>
          <a:xfrm>
            <a:off x="8686800" y="3200400"/>
            <a:ext cx="2953512" cy="640080"/>
          </a:xfrm>
          <a:prstGeom prst="rect">
            <a:avLst/>
          </a:prstGeom>
          <a:noFill/>
          <a:ln/>
        </p:spPr>
        <p:txBody>
          <a:bodyPr wrap="square" lIns="0" tIns="0" rIns="0" bIns="0" rtlCol="0" anchor="t"/>
          <a:lstStyle/>
          <a:p>
            <a:pPr algn="l" indent="0" marL="0">
              <a:buNone/>
            </a:pPr>
            <a:r>
              <a:rPr lang="en-US" sz="1200" dirty="0">
                <a:solidFill>
                  <a:schemeClr val="tx2"/>
                </a:solidFill>
              </a:rPr>
              <a:t>Each period an arrangement is calculated, reconciled to the partner's invoice and settled.</a:t>
            </a:r>
            <a:endParaRPr lang="en-US" sz="1200" dirty="0"/>
          </a:p>
        </p:txBody>
      </p:sp>
      <p:sp>
        <p:nvSpPr>
          <p:cNvPr id="33" name="Shape 30"/>
          <p:cNvSpPr/>
          <p:nvPr/>
        </p:nvSpPr>
        <p:spPr>
          <a:xfrm>
            <a:off x="548640" y="5303520"/>
            <a:ext cx="11091672" cy="868680"/>
          </a:xfrm>
          <a:prstGeom prst="roundRect">
            <a:avLst>
              <a:gd name="adj" fmla="val 8421"/>
            </a:avLst>
          </a:prstGeom>
          <a:solidFill>
            <a:schemeClr val="bg2"/>
          </a:solidFill>
          <a:ln/>
        </p:spPr>
      </p:sp>
      <p:sp>
        <p:nvSpPr>
          <p:cNvPr id="34" name="Text 31"/>
          <p:cNvSpPr txBox="1"/>
          <p:nvPr/>
        </p:nvSpPr>
        <p:spPr>
          <a:xfrm>
            <a:off x="822960" y="5303520"/>
            <a:ext cx="10543032" cy="868680"/>
          </a:xfrm>
          <a:prstGeom prst="rect">
            <a:avLst/>
          </a:prstGeom>
          <a:noFill/>
          <a:ln/>
        </p:spPr>
        <p:txBody>
          <a:bodyPr wrap="square" lIns="0" tIns="0" rIns="0" bIns="0" rtlCol="0" anchor="ctr"/>
          <a:lstStyle/>
          <a:p>
            <a:pPr algn="l" indent="0" marL="0">
              <a:buNone/>
            </a:pPr>
            <a:r>
              <a:rPr lang="en-US" sz="1400" dirty="0">
                <a:solidFill>
                  <a:schemeClr val="tx1"/>
                </a:solidFill>
              </a:rPr>
              <a:t>Contract, money and shelf are kept separate, each with its own effective dates. A partner can change a rate without changing the agreement, or downgrade a fund without touching payments. Every payment arrangement states its funding source.</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THE 9 FAMILIES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Nine families in three groups</a:t>
            </a:r>
            <a:endParaRPr lang="en-US" sz="3600" dirty="0"/>
          </a:p>
        </p:txBody>
      </p:sp>
      <p:sp>
        <p:nvSpPr>
          <p:cNvPr id="5" name="Shape 2"/>
          <p:cNvSpPr/>
          <p:nvPr/>
        </p:nvSpPr>
        <p:spPr>
          <a:xfrm>
            <a:off x="548640" y="1783080"/>
            <a:ext cx="3511296" cy="777240"/>
          </a:xfrm>
          <a:prstGeom prst="roundRect">
            <a:avLst>
              <a:gd name="adj" fmla="val 9412"/>
            </a:avLst>
          </a:prstGeom>
          <a:solidFill>
            <a:schemeClr val="accent1"/>
          </a:solidFill>
          <a:ln/>
        </p:spPr>
      </p:sp>
      <p:sp>
        <p:nvSpPr>
          <p:cNvPr id="6" name="Text 3"/>
          <p:cNvSpPr txBox="1"/>
          <p:nvPr/>
        </p:nvSpPr>
        <p:spPr>
          <a:xfrm>
            <a:off x="731520"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spine: the contract</a:t>
            </a:r>
            <a:endParaRPr lang="en-US" sz="1400" dirty="0"/>
          </a:p>
        </p:txBody>
      </p:sp>
      <p:sp>
        <p:nvSpPr>
          <p:cNvPr id="7" name="Text 4"/>
          <p:cNvSpPr txBox="1"/>
          <p:nvPr/>
        </p:nvSpPr>
        <p:spPr>
          <a:xfrm>
            <a:off x="731520"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2 families  |  8 objects  |  57 attributes</a:t>
            </a:r>
            <a:endParaRPr lang="en-US" sz="1200" dirty="0"/>
          </a:p>
        </p:txBody>
      </p:sp>
      <p:sp>
        <p:nvSpPr>
          <p:cNvPr id="8" name="Shape 5"/>
          <p:cNvSpPr/>
          <p:nvPr/>
        </p:nvSpPr>
        <p:spPr>
          <a:xfrm>
            <a:off x="548640" y="2697480"/>
            <a:ext cx="3511296" cy="612648"/>
          </a:xfrm>
          <a:prstGeom prst="roundRect">
            <a:avLst>
              <a:gd name="adj" fmla="val 11940"/>
            </a:avLst>
          </a:prstGeom>
          <a:solidFill>
            <a:schemeClr val="bg2"/>
          </a:solidFill>
          <a:ln/>
        </p:spPr>
      </p:sp>
      <p:sp>
        <p:nvSpPr>
          <p:cNvPr id="9" name="Text 6"/>
          <p:cNvSpPr txBox="1"/>
          <p:nvPr/>
        </p:nvSpPr>
        <p:spPr>
          <a:xfrm>
            <a:off x="731520"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Agreement Master</a:t>
            </a:r>
            <a:endParaRPr lang="en-US" sz="1300" dirty="0"/>
          </a:p>
        </p:txBody>
      </p:sp>
      <p:sp>
        <p:nvSpPr>
          <p:cNvPr id="10" name="Text 7"/>
          <p:cNvSpPr txBox="1"/>
          <p:nvPr/>
        </p:nvSpPr>
        <p:spPr>
          <a:xfrm>
            <a:off x="731520"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39 attributes  |  12 critical</a:t>
            </a:r>
            <a:endParaRPr lang="en-US" sz="1100" dirty="0"/>
          </a:p>
        </p:txBody>
      </p:sp>
      <p:sp>
        <p:nvSpPr>
          <p:cNvPr id="11" name="Shape 8"/>
          <p:cNvSpPr/>
          <p:nvPr/>
        </p:nvSpPr>
        <p:spPr>
          <a:xfrm>
            <a:off x="548640" y="3410712"/>
            <a:ext cx="3511296" cy="612648"/>
          </a:xfrm>
          <a:prstGeom prst="roundRect">
            <a:avLst>
              <a:gd name="adj" fmla="val 11940"/>
            </a:avLst>
          </a:prstGeom>
          <a:solidFill>
            <a:schemeClr val="bg2"/>
          </a:solidFill>
          <a:ln/>
        </p:spPr>
      </p:sp>
      <p:sp>
        <p:nvSpPr>
          <p:cNvPr id="12" name="Text 9"/>
          <p:cNvSpPr txBox="1"/>
          <p:nvPr/>
        </p:nvSpPr>
        <p:spPr>
          <a:xfrm>
            <a:off x="731520"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Agreement Scope</a:t>
            </a:r>
            <a:endParaRPr lang="en-US" sz="1300" dirty="0"/>
          </a:p>
        </p:txBody>
      </p:sp>
      <p:sp>
        <p:nvSpPr>
          <p:cNvPr id="13" name="Text 10"/>
          <p:cNvSpPr txBox="1"/>
          <p:nvPr/>
        </p:nvSpPr>
        <p:spPr>
          <a:xfrm>
            <a:off x="731520"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18 attributes  |  7 critical</a:t>
            </a:r>
            <a:endParaRPr lang="en-US" sz="1100" dirty="0"/>
          </a:p>
        </p:txBody>
      </p:sp>
      <p:sp>
        <p:nvSpPr>
          <p:cNvPr id="14" name="Shape 11"/>
          <p:cNvSpPr/>
          <p:nvPr/>
        </p:nvSpPr>
        <p:spPr>
          <a:xfrm>
            <a:off x="4338828" y="1783080"/>
            <a:ext cx="3511296" cy="777240"/>
          </a:xfrm>
          <a:prstGeom prst="roundRect">
            <a:avLst>
              <a:gd name="adj" fmla="val 9412"/>
            </a:avLst>
          </a:prstGeom>
          <a:solidFill>
            <a:schemeClr val="accent2"/>
          </a:solidFill>
          <a:ln/>
        </p:spPr>
      </p:sp>
      <p:sp>
        <p:nvSpPr>
          <p:cNvPr id="15" name="Text 12"/>
          <p:cNvSpPr txBox="1"/>
          <p:nvPr/>
        </p:nvSpPr>
        <p:spPr>
          <a:xfrm>
            <a:off x="4521708"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money and the shelf</a:t>
            </a:r>
            <a:endParaRPr lang="en-US" sz="1400" dirty="0"/>
          </a:p>
        </p:txBody>
      </p:sp>
      <p:sp>
        <p:nvSpPr>
          <p:cNvPr id="16" name="Text 13"/>
          <p:cNvSpPr txBox="1"/>
          <p:nvPr/>
        </p:nvSpPr>
        <p:spPr>
          <a:xfrm>
            <a:off x="4521708"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4 families  |  17 objects  |  138 attributes</a:t>
            </a:r>
            <a:endParaRPr lang="en-US" sz="1200" dirty="0"/>
          </a:p>
        </p:txBody>
      </p:sp>
      <p:sp>
        <p:nvSpPr>
          <p:cNvPr id="17" name="Shape 14"/>
          <p:cNvSpPr/>
          <p:nvPr/>
        </p:nvSpPr>
        <p:spPr>
          <a:xfrm>
            <a:off x="4338828" y="2697480"/>
            <a:ext cx="3511296" cy="612648"/>
          </a:xfrm>
          <a:prstGeom prst="roundRect">
            <a:avLst>
              <a:gd name="adj" fmla="val 11940"/>
            </a:avLst>
          </a:prstGeom>
          <a:solidFill>
            <a:schemeClr val="bg2"/>
          </a:solidFill>
          <a:ln/>
        </p:spPr>
      </p:sp>
      <p:sp>
        <p:nvSpPr>
          <p:cNvPr id="18" name="Text 15"/>
          <p:cNvSpPr txBox="1"/>
          <p:nvPr/>
        </p:nvSpPr>
        <p:spPr>
          <a:xfrm>
            <a:off x="4521708"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Payment &amp; Fee Arrangements</a:t>
            </a:r>
            <a:endParaRPr lang="en-US" sz="1300" dirty="0"/>
          </a:p>
        </p:txBody>
      </p:sp>
      <p:sp>
        <p:nvSpPr>
          <p:cNvPr id="19" name="Text 16"/>
          <p:cNvSpPr txBox="1"/>
          <p:nvPr/>
        </p:nvSpPr>
        <p:spPr>
          <a:xfrm>
            <a:off x="4521708"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7 objects  |  56 attributes  |  22 critical</a:t>
            </a:r>
            <a:endParaRPr lang="en-US" sz="1100" dirty="0"/>
          </a:p>
        </p:txBody>
      </p:sp>
      <p:sp>
        <p:nvSpPr>
          <p:cNvPr id="20" name="Shape 17"/>
          <p:cNvSpPr/>
          <p:nvPr/>
        </p:nvSpPr>
        <p:spPr>
          <a:xfrm>
            <a:off x="4338828" y="3410712"/>
            <a:ext cx="3511296" cy="612648"/>
          </a:xfrm>
          <a:prstGeom prst="roundRect">
            <a:avLst>
              <a:gd name="adj" fmla="val 11940"/>
            </a:avLst>
          </a:prstGeom>
          <a:solidFill>
            <a:schemeClr val="bg2"/>
          </a:solidFill>
          <a:ln/>
        </p:spPr>
      </p:sp>
      <p:sp>
        <p:nvSpPr>
          <p:cNvPr id="21" name="Text 18"/>
          <p:cNvSpPr txBox="1"/>
          <p:nvPr/>
        </p:nvSpPr>
        <p:spPr>
          <a:xfrm>
            <a:off x="4521708"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Partner Payment Processing</a:t>
            </a:r>
            <a:endParaRPr lang="en-US" sz="1300" dirty="0"/>
          </a:p>
        </p:txBody>
      </p:sp>
      <p:sp>
        <p:nvSpPr>
          <p:cNvPr id="22" name="Text 19"/>
          <p:cNvSpPr txBox="1"/>
          <p:nvPr/>
        </p:nvSpPr>
        <p:spPr>
          <a:xfrm>
            <a:off x="4521708"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24 attributes  |  8 critical</a:t>
            </a:r>
            <a:endParaRPr lang="en-US" sz="1100" dirty="0"/>
          </a:p>
        </p:txBody>
      </p:sp>
      <p:sp>
        <p:nvSpPr>
          <p:cNvPr id="23" name="Shape 20"/>
          <p:cNvSpPr/>
          <p:nvPr/>
        </p:nvSpPr>
        <p:spPr>
          <a:xfrm>
            <a:off x="4338828" y="4123944"/>
            <a:ext cx="3511296" cy="612648"/>
          </a:xfrm>
          <a:prstGeom prst="roundRect">
            <a:avLst>
              <a:gd name="adj" fmla="val 11940"/>
            </a:avLst>
          </a:prstGeom>
          <a:solidFill>
            <a:schemeClr val="bg2"/>
          </a:solidFill>
          <a:ln/>
        </p:spPr>
      </p:sp>
      <p:sp>
        <p:nvSpPr>
          <p:cNvPr id="24" name="Text 21"/>
          <p:cNvSpPr txBox="1"/>
          <p:nvPr/>
        </p:nvSpPr>
        <p:spPr>
          <a:xfrm>
            <a:off x="4521708"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Partner Programs</a:t>
            </a:r>
            <a:endParaRPr lang="en-US" sz="1300" dirty="0"/>
          </a:p>
        </p:txBody>
      </p:sp>
      <p:sp>
        <p:nvSpPr>
          <p:cNvPr id="25" name="Text 22"/>
          <p:cNvSpPr txBox="1"/>
          <p:nvPr/>
        </p:nvSpPr>
        <p:spPr>
          <a:xfrm>
            <a:off x="4521708"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19 attributes  |  5 critical</a:t>
            </a:r>
            <a:endParaRPr lang="en-US" sz="1100" dirty="0"/>
          </a:p>
        </p:txBody>
      </p:sp>
      <p:sp>
        <p:nvSpPr>
          <p:cNvPr id="26" name="Shape 23"/>
          <p:cNvSpPr/>
          <p:nvPr/>
        </p:nvSpPr>
        <p:spPr>
          <a:xfrm>
            <a:off x="4338828" y="4837176"/>
            <a:ext cx="3511296" cy="612648"/>
          </a:xfrm>
          <a:prstGeom prst="roundRect">
            <a:avLst>
              <a:gd name="adj" fmla="val 11940"/>
            </a:avLst>
          </a:prstGeom>
          <a:solidFill>
            <a:schemeClr val="bg2"/>
          </a:solidFill>
          <a:ln/>
        </p:spPr>
      </p:sp>
      <p:sp>
        <p:nvSpPr>
          <p:cNvPr id="27" name="Text 24"/>
          <p:cNvSpPr txBox="1"/>
          <p:nvPr/>
        </p:nvSpPr>
        <p:spPr>
          <a:xfrm>
            <a:off x="4521708" y="4892040"/>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Product Shelf &amp; Availability</a:t>
            </a:r>
            <a:endParaRPr lang="en-US" sz="1300" dirty="0"/>
          </a:p>
        </p:txBody>
      </p:sp>
      <p:sp>
        <p:nvSpPr>
          <p:cNvPr id="28" name="Text 25"/>
          <p:cNvSpPr txBox="1"/>
          <p:nvPr/>
        </p:nvSpPr>
        <p:spPr>
          <a:xfrm>
            <a:off x="4521708"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39 attributes  |  12 critical</a:t>
            </a:r>
            <a:endParaRPr lang="en-US" sz="1100" dirty="0"/>
          </a:p>
        </p:txBody>
      </p:sp>
      <p:sp>
        <p:nvSpPr>
          <p:cNvPr id="29" name="Shape 26"/>
          <p:cNvSpPr/>
          <p:nvPr/>
        </p:nvSpPr>
        <p:spPr>
          <a:xfrm>
            <a:off x="8129016" y="1783080"/>
            <a:ext cx="3511296" cy="777240"/>
          </a:xfrm>
          <a:prstGeom prst="roundRect">
            <a:avLst>
              <a:gd name="adj" fmla="val 9412"/>
            </a:avLst>
          </a:prstGeom>
          <a:solidFill>
            <a:schemeClr val="accent5"/>
          </a:solidFill>
          <a:ln/>
        </p:spPr>
      </p:sp>
      <p:sp>
        <p:nvSpPr>
          <p:cNvPr id="30" name="Text 27"/>
          <p:cNvSpPr txBox="1"/>
          <p:nvPr/>
        </p:nvSpPr>
        <p:spPr>
          <a:xfrm>
            <a:off x="8311896"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Setup, disclosure and obligations</a:t>
            </a:r>
            <a:endParaRPr lang="en-US" sz="1400" dirty="0"/>
          </a:p>
        </p:txBody>
      </p:sp>
      <p:sp>
        <p:nvSpPr>
          <p:cNvPr id="31" name="Text 28"/>
          <p:cNvSpPr txBox="1"/>
          <p:nvPr/>
        </p:nvSpPr>
        <p:spPr>
          <a:xfrm>
            <a:off x="8311896"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3 families  |  11 objects  |  67 attributes</a:t>
            </a:r>
            <a:endParaRPr lang="en-US" sz="1200" dirty="0"/>
          </a:p>
        </p:txBody>
      </p:sp>
      <p:sp>
        <p:nvSpPr>
          <p:cNvPr id="32" name="Shape 29"/>
          <p:cNvSpPr/>
          <p:nvPr/>
        </p:nvSpPr>
        <p:spPr>
          <a:xfrm>
            <a:off x="8129016" y="2697480"/>
            <a:ext cx="3511296" cy="612648"/>
          </a:xfrm>
          <a:prstGeom prst="roundRect">
            <a:avLst>
              <a:gd name="adj" fmla="val 11940"/>
            </a:avLst>
          </a:prstGeom>
          <a:solidFill>
            <a:schemeClr val="bg2"/>
          </a:solidFill>
          <a:ln/>
        </p:spPr>
      </p:sp>
      <p:sp>
        <p:nvSpPr>
          <p:cNvPr id="33" name="Text 30"/>
          <p:cNvSpPr txBox="1"/>
          <p:nvPr/>
        </p:nvSpPr>
        <p:spPr>
          <a:xfrm>
            <a:off x="8311896"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Partner Operational Setup</a:t>
            </a:r>
            <a:endParaRPr lang="en-US" sz="1300" dirty="0"/>
          </a:p>
        </p:txBody>
      </p:sp>
      <p:sp>
        <p:nvSpPr>
          <p:cNvPr id="34" name="Text 31"/>
          <p:cNvSpPr txBox="1"/>
          <p:nvPr/>
        </p:nvSpPr>
        <p:spPr>
          <a:xfrm>
            <a:off x="8311896"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26 attributes  |  7 critical</a:t>
            </a:r>
            <a:endParaRPr lang="en-US" sz="1100" dirty="0"/>
          </a:p>
        </p:txBody>
      </p:sp>
      <p:sp>
        <p:nvSpPr>
          <p:cNvPr id="35" name="Shape 32"/>
          <p:cNvSpPr/>
          <p:nvPr/>
        </p:nvSpPr>
        <p:spPr>
          <a:xfrm>
            <a:off x="8129016" y="3410712"/>
            <a:ext cx="3511296" cy="612648"/>
          </a:xfrm>
          <a:prstGeom prst="roundRect">
            <a:avLst>
              <a:gd name="adj" fmla="val 11940"/>
            </a:avLst>
          </a:prstGeom>
          <a:solidFill>
            <a:schemeClr val="bg2"/>
          </a:solidFill>
          <a:ln/>
        </p:spPr>
      </p:sp>
      <p:sp>
        <p:nvSpPr>
          <p:cNvPr id="36" name="Text 33"/>
          <p:cNvSpPr txBox="1"/>
          <p:nvPr/>
        </p:nvSpPr>
        <p:spPr>
          <a:xfrm>
            <a:off x="8311896"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Partner Disclosures &amp; Transparency</a:t>
            </a:r>
            <a:endParaRPr lang="en-US" sz="1300" dirty="0"/>
          </a:p>
        </p:txBody>
      </p:sp>
      <p:sp>
        <p:nvSpPr>
          <p:cNvPr id="37" name="Text 34"/>
          <p:cNvSpPr txBox="1"/>
          <p:nvPr/>
        </p:nvSpPr>
        <p:spPr>
          <a:xfrm>
            <a:off x="8311896"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19 attributes  |  6 critical</a:t>
            </a:r>
            <a:endParaRPr lang="en-US" sz="1100" dirty="0"/>
          </a:p>
        </p:txBody>
      </p:sp>
      <p:sp>
        <p:nvSpPr>
          <p:cNvPr id="38" name="Shape 35"/>
          <p:cNvSpPr/>
          <p:nvPr/>
        </p:nvSpPr>
        <p:spPr>
          <a:xfrm>
            <a:off x="8129016" y="4123944"/>
            <a:ext cx="3511296" cy="612648"/>
          </a:xfrm>
          <a:prstGeom prst="roundRect">
            <a:avLst>
              <a:gd name="adj" fmla="val 11940"/>
            </a:avLst>
          </a:prstGeom>
          <a:solidFill>
            <a:schemeClr val="bg2"/>
          </a:solidFill>
          <a:ln/>
        </p:spPr>
      </p:sp>
      <p:sp>
        <p:nvSpPr>
          <p:cNvPr id="39" name="Text 36"/>
          <p:cNvSpPr txBox="1"/>
          <p:nvPr/>
        </p:nvSpPr>
        <p:spPr>
          <a:xfrm>
            <a:off x="8311896"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Contract Obligations &amp; SLAs</a:t>
            </a:r>
            <a:endParaRPr lang="en-US" sz="1300" dirty="0"/>
          </a:p>
        </p:txBody>
      </p:sp>
      <p:sp>
        <p:nvSpPr>
          <p:cNvPr id="40" name="Text 37"/>
          <p:cNvSpPr txBox="1"/>
          <p:nvPr/>
        </p:nvSpPr>
        <p:spPr>
          <a:xfrm>
            <a:off x="8311896"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22 attributes  |  4 critical</a:t>
            </a:r>
            <a:endParaRPr lang="en-US" sz="1100" dirty="0"/>
          </a:p>
        </p:txBody>
      </p:sp>
      <p:sp>
        <p:nvSpPr>
          <p:cNvPr id="41" name="Text 38"/>
          <p:cNvSpPr txBox="1"/>
          <p:nvPr/>
        </p:nvSpPr>
        <p:spPr>
          <a:xfrm>
            <a:off x="548640" y="4261104"/>
            <a:ext cx="3511296" cy="914400"/>
          </a:xfrm>
          <a:prstGeom prst="rect">
            <a:avLst/>
          </a:prstGeom>
          <a:noFill/>
          <a:ln/>
        </p:spPr>
        <p:txBody>
          <a:bodyPr wrap="square" lIns="0" tIns="0" rIns="0" bIns="0" rtlCol="0" anchor="t"/>
          <a:lstStyle/>
          <a:p>
            <a:pPr algn="l" indent="0" marL="0">
              <a:buNone/>
            </a:pPr>
            <a:r>
              <a:rPr lang="en-US" sz="1200" dirty="0">
                <a:solidFill>
                  <a:schemeClr val="tx2"/>
                </a:solidFill>
              </a:rPr>
              <a:t>The three groups are a presentation aid for this walkthrough. In the taxonomy, families sit directly under the domain.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1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spine: the agreement and its scope</a:t>
            </a:r>
            <a:endParaRPr lang="en-US" sz="3600" dirty="0"/>
          </a:p>
        </p:txBody>
      </p:sp>
      <p:sp>
        <p:nvSpPr>
          <p:cNvPr id="5" name="Shape 2"/>
          <p:cNvSpPr/>
          <p:nvPr/>
        </p:nvSpPr>
        <p:spPr>
          <a:xfrm>
            <a:off x="548640" y="1783080"/>
            <a:ext cx="5406390" cy="4069080"/>
          </a:xfrm>
          <a:prstGeom prst="roundRect">
            <a:avLst>
              <a:gd name="adj" fmla="val 1798"/>
            </a:avLst>
          </a:prstGeom>
          <a:solidFill>
            <a:schemeClr val="bg2"/>
          </a:solidFill>
          <a:ln/>
        </p:spPr>
      </p:sp>
      <p:sp>
        <p:nvSpPr>
          <p:cNvPr id="6" name="Text 3"/>
          <p:cNvSpPr txBox="1"/>
          <p:nvPr/>
        </p:nvSpPr>
        <p:spPr>
          <a:xfrm>
            <a:off x="777240" y="1965960"/>
            <a:ext cx="4949190" cy="365760"/>
          </a:xfrm>
          <a:prstGeom prst="rect">
            <a:avLst/>
          </a:prstGeom>
          <a:noFill/>
          <a:ln/>
        </p:spPr>
        <p:txBody>
          <a:bodyPr wrap="square" lIns="0" tIns="0" rIns="0" bIns="0" rtlCol="0" anchor="ctr"/>
          <a:lstStyle/>
          <a:p>
            <a:pPr algn="l" indent="0" marL="0">
              <a:buNone/>
            </a:pPr>
            <a:r>
              <a:rPr lang="en-US" sz="1800" b="1" dirty="0">
                <a:solidFill>
                  <a:schemeClr val="accent1"/>
                </a:solidFill>
              </a:rPr>
              <a:t>Agreement Master</a:t>
            </a:r>
            <a:endParaRPr lang="en-US" sz="1800" dirty="0"/>
          </a:p>
        </p:txBody>
      </p:sp>
      <p:sp>
        <p:nvSpPr>
          <p:cNvPr id="7" name="Text 4"/>
          <p:cNvSpPr txBox="1"/>
          <p:nvPr/>
        </p:nvSpPr>
        <p:spPr>
          <a:xfrm>
            <a:off x="777240"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5 objects  |  39 attributes  |  12 critical</a:t>
            </a:r>
            <a:endParaRPr lang="en-US" sz="1200" dirty="0"/>
          </a:p>
        </p:txBody>
      </p:sp>
      <p:sp>
        <p:nvSpPr>
          <p:cNvPr id="8" name="Text 5"/>
          <p:cNvSpPr txBox="1"/>
          <p:nvPr/>
        </p:nvSpPr>
        <p:spPr>
          <a:xfrm>
            <a:off x="777240"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The contract register: each agreement's type, status, parties, term, amendments and executed documents.</a:t>
            </a:r>
            <a:endParaRPr lang="en-US" sz="1300" dirty="0"/>
          </a:p>
        </p:txBody>
      </p:sp>
      <p:sp>
        <p:nvSpPr>
          <p:cNvPr id="9" name="Text 6"/>
          <p:cNvSpPr txBox="1"/>
          <p:nvPr/>
        </p:nvSpPr>
        <p:spPr>
          <a:xfrm>
            <a:off x="777240"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0" name="Text 7"/>
          <p:cNvSpPr txBox="1"/>
          <p:nvPr/>
        </p:nvSpPr>
        <p:spPr>
          <a:xfrm>
            <a:off x="777240"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Distribution Agreement, </a:t>
            </a:r>
            <a:pPr indent="0" marL="0">
              <a:buNone/>
            </a:pPr>
            <a:r>
              <a:rPr lang="en-US" sz="1300" b="1" dirty="0">
                <a:solidFill>
                  <a:schemeClr val="tx1"/>
                </a:solidFill>
              </a:rPr>
              <a:t>Agreement Party Role, </a:t>
            </a:r>
            <a:pPr indent="0" marL="0">
              <a:buNone/>
            </a:pPr>
            <a:r>
              <a:rPr lang="en-US" sz="1300" dirty="0">
                <a:solidFill>
                  <a:schemeClr val="tx1"/>
                </a:solidFill>
              </a:rPr>
              <a:t>Agreement Term, </a:t>
            </a:r>
            <a:pPr indent="0" marL="0">
              <a:buNone/>
            </a:pPr>
            <a:r>
              <a:rPr lang="en-US" sz="1300" b="1" dirty="0">
                <a:solidFill>
                  <a:schemeClr val="tx1"/>
                </a:solidFill>
              </a:rPr>
              <a:t>Agreement Amendment, </a:t>
            </a:r>
            <a:pPr indent="0" marL="0">
              <a:buNone/>
            </a:pPr>
            <a:r>
              <a:rPr lang="en-US" sz="1300" b="1" dirty="0">
                <a:solidFill>
                  <a:schemeClr val="tx1"/>
                </a:solidFill>
              </a:rPr>
              <a:t>Agreement Document</a:t>
            </a:r>
            <a:endParaRPr lang="en-US" sz="1300" dirty="0"/>
          </a:p>
        </p:txBody>
      </p:sp>
      <p:sp>
        <p:nvSpPr>
          <p:cNvPr id="11" name="Text 8"/>
          <p:cNvSpPr txBox="1"/>
          <p:nvPr/>
        </p:nvSpPr>
        <p:spPr>
          <a:xfrm>
            <a:off x="777240"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12" name="Text 9"/>
          <p:cNvSpPr txBox="1"/>
          <p:nvPr/>
        </p:nvSpPr>
        <p:spPr>
          <a:xfrm>
            <a:off x="777240"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Agreement Type, Agreement Status, Next Renewal Date, Agreement Party Role, Amendment Type</a:t>
            </a:r>
            <a:endParaRPr lang="en-US" sz="1300" dirty="0"/>
          </a:p>
        </p:txBody>
      </p:sp>
      <p:sp>
        <p:nvSpPr>
          <p:cNvPr id="13" name="Shape 10"/>
          <p:cNvSpPr/>
          <p:nvPr/>
        </p:nvSpPr>
        <p:spPr>
          <a:xfrm>
            <a:off x="6233922" y="1783080"/>
            <a:ext cx="5406390" cy="4069080"/>
          </a:xfrm>
          <a:prstGeom prst="roundRect">
            <a:avLst>
              <a:gd name="adj" fmla="val 1798"/>
            </a:avLst>
          </a:prstGeom>
          <a:solidFill>
            <a:schemeClr val="bg2"/>
          </a:solidFill>
          <a:ln/>
        </p:spPr>
      </p:sp>
      <p:sp>
        <p:nvSpPr>
          <p:cNvPr id="14" name="Text 11"/>
          <p:cNvSpPr txBox="1"/>
          <p:nvPr/>
        </p:nvSpPr>
        <p:spPr>
          <a:xfrm>
            <a:off x="6462522" y="1965960"/>
            <a:ext cx="4949190" cy="365760"/>
          </a:xfrm>
          <a:prstGeom prst="rect">
            <a:avLst/>
          </a:prstGeom>
          <a:noFill/>
          <a:ln/>
        </p:spPr>
        <p:txBody>
          <a:bodyPr wrap="square" lIns="0" tIns="0" rIns="0" bIns="0" rtlCol="0" anchor="ctr"/>
          <a:lstStyle/>
          <a:p>
            <a:pPr algn="l" indent="0" marL="0">
              <a:buNone/>
            </a:pPr>
            <a:r>
              <a:rPr lang="en-US" sz="1800" b="1" dirty="0">
                <a:solidFill>
                  <a:schemeClr val="accent2"/>
                </a:solidFill>
              </a:rPr>
              <a:t>Agreement Scope</a:t>
            </a:r>
            <a:endParaRPr lang="en-US" sz="1800" dirty="0"/>
          </a:p>
        </p:txBody>
      </p:sp>
      <p:sp>
        <p:nvSpPr>
          <p:cNvPr id="15" name="Text 12"/>
          <p:cNvSpPr txBox="1"/>
          <p:nvPr/>
        </p:nvSpPr>
        <p:spPr>
          <a:xfrm>
            <a:off x="6462522"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3 objects  |  18 attributes  |  7 critical</a:t>
            </a:r>
            <a:endParaRPr lang="en-US" sz="1200" dirty="0"/>
          </a:p>
        </p:txBody>
      </p:sp>
      <p:sp>
        <p:nvSpPr>
          <p:cNvPr id="16" name="Text 13"/>
          <p:cNvSpPr txBox="1"/>
          <p:nvPr/>
        </p:nvSpPr>
        <p:spPr>
          <a:xfrm>
            <a:off x="6462522"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What an agreement covers: products and share classes, jurisdictions, channels, investor types and accounts.</a:t>
            </a:r>
            <a:endParaRPr lang="en-US" sz="1300" dirty="0"/>
          </a:p>
        </p:txBody>
      </p:sp>
      <p:sp>
        <p:nvSpPr>
          <p:cNvPr id="17" name="Text 14"/>
          <p:cNvSpPr txBox="1"/>
          <p:nvPr/>
        </p:nvSpPr>
        <p:spPr>
          <a:xfrm>
            <a:off x="6462522"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8" name="Text 15"/>
          <p:cNvSpPr txBox="1"/>
          <p:nvPr/>
        </p:nvSpPr>
        <p:spPr>
          <a:xfrm>
            <a:off x="6462522"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Agreement Product Coverage, </a:t>
            </a:r>
            <a:pPr indent="0" marL="0">
              <a:buNone/>
            </a:pPr>
            <a:r>
              <a:rPr lang="en-US" sz="1300" dirty="0">
                <a:solidFill>
                  <a:schemeClr val="tx1"/>
                </a:solidFill>
              </a:rPr>
              <a:t>Agreement Distribution Scope, </a:t>
            </a:r>
            <a:pPr indent="0" marL="0">
              <a:buNone/>
            </a:pPr>
            <a:r>
              <a:rPr lang="en-US" sz="1300" b="1" dirty="0">
                <a:solidFill>
                  <a:schemeClr val="tx1"/>
                </a:solidFill>
              </a:rPr>
              <a:t>Agreement Account Link</a:t>
            </a:r>
            <a:endParaRPr lang="en-US" sz="1300" dirty="0"/>
          </a:p>
        </p:txBody>
      </p:sp>
      <p:sp>
        <p:nvSpPr>
          <p:cNvPr id="19" name="Text 16"/>
          <p:cNvSpPr txBox="1"/>
          <p:nvPr/>
        </p:nvSpPr>
        <p:spPr>
          <a:xfrm>
            <a:off x="6462522"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0" name="Text 17"/>
          <p:cNvSpPr txBox="1"/>
          <p:nvPr/>
        </p:nvSpPr>
        <p:spPr>
          <a:xfrm>
            <a:off x="6462522"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Covered Share Class, Inclusion Type, Permitted Jurisdictions, Permitted Channels, Linked Account</a:t>
            </a:r>
            <a:endParaRPr lang="en-US" sz="1300" dirty="0"/>
          </a:p>
        </p:txBody>
      </p:sp>
      <p:sp>
        <p:nvSpPr>
          <p:cNvPr id="21" name="Text 18"/>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agreement, payment arrangement or dealer setup.</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2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money and the shelf</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Payment &amp; Fee Arrangements</a:t>
                      </a:r>
                      <a:endParaRPr lang="en-US" sz="1200" dirty="0"/>
                    </a:p>
                    <a:p>
                      <a:pPr indent="0" marL="0">
                        <a:buNone/>
                      </a:pPr>
                      <a:r>
                        <a:rPr lang="en-US" sz="1100" dirty="0">
                          <a:solidFill>
                            <a:schemeClr val="tx2"/>
                          </a:solidFill>
                        </a:rPr>
                        <a:t>7 objects  |  56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Each payment stream: what is paid, from which source, at what rate, with tiers and caps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Payment Arrangement, </a:t>
                      </a:r>
                      <a:pPr indent="0" marL="0">
                        <a:buNone/>
                      </a:pPr>
                      <a:r>
                        <a:rPr lang="en-US" sz="1200" b="1" dirty="0">
                          <a:solidFill>
                            <a:schemeClr val="tx1"/>
                          </a:solidFill>
                        </a:rPr>
                        <a:t>Rate Schedule, </a:t>
                      </a:r>
                      <a:pPr indent="0" marL="0">
                        <a:buNone/>
                      </a:pPr>
                      <a:r>
                        <a:rPr lang="en-US" sz="1200" b="1" dirty="0">
                          <a:solidFill>
                            <a:schemeClr val="tx1"/>
                          </a:solidFill>
                        </a:rPr>
                        <a:t>Rate Tier, </a:t>
                      </a:r>
                      <a:pPr indent="0" marL="0">
                        <a:buNone/>
                      </a:pPr>
                      <a:r>
                        <a:rPr lang="en-US" sz="1200" dirty="0">
                          <a:solidFill>
                            <a:schemeClr val="tx1"/>
                          </a:solidFill>
                        </a:rPr>
                        <a:t>Sub-Accounting Fee Terms, </a:t>
                      </a:r>
                      <a:pPr indent="0" marL="0">
                        <a:buNone/>
                      </a:pPr>
                      <a:r>
                        <a:rPr lang="en-US" sz="1200" dirty="0">
                          <a:solidFill>
                            <a:schemeClr val="tx1"/>
                          </a:solidFill>
                        </a:rPr>
                        <a:t>and 3 more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Payment Type, Funding Source, Calculation Basis, Tier Rate, Annual Payment Cap</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Partner Payment Processing</a:t>
                      </a:r>
                      <a:endParaRPr lang="en-US" sz="1200" dirty="0"/>
                    </a:p>
                    <a:p>
                      <a:pPr indent="0" marL="0">
                        <a:buNone/>
                      </a:pPr>
                      <a:r>
                        <a:rPr lang="en-US" sz="1100" dirty="0">
                          <a:solidFill>
                            <a:schemeClr val="tx2"/>
                          </a:solidFill>
                        </a:rPr>
                        <a:t>3 objects  |  24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payment cycle: period calculations and accruals, partner invoices, settled payments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Payment Calculation, </a:t>
                      </a:r>
                      <a:pPr indent="0" marL="0">
                        <a:buNone/>
                      </a:pPr>
                      <a:r>
                        <a:rPr lang="en-US" sz="1200" b="1" dirty="0">
                          <a:solidFill>
                            <a:schemeClr val="tx1"/>
                          </a:solidFill>
                        </a:rPr>
                        <a:t>Partner Invoice, </a:t>
                      </a:r>
                      <a:pPr indent="0" marL="0">
                        <a:buNone/>
                      </a:pPr>
                      <a:r>
                        <a:rPr lang="en-US" sz="1200" b="1" dirty="0">
                          <a:solidFill>
                            <a:schemeClr val="tx1"/>
                          </a:solidFill>
                        </a:rPr>
                        <a:t>Partner Payment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Calculated Amount, Invoiced Amount, Invoice Variance Amount, Charged Entity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Partner Programs</a:t>
                      </a:r>
                      <a:endParaRPr lang="en-US" sz="1200" dirty="0"/>
                    </a:p>
                    <a:p>
                      <a:pPr indent="0" marL="0">
                        <a:buNone/>
                      </a:pPr>
                      <a:r>
                        <a:rPr lang="en-US" sz="1100" dirty="0">
                          <a:solidFill>
                            <a:schemeClr val="tx2"/>
                          </a:solidFill>
                        </a:rPr>
                        <a:t>3 objects  |  19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Partner-run programs, the tier the firm holds in each, and the benefits it gets and uses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Partner Program, </a:t>
                      </a:r>
                      <a:pPr indent="0" marL="0">
                        <a:buNone/>
                      </a:pPr>
                      <a:r>
                        <a:rPr lang="en-US" sz="1200" b="1" dirty="0">
                          <a:solidFill>
                            <a:schemeClr val="tx1"/>
                          </a:solidFill>
                        </a:rPr>
                        <a:t>Program Membership, </a:t>
                      </a:r>
                      <a:pPr indent="0" marL="0">
                        <a:buNone/>
                      </a:pPr>
                      <a:r>
                        <a:rPr lang="en-US" sz="1200" b="1" dirty="0">
                          <a:solidFill>
                            <a:schemeClr val="tx1"/>
                          </a:solidFill>
                        </a:rPr>
                        <a:t>Program Benefit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Program Type, Partner Tier, Annual Commitment Amount, Used Quantity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Product Shelf &amp; Availability</a:t>
                      </a:r>
                      <a:endParaRPr lang="en-US" sz="1200" dirty="0"/>
                    </a:p>
                    <a:p>
                      <a:pPr indent="0" marL="0">
                        <a:buNone/>
                      </a:pPr>
                      <a:r>
                        <a:rPr lang="en-US" sz="1100" dirty="0">
                          <a:solidFill>
                            <a:schemeClr val="tx2"/>
                          </a:solidFill>
                        </a:rPr>
                        <a:t>4 objects  |  39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Each product's list status at each partner, research ratings and share class mappings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Shelf Placement, </a:t>
                      </a:r>
                      <a:pPr indent="0" marL="0">
                        <a:buNone/>
                      </a:pPr>
                      <a:r>
                        <a:rPr lang="en-US" sz="1200" b="1" dirty="0">
                          <a:solidFill>
                            <a:schemeClr val="tx1"/>
                          </a:solidFill>
                        </a:rPr>
                        <a:t>Partner Research Rating, </a:t>
                      </a:r>
                      <a:pPr indent="0" marL="0">
                        <a:buNone/>
                      </a:pPr>
                      <a:r>
                        <a:rPr lang="en-US" sz="1200" b="1" dirty="0">
                          <a:solidFill>
                            <a:schemeClr val="tx1"/>
                          </a:solidFill>
                        </a:rPr>
                        <a:t>Share Class Mapping, </a:t>
                      </a:r>
                      <a:pPr indent="0" marL="0">
                        <a:buNone/>
                      </a:pPr>
                      <a:r>
                        <a:rPr lang="en-US" sz="1200" b="1" dirty="0">
                          <a:solidFill>
                            <a:schemeClr val="tx1"/>
                          </a:solidFill>
                        </a:rPr>
                        <a:t>Model Program Placement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Placement Status, Shelf List Type, Watch List Indicator, Mapped Share Class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agreement, payment arrangement or dealer setup.</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3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Setup, disclosure and obligations</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Partner Operational Setup</a:t>
                      </a:r>
                      <a:endParaRPr lang="en-US" sz="1200" dirty="0"/>
                    </a:p>
                    <a:p>
                      <a:pPr indent="0" marL="0">
                        <a:buNone/>
                      </a:pPr>
                      <a:r>
                        <a:rPr lang="en-US" sz="1100" dirty="0">
                          <a:solidFill>
                            <a:schemeClr val="tx2"/>
                          </a:solidFill>
                        </a:rPr>
                        <a:t>4 objects  |  26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Dealer identifiers, dealing and settlement routes, networking level and agreed data feeds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Partner Dealer Setup, </a:t>
                      </a:r>
                      <a:pPr indent="0" marL="0">
                        <a:buNone/>
                      </a:pPr>
                      <a:r>
                        <a:rPr lang="en-US" sz="1200" dirty="0">
                          <a:solidFill>
                            <a:schemeClr val="tx1"/>
                          </a:solidFill>
                        </a:rPr>
                        <a:t>Trading Setup, </a:t>
                      </a:r>
                      <a:pPr indent="0" marL="0">
                        <a:buNone/>
                      </a:pPr>
                      <a:r>
                        <a:rPr lang="en-US" sz="1200" dirty="0">
                          <a:solidFill>
                            <a:schemeClr val="tx1"/>
                          </a:solidFill>
                        </a:rPr>
                        <a:t>Networking Setup, </a:t>
                      </a:r>
                      <a:pPr indent="0" marL="0">
                        <a:buNone/>
                      </a:pPr>
                      <a:r>
                        <a:rPr lang="en-US" sz="1200" b="1" dirty="0">
                          <a:solidFill>
                            <a:schemeClr val="tx1"/>
                          </a:solidFill>
                        </a:rPr>
                        <a:t>Partner Data Feed Arrangement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TA Dealer Number, Dealing Route, Networking Level, Permitted Use Restrictions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Partner Disclosures &amp; Transparency</a:t>
                      </a:r>
                      <a:endParaRPr lang="en-US" sz="1200" dirty="0"/>
                    </a:p>
                    <a:p>
                      <a:pPr indent="0" marL="0">
                        <a:buNone/>
                      </a:pPr>
                      <a:r>
                        <a:rPr lang="en-US" sz="1100" dirty="0">
                          <a:solidFill>
                            <a:schemeClr val="tx2"/>
                          </a:solidFill>
                        </a:rPr>
                        <a:t>3 objects  |  19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Disclosures of partner payments, and cost and inducement data sent to distributors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Payment Disclosure, </a:t>
                      </a:r>
                      <a:pPr indent="0" marL="0">
                        <a:buNone/>
                      </a:pPr>
                      <a:r>
                        <a:rPr lang="en-US" sz="1200" b="1" dirty="0">
                          <a:solidFill>
                            <a:schemeClr val="tx1"/>
                          </a:solidFill>
                        </a:rPr>
                        <a:t>408(b)(2) Compensation Disclosure, </a:t>
                      </a:r>
                      <a:pPr indent="0" marL="0">
                        <a:buNone/>
                      </a:pPr>
                      <a:r>
                        <a:rPr lang="en-US" sz="1200" b="1" dirty="0">
                          <a:solidFill>
                            <a:schemeClr val="tx1"/>
                          </a:solidFill>
                        </a:rPr>
                        <a:t>Distributor Data Exchange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Disclosure Type, Firm Listed Indicator, Ex-Post Inducement Amount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Contract Obligations &amp; SLAs</a:t>
                      </a:r>
                      <a:endParaRPr lang="en-US" sz="1200" dirty="0"/>
                    </a:p>
                    <a:p>
                      <a:pPr indent="0" marL="0">
                        <a:buNone/>
                      </a:pPr>
                      <a:r>
                        <a:rPr lang="en-US" sz="1100" dirty="0">
                          <a:solidFill>
                            <a:schemeClr val="tx2"/>
                          </a:solidFill>
                        </a:rPr>
                        <a:t>4 objects  |  22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Obligations under each agreement, service levels, measured results and attestations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Agreement Obligation, </a:t>
                      </a:r>
                      <a:pPr indent="0" marL="0">
                        <a:buNone/>
                      </a:pPr>
                      <a:r>
                        <a:rPr lang="en-US" sz="1200" b="1" dirty="0">
                          <a:solidFill>
                            <a:schemeClr val="tx1"/>
                          </a:solidFill>
                        </a:rPr>
                        <a:t>Service Level Agreement, </a:t>
                      </a:r>
                      <a:pPr indent="0" marL="0">
                        <a:buNone/>
                      </a:pPr>
                      <a:r>
                        <a:rPr lang="en-US" sz="1200" b="1" dirty="0">
                          <a:solidFill>
                            <a:schemeClr val="tx1"/>
                          </a:solidFill>
                        </a:rPr>
                        <a:t>SLA Measurement, </a:t>
                      </a:r>
                      <a:pPr indent="0" marL="0">
                        <a:buNone/>
                      </a:pPr>
                      <a:r>
                        <a:rPr lang="en-US" sz="1200" b="1" dirty="0">
                          <a:solidFill>
                            <a:schemeClr val="tx1"/>
                          </a:solidFill>
                        </a:rPr>
                        <a:t>Partner Attestation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Obligation Category, SLA Target Value, SLA Met Indicator, Attestation Outcome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agreement, payment arrangement or dealer setup.</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WHERE THE DEFINITIONS COME FROM</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Mostly firm-defined, anchored to regulation</a:t>
            </a:r>
            <a:endParaRPr lang="en-US" sz="3600" dirty="0"/>
          </a:p>
        </p:txBody>
      </p:sp>
      <p:graphicFrame>
        <p:nvGraphicFramePr>
          <p:cNvPr id="5" name="Chart 0" descr=""/>
          <p:cNvGraphicFramePr/>
          <p:nvPr/>
        </p:nvGraphicFramePr>
        <p:xfrm>
          <a:off x="548640" y="178308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70448"/>
            <a:ext cx="6400800" cy="411480"/>
          </a:xfrm>
          <a:prstGeom prst="rect">
            <a:avLst/>
          </a:prstGeom>
          <a:noFill/>
          <a:ln/>
        </p:spPr>
        <p:txBody>
          <a:bodyPr wrap="square" lIns="0" tIns="0" rIns="0" bIns="0" rtlCol="0" anchor="t"/>
          <a:lstStyle/>
          <a:p>
            <a:pPr algn="l" indent="0" marL="0">
              <a:buNone/>
            </a:pPr>
            <a:r>
              <a:rPr lang="en-US" sz="1100" dirty="0">
                <a:solidFill>
                  <a:schemeClr val="tx2"/>
                </a:solidFill>
              </a:rPr>
              <a:t>Internal = no authoritative external definition exists. SEC includes Rule 12b-1, IM Guidance 2016-01 and Reg BI. Other is FINRA Rule 2341, ICI and ISO.</a:t>
            </a:r>
            <a:endParaRPr lang="en-US" sz="1100" dirty="0"/>
          </a:p>
        </p:txBody>
      </p:sp>
      <p:sp>
        <p:nvSpPr>
          <p:cNvPr id="7" name="Shape 3"/>
          <p:cNvSpPr/>
          <p:nvPr/>
        </p:nvSpPr>
        <p:spPr>
          <a:xfrm>
            <a:off x="7315200" y="1783080"/>
            <a:ext cx="4325112" cy="1280160"/>
          </a:xfrm>
          <a:prstGeom prst="roundRect">
            <a:avLst>
              <a:gd name="adj" fmla="val 5714"/>
            </a:avLst>
          </a:prstGeom>
          <a:solidFill>
            <a:schemeClr val="bg2"/>
          </a:solidFill>
          <a:ln/>
        </p:spPr>
      </p:sp>
      <p:sp>
        <p:nvSpPr>
          <p:cNvPr id="8" name="Text 4"/>
          <p:cNvSpPr txBox="1"/>
          <p:nvPr/>
        </p:nvSpPr>
        <p:spPr>
          <a:xfrm>
            <a:off x="7543800" y="189280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18%</a:t>
            </a:r>
            <a:endParaRPr lang="en-US" sz="3200" dirty="0"/>
          </a:p>
        </p:txBody>
      </p:sp>
      <p:sp>
        <p:nvSpPr>
          <p:cNvPr id="9" name="Text 5"/>
          <p:cNvSpPr txBox="1"/>
          <p:nvPr/>
        </p:nvSpPr>
        <p:spPr>
          <a:xfrm>
            <a:off x="7543800" y="245973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of attributes (47 of 262) align to an external regulation or industry standard</a:t>
            </a:r>
            <a:endParaRPr lang="en-US" sz="1300" dirty="0"/>
          </a:p>
        </p:txBody>
      </p:sp>
      <p:sp>
        <p:nvSpPr>
          <p:cNvPr id="10" name="Shape 6"/>
          <p:cNvSpPr/>
          <p:nvPr/>
        </p:nvSpPr>
        <p:spPr>
          <a:xfrm>
            <a:off x="7315200" y="3246120"/>
            <a:ext cx="4325112" cy="1280160"/>
          </a:xfrm>
          <a:prstGeom prst="roundRect">
            <a:avLst>
              <a:gd name="adj" fmla="val 5714"/>
            </a:avLst>
          </a:prstGeom>
          <a:solidFill>
            <a:schemeClr val="bg2"/>
          </a:solidFill>
          <a:ln/>
        </p:spPr>
      </p:sp>
      <p:sp>
        <p:nvSpPr>
          <p:cNvPr id="11" name="Text 7"/>
          <p:cNvSpPr txBox="1"/>
          <p:nvPr/>
        </p:nvSpPr>
        <p:spPr>
          <a:xfrm>
            <a:off x="7543800" y="335584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74</a:t>
            </a:r>
            <a:endParaRPr lang="en-US" sz="3200" dirty="0"/>
          </a:p>
        </p:txBody>
      </p:sp>
      <p:sp>
        <p:nvSpPr>
          <p:cNvPr id="12" name="Text 8"/>
          <p:cNvSpPr txBox="1"/>
          <p:nvPr/>
        </p:nvSpPr>
        <p:spPr>
          <a:xfrm>
            <a:off x="7543800" y="392277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take their values from a controlled code list, not free text</a:t>
            </a:r>
            <a:endParaRPr lang="en-US" sz="1300" dirty="0"/>
          </a:p>
        </p:txBody>
      </p:sp>
      <p:sp>
        <p:nvSpPr>
          <p:cNvPr id="13" name="Shape 9"/>
          <p:cNvSpPr/>
          <p:nvPr/>
        </p:nvSpPr>
        <p:spPr>
          <a:xfrm>
            <a:off x="7315200" y="4709160"/>
            <a:ext cx="4325112" cy="1280160"/>
          </a:xfrm>
          <a:prstGeom prst="roundRect">
            <a:avLst>
              <a:gd name="adj" fmla="val 5714"/>
            </a:avLst>
          </a:prstGeom>
          <a:solidFill>
            <a:schemeClr val="bg2"/>
          </a:solidFill>
          <a:ln/>
        </p:spPr>
      </p:sp>
      <p:sp>
        <p:nvSpPr>
          <p:cNvPr id="14" name="Text 10"/>
          <p:cNvSpPr txBox="1"/>
          <p:nvPr/>
        </p:nvSpPr>
        <p:spPr>
          <a:xfrm>
            <a:off x="7543800" y="481888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83</a:t>
            </a:r>
            <a:endParaRPr lang="en-US" sz="3200" dirty="0"/>
          </a:p>
        </p:txBody>
      </p:sp>
      <p:sp>
        <p:nvSpPr>
          <p:cNvPr id="15" name="Text 11"/>
          <p:cNvSpPr txBox="1"/>
          <p:nvPr/>
        </p:nvSpPr>
        <p:spPr>
          <a:xfrm>
            <a:off x="7543800" y="538581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are proposed as critical data elements, 22 of them in payment arrangements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SCOPE BOUNDARY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Out of scope by design, and where it lives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840480"/>
                <a:gridCol w="3566160"/>
                <a:gridCol w="3685032"/>
              </a:tblGrid>
              <a:tr h="365760">
                <a:tc>
                  <a:txBody>
                    <a:bodyPr/>
                    <a:lstStyle/>
                    <a:p>
                      <a:pPr indent="0" marL="0">
                        <a:buNone/>
                      </a:pPr>
                      <a:r>
                        <a:rPr lang="en-US" sz="1200" b="1" dirty="0">
                          <a:solidFill>
                            <a:schemeClr val="bg1"/>
                          </a:solidFill>
                        </a:rPr>
                        <a:t>Not in this domain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Where it lives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keeps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chemeClr val="tx1"/>
                          </a:solidFill>
                        </a:rPr>
                        <a:t>Partner firms, contacts, CRD, LEI, firm hierarchy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&amp; Customer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Party references, plus identifiers created by dealing, such as TA Dealer Number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Products, share classes, fees and registrations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Product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Product references, plus partner-specific platform minimums and share class mappings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Sales staff, opportunities and DDQ / RFP responses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References to the placement opportunity and to the DDQ response behind a rating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Investor and institutional accounts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Account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 Linked Account reference, so an agreement can name the accounts it governs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Transactions, positions, AUM and technical data feeds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Transactions &amp; AUM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commercial feed arrangement, and the basis value used in each payment calculation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Crediting rules and wholesaler compensation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Compensation &amp; Territory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Nothing. Partner payments are contract amounts paid to firms, not staff compensation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Inducement assessments, distributor due diligence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Compliance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An inducement relevance flag and references to the assessment and due diligence record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General ledger accounting of accruals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Finance &amp; Profitability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accrual amount calculated for the period, before the partner's invoice arrives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REFERENCED, NOT MASTERED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221 attributes mastered, 41 borrowed</a:t>
            </a:r>
            <a:endParaRPr lang="en-US" sz="3600" dirty="0"/>
          </a:p>
        </p:txBody>
      </p:sp>
      <p:sp>
        <p:nvSpPr>
          <p:cNvPr id="5" name="Shape 2"/>
          <p:cNvSpPr/>
          <p:nvPr/>
        </p:nvSpPr>
        <p:spPr>
          <a:xfrm>
            <a:off x="548640" y="1783080"/>
            <a:ext cx="3291840" cy="3730752"/>
          </a:xfrm>
          <a:prstGeom prst="roundRect">
            <a:avLst>
              <a:gd name="adj" fmla="val 2222"/>
            </a:avLst>
          </a:prstGeom>
          <a:solidFill>
            <a:schemeClr val="tx1"/>
          </a:solidFill>
          <a:ln/>
        </p:spPr>
      </p:sp>
      <p:sp>
        <p:nvSpPr>
          <p:cNvPr id="6" name="Text 3"/>
          <p:cNvSpPr txBox="1"/>
          <p:nvPr/>
        </p:nvSpPr>
        <p:spPr>
          <a:xfrm>
            <a:off x="822960" y="2057400"/>
            <a:ext cx="2743200" cy="868680"/>
          </a:xfrm>
          <a:prstGeom prst="rect">
            <a:avLst/>
          </a:prstGeom>
          <a:noFill/>
          <a:ln/>
        </p:spPr>
        <p:txBody>
          <a:bodyPr wrap="square" lIns="0" tIns="0" rIns="0" bIns="0" rtlCol="0" anchor="ctr"/>
          <a:lstStyle/>
          <a:p>
            <a:pPr algn="l" indent="0" marL="0">
              <a:buNone/>
            </a:pPr>
            <a:r>
              <a:rPr lang="en-US" sz="6000" b="1" dirty="0">
                <a:solidFill>
                  <a:schemeClr val="accent6"/>
                </a:solidFill>
              </a:rPr>
              <a:t>221</a:t>
            </a:r>
            <a:endParaRPr lang="en-US" sz="6000" dirty="0"/>
          </a:p>
        </p:txBody>
      </p:sp>
      <p:sp>
        <p:nvSpPr>
          <p:cNvPr id="7" name="Text 4"/>
          <p:cNvSpPr txBox="1"/>
          <p:nvPr/>
        </p:nvSpPr>
        <p:spPr>
          <a:xfrm>
            <a:off x="822960" y="2971800"/>
            <a:ext cx="2743200" cy="548640"/>
          </a:xfrm>
          <a:prstGeom prst="rect">
            <a:avLst/>
          </a:prstGeom>
          <a:noFill/>
          <a:ln/>
        </p:spPr>
        <p:txBody>
          <a:bodyPr wrap="square" lIns="0" tIns="0" rIns="0" bIns="0" rtlCol="0" anchor="t"/>
          <a:lstStyle/>
          <a:p>
            <a:pPr algn="l" indent="0" marL="0">
              <a:buNone/>
            </a:pPr>
            <a:r>
              <a:rPr lang="en-US" sz="1400" dirty="0">
                <a:solidFill>
                  <a:schemeClr val="bg1"/>
                </a:solidFill>
              </a:rPr>
              <a:t>of 262 attributes are mastered in this domain</a:t>
            </a:r>
            <a:endParaRPr lang="en-US" sz="1400" dirty="0"/>
          </a:p>
        </p:txBody>
      </p:sp>
      <p:sp>
        <p:nvSpPr>
          <p:cNvPr id="8" name="Text 5"/>
          <p:cNvSpPr txBox="1"/>
          <p:nvPr/>
        </p:nvSpPr>
        <p:spPr>
          <a:xfrm>
            <a:off x="822960" y="3840480"/>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35 references</a:t>
            </a:r>
            <a:endParaRPr lang="en-US" sz="1600" dirty="0"/>
          </a:p>
        </p:txBody>
      </p:sp>
      <p:sp>
        <p:nvSpPr>
          <p:cNvPr id="9" name="Text 6"/>
          <p:cNvSpPr txBox="1"/>
          <p:nvPr/>
        </p:nvSpPr>
        <p:spPr>
          <a:xfrm>
            <a:off x="822960" y="4133088"/>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Hold only the ID of a record another domain masters</a:t>
            </a:r>
            <a:endParaRPr lang="en-US" sz="1200" dirty="0"/>
          </a:p>
        </p:txBody>
      </p:sp>
      <p:sp>
        <p:nvSpPr>
          <p:cNvPr id="10" name="Text 7"/>
          <p:cNvSpPr txBox="1"/>
          <p:nvPr/>
        </p:nvSpPr>
        <p:spPr>
          <a:xfrm>
            <a:off x="822960" y="4636008"/>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6 derived copies</a:t>
            </a:r>
            <a:endParaRPr lang="en-US" sz="1600" dirty="0"/>
          </a:p>
        </p:txBody>
      </p:sp>
      <p:sp>
        <p:nvSpPr>
          <p:cNvPr id="11" name="Text 8"/>
          <p:cNvSpPr txBox="1"/>
          <p:nvPr/>
        </p:nvSpPr>
        <p:spPr>
          <a:xfrm>
            <a:off x="822960" y="4928616"/>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Display only; never edited here</a:t>
            </a:r>
            <a:endParaRPr lang="en-US" sz="1200" dirty="0"/>
          </a:p>
        </p:txBody>
      </p:sp>
      <p:sp>
        <p:nvSpPr>
          <p:cNvPr id="12" name="Shape 9"/>
          <p:cNvSpPr/>
          <p:nvPr/>
        </p:nvSpPr>
        <p:spPr>
          <a:xfrm>
            <a:off x="4114800" y="1783080"/>
            <a:ext cx="7525512" cy="548640"/>
          </a:xfrm>
          <a:prstGeom prst="roundRect">
            <a:avLst>
              <a:gd name="adj" fmla="val 13333"/>
            </a:avLst>
          </a:prstGeom>
          <a:solidFill>
            <a:schemeClr val="bg2"/>
          </a:solidFill>
          <a:ln/>
        </p:spPr>
      </p:sp>
      <p:sp>
        <p:nvSpPr>
          <p:cNvPr id="13" name="Text 10"/>
          <p:cNvSpPr txBox="1"/>
          <p:nvPr/>
        </p:nvSpPr>
        <p:spPr>
          <a:xfrm>
            <a:off x="4343400" y="17830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Client &amp; Customer</a:t>
            </a:r>
            <a:endParaRPr lang="en-US" sz="1200" dirty="0"/>
          </a:p>
        </p:txBody>
      </p:sp>
      <p:sp>
        <p:nvSpPr>
          <p:cNvPr id="14" name="Text 11"/>
          <p:cNvSpPr txBox="1"/>
          <p:nvPr/>
        </p:nvSpPr>
        <p:spPr>
          <a:xfrm>
            <a:off x="7132320" y="17830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14 references, 3 copies</a:t>
            </a:r>
            <a:endParaRPr lang="en-US" sz="1200" dirty="0"/>
          </a:p>
        </p:txBody>
      </p:sp>
      <p:sp>
        <p:nvSpPr>
          <p:cNvPr id="15" name="Text 12"/>
          <p:cNvSpPr txBox="1"/>
          <p:nvPr/>
        </p:nvSpPr>
        <p:spPr>
          <a:xfrm>
            <a:off x="8458200" y="17830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partner as agreement party, payer, payee, shelf partner and research provider; the signatory</a:t>
            </a:r>
            <a:endParaRPr lang="en-US" sz="1100" dirty="0"/>
          </a:p>
        </p:txBody>
      </p:sp>
      <p:sp>
        <p:nvSpPr>
          <p:cNvPr id="16" name="Shape 13"/>
          <p:cNvSpPr/>
          <p:nvPr/>
        </p:nvSpPr>
        <p:spPr>
          <a:xfrm>
            <a:off x="4114800" y="2423160"/>
            <a:ext cx="7525512" cy="548640"/>
          </a:xfrm>
          <a:prstGeom prst="roundRect">
            <a:avLst>
              <a:gd name="adj" fmla="val 13333"/>
            </a:avLst>
          </a:prstGeom>
          <a:solidFill>
            <a:schemeClr val="bg2"/>
          </a:solidFill>
          <a:ln/>
        </p:spPr>
      </p:sp>
      <p:sp>
        <p:nvSpPr>
          <p:cNvPr id="17" name="Text 14"/>
          <p:cNvSpPr txBox="1"/>
          <p:nvPr/>
        </p:nvSpPr>
        <p:spPr>
          <a:xfrm>
            <a:off x="4343400" y="242316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Investment Product</a:t>
            </a:r>
            <a:endParaRPr lang="en-US" sz="1200" dirty="0"/>
          </a:p>
        </p:txBody>
      </p:sp>
      <p:sp>
        <p:nvSpPr>
          <p:cNvPr id="18" name="Text 15"/>
          <p:cNvSpPr txBox="1"/>
          <p:nvPr/>
        </p:nvSpPr>
        <p:spPr>
          <a:xfrm>
            <a:off x="7132320" y="242316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8 references, 2 copies</a:t>
            </a:r>
            <a:endParaRPr lang="en-US" sz="1200" dirty="0"/>
          </a:p>
        </p:txBody>
      </p:sp>
      <p:sp>
        <p:nvSpPr>
          <p:cNvPr id="19" name="Text 16"/>
          <p:cNvSpPr txBox="1"/>
          <p:nvPr/>
        </p:nvSpPr>
        <p:spPr>
          <a:xfrm>
            <a:off x="8458200" y="242316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Covered, placed, rated and mapped products, share classes and models; 12b-1 plan and sub-TA cap</a:t>
            </a:r>
            <a:endParaRPr lang="en-US" sz="1100" dirty="0"/>
          </a:p>
        </p:txBody>
      </p:sp>
      <p:sp>
        <p:nvSpPr>
          <p:cNvPr id="20" name="Shape 17"/>
          <p:cNvSpPr/>
          <p:nvPr/>
        </p:nvSpPr>
        <p:spPr>
          <a:xfrm>
            <a:off x="4114800" y="3063240"/>
            <a:ext cx="7525512" cy="548640"/>
          </a:xfrm>
          <a:prstGeom prst="roundRect">
            <a:avLst>
              <a:gd name="adj" fmla="val 13333"/>
            </a:avLst>
          </a:prstGeom>
          <a:solidFill>
            <a:schemeClr val="bg2"/>
          </a:solidFill>
          <a:ln/>
        </p:spPr>
      </p:sp>
      <p:sp>
        <p:nvSpPr>
          <p:cNvPr id="21" name="Text 18"/>
          <p:cNvSpPr txBox="1"/>
          <p:nvPr/>
        </p:nvSpPr>
        <p:spPr>
          <a:xfrm>
            <a:off x="4343400" y="306324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Sales Transactions &amp; AUM Attribution</a:t>
            </a:r>
            <a:endParaRPr lang="en-US" sz="1200" dirty="0"/>
          </a:p>
        </p:txBody>
      </p:sp>
      <p:sp>
        <p:nvSpPr>
          <p:cNvPr id="22" name="Text 19"/>
          <p:cNvSpPr txBox="1"/>
          <p:nvPr/>
        </p:nvSpPr>
        <p:spPr>
          <a:xfrm>
            <a:off x="7132320" y="306324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4 references, 1 copy</a:t>
            </a:r>
            <a:endParaRPr lang="en-US" sz="1200" dirty="0"/>
          </a:p>
        </p:txBody>
      </p:sp>
      <p:sp>
        <p:nvSpPr>
          <p:cNvPr id="23" name="Text 20"/>
          <p:cNvSpPr txBox="1"/>
          <p:nvPr/>
        </p:nvSpPr>
        <p:spPr>
          <a:xfrm>
            <a:off x="8458200" y="306324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Data feeds and position snapshots behind a payment calculation; the basis value itself</a:t>
            </a:r>
            <a:endParaRPr lang="en-US" sz="1100" dirty="0"/>
          </a:p>
        </p:txBody>
      </p:sp>
      <p:sp>
        <p:nvSpPr>
          <p:cNvPr id="24" name="Shape 21"/>
          <p:cNvSpPr/>
          <p:nvPr/>
        </p:nvSpPr>
        <p:spPr>
          <a:xfrm>
            <a:off x="4114800" y="3703320"/>
            <a:ext cx="7525512" cy="548640"/>
          </a:xfrm>
          <a:prstGeom prst="roundRect">
            <a:avLst>
              <a:gd name="adj" fmla="val 13333"/>
            </a:avLst>
          </a:prstGeom>
          <a:solidFill>
            <a:schemeClr val="bg2"/>
          </a:solidFill>
          <a:ln/>
        </p:spPr>
      </p:sp>
      <p:sp>
        <p:nvSpPr>
          <p:cNvPr id="25" name="Text 22"/>
          <p:cNvSpPr txBox="1"/>
          <p:nvPr/>
        </p:nvSpPr>
        <p:spPr>
          <a:xfrm>
            <a:off x="4343400" y="370332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Shared &amp; Enterprise Reference Data</a:t>
            </a:r>
            <a:endParaRPr lang="en-US" sz="1200" dirty="0"/>
          </a:p>
        </p:txBody>
      </p:sp>
      <p:sp>
        <p:nvSpPr>
          <p:cNvPr id="26" name="Text 23"/>
          <p:cNvSpPr txBox="1"/>
          <p:nvPr/>
        </p:nvSpPr>
        <p:spPr>
          <a:xfrm>
            <a:off x="7132320" y="370332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3 references</a:t>
            </a:r>
            <a:endParaRPr lang="en-US" sz="1200" dirty="0"/>
          </a:p>
        </p:txBody>
      </p:sp>
      <p:sp>
        <p:nvSpPr>
          <p:cNvPr id="27" name="Text 24"/>
          <p:cNvSpPr txBox="1"/>
          <p:nvPr/>
        </p:nvSpPr>
        <p:spPr>
          <a:xfrm>
            <a:off x="8458200" y="370332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employees who own an agreement, a program membership or an obligation</a:t>
            </a:r>
            <a:endParaRPr lang="en-US" sz="1100" dirty="0"/>
          </a:p>
        </p:txBody>
      </p:sp>
      <p:sp>
        <p:nvSpPr>
          <p:cNvPr id="28" name="Shape 25"/>
          <p:cNvSpPr/>
          <p:nvPr/>
        </p:nvSpPr>
        <p:spPr>
          <a:xfrm>
            <a:off x="4114800" y="4343400"/>
            <a:ext cx="7525512" cy="548640"/>
          </a:xfrm>
          <a:prstGeom prst="roundRect">
            <a:avLst>
              <a:gd name="adj" fmla="val 13333"/>
            </a:avLst>
          </a:prstGeom>
          <a:solidFill>
            <a:schemeClr val="bg2"/>
          </a:solidFill>
          <a:ln/>
        </p:spPr>
      </p:sp>
      <p:sp>
        <p:nvSpPr>
          <p:cNvPr id="29" name="Text 26"/>
          <p:cNvSpPr txBox="1"/>
          <p:nvPr/>
        </p:nvSpPr>
        <p:spPr>
          <a:xfrm>
            <a:off x="4343400" y="434340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Distribution Compliance</a:t>
            </a:r>
            <a:endParaRPr lang="en-US" sz="1200" dirty="0"/>
          </a:p>
        </p:txBody>
      </p:sp>
      <p:sp>
        <p:nvSpPr>
          <p:cNvPr id="30" name="Text 27"/>
          <p:cNvSpPr txBox="1"/>
          <p:nvPr/>
        </p:nvSpPr>
        <p:spPr>
          <a:xfrm>
            <a:off x="7132320" y="434340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2 references</a:t>
            </a:r>
            <a:endParaRPr lang="en-US" sz="1200" dirty="0"/>
          </a:p>
        </p:txBody>
      </p:sp>
      <p:sp>
        <p:nvSpPr>
          <p:cNvPr id="31" name="Text 28"/>
          <p:cNvSpPr txBox="1"/>
          <p:nvPr/>
        </p:nvSpPr>
        <p:spPr>
          <a:xfrm>
            <a:off x="8458200" y="434340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distributor due diligence record and the inducement assessment</a:t>
            </a:r>
            <a:endParaRPr lang="en-US" sz="1100" dirty="0"/>
          </a:p>
        </p:txBody>
      </p:sp>
      <p:sp>
        <p:nvSpPr>
          <p:cNvPr id="32" name="Shape 29"/>
          <p:cNvSpPr/>
          <p:nvPr/>
        </p:nvSpPr>
        <p:spPr>
          <a:xfrm>
            <a:off x="4114800" y="4983480"/>
            <a:ext cx="7525512" cy="548640"/>
          </a:xfrm>
          <a:prstGeom prst="roundRect">
            <a:avLst>
              <a:gd name="adj" fmla="val 13333"/>
            </a:avLst>
          </a:prstGeom>
          <a:solidFill>
            <a:schemeClr val="bg2"/>
          </a:solidFill>
          <a:ln/>
        </p:spPr>
      </p:sp>
      <p:sp>
        <p:nvSpPr>
          <p:cNvPr id="33" name="Text 30"/>
          <p:cNvSpPr txBox="1"/>
          <p:nvPr/>
        </p:nvSpPr>
        <p:spPr>
          <a:xfrm>
            <a:off x="4343400" y="49834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Other domains</a:t>
            </a:r>
            <a:endParaRPr lang="en-US" sz="1200" dirty="0"/>
          </a:p>
        </p:txBody>
      </p:sp>
      <p:sp>
        <p:nvSpPr>
          <p:cNvPr id="34" name="Text 31"/>
          <p:cNvSpPr txBox="1"/>
          <p:nvPr/>
        </p:nvSpPr>
        <p:spPr>
          <a:xfrm>
            <a:off x="7132320" y="49834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4 references</a:t>
            </a:r>
            <a:endParaRPr lang="en-US" sz="1200" dirty="0"/>
          </a:p>
        </p:txBody>
      </p:sp>
      <p:sp>
        <p:nvSpPr>
          <p:cNvPr id="35" name="Text 32"/>
          <p:cNvSpPr txBox="1"/>
          <p:nvPr/>
        </p:nvSpPr>
        <p:spPr>
          <a:xfrm>
            <a:off x="8458200" y="49834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Sales: placement opportunity and DDQ response. Marketing &amp; Digital: an event. Account: the linked account</a:t>
            </a:r>
            <a:endParaRPr lang="en-US" sz="1100" dirty="0"/>
          </a:p>
        </p:txBody>
      </p:sp>
      <p:sp>
        <p:nvSpPr>
          <p:cNvPr id="36" name="Shape 33"/>
          <p:cNvSpPr/>
          <p:nvPr/>
        </p:nvSpPr>
        <p:spPr>
          <a:xfrm>
            <a:off x="548640" y="5687568"/>
            <a:ext cx="11091672" cy="530352"/>
          </a:xfrm>
          <a:prstGeom prst="roundRect">
            <a:avLst>
              <a:gd name="adj" fmla="val 13793"/>
            </a:avLst>
          </a:prstGeom>
          <a:solidFill>
            <a:schemeClr val="bg2"/>
          </a:solidFill>
          <a:ln/>
        </p:spPr>
      </p:sp>
      <p:sp>
        <p:nvSpPr>
          <p:cNvPr id="37" name="Text 34"/>
          <p:cNvSpPr txBox="1"/>
          <p:nvPr/>
        </p:nvSpPr>
        <p:spPr>
          <a:xfrm>
            <a:off x="777240" y="5687568"/>
            <a:ext cx="10634472" cy="530352"/>
          </a:xfrm>
          <a:prstGeom prst="rect">
            <a:avLst/>
          </a:prstGeom>
          <a:noFill/>
          <a:ln/>
        </p:spPr>
        <p:txBody>
          <a:bodyPr wrap="square" lIns="0" tIns="0" rIns="0" bIns="0" rtlCol="0" anchor="ctr"/>
          <a:lstStyle/>
          <a:p>
            <a:pPr algn="l" indent="0" marL="0">
              <a:buNone/>
            </a:pPr>
            <a:r>
              <a:rPr lang="en-US" sz="1200" dirty="0">
                <a:solidFill>
                  <a:schemeClr val="tx1"/>
                </a:solidFill>
              </a:rPr>
              <a:t>In the other direction, 26 attributes in 10 other domains reference an agreement, arrangement or shelf record here. Also excluded from every view: Record Metadata, which the program documents separately.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NOT YET COVERED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Not yet covered: 23 open gaps</a:t>
            </a:r>
            <a:endParaRPr lang="en-US" sz="3600" dirty="0"/>
          </a:p>
        </p:txBody>
      </p:sp>
      <p:sp>
        <p:nvSpPr>
          <p:cNvPr id="5" name="Shape 2"/>
          <p:cNvSpPr/>
          <p:nvPr/>
        </p:nvSpPr>
        <p:spPr>
          <a:xfrm>
            <a:off x="548640" y="1783080"/>
            <a:ext cx="3017520" cy="4187952"/>
          </a:xfrm>
          <a:prstGeom prst="roundRect">
            <a:avLst>
              <a:gd name="adj" fmla="val 2424"/>
            </a:avLst>
          </a:prstGeom>
          <a:solidFill>
            <a:schemeClr val="bg2"/>
          </a:solidFill>
          <a:ln/>
        </p:spPr>
      </p:sp>
      <p:sp>
        <p:nvSpPr>
          <p:cNvPr id="6" name="Text 3"/>
          <p:cNvSpPr txBox="1"/>
          <p:nvPr/>
        </p:nvSpPr>
        <p:spPr>
          <a:xfrm>
            <a:off x="822960" y="2011680"/>
            <a:ext cx="2468880" cy="777240"/>
          </a:xfrm>
          <a:prstGeom prst="rect">
            <a:avLst/>
          </a:prstGeom>
          <a:noFill/>
          <a:ln/>
        </p:spPr>
        <p:txBody>
          <a:bodyPr wrap="square" lIns="0" tIns="0" rIns="0" bIns="0" rtlCol="0" anchor="ctr"/>
          <a:lstStyle/>
          <a:p>
            <a:pPr algn="l" indent="0" marL="0">
              <a:buNone/>
            </a:pPr>
            <a:r>
              <a:rPr lang="en-US" sz="5400" b="1" dirty="0">
                <a:solidFill>
                  <a:schemeClr val="accent1"/>
                </a:solidFill>
              </a:rPr>
              <a:t>28</a:t>
            </a:r>
            <a:endParaRPr lang="en-US" sz="5400" dirty="0"/>
          </a:p>
        </p:txBody>
      </p:sp>
      <p:sp>
        <p:nvSpPr>
          <p:cNvPr id="7" name="Text 4"/>
          <p:cNvSpPr txBox="1"/>
          <p:nvPr/>
        </p:nvSpPr>
        <p:spPr>
          <a:xfrm>
            <a:off x="822960" y="2834640"/>
            <a:ext cx="2468880" cy="822960"/>
          </a:xfrm>
          <a:prstGeom prst="rect">
            <a:avLst/>
          </a:prstGeom>
          <a:noFill/>
          <a:ln/>
        </p:spPr>
        <p:txBody>
          <a:bodyPr wrap="square" lIns="0" tIns="0" rIns="0" bIns="0" rtlCol="0" anchor="t"/>
          <a:lstStyle/>
          <a:p>
            <a:pPr algn="l" indent="0" marL="0">
              <a:buNone/>
            </a:pPr>
            <a:r>
              <a:rPr lang="en-US" sz="1300" dirty="0">
                <a:solidFill>
                  <a:schemeClr val="tx1"/>
                </a:solidFill>
              </a:rPr>
              <a:t>gaps raised against this domain while specifying and modeling data products</a:t>
            </a:r>
            <a:endParaRPr lang="en-US" sz="1300" dirty="0"/>
          </a:p>
        </p:txBody>
      </p:sp>
      <p:sp>
        <p:nvSpPr>
          <p:cNvPr id="8" name="Text 5"/>
          <p:cNvSpPr txBox="1"/>
          <p:nvPr/>
        </p:nvSpPr>
        <p:spPr>
          <a:xfrm>
            <a:off x="822960" y="3886200"/>
            <a:ext cx="2468880" cy="320040"/>
          </a:xfrm>
          <a:prstGeom prst="rect">
            <a:avLst/>
          </a:prstGeom>
          <a:noFill/>
          <a:ln/>
        </p:spPr>
        <p:txBody>
          <a:bodyPr wrap="square" lIns="0" tIns="0" rIns="0" bIns="0" rtlCol="0" anchor="ctr"/>
          <a:lstStyle/>
          <a:p>
            <a:pPr algn="l" indent="0" marL="0">
              <a:buNone/>
            </a:pPr>
            <a:r>
              <a:rPr lang="en-US" sz="1600" b="1" dirty="0">
                <a:solidFill>
                  <a:schemeClr val="accent5"/>
                </a:solidFill>
              </a:rPr>
              <a:t>5 resolved</a:t>
            </a:r>
            <a:endParaRPr lang="en-US" sz="1600" dirty="0"/>
          </a:p>
        </p:txBody>
      </p:sp>
      <p:sp>
        <p:nvSpPr>
          <p:cNvPr id="9" name="Text 6"/>
          <p:cNvSpPr txBox="1"/>
          <p:nvPr/>
        </p:nvSpPr>
        <p:spPr>
          <a:xfrm>
            <a:off x="822960" y="4389120"/>
            <a:ext cx="2468880" cy="320040"/>
          </a:xfrm>
          <a:prstGeom prst="rect">
            <a:avLst/>
          </a:prstGeom>
          <a:noFill/>
          <a:ln/>
        </p:spPr>
        <p:txBody>
          <a:bodyPr wrap="square" lIns="0" tIns="0" rIns="0" bIns="0" rtlCol="0" anchor="ctr"/>
          <a:lstStyle/>
          <a:p>
            <a:pPr algn="l" indent="0" marL="0">
              <a:buNone/>
            </a:pPr>
            <a:r>
              <a:rPr lang="en-US" sz="1600" b="1" dirty="0">
                <a:solidFill>
                  <a:schemeClr val="accent4"/>
                </a:solidFill>
              </a:rPr>
              <a:t>23 open</a:t>
            </a:r>
            <a:endParaRPr lang="en-US" sz="1600" dirty="0"/>
          </a:p>
        </p:txBody>
      </p:sp>
      <p:sp>
        <p:nvSpPr>
          <p:cNvPr id="10" name="Text 7"/>
          <p:cNvSpPr txBox="1"/>
          <p:nvPr/>
        </p:nvSpPr>
        <p:spPr>
          <a:xfrm>
            <a:off x="822960" y="4709160"/>
            <a:ext cx="2468880" cy="274320"/>
          </a:xfrm>
          <a:prstGeom prst="rect">
            <a:avLst/>
          </a:prstGeom>
          <a:noFill/>
          <a:ln/>
        </p:spPr>
        <p:txBody>
          <a:bodyPr wrap="square" lIns="0" tIns="0" rIns="0" bIns="0" rtlCol="0" anchor="ctr"/>
          <a:lstStyle/>
          <a:p>
            <a:pPr algn="l" indent="0" marL="0">
              <a:buNone/>
            </a:pPr>
            <a:r>
              <a:rPr lang="en-US" sz="1200" dirty="0">
                <a:solidFill>
                  <a:schemeClr val="tx2"/>
                </a:solidFill>
              </a:rPr>
              <a:t>6 high, 6 medium, 11 low priority</a:t>
            </a:r>
            <a:endParaRPr lang="en-US" sz="1200" dirty="0"/>
          </a:p>
        </p:txBody>
      </p:sp>
      <p:sp>
        <p:nvSpPr>
          <p:cNvPr id="11" name="Shape 8"/>
          <p:cNvSpPr/>
          <p:nvPr/>
        </p:nvSpPr>
        <p:spPr>
          <a:xfrm>
            <a:off x="3840480" y="1783080"/>
            <a:ext cx="7799832" cy="530352"/>
          </a:xfrm>
          <a:prstGeom prst="roundRect">
            <a:avLst>
              <a:gd name="adj" fmla="val 13793"/>
            </a:avLst>
          </a:prstGeom>
          <a:solidFill>
            <a:schemeClr val="bg2"/>
          </a:solidFill>
          <a:ln/>
        </p:spPr>
      </p:sp>
      <p:sp>
        <p:nvSpPr>
          <p:cNvPr id="12" name="Text 9"/>
          <p:cNvSpPr/>
          <p:nvPr/>
        </p:nvSpPr>
        <p:spPr>
          <a:xfrm>
            <a:off x="3977640" y="189280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3" name="Text 10"/>
          <p:cNvSpPr txBox="1"/>
          <p:nvPr/>
        </p:nvSpPr>
        <p:spPr>
          <a:xfrm>
            <a:off x="4983480" y="178308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GAP-05-001</a:t>
            </a:r>
            <a:endParaRPr lang="en-US" sz="1200" dirty="0"/>
          </a:p>
        </p:txBody>
      </p:sp>
      <p:sp>
        <p:nvSpPr>
          <p:cNvPr id="14" name="Text 11"/>
          <p:cNvSpPr txBox="1"/>
          <p:nvPr/>
        </p:nvSpPr>
        <p:spPr>
          <a:xfrm>
            <a:off x="6126480" y="178308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Model Program Placement has no sponsor program reference and no status end date (DP-005, DP-021, DP-050)</a:t>
            </a:r>
            <a:endParaRPr lang="en-US" sz="1200" dirty="0"/>
          </a:p>
        </p:txBody>
      </p:sp>
      <p:sp>
        <p:nvSpPr>
          <p:cNvPr id="15" name="Shape 12"/>
          <p:cNvSpPr/>
          <p:nvPr/>
        </p:nvSpPr>
        <p:spPr>
          <a:xfrm>
            <a:off x="3840480" y="2386584"/>
            <a:ext cx="7799832" cy="530352"/>
          </a:xfrm>
          <a:prstGeom prst="roundRect">
            <a:avLst>
              <a:gd name="adj" fmla="val 13793"/>
            </a:avLst>
          </a:prstGeom>
          <a:solidFill>
            <a:schemeClr val="bg2"/>
          </a:solidFill>
          <a:ln/>
        </p:spPr>
      </p:sp>
      <p:sp>
        <p:nvSpPr>
          <p:cNvPr id="16" name="Text 13"/>
          <p:cNvSpPr/>
          <p:nvPr/>
        </p:nvSpPr>
        <p:spPr>
          <a:xfrm>
            <a:off x="3977640" y="2496312"/>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7" name="Text 14"/>
          <p:cNvSpPr txBox="1"/>
          <p:nvPr/>
        </p:nvSpPr>
        <p:spPr>
          <a:xfrm>
            <a:off x="4983480" y="238658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GAP-05-002</a:t>
            </a:r>
            <a:endParaRPr lang="en-US" sz="1200" dirty="0"/>
          </a:p>
        </p:txBody>
      </p:sp>
      <p:sp>
        <p:nvSpPr>
          <p:cNvPr id="18" name="Text 15"/>
          <p:cNvSpPr txBox="1"/>
          <p:nvPr/>
        </p:nvSpPr>
        <p:spPr>
          <a:xfrm>
            <a:off x="6126480" y="238658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Share Class Mapping does not name the partner platform it applies to (DP-005, DP-021, DP-060)</a:t>
            </a:r>
            <a:endParaRPr lang="en-US" sz="1200" dirty="0"/>
          </a:p>
        </p:txBody>
      </p:sp>
      <p:sp>
        <p:nvSpPr>
          <p:cNvPr id="19" name="Shape 16"/>
          <p:cNvSpPr/>
          <p:nvPr/>
        </p:nvSpPr>
        <p:spPr>
          <a:xfrm>
            <a:off x="3840480" y="2990088"/>
            <a:ext cx="7799832" cy="530352"/>
          </a:xfrm>
          <a:prstGeom prst="roundRect">
            <a:avLst>
              <a:gd name="adj" fmla="val 13793"/>
            </a:avLst>
          </a:prstGeom>
          <a:solidFill>
            <a:schemeClr val="bg2"/>
          </a:solidFill>
          <a:ln/>
        </p:spPr>
      </p:sp>
      <p:sp>
        <p:nvSpPr>
          <p:cNvPr id="20" name="Text 17"/>
          <p:cNvSpPr/>
          <p:nvPr/>
        </p:nvSpPr>
        <p:spPr>
          <a:xfrm>
            <a:off x="3977640" y="3099816"/>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1" name="Text 18"/>
          <p:cNvSpPr txBox="1"/>
          <p:nvPr/>
        </p:nvSpPr>
        <p:spPr>
          <a:xfrm>
            <a:off x="4983480" y="2990088"/>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GAP-05-003</a:t>
            </a:r>
            <a:endParaRPr lang="en-US" sz="1200" dirty="0"/>
          </a:p>
        </p:txBody>
      </p:sp>
      <p:sp>
        <p:nvSpPr>
          <p:cNvPr id="22" name="Text 19"/>
          <p:cNvSpPr txBox="1"/>
          <p:nvPr/>
        </p:nvSpPr>
        <p:spPr>
          <a:xfrm>
            <a:off x="6126480" y="2990088"/>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Agreement Party Role, Product Coverage and Account Link do not name their agreement (DP-005, DP-050)</a:t>
            </a:r>
            <a:endParaRPr lang="en-US" sz="1200" dirty="0"/>
          </a:p>
        </p:txBody>
      </p:sp>
      <p:sp>
        <p:nvSpPr>
          <p:cNvPr id="23" name="Shape 20"/>
          <p:cNvSpPr/>
          <p:nvPr/>
        </p:nvSpPr>
        <p:spPr>
          <a:xfrm>
            <a:off x="3840480" y="3593592"/>
            <a:ext cx="7799832" cy="530352"/>
          </a:xfrm>
          <a:prstGeom prst="roundRect">
            <a:avLst>
              <a:gd name="adj" fmla="val 13793"/>
            </a:avLst>
          </a:prstGeom>
          <a:solidFill>
            <a:schemeClr val="bg2"/>
          </a:solidFill>
          <a:ln/>
        </p:spPr>
      </p:sp>
      <p:sp>
        <p:nvSpPr>
          <p:cNvPr id="24" name="Text 21"/>
          <p:cNvSpPr/>
          <p:nvPr/>
        </p:nvSpPr>
        <p:spPr>
          <a:xfrm>
            <a:off x="3977640" y="3703320"/>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5" name="Text 22"/>
          <p:cNvSpPr txBox="1"/>
          <p:nvPr/>
        </p:nvSpPr>
        <p:spPr>
          <a:xfrm>
            <a:off x="4983480" y="3593592"/>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GAP-05-004</a:t>
            </a:r>
            <a:endParaRPr lang="en-US" sz="1200" dirty="0"/>
          </a:p>
        </p:txBody>
      </p:sp>
      <p:sp>
        <p:nvSpPr>
          <p:cNvPr id="26" name="Text 23"/>
          <p:cNvSpPr txBox="1"/>
          <p:nvPr/>
        </p:nvSpPr>
        <p:spPr>
          <a:xfrm>
            <a:off x="6126480" y="3593592"/>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Program Membership does not name the member firm, and Program Benefit does not name its membership (DP-005, DP-020)</a:t>
            </a:r>
            <a:endParaRPr lang="en-US" sz="1200" dirty="0"/>
          </a:p>
        </p:txBody>
      </p:sp>
      <p:sp>
        <p:nvSpPr>
          <p:cNvPr id="27" name="Shape 24"/>
          <p:cNvSpPr/>
          <p:nvPr/>
        </p:nvSpPr>
        <p:spPr>
          <a:xfrm>
            <a:off x="3840480" y="4197096"/>
            <a:ext cx="7799832" cy="530352"/>
          </a:xfrm>
          <a:prstGeom prst="roundRect">
            <a:avLst>
              <a:gd name="adj" fmla="val 13793"/>
            </a:avLst>
          </a:prstGeom>
          <a:solidFill>
            <a:schemeClr val="bg2"/>
          </a:solidFill>
          <a:ln/>
        </p:spPr>
      </p:sp>
      <p:sp>
        <p:nvSpPr>
          <p:cNvPr id="28" name="Text 25"/>
          <p:cNvSpPr/>
          <p:nvPr/>
        </p:nvSpPr>
        <p:spPr>
          <a:xfrm>
            <a:off x="3977640" y="4306824"/>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9" name="Text 26"/>
          <p:cNvSpPr txBox="1"/>
          <p:nvPr/>
        </p:nvSpPr>
        <p:spPr>
          <a:xfrm>
            <a:off x="4983480" y="4197096"/>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GAP-05-005</a:t>
            </a:r>
            <a:endParaRPr lang="en-US" sz="1200" dirty="0"/>
          </a:p>
        </p:txBody>
      </p:sp>
      <p:sp>
        <p:nvSpPr>
          <p:cNvPr id="30" name="Text 27"/>
          <p:cNvSpPr txBox="1"/>
          <p:nvPr/>
        </p:nvSpPr>
        <p:spPr>
          <a:xfrm>
            <a:off x="6126480" y="4197096"/>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Partner Dealer Setup names neither the partner firm nor its agreement (DP-005, DP-079)</a:t>
            </a:r>
            <a:endParaRPr lang="en-US" sz="1200" dirty="0"/>
          </a:p>
        </p:txBody>
      </p:sp>
      <p:sp>
        <p:nvSpPr>
          <p:cNvPr id="31" name="Shape 28"/>
          <p:cNvSpPr/>
          <p:nvPr/>
        </p:nvSpPr>
        <p:spPr>
          <a:xfrm>
            <a:off x="3840480" y="4800600"/>
            <a:ext cx="7799832" cy="530352"/>
          </a:xfrm>
          <a:prstGeom prst="roundRect">
            <a:avLst>
              <a:gd name="adj" fmla="val 13793"/>
            </a:avLst>
          </a:prstGeom>
          <a:solidFill>
            <a:schemeClr val="bg2"/>
          </a:solidFill>
          <a:ln/>
        </p:spPr>
      </p:sp>
      <p:sp>
        <p:nvSpPr>
          <p:cNvPr id="32" name="Text 29"/>
          <p:cNvSpPr/>
          <p:nvPr/>
        </p:nvSpPr>
        <p:spPr>
          <a:xfrm>
            <a:off x="3977640" y="491032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33" name="Text 30"/>
          <p:cNvSpPr txBox="1"/>
          <p:nvPr/>
        </p:nvSpPr>
        <p:spPr>
          <a:xfrm>
            <a:off x="4983480" y="480060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GAP-05-006</a:t>
            </a:r>
            <a:endParaRPr lang="en-US" sz="1200" dirty="0"/>
          </a:p>
        </p:txBody>
      </p:sp>
      <p:sp>
        <p:nvSpPr>
          <p:cNvPr id="34" name="Text 31"/>
          <p:cNvSpPr txBox="1"/>
          <p:nvPr/>
        </p:nvSpPr>
        <p:spPr>
          <a:xfrm>
            <a:off x="6126480" y="480060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Shelf Placement has no governing agreement and names its platform only as free text (DP-005)</a:t>
            </a:r>
            <a:endParaRPr lang="en-US" sz="1200" dirty="0"/>
          </a:p>
        </p:txBody>
      </p:sp>
      <p:sp>
        <p:nvSpPr>
          <p:cNvPr id="35" name="Shape 32"/>
          <p:cNvSpPr/>
          <p:nvPr/>
        </p:nvSpPr>
        <p:spPr>
          <a:xfrm>
            <a:off x="3840480" y="5404104"/>
            <a:ext cx="7799832" cy="530352"/>
          </a:xfrm>
          <a:prstGeom prst="roundRect">
            <a:avLst>
              <a:gd name="adj" fmla="val 13793"/>
            </a:avLst>
          </a:prstGeom>
          <a:solidFill>
            <a:schemeClr val="bg2"/>
          </a:solidFill>
          <a:ln/>
        </p:spPr>
      </p:sp>
      <p:sp>
        <p:nvSpPr>
          <p:cNvPr id="36" name="Text 33"/>
          <p:cNvSpPr/>
          <p:nvPr/>
        </p:nvSpPr>
        <p:spPr>
          <a:xfrm>
            <a:off x="3977640" y="5513832"/>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37" name="Text 34"/>
          <p:cNvSpPr txBox="1"/>
          <p:nvPr/>
        </p:nvSpPr>
        <p:spPr>
          <a:xfrm>
            <a:off x="4983480" y="540410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GAP-05-008</a:t>
            </a:r>
            <a:endParaRPr lang="en-US" sz="1200" dirty="0"/>
          </a:p>
        </p:txBody>
      </p:sp>
      <p:sp>
        <p:nvSpPr>
          <p:cNvPr id="38" name="Text 35"/>
          <p:cNvSpPr txBox="1"/>
          <p:nvPr/>
        </p:nvSpPr>
        <p:spPr>
          <a:xfrm>
            <a:off x="6126480" y="540410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A Partner Payment cannot be traced to the payment arrangement it settles (DP-063, DP-065)</a:t>
            </a:r>
            <a:endParaRPr lang="en-US" sz="1200" dirty="0"/>
          </a:p>
        </p:txBody>
      </p:sp>
      <p:sp>
        <p:nvSpPr>
          <p:cNvPr id="39" name="Text 36"/>
          <p:cNvSpPr txBox="1"/>
          <p:nvPr/>
        </p:nvSpPr>
        <p:spPr>
          <a:xfrm>
            <a:off x="3840480" y="6062472"/>
            <a:ext cx="7799832" cy="274320"/>
          </a:xfrm>
          <a:prstGeom prst="rect">
            <a:avLst/>
          </a:prstGeom>
          <a:noFill/>
          <a:ln/>
        </p:spPr>
        <p:txBody>
          <a:bodyPr wrap="square" lIns="0" tIns="0" rIns="0" bIns="0" rtlCol="0" anchor="ctr"/>
          <a:lstStyle/>
          <a:p>
            <a:pPr algn="l" indent="0" marL="0">
              <a:buNone/>
            </a:pPr>
            <a:r>
              <a:rPr lang="en-US" sz="1200" dirty="0">
                <a:solidFill>
                  <a:schemeClr val="tx2"/>
                </a:solidFill>
              </a:rPr>
              <a:t>Each gap has a proposed resolution and a decision owner in Gap_Register.xlsx.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does four jobs</a:t>
            </a:r>
            <a:endParaRPr lang="en-US" sz="3600" dirty="0"/>
          </a:p>
        </p:txBody>
      </p:sp>
      <p:sp>
        <p:nvSpPr>
          <p:cNvPr id="5" name="Shape 2"/>
          <p:cNvSpPr/>
          <p:nvPr/>
        </p:nvSpPr>
        <p:spPr>
          <a:xfrm>
            <a:off x="548640" y="1783080"/>
            <a:ext cx="2560320" cy="2971800"/>
          </a:xfrm>
          <a:prstGeom prst="roundRect">
            <a:avLst>
              <a:gd name="adj" fmla="val 2857"/>
            </a:avLst>
          </a:prstGeom>
          <a:solidFill>
            <a:schemeClr val="bg2"/>
          </a:solidFill>
          <a:ln/>
        </p:spPr>
      </p:sp>
      <p:sp>
        <p:nvSpPr>
          <p:cNvPr id="6" name="Text 3"/>
          <p:cNvSpPr/>
          <p:nvPr/>
        </p:nvSpPr>
        <p:spPr>
          <a:xfrm>
            <a:off x="777240" y="20116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Mapping target</a:t>
            </a:r>
            <a:endParaRPr lang="en-US" sz="1600" dirty="0"/>
          </a:p>
        </p:txBody>
      </p:sp>
      <p:sp>
        <p:nvSpPr>
          <p:cNvPr id="8" name="Text 5"/>
          <p:cNvSpPr txBox="1"/>
          <p:nvPr/>
        </p:nvSpPr>
        <p:spPr>
          <a:xfrm>
            <a:off x="777240"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The contract repository, the partner payments engine, partner shelf reports and transfer agent files each map to one definition per field. Source mapping is Phase D.</a:t>
            </a:r>
            <a:endParaRPr lang="en-US" sz="1300" dirty="0"/>
          </a:p>
        </p:txBody>
      </p:sp>
      <p:sp>
        <p:nvSpPr>
          <p:cNvPr id="9" name="Shape 6"/>
          <p:cNvSpPr/>
          <p:nvPr/>
        </p:nvSpPr>
        <p:spPr>
          <a:xfrm>
            <a:off x="3392424" y="1783080"/>
            <a:ext cx="2560320" cy="2971800"/>
          </a:xfrm>
          <a:prstGeom prst="roundRect">
            <a:avLst>
              <a:gd name="adj" fmla="val 2857"/>
            </a:avLst>
          </a:prstGeom>
          <a:solidFill>
            <a:schemeClr val="bg2"/>
          </a:solidFill>
          <a:ln/>
        </p:spPr>
      </p:sp>
      <p:sp>
        <p:nvSpPr>
          <p:cNvPr id="10" name="Text 7"/>
          <p:cNvSpPr/>
          <p:nvPr/>
        </p:nvSpPr>
        <p:spPr>
          <a:xfrm>
            <a:off x="3621024" y="201168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621024"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Bill of materials</a:t>
            </a:r>
            <a:endParaRPr lang="en-US" sz="1600" dirty="0"/>
          </a:p>
        </p:txBody>
      </p:sp>
      <p:sp>
        <p:nvSpPr>
          <p:cNvPr id="12" name="Text 9"/>
          <p:cNvSpPr txBox="1"/>
          <p:nvPr/>
        </p:nvSpPr>
        <p:spPr>
          <a:xfrm>
            <a:off x="3621024"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data product lists the exact objects and attributes it uses. The build fails if one does not exist in the taxonomy.</a:t>
            </a:r>
            <a:endParaRPr lang="en-US" sz="1300" dirty="0"/>
          </a:p>
        </p:txBody>
      </p:sp>
      <p:sp>
        <p:nvSpPr>
          <p:cNvPr id="13" name="Shape 10"/>
          <p:cNvSpPr/>
          <p:nvPr/>
        </p:nvSpPr>
        <p:spPr>
          <a:xfrm>
            <a:off x="6236208" y="1783080"/>
            <a:ext cx="2560320" cy="2971800"/>
          </a:xfrm>
          <a:prstGeom prst="roundRect">
            <a:avLst>
              <a:gd name="adj" fmla="val 2857"/>
            </a:avLst>
          </a:prstGeom>
          <a:solidFill>
            <a:schemeClr val="bg2"/>
          </a:solidFill>
          <a:ln/>
        </p:spPr>
      </p:sp>
      <p:sp>
        <p:nvSpPr>
          <p:cNvPr id="14" name="Text 11"/>
          <p:cNvSpPr/>
          <p:nvPr/>
        </p:nvSpPr>
        <p:spPr>
          <a:xfrm>
            <a:off x="6464808" y="201168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464808"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Shared dimension</a:t>
            </a:r>
            <a:endParaRPr lang="en-US" sz="1600" dirty="0"/>
          </a:p>
        </p:txBody>
      </p:sp>
      <p:sp>
        <p:nvSpPr>
          <p:cNvPr id="16" name="Text 13"/>
          <p:cNvSpPr txBox="1"/>
          <p:nvPr/>
        </p:nvSpPr>
        <p:spPr>
          <a:xfrm>
            <a:off x="6464808"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Agreement, payment arrangement, partner program, shelf placement and research rating are published once, in SM-00 Shared Dimensions, from DP-005.</a:t>
            </a:r>
            <a:endParaRPr lang="en-US" sz="1300" dirty="0"/>
          </a:p>
        </p:txBody>
      </p:sp>
      <p:sp>
        <p:nvSpPr>
          <p:cNvPr id="17" name="Shape 14"/>
          <p:cNvSpPr/>
          <p:nvPr/>
        </p:nvSpPr>
        <p:spPr>
          <a:xfrm>
            <a:off x="9079992" y="1783080"/>
            <a:ext cx="2560320" cy="2971800"/>
          </a:xfrm>
          <a:prstGeom prst="roundRect">
            <a:avLst>
              <a:gd name="adj" fmla="val 2857"/>
            </a:avLst>
          </a:prstGeom>
          <a:solidFill>
            <a:schemeClr val="bg2"/>
          </a:solidFill>
          <a:ln/>
        </p:spPr>
      </p:sp>
      <p:sp>
        <p:nvSpPr>
          <p:cNvPr id="18" name="Text 15"/>
          <p:cNvSpPr/>
          <p:nvPr/>
        </p:nvSpPr>
        <p:spPr>
          <a:xfrm>
            <a:off x="9308592" y="2011680"/>
            <a:ext cx="411480" cy="41148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9308592"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Governance focus</a:t>
            </a:r>
            <a:endParaRPr lang="en-US" sz="1600" dirty="0"/>
          </a:p>
        </p:txBody>
      </p:sp>
      <p:sp>
        <p:nvSpPr>
          <p:cNvPr id="20" name="Text 17"/>
          <p:cNvSpPr txBox="1"/>
          <p:nvPr/>
        </p:nvSpPr>
        <p:spPr>
          <a:xfrm>
            <a:off x="9308592"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 named owning domain for every attribute, 83 proposed critical data elements and an explicit funding source on every payment show stewards where to focus.</a:t>
            </a:r>
            <a:endParaRPr lang="en-US" sz="1300" dirty="0"/>
          </a:p>
        </p:txBody>
      </p:sp>
      <p:sp>
        <p:nvSpPr>
          <p:cNvPr id="21" name="Text 18"/>
          <p:cNvSpPr txBox="1"/>
          <p:nvPr/>
        </p:nvSpPr>
        <p:spPr>
          <a:xfrm>
            <a:off x="548640" y="4937760"/>
            <a:ext cx="548640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WHERE THE DEFINITIONS TRAVEL</a:t>
            </a:r>
            <a:endParaRPr lang="en-US" sz="1200" dirty="0"/>
          </a:p>
        </p:txBody>
      </p:sp>
      <p:sp>
        <p:nvSpPr>
          <p:cNvPr id="22" name="Text 19"/>
          <p:cNvSpPr/>
          <p:nvPr/>
        </p:nvSpPr>
        <p:spPr>
          <a:xfrm>
            <a:off x="54864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Contract and payment sources</a:t>
            </a:r>
            <a:endParaRPr lang="en-US" sz="1200" dirty="0"/>
          </a:p>
        </p:txBody>
      </p:sp>
      <p:sp>
        <p:nvSpPr>
          <p:cNvPr id="23" name="Shape 20"/>
          <p:cNvSpPr/>
          <p:nvPr/>
        </p:nvSpPr>
        <p:spPr>
          <a:xfrm>
            <a:off x="2203704" y="5692140"/>
            <a:ext cx="202997" cy="0"/>
          </a:xfrm>
          <a:prstGeom prst="line">
            <a:avLst/>
          </a:prstGeom>
          <a:noFill/>
          <a:ln w="19050">
            <a:solidFill>
              <a:schemeClr val="tx2"/>
            </a:solidFill>
            <a:prstDash val="solid"/>
            <a:tailEnd type="triangle"/>
          </a:ln>
        </p:spPr>
      </p:sp>
      <p:sp>
        <p:nvSpPr>
          <p:cNvPr id="24" name="Text 21"/>
          <p:cNvSpPr/>
          <p:nvPr/>
        </p:nvSpPr>
        <p:spPr>
          <a:xfrm>
            <a:off x="2443277" y="5257800"/>
            <a:ext cx="1618488" cy="868680"/>
          </a:xfrm>
          <a:prstGeom prst="roundRect">
            <a:avLst>
              <a:gd name="adj" fmla="val 8421"/>
            </a:avLst>
          </a:prstGeom>
          <a:solidFill>
            <a:schemeClr val="accent1"/>
          </a:solidFill>
          <a:ln/>
        </p:spPr>
        <p:txBody>
          <a:bodyPr wrap="square" lIns="1016" tIns="1016" rIns="1016" bIns="1016" rtlCol="0" anchor="ctr"/>
          <a:lstStyle/>
          <a:p>
            <a:pPr algn="ctr" indent="0" marL="0">
              <a:buNone/>
            </a:pPr>
            <a:r>
              <a:rPr lang="en-US" sz="1100" b="1" dirty="0">
                <a:solidFill>
                  <a:schemeClr val="bg1"/>
                </a:solidFill>
              </a:rPr>
              <a:t>Distribution Agreements definitions</a:t>
            </a:r>
            <a:endParaRPr lang="en-US" sz="1100" dirty="0"/>
          </a:p>
        </p:txBody>
      </p:sp>
      <p:sp>
        <p:nvSpPr>
          <p:cNvPr id="25" name="Shape 22"/>
          <p:cNvSpPr/>
          <p:nvPr/>
        </p:nvSpPr>
        <p:spPr>
          <a:xfrm>
            <a:off x="4098341" y="5692140"/>
            <a:ext cx="202997" cy="0"/>
          </a:xfrm>
          <a:prstGeom prst="line">
            <a:avLst/>
          </a:prstGeom>
          <a:noFill/>
          <a:ln w="19050">
            <a:solidFill>
              <a:schemeClr val="tx2"/>
            </a:solidFill>
            <a:prstDash val="solid"/>
            <a:tailEnd type="triangle"/>
          </a:ln>
        </p:spPr>
      </p:sp>
      <p:sp>
        <p:nvSpPr>
          <p:cNvPr id="26" name="Text 23"/>
          <p:cNvSpPr/>
          <p:nvPr/>
        </p:nvSpPr>
        <p:spPr>
          <a:xfrm>
            <a:off x="433791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DP-005 foundational</a:t>
            </a:r>
            <a:endParaRPr lang="en-US" sz="1200" dirty="0"/>
          </a:p>
        </p:txBody>
      </p:sp>
      <p:sp>
        <p:nvSpPr>
          <p:cNvPr id="27" name="Shape 24"/>
          <p:cNvSpPr/>
          <p:nvPr/>
        </p:nvSpPr>
        <p:spPr>
          <a:xfrm>
            <a:off x="5992978" y="5692140"/>
            <a:ext cx="202997" cy="0"/>
          </a:xfrm>
          <a:prstGeom prst="line">
            <a:avLst/>
          </a:prstGeom>
          <a:noFill/>
          <a:ln w="19050">
            <a:solidFill>
              <a:schemeClr val="tx2"/>
            </a:solidFill>
            <a:prstDash val="solid"/>
            <a:tailEnd type="triangle"/>
          </a:ln>
        </p:spPr>
      </p:sp>
      <p:sp>
        <p:nvSpPr>
          <p:cNvPr id="28" name="Text 25"/>
          <p:cNvSpPr/>
          <p:nvPr/>
        </p:nvSpPr>
        <p:spPr>
          <a:xfrm>
            <a:off x="623255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Consumer data products</a:t>
            </a:r>
            <a:endParaRPr lang="en-US" sz="1200" dirty="0"/>
          </a:p>
        </p:txBody>
      </p:sp>
      <p:sp>
        <p:nvSpPr>
          <p:cNvPr id="29" name="Shape 26"/>
          <p:cNvSpPr/>
          <p:nvPr/>
        </p:nvSpPr>
        <p:spPr>
          <a:xfrm>
            <a:off x="7887614" y="5692140"/>
            <a:ext cx="202997" cy="0"/>
          </a:xfrm>
          <a:prstGeom prst="line">
            <a:avLst/>
          </a:prstGeom>
          <a:noFill/>
          <a:ln w="19050">
            <a:solidFill>
              <a:schemeClr val="tx2"/>
            </a:solidFill>
            <a:prstDash val="solid"/>
            <a:tailEnd type="triangle"/>
          </a:ln>
        </p:spPr>
      </p:sp>
      <p:sp>
        <p:nvSpPr>
          <p:cNvPr id="30" name="Text 27"/>
          <p:cNvSpPr/>
          <p:nvPr/>
        </p:nvSpPr>
        <p:spPr>
          <a:xfrm>
            <a:off x="8127187"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Semantic models</a:t>
            </a:r>
            <a:endParaRPr lang="en-US" sz="1200" dirty="0"/>
          </a:p>
        </p:txBody>
      </p:sp>
      <p:sp>
        <p:nvSpPr>
          <p:cNvPr id="31" name="Shape 28"/>
          <p:cNvSpPr/>
          <p:nvPr/>
        </p:nvSpPr>
        <p:spPr>
          <a:xfrm>
            <a:off x="9782251" y="5692140"/>
            <a:ext cx="202997" cy="0"/>
          </a:xfrm>
          <a:prstGeom prst="line">
            <a:avLst/>
          </a:prstGeom>
          <a:noFill/>
          <a:ln w="19050">
            <a:solidFill>
              <a:schemeClr val="tx2"/>
            </a:solidFill>
            <a:prstDash val="solid"/>
            <a:tailEnd type="triangle"/>
          </a:ln>
        </p:spPr>
      </p:sp>
      <p:sp>
        <p:nvSpPr>
          <p:cNvPr id="32" name="Text 29"/>
          <p:cNvSpPr/>
          <p:nvPr/>
        </p:nvSpPr>
        <p:spPr>
          <a:xfrm>
            <a:off x="1002182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Dashboards, feeds, AI assistants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  |  THE FOUNDATIONAL PRODUCT</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product turns the domain into records</a:t>
            </a:r>
            <a:endParaRPr lang="en-US" sz="3600" dirty="0"/>
          </a:p>
        </p:txBody>
      </p:sp>
      <p:sp>
        <p:nvSpPr>
          <p:cNvPr id="5" name="Text 2"/>
          <p:cNvSpPr/>
          <p:nvPr/>
        </p:nvSpPr>
        <p:spPr>
          <a:xfrm>
            <a:off x="548640" y="1783080"/>
            <a:ext cx="1005840" cy="384048"/>
          </a:xfrm>
          <a:prstGeom prst="roundRect">
            <a:avLst>
              <a:gd name="adj" fmla="val 14286"/>
            </a:avLst>
          </a:prstGeom>
          <a:solidFill>
            <a:schemeClr val="accent1"/>
          </a:solidFill>
          <a:ln/>
        </p:spPr>
        <p:txBody>
          <a:bodyPr wrap="square" lIns="0" tIns="0" rIns="0" bIns="0" rtlCol="0" anchor="ctr"/>
          <a:lstStyle/>
          <a:p>
            <a:pPr algn="ctr" indent="0" marL="0">
              <a:buNone/>
            </a:pPr>
            <a:r>
              <a:rPr lang="en-US" sz="1300" b="1" dirty="0">
                <a:solidFill>
                  <a:schemeClr val="bg1"/>
                </a:solidFill>
              </a:rPr>
              <a:t>DP-005</a:t>
            </a:r>
            <a:endParaRPr lang="en-US" sz="1300" dirty="0"/>
          </a:p>
        </p:txBody>
      </p:sp>
      <p:sp>
        <p:nvSpPr>
          <p:cNvPr id="6" name="Text 3"/>
          <p:cNvSpPr txBox="1"/>
          <p:nvPr/>
        </p:nvSpPr>
        <p:spPr>
          <a:xfrm>
            <a:off x="1737360" y="1783080"/>
            <a:ext cx="5486400" cy="384048"/>
          </a:xfrm>
          <a:prstGeom prst="rect">
            <a:avLst/>
          </a:prstGeom>
          <a:noFill/>
          <a:ln/>
        </p:spPr>
        <p:txBody>
          <a:bodyPr wrap="square" lIns="0" tIns="0" rIns="0" bIns="0" rtlCol="0" anchor="ctr"/>
          <a:lstStyle/>
          <a:p>
            <a:pPr algn="l" indent="0" marL="0">
              <a:buNone/>
            </a:pPr>
            <a:r>
              <a:rPr lang="en-US" sz="1800" b="1" dirty="0">
                <a:solidFill>
                  <a:schemeClr val="tx1"/>
                </a:solidFill>
              </a:rPr>
              <a:t>Distribution Agreements &amp; Shelf Status</a:t>
            </a:r>
            <a:endParaRPr lang="en-US" sz="1800" dirty="0"/>
          </a:p>
        </p:txBody>
      </p:sp>
      <p:sp>
        <p:nvSpPr>
          <p:cNvPr id="7" name="Text 4"/>
          <p:cNvSpPr txBox="1"/>
          <p:nvPr/>
        </p:nvSpPr>
        <p:spPr>
          <a:xfrm>
            <a:off x="548640" y="2258568"/>
            <a:ext cx="6675120" cy="274320"/>
          </a:xfrm>
          <a:prstGeom prst="rect">
            <a:avLst/>
          </a:prstGeom>
          <a:noFill/>
          <a:ln/>
        </p:spPr>
        <p:txBody>
          <a:bodyPr wrap="square" lIns="0" tIns="0" rIns="0" bIns="0" rtlCol="0" anchor="ctr"/>
          <a:lstStyle/>
          <a:p>
            <a:pPr algn="l" indent="0" marL="0">
              <a:buNone/>
            </a:pPr>
            <a:r>
              <a:rPr lang="en-US" sz="1200" dirty="0">
                <a:solidFill>
                  <a:schemeClr val="tx2"/>
                </a:solidFill>
              </a:rPr>
              <a:t>Foundational  |  Master &amp; Reference  |  Owner: Head of Strategic Partnerships Operations</a:t>
            </a:r>
            <a:endParaRPr lang="en-US" sz="1200" dirty="0"/>
          </a:p>
        </p:txBody>
      </p:sp>
      <p:sp>
        <p:nvSpPr>
          <p:cNvPr id="8" name="Shape 5"/>
          <p:cNvSpPr/>
          <p:nvPr/>
        </p:nvSpPr>
        <p:spPr>
          <a:xfrm>
            <a:off x="548640" y="2697480"/>
            <a:ext cx="6675120" cy="0"/>
          </a:xfrm>
          <a:prstGeom prst="line">
            <a:avLst/>
          </a:prstGeom>
          <a:noFill/>
          <a:ln w="9525">
            <a:solidFill>
              <a:srgbClr val="D5D9E1"/>
            </a:solidFill>
            <a:prstDash val="solid"/>
          </a:ln>
        </p:spPr>
      </p:sp>
      <p:sp>
        <p:nvSpPr>
          <p:cNvPr id="9" name="Text 6"/>
          <p:cNvSpPr txBox="1"/>
          <p:nvPr/>
        </p:nvSpPr>
        <p:spPr>
          <a:xfrm>
            <a:off x="548640" y="2697480"/>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GRAIN</a:t>
            </a:r>
            <a:endParaRPr lang="en-US" sz="1200" dirty="0"/>
          </a:p>
        </p:txBody>
      </p:sp>
      <p:sp>
        <p:nvSpPr>
          <p:cNvPr id="10" name="Text 7"/>
          <p:cNvSpPr txBox="1"/>
          <p:nvPr/>
        </p:nvSpPr>
        <p:spPr>
          <a:xfrm>
            <a:off x="1828800" y="2697480"/>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One row per shelf placement: partner, platform or program, share class, list type and status period. Agreements are also published per effective period.</a:t>
            </a:r>
            <a:endParaRPr lang="en-US" sz="1300" dirty="0"/>
          </a:p>
        </p:txBody>
      </p:sp>
      <p:sp>
        <p:nvSpPr>
          <p:cNvPr id="11" name="Shape 8"/>
          <p:cNvSpPr/>
          <p:nvPr/>
        </p:nvSpPr>
        <p:spPr>
          <a:xfrm>
            <a:off x="548640" y="3355848"/>
            <a:ext cx="6675120" cy="0"/>
          </a:xfrm>
          <a:prstGeom prst="line">
            <a:avLst/>
          </a:prstGeom>
          <a:noFill/>
          <a:ln w="9525">
            <a:solidFill>
              <a:srgbClr val="D5D9E1"/>
            </a:solidFill>
            <a:prstDash val="solid"/>
          </a:ln>
        </p:spPr>
      </p:sp>
      <p:sp>
        <p:nvSpPr>
          <p:cNvPr id="12" name="Text 9"/>
          <p:cNvSpPr txBox="1"/>
          <p:nvPr/>
        </p:nvSpPr>
        <p:spPr>
          <a:xfrm>
            <a:off x="548640" y="3355848"/>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INPUTS</a:t>
            </a:r>
            <a:endParaRPr lang="en-US" sz="1200" dirty="0"/>
          </a:p>
        </p:txBody>
      </p:sp>
      <p:sp>
        <p:nvSpPr>
          <p:cNvPr id="13" name="Text 10"/>
          <p:cNvSpPr txBox="1"/>
          <p:nvPr/>
        </p:nvSpPr>
        <p:spPr>
          <a:xfrm>
            <a:off x="1828800" y="3355848"/>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All 103 of its attributes come from 15 of this domain's 36 objects. Its upstream products are DP-001, DP-004 and DP-013.</a:t>
            </a:r>
            <a:endParaRPr lang="en-US" sz="1300" dirty="0"/>
          </a:p>
        </p:txBody>
      </p:sp>
      <p:sp>
        <p:nvSpPr>
          <p:cNvPr id="14" name="Shape 11"/>
          <p:cNvSpPr/>
          <p:nvPr/>
        </p:nvSpPr>
        <p:spPr>
          <a:xfrm>
            <a:off x="548640" y="4014216"/>
            <a:ext cx="6675120" cy="0"/>
          </a:xfrm>
          <a:prstGeom prst="line">
            <a:avLst/>
          </a:prstGeom>
          <a:noFill/>
          <a:ln w="9525">
            <a:solidFill>
              <a:srgbClr val="D5D9E1"/>
            </a:solidFill>
            <a:prstDash val="solid"/>
          </a:ln>
        </p:spPr>
      </p:sp>
      <p:sp>
        <p:nvSpPr>
          <p:cNvPr id="15" name="Text 12"/>
          <p:cNvSpPr txBox="1"/>
          <p:nvPr/>
        </p:nvSpPr>
        <p:spPr>
          <a:xfrm>
            <a:off x="548640" y="4014216"/>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REFRESH</a:t>
            </a:r>
            <a:endParaRPr lang="en-US" sz="1200" dirty="0"/>
          </a:p>
        </p:txBody>
      </p:sp>
      <p:sp>
        <p:nvSpPr>
          <p:cNvPr id="16" name="Text 13"/>
          <p:cNvSpPr txBox="1"/>
          <p:nvPr/>
        </p:nvSpPr>
        <p:spPr>
          <a:xfrm>
            <a:off x="1828800" y="4014216"/>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Daily, by 7am Eastern each business day. Shelf changes reported by partners are loaded within 2 business days of receipt.</a:t>
            </a:r>
            <a:endParaRPr lang="en-US" sz="1300" dirty="0"/>
          </a:p>
        </p:txBody>
      </p:sp>
      <p:sp>
        <p:nvSpPr>
          <p:cNvPr id="17" name="Shape 14"/>
          <p:cNvSpPr/>
          <p:nvPr/>
        </p:nvSpPr>
        <p:spPr>
          <a:xfrm>
            <a:off x="548640" y="4672584"/>
            <a:ext cx="6675120" cy="0"/>
          </a:xfrm>
          <a:prstGeom prst="line">
            <a:avLst/>
          </a:prstGeom>
          <a:noFill/>
          <a:ln w="9525">
            <a:solidFill>
              <a:srgbClr val="D5D9E1"/>
            </a:solidFill>
            <a:prstDash val="solid"/>
          </a:ln>
        </p:spPr>
      </p:sp>
      <p:sp>
        <p:nvSpPr>
          <p:cNvPr id="18" name="Text 15"/>
          <p:cNvSpPr txBox="1"/>
          <p:nvPr/>
        </p:nvSpPr>
        <p:spPr>
          <a:xfrm>
            <a:off x="548640" y="4672584"/>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HISTORY</a:t>
            </a:r>
            <a:endParaRPr lang="en-US" sz="1200" dirty="0"/>
          </a:p>
        </p:txBody>
      </p:sp>
      <p:sp>
        <p:nvSpPr>
          <p:cNvPr id="19" name="Text 16"/>
          <p:cNvSpPr txBox="1"/>
          <p:nvPr/>
        </p:nvSpPr>
        <p:spPr>
          <a:xfrm>
            <a:off x="1828800" y="4672584"/>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Full history of agreements, coverage and placement status since 2015. Terminated agreements are kept for the retention period plus 7 years.</a:t>
            </a:r>
            <a:endParaRPr lang="en-US" sz="1300" dirty="0"/>
          </a:p>
        </p:txBody>
      </p:sp>
      <p:sp>
        <p:nvSpPr>
          <p:cNvPr id="20" name="Shape 17"/>
          <p:cNvSpPr/>
          <p:nvPr/>
        </p:nvSpPr>
        <p:spPr>
          <a:xfrm>
            <a:off x="548640" y="5330952"/>
            <a:ext cx="6675120" cy="0"/>
          </a:xfrm>
          <a:prstGeom prst="line">
            <a:avLst/>
          </a:prstGeom>
          <a:noFill/>
          <a:ln w="9525">
            <a:solidFill>
              <a:srgbClr val="D5D9E1"/>
            </a:solidFill>
            <a:prstDash val="solid"/>
          </a:ln>
        </p:spPr>
      </p:sp>
      <p:sp>
        <p:nvSpPr>
          <p:cNvPr id="21" name="Text 18"/>
          <p:cNvSpPr txBox="1"/>
          <p:nvPr/>
        </p:nvSpPr>
        <p:spPr>
          <a:xfrm>
            <a:off x="548640" y="5330952"/>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ACCESS</a:t>
            </a:r>
            <a:endParaRPr lang="en-US" sz="1200" dirty="0"/>
          </a:p>
        </p:txBody>
      </p:sp>
      <p:sp>
        <p:nvSpPr>
          <p:cNvPr id="22" name="Text 19"/>
          <p:cNvSpPr txBox="1"/>
          <p:nvPr/>
        </p:nvSpPr>
        <p:spPr>
          <a:xfrm>
            <a:off x="1828800" y="5330952"/>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Restricted - Commercial Terms. No personal data. Owned by the Head of Strategic Partnerships Operations.</a:t>
            </a:r>
            <a:endParaRPr lang="en-US" sz="1300" dirty="0"/>
          </a:p>
        </p:txBody>
      </p:sp>
      <p:sp>
        <p:nvSpPr>
          <p:cNvPr id="23" name="Shape 20"/>
          <p:cNvSpPr/>
          <p:nvPr/>
        </p:nvSpPr>
        <p:spPr>
          <a:xfrm>
            <a:off x="7589520" y="1783080"/>
            <a:ext cx="1933956" cy="1600200"/>
          </a:xfrm>
          <a:prstGeom prst="roundRect">
            <a:avLst>
              <a:gd name="adj" fmla="val 4571"/>
            </a:avLst>
          </a:prstGeom>
          <a:solidFill>
            <a:schemeClr val="tx1"/>
          </a:solidFill>
          <a:ln/>
        </p:spPr>
      </p:sp>
      <p:sp>
        <p:nvSpPr>
          <p:cNvPr id="24" name="Text 21"/>
          <p:cNvSpPr txBox="1"/>
          <p:nvPr/>
        </p:nvSpPr>
        <p:spPr>
          <a:xfrm>
            <a:off x="7772400"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32</a:t>
            </a:r>
            <a:endParaRPr lang="en-US" sz="2800" dirty="0"/>
          </a:p>
        </p:txBody>
      </p:sp>
      <p:sp>
        <p:nvSpPr>
          <p:cNvPr id="25" name="Text 22"/>
          <p:cNvSpPr txBox="1"/>
          <p:nvPr/>
        </p:nvSpPr>
        <p:spPr>
          <a:xfrm>
            <a:off x="7772400"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other products name it as a direct upstream</a:t>
            </a:r>
            <a:endParaRPr lang="en-US" sz="1200" dirty="0"/>
          </a:p>
        </p:txBody>
      </p:sp>
      <p:sp>
        <p:nvSpPr>
          <p:cNvPr id="26" name="Shape 23"/>
          <p:cNvSpPr/>
          <p:nvPr/>
        </p:nvSpPr>
        <p:spPr>
          <a:xfrm>
            <a:off x="9706356" y="1783080"/>
            <a:ext cx="1933956" cy="1600200"/>
          </a:xfrm>
          <a:prstGeom prst="roundRect">
            <a:avLst>
              <a:gd name="adj" fmla="val 4571"/>
            </a:avLst>
          </a:prstGeom>
          <a:solidFill>
            <a:schemeClr val="tx1"/>
          </a:solidFill>
          <a:ln/>
        </p:spPr>
      </p:sp>
      <p:sp>
        <p:nvSpPr>
          <p:cNvPr id="27" name="Text 24"/>
          <p:cNvSpPr txBox="1"/>
          <p:nvPr/>
        </p:nvSpPr>
        <p:spPr>
          <a:xfrm>
            <a:off x="9889236"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88</a:t>
            </a:r>
            <a:endParaRPr lang="en-US" sz="2800" dirty="0"/>
          </a:p>
        </p:txBody>
      </p:sp>
      <p:sp>
        <p:nvSpPr>
          <p:cNvPr id="28" name="Text 25"/>
          <p:cNvSpPr txBox="1"/>
          <p:nvPr/>
        </p:nvSpPr>
        <p:spPr>
          <a:xfrm>
            <a:off x="9889236"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of the other 95 depend on it, directly or indirectly</a:t>
            </a:r>
            <a:endParaRPr lang="en-US" sz="1200" dirty="0"/>
          </a:p>
        </p:txBody>
      </p:sp>
      <p:sp>
        <p:nvSpPr>
          <p:cNvPr id="29" name="Text 26"/>
          <p:cNvSpPr txBox="1"/>
          <p:nvPr/>
        </p:nvSpPr>
        <p:spPr>
          <a:xfrm>
            <a:off x="7589520" y="3657600"/>
            <a:ext cx="4050792"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QUALITY RULES, FOR EXAMPLE</a:t>
            </a:r>
            <a:endParaRPr lang="en-US" sz="1200" dirty="0"/>
          </a:p>
        </p:txBody>
      </p:sp>
      <p:sp>
        <p:nvSpPr>
          <p:cNvPr id="30" name="Text 27"/>
          <p:cNvSpPr txBox="1"/>
          <p:nvPr/>
        </p:nvSpPr>
        <p:spPr>
          <a:xfrm>
            <a:off x="7589520" y="3995928"/>
            <a:ext cx="4050792"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Every payment arrangement names a governing agreement that is active on its effective dates</a:t>
            </a:r>
            <a:endParaRPr lang="en-US" sz="1300" dirty="0"/>
          </a:p>
          <a:p>
            <a:pPr marL="177800" indent="-177800">
              <a:spcAft>
                <a:spcPts val="600"/>
              </a:spcAft>
              <a:buSzPct val="100000"/>
              <a:buChar char="•"/>
            </a:pPr>
            <a:r>
              <a:rPr lang="en-US" sz="1300" dirty="0">
                <a:solidFill>
                  <a:schemeClr val="tx1"/>
                </a:solidFill>
              </a:rPr>
              <a:t>Status periods for the same partner, platform, share class and list type do not overlap</a:t>
            </a:r>
            <a:endParaRPr lang="en-US" sz="1300" dirty="0"/>
          </a:p>
          <a:p>
            <a:pPr marL="177800" indent="-177800">
              <a:spcAft>
                <a:spcPts val="600"/>
              </a:spcAft>
              <a:buSzPct val="100000"/>
              <a:buChar char="•"/>
            </a:pPr>
            <a:r>
              <a:rPr lang="en-US" sz="1300" dirty="0">
                <a:solidFill>
                  <a:schemeClr val="tx1"/>
                </a:solidFill>
              </a:rPr>
              <a:t>Every active placement resolves to an active firm in DP-001 and share class in DP-004</a:t>
            </a:r>
            <a:endParaRPr lang="en-US" sz="1300" dirty="0"/>
          </a:p>
          <a:p>
            <a:pPr marL="177800" indent="-177800">
              <a:spcAft>
                <a:spcPts val="600"/>
              </a:spcAft>
              <a:buSzPct val="100000"/>
              <a:buChar char="•"/>
            </a:pPr>
            <a:r>
              <a:rPr lang="en-US" sz="1300" dirty="0">
                <a:solidFill>
                  <a:schemeClr val="tx1"/>
                </a:solidFill>
              </a:rPr>
              <a:t>Each TA Dealer Number is unique among active partner dealer setups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REACH</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26 of 96 data products read it directly</a:t>
            </a:r>
            <a:endParaRPr lang="en-US" sz="3600" dirty="0"/>
          </a:p>
        </p:txBody>
      </p:sp>
      <p:graphicFrame>
        <p:nvGraphicFramePr>
          <p:cNvPr id="5" name="Chart 0" descr=""/>
          <p:cNvGraphicFramePr/>
          <p:nvPr/>
        </p:nvGraphicFramePr>
        <p:xfrm>
          <a:off x="548640" y="1783080"/>
          <a:ext cx="6217920" cy="4343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783080"/>
            <a:ext cx="2116836" cy="1691640"/>
          </a:xfrm>
          <a:prstGeom prst="roundRect">
            <a:avLst>
              <a:gd name="adj" fmla="val 4324"/>
            </a:avLst>
          </a:prstGeom>
          <a:solidFill>
            <a:schemeClr val="bg2"/>
          </a:solidFill>
          <a:ln/>
        </p:spPr>
      </p:sp>
      <p:sp>
        <p:nvSpPr>
          <p:cNvPr id="7" name="Text 3"/>
          <p:cNvSpPr txBox="1"/>
          <p:nvPr/>
        </p:nvSpPr>
        <p:spPr>
          <a:xfrm>
            <a:off x="7315200"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26</a:t>
            </a:r>
            <a:endParaRPr lang="en-US" sz="2800" dirty="0"/>
          </a:p>
        </p:txBody>
      </p:sp>
      <p:sp>
        <p:nvSpPr>
          <p:cNvPr id="8" name="Text 4"/>
          <p:cNvSpPr txBox="1"/>
          <p:nvPr/>
        </p:nvSpPr>
        <p:spPr>
          <a:xfrm>
            <a:off x="7315200"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products read this domain directly: 2 foundational and 24 consumer-aligned</a:t>
            </a:r>
            <a:endParaRPr lang="en-US" sz="1200" dirty="0"/>
          </a:p>
        </p:txBody>
      </p:sp>
      <p:sp>
        <p:nvSpPr>
          <p:cNvPr id="9" name="Shape 5"/>
          <p:cNvSpPr/>
          <p:nvPr/>
        </p:nvSpPr>
        <p:spPr>
          <a:xfrm>
            <a:off x="9523476" y="1783080"/>
            <a:ext cx="2116836" cy="1691640"/>
          </a:xfrm>
          <a:prstGeom prst="roundRect">
            <a:avLst>
              <a:gd name="adj" fmla="val 4324"/>
            </a:avLst>
          </a:prstGeom>
          <a:solidFill>
            <a:schemeClr val="bg2"/>
          </a:solidFill>
          <a:ln/>
        </p:spPr>
      </p:sp>
      <p:sp>
        <p:nvSpPr>
          <p:cNvPr id="10" name="Text 6"/>
          <p:cNvSpPr txBox="1"/>
          <p:nvPr/>
        </p:nvSpPr>
        <p:spPr>
          <a:xfrm>
            <a:off x="9706356"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36 of 36</a:t>
            </a:r>
            <a:endParaRPr lang="en-US" sz="2800" dirty="0"/>
          </a:p>
        </p:txBody>
      </p:sp>
      <p:sp>
        <p:nvSpPr>
          <p:cNvPr id="11" name="Text 7"/>
          <p:cNvSpPr txBox="1"/>
          <p:nvPr/>
        </p:nvSpPr>
        <p:spPr>
          <a:xfrm>
            <a:off x="9706356"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objects are used by at least one product</a:t>
            </a:r>
            <a:endParaRPr lang="en-US" sz="1200" dirty="0"/>
          </a:p>
        </p:txBody>
      </p:sp>
      <p:sp>
        <p:nvSpPr>
          <p:cNvPr id="12" name="Shape 8"/>
          <p:cNvSpPr/>
          <p:nvPr/>
        </p:nvSpPr>
        <p:spPr>
          <a:xfrm>
            <a:off x="7132320" y="3657600"/>
            <a:ext cx="2116836" cy="1691640"/>
          </a:xfrm>
          <a:prstGeom prst="roundRect">
            <a:avLst>
              <a:gd name="adj" fmla="val 4324"/>
            </a:avLst>
          </a:prstGeom>
          <a:solidFill>
            <a:schemeClr val="bg2"/>
          </a:solidFill>
          <a:ln/>
        </p:spPr>
      </p:sp>
      <p:sp>
        <p:nvSpPr>
          <p:cNvPr id="13" name="Text 9"/>
          <p:cNvSpPr txBox="1"/>
          <p:nvPr/>
        </p:nvSpPr>
        <p:spPr>
          <a:xfrm>
            <a:off x="7315200"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93%</a:t>
            </a:r>
            <a:endParaRPr lang="en-US" sz="2800" dirty="0"/>
          </a:p>
        </p:txBody>
      </p:sp>
      <p:sp>
        <p:nvSpPr>
          <p:cNvPr id="14" name="Text 10"/>
          <p:cNvSpPr txBox="1"/>
          <p:nvPr/>
        </p:nvSpPr>
        <p:spPr>
          <a:xfrm>
            <a:off x="7315200"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of attributes (243 of 262) appear in a product specification</a:t>
            </a:r>
            <a:endParaRPr lang="en-US" sz="1200" dirty="0"/>
          </a:p>
        </p:txBody>
      </p:sp>
      <p:sp>
        <p:nvSpPr>
          <p:cNvPr id="15" name="Shape 11"/>
          <p:cNvSpPr/>
          <p:nvPr/>
        </p:nvSpPr>
        <p:spPr>
          <a:xfrm>
            <a:off x="9523476" y="3657600"/>
            <a:ext cx="2116836" cy="1691640"/>
          </a:xfrm>
          <a:prstGeom prst="roundRect">
            <a:avLst>
              <a:gd name="adj" fmla="val 4324"/>
            </a:avLst>
          </a:prstGeom>
          <a:solidFill>
            <a:schemeClr val="bg2"/>
          </a:solidFill>
          <a:ln/>
        </p:spPr>
      </p:sp>
      <p:sp>
        <p:nvSpPr>
          <p:cNvPr id="16" name="Text 12"/>
          <p:cNvSpPr txBox="1"/>
          <p:nvPr/>
        </p:nvSpPr>
        <p:spPr>
          <a:xfrm>
            <a:off x="9706356"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10</a:t>
            </a:r>
            <a:endParaRPr lang="en-US" sz="2800" dirty="0"/>
          </a:p>
        </p:txBody>
      </p:sp>
      <p:sp>
        <p:nvSpPr>
          <p:cNvPr id="17" name="Text 13"/>
          <p:cNvSpPr txBox="1"/>
          <p:nvPr/>
        </p:nvSpPr>
        <p:spPr>
          <a:xfrm>
            <a:off x="9706356"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are analytical products, the largest group of the 26</a:t>
            </a:r>
            <a:endParaRPr lang="en-US" sz="1200" dirty="0"/>
          </a:p>
        </p:txBody>
      </p:sp>
      <p:sp>
        <p:nvSpPr>
          <p:cNvPr id="18" name="Text 14"/>
          <p:cNvSpPr txBox="1"/>
          <p:nvPr/>
        </p:nvSpPr>
        <p:spPr>
          <a:xfrm>
            <a:off x="7132320" y="5623560"/>
            <a:ext cx="4507992" cy="457200"/>
          </a:xfrm>
          <a:prstGeom prst="rect">
            <a:avLst/>
          </a:prstGeom>
          <a:noFill/>
          <a:ln/>
        </p:spPr>
        <p:txBody>
          <a:bodyPr wrap="square" lIns="0" tIns="0" rIns="0" bIns="0" rtlCol="0" anchor="t"/>
          <a:lstStyle/>
          <a:p>
            <a:pPr algn="l" indent="0" marL="0">
              <a:buNone/>
            </a:pPr>
            <a:r>
              <a:rPr lang="en-US" sz="1200" dirty="0">
                <a:solidFill>
                  <a:schemeClr val="tx2"/>
                </a:solidFill>
              </a:rPr>
              <a:t>By type: 10 analytical, 7 operational, 7 regulatory and control, 2 master and reference.</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Six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530352"/>
          </a:xfrm>
          <a:prstGeom prst="roundRect">
            <a:avLst>
              <a:gd name="adj" fmla="val 13793"/>
            </a:avLst>
          </a:prstGeom>
          <a:solidFill>
            <a:schemeClr val="bg2"/>
          </a:solidFill>
          <a:ln/>
        </p:spPr>
      </p:sp>
      <p:sp>
        <p:nvSpPr>
          <p:cNvPr id="7" name="Text 4"/>
          <p:cNvSpPr/>
          <p:nvPr/>
        </p:nvSpPr>
        <p:spPr>
          <a:xfrm>
            <a:off x="731520" y="2153412"/>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DP-005</a:t>
            </a:r>
            <a:endParaRPr lang="en-US" sz="1200" dirty="0"/>
          </a:p>
        </p:txBody>
      </p:sp>
      <p:sp>
        <p:nvSpPr>
          <p:cNvPr id="8" name="Text 5"/>
          <p:cNvSpPr txBox="1"/>
          <p:nvPr/>
        </p:nvSpPr>
        <p:spPr>
          <a:xfrm>
            <a:off x="1828800" y="2103120"/>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Distribution Agreements &amp; Shelf Status</a:t>
            </a:r>
            <a:endParaRPr lang="en-US" sz="1300" dirty="0"/>
          </a:p>
        </p:txBody>
      </p:sp>
      <p:sp>
        <p:nvSpPr>
          <p:cNvPr id="9" name="Text 6"/>
          <p:cNvSpPr txBox="1"/>
          <p:nvPr/>
        </p:nvSpPr>
        <p:spPr>
          <a:xfrm>
            <a:off x="1828800" y="2359152"/>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Foundational  |  National Accounts</a:t>
            </a:r>
            <a:endParaRPr lang="en-US" sz="1000" dirty="0"/>
          </a:p>
        </p:txBody>
      </p:sp>
      <p:sp>
        <p:nvSpPr>
          <p:cNvPr id="10" name="Text 7"/>
          <p:cNvSpPr txBox="1"/>
          <p:nvPr/>
        </p:nvSpPr>
        <p:spPr>
          <a:xfrm>
            <a:off x="5897880" y="2057400"/>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The register of agreements, what they cover and pay, and each product's shelf status by firm.</a:t>
            </a:r>
            <a:endParaRPr lang="en-US" sz="1100" dirty="0"/>
          </a:p>
        </p:txBody>
      </p:sp>
      <p:sp>
        <p:nvSpPr>
          <p:cNvPr id="11" name="Shape 8"/>
          <p:cNvSpPr/>
          <p:nvPr/>
        </p:nvSpPr>
        <p:spPr>
          <a:xfrm>
            <a:off x="9326880" y="2258568"/>
            <a:ext cx="1371600" cy="128016"/>
          </a:xfrm>
          <a:prstGeom prst="rect">
            <a:avLst/>
          </a:prstGeom>
          <a:solidFill>
            <a:schemeClr val="bg1"/>
          </a:solidFill>
          <a:ln/>
        </p:spPr>
      </p:sp>
      <p:sp>
        <p:nvSpPr>
          <p:cNvPr id="12" name="Shape 9"/>
          <p:cNvSpPr/>
          <p:nvPr/>
        </p:nvSpPr>
        <p:spPr>
          <a:xfrm>
            <a:off x="9326880" y="2258568"/>
            <a:ext cx="1371600" cy="128016"/>
          </a:xfrm>
          <a:prstGeom prst="rect">
            <a:avLst/>
          </a:prstGeom>
          <a:solidFill>
            <a:schemeClr val="accent1"/>
          </a:solidFill>
          <a:ln/>
        </p:spPr>
      </p:sp>
      <p:sp>
        <p:nvSpPr>
          <p:cNvPr id="13" name="Text 10"/>
          <p:cNvSpPr txBox="1"/>
          <p:nvPr/>
        </p:nvSpPr>
        <p:spPr>
          <a:xfrm>
            <a:off x="10789920" y="2057400"/>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103 of 103</a:t>
            </a:r>
            <a:endParaRPr lang="en-US" sz="1200" dirty="0"/>
          </a:p>
        </p:txBody>
      </p:sp>
      <p:sp>
        <p:nvSpPr>
          <p:cNvPr id="14" name="Shape 11"/>
          <p:cNvSpPr/>
          <p:nvPr/>
        </p:nvSpPr>
        <p:spPr>
          <a:xfrm>
            <a:off x="548640" y="2660904"/>
            <a:ext cx="11091672" cy="530352"/>
          </a:xfrm>
          <a:prstGeom prst="roundRect">
            <a:avLst>
              <a:gd name="adj" fmla="val 13793"/>
            </a:avLst>
          </a:prstGeom>
          <a:solidFill>
            <a:schemeClr val="bg2"/>
          </a:solidFill>
          <a:ln/>
        </p:spPr>
      </p:sp>
      <p:sp>
        <p:nvSpPr>
          <p:cNvPr id="15" name="Text 12"/>
          <p:cNvSpPr/>
          <p:nvPr/>
        </p:nvSpPr>
        <p:spPr>
          <a:xfrm>
            <a:off x="731520" y="275691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DP-020</a:t>
            </a:r>
            <a:endParaRPr lang="en-US" sz="1200" dirty="0"/>
          </a:p>
        </p:txBody>
      </p:sp>
      <p:sp>
        <p:nvSpPr>
          <p:cNvPr id="16" name="Text 13"/>
          <p:cNvSpPr txBox="1"/>
          <p:nvPr/>
        </p:nvSpPr>
        <p:spPr>
          <a:xfrm>
            <a:off x="1828800" y="2706624"/>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National Account Partner Scorecard</a:t>
            </a:r>
            <a:endParaRPr lang="en-US" sz="1300" dirty="0"/>
          </a:p>
        </p:txBody>
      </p:sp>
      <p:sp>
        <p:nvSpPr>
          <p:cNvPr id="17" name="Text 14"/>
          <p:cNvSpPr txBox="1"/>
          <p:nvPr/>
        </p:nvSpPr>
        <p:spPr>
          <a:xfrm>
            <a:off x="1828800" y="2962656"/>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Analytical  |  National Accounts and Strategic Partnerships</a:t>
            </a:r>
            <a:endParaRPr lang="en-US" sz="1000" dirty="0"/>
          </a:p>
        </p:txBody>
      </p:sp>
      <p:sp>
        <p:nvSpPr>
          <p:cNvPr id="18" name="Text 15"/>
          <p:cNvSpPr txBox="1"/>
          <p:nvPr/>
        </p:nvSpPr>
        <p:spPr>
          <a:xfrm>
            <a:off x="5897880" y="2660904"/>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A periodic scorecard per partner: flows, payments, shelf access, research standing, programs.</a:t>
            </a:r>
            <a:endParaRPr lang="en-US" sz="1100" dirty="0"/>
          </a:p>
        </p:txBody>
      </p:sp>
      <p:sp>
        <p:nvSpPr>
          <p:cNvPr id="19" name="Shape 16"/>
          <p:cNvSpPr/>
          <p:nvPr/>
        </p:nvSpPr>
        <p:spPr>
          <a:xfrm>
            <a:off x="9326880" y="2862072"/>
            <a:ext cx="1371600" cy="128016"/>
          </a:xfrm>
          <a:prstGeom prst="rect">
            <a:avLst/>
          </a:prstGeom>
          <a:solidFill>
            <a:schemeClr val="bg1"/>
          </a:solidFill>
          <a:ln/>
        </p:spPr>
      </p:sp>
      <p:sp>
        <p:nvSpPr>
          <p:cNvPr id="20" name="Shape 17"/>
          <p:cNvSpPr/>
          <p:nvPr/>
        </p:nvSpPr>
        <p:spPr>
          <a:xfrm>
            <a:off x="9326880" y="2862072"/>
            <a:ext cx="744583" cy="128016"/>
          </a:xfrm>
          <a:prstGeom prst="rect">
            <a:avLst/>
          </a:prstGeom>
          <a:solidFill>
            <a:schemeClr val="accent1"/>
          </a:solidFill>
          <a:ln/>
        </p:spPr>
      </p:sp>
      <p:sp>
        <p:nvSpPr>
          <p:cNvPr id="21" name="Text 18"/>
          <p:cNvSpPr txBox="1"/>
          <p:nvPr/>
        </p:nvSpPr>
        <p:spPr>
          <a:xfrm>
            <a:off x="10789920" y="2660904"/>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57 of 105</a:t>
            </a:r>
            <a:endParaRPr lang="en-US" sz="1200" dirty="0"/>
          </a:p>
        </p:txBody>
      </p:sp>
      <p:sp>
        <p:nvSpPr>
          <p:cNvPr id="22" name="Shape 19"/>
          <p:cNvSpPr/>
          <p:nvPr/>
        </p:nvSpPr>
        <p:spPr>
          <a:xfrm>
            <a:off x="548640" y="3264408"/>
            <a:ext cx="11091672" cy="530352"/>
          </a:xfrm>
          <a:prstGeom prst="roundRect">
            <a:avLst>
              <a:gd name="adj" fmla="val 13793"/>
            </a:avLst>
          </a:prstGeom>
          <a:solidFill>
            <a:schemeClr val="bg2"/>
          </a:solidFill>
          <a:ln/>
        </p:spPr>
      </p:sp>
      <p:sp>
        <p:nvSpPr>
          <p:cNvPr id="23" name="Text 20"/>
          <p:cNvSpPr/>
          <p:nvPr/>
        </p:nvSpPr>
        <p:spPr>
          <a:xfrm>
            <a:off x="731520" y="3360420"/>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DP-021</a:t>
            </a:r>
            <a:endParaRPr lang="en-US" sz="1200" dirty="0"/>
          </a:p>
        </p:txBody>
      </p:sp>
      <p:sp>
        <p:nvSpPr>
          <p:cNvPr id="24" name="Text 21"/>
          <p:cNvSpPr txBox="1"/>
          <p:nvPr/>
        </p:nvSpPr>
        <p:spPr>
          <a:xfrm>
            <a:off x="1828800" y="3310128"/>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Platform Shelf &amp; Placement Coverage</a:t>
            </a:r>
            <a:endParaRPr lang="en-US" sz="1300" dirty="0"/>
          </a:p>
        </p:txBody>
      </p:sp>
      <p:sp>
        <p:nvSpPr>
          <p:cNvPr id="25" name="Text 22"/>
          <p:cNvSpPr txBox="1"/>
          <p:nvPr/>
        </p:nvSpPr>
        <p:spPr>
          <a:xfrm>
            <a:off x="1828800" y="3566160"/>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Analytical  |  National Accounts and Strategic Partnerships</a:t>
            </a:r>
            <a:endParaRPr lang="en-US" sz="1000" dirty="0"/>
          </a:p>
        </p:txBody>
      </p:sp>
      <p:sp>
        <p:nvSpPr>
          <p:cNvPr id="26" name="Text 23"/>
          <p:cNvSpPr txBox="1"/>
          <p:nvPr/>
        </p:nvSpPr>
        <p:spPr>
          <a:xfrm>
            <a:off x="5897880" y="3264408"/>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Where each product and share class is available by platform, with coverage and speed to shelf.</a:t>
            </a:r>
            <a:endParaRPr lang="en-US" sz="1100" dirty="0"/>
          </a:p>
        </p:txBody>
      </p:sp>
      <p:sp>
        <p:nvSpPr>
          <p:cNvPr id="27" name="Shape 24"/>
          <p:cNvSpPr/>
          <p:nvPr/>
        </p:nvSpPr>
        <p:spPr>
          <a:xfrm>
            <a:off x="9326880" y="3465576"/>
            <a:ext cx="1371600" cy="128016"/>
          </a:xfrm>
          <a:prstGeom prst="rect">
            <a:avLst/>
          </a:prstGeom>
          <a:solidFill>
            <a:schemeClr val="bg1"/>
          </a:solidFill>
          <a:ln/>
        </p:spPr>
      </p:sp>
      <p:sp>
        <p:nvSpPr>
          <p:cNvPr id="28" name="Shape 25"/>
          <p:cNvSpPr/>
          <p:nvPr/>
        </p:nvSpPr>
        <p:spPr>
          <a:xfrm>
            <a:off x="9326880" y="3465576"/>
            <a:ext cx="763929" cy="128016"/>
          </a:xfrm>
          <a:prstGeom prst="rect">
            <a:avLst/>
          </a:prstGeom>
          <a:solidFill>
            <a:schemeClr val="accent1"/>
          </a:solidFill>
          <a:ln/>
        </p:spPr>
      </p:sp>
      <p:sp>
        <p:nvSpPr>
          <p:cNvPr id="29" name="Text 26"/>
          <p:cNvSpPr txBox="1"/>
          <p:nvPr/>
        </p:nvSpPr>
        <p:spPr>
          <a:xfrm>
            <a:off x="10789920" y="3264408"/>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44 of 79</a:t>
            </a:r>
            <a:endParaRPr lang="en-US" sz="1200" dirty="0"/>
          </a:p>
        </p:txBody>
      </p:sp>
      <p:sp>
        <p:nvSpPr>
          <p:cNvPr id="30" name="Shape 27"/>
          <p:cNvSpPr/>
          <p:nvPr/>
        </p:nvSpPr>
        <p:spPr>
          <a:xfrm>
            <a:off x="548640" y="3867912"/>
            <a:ext cx="11091672" cy="530352"/>
          </a:xfrm>
          <a:prstGeom prst="roundRect">
            <a:avLst>
              <a:gd name="adj" fmla="val 13793"/>
            </a:avLst>
          </a:prstGeom>
          <a:solidFill>
            <a:schemeClr val="bg2"/>
          </a:solidFill>
          <a:ln/>
        </p:spPr>
      </p:sp>
      <p:sp>
        <p:nvSpPr>
          <p:cNvPr id="31" name="Text 28"/>
          <p:cNvSpPr/>
          <p:nvPr/>
        </p:nvSpPr>
        <p:spPr>
          <a:xfrm>
            <a:off x="731520" y="3963924"/>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DP-050</a:t>
            </a:r>
            <a:endParaRPr lang="en-US" sz="1200" dirty="0"/>
          </a:p>
        </p:txBody>
      </p:sp>
      <p:sp>
        <p:nvSpPr>
          <p:cNvPr id="32" name="Text 29"/>
          <p:cNvSpPr txBox="1"/>
          <p:nvPr/>
        </p:nvSpPr>
        <p:spPr>
          <a:xfrm>
            <a:off x="1828800" y="3913632"/>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Model Portfolio &amp; SMA Placement and Flows</a:t>
            </a:r>
            <a:endParaRPr lang="en-US" sz="1300" dirty="0"/>
          </a:p>
        </p:txBody>
      </p:sp>
      <p:sp>
        <p:nvSpPr>
          <p:cNvPr id="33" name="Text 30"/>
          <p:cNvSpPr txBox="1"/>
          <p:nvPr/>
        </p:nvSpPr>
        <p:spPr>
          <a:xfrm>
            <a:off x="1828800" y="4169664"/>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Analytical  |  National Accounts and Strategic Partnerships</a:t>
            </a:r>
            <a:endParaRPr lang="en-US" sz="1000" dirty="0"/>
          </a:p>
        </p:txBody>
      </p:sp>
      <p:sp>
        <p:nvSpPr>
          <p:cNvPr id="34" name="Text 31"/>
          <p:cNvSpPr txBox="1"/>
          <p:nvPr/>
        </p:nvSpPr>
        <p:spPr>
          <a:xfrm>
            <a:off x="5897880" y="3867912"/>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Where models and SMA strategies are placed in sponsor programs, with the assets and flows.</a:t>
            </a:r>
            <a:endParaRPr lang="en-US" sz="1100" dirty="0"/>
          </a:p>
        </p:txBody>
      </p:sp>
      <p:sp>
        <p:nvSpPr>
          <p:cNvPr id="35" name="Shape 32"/>
          <p:cNvSpPr/>
          <p:nvPr/>
        </p:nvSpPr>
        <p:spPr>
          <a:xfrm>
            <a:off x="9326880" y="4069080"/>
            <a:ext cx="1371600" cy="128016"/>
          </a:xfrm>
          <a:prstGeom prst="rect">
            <a:avLst/>
          </a:prstGeom>
          <a:solidFill>
            <a:schemeClr val="bg1"/>
          </a:solidFill>
          <a:ln/>
        </p:spPr>
      </p:sp>
      <p:sp>
        <p:nvSpPr>
          <p:cNvPr id="36" name="Shape 33"/>
          <p:cNvSpPr/>
          <p:nvPr/>
        </p:nvSpPr>
        <p:spPr>
          <a:xfrm>
            <a:off x="9326880" y="4069080"/>
            <a:ext cx="705971" cy="128016"/>
          </a:xfrm>
          <a:prstGeom prst="rect">
            <a:avLst/>
          </a:prstGeom>
          <a:solidFill>
            <a:schemeClr val="accent1"/>
          </a:solidFill>
          <a:ln/>
        </p:spPr>
      </p:sp>
      <p:sp>
        <p:nvSpPr>
          <p:cNvPr id="37" name="Text 34"/>
          <p:cNvSpPr txBox="1"/>
          <p:nvPr/>
        </p:nvSpPr>
        <p:spPr>
          <a:xfrm>
            <a:off x="10789920" y="3867912"/>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35 of 68</a:t>
            </a:r>
            <a:endParaRPr lang="en-US" sz="1200" dirty="0"/>
          </a:p>
        </p:txBody>
      </p:sp>
      <p:sp>
        <p:nvSpPr>
          <p:cNvPr id="38" name="Shape 35"/>
          <p:cNvSpPr/>
          <p:nvPr/>
        </p:nvSpPr>
        <p:spPr>
          <a:xfrm>
            <a:off x="548640" y="4471416"/>
            <a:ext cx="11091672" cy="530352"/>
          </a:xfrm>
          <a:prstGeom prst="roundRect">
            <a:avLst>
              <a:gd name="adj" fmla="val 13793"/>
            </a:avLst>
          </a:prstGeom>
          <a:solidFill>
            <a:schemeClr val="bg2"/>
          </a:solidFill>
          <a:ln/>
        </p:spPr>
      </p:sp>
      <p:sp>
        <p:nvSpPr>
          <p:cNvPr id="39" name="Text 36"/>
          <p:cNvSpPr/>
          <p:nvPr/>
        </p:nvSpPr>
        <p:spPr>
          <a:xfrm>
            <a:off x="731520" y="4567428"/>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DP-063</a:t>
            </a:r>
            <a:endParaRPr lang="en-US" sz="1200" dirty="0"/>
          </a:p>
        </p:txBody>
      </p:sp>
      <p:sp>
        <p:nvSpPr>
          <p:cNvPr id="40" name="Text 37"/>
          <p:cNvSpPr txBox="1"/>
          <p:nvPr/>
        </p:nvSpPr>
        <p:spPr>
          <a:xfrm>
            <a:off x="1828800" y="4517136"/>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Revenue Sharing &amp; Inducement Disclosure</a:t>
            </a:r>
            <a:endParaRPr lang="en-US" sz="1300" dirty="0"/>
          </a:p>
        </p:txBody>
      </p:sp>
      <p:sp>
        <p:nvSpPr>
          <p:cNvPr id="41" name="Text 38"/>
          <p:cNvSpPr txBox="1"/>
          <p:nvPr/>
        </p:nvSpPr>
        <p:spPr>
          <a:xfrm>
            <a:off x="1828800" y="4773168"/>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Distribution Compliance</a:t>
            </a:r>
            <a:endParaRPr lang="en-US" sz="1000" dirty="0"/>
          </a:p>
        </p:txBody>
      </p:sp>
      <p:sp>
        <p:nvSpPr>
          <p:cNvPr id="42" name="Text 39"/>
          <p:cNvSpPr txBox="1"/>
          <p:nvPr/>
        </p:nvSpPr>
        <p:spPr>
          <a:xfrm>
            <a:off x="5897880" y="4471416"/>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Payments to each intermediary, reconciled to what the firm and its partners disclose.</a:t>
            </a:r>
            <a:endParaRPr lang="en-US" sz="1100" dirty="0"/>
          </a:p>
        </p:txBody>
      </p:sp>
      <p:sp>
        <p:nvSpPr>
          <p:cNvPr id="43" name="Shape 40"/>
          <p:cNvSpPr/>
          <p:nvPr/>
        </p:nvSpPr>
        <p:spPr>
          <a:xfrm>
            <a:off x="9326880" y="4672584"/>
            <a:ext cx="1371600" cy="128016"/>
          </a:xfrm>
          <a:prstGeom prst="rect">
            <a:avLst/>
          </a:prstGeom>
          <a:solidFill>
            <a:schemeClr val="bg1"/>
          </a:solidFill>
          <a:ln/>
        </p:spPr>
      </p:sp>
      <p:sp>
        <p:nvSpPr>
          <p:cNvPr id="44" name="Shape 41"/>
          <p:cNvSpPr/>
          <p:nvPr/>
        </p:nvSpPr>
        <p:spPr>
          <a:xfrm>
            <a:off x="9326880" y="4672584"/>
            <a:ext cx="932688" cy="128016"/>
          </a:xfrm>
          <a:prstGeom prst="rect">
            <a:avLst/>
          </a:prstGeom>
          <a:solidFill>
            <a:schemeClr val="accent1"/>
          </a:solidFill>
          <a:ln/>
        </p:spPr>
      </p:sp>
      <p:sp>
        <p:nvSpPr>
          <p:cNvPr id="45" name="Text 42"/>
          <p:cNvSpPr txBox="1"/>
          <p:nvPr/>
        </p:nvSpPr>
        <p:spPr>
          <a:xfrm>
            <a:off x="10789920" y="4471416"/>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51 of 75</a:t>
            </a:r>
            <a:endParaRPr lang="en-US" sz="1200" dirty="0"/>
          </a:p>
        </p:txBody>
      </p:sp>
      <p:sp>
        <p:nvSpPr>
          <p:cNvPr id="46" name="Shape 43"/>
          <p:cNvSpPr/>
          <p:nvPr/>
        </p:nvSpPr>
        <p:spPr>
          <a:xfrm>
            <a:off x="548640" y="5074920"/>
            <a:ext cx="11091672" cy="530352"/>
          </a:xfrm>
          <a:prstGeom prst="roundRect">
            <a:avLst>
              <a:gd name="adj" fmla="val 13793"/>
            </a:avLst>
          </a:prstGeom>
          <a:solidFill>
            <a:schemeClr val="bg2"/>
          </a:solidFill>
          <a:ln/>
        </p:spPr>
      </p:sp>
      <p:sp>
        <p:nvSpPr>
          <p:cNvPr id="47" name="Text 44"/>
          <p:cNvSpPr/>
          <p:nvPr/>
        </p:nvSpPr>
        <p:spPr>
          <a:xfrm>
            <a:off x="731520" y="5170932"/>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DP-081</a:t>
            </a:r>
            <a:endParaRPr lang="en-US" sz="1200" dirty="0"/>
          </a:p>
        </p:txBody>
      </p:sp>
      <p:sp>
        <p:nvSpPr>
          <p:cNvPr id="48" name="Text 45"/>
          <p:cNvSpPr txBox="1"/>
          <p:nvPr/>
        </p:nvSpPr>
        <p:spPr>
          <a:xfrm>
            <a:off x="1828800" y="5120640"/>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Partner Contract Obligations &amp; SLAs</a:t>
            </a:r>
            <a:endParaRPr lang="en-US" sz="1300" dirty="0"/>
          </a:p>
        </p:txBody>
      </p:sp>
      <p:sp>
        <p:nvSpPr>
          <p:cNvPr id="49" name="Text 46"/>
          <p:cNvSpPr txBox="1"/>
          <p:nvPr/>
        </p:nvSpPr>
        <p:spPr>
          <a:xfrm>
            <a:off x="1828800" y="5376672"/>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National Accounts</a:t>
            </a:r>
            <a:endParaRPr lang="en-US" sz="1000" dirty="0"/>
          </a:p>
        </p:txBody>
      </p:sp>
      <p:sp>
        <p:nvSpPr>
          <p:cNvPr id="50" name="Text 47"/>
          <p:cNvSpPr txBox="1"/>
          <p:nvPr/>
        </p:nvSpPr>
        <p:spPr>
          <a:xfrm>
            <a:off x="5897880" y="5074920"/>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Obligations, service levels and attestations under each agreement, and which are being missed.</a:t>
            </a:r>
            <a:endParaRPr lang="en-US" sz="1100" dirty="0"/>
          </a:p>
        </p:txBody>
      </p:sp>
      <p:sp>
        <p:nvSpPr>
          <p:cNvPr id="51" name="Shape 48"/>
          <p:cNvSpPr/>
          <p:nvPr/>
        </p:nvSpPr>
        <p:spPr>
          <a:xfrm>
            <a:off x="9326880" y="5276088"/>
            <a:ext cx="1371600" cy="128016"/>
          </a:xfrm>
          <a:prstGeom prst="rect">
            <a:avLst/>
          </a:prstGeom>
          <a:solidFill>
            <a:schemeClr val="bg1"/>
          </a:solidFill>
          <a:ln/>
        </p:spPr>
      </p:sp>
      <p:sp>
        <p:nvSpPr>
          <p:cNvPr id="52" name="Shape 49"/>
          <p:cNvSpPr/>
          <p:nvPr/>
        </p:nvSpPr>
        <p:spPr>
          <a:xfrm>
            <a:off x="9326880" y="5276088"/>
            <a:ext cx="1244600" cy="128016"/>
          </a:xfrm>
          <a:prstGeom prst="rect">
            <a:avLst/>
          </a:prstGeom>
          <a:solidFill>
            <a:schemeClr val="accent1"/>
          </a:solidFill>
          <a:ln/>
        </p:spPr>
      </p:sp>
      <p:sp>
        <p:nvSpPr>
          <p:cNvPr id="53" name="Text 50"/>
          <p:cNvSpPr txBox="1"/>
          <p:nvPr/>
        </p:nvSpPr>
        <p:spPr>
          <a:xfrm>
            <a:off x="10789920" y="5074920"/>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49 of 54</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OTHER DOMAINS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20 more rely on it for shelf and payments</a:t>
            </a:r>
            <a:endParaRPr lang="en-US" sz="3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00400"/>
                <a:gridCol w="3200400"/>
                <a:gridCol w="4690872"/>
              </a:tblGrid>
              <a:tr h="365760">
                <a:tc>
                  <a:txBody>
                    <a:bodyPr/>
                    <a:lstStyle/>
                    <a:p>
                      <a:pPr indent="0" marL="0">
                        <a:buNone/>
                      </a:pPr>
                      <a:r>
                        <a:rPr lang="en-US" sz="1200" b="1" dirty="0">
                          <a:solidFill>
                            <a:schemeClr val="bg1"/>
                          </a:solidFill>
                        </a:rPr>
                        <a:t>Who it serves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supplies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rPr>
                        <a:t>Field sales and advisor analytics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DP-017, DP-018, DP-046, DP-047, DP-048</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Shelf placement status at the advisor's firm; research ratings and watch list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Distribution finance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DP-034, DP-056, DP-089</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Payment arrangements, rate schedules, calculations, invoices, payments and program commitments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Product management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DP-029, DP-058, DP-076</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Shelf placement status and trade-enabled dates; permitted use of partner data feeds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Distribution compliance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DP-037, DP-060, DP-084</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Agreement type and status, share class mappings, networking level and Rule 22c-2 flag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EU and UK cross-border distribution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DP-064, DP-065</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Retrocession terms, permitted investor types, EMT deliveries and ex-post inducement amounts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Retirement and DCIO</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DP-024, DP-066</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Shelf placement status on recordkeeper platforms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Investor servicing and fund operations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DP-079, DP-093</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Dealer setup, dealing and settlement routes and shelf status; the agreement and program behind an account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89788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A further 63 products take agreements and shelf status only through DP-005, without reading this domain directly.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ONE ATTRIBUTE, END TO END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attribute, followed to an answer</a:t>
            </a:r>
            <a:endParaRPr lang="en-US" sz="3600" dirty="0"/>
          </a:p>
        </p:txBody>
      </p:sp>
      <p:sp>
        <p:nvSpPr>
          <p:cNvPr id="5" name="Shape 2"/>
          <p:cNvSpPr/>
          <p:nvPr/>
        </p:nvSpPr>
        <p:spPr>
          <a:xfrm>
            <a:off x="548640" y="1874520"/>
            <a:ext cx="1938528" cy="2514600"/>
          </a:xfrm>
          <a:prstGeom prst="roundRect">
            <a:avLst>
              <a:gd name="adj" fmla="val 3774"/>
            </a:avLst>
          </a:prstGeom>
          <a:solidFill>
            <a:schemeClr val="accent2"/>
          </a:solidFill>
          <a:ln/>
        </p:spPr>
      </p:sp>
      <p:sp>
        <p:nvSpPr>
          <p:cNvPr id="6" name="Text 3"/>
          <p:cNvSpPr txBox="1"/>
          <p:nvPr/>
        </p:nvSpPr>
        <p:spPr>
          <a:xfrm>
            <a:off x="731520"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bg1"/>
                </a:solidFill>
              </a:rPr>
              <a:t>TAXONOMY</a:t>
            </a:r>
            <a:endParaRPr lang="en-US" sz="1100" dirty="0"/>
          </a:p>
        </p:txBody>
      </p:sp>
      <p:sp>
        <p:nvSpPr>
          <p:cNvPr id="7" name="Text 4"/>
          <p:cNvSpPr txBox="1"/>
          <p:nvPr/>
        </p:nvSpPr>
        <p:spPr>
          <a:xfrm>
            <a:off x="731520" y="2331720"/>
            <a:ext cx="1572768" cy="548640"/>
          </a:xfrm>
          <a:prstGeom prst="rect">
            <a:avLst/>
          </a:prstGeom>
          <a:noFill/>
          <a:ln/>
        </p:spPr>
        <p:txBody>
          <a:bodyPr wrap="square" lIns="0" tIns="0" rIns="0" bIns="0" rtlCol="0" anchor="ctr"/>
          <a:lstStyle/>
          <a:p>
            <a:pPr algn="l" indent="0" marL="0">
              <a:buNone/>
            </a:pPr>
            <a:r>
              <a:rPr lang="en-US" sz="1400" b="1" dirty="0">
                <a:solidFill>
                  <a:schemeClr val="bg1"/>
                </a:solidFill>
              </a:rPr>
              <a:t>Placement Status</a:t>
            </a:r>
            <a:endParaRPr lang="en-US" sz="1400" dirty="0"/>
          </a:p>
        </p:txBody>
      </p:sp>
      <p:sp>
        <p:nvSpPr>
          <p:cNvPr id="8" name="Text 5"/>
          <p:cNvSpPr txBox="1"/>
          <p:nvPr/>
        </p:nvSpPr>
        <p:spPr>
          <a:xfrm>
            <a:off x="731520" y="2971800"/>
            <a:ext cx="1572768" cy="1280160"/>
          </a:xfrm>
          <a:prstGeom prst="rect">
            <a:avLst/>
          </a:prstGeom>
          <a:noFill/>
          <a:ln/>
        </p:spPr>
        <p:txBody>
          <a:bodyPr wrap="square" lIns="0" tIns="0" rIns="0" bIns="0" rtlCol="0" anchor="t"/>
          <a:lstStyle/>
          <a:p>
            <a:pPr algn="l" indent="0" marL="0">
              <a:buNone/>
            </a:pPr>
            <a:r>
              <a:rPr lang="en-US" sz="1200" dirty="0">
                <a:solidFill>
                  <a:schemeClr val="bg1"/>
                </a:solidFill>
              </a:rPr>
              <a:t>Defined once, in the Shelf Placement object: the status of a product on a partner's list, with effective dates.</a:t>
            </a:r>
            <a:endParaRPr lang="en-US" sz="1200" dirty="0"/>
          </a:p>
        </p:txBody>
      </p:sp>
      <p:sp>
        <p:nvSpPr>
          <p:cNvPr id="9" name="Shape 6"/>
          <p:cNvSpPr/>
          <p:nvPr/>
        </p:nvSpPr>
        <p:spPr>
          <a:xfrm>
            <a:off x="2532888" y="3131820"/>
            <a:ext cx="258318" cy="0"/>
          </a:xfrm>
          <a:prstGeom prst="line">
            <a:avLst/>
          </a:prstGeom>
          <a:noFill/>
          <a:ln w="19050">
            <a:solidFill>
              <a:schemeClr val="tx2"/>
            </a:solidFill>
            <a:prstDash val="solid"/>
            <a:tailEnd type="triangle"/>
          </a:ln>
        </p:spPr>
      </p:sp>
      <p:sp>
        <p:nvSpPr>
          <p:cNvPr id="10" name="Shape 7"/>
          <p:cNvSpPr/>
          <p:nvPr/>
        </p:nvSpPr>
        <p:spPr>
          <a:xfrm>
            <a:off x="2836926" y="1874520"/>
            <a:ext cx="1938528" cy="2514600"/>
          </a:xfrm>
          <a:prstGeom prst="roundRect">
            <a:avLst>
              <a:gd name="adj" fmla="val 3774"/>
            </a:avLst>
          </a:prstGeom>
          <a:solidFill>
            <a:schemeClr val="bg2"/>
          </a:solidFill>
          <a:ln/>
        </p:spPr>
      </p:sp>
      <p:sp>
        <p:nvSpPr>
          <p:cNvPr id="11" name="Text 8"/>
          <p:cNvSpPr txBox="1"/>
          <p:nvPr/>
        </p:nvSpPr>
        <p:spPr>
          <a:xfrm>
            <a:off x="3019806"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FOUNDATIONAL</a:t>
            </a:r>
            <a:endParaRPr lang="en-US" sz="1100" dirty="0"/>
          </a:p>
        </p:txBody>
      </p:sp>
      <p:sp>
        <p:nvSpPr>
          <p:cNvPr id="12" name="Text 9"/>
          <p:cNvSpPr txBox="1"/>
          <p:nvPr/>
        </p:nvSpPr>
        <p:spPr>
          <a:xfrm>
            <a:off x="3019806"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DP-005</a:t>
            </a:r>
            <a:endParaRPr lang="en-US" sz="1400" dirty="0"/>
          </a:p>
        </p:txBody>
      </p:sp>
      <p:sp>
        <p:nvSpPr>
          <p:cNvPr id="13" name="Text 10"/>
          <p:cNvSpPr txBox="1"/>
          <p:nvPr/>
        </p:nvSpPr>
        <p:spPr>
          <a:xfrm>
            <a:off x="3019806"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Publishes one status per partner, platform, share class and list type. Quality rule: status periods never overlap.</a:t>
            </a:r>
            <a:endParaRPr lang="en-US" sz="1200" dirty="0"/>
          </a:p>
        </p:txBody>
      </p:sp>
      <p:sp>
        <p:nvSpPr>
          <p:cNvPr id="14" name="Shape 11"/>
          <p:cNvSpPr/>
          <p:nvPr/>
        </p:nvSpPr>
        <p:spPr>
          <a:xfrm>
            <a:off x="4821174" y="3131820"/>
            <a:ext cx="258318" cy="0"/>
          </a:xfrm>
          <a:prstGeom prst="line">
            <a:avLst/>
          </a:prstGeom>
          <a:noFill/>
          <a:ln w="19050">
            <a:solidFill>
              <a:schemeClr val="tx2"/>
            </a:solidFill>
            <a:prstDash val="solid"/>
            <a:tailEnd type="triangle"/>
          </a:ln>
        </p:spPr>
      </p:sp>
      <p:sp>
        <p:nvSpPr>
          <p:cNvPr id="15" name="Shape 12"/>
          <p:cNvSpPr/>
          <p:nvPr/>
        </p:nvSpPr>
        <p:spPr>
          <a:xfrm>
            <a:off x="5125212" y="1874520"/>
            <a:ext cx="1938528" cy="2514600"/>
          </a:xfrm>
          <a:prstGeom prst="roundRect">
            <a:avLst>
              <a:gd name="adj" fmla="val 3774"/>
            </a:avLst>
          </a:prstGeom>
          <a:solidFill>
            <a:schemeClr val="bg2"/>
          </a:solidFill>
          <a:ln/>
        </p:spPr>
      </p:sp>
      <p:sp>
        <p:nvSpPr>
          <p:cNvPr id="16" name="Text 13"/>
          <p:cNvSpPr txBox="1"/>
          <p:nvPr/>
        </p:nvSpPr>
        <p:spPr>
          <a:xfrm>
            <a:off x="5308092"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CONSUMER</a:t>
            </a:r>
            <a:endParaRPr lang="en-US" sz="1100" dirty="0"/>
          </a:p>
        </p:txBody>
      </p:sp>
      <p:sp>
        <p:nvSpPr>
          <p:cNvPr id="17" name="Text 14"/>
          <p:cNvSpPr txBox="1"/>
          <p:nvPr/>
        </p:nvSpPr>
        <p:spPr>
          <a:xfrm>
            <a:off x="5308092"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DP-021</a:t>
            </a:r>
            <a:endParaRPr lang="en-US" sz="1400" dirty="0"/>
          </a:p>
        </p:txBody>
      </p:sp>
      <p:sp>
        <p:nvSpPr>
          <p:cNvPr id="18" name="Text 15"/>
          <p:cNvSpPr txBox="1"/>
          <p:nvPr/>
        </p:nvSpPr>
        <p:spPr>
          <a:xfrm>
            <a:off x="5308092"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Platform Shelf &amp; Placement Coverage compares approved placements with what each partner's agreements cover.</a:t>
            </a:r>
            <a:endParaRPr lang="en-US" sz="1200" dirty="0"/>
          </a:p>
        </p:txBody>
      </p:sp>
      <p:sp>
        <p:nvSpPr>
          <p:cNvPr id="19" name="Shape 16"/>
          <p:cNvSpPr/>
          <p:nvPr/>
        </p:nvSpPr>
        <p:spPr>
          <a:xfrm>
            <a:off x="7109460" y="3131820"/>
            <a:ext cx="258318" cy="0"/>
          </a:xfrm>
          <a:prstGeom prst="line">
            <a:avLst/>
          </a:prstGeom>
          <a:noFill/>
          <a:ln w="19050">
            <a:solidFill>
              <a:schemeClr val="tx2"/>
            </a:solidFill>
            <a:prstDash val="solid"/>
            <a:tailEnd type="triangle"/>
          </a:ln>
        </p:spPr>
      </p:sp>
      <p:sp>
        <p:nvSpPr>
          <p:cNvPr id="20" name="Shape 17"/>
          <p:cNvSpPr/>
          <p:nvPr/>
        </p:nvSpPr>
        <p:spPr>
          <a:xfrm>
            <a:off x="7413498" y="1874520"/>
            <a:ext cx="1938528" cy="2514600"/>
          </a:xfrm>
          <a:prstGeom prst="roundRect">
            <a:avLst>
              <a:gd name="adj" fmla="val 3774"/>
            </a:avLst>
          </a:prstGeom>
          <a:solidFill>
            <a:schemeClr val="bg2"/>
          </a:solidFill>
          <a:ln/>
        </p:spPr>
      </p:sp>
      <p:sp>
        <p:nvSpPr>
          <p:cNvPr id="21" name="Text 18"/>
          <p:cNvSpPr txBox="1"/>
          <p:nvPr/>
        </p:nvSpPr>
        <p:spPr>
          <a:xfrm>
            <a:off x="7596378"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SEMANTIC MODEL</a:t>
            </a:r>
            <a:endParaRPr lang="en-US" sz="1100" dirty="0"/>
          </a:p>
        </p:txBody>
      </p:sp>
      <p:sp>
        <p:nvSpPr>
          <p:cNvPr id="22" name="Text 19"/>
          <p:cNvSpPr txBox="1"/>
          <p:nvPr/>
        </p:nvSpPr>
        <p:spPr>
          <a:xfrm>
            <a:off x="7596378"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SM-03 Partners &amp; Platforms</a:t>
            </a:r>
            <a:endParaRPr lang="en-US" sz="1400" dirty="0"/>
          </a:p>
        </p:txBody>
      </p:sp>
      <p:sp>
        <p:nvSpPr>
          <p:cNvPr id="23" name="Text 20"/>
          <p:cNvSpPr txBox="1"/>
          <p:nvPr/>
        </p:nvSpPr>
        <p:spPr>
          <a:xfrm>
            <a:off x="7596378"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Publishes Placement Status and the metric Platform Shelf Coverage %, by partner, platform and product.</a:t>
            </a:r>
            <a:endParaRPr lang="en-US" sz="1200" dirty="0"/>
          </a:p>
        </p:txBody>
      </p:sp>
      <p:sp>
        <p:nvSpPr>
          <p:cNvPr id="24" name="Shape 21"/>
          <p:cNvSpPr/>
          <p:nvPr/>
        </p:nvSpPr>
        <p:spPr>
          <a:xfrm>
            <a:off x="9397746" y="3131820"/>
            <a:ext cx="258318" cy="0"/>
          </a:xfrm>
          <a:prstGeom prst="line">
            <a:avLst/>
          </a:prstGeom>
          <a:noFill/>
          <a:ln w="19050">
            <a:solidFill>
              <a:schemeClr val="tx2"/>
            </a:solidFill>
            <a:prstDash val="solid"/>
            <a:tailEnd type="triangle"/>
          </a:ln>
        </p:spPr>
      </p:sp>
      <p:sp>
        <p:nvSpPr>
          <p:cNvPr id="25" name="Shape 22"/>
          <p:cNvSpPr/>
          <p:nvPr/>
        </p:nvSpPr>
        <p:spPr>
          <a:xfrm>
            <a:off x="9701784" y="1874520"/>
            <a:ext cx="1938528" cy="2514600"/>
          </a:xfrm>
          <a:prstGeom prst="roundRect">
            <a:avLst>
              <a:gd name="adj" fmla="val 3774"/>
            </a:avLst>
          </a:prstGeom>
          <a:solidFill>
            <a:schemeClr val="bg2"/>
          </a:solidFill>
          <a:ln/>
        </p:spPr>
      </p:sp>
      <p:sp>
        <p:nvSpPr>
          <p:cNvPr id="26" name="Text 23"/>
          <p:cNvSpPr txBox="1"/>
          <p:nvPr/>
        </p:nvSpPr>
        <p:spPr>
          <a:xfrm>
            <a:off x="9884664"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USE</a:t>
            </a:r>
            <a:endParaRPr lang="en-US" sz="1100" dirty="0"/>
          </a:p>
        </p:txBody>
      </p:sp>
      <p:sp>
        <p:nvSpPr>
          <p:cNvPr id="27" name="Text 24"/>
          <p:cNvSpPr txBox="1"/>
          <p:nvPr/>
        </p:nvSpPr>
        <p:spPr>
          <a:xfrm>
            <a:off x="9884664"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Dashboard or AI assistant</a:t>
            </a:r>
            <a:endParaRPr lang="en-US" sz="1400" dirty="0"/>
          </a:p>
        </p:txBody>
      </p:sp>
      <p:sp>
        <p:nvSpPr>
          <p:cNvPr id="28" name="Text 25"/>
          <p:cNvSpPr txBox="1"/>
          <p:nvPr/>
        </p:nvSpPr>
        <p:spPr>
          <a:xfrm>
            <a:off x="9884664"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“How complete is our shelf at each partner and platform?”</a:t>
            </a:r>
            <a:endParaRPr lang="en-US" sz="1200" dirty="0"/>
          </a:p>
        </p:txBody>
      </p:sp>
      <p:sp>
        <p:nvSpPr>
          <p:cNvPr id="29" name="Shape 26"/>
          <p:cNvSpPr/>
          <p:nvPr/>
        </p:nvSpPr>
        <p:spPr>
          <a:xfrm>
            <a:off x="548640" y="4663440"/>
            <a:ext cx="11091672" cy="731520"/>
          </a:xfrm>
          <a:prstGeom prst="roundRect">
            <a:avLst>
              <a:gd name="adj" fmla="val 10000"/>
            </a:avLst>
          </a:prstGeom>
          <a:solidFill>
            <a:schemeClr val="tx1"/>
          </a:solidFill>
          <a:ln/>
        </p:spPr>
      </p:sp>
      <p:sp>
        <p:nvSpPr>
          <p:cNvPr id="30" name="Text 27"/>
          <p:cNvSpPr txBox="1"/>
          <p:nvPr/>
        </p:nvSpPr>
        <p:spPr>
          <a:xfrm>
            <a:off x="548640" y="4663440"/>
            <a:ext cx="11091672" cy="731520"/>
          </a:xfrm>
          <a:prstGeom prst="rect">
            <a:avLst/>
          </a:prstGeom>
          <a:noFill/>
          <a:ln/>
        </p:spPr>
        <p:txBody>
          <a:bodyPr wrap="square" lIns="0" tIns="0" rIns="0" bIns="0" rtlCol="0" anchor="ctr"/>
          <a:lstStyle/>
          <a:p>
            <a:pPr algn="ctr" indent="0" marL="0">
              <a:buNone/>
            </a:pPr>
            <a:r>
              <a:rPr lang="en-US" sz="1600" b="1" dirty="0">
                <a:solidFill>
                  <a:schemeClr val="bg1"/>
                </a:solidFill>
              </a:rPr>
              <a:t>Shelf Coverage %  =  approved platform and product pairs / pairs covered by an effective agreement</a:t>
            </a:r>
            <a:endParaRPr lang="en-US" sz="1600" dirty="0"/>
          </a:p>
        </p:txBody>
      </p:sp>
      <p:sp>
        <p:nvSpPr>
          <p:cNvPr id="31" name="Text 28"/>
          <p:cNvSpPr txBox="1"/>
          <p:nvPr/>
        </p:nvSpPr>
        <p:spPr>
          <a:xfrm>
            <a:off x="548640" y="562356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The partner firm is mastered in Client &amp; Customer and the share class in Investment Product. This domain supplies the status and its dates.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NEXT STEPS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needs deciding next</a:t>
            </a:r>
            <a:endParaRPr lang="en-US" sz="3600" dirty="0"/>
          </a:p>
        </p:txBody>
      </p:sp>
      <p:sp>
        <p:nvSpPr>
          <p:cNvPr id="5" name="Text 2"/>
          <p:cNvSpPr txBox="1"/>
          <p:nvPr/>
        </p:nvSpPr>
        <p:spPr>
          <a:xfrm>
            <a:off x="548640"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OPEN DECISIONS</a:t>
            </a:r>
            <a:endParaRPr lang="en-US" sz="1200" dirty="0"/>
          </a:p>
        </p:txBody>
      </p:sp>
      <p:sp>
        <p:nvSpPr>
          <p:cNvPr id="6" name="Shape 3"/>
          <p:cNvSpPr/>
          <p:nvPr/>
        </p:nvSpPr>
        <p:spPr>
          <a:xfrm>
            <a:off x="548640" y="2148840"/>
            <a:ext cx="5303520" cy="841248"/>
          </a:xfrm>
          <a:prstGeom prst="roundRect">
            <a:avLst>
              <a:gd name="adj" fmla="val 8696"/>
            </a:avLst>
          </a:prstGeom>
          <a:solidFill>
            <a:schemeClr val="bg2"/>
          </a:solidFill>
          <a:ln/>
        </p:spPr>
      </p:sp>
      <p:sp>
        <p:nvSpPr>
          <p:cNvPr id="7" name="Text 4"/>
          <p:cNvSpPr/>
          <p:nvPr/>
        </p:nvSpPr>
        <p:spPr>
          <a:xfrm>
            <a:off x="731520" y="239572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CD-003</a:t>
            </a:r>
            <a:endParaRPr lang="en-US" sz="1100" dirty="0"/>
          </a:p>
        </p:txBody>
      </p:sp>
      <p:sp>
        <p:nvSpPr>
          <p:cNvPr id="8" name="Text 5"/>
          <p:cNvSpPr txBox="1"/>
          <p:nvPr/>
        </p:nvSpPr>
        <p:spPr>
          <a:xfrm>
            <a:off x="2057400" y="214884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Whether TA Dealer Number is mastered here or as a party identifier in Client &amp; Customer. It depends on how the transfer agent assigns it.</a:t>
            </a:r>
            <a:endParaRPr lang="en-US" sz="1200" dirty="0"/>
          </a:p>
        </p:txBody>
      </p:sp>
      <p:sp>
        <p:nvSpPr>
          <p:cNvPr id="9" name="Shape 6"/>
          <p:cNvSpPr/>
          <p:nvPr/>
        </p:nvSpPr>
        <p:spPr>
          <a:xfrm>
            <a:off x="548640" y="3108960"/>
            <a:ext cx="5303520" cy="841248"/>
          </a:xfrm>
          <a:prstGeom prst="roundRect">
            <a:avLst>
              <a:gd name="adj" fmla="val 8696"/>
            </a:avLst>
          </a:prstGeom>
          <a:solidFill>
            <a:schemeClr val="bg2"/>
          </a:solidFill>
          <a:ln/>
        </p:spPr>
      </p:sp>
      <p:sp>
        <p:nvSpPr>
          <p:cNvPr id="10" name="Text 7"/>
          <p:cNvSpPr/>
          <p:nvPr/>
        </p:nvSpPr>
        <p:spPr>
          <a:xfrm>
            <a:off x="731520" y="335584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CD-035</a:t>
            </a:r>
            <a:endParaRPr lang="en-US" sz="1100" dirty="0"/>
          </a:p>
        </p:txBody>
      </p:sp>
      <p:sp>
        <p:nvSpPr>
          <p:cNvPr id="11" name="Text 8"/>
          <p:cNvSpPr txBox="1"/>
          <p:nvPr/>
        </p:nvSpPr>
        <p:spPr>
          <a:xfrm>
            <a:off x="2057400" y="310896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Who owns the firm-normalized shelf status and research rating scale across partners. Recommended: National Accounts.</a:t>
            </a:r>
            <a:endParaRPr lang="en-US" sz="1200" dirty="0"/>
          </a:p>
        </p:txBody>
      </p:sp>
      <p:sp>
        <p:nvSpPr>
          <p:cNvPr id="12" name="Shape 9"/>
          <p:cNvSpPr/>
          <p:nvPr/>
        </p:nvSpPr>
        <p:spPr>
          <a:xfrm>
            <a:off x="548640" y="4069080"/>
            <a:ext cx="5303520" cy="841248"/>
          </a:xfrm>
          <a:prstGeom prst="roundRect">
            <a:avLst>
              <a:gd name="adj" fmla="val 8696"/>
            </a:avLst>
          </a:prstGeom>
          <a:solidFill>
            <a:schemeClr val="bg2"/>
          </a:solidFill>
          <a:ln/>
        </p:spPr>
      </p:sp>
      <p:sp>
        <p:nvSpPr>
          <p:cNvPr id="13" name="Text 10"/>
          <p:cNvSpPr/>
          <p:nvPr/>
        </p:nvSpPr>
        <p:spPr>
          <a:xfrm>
            <a:off x="731520" y="431596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CD-022</a:t>
            </a:r>
            <a:endParaRPr lang="en-US" sz="1100" dirty="0"/>
          </a:p>
        </p:txBody>
      </p:sp>
      <p:sp>
        <p:nvSpPr>
          <p:cNvPr id="14" name="Text 11"/>
          <p:cNvSpPr txBox="1"/>
          <p:nvPr/>
        </p:nvSpPr>
        <p:spPr>
          <a:xfrm>
            <a:off x="2057400" y="406908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Which domain owns the fund advisory agreement. Recommended: Investment Product, so this domain stays distribution-only.</a:t>
            </a:r>
            <a:endParaRPr lang="en-US" sz="1200" dirty="0"/>
          </a:p>
        </p:txBody>
      </p:sp>
      <p:sp>
        <p:nvSpPr>
          <p:cNvPr id="15" name="Shape 12"/>
          <p:cNvSpPr/>
          <p:nvPr/>
        </p:nvSpPr>
        <p:spPr>
          <a:xfrm>
            <a:off x="548640" y="5029200"/>
            <a:ext cx="5303520" cy="841248"/>
          </a:xfrm>
          <a:prstGeom prst="roundRect">
            <a:avLst>
              <a:gd name="adj" fmla="val 8696"/>
            </a:avLst>
          </a:prstGeom>
          <a:solidFill>
            <a:schemeClr val="bg2"/>
          </a:solidFill>
          <a:ln/>
        </p:spPr>
      </p:sp>
      <p:sp>
        <p:nvSpPr>
          <p:cNvPr id="16" name="Text 13"/>
          <p:cNvSpPr/>
          <p:nvPr/>
        </p:nvSpPr>
        <p:spPr>
          <a:xfrm>
            <a:off x="731520" y="527608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GAP-05-016</a:t>
            </a:r>
            <a:endParaRPr lang="en-US" sz="1100" dirty="0"/>
          </a:p>
        </p:txBody>
      </p:sp>
      <p:sp>
        <p:nvSpPr>
          <p:cNvPr id="17" name="Text 14"/>
          <p:cNvSpPr txBox="1"/>
          <p:nvPr/>
        </p:nvSpPr>
        <p:spPr>
          <a:xfrm>
            <a:off x="2057400" y="502920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Whether a sponsor program is a Partner Program record, so that model flows and placements join on one key.</a:t>
            </a:r>
            <a:endParaRPr lang="en-US" sz="1200" dirty="0"/>
          </a:p>
        </p:txBody>
      </p:sp>
      <p:sp>
        <p:nvSpPr>
          <p:cNvPr id="18" name="Text 15"/>
          <p:cNvSpPr txBox="1"/>
          <p:nvPr/>
        </p:nvSpPr>
        <p:spPr>
          <a:xfrm>
            <a:off x="6336792"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STEPS</a:t>
            </a:r>
            <a:endParaRPr lang="en-US" sz="1200" dirty="0"/>
          </a:p>
        </p:txBody>
      </p:sp>
      <p:sp>
        <p:nvSpPr>
          <p:cNvPr id="19" name="Text 16"/>
          <p:cNvSpPr/>
          <p:nvPr/>
        </p:nvSpPr>
        <p:spPr>
          <a:xfrm>
            <a:off x="6336792" y="2240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Text 17"/>
          <p:cNvSpPr txBox="1"/>
          <p:nvPr/>
        </p:nvSpPr>
        <p:spPr>
          <a:xfrm>
            <a:off x="6903720" y="2148840"/>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Walk through the families with National Accounts, Legal, Intermediary Oversight, the Fund Treasurer and TA Operations, and confirm the CDEs</a:t>
            </a:r>
            <a:endParaRPr lang="en-US" sz="1300" dirty="0"/>
          </a:p>
        </p:txBody>
      </p:sp>
      <p:sp>
        <p:nvSpPr>
          <p:cNvPr id="21" name="Text 18"/>
          <p:cNvSpPr/>
          <p:nvPr/>
        </p:nvSpPr>
        <p:spPr>
          <a:xfrm>
            <a:off x="6336792" y="300837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 19"/>
          <p:cNvSpPr txBox="1"/>
          <p:nvPr/>
        </p:nvSpPr>
        <p:spPr>
          <a:xfrm>
            <a:off x="6903720" y="2916936"/>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Load a pilot of the top 20 partners' agreements and payment arrangements to test the rate schedule and tier model against real contracts</a:t>
            </a:r>
            <a:endParaRPr lang="en-US" sz="1300" dirty="0"/>
          </a:p>
        </p:txBody>
      </p:sp>
      <p:sp>
        <p:nvSpPr>
          <p:cNvPr id="23" name="Text 20"/>
          <p:cNvSpPr/>
          <p:nvPr/>
        </p:nvSpPr>
        <p:spPr>
          <a:xfrm>
            <a:off x="6336792" y="377647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6903720" y="3685032"/>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Agree the boundaries with Sales Transactions &amp; AUM Attribution (basis data, feeds) and Distribution Compliance (inducements, due diligence)</a:t>
            </a:r>
            <a:endParaRPr lang="en-US" sz="1300" dirty="0"/>
          </a:p>
        </p:txBody>
      </p:sp>
      <p:sp>
        <p:nvSpPr>
          <p:cNvPr id="25" name="Text 22"/>
          <p:cNvSpPr/>
          <p:nvPr/>
        </p:nvSpPr>
        <p:spPr>
          <a:xfrm>
            <a:off x="6336792" y="454456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903720" y="4453128"/>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Confirm the DTCC Networking level definitions and the EMT field IDs, then update the code lists and references</a:t>
            </a:r>
            <a:endParaRPr lang="en-US" sz="1300" dirty="0"/>
          </a:p>
        </p:txBody>
      </p:sp>
      <p:sp>
        <p:nvSpPr>
          <p:cNvPr id="27" name="Text 24"/>
          <p:cNvSpPr/>
          <p:nvPr/>
        </p:nvSpPr>
        <p:spPr>
          <a:xfrm>
            <a:off x="6336792" y="531266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5"/>
          <p:cNvSpPr txBox="1"/>
          <p:nvPr/>
        </p:nvSpPr>
        <p:spPr>
          <a:xfrm>
            <a:off x="6903720" y="5221224"/>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Decide the 23 open gaps, starting with the six high-priority missing references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Distribution Agreements &amp; Partners taxonomy walkthrough</dc:title>
  <dc:subject>PptxGenJS Presentation</dc:subject>
  <dc:creator>Distribution Data Taxonomy Program</dc:creator>
  <cp:lastModifiedBy>Distribution Data Taxonomy Program</cp:lastModifiedBy>
  <cp:revision>1</cp:revision>
  <dcterms:created xsi:type="dcterms:W3CDTF">2026-10-06T08:35:29Z</dcterms:created>
  <dcterms:modified xsi:type="dcterms:W3CDTF">2026-10-06T08:35:29Z</dcterms:modified>
</cp:coreProperties>
</file>