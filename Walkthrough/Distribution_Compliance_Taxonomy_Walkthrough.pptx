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5b4b65c5-5f04-7517-2219-c3ab422f0b74}">
          <p14:sldIdLst>
            <p14:sldId id="256"/>
            <p14:sldId id="257"/>
            <p14:sldId id="258"/>
            <p14:sldId id="259"/>
          </p14:sldIdLst>
        </p14:section>
        <p14:section name="What is included" id="{b52a6753-8040-c257-f677-2da9a97a2aa3}">
          <p14:sldIdLst>
            <p14:sldId id="260"/>
            <p14:sldId id="261"/>
            <p14:sldId id="262"/>
            <p14:sldId id="263"/>
            <p14:sldId id="264"/>
          </p14:sldIdLst>
        </p14:section>
        <p14:section name="What is excluded" id="{e9728dff-20b2-8936-29da-600933ac4dbb}">
          <p14:sldIdLst>
            <p14:sldId id="265"/>
            <p14:sldId id="266"/>
            <p14:sldId id="267"/>
          </p14:sldIdLst>
        </p14:section>
        <p14:section name="How it is used" id="{0c5dcd15-36e6-9ed5-01c0-0a1f83cea491}">
          <p14:sldIdLst>
            <p14:sldId id="268"/>
            <p14:sldId id="269"/>
          </p14:sldIdLst>
        </p14:section>
        <p14:section name="Data products" id="{6159574a-b41d-69f2-dab9-622f5f2b0601}">
          <p14:sldIdLst>
            <p14:sldId id="270"/>
            <p14:sldId id="271"/>
            <p14:sldId id="272"/>
            <p14:sldId id="273"/>
            <p14:sldId id="274"/>
          </p14:sldIdLst>
        </p14:section>
        <p14:section name="Next steps" id="{f1da7df6-ae9f-bd9b-b6bf-d8061e060505}">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Attributes by primary reference standard</a:t>
            </a:r>
          </a:p>
        </c:rich>
      </c:tx>
      <c:layout/>
      <c:overlay val="0"/>
    </c:title>
    <c:autoTitleDeleted val="0"/>
    <c:plotArea>
      <c:layout/>
      <c:barChart>
        <c:barDir val="bar"/>
        <c:grouping val="clustered"/>
        <c:varyColors val="0"/>
        <c:ser>
          <c:idx val="0"/>
          <c:order val="0"/>
          <c:tx>
            <c:strRef>
              <c:f>Sheet1!$B$1</c:f>
              <c:strCache>
                <c:ptCount val="1"/>
                <c:pt idx="0">
                  <c:v>Attributes by primary reference standard</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Sheet1!$A$2:$A$7</c:f>
              <c:multiLvlStrCache>
                <c:ptCount val="6"/>
                <c:lvl>
                  <c:pt idx="0">
                    <c:v>Internal (firm-defined)</c:v>
                  </c:pt>
                  <c:pt idx="1">
                    <c:v>FINRA rules and forms</c:v>
                  </c:pt>
                  <c:pt idx="2">
                    <c:v>FCA Handbook and FSMA</c:v>
                  </c:pt>
                  <c:pt idx="3">
                    <c:v>EU directives and ESMA</c:v>
                  </c:pt>
                  <c:pt idx="4">
                    <c:v>SEC rules and forms</c:v>
                  </c:pt>
                  <c:pt idx="5">
                    <c:v>Other standards and regulation</c:v>
                  </c:pt>
                </c:lvl>
              </c:multiLvlStrCache>
            </c:multiLvlStrRef>
          </c:cat>
          <c:val>
            <c:numRef>
              <c:f>Sheet1!$B$2:$B$7</c:f>
              <c:numCache>
                <c:formatCode>General</c:formatCode>
                <c:ptCount val="6"/>
                <c:pt idx="0">
                  <c:v>101</c:v>
                </c:pt>
                <c:pt idx="1">
                  <c:v>61</c:v>
                </c:pt>
                <c:pt idx="2">
                  <c:v>32</c:v>
                </c:pt>
                <c:pt idx="3">
                  <c:v>31</c:v>
                </c:pt>
                <c:pt idx="4">
                  <c:v>29</c:v>
                </c:pt>
                <c:pt idx="5">
                  <c:v>10</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C233C"/>
                </a:solidFill>
                <a:latin typeface="+mn-lt"/>
              </a:defRPr>
            </a:pPr>
            <a:r>
              <a:rPr sz="1300" b="0" i="0" u="none" strike="noStrike">
                <a:solidFill>
                  <a:srgbClr val="0C233C"/>
                </a:solidFill>
                <a:latin typeface="+mn-lt"/>
              </a:rPr>
              <a:t>Products reading each object (top 4 of 52)</a:t>
            </a:r>
          </a:p>
        </c:rich>
      </c:tx>
      <c:layout/>
      <c:overlay val="0"/>
    </c:title>
    <c:autoTitleDeleted val="0"/>
    <c:plotArea>
      <c:layout/>
      <c:barChart>
        <c:barDir val="bar"/>
        <c:grouping val="clustered"/>
        <c:varyColors val="0"/>
        <c:ser>
          <c:idx val="0"/>
          <c:order val="0"/>
          <c:tx>
            <c:strRef>
              <c:f>Sheet1!$B$1</c:f>
              <c:strCache>
                <c:ptCount val="1"/>
                <c:pt idx="0">
                  <c:v>Products reading each object (top 4 of 52)</c:v>
                </c:pt>
              </c:strCache>
            </c:strRef>
          </c:tx>
          <c:spPr>
            <a:solidFill>
              <a:srgbClr val="1E49E2"/>
            </a:solidFill>
            <a:effectLst/>
          </c:spPr>
          <c:invertIfNegative val="0"/>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cat>
            <c:multiLvlStrRef>
              <c:f>Sheet1!$A$2:$A$5</c:f>
              <c:multiLvlStrCache>
                <c:ptCount val="4"/>
                <c:lvl>
                  <c:pt idx="0">
                    <c:v>Compliance Review</c:v>
                  </c:pt>
                  <c:pt idx="1">
                    <c:v>Compliance Approval</c:v>
                  </c:pt>
                  <c:pt idx="2">
                    <c:v>Individual Registration</c:v>
                  </c:pt>
                  <c:pt idx="3">
                    <c:v>Complaint</c:v>
                  </c:pt>
                </c:lvl>
              </c:multiLvlStrCache>
            </c:multiLvlStrRef>
          </c:cat>
          <c:val>
            <c:numRef>
              <c:f>Sheet1!$B$2:$B$5</c:f>
              <c:numCache>
                <c:formatCode>General</c:formatCode>
                <c:ptCount val="4"/>
                <c:pt idx="0">
                  <c:v>6</c:v>
                </c:pt>
                <c:pt idx="1">
                  <c:v>6</c:v>
                </c:pt>
                <c:pt idx="2">
                  <c:v>4</c:v>
                </c:pt>
                <c:pt idx="3">
                  <c:v>4</c:v>
                </c:pt>
              </c:numCache>
            </c:numRef>
          </c:val>
        </c:ser>
        <c:dLbls>
          <c:numFmt formatCode="#,##0" sourceLinked="0"/>
          <c:txPr>
            <a:bodyPr/>
            <a:lstStyle/>
            <a:p>
              <a:pPr>
                <a:defRPr b="0" i="0" strike="noStrike" sz="1200" u="none">
                  <a:solidFill>
                    <a:srgbClr val="0C233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C233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Distribution Compliance data domain. It answers four questions: what is in the domain, what is deliberately left out, how the taxonomy is used, and which data products it helps define. All counts come from the current drafts of the taxonomy, the data product specifications and the gap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short version. Distribution Compliance holds the records that show marketing and sales were done within the rules. It covers the review and approval of communications, due diligence on distributors, gifts and entertainment, staff registrations, cross-border marketing filings, complaints, surveillance and the obligations register. The things being judged, such as the content asset, the distributor, the employee, the product and the agreement, stay in their own domains and are referenced by ID. 25 of the 96 specified data products read the domain directly, and it owns 13 of them. None of the 13 is foundational: they are control products built on other domains'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has four levels: data domain, data family, business object and attribute. Distribution Compliance is one of 16 domains. It has 10 families, 52 objects and 264 attributes. The purple text shows the path to one attribute, Approval Expiry Date, which we follow to an answer near the end of the deck. It is the date after which a communication must not be used without re-approval. For every attribute the taxonomy records its meaning and its owner. It does not hold data values or system field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is built around five compliance masters, each with its own key: the compliance review, the distributor due diligence case, the gift or entertainment item, the complaint and the individual registration. Supporting records such as notifications, alerts, conflicts and attestations carry their own IDs and point to the masters. Every record carries three things. First, the decision and its evidence: who decided what, when and on what basis. Second, a classification under each regime that applies, because one communication can be a FINRA retail communication, an SEC advertisement and an FCA financial promotion at once. Third, references by ID to the asset, party, employee, product or agreement being judged.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has 10 data families. For this walkthrough they are grouped in three. The spine is what the firm says and who is licensed to say it. The second group is oversight of distributors and of the markets the firm sells into. The third is conduct, complaints, records and the obligations register. The three-way grouping is a presentation aid and is not a level in the taxonomy. The five compliance masters sit across the groups: the review and the registration in the spine, the due diligence case and the gift item in the second group, and the complaint in the third. The next three slides take each group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spine families hold 79 of the 264 attributes. Communications Review and Approval is the largest family in the domain, with 54 attributes. It records each submission, its classification under the US and the EU and UK regimes, the review steps, the approval decision and any regulatory filing. Licensing and Registration holds the registrations, exams, continuing education and UK certifications of the firm's own sales staff. The two are linked: an approval names the principal and the license under which they approved, and DP-036 flags any approval where no principal registration was active on the decision date. Business objects, in bold, have their own key. Attribute groups are held on their parent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101 attributes. Distributor Due Diligence is know-your-distributor: each review cycle on a distributor firm, with its risk rating, screening, regulatory status checks, findings and outcome. The firm's CRD, LEI and FCA reference numbers stay in Client &amp; Customer; this domain records only the result of verifying them. Product Governance and Distributor Feedback holds what distributors report back on sales against the target market, which itself is owned by Investment Product. Gifts, Entertainment and Inducements values each benefit per recipient and tests it against the annual limit, which FINRA raised from 100 to 300 dollars from 30 March 2026. Cross-Border Marketing and Private Placement holds the notifications, pre-marketing episodes and reverse solicitation records that evidence where a fund may be marketed.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84 attributes. Complaints holds each complaint from receipt to final response: who complained, about which product, distributor, account or communication, the root cause, the outcome, any redress, and the regulatory report it falls into. Sales Practices and Conduct holds how the firm monitors selling by intermediaries: share class and breakpoint alerts, frequent trading cases, the distribution conflicts register and Consumer Duty outcome metrics. Communications Surveillance and Records holds the approved channels, the captured messages and calls, the retention rules and the surveillance alerts. Obligations, Attestations and Data Governance is the smallest family, with 11 attributes. It holds the register of rules each legal entity is subject to, the owner of each rule and the periodic attestations made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attribute definition names the rule or standard it is aligned to. 163 of the 264 attributes, 62 percent, align to an external rule, form or industry template. FINRA is the largest external source with 61 attributes, led by Rule 2210 on communications with 17 and Rule 3220 on gifts with 13. The FCA Handbook accounts for 32, EU directives and ESMA guidelines for 31, and SEC rules and forms for 29. 101 attributes are firm-defined, mostly identifiers, workflow statuses and risk ratings where no external definition exists. 94 attributes take their values from a controlled code list. 26 are flagged as personal data, and disclosure events and vulnerability markers may be special-category data under UK and EU privacy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Compliance records the judgment, not the thing judged. This table shows where each excluded subject lives and the small amount this domain keeps so that it can point to it. Three boundaries are worth calling out. Marketing &amp; Digital owns the content asset and its expiry, while this domain owns the approval and the separate approval expiry. Investment Product owns registration-for-sale status and the target market, while this domain owns the filings and feedback that evidence them. And due diligence here means the checks the firm performs on its distributors. Know-your-client checks on investors stay in Client &amp; Customer, and the questionnaires the firm answers for its own clients stay in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attribute carries an ownership flag. 213 of the 264 are mastered in Distribution Compliance. 47 are references, which hold only the ID of a record mastered in another domain, and 4 are derived copies. That is a high share, about one attribute in five, and it follows from the design: a compliance record points to the thing it judges. Client &amp; Customer supplies the most, with 14 references to distributors, recipients, investors and regulators. The two account references on complaints and frequent trading cases now point to Account. In the other direction, 27 attributes in 9 other domains point to a review, license, gift record or complaint mastered here, led by Sales with 9 and Marketing &amp; Digital with 6. Record Metadata is excluded from every taxonomy view and documented separately by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Specifying the data products surfaced 28 gaps against Distribution Compliance. None is resolved yet. 26 are proposed and waiting for a decision, and 2 are partly resolved. None is high priority: 15 are medium and 13 are low. The seven shown here are a selection of the medium ones. Most are the same kind of problem: a record that lacks a date, a parent reference or a child object, so a control has to be inferred or stays a manual attestation. Three ask for a new object. Each gap has a proposed resolution and a decision owner in the gap register; for almost all of them the owner is the Chief Compliance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taxonomy is used in four ways. First, it is the target that every compliance source is mapped to: the review workflow tool, FINRA filing and CRD tracking, the gifts and entertainment system, the complaints log and the communications archive. That mapping to the firm's actual systems is Phase D and has not been done. Second, it is the bill of materials for data products: each product lists the exact attributes it uses, and the build fails if one does not exist. Third, where other domains publish shared dimensions, this domain supplies shared control records: 27 attributes in 9 other domains point to a review, license, gift record or complaint held here. Fourth, the ownership flags, the 80 proposed critical data elements and the 26 personal data flags tell stewards where to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domain owns no foundational product. Its anchor is DP-036, Marketing Communications Review and Filing. It is the register of every communication submitted for compliance review, from submission through review steps, principal approval, regulatory filing, expiry and withdrawal. It takes 58 of its 69 input attributes from this domain, more than any other product, and the remaining 11 from the content asset and asset version in Marketing &amp; Digital. It refreshes daily by 7am Eastern and keeps every review for at least six years from last use. Three other products name it as a direct upstream: Marketing Rule Performance Substantiation, Event and Webinar ROI, and Social Media and Brand Performance. It is also the only product owned by this domain that a semantic model publishes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of the 96 specified data products list Distribution Compliance objects among their inputs: 1 foundational and 24 consumer-aligned. The foundational one is Sales Organization and Coverage, which reads staff registrations. Every one of the 52 objects is used by at least one product, and 259 of the 264 attributes, 98 percent, appear in a product specification. Compliance Review and Compliance Approval are the most used objects, each read by 6 products, followed by Individual Registration and Complaint with 4 each. 19 of the 25 readers are regulatory and control products. That is the nature of the domain: its data is read to prove a control worked, and far less often for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data products have Distribution Compliance as their owning domain. All are consumer-aligned regulatory and control products. This slide shows the first seven. The six from DP-036 to DP-041 are in the first delivery wave and line up with the families: communications review, distributor due diligence, gifts and entertainment, staff licensing, product governance feedback and cross-border eligibility. Cross-Border Distribution Eligibility has the widest reach of the 13, with 6 direct downstream products. DP-060 is a surveillance product. The bar on the right shows how many of each product's input attributes come from this domain. It is low for DP-060, which takes 5 of its 58 attributes from here, because surveillance runs on transactions and positions from other domains and writes its alerts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other six owned products. Complaints and Conduct Analytics brings together complaint volumes, handling times, redress and root causes with conduct indicators. Marketing Rule Performance Substantiation is the evidence pack behind every performance figure in marketing, and it builds directly on DP-036. Inducement and Retrocession Monitoring takes only 2 of its 57 attributes from this domain, because the payments it tests are mastered in Distribution Agreements &amp; Partners and Compensation &amp; Territory. Communications Surveillance and Recordkeeping stores metadata and status only, never message content. The last two are the obligations register with its attestations, and frequent trading surveillance. Six of the 13 owned products have no downstream product; they are read directly by compliance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further 12 products are owned by other domains but read Distribution Compliance attributes directly. They are grouped here by the business function they serve. Marketing is the largest group: content, event and social media products read the approval status and the approval expiry date so they can show whether material was valid when it was used. Event and Webinar ROI takes the most, 16 attributes, including gift and training meeting records. Product launch and digital gating read the cross-border notifications. Sales Organization and Coverage, a foundational product, reads staff registrations. Because this domain owns no foundational product, there is no further group of products that depend on it only indirectly.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follow one attribute. Approval Expiry Date is defined once in Distribution Compliance, on the Compliance Approval object: the date after which a communication must not be used without re-approval. It is deliberately separate from the content expiry date that Marketing &amp; Digital holds on the asset. DP-036 uses it to flag approved material that is still published after expiry and to count approvals expiring in the next 30 days. DP-026, Content Performance, owned by Marketing &amp; Digital, reads the same date to count uses and views after the approval lapsed. Six products read this one attribute. The semantic model SM-05 Marketing publishes the date from DP-036 and the lapse metric from DP-026, so a content manager and a compliance officer get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shape the domain and are still open. Two need a subject matter expert decision: whether state notice filings and blue-sky registrations belong here or with entity authorizations in Shared &amp; Enterprise Reference Data, and who owns the audience restriction and content type lists that route a review. Two are proposed and waiting for sign-off: where the individual CRD number is held, and whether this domain's retention rules become the enterprise retention schedule. The next steps on the right come from the taxonomy's own plan: validate with the compliance teams, load the regulator code lists, map to source systems in Phase D, confirm the boundary calls with the neighboring domains, and decide the 28 open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C233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rtlCol="0"/>
          <a:lstStyle>
            <a:lvl1pPr indent="0" marL="0">
              <a:buNone/>
              <a:defRPr lang="en-US" sz="1200" b="1" spc="15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6035040"/>
            <a:ext cx="8229600" cy="274320"/>
          </a:xfrm>
          <a:prstGeom prst="rect">
            <a:avLst/>
          </a:prstGeom>
          <a:noFill/>
          <a:ln/>
        </p:spPr>
        <p:txBody>
          <a:bodyPr wrap="square" lIns="0" tIns="0" rIns="0" bIns="0" rtlCol="0" anchor="ctr"/>
          <a:lstStyle/>
          <a:p>
            <a:pPr indent="0" marL="0">
              <a:buNone/>
            </a:pPr>
            <a:r>
              <a:rPr lang="en-US" sz="1200" dirty="0">
                <a:solidFill>
                  <a:schemeClr val="accent6"/>
                </a:solidFill>
              </a:rPr>
              <a:t>Distribution Data Taxonomy Program  |  Draft, October 2026  |  Counts are taken from the current drafts</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Distribution Compliance taxonomy walkthrough  |  Draft, October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371600"/>
            <a:ext cx="6583680" cy="274320"/>
          </a:xfrm>
          <a:prstGeom prst="rect">
            <a:avLst/>
          </a:prstGeom>
          <a:noFill/>
          <a:ln/>
        </p:spPr>
        <p:txBody>
          <a:bodyPr wrap="square" lIns="0" tIns="0" rIns="0" bIns="0" rtlCol="0" anchor="ctr"/>
          <a:lstStyle/>
          <a:p>
            <a:pPr indent="0" marL="0">
              <a:buNone/>
            </a:pPr>
            <a:r>
              <a:rPr lang="en-US" sz="1200" b="1" spc="150" kern="0" dirty="0">
                <a:solidFill>
                  <a:schemeClr val="accent6"/>
                </a:solidFill>
              </a:rPr>
              <a:t>DATA DOMAIN  |  DISTRIBUTION COMPLIANCE</a:t>
            </a:r>
            <a:endParaRPr lang="en-US" sz="1200" dirty="0"/>
          </a:p>
        </p:txBody>
      </p:sp>
      <p:sp>
        <p:nvSpPr>
          <p:cNvPr id="3" name="Text 0"/>
          <p:cNvSpPr/>
          <p:nvPr>
            <p:ph idx="101" type="title" hasCustomPrompt="1"/>
          </p:nvPr>
        </p:nvSpPr>
        <p:spPr>
          <a:xfrm>
            <a:off x="548640" y="1828800"/>
            <a:ext cx="6583680" cy="2011680"/>
          </a:xfrm>
          <a:prstGeom prst="rect">
            <a:avLst/>
          </a:prstGeom>
          <a:noFill/>
          <a:ln/>
        </p:spPr>
        <p:txBody>
          <a:bodyPr wrap="square" lIns="0" tIns="0" rIns="0" bIns="0" rtlCol="0" anchor="t"/>
          <a:lstStyle/>
          <a:p>
            <a:pPr algn="l" indent="0" marL="0">
              <a:buNone/>
            </a:pPr>
            <a:r>
              <a:rPr lang="en-US" sz="3600" b="1" dirty="0">
                <a:solidFill>
                  <a:schemeClr val="bg1"/>
                </a:solidFill>
              </a:rPr>
              <a:t>The Distribution Compliance taxonomy: a walkthrough</a:t>
            </a:r>
            <a:endParaRPr lang="en-US" sz="3600" dirty="0"/>
          </a:p>
        </p:txBody>
      </p:sp>
      <p:sp>
        <p:nvSpPr>
          <p:cNvPr id="4" name="Text 0"/>
          <p:cNvSpPr/>
          <p:nvPr>
            <p:ph idx="102" type="body" hasCustomPrompt="1"/>
          </p:nvPr>
        </p:nvSpPr>
        <p:spPr>
          <a:xfrm>
            <a:off x="548640" y="3977640"/>
            <a:ext cx="6400800" cy="1005840"/>
          </a:xfrm>
          <a:prstGeom prst="rect">
            <a:avLst/>
          </a:prstGeom>
          <a:noFill/>
          <a:ln/>
        </p:spPr>
        <p:txBody>
          <a:bodyPr wrap="square" lIns="0" tIns="0" rIns="0" bIns="0" rtlCol="0" anchor="t"/>
          <a:lstStyle/>
          <a:p>
            <a:pPr indent="0" marL="0">
              <a:buNone/>
            </a:pPr>
            <a:r>
              <a:rPr lang="en-US" sz="1800" dirty="0">
                <a:solidFill>
                  <a:schemeClr val="bg1"/>
                </a:solidFill>
              </a:rPr>
              <a:t>What the domain includes, what it leaves out, how it is used, and the data products it helps define</a:t>
            </a:r>
            <a:endParaRPr lang="en-US" sz="1800" dirty="0"/>
          </a:p>
        </p:txBody>
      </p:sp>
      <p:sp>
        <p:nvSpPr>
          <p:cNvPr id="5" name="Shape 3"/>
          <p:cNvSpPr/>
          <p:nvPr/>
        </p:nvSpPr>
        <p:spPr>
          <a:xfrm>
            <a:off x="8138160" y="1554480"/>
            <a:ext cx="3291840" cy="960120"/>
          </a:xfrm>
          <a:prstGeom prst="roundRect">
            <a:avLst>
              <a:gd name="adj" fmla="val 7619"/>
            </a:avLst>
          </a:prstGeom>
          <a:solidFill>
            <a:schemeClr val="accent1"/>
          </a:solidFill>
          <a:ln/>
        </p:spPr>
      </p:sp>
      <p:sp>
        <p:nvSpPr>
          <p:cNvPr id="6" name="Text 4"/>
          <p:cNvSpPr txBox="1"/>
          <p:nvPr/>
        </p:nvSpPr>
        <p:spPr>
          <a:xfrm>
            <a:off x="8412480" y="17190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Review and approval</a:t>
            </a:r>
            <a:endParaRPr lang="en-US" sz="1800" dirty="0"/>
          </a:p>
        </p:txBody>
      </p:sp>
      <p:sp>
        <p:nvSpPr>
          <p:cNvPr id="7" name="Text 5"/>
          <p:cNvSpPr txBox="1"/>
          <p:nvPr/>
        </p:nvSpPr>
        <p:spPr>
          <a:xfrm>
            <a:off x="8412480" y="20665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What may be said, and where</a:t>
            </a:r>
            <a:endParaRPr lang="en-US" sz="1300" dirty="0"/>
          </a:p>
        </p:txBody>
      </p:sp>
      <p:sp>
        <p:nvSpPr>
          <p:cNvPr id="8" name="Shape 6"/>
          <p:cNvSpPr/>
          <p:nvPr/>
        </p:nvSpPr>
        <p:spPr>
          <a:xfrm>
            <a:off x="9784080" y="2514600"/>
            <a:ext cx="0" cy="411480"/>
          </a:xfrm>
          <a:prstGeom prst="line">
            <a:avLst/>
          </a:prstGeom>
          <a:noFill/>
          <a:ln w="19050">
            <a:solidFill>
              <a:schemeClr val="accent6"/>
            </a:solidFill>
            <a:prstDash val="solid"/>
            <a:tailEnd type="triangle"/>
          </a:ln>
        </p:spPr>
      </p:sp>
      <p:sp>
        <p:nvSpPr>
          <p:cNvPr id="9" name="Shape 7"/>
          <p:cNvSpPr/>
          <p:nvPr/>
        </p:nvSpPr>
        <p:spPr>
          <a:xfrm>
            <a:off x="8138160" y="2926080"/>
            <a:ext cx="3291840" cy="960120"/>
          </a:xfrm>
          <a:prstGeom prst="roundRect">
            <a:avLst>
              <a:gd name="adj" fmla="val 7619"/>
            </a:avLst>
          </a:prstGeom>
          <a:solidFill>
            <a:schemeClr val="accent2"/>
          </a:solidFill>
          <a:ln/>
        </p:spPr>
      </p:sp>
      <p:sp>
        <p:nvSpPr>
          <p:cNvPr id="10" name="Text 8"/>
          <p:cNvSpPr txBox="1"/>
          <p:nvPr/>
        </p:nvSpPr>
        <p:spPr>
          <a:xfrm>
            <a:off x="8412480" y="30906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Distributor oversight</a:t>
            </a:r>
            <a:endParaRPr lang="en-US" sz="1800" dirty="0"/>
          </a:p>
        </p:txBody>
      </p:sp>
      <p:sp>
        <p:nvSpPr>
          <p:cNvPr id="11" name="Text 9"/>
          <p:cNvSpPr txBox="1"/>
          <p:nvPr/>
        </p:nvSpPr>
        <p:spPr>
          <a:xfrm>
            <a:off x="8412480" y="34381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sells for us, and how</a:t>
            </a:r>
            <a:endParaRPr lang="en-US" sz="1300" dirty="0"/>
          </a:p>
        </p:txBody>
      </p:sp>
      <p:sp>
        <p:nvSpPr>
          <p:cNvPr id="12" name="Shape 10"/>
          <p:cNvSpPr/>
          <p:nvPr/>
        </p:nvSpPr>
        <p:spPr>
          <a:xfrm>
            <a:off x="9784080" y="3886200"/>
            <a:ext cx="0" cy="411480"/>
          </a:xfrm>
          <a:prstGeom prst="line">
            <a:avLst/>
          </a:prstGeom>
          <a:noFill/>
          <a:ln w="19050">
            <a:solidFill>
              <a:schemeClr val="accent6"/>
            </a:solidFill>
            <a:prstDash val="solid"/>
            <a:tailEnd type="triangle"/>
          </a:ln>
        </p:spPr>
      </p:sp>
      <p:sp>
        <p:nvSpPr>
          <p:cNvPr id="13" name="Shape 11"/>
          <p:cNvSpPr/>
          <p:nvPr/>
        </p:nvSpPr>
        <p:spPr>
          <a:xfrm>
            <a:off x="8138160" y="4297680"/>
            <a:ext cx="3291840" cy="960120"/>
          </a:xfrm>
          <a:prstGeom prst="roundRect">
            <a:avLst>
              <a:gd name="adj" fmla="val 7619"/>
            </a:avLst>
          </a:prstGeom>
          <a:solidFill>
            <a:schemeClr val="accent4"/>
          </a:solidFill>
          <a:ln/>
        </p:spPr>
      </p:sp>
      <p:sp>
        <p:nvSpPr>
          <p:cNvPr id="14" name="Text 12"/>
          <p:cNvSpPr txBox="1"/>
          <p:nvPr/>
        </p:nvSpPr>
        <p:spPr>
          <a:xfrm>
            <a:off x="8412480" y="4462272"/>
            <a:ext cx="2743200" cy="347472"/>
          </a:xfrm>
          <a:prstGeom prst="rect">
            <a:avLst/>
          </a:prstGeom>
          <a:noFill/>
          <a:ln/>
        </p:spPr>
        <p:txBody>
          <a:bodyPr wrap="square" lIns="0" tIns="0" rIns="0" bIns="0" rtlCol="0" anchor="ctr"/>
          <a:lstStyle/>
          <a:p>
            <a:pPr algn="l" indent="0" marL="0">
              <a:buNone/>
            </a:pPr>
            <a:r>
              <a:rPr lang="en-US" sz="1800" b="1" dirty="0">
                <a:solidFill>
                  <a:schemeClr val="bg1"/>
                </a:solidFill>
              </a:rPr>
              <a:t>Evidence and records</a:t>
            </a:r>
            <a:endParaRPr lang="en-US" sz="1800" dirty="0"/>
          </a:p>
        </p:txBody>
      </p:sp>
      <p:sp>
        <p:nvSpPr>
          <p:cNvPr id="15" name="Text 13"/>
          <p:cNvSpPr txBox="1"/>
          <p:nvPr/>
        </p:nvSpPr>
        <p:spPr>
          <a:xfrm>
            <a:off x="8412480" y="4809744"/>
            <a:ext cx="2743200" cy="274320"/>
          </a:xfrm>
          <a:prstGeom prst="rect">
            <a:avLst/>
          </a:prstGeom>
          <a:noFill/>
          <a:ln/>
        </p:spPr>
        <p:txBody>
          <a:bodyPr wrap="square" lIns="0" tIns="0" rIns="0" bIns="0" rtlCol="0" anchor="ctr"/>
          <a:lstStyle/>
          <a:p>
            <a:pPr algn="l" indent="0" marL="0">
              <a:buNone/>
            </a:pPr>
            <a:r>
              <a:rPr lang="en-US" sz="1300" dirty="0">
                <a:solidFill>
                  <a:schemeClr val="bg1"/>
                </a:solidFill>
              </a:rPr>
              <a:t>Who decided what, and when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SUMMARY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This domain defines compliance records, once</a:t>
            </a:r>
            <a:endParaRPr lang="en-US" sz="3600" dirty="0"/>
          </a:p>
        </p:txBody>
      </p:sp>
      <p:sp>
        <p:nvSpPr>
          <p:cNvPr id="5" name="Shape 2"/>
          <p:cNvSpPr/>
          <p:nvPr/>
        </p:nvSpPr>
        <p:spPr>
          <a:xfrm>
            <a:off x="548640" y="1783080"/>
            <a:ext cx="2651760" cy="4434840"/>
          </a:xfrm>
          <a:prstGeom prst="roundRect">
            <a:avLst>
              <a:gd name="adj" fmla="val 2759"/>
            </a:avLst>
          </a:prstGeom>
          <a:solidFill>
            <a:schemeClr val="tx1"/>
          </a:solidFill>
          <a:ln/>
        </p:spPr>
      </p:sp>
      <p:sp>
        <p:nvSpPr>
          <p:cNvPr id="6" name="Text 3"/>
          <p:cNvSpPr txBox="1"/>
          <p:nvPr/>
        </p:nvSpPr>
        <p:spPr>
          <a:xfrm>
            <a:off x="822960" y="2011680"/>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10</a:t>
            </a:r>
            <a:endParaRPr lang="en-US" sz="3600" dirty="0"/>
          </a:p>
        </p:txBody>
      </p:sp>
      <p:sp>
        <p:nvSpPr>
          <p:cNvPr id="7" name="Text 4"/>
          <p:cNvSpPr txBox="1"/>
          <p:nvPr/>
        </p:nvSpPr>
        <p:spPr>
          <a:xfrm>
            <a:off x="822960" y="2560320"/>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data families</a:t>
            </a:r>
            <a:endParaRPr lang="en-US" sz="1300" dirty="0"/>
          </a:p>
        </p:txBody>
      </p:sp>
      <p:sp>
        <p:nvSpPr>
          <p:cNvPr id="8" name="Text 5"/>
          <p:cNvSpPr txBox="1"/>
          <p:nvPr/>
        </p:nvSpPr>
        <p:spPr>
          <a:xfrm>
            <a:off x="822960" y="3044952"/>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52</a:t>
            </a:r>
            <a:endParaRPr lang="en-US" sz="3600" dirty="0"/>
          </a:p>
        </p:txBody>
      </p:sp>
      <p:sp>
        <p:nvSpPr>
          <p:cNvPr id="9" name="Text 6"/>
          <p:cNvSpPr txBox="1"/>
          <p:nvPr/>
        </p:nvSpPr>
        <p:spPr>
          <a:xfrm>
            <a:off x="822960" y="3593592"/>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objects</a:t>
            </a:r>
            <a:endParaRPr lang="en-US" sz="1300" dirty="0"/>
          </a:p>
        </p:txBody>
      </p:sp>
      <p:sp>
        <p:nvSpPr>
          <p:cNvPr id="10" name="Text 7"/>
          <p:cNvSpPr txBox="1"/>
          <p:nvPr/>
        </p:nvSpPr>
        <p:spPr>
          <a:xfrm>
            <a:off x="822960" y="4078224"/>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264</a:t>
            </a:r>
            <a:endParaRPr lang="en-US" sz="3600" dirty="0"/>
          </a:p>
        </p:txBody>
      </p:sp>
      <p:sp>
        <p:nvSpPr>
          <p:cNvPr id="11" name="Text 8"/>
          <p:cNvSpPr txBox="1"/>
          <p:nvPr/>
        </p:nvSpPr>
        <p:spPr>
          <a:xfrm>
            <a:off x="822960" y="4626864"/>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attributes</a:t>
            </a:r>
            <a:endParaRPr lang="en-US" sz="1300" dirty="0"/>
          </a:p>
        </p:txBody>
      </p:sp>
      <p:sp>
        <p:nvSpPr>
          <p:cNvPr id="12" name="Text 9"/>
          <p:cNvSpPr txBox="1"/>
          <p:nvPr/>
        </p:nvSpPr>
        <p:spPr>
          <a:xfrm>
            <a:off x="822960" y="5111496"/>
            <a:ext cx="2103120" cy="548640"/>
          </a:xfrm>
          <a:prstGeom prst="rect">
            <a:avLst/>
          </a:prstGeom>
          <a:noFill/>
          <a:ln/>
        </p:spPr>
        <p:txBody>
          <a:bodyPr wrap="square" lIns="0" tIns="0" rIns="0" bIns="0" rtlCol="0" anchor="ctr"/>
          <a:lstStyle/>
          <a:p>
            <a:pPr algn="l" indent="0" marL="0">
              <a:buNone/>
            </a:pPr>
            <a:r>
              <a:rPr lang="en-US" sz="3600" b="1" dirty="0">
                <a:solidFill>
                  <a:schemeClr val="accent6"/>
                </a:solidFill>
              </a:rPr>
              <a:t>80</a:t>
            </a:r>
            <a:endParaRPr lang="en-US" sz="3600" dirty="0"/>
          </a:p>
        </p:txBody>
      </p:sp>
      <p:sp>
        <p:nvSpPr>
          <p:cNvPr id="13" name="Text 10"/>
          <p:cNvSpPr txBox="1"/>
          <p:nvPr/>
        </p:nvSpPr>
        <p:spPr>
          <a:xfrm>
            <a:off x="822960" y="5660136"/>
            <a:ext cx="2103120" cy="274320"/>
          </a:xfrm>
          <a:prstGeom prst="rect">
            <a:avLst/>
          </a:prstGeom>
          <a:noFill/>
          <a:ln/>
        </p:spPr>
        <p:txBody>
          <a:bodyPr wrap="square" lIns="0" tIns="0" rIns="0" bIns="0" rtlCol="0" anchor="ctr"/>
          <a:lstStyle/>
          <a:p>
            <a:pPr algn="l" indent="0" marL="0">
              <a:buNone/>
            </a:pPr>
            <a:r>
              <a:rPr lang="en-US" sz="1300" dirty="0">
                <a:solidFill>
                  <a:schemeClr val="bg1"/>
                </a:solidFill>
              </a:rPr>
              <a:t>proposed critical data elements</a:t>
            </a:r>
            <a:endParaRPr lang="en-US" sz="1300" dirty="0"/>
          </a:p>
        </p:txBody>
      </p:sp>
      <p:sp>
        <p:nvSpPr>
          <p:cNvPr id="14" name="Shape 11"/>
          <p:cNvSpPr/>
          <p:nvPr/>
        </p:nvSpPr>
        <p:spPr>
          <a:xfrm>
            <a:off x="3474720" y="1783080"/>
            <a:ext cx="3945636" cy="2080260"/>
          </a:xfrm>
          <a:prstGeom prst="roundRect">
            <a:avLst>
              <a:gd name="adj" fmla="val 3516"/>
            </a:avLst>
          </a:prstGeom>
          <a:solidFill>
            <a:schemeClr val="bg2"/>
          </a:solidFill>
          <a:ln/>
        </p:spPr>
      </p:sp>
      <p:sp>
        <p:nvSpPr>
          <p:cNvPr id="15" name="Text 12"/>
          <p:cNvSpPr/>
          <p:nvPr/>
        </p:nvSpPr>
        <p:spPr>
          <a:xfrm>
            <a:off x="3703320" y="2011680"/>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6" name="Text 13"/>
          <p:cNvSpPr txBox="1"/>
          <p:nvPr/>
        </p:nvSpPr>
        <p:spPr>
          <a:xfrm>
            <a:off x="4224528"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included</a:t>
            </a:r>
            <a:endParaRPr lang="en-US" sz="1600" dirty="0"/>
          </a:p>
        </p:txBody>
      </p:sp>
      <p:sp>
        <p:nvSpPr>
          <p:cNvPr id="17" name="Text 14"/>
          <p:cNvSpPr txBox="1"/>
          <p:nvPr/>
        </p:nvSpPr>
        <p:spPr>
          <a:xfrm>
            <a:off x="3703320"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Review, approval and filing of communications, due diligence on distributors, gifts and inducements, staff registrations, cross-border filings, complaints, surveillance, conduct cases and obligations.</a:t>
            </a:r>
            <a:endParaRPr lang="en-US" sz="1300" dirty="0"/>
          </a:p>
        </p:txBody>
      </p:sp>
      <p:sp>
        <p:nvSpPr>
          <p:cNvPr id="18" name="Shape 15"/>
          <p:cNvSpPr/>
          <p:nvPr/>
        </p:nvSpPr>
        <p:spPr>
          <a:xfrm>
            <a:off x="7694676" y="1783080"/>
            <a:ext cx="3945636" cy="2080260"/>
          </a:xfrm>
          <a:prstGeom prst="roundRect">
            <a:avLst>
              <a:gd name="adj" fmla="val 3516"/>
            </a:avLst>
          </a:prstGeom>
          <a:solidFill>
            <a:schemeClr val="bg2"/>
          </a:solidFill>
          <a:ln/>
        </p:spPr>
      </p:sp>
      <p:sp>
        <p:nvSpPr>
          <p:cNvPr id="19" name="Text 16"/>
          <p:cNvSpPr/>
          <p:nvPr/>
        </p:nvSpPr>
        <p:spPr>
          <a:xfrm>
            <a:off x="7923276" y="2011680"/>
            <a:ext cx="384048" cy="384048"/>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Text 17"/>
          <p:cNvSpPr txBox="1"/>
          <p:nvPr/>
        </p:nvSpPr>
        <p:spPr>
          <a:xfrm>
            <a:off x="8444484" y="201168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is excluded</a:t>
            </a:r>
            <a:endParaRPr lang="en-US" sz="1600" dirty="0"/>
          </a:p>
        </p:txBody>
      </p:sp>
      <p:sp>
        <p:nvSpPr>
          <p:cNvPr id="21" name="Text 18"/>
          <p:cNvSpPr txBox="1"/>
          <p:nvPr/>
        </p:nvSpPr>
        <p:spPr>
          <a:xfrm>
            <a:off x="7923276" y="256032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The things being judged: content assets, products and target markets, distributor and investor parties, employees, agreements and payments, transactions and positions. All are held by ID only.</a:t>
            </a:r>
            <a:endParaRPr lang="en-US" sz="1300" dirty="0"/>
          </a:p>
        </p:txBody>
      </p:sp>
      <p:sp>
        <p:nvSpPr>
          <p:cNvPr id="22" name="Shape 19"/>
          <p:cNvSpPr/>
          <p:nvPr/>
        </p:nvSpPr>
        <p:spPr>
          <a:xfrm>
            <a:off x="3474720" y="4137660"/>
            <a:ext cx="3945636" cy="2080260"/>
          </a:xfrm>
          <a:prstGeom prst="roundRect">
            <a:avLst>
              <a:gd name="adj" fmla="val 3516"/>
            </a:avLst>
          </a:prstGeom>
          <a:solidFill>
            <a:schemeClr val="bg2"/>
          </a:solidFill>
          <a:ln/>
        </p:spPr>
      </p:sp>
      <p:sp>
        <p:nvSpPr>
          <p:cNvPr id="23" name="Text 20"/>
          <p:cNvSpPr/>
          <p:nvPr/>
        </p:nvSpPr>
        <p:spPr>
          <a:xfrm>
            <a:off x="3703320" y="4366260"/>
            <a:ext cx="384048" cy="384048"/>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21"/>
          <p:cNvSpPr txBox="1"/>
          <p:nvPr/>
        </p:nvSpPr>
        <p:spPr>
          <a:xfrm>
            <a:off x="4224528"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How it is used</a:t>
            </a:r>
            <a:endParaRPr lang="en-US" sz="1600" dirty="0"/>
          </a:p>
        </p:txBody>
      </p:sp>
      <p:sp>
        <p:nvSpPr>
          <p:cNvPr id="25" name="Text 22"/>
          <p:cNvSpPr txBox="1"/>
          <p:nvPr/>
        </p:nvSpPr>
        <p:spPr>
          <a:xfrm>
            <a:off x="3703320"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As the mapping target for compliance systems, the bill of materials for 13 control products, and the approval, license and complaint records that other domains point to by ID.</a:t>
            </a:r>
            <a:endParaRPr lang="en-US" sz="1300" dirty="0"/>
          </a:p>
        </p:txBody>
      </p:sp>
      <p:sp>
        <p:nvSpPr>
          <p:cNvPr id="26" name="Shape 23"/>
          <p:cNvSpPr/>
          <p:nvPr/>
        </p:nvSpPr>
        <p:spPr>
          <a:xfrm>
            <a:off x="7694676" y="4137660"/>
            <a:ext cx="3945636" cy="2080260"/>
          </a:xfrm>
          <a:prstGeom prst="roundRect">
            <a:avLst>
              <a:gd name="adj" fmla="val 3516"/>
            </a:avLst>
          </a:prstGeom>
          <a:solidFill>
            <a:schemeClr val="bg2"/>
          </a:solidFill>
          <a:ln/>
        </p:spPr>
      </p:sp>
      <p:sp>
        <p:nvSpPr>
          <p:cNvPr id="27" name="Text 24"/>
          <p:cNvSpPr/>
          <p:nvPr/>
        </p:nvSpPr>
        <p:spPr>
          <a:xfrm>
            <a:off x="7923276" y="4366260"/>
            <a:ext cx="384048" cy="384048"/>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8444484" y="4366260"/>
            <a:ext cx="2985516" cy="384048"/>
          </a:xfrm>
          <a:prstGeom prst="rect">
            <a:avLst/>
          </a:prstGeom>
          <a:noFill/>
          <a:ln/>
        </p:spPr>
        <p:txBody>
          <a:bodyPr wrap="square" lIns="0" tIns="0" rIns="0" bIns="0" rtlCol="0" anchor="ctr"/>
          <a:lstStyle/>
          <a:p>
            <a:pPr algn="l" indent="0" marL="0">
              <a:buNone/>
            </a:pPr>
            <a:r>
              <a:rPr lang="en-US" sz="1600" b="1" dirty="0">
                <a:solidFill>
                  <a:schemeClr val="tx1"/>
                </a:solidFill>
              </a:rPr>
              <a:t>What it helps define</a:t>
            </a:r>
            <a:endParaRPr lang="en-US" sz="1600" dirty="0"/>
          </a:p>
        </p:txBody>
      </p:sp>
      <p:sp>
        <p:nvSpPr>
          <p:cNvPr id="29" name="Text 26"/>
          <p:cNvSpPr txBox="1"/>
          <p:nvPr/>
        </p:nvSpPr>
        <p:spPr>
          <a:xfrm>
            <a:off x="7923276" y="4914900"/>
            <a:ext cx="3488436" cy="1143000"/>
          </a:xfrm>
          <a:prstGeom prst="rect">
            <a:avLst/>
          </a:prstGeom>
          <a:noFill/>
          <a:ln/>
        </p:spPr>
        <p:txBody>
          <a:bodyPr wrap="square" lIns="0" tIns="0" rIns="0" bIns="0" rtlCol="0" anchor="t"/>
          <a:lstStyle/>
          <a:p>
            <a:pPr algn="l" indent="0" marL="0">
              <a:buNone/>
            </a:pPr>
            <a:r>
              <a:rPr lang="en-US" sz="1300" dirty="0">
                <a:solidFill>
                  <a:schemeClr val="tx1"/>
                </a:solidFill>
              </a:rPr>
              <a:t>25 of the 96 data products read it directly. It owns 13 of them and none is foundational, so no product depends on it indirectly.</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WHERE THE DOMAIN SITS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of 16 data domains, four levels deep</a:t>
            </a:r>
            <a:endParaRPr lang="en-US" sz="3600" dirty="0"/>
          </a:p>
        </p:txBody>
      </p:sp>
      <p:sp>
        <p:nvSpPr>
          <p:cNvPr id="5" name="Shape 2"/>
          <p:cNvSpPr/>
          <p:nvPr/>
        </p:nvSpPr>
        <p:spPr>
          <a:xfrm>
            <a:off x="548640" y="1783080"/>
            <a:ext cx="6126480" cy="868680"/>
          </a:xfrm>
          <a:prstGeom prst="roundRect">
            <a:avLst>
              <a:gd name="adj" fmla="val 8421"/>
            </a:avLst>
          </a:prstGeom>
          <a:solidFill>
            <a:schemeClr val="bg2"/>
          </a:solidFill>
          <a:ln/>
        </p:spPr>
      </p:sp>
      <p:sp>
        <p:nvSpPr>
          <p:cNvPr id="6" name="Text 3"/>
          <p:cNvSpPr/>
          <p:nvPr/>
        </p:nvSpPr>
        <p:spPr>
          <a:xfrm>
            <a:off x="731520" y="201168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L1</a:t>
            </a:r>
            <a:endParaRPr lang="en-US" sz="1300" dirty="0"/>
          </a:p>
        </p:txBody>
      </p:sp>
      <p:sp>
        <p:nvSpPr>
          <p:cNvPr id="7" name="Text 4"/>
          <p:cNvSpPr txBox="1"/>
          <p:nvPr/>
        </p:nvSpPr>
        <p:spPr>
          <a:xfrm>
            <a:off x="1463040" y="191109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Domain</a:t>
            </a:r>
            <a:endParaRPr lang="en-US" sz="1600" dirty="0"/>
          </a:p>
        </p:txBody>
      </p:sp>
      <p:sp>
        <p:nvSpPr>
          <p:cNvPr id="8" name="Text 5"/>
          <p:cNvSpPr txBox="1"/>
          <p:nvPr/>
        </p:nvSpPr>
        <p:spPr>
          <a:xfrm>
            <a:off x="1463040" y="224028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 of 16</a:t>
            </a:r>
            <a:endParaRPr lang="en-US" sz="1200" dirty="0"/>
          </a:p>
        </p:txBody>
      </p:sp>
      <p:sp>
        <p:nvSpPr>
          <p:cNvPr id="9" name="Text 6"/>
          <p:cNvSpPr txBox="1"/>
          <p:nvPr/>
        </p:nvSpPr>
        <p:spPr>
          <a:xfrm>
            <a:off x="3474720" y="1911096"/>
            <a:ext cx="3017520" cy="612648"/>
          </a:xfrm>
          <a:prstGeom prst="rect">
            <a:avLst/>
          </a:prstGeom>
          <a:noFill/>
          <a:ln/>
        </p:spPr>
        <p:txBody>
          <a:bodyPr wrap="square" lIns="0" tIns="0" rIns="0" bIns="0" rtlCol="0" anchor="ctr"/>
          <a:lstStyle/>
          <a:p>
            <a:pPr algn="l" indent="0" marL="0">
              <a:buNone/>
            </a:pPr>
            <a:r>
              <a:rPr lang="en-US" sz="1400" b="1" dirty="0">
                <a:solidFill>
                  <a:schemeClr val="accent2"/>
                </a:solidFill>
              </a:rPr>
              <a:t>Distribution Compliance</a:t>
            </a:r>
            <a:endParaRPr lang="en-US" sz="1400" dirty="0"/>
          </a:p>
        </p:txBody>
      </p:sp>
      <p:sp>
        <p:nvSpPr>
          <p:cNvPr id="10" name="Shape 7"/>
          <p:cNvSpPr/>
          <p:nvPr/>
        </p:nvSpPr>
        <p:spPr>
          <a:xfrm>
            <a:off x="822960" y="2788920"/>
            <a:ext cx="5852160" cy="868680"/>
          </a:xfrm>
          <a:prstGeom prst="roundRect">
            <a:avLst>
              <a:gd name="adj" fmla="val 8421"/>
            </a:avLst>
          </a:prstGeom>
          <a:solidFill>
            <a:schemeClr val="bg2"/>
          </a:solidFill>
          <a:ln/>
        </p:spPr>
      </p:sp>
      <p:sp>
        <p:nvSpPr>
          <p:cNvPr id="11" name="Text 8"/>
          <p:cNvSpPr/>
          <p:nvPr/>
        </p:nvSpPr>
        <p:spPr>
          <a:xfrm>
            <a:off x="1005840" y="301752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L2</a:t>
            </a:r>
            <a:endParaRPr lang="en-US" sz="1300" dirty="0"/>
          </a:p>
        </p:txBody>
      </p:sp>
      <p:sp>
        <p:nvSpPr>
          <p:cNvPr id="12" name="Text 9"/>
          <p:cNvSpPr txBox="1"/>
          <p:nvPr/>
        </p:nvSpPr>
        <p:spPr>
          <a:xfrm>
            <a:off x="1737360" y="291693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Data Family</a:t>
            </a:r>
            <a:endParaRPr lang="en-US" sz="1600" dirty="0"/>
          </a:p>
        </p:txBody>
      </p:sp>
      <p:sp>
        <p:nvSpPr>
          <p:cNvPr id="13" name="Text 10"/>
          <p:cNvSpPr txBox="1"/>
          <p:nvPr/>
        </p:nvSpPr>
        <p:spPr>
          <a:xfrm>
            <a:off x="1737360" y="324612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10 families</a:t>
            </a:r>
            <a:endParaRPr lang="en-US" sz="1200" dirty="0"/>
          </a:p>
        </p:txBody>
      </p:sp>
      <p:sp>
        <p:nvSpPr>
          <p:cNvPr id="14" name="Text 11"/>
          <p:cNvSpPr txBox="1"/>
          <p:nvPr/>
        </p:nvSpPr>
        <p:spPr>
          <a:xfrm>
            <a:off x="3749040" y="2916936"/>
            <a:ext cx="2743200" cy="612648"/>
          </a:xfrm>
          <a:prstGeom prst="rect">
            <a:avLst/>
          </a:prstGeom>
          <a:noFill/>
          <a:ln/>
        </p:spPr>
        <p:txBody>
          <a:bodyPr wrap="square" lIns="0" tIns="0" rIns="0" bIns="0" rtlCol="0" anchor="ctr"/>
          <a:lstStyle/>
          <a:p>
            <a:pPr algn="l" indent="0" marL="0">
              <a:buNone/>
            </a:pPr>
            <a:r>
              <a:rPr lang="en-US" sz="1400" b="1" dirty="0">
                <a:solidFill>
                  <a:schemeClr val="accent2"/>
                </a:solidFill>
              </a:rPr>
              <a:t>Communications Review &amp; Approval</a:t>
            </a:r>
            <a:endParaRPr lang="en-US" sz="1400" dirty="0"/>
          </a:p>
        </p:txBody>
      </p:sp>
      <p:sp>
        <p:nvSpPr>
          <p:cNvPr id="15" name="Shape 12"/>
          <p:cNvSpPr/>
          <p:nvPr/>
        </p:nvSpPr>
        <p:spPr>
          <a:xfrm>
            <a:off x="1097280" y="3794760"/>
            <a:ext cx="5577840" cy="868680"/>
          </a:xfrm>
          <a:prstGeom prst="roundRect">
            <a:avLst>
              <a:gd name="adj" fmla="val 8421"/>
            </a:avLst>
          </a:prstGeom>
          <a:solidFill>
            <a:schemeClr val="bg2"/>
          </a:solidFill>
          <a:ln/>
        </p:spPr>
      </p:sp>
      <p:sp>
        <p:nvSpPr>
          <p:cNvPr id="16" name="Text 13"/>
          <p:cNvSpPr/>
          <p:nvPr/>
        </p:nvSpPr>
        <p:spPr>
          <a:xfrm>
            <a:off x="1280160" y="402336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L3</a:t>
            </a:r>
            <a:endParaRPr lang="en-US" sz="1300" dirty="0"/>
          </a:p>
        </p:txBody>
      </p:sp>
      <p:sp>
        <p:nvSpPr>
          <p:cNvPr id="17" name="Text 14"/>
          <p:cNvSpPr txBox="1"/>
          <p:nvPr/>
        </p:nvSpPr>
        <p:spPr>
          <a:xfrm>
            <a:off x="2011680" y="392277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Business Object</a:t>
            </a:r>
            <a:endParaRPr lang="en-US" sz="1600" dirty="0"/>
          </a:p>
        </p:txBody>
      </p:sp>
      <p:sp>
        <p:nvSpPr>
          <p:cNvPr id="18" name="Text 15"/>
          <p:cNvSpPr txBox="1"/>
          <p:nvPr/>
        </p:nvSpPr>
        <p:spPr>
          <a:xfrm>
            <a:off x="2011680" y="425196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52 objects</a:t>
            </a:r>
            <a:endParaRPr lang="en-US" sz="1200" dirty="0"/>
          </a:p>
        </p:txBody>
      </p:sp>
      <p:sp>
        <p:nvSpPr>
          <p:cNvPr id="19" name="Text 16"/>
          <p:cNvSpPr txBox="1"/>
          <p:nvPr/>
        </p:nvSpPr>
        <p:spPr>
          <a:xfrm>
            <a:off x="4023360" y="3922776"/>
            <a:ext cx="2468880" cy="612648"/>
          </a:xfrm>
          <a:prstGeom prst="rect">
            <a:avLst/>
          </a:prstGeom>
          <a:noFill/>
          <a:ln/>
        </p:spPr>
        <p:txBody>
          <a:bodyPr wrap="square" lIns="0" tIns="0" rIns="0" bIns="0" rtlCol="0" anchor="ctr"/>
          <a:lstStyle/>
          <a:p>
            <a:pPr algn="l" indent="0" marL="0">
              <a:buNone/>
            </a:pPr>
            <a:r>
              <a:rPr lang="en-US" sz="1400" b="1" dirty="0">
                <a:solidFill>
                  <a:schemeClr val="accent2"/>
                </a:solidFill>
              </a:rPr>
              <a:t>Compliance Approval</a:t>
            </a:r>
            <a:endParaRPr lang="en-US" sz="1400" dirty="0"/>
          </a:p>
        </p:txBody>
      </p:sp>
      <p:sp>
        <p:nvSpPr>
          <p:cNvPr id="20" name="Shape 17"/>
          <p:cNvSpPr/>
          <p:nvPr/>
        </p:nvSpPr>
        <p:spPr>
          <a:xfrm>
            <a:off x="1371600" y="4800600"/>
            <a:ext cx="5303520" cy="868680"/>
          </a:xfrm>
          <a:prstGeom prst="roundRect">
            <a:avLst>
              <a:gd name="adj" fmla="val 8421"/>
            </a:avLst>
          </a:prstGeom>
          <a:solidFill>
            <a:schemeClr val="bg2"/>
          </a:solidFill>
          <a:ln/>
        </p:spPr>
      </p:sp>
      <p:sp>
        <p:nvSpPr>
          <p:cNvPr id="21" name="Text 18"/>
          <p:cNvSpPr/>
          <p:nvPr/>
        </p:nvSpPr>
        <p:spPr>
          <a:xfrm>
            <a:off x="1554480" y="5029200"/>
            <a:ext cx="548640" cy="411480"/>
          </a:xfrm>
          <a:prstGeom prst="roundRect">
            <a:avLst>
              <a:gd name="adj" fmla="val 13333"/>
            </a:avLst>
          </a:prstGeom>
          <a:solidFill>
            <a:schemeClr val="tx1"/>
          </a:solidFill>
          <a:ln/>
        </p:spPr>
        <p:txBody>
          <a:bodyPr wrap="square" lIns="0" tIns="0" rIns="0" bIns="0" rtlCol="0" anchor="ctr"/>
          <a:lstStyle/>
          <a:p>
            <a:pPr algn="ctr" indent="0" marL="0">
              <a:buNone/>
            </a:pPr>
            <a:r>
              <a:rPr lang="en-US" sz="1300" b="1" dirty="0">
                <a:solidFill>
                  <a:schemeClr val="bg1"/>
                </a:solidFill>
              </a:rPr>
              <a:t>L4</a:t>
            </a:r>
            <a:endParaRPr lang="en-US" sz="1300" dirty="0"/>
          </a:p>
        </p:txBody>
      </p:sp>
      <p:sp>
        <p:nvSpPr>
          <p:cNvPr id="22" name="Text 19"/>
          <p:cNvSpPr txBox="1"/>
          <p:nvPr/>
        </p:nvSpPr>
        <p:spPr>
          <a:xfrm>
            <a:off x="2286000" y="4928616"/>
            <a:ext cx="2011680" cy="329184"/>
          </a:xfrm>
          <a:prstGeom prst="rect">
            <a:avLst/>
          </a:prstGeom>
          <a:noFill/>
          <a:ln/>
        </p:spPr>
        <p:txBody>
          <a:bodyPr wrap="square" lIns="0" tIns="0" rIns="0" bIns="0" rtlCol="0" anchor="ctr"/>
          <a:lstStyle/>
          <a:p>
            <a:pPr algn="l" indent="0" marL="0">
              <a:buNone/>
            </a:pPr>
            <a:r>
              <a:rPr lang="en-US" sz="1600" b="1" dirty="0">
                <a:solidFill>
                  <a:schemeClr val="tx1"/>
                </a:solidFill>
              </a:rPr>
              <a:t>Attribute</a:t>
            </a:r>
            <a:endParaRPr lang="en-US" sz="1600" dirty="0"/>
          </a:p>
        </p:txBody>
      </p:sp>
      <p:sp>
        <p:nvSpPr>
          <p:cNvPr id="23" name="Text 20"/>
          <p:cNvSpPr txBox="1"/>
          <p:nvPr/>
        </p:nvSpPr>
        <p:spPr>
          <a:xfrm>
            <a:off x="2286000" y="5257800"/>
            <a:ext cx="2011680" cy="274320"/>
          </a:xfrm>
          <a:prstGeom prst="rect">
            <a:avLst/>
          </a:prstGeom>
          <a:noFill/>
          <a:ln/>
        </p:spPr>
        <p:txBody>
          <a:bodyPr wrap="square" lIns="0" tIns="0" rIns="0" bIns="0" rtlCol="0" anchor="ctr"/>
          <a:lstStyle/>
          <a:p>
            <a:pPr algn="l" indent="0" marL="0">
              <a:buNone/>
            </a:pPr>
            <a:r>
              <a:rPr lang="en-US" sz="1200" dirty="0">
                <a:solidFill>
                  <a:schemeClr val="tx2"/>
                </a:solidFill>
              </a:rPr>
              <a:t>264 attributes</a:t>
            </a:r>
            <a:endParaRPr lang="en-US" sz="1200" dirty="0"/>
          </a:p>
        </p:txBody>
      </p:sp>
      <p:sp>
        <p:nvSpPr>
          <p:cNvPr id="24" name="Text 21"/>
          <p:cNvSpPr txBox="1"/>
          <p:nvPr/>
        </p:nvSpPr>
        <p:spPr>
          <a:xfrm>
            <a:off x="4297680" y="4928616"/>
            <a:ext cx="2194560" cy="612648"/>
          </a:xfrm>
          <a:prstGeom prst="rect">
            <a:avLst/>
          </a:prstGeom>
          <a:noFill/>
          <a:ln/>
        </p:spPr>
        <p:txBody>
          <a:bodyPr wrap="square" lIns="0" tIns="0" rIns="0" bIns="0" rtlCol="0" anchor="ctr"/>
          <a:lstStyle/>
          <a:p>
            <a:pPr algn="l" indent="0" marL="0">
              <a:buNone/>
            </a:pPr>
            <a:r>
              <a:rPr lang="en-US" sz="1400" b="1" dirty="0">
                <a:solidFill>
                  <a:schemeClr val="accent2"/>
                </a:solidFill>
              </a:rPr>
              <a:t>Approval Expiry Date</a:t>
            </a:r>
            <a:endParaRPr lang="en-US" sz="1400" dirty="0"/>
          </a:p>
        </p:txBody>
      </p:sp>
      <p:sp>
        <p:nvSpPr>
          <p:cNvPr id="25" name="Text 22"/>
          <p:cNvSpPr txBox="1"/>
          <p:nvPr/>
        </p:nvSpPr>
        <p:spPr>
          <a:xfrm>
            <a:off x="548640" y="5852160"/>
            <a:ext cx="6126480" cy="274320"/>
          </a:xfrm>
          <a:prstGeom prst="rect">
            <a:avLst/>
          </a:prstGeom>
          <a:noFill/>
          <a:ln/>
        </p:spPr>
        <p:txBody>
          <a:bodyPr wrap="square" lIns="0" tIns="0" rIns="0" bIns="0" rtlCol="0" anchor="ctr"/>
          <a:lstStyle/>
          <a:p>
            <a:pPr algn="l" indent="0" marL="0">
              <a:buNone/>
            </a:pPr>
            <a:r>
              <a:rPr lang="en-US" sz="1200" dirty="0">
                <a:solidFill>
                  <a:schemeClr val="accent2"/>
                </a:solidFill>
              </a:rPr>
              <a:t>Purple text: the path to one attribute followed later in this deck</a:t>
            </a:r>
            <a:endParaRPr lang="en-US" sz="1200" dirty="0"/>
          </a:p>
        </p:txBody>
      </p:sp>
      <p:sp>
        <p:nvSpPr>
          <p:cNvPr id="26" name="Text 23"/>
          <p:cNvSpPr txBox="1"/>
          <p:nvPr/>
        </p:nvSpPr>
        <p:spPr>
          <a:xfrm>
            <a:off x="7040880" y="1783080"/>
            <a:ext cx="457200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FOR EVERY ATTRIBUTE, IT RECORDS</a:t>
            </a:r>
            <a:endParaRPr lang="en-US" sz="1200" dirty="0"/>
          </a:p>
        </p:txBody>
      </p:sp>
      <p:sp>
        <p:nvSpPr>
          <p:cNvPr id="27" name="Text 24"/>
          <p:cNvSpPr txBox="1"/>
          <p:nvPr/>
        </p:nvSpPr>
        <p:spPr>
          <a:xfrm>
            <a:off x="7040880" y="2148840"/>
            <a:ext cx="4599432" cy="251460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One definition, with an example value</a:t>
            </a:r>
            <a:endParaRPr lang="en-US" sz="1400" dirty="0"/>
          </a:p>
          <a:p>
            <a:pPr marL="177800" indent="-177800">
              <a:spcAft>
                <a:spcPts val="700"/>
              </a:spcAft>
              <a:buSzPct val="100000"/>
              <a:buChar char="•"/>
            </a:pPr>
            <a:r>
              <a:rPr lang="en-US" sz="1400" dirty="0">
                <a:solidFill>
                  <a:schemeClr val="tx1"/>
                </a:solidFill>
              </a:rPr>
              <a:t>The data type and, where coded, the code list</a:t>
            </a:r>
            <a:endParaRPr lang="en-US" sz="1400" dirty="0"/>
          </a:p>
          <a:p>
            <a:pPr marL="177800" indent="-177800">
              <a:spcAft>
                <a:spcPts val="700"/>
              </a:spcAft>
              <a:buSzPct val="100000"/>
              <a:buChar char="•"/>
            </a:pPr>
            <a:r>
              <a:rPr lang="en-US" sz="1400" dirty="0">
                <a:solidFill>
                  <a:schemeClr val="tx1"/>
                </a:solidFill>
              </a:rPr>
              <a:t>The record, regime or jurisdiction it applies to</a:t>
            </a:r>
            <a:endParaRPr lang="en-US" sz="1400" dirty="0"/>
          </a:p>
          <a:p>
            <a:pPr marL="177800" indent="-177800">
              <a:spcAft>
                <a:spcPts val="700"/>
              </a:spcAft>
              <a:buSzPct val="100000"/>
              <a:buChar char="•"/>
            </a:pPr>
            <a:r>
              <a:rPr lang="en-US" sz="1400" dirty="0">
                <a:solidFill>
                  <a:schemeClr val="tx1"/>
                </a:solidFill>
              </a:rPr>
              <a:t>The standard, regulation or source it aligns to</a:t>
            </a:r>
            <a:endParaRPr lang="en-US" sz="1400" dirty="0"/>
          </a:p>
          <a:p>
            <a:pPr marL="177800" indent="-177800">
              <a:spcAft>
                <a:spcPts val="700"/>
              </a:spcAft>
              <a:buSzPct val="100000"/>
              <a:buChar char="•"/>
            </a:pPr>
            <a:r>
              <a:rPr lang="en-US" sz="1400" dirty="0">
                <a:solidFill>
                  <a:schemeClr val="tx1"/>
                </a:solidFill>
              </a:rPr>
              <a:t>Whether it is a proposed critical data element</a:t>
            </a:r>
            <a:endParaRPr lang="en-US" sz="1400" dirty="0"/>
          </a:p>
          <a:p>
            <a:pPr marL="177800" indent="-177800">
              <a:spcAft>
                <a:spcPts val="700"/>
              </a:spcAft>
              <a:buSzPct val="100000"/>
              <a:buChar char="•"/>
            </a:pPr>
            <a:r>
              <a:rPr lang="en-US" sz="1400" dirty="0">
                <a:solidFill>
                  <a:schemeClr val="tx1"/>
                </a:solidFill>
              </a:rPr>
              <a:t>Whether it is mastered here, referenced or a derived copy</a:t>
            </a:r>
            <a:endParaRPr lang="en-US" sz="1400" dirty="0"/>
          </a:p>
        </p:txBody>
      </p:sp>
      <p:sp>
        <p:nvSpPr>
          <p:cNvPr id="28" name="Shape 25"/>
          <p:cNvSpPr/>
          <p:nvPr/>
        </p:nvSpPr>
        <p:spPr>
          <a:xfrm>
            <a:off x="7040880" y="4800600"/>
            <a:ext cx="4599432" cy="914400"/>
          </a:xfrm>
          <a:prstGeom prst="roundRect">
            <a:avLst>
              <a:gd name="adj" fmla="val 8000"/>
            </a:avLst>
          </a:prstGeom>
          <a:solidFill>
            <a:schemeClr val="bg2"/>
          </a:solidFill>
          <a:ln/>
        </p:spPr>
      </p:sp>
      <p:sp>
        <p:nvSpPr>
          <p:cNvPr id="29" name="Text 26"/>
          <p:cNvSpPr txBox="1"/>
          <p:nvPr/>
        </p:nvSpPr>
        <p:spPr>
          <a:xfrm>
            <a:off x="7269480" y="4800600"/>
            <a:ext cx="4142232" cy="914400"/>
          </a:xfrm>
          <a:prstGeom prst="rect">
            <a:avLst/>
          </a:prstGeom>
          <a:noFill/>
          <a:ln/>
        </p:spPr>
        <p:txBody>
          <a:bodyPr wrap="square" lIns="0" tIns="0" rIns="0" bIns="0" rtlCol="0" anchor="ctr"/>
          <a:lstStyle/>
          <a:p>
            <a:pPr algn="l" indent="0" marL="0">
              <a:buNone/>
            </a:pPr>
            <a:r>
              <a:rPr lang="en-US" sz="1400" b="1" dirty="0">
                <a:solidFill>
                  <a:schemeClr val="tx1"/>
                </a:solidFill>
              </a:rPr>
              <a:t>It defines meaning and ownership. It does not hold data values or system field names.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CONTEXT  |  THE CORE MODEL</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Five masters, each carrying its evidence</a:t>
            </a:r>
            <a:endParaRPr lang="en-US" sz="3600" dirty="0"/>
          </a:p>
        </p:txBody>
      </p:sp>
      <p:sp>
        <p:nvSpPr>
          <p:cNvPr id="5" name="Text 2"/>
          <p:cNvSpPr txBox="1"/>
          <p:nvPr/>
        </p:nvSpPr>
        <p:spPr>
          <a:xfrm>
            <a:off x="548640" y="1783080"/>
            <a:ext cx="3017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WHAT IS RECORDED</a:t>
            </a:r>
            <a:endParaRPr lang="en-US" sz="1200" dirty="0"/>
          </a:p>
        </p:txBody>
      </p:sp>
      <p:sp>
        <p:nvSpPr>
          <p:cNvPr id="6" name="Text 3"/>
          <p:cNvSpPr txBox="1"/>
          <p:nvPr/>
        </p:nvSpPr>
        <p:spPr>
          <a:xfrm>
            <a:off x="4480560" y="1783080"/>
            <a:ext cx="3291840" cy="256032"/>
          </a:xfrm>
          <a:prstGeom prst="rect">
            <a:avLst/>
          </a:prstGeom>
          <a:noFill/>
          <a:ln/>
        </p:spPr>
        <p:txBody>
          <a:bodyPr wrap="square" lIns="0" tIns="0" rIns="0" bIns="0" rtlCol="0" anchor="ctr"/>
          <a:lstStyle/>
          <a:p>
            <a:pPr algn="l" indent="0" marL="0">
              <a:buNone/>
            </a:pPr>
            <a:r>
              <a:rPr lang="en-US" sz="1200" b="1" spc="150" kern="0" dirty="0">
                <a:solidFill>
                  <a:schemeClr val="accent2"/>
                </a:solidFill>
              </a:rPr>
              <a:t>WHAT EACH RECORD CARRIES</a:t>
            </a:r>
            <a:endParaRPr lang="en-US" sz="1200" dirty="0"/>
          </a:p>
        </p:txBody>
      </p:sp>
      <p:sp>
        <p:nvSpPr>
          <p:cNvPr id="7" name="Text 4"/>
          <p:cNvSpPr txBox="1"/>
          <p:nvPr/>
        </p:nvSpPr>
        <p:spPr>
          <a:xfrm>
            <a:off x="8686800" y="1783080"/>
            <a:ext cx="2953512" cy="256032"/>
          </a:xfrm>
          <a:prstGeom prst="rect">
            <a:avLst/>
          </a:prstGeom>
          <a:noFill/>
          <a:ln/>
        </p:spPr>
        <p:txBody>
          <a:bodyPr wrap="square" lIns="0" tIns="0" rIns="0" bIns="0" rtlCol="0" anchor="ctr"/>
          <a:lstStyle/>
          <a:p>
            <a:pPr algn="l" indent="0" marL="0">
              <a:buNone/>
            </a:pPr>
            <a:r>
              <a:rPr lang="en-US" sz="1200" b="1" spc="150" kern="0" dirty="0">
                <a:solidFill>
                  <a:schemeClr val="accent4"/>
                </a:solidFill>
              </a:rPr>
              <a:t>WHAT IT PROVES</a:t>
            </a:r>
            <a:endParaRPr lang="en-US" sz="1200" dirty="0"/>
          </a:p>
        </p:txBody>
      </p:sp>
      <p:sp>
        <p:nvSpPr>
          <p:cNvPr id="8" name="Shape 5"/>
          <p:cNvSpPr/>
          <p:nvPr/>
        </p:nvSpPr>
        <p:spPr>
          <a:xfrm>
            <a:off x="548640" y="2788920"/>
            <a:ext cx="3017520" cy="914400"/>
          </a:xfrm>
          <a:prstGeom prst="roundRect">
            <a:avLst>
              <a:gd name="adj" fmla="val 8000"/>
            </a:avLst>
          </a:prstGeom>
          <a:solidFill>
            <a:schemeClr val="accent1"/>
          </a:solidFill>
          <a:ln/>
        </p:spPr>
      </p:sp>
      <p:sp>
        <p:nvSpPr>
          <p:cNvPr id="9" name="Text 6"/>
          <p:cNvSpPr txBox="1"/>
          <p:nvPr/>
        </p:nvSpPr>
        <p:spPr>
          <a:xfrm>
            <a:off x="777240" y="2880360"/>
            <a:ext cx="2560320" cy="365760"/>
          </a:xfrm>
          <a:prstGeom prst="rect">
            <a:avLst/>
          </a:prstGeom>
          <a:noFill/>
          <a:ln/>
        </p:spPr>
        <p:txBody>
          <a:bodyPr wrap="square" lIns="0" tIns="0" rIns="0" bIns="0" rtlCol="0" anchor="ctr"/>
          <a:lstStyle/>
          <a:p>
            <a:pPr algn="l" indent="0" marL="0">
              <a:buNone/>
            </a:pPr>
            <a:r>
              <a:rPr lang="en-US" sz="1600" b="1" dirty="0">
                <a:solidFill>
                  <a:schemeClr val="bg1"/>
                </a:solidFill>
              </a:rPr>
              <a:t>Compliance master</a:t>
            </a:r>
            <a:endParaRPr lang="en-US" sz="1600" dirty="0"/>
          </a:p>
        </p:txBody>
      </p:sp>
      <p:sp>
        <p:nvSpPr>
          <p:cNvPr id="10" name="Text 7"/>
          <p:cNvSpPr txBox="1"/>
          <p:nvPr/>
        </p:nvSpPr>
        <p:spPr>
          <a:xfrm>
            <a:off x="777240" y="3246120"/>
            <a:ext cx="2560320" cy="274320"/>
          </a:xfrm>
          <a:prstGeom prst="rect">
            <a:avLst/>
          </a:prstGeom>
          <a:noFill/>
          <a:ln/>
        </p:spPr>
        <p:txBody>
          <a:bodyPr wrap="square" lIns="0" tIns="0" rIns="0" bIns="0" rtlCol="0" anchor="ctr"/>
          <a:lstStyle/>
          <a:p>
            <a:pPr algn="l" indent="0" marL="0">
              <a:buNone/>
            </a:pPr>
            <a:r>
              <a:rPr lang="en-US" sz="1200" dirty="0">
                <a:solidFill>
                  <a:schemeClr val="bg1"/>
                </a:solidFill>
              </a:rPr>
              <a:t>REV-, DDQ-, GNE-, CPL- and LIC- records</a:t>
            </a:r>
            <a:endParaRPr lang="en-US" sz="1200" dirty="0"/>
          </a:p>
        </p:txBody>
      </p:sp>
      <p:sp>
        <p:nvSpPr>
          <p:cNvPr id="11" name="Shape 8"/>
          <p:cNvSpPr/>
          <p:nvPr/>
        </p:nvSpPr>
        <p:spPr>
          <a:xfrm>
            <a:off x="2057400" y="3703320"/>
            <a:ext cx="0" cy="457200"/>
          </a:xfrm>
          <a:prstGeom prst="line">
            <a:avLst/>
          </a:prstGeom>
          <a:noFill/>
          <a:ln w="19050">
            <a:solidFill>
              <a:schemeClr val="tx2"/>
            </a:solidFill>
            <a:prstDash val="solid"/>
            <a:tailEnd type="triangle"/>
          </a:ln>
        </p:spPr>
      </p:sp>
      <p:sp>
        <p:nvSpPr>
          <p:cNvPr id="12" name="Shape 9"/>
          <p:cNvSpPr/>
          <p:nvPr/>
        </p:nvSpPr>
        <p:spPr>
          <a:xfrm>
            <a:off x="548640" y="4160520"/>
            <a:ext cx="3017520" cy="822960"/>
          </a:xfrm>
          <a:prstGeom prst="roundRect">
            <a:avLst>
              <a:gd name="adj" fmla="val 8889"/>
            </a:avLst>
          </a:prstGeom>
          <a:solidFill>
            <a:schemeClr val="bg2"/>
          </a:solidFill>
          <a:ln/>
        </p:spPr>
      </p:sp>
      <p:sp>
        <p:nvSpPr>
          <p:cNvPr id="13" name="Text 10"/>
          <p:cNvSpPr txBox="1"/>
          <p:nvPr/>
        </p:nvSpPr>
        <p:spPr>
          <a:xfrm>
            <a:off x="777240" y="4224528"/>
            <a:ext cx="2560320" cy="329184"/>
          </a:xfrm>
          <a:prstGeom prst="rect">
            <a:avLst/>
          </a:prstGeom>
          <a:noFill/>
          <a:ln/>
        </p:spPr>
        <p:txBody>
          <a:bodyPr wrap="square" lIns="0" tIns="0" rIns="0" bIns="0" rtlCol="0" anchor="ctr"/>
          <a:lstStyle/>
          <a:p>
            <a:pPr algn="l" indent="0" marL="0">
              <a:buNone/>
            </a:pPr>
            <a:r>
              <a:rPr lang="en-US" sz="1400" b="1" dirty="0">
                <a:solidFill>
                  <a:schemeClr val="tx1"/>
                </a:solidFill>
              </a:rPr>
              <a:t>Supporting record</a:t>
            </a:r>
            <a:endParaRPr lang="en-US" sz="1400" dirty="0"/>
          </a:p>
        </p:txBody>
      </p:sp>
      <p:sp>
        <p:nvSpPr>
          <p:cNvPr id="14" name="Text 11"/>
          <p:cNvSpPr txBox="1"/>
          <p:nvPr/>
        </p:nvSpPr>
        <p:spPr>
          <a:xfrm>
            <a:off x="777240" y="4553712"/>
            <a:ext cx="2560320" cy="274320"/>
          </a:xfrm>
          <a:prstGeom prst="rect">
            <a:avLst/>
          </a:prstGeom>
          <a:noFill/>
          <a:ln/>
        </p:spPr>
        <p:txBody>
          <a:bodyPr wrap="square" lIns="0" tIns="0" rIns="0" bIns="0" rtlCol="0" anchor="ctr"/>
          <a:lstStyle/>
          <a:p>
            <a:pPr algn="l" indent="0" marL="0">
              <a:buNone/>
            </a:pPr>
            <a:r>
              <a:rPr lang="en-US" sz="1200" dirty="0">
                <a:solidFill>
                  <a:schemeClr val="tx2"/>
                </a:solidFill>
              </a:rPr>
              <a:t>Notification, alert, conflict, attestation</a:t>
            </a:r>
            <a:endParaRPr lang="en-US" sz="1200" dirty="0"/>
          </a:p>
        </p:txBody>
      </p:sp>
      <p:sp>
        <p:nvSpPr>
          <p:cNvPr id="15" name="Text 12"/>
          <p:cNvSpPr txBox="1"/>
          <p:nvPr/>
        </p:nvSpPr>
        <p:spPr>
          <a:xfrm>
            <a:off x="548640" y="2194560"/>
            <a:ext cx="3017520" cy="457200"/>
          </a:xfrm>
          <a:prstGeom prst="rect">
            <a:avLst/>
          </a:prstGeom>
          <a:noFill/>
          <a:ln/>
        </p:spPr>
        <p:txBody>
          <a:bodyPr wrap="square" lIns="0" tIns="0" rIns="0" bIns="0" rtlCol="0" anchor="ctr"/>
          <a:lstStyle/>
          <a:p>
            <a:pPr algn="l" indent="0" marL="0">
              <a:buNone/>
            </a:pPr>
            <a:r>
              <a:rPr lang="en-US" sz="1200" dirty="0">
                <a:solidFill>
                  <a:schemeClr val="tx2"/>
                </a:solidFill>
              </a:rPr>
              <a:t>Five masters, each keyed once; supporting records point to them</a:t>
            </a:r>
            <a:endParaRPr lang="en-US" sz="1200" dirty="0"/>
          </a:p>
        </p:txBody>
      </p:sp>
      <p:sp>
        <p:nvSpPr>
          <p:cNvPr id="16" name="Shape 13"/>
          <p:cNvSpPr/>
          <p:nvPr/>
        </p:nvSpPr>
        <p:spPr>
          <a:xfrm>
            <a:off x="4480560" y="2240280"/>
            <a:ext cx="3291840" cy="822960"/>
          </a:xfrm>
          <a:prstGeom prst="roundRect">
            <a:avLst>
              <a:gd name="adj" fmla="val 8889"/>
            </a:avLst>
          </a:prstGeom>
          <a:solidFill>
            <a:schemeClr val="accent2"/>
          </a:solidFill>
          <a:ln/>
        </p:spPr>
      </p:sp>
      <p:sp>
        <p:nvSpPr>
          <p:cNvPr id="17" name="Text 14"/>
          <p:cNvSpPr txBox="1"/>
          <p:nvPr/>
        </p:nvSpPr>
        <p:spPr>
          <a:xfrm>
            <a:off x="4709160" y="2313432"/>
            <a:ext cx="2834640" cy="329184"/>
          </a:xfrm>
          <a:prstGeom prst="rect">
            <a:avLst/>
          </a:prstGeom>
          <a:noFill/>
          <a:ln/>
        </p:spPr>
        <p:txBody>
          <a:bodyPr wrap="square" lIns="0" tIns="0" rIns="0" bIns="0" rtlCol="0" anchor="ctr"/>
          <a:lstStyle/>
          <a:p>
            <a:pPr algn="l" indent="0" marL="0">
              <a:buNone/>
            </a:pPr>
            <a:r>
              <a:rPr lang="en-US" sz="1400" b="1" dirty="0">
                <a:solidFill>
                  <a:schemeClr val="bg1"/>
                </a:solidFill>
              </a:rPr>
              <a:t>Decision and evidence</a:t>
            </a:r>
            <a:endParaRPr lang="en-US" sz="1400" dirty="0"/>
          </a:p>
        </p:txBody>
      </p:sp>
      <p:sp>
        <p:nvSpPr>
          <p:cNvPr id="18" name="Text 15"/>
          <p:cNvSpPr txBox="1"/>
          <p:nvPr/>
        </p:nvSpPr>
        <p:spPr>
          <a:xfrm>
            <a:off x="4709160" y="2642616"/>
            <a:ext cx="2834640" cy="329184"/>
          </a:xfrm>
          <a:prstGeom prst="rect">
            <a:avLst/>
          </a:prstGeom>
          <a:noFill/>
          <a:ln/>
        </p:spPr>
        <p:txBody>
          <a:bodyPr wrap="square" lIns="0" tIns="0" rIns="0" bIns="0" rtlCol="0" anchor="ctr"/>
          <a:lstStyle/>
          <a:p>
            <a:pPr algn="l" indent="0" marL="0">
              <a:buNone/>
            </a:pPr>
            <a:r>
              <a:rPr lang="en-US" sz="1200" dirty="0">
                <a:solidFill>
                  <a:schemeClr val="bg1"/>
                </a:solidFill>
              </a:rPr>
              <a:t>Who decided what, when, on what basis</a:t>
            </a:r>
            <a:endParaRPr lang="en-US" sz="1200" dirty="0"/>
          </a:p>
        </p:txBody>
      </p:sp>
      <p:sp>
        <p:nvSpPr>
          <p:cNvPr id="19" name="Shape 16"/>
          <p:cNvSpPr/>
          <p:nvPr/>
        </p:nvSpPr>
        <p:spPr>
          <a:xfrm>
            <a:off x="4480560" y="3246120"/>
            <a:ext cx="3291840" cy="822960"/>
          </a:xfrm>
          <a:prstGeom prst="roundRect">
            <a:avLst>
              <a:gd name="adj" fmla="val 8889"/>
            </a:avLst>
          </a:prstGeom>
          <a:solidFill>
            <a:schemeClr val="bg2"/>
          </a:solidFill>
          <a:ln/>
        </p:spPr>
      </p:sp>
      <p:sp>
        <p:nvSpPr>
          <p:cNvPr id="20" name="Text 17"/>
          <p:cNvSpPr txBox="1"/>
          <p:nvPr/>
        </p:nvSpPr>
        <p:spPr>
          <a:xfrm>
            <a:off x="4709160" y="331927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Regime classification</a:t>
            </a:r>
            <a:endParaRPr lang="en-US" sz="1400" dirty="0"/>
          </a:p>
        </p:txBody>
      </p:sp>
      <p:sp>
        <p:nvSpPr>
          <p:cNvPr id="21" name="Text 18"/>
          <p:cNvSpPr txBox="1"/>
          <p:nvPr/>
        </p:nvSpPr>
        <p:spPr>
          <a:xfrm>
            <a:off x="4709160" y="364845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One attribute per regime that applies</a:t>
            </a:r>
            <a:endParaRPr lang="en-US" sz="1200" dirty="0"/>
          </a:p>
        </p:txBody>
      </p:sp>
      <p:sp>
        <p:nvSpPr>
          <p:cNvPr id="22" name="Shape 19"/>
          <p:cNvSpPr/>
          <p:nvPr/>
        </p:nvSpPr>
        <p:spPr>
          <a:xfrm>
            <a:off x="4480560" y="4251960"/>
            <a:ext cx="3291840" cy="822960"/>
          </a:xfrm>
          <a:prstGeom prst="roundRect">
            <a:avLst>
              <a:gd name="adj" fmla="val 8889"/>
            </a:avLst>
          </a:prstGeom>
          <a:solidFill>
            <a:schemeClr val="bg2"/>
          </a:solidFill>
          <a:ln/>
        </p:spPr>
      </p:sp>
      <p:sp>
        <p:nvSpPr>
          <p:cNvPr id="23" name="Text 20"/>
          <p:cNvSpPr txBox="1"/>
          <p:nvPr/>
        </p:nvSpPr>
        <p:spPr>
          <a:xfrm>
            <a:off x="4709160" y="4325112"/>
            <a:ext cx="2834640" cy="329184"/>
          </a:xfrm>
          <a:prstGeom prst="rect">
            <a:avLst/>
          </a:prstGeom>
          <a:noFill/>
          <a:ln/>
        </p:spPr>
        <p:txBody>
          <a:bodyPr wrap="square" lIns="0" tIns="0" rIns="0" bIns="0" rtlCol="0" anchor="ctr"/>
          <a:lstStyle/>
          <a:p>
            <a:pPr algn="l" indent="0" marL="0">
              <a:buNone/>
            </a:pPr>
            <a:r>
              <a:rPr lang="en-US" sz="1400" b="1" dirty="0">
                <a:solidFill>
                  <a:schemeClr val="tx1"/>
                </a:solidFill>
              </a:rPr>
              <a:t>References by ID</a:t>
            </a:r>
            <a:endParaRPr lang="en-US" sz="1400" dirty="0"/>
          </a:p>
        </p:txBody>
      </p:sp>
      <p:sp>
        <p:nvSpPr>
          <p:cNvPr id="24" name="Text 21"/>
          <p:cNvSpPr txBox="1"/>
          <p:nvPr/>
        </p:nvSpPr>
        <p:spPr>
          <a:xfrm>
            <a:off x="4709160" y="4654296"/>
            <a:ext cx="2834640" cy="329184"/>
          </a:xfrm>
          <a:prstGeom prst="rect">
            <a:avLst/>
          </a:prstGeom>
          <a:noFill/>
          <a:ln/>
        </p:spPr>
        <p:txBody>
          <a:bodyPr wrap="square" lIns="0" tIns="0" rIns="0" bIns="0" rtlCol="0" anchor="ctr"/>
          <a:lstStyle/>
          <a:p>
            <a:pPr algn="l" indent="0" marL="0">
              <a:buNone/>
            </a:pPr>
            <a:r>
              <a:rPr lang="en-US" sz="1200" dirty="0">
                <a:solidFill>
                  <a:schemeClr val="tx2"/>
                </a:solidFill>
              </a:rPr>
              <a:t>Asset, party, employee, product, agreement</a:t>
            </a:r>
            <a:endParaRPr lang="en-US" sz="1200" dirty="0"/>
          </a:p>
        </p:txBody>
      </p:sp>
      <p:sp>
        <p:nvSpPr>
          <p:cNvPr id="25" name="Shape 22"/>
          <p:cNvSpPr/>
          <p:nvPr/>
        </p:nvSpPr>
        <p:spPr>
          <a:xfrm flipV="1">
            <a:off x="3566160" y="2651760"/>
            <a:ext cx="914400" cy="594360"/>
          </a:xfrm>
          <a:prstGeom prst="line">
            <a:avLst/>
          </a:prstGeom>
          <a:noFill/>
          <a:ln w="19050">
            <a:solidFill>
              <a:schemeClr val="tx2"/>
            </a:solidFill>
            <a:prstDash val="solid"/>
            <a:tailEnd type="triangle"/>
          </a:ln>
        </p:spPr>
      </p:sp>
      <p:sp>
        <p:nvSpPr>
          <p:cNvPr id="26" name="Shape 23"/>
          <p:cNvSpPr/>
          <p:nvPr/>
        </p:nvSpPr>
        <p:spPr>
          <a:xfrm>
            <a:off x="3566160" y="3246120"/>
            <a:ext cx="914400" cy="411480"/>
          </a:xfrm>
          <a:prstGeom prst="line">
            <a:avLst/>
          </a:prstGeom>
          <a:noFill/>
          <a:ln w="19050">
            <a:solidFill>
              <a:schemeClr val="tx2"/>
            </a:solidFill>
            <a:prstDash val="solid"/>
            <a:tailEnd type="triangle"/>
          </a:ln>
        </p:spPr>
      </p:sp>
      <p:sp>
        <p:nvSpPr>
          <p:cNvPr id="27" name="Shape 24"/>
          <p:cNvSpPr/>
          <p:nvPr/>
        </p:nvSpPr>
        <p:spPr>
          <a:xfrm>
            <a:off x="3566160" y="3246120"/>
            <a:ext cx="914400" cy="1417320"/>
          </a:xfrm>
          <a:prstGeom prst="line">
            <a:avLst/>
          </a:prstGeom>
          <a:noFill/>
          <a:ln w="19050">
            <a:solidFill>
              <a:schemeClr val="tx2"/>
            </a:solidFill>
            <a:prstDash val="solid"/>
            <a:tailEnd type="triangle"/>
          </a:ln>
        </p:spPr>
      </p:sp>
      <p:sp>
        <p:nvSpPr>
          <p:cNvPr id="28" name="Shape 25"/>
          <p:cNvSpPr/>
          <p:nvPr/>
        </p:nvSpPr>
        <p:spPr>
          <a:xfrm>
            <a:off x="7772400" y="2651760"/>
            <a:ext cx="914400" cy="0"/>
          </a:xfrm>
          <a:prstGeom prst="line">
            <a:avLst/>
          </a:prstGeom>
          <a:noFill/>
          <a:ln w="19050">
            <a:solidFill>
              <a:schemeClr val="tx2"/>
            </a:solidFill>
            <a:prstDash val="solid"/>
            <a:tailEnd type="triangle"/>
          </a:ln>
        </p:spPr>
      </p:sp>
      <p:sp>
        <p:nvSpPr>
          <p:cNvPr id="29" name="Shape 26"/>
          <p:cNvSpPr/>
          <p:nvPr/>
        </p:nvSpPr>
        <p:spPr>
          <a:xfrm>
            <a:off x="8686800" y="2240280"/>
            <a:ext cx="2953512" cy="822960"/>
          </a:xfrm>
          <a:prstGeom prst="roundRect">
            <a:avLst>
              <a:gd name="adj" fmla="val 8889"/>
            </a:avLst>
          </a:prstGeom>
          <a:solidFill>
            <a:schemeClr val="accent4"/>
          </a:solidFill>
          <a:ln/>
        </p:spPr>
      </p:sp>
      <p:sp>
        <p:nvSpPr>
          <p:cNvPr id="30" name="Text 27"/>
          <p:cNvSpPr txBox="1"/>
          <p:nvPr/>
        </p:nvSpPr>
        <p:spPr>
          <a:xfrm>
            <a:off x="8915400" y="2313432"/>
            <a:ext cx="2496312" cy="329184"/>
          </a:xfrm>
          <a:prstGeom prst="rect">
            <a:avLst/>
          </a:prstGeom>
          <a:noFill/>
          <a:ln/>
        </p:spPr>
        <p:txBody>
          <a:bodyPr wrap="square" lIns="0" tIns="0" rIns="0" bIns="0" rtlCol="0" anchor="ctr"/>
          <a:lstStyle/>
          <a:p>
            <a:pPr algn="l" indent="0" marL="0">
              <a:buNone/>
            </a:pPr>
            <a:r>
              <a:rPr lang="en-US" sz="1400" b="1" dirty="0">
                <a:solidFill>
                  <a:schemeClr val="bg1"/>
                </a:solidFill>
              </a:rPr>
              <a:t>Regulatory evidence</a:t>
            </a:r>
            <a:endParaRPr lang="en-US" sz="1400" dirty="0"/>
          </a:p>
        </p:txBody>
      </p:sp>
      <p:sp>
        <p:nvSpPr>
          <p:cNvPr id="31" name="Text 28"/>
          <p:cNvSpPr txBox="1"/>
          <p:nvPr/>
        </p:nvSpPr>
        <p:spPr>
          <a:xfrm>
            <a:off x="8915400" y="2642616"/>
            <a:ext cx="2496312" cy="329184"/>
          </a:xfrm>
          <a:prstGeom prst="rect">
            <a:avLst/>
          </a:prstGeom>
          <a:noFill/>
          <a:ln/>
        </p:spPr>
        <p:txBody>
          <a:bodyPr wrap="square" lIns="0" tIns="0" rIns="0" bIns="0" rtlCol="0" anchor="ctr"/>
          <a:lstStyle/>
          <a:p>
            <a:pPr algn="l" indent="0" marL="0">
              <a:buNone/>
            </a:pPr>
            <a:r>
              <a:rPr lang="en-US" sz="1200" dirty="0">
                <a:solidFill>
                  <a:schemeClr val="bg1"/>
                </a:solidFill>
              </a:rPr>
              <a:t>For FINRA, SEC, FCA and EU regulators</a:t>
            </a:r>
            <a:endParaRPr lang="en-US" sz="1200" dirty="0"/>
          </a:p>
        </p:txBody>
      </p:sp>
      <p:sp>
        <p:nvSpPr>
          <p:cNvPr id="32" name="Text 29"/>
          <p:cNvSpPr txBox="1"/>
          <p:nvPr/>
        </p:nvSpPr>
        <p:spPr>
          <a:xfrm>
            <a:off x="8686800" y="3200400"/>
            <a:ext cx="2953512" cy="640080"/>
          </a:xfrm>
          <a:prstGeom prst="rect">
            <a:avLst/>
          </a:prstGeom>
          <a:noFill/>
          <a:ln/>
        </p:spPr>
        <p:txBody>
          <a:bodyPr wrap="square" lIns="0" tIns="0" rIns="0" bIns="0" rtlCol="0" anchor="t"/>
          <a:lstStyle/>
          <a:p>
            <a:pPr algn="l" indent="0" marL="0">
              <a:buNone/>
            </a:pPr>
            <a:r>
              <a:rPr lang="en-US" sz="1200" dirty="0">
                <a:solidFill>
                  <a:schemeClr val="tx2"/>
                </a:solidFill>
              </a:rPr>
              <a:t>Statuses, approvals and registrations are effective-dated. Expiry and next-review dates are stored explicitly.</a:t>
            </a:r>
            <a:endParaRPr lang="en-US" sz="1200" dirty="0"/>
          </a:p>
        </p:txBody>
      </p:sp>
      <p:sp>
        <p:nvSpPr>
          <p:cNvPr id="33" name="Shape 30"/>
          <p:cNvSpPr/>
          <p:nvPr/>
        </p:nvSpPr>
        <p:spPr>
          <a:xfrm>
            <a:off x="548640" y="5303520"/>
            <a:ext cx="11091672" cy="868680"/>
          </a:xfrm>
          <a:prstGeom prst="roundRect">
            <a:avLst>
              <a:gd name="adj" fmla="val 8421"/>
            </a:avLst>
          </a:prstGeom>
          <a:solidFill>
            <a:schemeClr val="bg2"/>
          </a:solidFill>
          <a:ln/>
        </p:spPr>
      </p:sp>
      <p:sp>
        <p:nvSpPr>
          <p:cNvPr id="34" name="Text 31"/>
          <p:cNvSpPr txBox="1"/>
          <p:nvPr/>
        </p:nvSpPr>
        <p:spPr>
          <a:xfrm>
            <a:off x="822960" y="5303520"/>
            <a:ext cx="10543032" cy="868680"/>
          </a:xfrm>
          <a:prstGeom prst="rect">
            <a:avLst/>
          </a:prstGeom>
          <a:noFill/>
          <a:ln/>
        </p:spPr>
        <p:txBody>
          <a:bodyPr wrap="square" lIns="0" tIns="0" rIns="0" bIns="0" rtlCol="0" anchor="ctr"/>
          <a:lstStyle/>
          <a:p>
            <a:pPr algn="l" indent="0" marL="0">
              <a:buNone/>
            </a:pPr>
            <a:r>
              <a:rPr lang="en-US" sz="1400" dirty="0">
                <a:solidFill>
                  <a:schemeClr val="tx1"/>
                </a:solidFill>
              </a:rPr>
              <a:t>Evidence first: every record carries who decided what, when and on what basis. The thing being judged, whether an asset, a distributor, an employee, a product or an agreement, is held by ID and stays mastered in its own domain.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THE 10 FAMILIES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Ten families in three groups</a:t>
            </a:r>
            <a:endParaRPr lang="en-US" sz="3600" dirty="0"/>
          </a:p>
        </p:txBody>
      </p:sp>
      <p:sp>
        <p:nvSpPr>
          <p:cNvPr id="5" name="Shape 2"/>
          <p:cNvSpPr/>
          <p:nvPr/>
        </p:nvSpPr>
        <p:spPr>
          <a:xfrm>
            <a:off x="548640" y="1783080"/>
            <a:ext cx="3511296" cy="777240"/>
          </a:xfrm>
          <a:prstGeom prst="roundRect">
            <a:avLst>
              <a:gd name="adj" fmla="val 9412"/>
            </a:avLst>
          </a:prstGeom>
          <a:solidFill>
            <a:schemeClr val="accent1"/>
          </a:solidFill>
          <a:ln/>
        </p:spPr>
      </p:sp>
      <p:sp>
        <p:nvSpPr>
          <p:cNvPr id="6" name="Text 3"/>
          <p:cNvSpPr txBox="1"/>
          <p:nvPr/>
        </p:nvSpPr>
        <p:spPr>
          <a:xfrm>
            <a:off x="731520"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The spine</a:t>
            </a:r>
            <a:endParaRPr lang="en-US" sz="1400" dirty="0"/>
          </a:p>
        </p:txBody>
      </p:sp>
      <p:sp>
        <p:nvSpPr>
          <p:cNvPr id="7" name="Text 4"/>
          <p:cNvSpPr txBox="1"/>
          <p:nvPr/>
        </p:nvSpPr>
        <p:spPr>
          <a:xfrm>
            <a:off x="731520"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2 families  |  15 objects  |  79 attributes</a:t>
            </a:r>
            <a:endParaRPr lang="en-US" sz="1200" dirty="0"/>
          </a:p>
        </p:txBody>
      </p:sp>
      <p:sp>
        <p:nvSpPr>
          <p:cNvPr id="8" name="Shape 5"/>
          <p:cNvSpPr/>
          <p:nvPr/>
        </p:nvSpPr>
        <p:spPr>
          <a:xfrm>
            <a:off x="548640" y="2697480"/>
            <a:ext cx="3511296" cy="612648"/>
          </a:xfrm>
          <a:prstGeom prst="roundRect">
            <a:avLst>
              <a:gd name="adj" fmla="val 11940"/>
            </a:avLst>
          </a:prstGeom>
          <a:solidFill>
            <a:schemeClr val="bg2"/>
          </a:solidFill>
          <a:ln/>
        </p:spPr>
      </p:sp>
      <p:sp>
        <p:nvSpPr>
          <p:cNvPr id="9" name="Text 6"/>
          <p:cNvSpPr txBox="1"/>
          <p:nvPr/>
        </p:nvSpPr>
        <p:spPr>
          <a:xfrm>
            <a:off x="731520"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Communications Review &amp; Approval</a:t>
            </a:r>
            <a:endParaRPr lang="en-US" sz="1300" dirty="0"/>
          </a:p>
        </p:txBody>
      </p:sp>
      <p:sp>
        <p:nvSpPr>
          <p:cNvPr id="10" name="Text 7"/>
          <p:cNvSpPr txBox="1"/>
          <p:nvPr/>
        </p:nvSpPr>
        <p:spPr>
          <a:xfrm>
            <a:off x="731520"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9 objects  |  54 attributes  |  16 critical</a:t>
            </a:r>
            <a:endParaRPr lang="en-US" sz="1100" dirty="0"/>
          </a:p>
        </p:txBody>
      </p:sp>
      <p:sp>
        <p:nvSpPr>
          <p:cNvPr id="11" name="Shape 8"/>
          <p:cNvSpPr/>
          <p:nvPr/>
        </p:nvSpPr>
        <p:spPr>
          <a:xfrm>
            <a:off x="548640" y="3410712"/>
            <a:ext cx="3511296" cy="612648"/>
          </a:xfrm>
          <a:prstGeom prst="roundRect">
            <a:avLst>
              <a:gd name="adj" fmla="val 11940"/>
            </a:avLst>
          </a:prstGeom>
          <a:solidFill>
            <a:schemeClr val="bg2"/>
          </a:solidFill>
          <a:ln/>
        </p:spPr>
      </p:sp>
      <p:sp>
        <p:nvSpPr>
          <p:cNvPr id="12" name="Text 9"/>
          <p:cNvSpPr txBox="1"/>
          <p:nvPr/>
        </p:nvSpPr>
        <p:spPr>
          <a:xfrm>
            <a:off x="731520"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Licensing &amp; Registration</a:t>
            </a:r>
            <a:endParaRPr lang="en-US" sz="1300" dirty="0"/>
          </a:p>
        </p:txBody>
      </p:sp>
      <p:sp>
        <p:nvSpPr>
          <p:cNvPr id="13" name="Text 10"/>
          <p:cNvSpPr txBox="1"/>
          <p:nvPr/>
        </p:nvSpPr>
        <p:spPr>
          <a:xfrm>
            <a:off x="731520"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25 attributes  |  9 critical</a:t>
            </a:r>
            <a:endParaRPr lang="en-US" sz="1100" dirty="0"/>
          </a:p>
        </p:txBody>
      </p:sp>
      <p:sp>
        <p:nvSpPr>
          <p:cNvPr id="14" name="Shape 11"/>
          <p:cNvSpPr/>
          <p:nvPr/>
        </p:nvSpPr>
        <p:spPr>
          <a:xfrm>
            <a:off x="4338828" y="1783080"/>
            <a:ext cx="3511296" cy="777240"/>
          </a:xfrm>
          <a:prstGeom prst="roundRect">
            <a:avLst>
              <a:gd name="adj" fmla="val 9412"/>
            </a:avLst>
          </a:prstGeom>
          <a:solidFill>
            <a:schemeClr val="accent2"/>
          </a:solidFill>
          <a:ln/>
        </p:spPr>
      </p:sp>
      <p:sp>
        <p:nvSpPr>
          <p:cNvPr id="15" name="Text 12"/>
          <p:cNvSpPr txBox="1"/>
          <p:nvPr/>
        </p:nvSpPr>
        <p:spPr>
          <a:xfrm>
            <a:off x="4521708"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Distributors and markets</a:t>
            </a:r>
            <a:endParaRPr lang="en-US" sz="1400" dirty="0"/>
          </a:p>
        </p:txBody>
      </p:sp>
      <p:sp>
        <p:nvSpPr>
          <p:cNvPr id="16" name="Text 13"/>
          <p:cNvSpPr txBox="1"/>
          <p:nvPr/>
        </p:nvSpPr>
        <p:spPr>
          <a:xfrm>
            <a:off x="4521708"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21 objects  |  101 attributes</a:t>
            </a:r>
            <a:endParaRPr lang="en-US" sz="1200" dirty="0"/>
          </a:p>
        </p:txBody>
      </p:sp>
      <p:sp>
        <p:nvSpPr>
          <p:cNvPr id="17" name="Shape 14"/>
          <p:cNvSpPr/>
          <p:nvPr/>
        </p:nvSpPr>
        <p:spPr>
          <a:xfrm>
            <a:off x="4338828" y="2697480"/>
            <a:ext cx="3511296" cy="612648"/>
          </a:xfrm>
          <a:prstGeom prst="roundRect">
            <a:avLst>
              <a:gd name="adj" fmla="val 11940"/>
            </a:avLst>
          </a:prstGeom>
          <a:solidFill>
            <a:schemeClr val="bg2"/>
          </a:solidFill>
          <a:ln/>
        </p:spPr>
      </p:sp>
      <p:sp>
        <p:nvSpPr>
          <p:cNvPr id="18" name="Text 15"/>
          <p:cNvSpPr txBox="1"/>
          <p:nvPr/>
        </p:nvSpPr>
        <p:spPr>
          <a:xfrm>
            <a:off x="4521708"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Distributor Due Diligence</a:t>
            </a:r>
            <a:endParaRPr lang="en-US" sz="1300" dirty="0"/>
          </a:p>
        </p:txBody>
      </p:sp>
      <p:sp>
        <p:nvSpPr>
          <p:cNvPr id="19" name="Text 16"/>
          <p:cNvSpPr txBox="1"/>
          <p:nvPr/>
        </p:nvSpPr>
        <p:spPr>
          <a:xfrm>
            <a:off x="4521708"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7 objects  |  25 attributes  |  8 critical</a:t>
            </a:r>
            <a:endParaRPr lang="en-US" sz="1100" dirty="0"/>
          </a:p>
        </p:txBody>
      </p:sp>
      <p:sp>
        <p:nvSpPr>
          <p:cNvPr id="20" name="Shape 17"/>
          <p:cNvSpPr/>
          <p:nvPr/>
        </p:nvSpPr>
        <p:spPr>
          <a:xfrm>
            <a:off x="4338828" y="3410712"/>
            <a:ext cx="3511296" cy="612648"/>
          </a:xfrm>
          <a:prstGeom prst="roundRect">
            <a:avLst>
              <a:gd name="adj" fmla="val 11940"/>
            </a:avLst>
          </a:prstGeom>
          <a:solidFill>
            <a:schemeClr val="bg2"/>
          </a:solidFill>
          <a:ln/>
        </p:spPr>
      </p:sp>
      <p:sp>
        <p:nvSpPr>
          <p:cNvPr id="21" name="Text 18"/>
          <p:cNvSpPr txBox="1"/>
          <p:nvPr/>
        </p:nvSpPr>
        <p:spPr>
          <a:xfrm>
            <a:off x="4521708" y="3465576"/>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Product Governance &amp; Distributor Feedback</a:t>
            </a:r>
            <a:endParaRPr lang="en-US" sz="1100" dirty="0"/>
          </a:p>
        </p:txBody>
      </p:sp>
      <p:sp>
        <p:nvSpPr>
          <p:cNvPr id="22" name="Text 19"/>
          <p:cNvSpPr txBox="1"/>
          <p:nvPr/>
        </p:nvSpPr>
        <p:spPr>
          <a:xfrm>
            <a:off x="4521708"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21 attributes  |  5 critical</a:t>
            </a:r>
            <a:endParaRPr lang="en-US" sz="1100" dirty="0"/>
          </a:p>
        </p:txBody>
      </p:sp>
      <p:sp>
        <p:nvSpPr>
          <p:cNvPr id="23" name="Shape 20"/>
          <p:cNvSpPr/>
          <p:nvPr/>
        </p:nvSpPr>
        <p:spPr>
          <a:xfrm>
            <a:off x="4338828" y="4123944"/>
            <a:ext cx="3511296" cy="612648"/>
          </a:xfrm>
          <a:prstGeom prst="roundRect">
            <a:avLst>
              <a:gd name="adj" fmla="val 11940"/>
            </a:avLst>
          </a:prstGeom>
          <a:solidFill>
            <a:schemeClr val="bg2"/>
          </a:solidFill>
          <a:ln/>
        </p:spPr>
      </p:sp>
      <p:sp>
        <p:nvSpPr>
          <p:cNvPr id="24" name="Text 21"/>
          <p:cNvSpPr txBox="1"/>
          <p:nvPr/>
        </p:nvSpPr>
        <p:spPr>
          <a:xfrm>
            <a:off x="4521708" y="4178808"/>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Gifts, Entertainment &amp; Inducements</a:t>
            </a:r>
            <a:endParaRPr lang="en-US" sz="1300" dirty="0"/>
          </a:p>
        </p:txBody>
      </p:sp>
      <p:sp>
        <p:nvSpPr>
          <p:cNvPr id="25" name="Text 22"/>
          <p:cNvSpPr txBox="1"/>
          <p:nvPr/>
        </p:nvSpPr>
        <p:spPr>
          <a:xfrm>
            <a:off x="4521708"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6 objects  |  30 attributes  |  9 critical</a:t>
            </a:r>
            <a:endParaRPr lang="en-US" sz="1100" dirty="0"/>
          </a:p>
        </p:txBody>
      </p:sp>
      <p:sp>
        <p:nvSpPr>
          <p:cNvPr id="26" name="Shape 23"/>
          <p:cNvSpPr/>
          <p:nvPr/>
        </p:nvSpPr>
        <p:spPr>
          <a:xfrm>
            <a:off x="4338828" y="4837176"/>
            <a:ext cx="3511296" cy="612648"/>
          </a:xfrm>
          <a:prstGeom prst="roundRect">
            <a:avLst>
              <a:gd name="adj" fmla="val 11940"/>
            </a:avLst>
          </a:prstGeom>
          <a:solidFill>
            <a:schemeClr val="bg2"/>
          </a:solidFill>
          <a:ln/>
        </p:spPr>
      </p:sp>
      <p:sp>
        <p:nvSpPr>
          <p:cNvPr id="27" name="Text 24"/>
          <p:cNvSpPr txBox="1"/>
          <p:nvPr/>
        </p:nvSpPr>
        <p:spPr>
          <a:xfrm>
            <a:off x="4521708" y="4892040"/>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Cross-Border Marketing &amp; Private Placement</a:t>
            </a:r>
            <a:endParaRPr lang="en-US" sz="1100" dirty="0"/>
          </a:p>
        </p:txBody>
      </p:sp>
      <p:sp>
        <p:nvSpPr>
          <p:cNvPr id="28" name="Text 25"/>
          <p:cNvSpPr txBox="1"/>
          <p:nvPr/>
        </p:nvSpPr>
        <p:spPr>
          <a:xfrm>
            <a:off x="4521708" y="5157216"/>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9 critical</a:t>
            </a:r>
            <a:endParaRPr lang="en-US" sz="1100" dirty="0"/>
          </a:p>
        </p:txBody>
      </p:sp>
      <p:sp>
        <p:nvSpPr>
          <p:cNvPr id="29" name="Shape 26"/>
          <p:cNvSpPr/>
          <p:nvPr/>
        </p:nvSpPr>
        <p:spPr>
          <a:xfrm>
            <a:off x="8129016" y="1783080"/>
            <a:ext cx="3511296" cy="777240"/>
          </a:xfrm>
          <a:prstGeom prst="roundRect">
            <a:avLst>
              <a:gd name="adj" fmla="val 9412"/>
            </a:avLst>
          </a:prstGeom>
          <a:solidFill>
            <a:schemeClr val="accent5"/>
          </a:solidFill>
          <a:ln/>
        </p:spPr>
      </p:sp>
      <p:sp>
        <p:nvSpPr>
          <p:cNvPr id="30" name="Text 27"/>
          <p:cNvSpPr txBox="1"/>
          <p:nvPr/>
        </p:nvSpPr>
        <p:spPr>
          <a:xfrm>
            <a:off x="8311896" y="1856232"/>
            <a:ext cx="3145536" cy="347472"/>
          </a:xfrm>
          <a:prstGeom prst="rect">
            <a:avLst/>
          </a:prstGeom>
          <a:noFill/>
          <a:ln/>
        </p:spPr>
        <p:txBody>
          <a:bodyPr wrap="square" lIns="0" tIns="0" rIns="0" bIns="0" rtlCol="0" anchor="ctr"/>
          <a:lstStyle/>
          <a:p>
            <a:pPr algn="l" indent="0" marL="0">
              <a:buNone/>
            </a:pPr>
            <a:r>
              <a:rPr lang="en-US" sz="1400" b="1" dirty="0">
                <a:solidFill>
                  <a:schemeClr val="bg1"/>
                </a:solidFill>
              </a:rPr>
              <a:t>Conduct, records and obligations</a:t>
            </a:r>
            <a:endParaRPr lang="en-US" sz="1400" dirty="0"/>
          </a:p>
        </p:txBody>
      </p:sp>
      <p:sp>
        <p:nvSpPr>
          <p:cNvPr id="31" name="Text 28"/>
          <p:cNvSpPr txBox="1"/>
          <p:nvPr/>
        </p:nvSpPr>
        <p:spPr>
          <a:xfrm>
            <a:off x="8311896" y="2203704"/>
            <a:ext cx="3145536" cy="274320"/>
          </a:xfrm>
          <a:prstGeom prst="rect">
            <a:avLst/>
          </a:prstGeom>
          <a:noFill/>
          <a:ln/>
        </p:spPr>
        <p:txBody>
          <a:bodyPr wrap="square" lIns="0" tIns="0" rIns="0" bIns="0" rtlCol="0" anchor="ctr"/>
          <a:lstStyle/>
          <a:p>
            <a:pPr algn="l" indent="0" marL="0">
              <a:buNone/>
            </a:pPr>
            <a:r>
              <a:rPr lang="en-US" sz="1200" dirty="0">
                <a:solidFill>
                  <a:schemeClr val="bg1"/>
                </a:solidFill>
              </a:rPr>
              <a:t>4 families  |  16 objects  |  84 attributes</a:t>
            </a:r>
            <a:endParaRPr lang="en-US" sz="1200" dirty="0"/>
          </a:p>
        </p:txBody>
      </p:sp>
      <p:sp>
        <p:nvSpPr>
          <p:cNvPr id="32" name="Shape 29"/>
          <p:cNvSpPr/>
          <p:nvPr/>
        </p:nvSpPr>
        <p:spPr>
          <a:xfrm>
            <a:off x="8129016" y="2697480"/>
            <a:ext cx="3511296" cy="612648"/>
          </a:xfrm>
          <a:prstGeom prst="roundRect">
            <a:avLst>
              <a:gd name="adj" fmla="val 11940"/>
            </a:avLst>
          </a:prstGeom>
          <a:solidFill>
            <a:schemeClr val="bg2"/>
          </a:solidFill>
          <a:ln/>
        </p:spPr>
      </p:sp>
      <p:sp>
        <p:nvSpPr>
          <p:cNvPr id="33" name="Text 30"/>
          <p:cNvSpPr txBox="1"/>
          <p:nvPr/>
        </p:nvSpPr>
        <p:spPr>
          <a:xfrm>
            <a:off x="8311896" y="2752344"/>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Complaints</a:t>
            </a:r>
            <a:endParaRPr lang="en-US" sz="1300" dirty="0"/>
          </a:p>
        </p:txBody>
      </p:sp>
      <p:sp>
        <p:nvSpPr>
          <p:cNvPr id="34" name="Text 31"/>
          <p:cNvSpPr txBox="1"/>
          <p:nvPr/>
        </p:nvSpPr>
        <p:spPr>
          <a:xfrm>
            <a:off x="8311896" y="3017520"/>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4 objects  |  25 attributes  |  9 critical</a:t>
            </a:r>
            <a:endParaRPr lang="en-US" sz="1100" dirty="0"/>
          </a:p>
        </p:txBody>
      </p:sp>
      <p:sp>
        <p:nvSpPr>
          <p:cNvPr id="35" name="Shape 32"/>
          <p:cNvSpPr/>
          <p:nvPr/>
        </p:nvSpPr>
        <p:spPr>
          <a:xfrm>
            <a:off x="8129016" y="3410712"/>
            <a:ext cx="3511296" cy="612648"/>
          </a:xfrm>
          <a:prstGeom prst="roundRect">
            <a:avLst>
              <a:gd name="adj" fmla="val 11940"/>
            </a:avLst>
          </a:prstGeom>
          <a:solidFill>
            <a:schemeClr val="bg2"/>
          </a:solidFill>
          <a:ln/>
        </p:spPr>
      </p:sp>
      <p:sp>
        <p:nvSpPr>
          <p:cNvPr id="36" name="Text 33"/>
          <p:cNvSpPr txBox="1"/>
          <p:nvPr/>
        </p:nvSpPr>
        <p:spPr>
          <a:xfrm>
            <a:off x="8311896" y="3465576"/>
            <a:ext cx="3145536" cy="274320"/>
          </a:xfrm>
          <a:prstGeom prst="rect">
            <a:avLst/>
          </a:prstGeom>
          <a:noFill/>
          <a:ln/>
        </p:spPr>
        <p:txBody>
          <a:bodyPr wrap="square" lIns="0" tIns="0" rIns="0" bIns="0" rtlCol="0" anchor="ctr"/>
          <a:lstStyle/>
          <a:p>
            <a:pPr algn="l" indent="0" marL="0">
              <a:buNone/>
            </a:pPr>
            <a:r>
              <a:rPr lang="en-US" sz="1300" b="1" dirty="0">
                <a:solidFill>
                  <a:schemeClr val="tx1"/>
                </a:solidFill>
              </a:rPr>
              <a:t>Sales Practices &amp; Conduct</a:t>
            </a:r>
            <a:endParaRPr lang="en-US" sz="1300" dirty="0"/>
          </a:p>
        </p:txBody>
      </p:sp>
      <p:sp>
        <p:nvSpPr>
          <p:cNvPr id="37" name="Text 34"/>
          <p:cNvSpPr txBox="1"/>
          <p:nvPr/>
        </p:nvSpPr>
        <p:spPr>
          <a:xfrm>
            <a:off x="8311896" y="3730752"/>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24 attributes  |  5 critical</a:t>
            </a:r>
            <a:endParaRPr lang="en-US" sz="1100" dirty="0"/>
          </a:p>
        </p:txBody>
      </p:sp>
      <p:sp>
        <p:nvSpPr>
          <p:cNvPr id="38" name="Shape 35"/>
          <p:cNvSpPr/>
          <p:nvPr/>
        </p:nvSpPr>
        <p:spPr>
          <a:xfrm>
            <a:off x="8129016" y="4123944"/>
            <a:ext cx="3511296" cy="612648"/>
          </a:xfrm>
          <a:prstGeom prst="roundRect">
            <a:avLst>
              <a:gd name="adj" fmla="val 11940"/>
            </a:avLst>
          </a:prstGeom>
          <a:solidFill>
            <a:schemeClr val="bg2"/>
          </a:solidFill>
          <a:ln/>
        </p:spPr>
      </p:sp>
      <p:sp>
        <p:nvSpPr>
          <p:cNvPr id="39" name="Text 36"/>
          <p:cNvSpPr txBox="1"/>
          <p:nvPr/>
        </p:nvSpPr>
        <p:spPr>
          <a:xfrm>
            <a:off x="8311896" y="4178808"/>
            <a:ext cx="3145536" cy="274320"/>
          </a:xfrm>
          <a:prstGeom prst="rect">
            <a:avLst/>
          </a:prstGeom>
          <a:noFill/>
          <a:ln/>
        </p:spPr>
        <p:txBody>
          <a:bodyPr wrap="square" lIns="0" tIns="0" rIns="0" bIns="0" rtlCol="0" anchor="ctr"/>
          <a:lstStyle/>
          <a:p>
            <a:pPr algn="l" indent="0" marL="0">
              <a:buNone/>
            </a:pPr>
            <a:r>
              <a:rPr lang="en-US" sz="1100" b="1" dirty="0">
                <a:solidFill>
                  <a:schemeClr val="tx1"/>
                </a:solidFill>
              </a:rPr>
              <a:t>Communications Surveillance &amp; Records</a:t>
            </a:r>
            <a:endParaRPr lang="en-US" sz="1100" dirty="0"/>
          </a:p>
        </p:txBody>
      </p:sp>
      <p:sp>
        <p:nvSpPr>
          <p:cNvPr id="40" name="Text 37"/>
          <p:cNvSpPr txBox="1"/>
          <p:nvPr/>
        </p:nvSpPr>
        <p:spPr>
          <a:xfrm>
            <a:off x="8311896" y="4443984"/>
            <a:ext cx="3145536" cy="237744"/>
          </a:xfrm>
          <a:prstGeom prst="rect">
            <a:avLst/>
          </a:prstGeom>
          <a:noFill/>
          <a:ln/>
        </p:spPr>
        <p:txBody>
          <a:bodyPr wrap="square" lIns="0" tIns="0" rIns="0" bIns="0" rtlCol="0" anchor="ctr"/>
          <a:lstStyle/>
          <a:p>
            <a:pPr algn="l" indent="0" marL="0">
              <a:buNone/>
            </a:pPr>
            <a:r>
              <a:rPr lang="en-US" sz="1100" dirty="0">
                <a:solidFill>
                  <a:schemeClr val="tx2"/>
                </a:solidFill>
              </a:rPr>
              <a:t>5 objects  |  24 attributes  |  6 critical</a:t>
            </a:r>
            <a:endParaRPr lang="en-US" sz="1100" dirty="0"/>
          </a:p>
        </p:txBody>
      </p:sp>
      <p:sp>
        <p:nvSpPr>
          <p:cNvPr id="41" name="Shape 38"/>
          <p:cNvSpPr/>
          <p:nvPr/>
        </p:nvSpPr>
        <p:spPr>
          <a:xfrm>
            <a:off x="8129016" y="4837176"/>
            <a:ext cx="3511296" cy="612648"/>
          </a:xfrm>
          <a:prstGeom prst="roundRect">
            <a:avLst>
              <a:gd name="adj" fmla="val 11940"/>
            </a:avLst>
          </a:prstGeom>
          <a:solidFill>
            <a:schemeClr val="bg2"/>
          </a:solidFill>
          <a:ln/>
        </p:spPr>
      </p:sp>
      <p:sp>
        <p:nvSpPr>
          <p:cNvPr id="42" name="Text 39"/>
          <p:cNvSpPr txBox="1"/>
          <p:nvPr/>
        </p:nvSpPr>
        <p:spPr>
          <a:xfrm>
            <a:off x="8311896" y="4873752"/>
            <a:ext cx="3145536" cy="329184"/>
          </a:xfrm>
          <a:prstGeom prst="rect">
            <a:avLst/>
          </a:prstGeom>
          <a:noFill/>
          <a:ln/>
        </p:spPr>
        <p:txBody>
          <a:bodyPr wrap="square" lIns="0" tIns="0" rIns="0" bIns="0" rtlCol="0" anchor="ctr"/>
          <a:lstStyle/>
          <a:p>
            <a:pPr algn="l" indent="0" marL="0">
              <a:buNone/>
            </a:pPr>
            <a:r>
              <a:rPr lang="en-US" sz="1000" b="1" dirty="0">
                <a:solidFill>
                  <a:schemeClr val="tx1"/>
                </a:solidFill>
              </a:rPr>
              <a:t>Obligations, Attestations &amp; Data Governance</a:t>
            </a:r>
            <a:endParaRPr lang="en-US" sz="1000" dirty="0"/>
          </a:p>
        </p:txBody>
      </p:sp>
      <p:sp>
        <p:nvSpPr>
          <p:cNvPr id="43" name="Text 40"/>
          <p:cNvSpPr txBox="1"/>
          <p:nvPr/>
        </p:nvSpPr>
        <p:spPr>
          <a:xfrm>
            <a:off x="8311896" y="5221224"/>
            <a:ext cx="3145536" cy="182880"/>
          </a:xfrm>
          <a:prstGeom prst="rect">
            <a:avLst/>
          </a:prstGeom>
          <a:noFill/>
          <a:ln/>
        </p:spPr>
        <p:txBody>
          <a:bodyPr wrap="square" lIns="0" tIns="0" rIns="0" bIns="0" rtlCol="0" anchor="ctr"/>
          <a:lstStyle/>
          <a:p>
            <a:pPr algn="l" indent="0" marL="0">
              <a:buNone/>
            </a:pPr>
            <a:r>
              <a:rPr lang="en-US" sz="1000" dirty="0">
                <a:solidFill>
                  <a:schemeClr val="tx2"/>
                </a:solidFill>
              </a:rPr>
              <a:t>2 objects  |  11 attributes  |  4 critical</a:t>
            </a:r>
            <a:endParaRPr lang="en-US" sz="1000" dirty="0"/>
          </a:p>
        </p:txBody>
      </p:sp>
      <p:sp>
        <p:nvSpPr>
          <p:cNvPr id="44" name="Text 41"/>
          <p:cNvSpPr txBox="1"/>
          <p:nvPr/>
        </p:nvSpPr>
        <p:spPr>
          <a:xfrm>
            <a:off x="548640" y="4261104"/>
            <a:ext cx="3511296" cy="914400"/>
          </a:xfrm>
          <a:prstGeom prst="rect">
            <a:avLst/>
          </a:prstGeom>
          <a:noFill/>
          <a:ln/>
        </p:spPr>
        <p:txBody>
          <a:bodyPr wrap="square" lIns="0" tIns="0" rIns="0" bIns="0" rtlCol="0" anchor="t"/>
          <a:lstStyle/>
          <a:p>
            <a:pPr algn="l" indent="0" marL="0">
              <a:buNone/>
            </a:pPr>
            <a:r>
              <a:rPr lang="en-US" sz="1200" dirty="0">
                <a:solidFill>
                  <a:schemeClr val="tx2"/>
                </a:solidFill>
              </a:rPr>
              <a:t>The three groups are a presentation aid for this walkthrough. In the taxonomy, families sit directly under the domain.</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1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spine: what we say and who says it</a:t>
            </a:r>
            <a:endParaRPr lang="en-US" sz="3600" dirty="0"/>
          </a:p>
        </p:txBody>
      </p:sp>
      <p:sp>
        <p:nvSpPr>
          <p:cNvPr id="5" name="Shape 2"/>
          <p:cNvSpPr/>
          <p:nvPr/>
        </p:nvSpPr>
        <p:spPr>
          <a:xfrm>
            <a:off x="548640" y="1783080"/>
            <a:ext cx="5406390" cy="4069080"/>
          </a:xfrm>
          <a:prstGeom prst="roundRect">
            <a:avLst>
              <a:gd name="adj" fmla="val 1798"/>
            </a:avLst>
          </a:prstGeom>
          <a:solidFill>
            <a:schemeClr val="bg2"/>
          </a:solidFill>
          <a:ln/>
        </p:spPr>
      </p:sp>
      <p:sp>
        <p:nvSpPr>
          <p:cNvPr id="6" name="Text 3"/>
          <p:cNvSpPr txBox="1"/>
          <p:nvPr/>
        </p:nvSpPr>
        <p:spPr>
          <a:xfrm>
            <a:off x="777240" y="1965960"/>
            <a:ext cx="4949190" cy="365760"/>
          </a:xfrm>
          <a:prstGeom prst="rect">
            <a:avLst/>
          </a:prstGeom>
          <a:noFill/>
          <a:ln/>
        </p:spPr>
        <p:txBody>
          <a:bodyPr wrap="square" lIns="0" tIns="0" rIns="0" bIns="0" rtlCol="0" anchor="ctr"/>
          <a:lstStyle/>
          <a:p>
            <a:pPr algn="l" indent="0" marL="0">
              <a:buNone/>
            </a:pPr>
            <a:r>
              <a:rPr lang="en-US" sz="1800" b="1" dirty="0">
                <a:solidFill>
                  <a:schemeClr val="accent1"/>
                </a:solidFill>
              </a:rPr>
              <a:t>Communications Review &amp; Approval</a:t>
            </a:r>
            <a:endParaRPr lang="en-US" sz="1800" dirty="0"/>
          </a:p>
        </p:txBody>
      </p:sp>
      <p:sp>
        <p:nvSpPr>
          <p:cNvPr id="7" name="Text 4"/>
          <p:cNvSpPr txBox="1"/>
          <p:nvPr/>
        </p:nvSpPr>
        <p:spPr>
          <a:xfrm>
            <a:off x="777240"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9 objects  |  54 attributes  |  16 critical</a:t>
            </a:r>
            <a:endParaRPr lang="en-US" sz="1200" dirty="0"/>
          </a:p>
        </p:txBody>
      </p:sp>
      <p:sp>
        <p:nvSpPr>
          <p:cNvPr id="8" name="Text 5"/>
          <p:cNvSpPr txBox="1"/>
          <p:nvPr/>
        </p:nvSpPr>
        <p:spPr>
          <a:xfrm>
            <a:off x="777240"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Each communication submitted for review: its classification by regime, the approval decision and any filing.</a:t>
            </a:r>
            <a:endParaRPr lang="en-US" sz="1300" dirty="0"/>
          </a:p>
        </p:txBody>
      </p:sp>
      <p:sp>
        <p:nvSpPr>
          <p:cNvPr id="9" name="Text 6"/>
          <p:cNvSpPr txBox="1"/>
          <p:nvPr/>
        </p:nvSpPr>
        <p:spPr>
          <a:xfrm>
            <a:off x="777240"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0" name="Text 7"/>
          <p:cNvSpPr txBox="1"/>
          <p:nvPr/>
        </p:nvSpPr>
        <p:spPr>
          <a:xfrm>
            <a:off x="777240"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Compliance Review, </a:t>
            </a:r>
            <a:pPr indent="0" marL="0">
              <a:buNone/>
            </a:pPr>
            <a:r>
              <a:rPr lang="en-US" sz="1300" dirty="0">
                <a:solidFill>
                  <a:schemeClr val="tx1"/>
                </a:solidFill>
              </a:rPr>
              <a:t>US Communication Classification, </a:t>
            </a:r>
            <a:pPr indent="0" marL="0">
              <a:buNone/>
            </a:pPr>
            <a:r>
              <a:rPr lang="en-US" sz="1300" dirty="0">
                <a:solidFill>
                  <a:schemeClr val="tx1"/>
                </a:solidFill>
              </a:rPr>
              <a:t>EU / UK Communication Classification, </a:t>
            </a:r>
            <a:pPr indent="0" marL="0">
              <a:buNone/>
            </a:pPr>
            <a:r>
              <a:rPr lang="en-US" sz="1300" dirty="0">
                <a:solidFill>
                  <a:schemeClr val="tx1"/>
                </a:solidFill>
              </a:rPr>
              <a:t>Compliance Approval, </a:t>
            </a:r>
            <a:pPr indent="0" marL="0">
              <a:buNone/>
            </a:pPr>
            <a:r>
              <a:rPr lang="en-US" sz="1300" dirty="0">
                <a:solidFill>
                  <a:schemeClr val="tx1"/>
                </a:solidFill>
              </a:rPr>
              <a:t>FINRA Advertising Filing, </a:t>
            </a:r>
            <a:pPr indent="0" marL="0">
              <a:buNone/>
            </a:pPr>
            <a:r>
              <a:rPr lang="en-US" sz="1300" dirty="0">
                <a:solidFill>
                  <a:schemeClr val="tx1"/>
                </a:solidFill>
              </a:rPr>
              <a:t>and 4 more</a:t>
            </a:r>
            <a:endParaRPr lang="en-US" sz="1300" dirty="0"/>
          </a:p>
        </p:txBody>
      </p:sp>
      <p:sp>
        <p:nvSpPr>
          <p:cNvPr id="11" name="Text 8"/>
          <p:cNvSpPr txBox="1"/>
          <p:nvPr/>
        </p:nvSpPr>
        <p:spPr>
          <a:xfrm>
            <a:off x="777240"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12" name="Text 9"/>
          <p:cNvSpPr txBox="1"/>
          <p:nvPr/>
        </p:nvSpPr>
        <p:spPr>
          <a:xfrm>
            <a:off x="777240"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Review ID, FINRA Communication Category, Approval Status, Approval Expiry Date</a:t>
            </a:r>
            <a:endParaRPr lang="en-US" sz="1300" dirty="0"/>
          </a:p>
        </p:txBody>
      </p:sp>
      <p:sp>
        <p:nvSpPr>
          <p:cNvPr id="13" name="Shape 10"/>
          <p:cNvSpPr/>
          <p:nvPr/>
        </p:nvSpPr>
        <p:spPr>
          <a:xfrm>
            <a:off x="6233922" y="1783080"/>
            <a:ext cx="5406390" cy="4069080"/>
          </a:xfrm>
          <a:prstGeom prst="roundRect">
            <a:avLst>
              <a:gd name="adj" fmla="val 1798"/>
            </a:avLst>
          </a:prstGeom>
          <a:solidFill>
            <a:schemeClr val="bg2"/>
          </a:solidFill>
          <a:ln/>
        </p:spPr>
      </p:sp>
      <p:sp>
        <p:nvSpPr>
          <p:cNvPr id="14" name="Text 11"/>
          <p:cNvSpPr txBox="1"/>
          <p:nvPr/>
        </p:nvSpPr>
        <p:spPr>
          <a:xfrm>
            <a:off x="6462522" y="1965960"/>
            <a:ext cx="4949190" cy="365760"/>
          </a:xfrm>
          <a:prstGeom prst="rect">
            <a:avLst/>
          </a:prstGeom>
          <a:noFill/>
          <a:ln/>
        </p:spPr>
        <p:txBody>
          <a:bodyPr wrap="square" lIns="0" tIns="0" rIns="0" bIns="0" rtlCol="0" anchor="ctr"/>
          <a:lstStyle/>
          <a:p>
            <a:pPr algn="l" indent="0" marL="0">
              <a:buNone/>
            </a:pPr>
            <a:r>
              <a:rPr lang="en-US" sz="1800" b="1" dirty="0">
                <a:solidFill>
                  <a:schemeClr val="accent2"/>
                </a:solidFill>
              </a:rPr>
              <a:t>Licensing &amp; Registration</a:t>
            </a:r>
            <a:endParaRPr lang="en-US" sz="1800" dirty="0"/>
          </a:p>
        </p:txBody>
      </p:sp>
      <p:sp>
        <p:nvSpPr>
          <p:cNvPr id="15" name="Text 12"/>
          <p:cNvSpPr txBox="1"/>
          <p:nvPr/>
        </p:nvSpPr>
        <p:spPr>
          <a:xfrm>
            <a:off x="6462522" y="2331720"/>
            <a:ext cx="4949190" cy="256032"/>
          </a:xfrm>
          <a:prstGeom prst="rect">
            <a:avLst/>
          </a:prstGeom>
          <a:noFill/>
          <a:ln/>
        </p:spPr>
        <p:txBody>
          <a:bodyPr wrap="square" lIns="0" tIns="0" rIns="0" bIns="0" rtlCol="0" anchor="ctr"/>
          <a:lstStyle/>
          <a:p>
            <a:pPr algn="l" indent="0" marL="0">
              <a:buNone/>
            </a:pPr>
            <a:r>
              <a:rPr lang="en-US" sz="1200" dirty="0">
                <a:solidFill>
                  <a:schemeClr val="tx2"/>
                </a:solidFill>
              </a:rPr>
              <a:t>6 objects  |  25 attributes  |  9 critical</a:t>
            </a:r>
            <a:endParaRPr lang="en-US" sz="1200" dirty="0"/>
          </a:p>
        </p:txBody>
      </p:sp>
      <p:sp>
        <p:nvSpPr>
          <p:cNvPr id="16" name="Text 13"/>
          <p:cNvSpPr txBox="1"/>
          <p:nvPr/>
        </p:nvSpPr>
        <p:spPr>
          <a:xfrm>
            <a:off x="6462522" y="2697480"/>
            <a:ext cx="4949190" cy="822960"/>
          </a:xfrm>
          <a:prstGeom prst="rect">
            <a:avLst/>
          </a:prstGeom>
          <a:noFill/>
          <a:ln/>
        </p:spPr>
        <p:txBody>
          <a:bodyPr wrap="square" lIns="0" tIns="0" rIns="0" bIns="0" rtlCol="0" anchor="t"/>
          <a:lstStyle/>
          <a:p>
            <a:pPr algn="l" indent="0" marL="0">
              <a:buNone/>
            </a:pPr>
            <a:r>
              <a:rPr lang="en-US" sz="1300" dirty="0">
                <a:solidFill>
                  <a:schemeClr val="tx1"/>
                </a:solidFill>
              </a:rPr>
              <a:t>Registrations, exams, continuing education and UK certification of the firm's own sales staff.</a:t>
            </a:r>
            <a:endParaRPr lang="en-US" sz="1300" dirty="0"/>
          </a:p>
        </p:txBody>
      </p:sp>
      <p:sp>
        <p:nvSpPr>
          <p:cNvPr id="17" name="Text 14"/>
          <p:cNvSpPr txBox="1"/>
          <p:nvPr/>
        </p:nvSpPr>
        <p:spPr>
          <a:xfrm>
            <a:off x="6462522" y="3566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OBJECTS</a:t>
            </a:r>
            <a:endParaRPr lang="en-US" sz="1200" dirty="0"/>
          </a:p>
        </p:txBody>
      </p:sp>
      <p:sp>
        <p:nvSpPr>
          <p:cNvPr id="18" name="Text 15"/>
          <p:cNvSpPr txBox="1"/>
          <p:nvPr/>
        </p:nvSpPr>
        <p:spPr>
          <a:xfrm>
            <a:off x="6462522" y="3840480"/>
            <a:ext cx="4949190" cy="822960"/>
          </a:xfrm>
          <a:prstGeom prst="rect">
            <a:avLst/>
          </a:prstGeom>
          <a:noFill/>
          <a:ln/>
        </p:spPr>
        <p:txBody>
          <a:bodyPr wrap="square" lIns="0" tIns="0" rIns="0" bIns="0" rtlCol="0" anchor="t"/>
          <a:lstStyle/>
          <a:p>
            <a:pPr indent="0" marL="0">
              <a:buNone/>
            </a:pPr>
            <a:r>
              <a:rPr lang="en-US" sz="1300" b="1" dirty="0">
                <a:solidFill>
                  <a:schemeClr val="tx1"/>
                </a:solidFill>
              </a:rPr>
              <a:t>Individual Registration, </a:t>
            </a:r>
            <a:pPr indent="0" marL="0">
              <a:buNone/>
            </a:pPr>
            <a:r>
              <a:rPr lang="en-US" sz="1300" dirty="0">
                <a:solidFill>
                  <a:schemeClr val="tx1"/>
                </a:solidFill>
              </a:rPr>
              <a:t>Exam Result, </a:t>
            </a:r>
            <a:pPr indent="0" marL="0">
              <a:buNone/>
            </a:pPr>
            <a:r>
              <a:rPr lang="en-US" sz="1300" dirty="0">
                <a:solidFill>
                  <a:schemeClr val="tx1"/>
                </a:solidFill>
              </a:rPr>
              <a:t>Registration Filing, </a:t>
            </a:r>
            <a:pPr indent="0" marL="0">
              <a:buNone/>
            </a:pPr>
            <a:r>
              <a:rPr lang="en-US" sz="1300" dirty="0">
                <a:solidFill>
                  <a:schemeClr val="tx1"/>
                </a:solidFill>
              </a:rPr>
              <a:t>Disclosure Event, </a:t>
            </a:r>
            <a:pPr indent="0" marL="0">
              <a:buNone/>
            </a:pPr>
            <a:r>
              <a:rPr lang="en-US" sz="1300" dirty="0">
                <a:solidFill>
                  <a:schemeClr val="tx1"/>
                </a:solidFill>
              </a:rPr>
              <a:t>CE Requirement, </a:t>
            </a:r>
            <a:pPr indent="0" marL="0">
              <a:buNone/>
            </a:pPr>
            <a:r>
              <a:rPr lang="en-US" sz="1300" dirty="0">
                <a:solidFill>
                  <a:schemeClr val="tx1"/>
                </a:solidFill>
              </a:rPr>
              <a:t>Certification &amp; Competence</a:t>
            </a:r>
            <a:endParaRPr lang="en-US" sz="1300" dirty="0"/>
          </a:p>
        </p:txBody>
      </p:sp>
      <p:sp>
        <p:nvSpPr>
          <p:cNvPr id="19" name="Text 16"/>
          <p:cNvSpPr txBox="1"/>
          <p:nvPr/>
        </p:nvSpPr>
        <p:spPr>
          <a:xfrm>
            <a:off x="6462522" y="4709160"/>
            <a:ext cx="494919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EXAMPLE ATTRIBUTES</a:t>
            </a:r>
            <a:endParaRPr lang="en-US" sz="1200" dirty="0"/>
          </a:p>
        </p:txBody>
      </p:sp>
      <p:sp>
        <p:nvSpPr>
          <p:cNvPr id="20" name="Text 17"/>
          <p:cNvSpPr txBox="1"/>
          <p:nvPr/>
        </p:nvSpPr>
        <p:spPr>
          <a:xfrm>
            <a:off x="6462522" y="4983480"/>
            <a:ext cx="4949190" cy="731520"/>
          </a:xfrm>
          <a:prstGeom prst="rect">
            <a:avLst/>
          </a:prstGeom>
          <a:noFill/>
          <a:ln/>
        </p:spPr>
        <p:txBody>
          <a:bodyPr wrap="square" lIns="0" tIns="0" rIns="0" bIns="0" rtlCol="0" anchor="t"/>
          <a:lstStyle/>
          <a:p>
            <a:pPr algn="l" indent="0" marL="0">
              <a:buNone/>
            </a:pPr>
            <a:r>
              <a:rPr lang="en-US" sz="1300" dirty="0">
                <a:solidFill>
                  <a:schemeClr val="tx1"/>
                </a:solidFill>
              </a:rPr>
              <a:t>License ID, Registration Category, Registration Status, CE Due Date</a:t>
            </a:r>
            <a:endParaRPr lang="en-US" sz="1300" dirty="0"/>
          </a:p>
        </p:txBody>
      </p:sp>
      <p:sp>
        <p:nvSpPr>
          <p:cNvPr id="21" name="Text 18"/>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record, such as a review, a case or a complaint.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2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Oversight of distributors and markets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Distributor Due Diligence</a:t>
                      </a:r>
                      <a:endParaRPr lang="en-US" sz="1200" dirty="0"/>
                    </a:p>
                    <a:p>
                      <a:pPr indent="0" marL="0">
                        <a:buNone/>
                      </a:pPr>
                      <a:r>
                        <a:rPr lang="en-US" sz="1100" dirty="0">
                          <a:solidFill>
                            <a:schemeClr val="tx2"/>
                          </a:solidFill>
                        </a:rPr>
                        <a:t>7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review cycle on a distributor: risk rating, screening, status checks, findings, outcome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Distributor Due Diligence, </a:t>
                      </a:r>
                      <a:pPr indent="0" marL="0">
                        <a:buNone/>
                      </a:pPr>
                      <a:r>
                        <a:rPr lang="en-US" sz="1200" dirty="0">
                          <a:solidFill>
                            <a:schemeClr val="tx1"/>
                          </a:solidFill>
                        </a:rPr>
                        <a:t>Distributor Risk Rating, </a:t>
                      </a:r>
                      <a:pPr indent="0" marL="0">
                        <a:buNone/>
                      </a:pPr>
                      <a:r>
                        <a:rPr lang="en-US" sz="1200" dirty="0">
                          <a:solidFill>
                            <a:schemeClr val="tx1"/>
                          </a:solidFill>
                        </a:rPr>
                        <a:t>Screening Result, </a:t>
                      </a:r>
                      <a:pPr indent="0" marL="0">
                        <a:buNone/>
                      </a:pPr>
                      <a:r>
                        <a:rPr lang="en-US" sz="1200" dirty="0">
                          <a:solidFill>
                            <a:schemeClr val="tx1"/>
                          </a:solidFill>
                        </a:rPr>
                        <a:t>Regulatory Status Check, </a:t>
                      </a:r>
                      <a:pPr indent="0" marL="0">
                        <a:buNone/>
                      </a:pPr>
                      <a:r>
                        <a:rPr lang="en-US" sz="1200" dirty="0">
                          <a:solidFill>
                            <a:schemeClr val="tx1"/>
                          </a:solidFill>
                        </a:rPr>
                        <a:t>Due Diligence Finding, </a:t>
                      </a:r>
                      <a:pPr indent="0" marL="0">
                        <a:buNone/>
                      </a:pPr>
                      <a:r>
                        <a:rPr lang="en-US" sz="1200" dirty="0">
                          <a:solidFill>
                            <a:schemeClr val="tx1"/>
                          </a:solidFill>
                        </a:rPr>
                        <a:t>and 2 more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Due Diligence ID, Residual Risk Rating, Screening Result, Next Review Due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Product Governance &amp; Distributor Feedback</a:t>
                      </a:r>
                      <a:endParaRPr lang="en-US" sz="1200" dirty="0"/>
                    </a:p>
                    <a:p>
                      <a:pPr indent="0" marL="0">
                        <a:buNone/>
                      </a:pPr>
                      <a:r>
                        <a:rPr lang="en-US" sz="1100" dirty="0">
                          <a:solidFill>
                            <a:schemeClr val="tx2"/>
                          </a:solidFill>
                        </a:rPr>
                        <a:t>4 objects  |  21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Distributor feedback on sales against the target market, and Consumer Duty information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Distributor Feedback Report, </a:t>
                      </a:r>
                      <a:pPr indent="0" marL="0">
                        <a:buNone/>
                      </a:pPr>
                      <a:r>
                        <a:rPr lang="en-US" sz="1200" dirty="0">
                          <a:solidFill>
                            <a:schemeClr val="tx1"/>
                          </a:solidFill>
                        </a:rPr>
                        <a:t>Sales Against Target Market, </a:t>
                      </a:r>
                      <a:pPr indent="0" marL="0">
                        <a:buNone/>
                      </a:pPr>
                      <a:r>
                        <a:rPr lang="en-US" sz="1200" b="1" dirty="0">
                          <a:solidFill>
                            <a:schemeClr val="tx1"/>
                          </a:solidFill>
                        </a:rPr>
                        <a:t>Distribution Chain Information Exchange, </a:t>
                      </a:r>
                      <a:pPr indent="0" marL="0">
                        <a:buNone/>
                      </a:pPr>
                      <a:r>
                        <a:rPr lang="en-US" sz="1200" b="1" dirty="0">
                          <a:solidFill>
                            <a:schemeClr val="tx1"/>
                          </a:solidFill>
                        </a:rPr>
                        <a:t>Distribution Review Finding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Feedback Template, Volume Outside Target Market, Distribution Strategy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Gifts, Entertainment &amp; Inducements</a:t>
                      </a:r>
                      <a:endParaRPr lang="en-US" sz="1200" dirty="0"/>
                    </a:p>
                    <a:p>
                      <a:pPr indent="0" marL="0">
                        <a:buNone/>
                      </a:pPr>
                      <a:r>
                        <a:rPr lang="en-US" sz="1100" dirty="0">
                          <a:solidFill>
                            <a:schemeClr val="tx2"/>
                          </a:solidFill>
                        </a:rPr>
                        <a:t>6 objects  |  30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Benefits given or received, valued per recipient and tested against limits and inducement rules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Gift / Entertainment Item, </a:t>
                      </a:r>
                      <a:pPr indent="0" marL="0">
                        <a:buNone/>
                      </a:pPr>
                      <a:r>
                        <a:rPr lang="en-US" sz="1200" dirty="0">
                          <a:solidFill>
                            <a:schemeClr val="tx1"/>
                          </a:solidFill>
                        </a:rPr>
                        <a:t>Benefit Valuation, </a:t>
                      </a:r>
                      <a:pPr indent="0" marL="0">
                        <a:buNone/>
                      </a:pPr>
                      <a:r>
                        <a:rPr lang="en-US" sz="1200" dirty="0">
                          <a:solidFill>
                            <a:schemeClr val="tx1"/>
                          </a:solidFill>
                        </a:rPr>
                        <a:t>Training / Education Meeting, </a:t>
                      </a:r>
                      <a:pPr indent="0" marL="0">
                        <a:buNone/>
                      </a:pPr>
                      <a:r>
                        <a:rPr lang="en-US" sz="1200" dirty="0">
                          <a:solidFill>
                            <a:schemeClr val="tx1"/>
                          </a:solidFill>
                        </a:rPr>
                        <a:t>Inducement Assessment, </a:t>
                      </a:r>
                      <a:pPr indent="0" marL="0">
                        <a:buNone/>
                      </a:pPr>
                      <a:r>
                        <a:rPr lang="en-US" sz="1200" dirty="0">
                          <a:solidFill>
                            <a:schemeClr val="tx1"/>
                          </a:solidFill>
                        </a:rPr>
                        <a:t>Special Recipient Flags, </a:t>
                      </a:r>
                      <a:pPr indent="0" marL="0">
                        <a:buNone/>
                      </a:pPr>
                      <a:r>
                        <a:rPr lang="en-US" sz="1200" dirty="0">
                          <a:solidFill>
                            <a:schemeClr val="tx1"/>
                          </a:solidFill>
                        </a:rPr>
                        <a:t>G&amp;E Approval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Benefit Type, Per-Recipient Value, Annual Limit Amount, Limit Breach Indicator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Cross-Border Marketing &amp; Private Placement</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notifications, pre-marketing, reverse solicitation and private offering records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Cross-Border Marketing Notification, </a:t>
                      </a:r>
                      <a:pPr indent="0" marL="0">
                        <a:buNone/>
                      </a:pPr>
                      <a:r>
                        <a:rPr lang="en-US" sz="1200" b="1" dirty="0">
                          <a:solidFill>
                            <a:schemeClr val="tx1"/>
                          </a:solidFill>
                        </a:rPr>
                        <a:t>Pre-Marketing Episode, </a:t>
                      </a:r>
                      <a:pPr indent="0" marL="0">
                        <a:buNone/>
                      </a:pPr>
                      <a:r>
                        <a:rPr lang="en-US" sz="1200" b="1" dirty="0">
                          <a:solidFill>
                            <a:schemeClr val="tx1"/>
                          </a:solidFill>
                        </a:rPr>
                        <a:t>Reverse Solicitation Record, </a:t>
                      </a:r>
                      <a:pPr indent="0" marL="0">
                        <a:buNone/>
                      </a:pPr>
                      <a:r>
                        <a:rPr lang="en-US" sz="1200" b="1" dirty="0">
                          <a:solidFill>
                            <a:schemeClr val="tx1"/>
                          </a:solidFill>
                        </a:rPr>
                        <a:t>Private Offering Compliance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Host Country, Notification Status, Marketing Permitted From, Approach Date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record, such as a review, a case or a complaint.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GROUP 3 OF 3</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Conduct, records and obligations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377440"/>
                <a:gridCol w="2743200"/>
                <a:gridCol w="3200400"/>
                <a:gridCol w="2770632"/>
              </a:tblGrid>
              <a:tr h="365760">
                <a:tc>
                  <a:txBody>
                    <a:bodyPr/>
                    <a:lstStyle/>
                    <a:p>
                      <a:pPr indent="0" marL="0">
                        <a:buNone/>
                      </a:pPr>
                      <a:r>
                        <a:rPr lang="en-US" sz="1200" b="1" dirty="0">
                          <a:solidFill>
                            <a:schemeClr val="bg1"/>
                          </a:solidFill>
                        </a:rPr>
                        <a:t>Family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it holds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Example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749808">
                <a:tc>
                  <a:txBody>
                    <a:bodyPr/>
                    <a:lstStyle/>
                    <a:p>
                      <a:pPr indent="0" marL="0">
                        <a:buNone/>
                      </a:pPr>
                      <a:r>
                        <a:rPr lang="en-US" sz="1200" b="1" dirty="0">
                          <a:solidFill>
                            <a:schemeClr val="tx1"/>
                          </a:solidFill>
                        </a:rPr>
                        <a:t>Complaints</a:t>
                      </a:r>
                      <a:endParaRPr lang="en-US" sz="1200" dirty="0"/>
                    </a:p>
                    <a:p>
                      <a:pPr indent="0" marL="0">
                        <a:buNone/>
                      </a:pPr>
                      <a:r>
                        <a:rPr lang="en-US" sz="1100" dirty="0">
                          <a:solidFill>
                            <a:schemeClr val="tx2"/>
                          </a:solidFill>
                        </a:rPr>
                        <a:t>4 objects  |  25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Each complaint from receipt to final response, with root cause, redress and regulatory reporting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Complaint, </a:t>
                      </a:r>
                      <a:pPr indent="0" marL="0">
                        <a:buNone/>
                      </a:pPr>
                      <a:r>
                        <a:rPr lang="en-US" sz="1200" dirty="0">
                          <a:solidFill>
                            <a:schemeClr val="tx1"/>
                          </a:solidFill>
                        </a:rPr>
                        <a:t>Complaint Classification, </a:t>
                      </a:r>
                      <a:pPr indent="0" marL="0">
                        <a:buNone/>
                      </a:pPr>
                      <a:r>
                        <a:rPr lang="en-US" sz="1200" dirty="0">
                          <a:solidFill>
                            <a:schemeClr val="tx1"/>
                          </a:solidFill>
                        </a:rPr>
                        <a:t>Complaint Handling, </a:t>
                      </a:r>
                      <a:pPr indent="0" marL="0">
                        <a:buNone/>
                      </a:pPr>
                      <a:r>
                        <a:rPr lang="en-US" sz="1200" dirty="0">
                          <a:solidFill>
                            <a:schemeClr val="tx1"/>
                          </a:solidFill>
                        </a:rPr>
                        <a:t>Complaint Regulatory Report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Complaint ID, Received Date, Root Cause, Final Response Due Date, Redress Amount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Sales Practices &amp; Conduct</a:t>
                      </a:r>
                      <a:endParaRPr lang="en-US" sz="1200" dirty="0"/>
                    </a:p>
                    <a:p>
                      <a:pPr indent="0" marL="0">
                        <a:buNone/>
                      </a:pPr>
                      <a:r>
                        <a:rPr lang="en-US" sz="1100" dirty="0">
                          <a:solidFill>
                            <a:schemeClr val="tx2"/>
                          </a:solidFill>
                        </a:rPr>
                        <a:t>5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practice alerts, frequent trading cases, the conflicts register and outcome metrics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Intermediary Information Package, </a:t>
                      </a:r>
                      <a:pPr indent="0" marL="0">
                        <a:buNone/>
                      </a:pPr>
                      <a:r>
                        <a:rPr lang="en-US" sz="1200" b="1" dirty="0">
                          <a:solidFill>
                            <a:schemeClr val="tx1"/>
                          </a:solidFill>
                        </a:rPr>
                        <a:t>Sales Practice Alert, </a:t>
                      </a:r>
                      <a:pPr indent="0" marL="0">
                        <a:buNone/>
                      </a:pPr>
                      <a:r>
                        <a:rPr lang="en-US" sz="1200" b="1" dirty="0">
                          <a:solidFill>
                            <a:schemeClr val="tx1"/>
                          </a:solidFill>
                        </a:rPr>
                        <a:t>Frequent Trading Case, </a:t>
                      </a:r>
                      <a:pPr indent="0" marL="0">
                        <a:buNone/>
                      </a:pPr>
                      <a:r>
                        <a:rPr lang="en-US" sz="1200" b="1" dirty="0">
                          <a:solidFill>
                            <a:schemeClr val="tx1"/>
                          </a:solidFill>
                        </a:rPr>
                        <a:t>Distribution Conflict of Interest, </a:t>
                      </a:r>
                      <a:pPr indent="0" marL="0">
                        <a:buNone/>
                      </a:pPr>
                      <a:r>
                        <a:rPr lang="en-US" sz="1200" b="1" dirty="0">
                          <a:solidFill>
                            <a:schemeClr val="tx1"/>
                          </a:solidFill>
                        </a:rPr>
                        <a:t>Outcome Metric</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Alert Type, Round Trips Count, Conflict Category, Tolerance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Communications Surveillance &amp; Records</a:t>
                      </a:r>
                      <a:endParaRPr lang="en-US" sz="1200" dirty="0"/>
                    </a:p>
                    <a:p>
                      <a:pPr indent="0" marL="0">
                        <a:buNone/>
                      </a:pPr>
                      <a:r>
                        <a:rPr lang="en-US" sz="1100" dirty="0">
                          <a:solidFill>
                            <a:schemeClr val="tx2"/>
                          </a:solidFill>
                        </a:rPr>
                        <a:t>5 objects  |  24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Approved channels, captured messages and calls, their retention rules, and surveillance alerts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Approved Communication Channel, </a:t>
                      </a:r>
                      <a:pPr indent="0" marL="0">
                        <a:buNone/>
                      </a:pPr>
                      <a:r>
                        <a:rPr lang="en-US" sz="1200" b="1" dirty="0">
                          <a:solidFill>
                            <a:schemeClr val="tx1"/>
                          </a:solidFill>
                        </a:rPr>
                        <a:t>Captured Communication Record, </a:t>
                      </a:r>
                      <a:pPr indent="0" marL="0">
                        <a:buNone/>
                      </a:pPr>
                      <a:r>
                        <a:rPr lang="en-US" sz="1200" b="1" dirty="0">
                          <a:solidFill>
                            <a:schemeClr val="tx1"/>
                          </a:solidFill>
                        </a:rPr>
                        <a:t>Retention Rule, </a:t>
                      </a:r>
                      <a:pPr indent="0" marL="0">
                        <a:buNone/>
                      </a:pPr>
                      <a:r>
                        <a:rPr lang="en-US" sz="1200" b="1" dirty="0">
                          <a:solidFill>
                            <a:schemeClr val="tx1"/>
                          </a:solidFill>
                        </a:rPr>
                        <a:t>Surveillance Alert, </a:t>
                      </a:r>
                      <a:pPr indent="0" marL="0">
                        <a:buNone/>
                      </a:pPr>
                      <a:r>
                        <a:rPr lang="en-US" sz="1200" b="1" dirty="0">
                          <a:solidFill>
                            <a:schemeClr val="tx1"/>
                          </a:solidFill>
                        </a:rPr>
                        <a:t>Social Media Account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Channel Type, Retention Period (Years), Legal Hold Indicator, Alert Disposition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749808">
                <a:tc>
                  <a:txBody>
                    <a:bodyPr/>
                    <a:lstStyle/>
                    <a:p>
                      <a:pPr indent="0" marL="0">
                        <a:buNone/>
                      </a:pPr>
                      <a:r>
                        <a:rPr lang="en-US" sz="1200" b="1" dirty="0">
                          <a:solidFill>
                            <a:schemeClr val="tx1"/>
                          </a:solidFill>
                        </a:rPr>
                        <a:t>Obligations, Attestations &amp; Data Governance</a:t>
                      </a:r>
                      <a:endParaRPr lang="en-US" sz="1200" dirty="0"/>
                    </a:p>
                    <a:p>
                      <a:pPr indent="0" marL="0">
                        <a:buNone/>
                      </a:pPr>
                      <a:r>
                        <a:rPr lang="en-US" sz="1100" dirty="0">
                          <a:solidFill>
                            <a:schemeClr val="tx2"/>
                          </a:solidFill>
                        </a:rPr>
                        <a:t>2 objects  |  11 attributes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rules each legal entity is subject to, their owners, and periodic attestations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b="1" dirty="0">
                          <a:solidFill>
                            <a:schemeClr val="tx1"/>
                          </a:solidFill>
                        </a:rPr>
                        <a:t>Regulatory Obligation, </a:t>
                      </a:r>
                      <a:pPr indent="0" marL="0">
                        <a:buNone/>
                      </a:pPr>
                      <a:r>
                        <a:rPr lang="en-US" sz="1200" b="1" dirty="0">
                          <a:solidFill>
                            <a:schemeClr val="tx1"/>
                          </a:solidFill>
                        </a:rPr>
                        <a:t>Attestation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Rule Citation, Obligation Owner, Attestation Type, Attestation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961888"/>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Bold = business object with its own key. Regular = attribute group held on its parent record, such as a review, a case or a complaint.</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INCLUDED  |  WHERE THE DEFINITIONS COME FROM</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Built on the rules it must evidence</a:t>
            </a:r>
            <a:endParaRPr lang="en-US" sz="3600" dirty="0"/>
          </a:p>
        </p:txBody>
      </p:sp>
      <p:graphicFrame>
        <p:nvGraphicFramePr>
          <p:cNvPr id="5" name="Chart 0" descr=""/>
          <p:cNvGraphicFramePr/>
          <p:nvPr/>
        </p:nvGraphicFramePr>
        <p:xfrm>
          <a:off x="548640" y="1783080"/>
          <a:ext cx="640080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70448"/>
            <a:ext cx="6400800" cy="411480"/>
          </a:xfrm>
          <a:prstGeom prst="rect">
            <a:avLst/>
          </a:prstGeom>
          <a:noFill/>
          <a:ln/>
        </p:spPr>
        <p:txBody>
          <a:bodyPr wrap="square" lIns="0" tIns="0" rIns="0" bIns="0" rtlCol="0" anchor="t"/>
          <a:lstStyle/>
          <a:p>
            <a:pPr algn="l" indent="0" marL="0">
              <a:buNone/>
            </a:pPr>
            <a:r>
              <a:rPr lang="en-US" sz="1100" dirty="0">
                <a:solidFill>
                  <a:schemeClr val="tx2"/>
                </a:solidFill>
              </a:rPr>
              <a:t>Internal = no authoritative external definition exists. EU includes AIFMD, the cross-border distribution regulation, UCITS and MiFID II. Other is FinDatEx EFT, ERISA and OFAC.</a:t>
            </a:r>
            <a:endParaRPr lang="en-US" sz="1100" dirty="0"/>
          </a:p>
        </p:txBody>
      </p:sp>
      <p:sp>
        <p:nvSpPr>
          <p:cNvPr id="7" name="Shape 3"/>
          <p:cNvSpPr/>
          <p:nvPr/>
        </p:nvSpPr>
        <p:spPr>
          <a:xfrm>
            <a:off x="7315200" y="1783080"/>
            <a:ext cx="4325112" cy="1280160"/>
          </a:xfrm>
          <a:prstGeom prst="roundRect">
            <a:avLst>
              <a:gd name="adj" fmla="val 5714"/>
            </a:avLst>
          </a:prstGeom>
          <a:solidFill>
            <a:schemeClr val="bg2"/>
          </a:solidFill>
          <a:ln/>
        </p:spPr>
      </p:sp>
      <p:sp>
        <p:nvSpPr>
          <p:cNvPr id="8" name="Text 4"/>
          <p:cNvSpPr txBox="1"/>
          <p:nvPr/>
        </p:nvSpPr>
        <p:spPr>
          <a:xfrm>
            <a:off x="7543800" y="189280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62%</a:t>
            </a:r>
            <a:endParaRPr lang="en-US" sz="3200" dirty="0"/>
          </a:p>
        </p:txBody>
      </p:sp>
      <p:sp>
        <p:nvSpPr>
          <p:cNvPr id="9" name="Text 5"/>
          <p:cNvSpPr txBox="1"/>
          <p:nvPr/>
        </p:nvSpPr>
        <p:spPr>
          <a:xfrm>
            <a:off x="7543800" y="245973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of attributes (163 of 264) align to an external rule, form or industry template</a:t>
            </a:r>
            <a:endParaRPr lang="en-US" sz="1300" dirty="0"/>
          </a:p>
        </p:txBody>
      </p:sp>
      <p:sp>
        <p:nvSpPr>
          <p:cNvPr id="10" name="Shape 6"/>
          <p:cNvSpPr/>
          <p:nvPr/>
        </p:nvSpPr>
        <p:spPr>
          <a:xfrm>
            <a:off x="7315200" y="3246120"/>
            <a:ext cx="4325112" cy="1280160"/>
          </a:xfrm>
          <a:prstGeom prst="roundRect">
            <a:avLst>
              <a:gd name="adj" fmla="val 5714"/>
            </a:avLst>
          </a:prstGeom>
          <a:solidFill>
            <a:schemeClr val="bg2"/>
          </a:solidFill>
          <a:ln/>
        </p:spPr>
      </p:sp>
      <p:sp>
        <p:nvSpPr>
          <p:cNvPr id="11" name="Text 7"/>
          <p:cNvSpPr txBox="1"/>
          <p:nvPr/>
        </p:nvSpPr>
        <p:spPr>
          <a:xfrm>
            <a:off x="7543800" y="335584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94</a:t>
            </a:r>
            <a:endParaRPr lang="en-US" sz="3200" dirty="0"/>
          </a:p>
        </p:txBody>
      </p:sp>
      <p:sp>
        <p:nvSpPr>
          <p:cNvPr id="12" name="Text 8"/>
          <p:cNvSpPr txBox="1"/>
          <p:nvPr/>
        </p:nvSpPr>
        <p:spPr>
          <a:xfrm>
            <a:off x="7543800" y="392277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take their values from a controlled code list, not free text</a:t>
            </a:r>
            <a:endParaRPr lang="en-US" sz="1300" dirty="0"/>
          </a:p>
        </p:txBody>
      </p:sp>
      <p:sp>
        <p:nvSpPr>
          <p:cNvPr id="13" name="Shape 9"/>
          <p:cNvSpPr/>
          <p:nvPr/>
        </p:nvSpPr>
        <p:spPr>
          <a:xfrm>
            <a:off x="7315200" y="4709160"/>
            <a:ext cx="4325112" cy="1280160"/>
          </a:xfrm>
          <a:prstGeom prst="roundRect">
            <a:avLst>
              <a:gd name="adj" fmla="val 5714"/>
            </a:avLst>
          </a:prstGeom>
          <a:solidFill>
            <a:schemeClr val="bg2"/>
          </a:solidFill>
          <a:ln/>
        </p:spPr>
      </p:sp>
      <p:sp>
        <p:nvSpPr>
          <p:cNvPr id="14" name="Text 10"/>
          <p:cNvSpPr txBox="1"/>
          <p:nvPr/>
        </p:nvSpPr>
        <p:spPr>
          <a:xfrm>
            <a:off x="7543800" y="4818888"/>
            <a:ext cx="3867912" cy="548640"/>
          </a:xfrm>
          <a:prstGeom prst="rect">
            <a:avLst/>
          </a:prstGeom>
          <a:noFill/>
          <a:ln/>
        </p:spPr>
        <p:txBody>
          <a:bodyPr wrap="square" lIns="0" tIns="0" rIns="0" bIns="0" rtlCol="0" anchor="ctr"/>
          <a:lstStyle/>
          <a:p>
            <a:pPr algn="l" indent="0" marL="0">
              <a:buNone/>
            </a:pPr>
            <a:r>
              <a:rPr lang="en-US" sz="3200" b="1" dirty="0">
                <a:solidFill>
                  <a:schemeClr val="accent1"/>
                </a:solidFill>
              </a:rPr>
              <a:t>80</a:t>
            </a:r>
            <a:endParaRPr lang="en-US" sz="3200" dirty="0"/>
          </a:p>
        </p:txBody>
      </p:sp>
      <p:sp>
        <p:nvSpPr>
          <p:cNvPr id="15" name="Text 11"/>
          <p:cNvSpPr txBox="1"/>
          <p:nvPr/>
        </p:nvSpPr>
        <p:spPr>
          <a:xfrm>
            <a:off x="7543800" y="5385816"/>
            <a:ext cx="3867912" cy="502920"/>
          </a:xfrm>
          <a:prstGeom prst="rect">
            <a:avLst/>
          </a:prstGeom>
          <a:noFill/>
          <a:ln/>
        </p:spPr>
        <p:txBody>
          <a:bodyPr wrap="square" lIns="0" tIns="0" rIns="0" bIns="0" rtlCol="0" anchor="t"/>
          <a:lstStyle/>
          <a:p>
            <a:pPr algn="l" indent="0" marL="0">
              <a:buNone/>
            </a:pPr>
            <a:r>
              <a:rPr lang="en-US" sz="1300" dirty="0">
                <a:solidFill>
                  <a:schemeClr val="tx1"/>
                </a:solidFill>
              </a:rPr>
              <a:t>attributes are proposed critical data elements, 30 percent of the domain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SCOPE BOUNDARY</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 of scope by design, and where it lives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840480"/>
                <a:gridCol w="3566160"/>
                <a:gridCol w="3685032"/>
              </a:tblGrid>
              <a:tr h="365760">
                <a:tc>
                  <a:txBody>
                    <a:bodyPr/>
                    <a:lstStyle/>
                    <a:p>
                      <a:pPr indent="0" marL="0">
                        <a:buNone/>
                      </a:pPr>
                      <a:r>
                        <a:rPr lang="en-US" sz="1200" b="1" dirty="0">
                          <a:solidFill>
                            <a:schemeClr val="bg1"/>
                          </a:solidFill>
                        </a:rPr>
                        <a:t>Not in this domain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Where it lives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keeps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Marketing content assets, versions and content expiry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Marketing &amp; Digital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review, the approving principal, the approval code, approval expiry and withdrawal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Target market and registration-for-sale status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Investment Product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notification and pre-marketing filings, and distributor feedback on 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Distributor firms and their CRD, LEI and FRN identifiers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Only the result of verification: the register checked and whether authorization was verified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KYC and AML checks on clients and end investors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Client &amp; Customer</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Due diligence on distributors, with their screening results and risk rating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Selling, revenue-sharing and sponsorship agreements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Agreements &amp; Partners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inducement assessment and the conflict entry, both pointing to the agreement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RFP and DDQ responses the firm gives to clients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Nothing. Here, due diligence means checks the firm performs on its distributors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Transactions, positions and data feeds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Sales Transactions &amp; AUM Attribution</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Alerts, cases and complaints that point to the transaction or account concerned</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02920">
                <a:tc>
                  <a:txBody>
                    <a:bodyPr/>
                    <a:lstStyle/>
                    <a:p>
                      <a:pPr indent="0" marL="0">
                        <a:buNone/>
                      </a:pPr>
                      <a:r>
                        <a:rPr lang="en-US" sz="1200" b="1" dirty="0">
                          <a:solidFill>
                            <a:schemeClr val="tx1"/>
                          </a:solidFill>
                        </a:rPr>
                        <a:t>Employees and the firm's own legal entities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Shared &amp; Enterprise Reference Data</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The registrations and certifications each employee holds, and who approved what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REFERENCED, NOT MASTERED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213 attributes mastered, 51 borrowed</a:t>
            </a:r>
            <a:endParaRPr lang="en-US" sz="3600" dirty="0"/>
          </a:p>
        </p:txBody>
      </p:sp>
      <p:sp>
        <p:nvSpPr>
          <p:cNvPr id="5" name="Shape 2"/>
          <p:cNvSpPr/>
          <p:nvPr/>
        </p:nvSpPr>
        <p:spPr>
          <a:xfrm>
            <a:off x="548640" y="1783080"/>
            <a:ext cx="3291840" cy="3730752"/>
          </a:xfrm>
          <a:prstGeom prst="roundRect">
            <a:avLst>
              <a:gd name="adj" fmla="val 2222"/>
            </a:avLst>
          </a:prstGeom>
          <a:solidFill>
            <a:schemeClr val="tx1"/>
          </a:solidFill>
          <a:ln/>
        </p:spPr>
      </p:sp>
      <p:sp>
        <p:nvSpPr>
          <p:cNvPr id="6" name="Text 3"/>
          <p:cNvSpPr txBox="1"/>
          <p:nvPr/>
        </p:nvSpPr>
        <p:spPr>
          <a:xfrm>
            <a:off x="822960" y="2057400"/>
            <a:ext cx="2743200" cy="868680"/>
          </a:xfrm>
          <a:prstGeom prst="rect">
            <a:avLst/>
          </a:prstGeom>
          <a:noFill/>
          <a:ln/>
        </p:spPr>
        <p:txBody>
          <a:bodyPr wrap="square" lIns="0" tIns="0" rIns="0" bIns="0" rtlCol="0" anchor="ctr"/>
          <a:lstStyle/>
          <a:p>
            <a:pPr algn="l" indent="0" marL="0">
              <a:buNone/>
            </a:pPr>
            <a:r>
              <a:rPr lang="en-US" sz="6000" b="1" dirty="0">
                <a:solidFill>
                  <a:schemeClr val="accent6"/>
                </a:solidFill>
              </a:rPr>
              <a:t>213</a:t>
            </a:r>
            <a:endParaRPr lang="en-US" sz="6000" dirty="0"/>
          </a:p>
        </p:txBody>
      </p:sp>
      <p:sp>
        <p:nvSpPr>
          <p:cNvPr id="7" name="Text 4"/>
          <p:cNvSpPr txBox="1"/>
          <p:nvPr/>
        </p:nvSpPr>
        <p:spPr>
          <a:xfrm>
            <a:off x="822960" y="2971800"/>
            <a:ext cx="2743200" cy="548640"/>
          </a:xfrm>
          <a:prstGeom prst="rect">
            <a:avLst/>
          </a:prstGeom>
          <a:noFill/>
          <a:ln/>
        </p:spPr>
        <p:txBody>
          <a:bodyPr wrap="square" lIns="0" tIns="0" rIns="0" bIns="0" rtlCol="0" anchor="t"/>
          <a:lstStyle/>
          <a:p>
            <a:pPr algn="l" indent="0" marL="0">
              <a:buNone/>
            </a:pPr>
            <a:r>
              <a:rPr lang="en-US" sz="1400" dirty="0">
                <a:solidFill>
                  <a:schemeClr val="bg1"/>
                </a:solidFill>
              </a:rPr>
              <a:t>of 264 attributes are mastered in this domain</a:t>
            </a:r>
            <a:endParaRPr lang="en-US" sz="1400" dirty="0"/>
          </a:p>
        </p:txBody>
      </p:sp>
      <p:sp>
        <p:nvSpPr>
          <p:cNvPr id="8" name="Text 5"/>
          <p:cNvSpPr txBox="1"/>
          <p:nvPr/>
        </p:nvSpPr>
        <p:spPr>
          <a:xfrm>
            <a:off x="822960" y="3840480"/>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47 references</a:t>
            </a:r>
            <a:endParaRPr lang="en-US" sz="1600" dirty="0"/>
          </a:p>
        </p:txBody>
      </p:sp>
      <p:sp>
        <p:nvSpPr>
          <p:cNvPr id="9" name="Text 6"/>
          <p:cNvSpPr txBox="1"/>
          <p:nvPr/>
        </p:nvSpPr>
        <p:spPr>
          <a:xfrm>
            <a:off x="822960" y="4133088"/>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Hold only the ID of a record another domain masters</a:t>
            </a:r>
            <a:endParaRPr lang="en-US" sz="1200" dirty="0"/>
          </a:p>
        </p:txBody>
      </p:sp>
      <p:sp>
        <p:nvSpPr>
          <p:cNvPr id="10" name="Text 7"/>
          <p:cNvSpPr txBox="1"/>
          <p:nvPr/>
        </p:nvSpPr>
        <p:spPr>
          <a:xfrm>
            <a:off x="822960" y="4636008"/>
            <a:ext cx="2743200" cy="292608"/>
          </a:xfrm>
          <a:prstGeom prst="rect">
            <a:avLst/>
          </a:prstGeom>
          <a:noFill/>
          <a:ln/>
        </p:spPr>
        <p:txBody>
          <a:bodyPr wrap="square" lIns="0" tIns="0" rIns="0" bIns="0" rtlCol="0" anchor="ctr"/>
          <a:lstStyle/>
          <a:p>
            <a:pPr algn="l" indent="0" marL="0">
              <a:buNone/>
            </a:pPr>
            <a:r>
              <a:rPr lang="en-US" sz="1600" b="1" dirty="0">
                <a:solidFill>
                  <a:schemeClr val="bg1"/>
                </a:solidFill>
              </a:rPr>
              <a:t>4 derived copies</a:t>
            </a:r>
            <a:endParaRPr lang="en-US" sz="1600" dirty="0"/>
          </a:p>
        </p:txBody>
      </p:sp>
      <p:sp>
        <p:nvSpPr>
          <p:cNvPr id="11" name="Text 8"/>
          <p:cNvSpPr txBox="1"/>
          <p:nvPr/>
        </p:nvSpPr>
        <p:spPr>
          <a:xfrm>
            <a:off x="822960" y="4928616"/>
            <a:ext cx="2743200" cy="411480"/>
          </a:xfrm>
          <a:prstGeom prst="rect">
            <a:avLst/>
          </a:prstGeom>
          <a:noFill/>
          <a:ln/>
        </p:spPr>
        <p:txBody>
          <a:bodyPr wrap="square" lIns="0" tIns="0" rIns="0" bIns="0" rtlCol="0" anchor="t"/>
          <a:lstStyle/>
          <a:p>
            <a:pPr algn="l" indent="0" marL="0">
              <a:buNone/>
            </a:pPr>
            <a:r>
              <a:rPr lang="en-US" sz="1200" dirty="0">
                <a:solidFill>
                  <a:schemeClr val="bg1"/>
                </a:solidFill>
              </a:rPr>
              <a:t>Display only; never edited here</a:t>
            </a:r>
            <a:endParaRPr lang="en-US" sz="1200" dirty="0"/>
          </a:p>
        </p:txBody>
      </p:sp>
      <p:sp>
        <p:nvSpPr>
          <p:cNvPr id="12" name="Shape 9"/>
          <p:cNvSpPr/>
          <p:nvPr/>
        </p:nvSpPr>
        <p:spPr>
          <a:xfrm>
            <a:off x="4114800" y="1783080"/>
            <a:ext cx="7525512" cy="548640"/>
          </a:xfrm>
          <a:prstGeom prst="roundRect">
            <a:avLst>
              <a:gd name="adj" fmla="val 13333"/>
            </a:avLst>
          </a:prstGeom>
          <a:solidFill>
            <a:schemeClr val="bg2"/>
          </a:solidFill>
          <a:ln/>
        </p:spPr>
      </p:sp>
      <p:sp>
        <p:nvSpPr>
          <p:cNvPr id="13" name="Text 10"/>
          <p:cNvSpPr txBox="1"/>
          <p:nvPr/>
        </p:nvSpPr>
        <p:spPr>
          <a:xfrm>
            <a:off x="4343400" y="17830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Client &amp; Customer</a:t>
            </a:r>
            <a:endParaRPr lang="en-US" sz="1200" dirty="0"/>
          </a:p>
        </p:txBody>
      </p:sp>
      <p:sp>
        <p:nvSpPr>
          <p:cNvPr id="14" name="Text 11"/>
          <p:cNvSpPr txBox="1"/>
          <p:nvPr/>
        </p:nvSpPr>
        <p:spPr>
          <a:xfrm>
            <a:off x="7132320" y="17830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14 references</a:t>
            </a:r>
            <a:endParaRPr lang="en-US" sz="1200" dirty="0"/>
          </a:p>
        </p:txBody>
      </p:sp>
      <p:sp>
        <p:nvSpPr>
          <p:cNvPr id="15" name="Text 12"/>
          <p:cNvSpPr txBox="1"/>
          <p:nvPr/>
        </p:nvSpPr>
        <p:spPr>
          <a:xfrm>
            <a:off x="8458200" y="17830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Distributor firms, gift recipients, investors approached, complainants and regulators</a:t>
            </a:r>
            <a:endParaRPr lang="en-US" sz="1100" dirty="0"/>
          </a:p>
        </p:txBody>
      </p:sp>
      <p:sp>
        <p:nvSpPr>
          <p:cNvPr id="16" name="Shape 13"/>
          <p:cNvSpPr/>
          <p:nvPr/>
        </p:nvSpPr>
        <p:spPr>
          <a:xfrm>
            <a:off x="4114800" y="2423160"/>
            <a:ext cx="7525512" cy="548640"/>
          </a:xfrm>
          <a:prstGeom prst="roundRect">
            <a:avLst>
              <a:gd name="adj" fmla="val 13333"/>
            </a:avLst>
          </a:prstGeom>
          <a:solidFill>
            <a:schemeClr val="bg2"/>
          </a:solidFill>
          <a:ln/>
        </p:spPr>
      </p:sp>
      <p:sp>
        <p:nvSpPr>
          <p:cNvPr id="17" name="Text 14"/>
          <p:cNvSpPr txBox="1"/>
          <p:nvPr/>
        </p:nvSpPr>
        <p:spPr>
          <a:xfrm>
            <a:off x="4343400" y="242316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Shared &amp; Enterprise Reference Data</a:t>
            </a:r>
            <a:endParaRPr lang="en-US" sz="1200" dirty="0"/>
          </a:p>
        </p:txBody>
      </p:sp>
      <p:sp>
        <p:nvSpPr>
          <p:cNvPr id="18" name="Text 15"/>
          <p:cNvSpPr txBox="1"/>
          <p:nvPr/>
        </p:nvSpPr>
        <p:spPr>
          <a:xfrm>
            <a:off x="7132320" y="242316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11 references, 3 copies</a:t>
            </a:r>
            <a:endParaRPr lang="en-US" sz="1200" dirty="0"/>
          </a:p>
        </p:txBody>
      </p:sp>
      <p:sp>
        <p:nvSpPr>
          <p:cNvPr id="19" name="Text 16"/>
          <p:cNvSpPr txBox="1"/>
          <p:nvPr/>
        </p:nvSpPr>
        <p:spPr>
          <a:xfrm>
            <a:off x="8458200" y="242316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Employees who submit, review, approve, give and attest; the firm's own legal entities</a:t>
            </a:r>
            <a:endParaRPr lang="en-US" sz="1100" dirty="0"/>
          </a:p>
        </p:txBody>
      </p:sp>
      <p:sp>
        <p:nvSpPr>
          <p:cNvPr id="20" name="Shape 17"/>
          <p:cNvSpPr/>
          <p:nvPr/>
        </p:nvSpPr>
        <p:spPr>
          <a:xfrm>
            <a:off x="4114800" y="3063240"/>
            <a:ext cx="7525512" cy="548640"/>
          </a:xfrm>
          <a:prstGeom prst="roundRect">
            <a:avLst>
              <a:gd name="adj" fmla="val 13333"/>
            </a:avLst>
          </a:prstGeom>
          <a:solidFill>
            <a:schemeClr val="bg2"/>
          </a:solidFill>
          <a:ln/>
        </p:spPr>
      </p:sp>
      <p:sp>
        <p:nvSpPr>
          <p:cNvPr id="21" name="Text 18"/>
          <p:cNvSpPr txBox="1"/>
          <p:nvPr/>
        </p:nvSpPr>
        <p:spPr>
          <a:xfrm>
            <a:off x="4343400" y="306324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Investment Product</a:t>
            </a:r>
            <a:endParaRPr lang="en-US" sz="1200" dirty="0"/>
          </a:p>
        </p:txBody>
      </p:sp>
      <p:sp>
        <p:nvSpPr>
          <p:cNvPr id="22" name="Text 19"/>
          <p:cNvSpPr txBox="1"/>
          <p:nvPr/>
        </p:nvSpPr>
        <p:spPr>
          <a:xfrm>
            <a:off x="7132320" y="306324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 1 copy</a:t>
            </a:r>
            <a:endParaRPr lang="en-US" sz="1200" dirty="0"/>
          </a:p>
        </p:txBody>
      </p:sp>
      <p:sp>
        <p:nvSpPr>
          <p:cNvPr id="23" name="Text 20"/>
          <p:cNvSpPr txBox="1"/>
          <p:nvPr/>
        </p:nvSpPr>
        <p:spPr>
          <a:xfrm>
            <a:off x="8458200" y="306324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Products and share classes featured, notified, requested, complained about or fed back on</a:t>
            </a:r>
            <a:endParaRPr lang="en-US" sz="1100" dirty="0"/>
          </a:p>
        </p:txBody>
      </p:sp>
      <p:sp>
        <p:nvSpPr>
          <p:cNvPr id="24" name="Shape 21"/>
          <p:cNvSpPr/>
          <p:nvPr/>
        </p:nvSpPr>
        <p:spPr>
          <a:xfrm>
            <a:off x="4114800" y="3703320"/>
            <a:ext cx="7525512" cy="548640"/>
          </a:xfrm>
          <a:prstGeom prst="roundRect">
            <a:avLst>
              <a:gd name="adj" fmla="val 13333"/>
            </a:avLst>
          </a:prstGeom>
          <a:solidFill>
            <a:schemeClr val="bg2"/>
          </a:solidFill>
          <a:ln/>
        </p:spPr>
      </p:sp>
      <p:sp>
        <p:nvSpPr>
          <p:cNvPr id="25" name="Text 22"/>
          <p:cNvSpPr txBox="1"/>
          <p:nvPr/>
        </p:nvSpPr>
        <p:spPr>
          <a:xfrm>
            <a:off x="4343400" y="370332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Distribution Agreements &amp; Partners</a:t>
            </a:r>
            <a:endParaRPr lang="en-US" sz="1200" dirty="0"/>
          </a:p>
        </p:txBody>
      </p:sp>
      <p:sp>
        <p:nvSpPr>
          <p:cNvPr id="26" name="Text 23"/>
          <p:cNvSpPr txBox="1"/>
          <p:nvPr/>
        </p:nvSpPr>
        <p:spPr>
          <a:xfrm>
            <a:off x="7132320" y="370332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6 references</a:t>
            </a:r>
            <a:endParaRPr lang="en-US" sz="1200" dirty="0"/>
          </a:p>
        </p:txBody>
      </p:sp>
      <p:sp>
        <p:nvSpPr>
          <p:cNvPr id="27" name="Text 24"/>
          <p:cNvSpPr txBox="1"/>
          <p:nvPr/>
        </p:nvSpPr>
        <p:spPr>
          <a:xfrm>
            <a:off x="8458200" y="370332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Governing, sponsorship and shareholder information agreements; payment arrangements</a:t>
            </a:r>
            <a:endParaRPr lang="en-US" sz="1100" dirty="0"/>
          </a:p>
        </p:txBody>
      </p:sp>
      <p:sp>
        <p:nvSpPr>
          <p:cNvPr id="28" name="Shape 25"/>
          <p:cNvSpPr/>
          <p:nvPr/>
        </p:nvSpPr>
        <p:spPr>
          <a:xfrm>
            <a:off x="4114800" y="4343400"/>
            <a:ext cx="7525512" cy="548640"/>
          </a:xfrm>
          <a:prstGeom prst="roundRect">
            <a:avLst>
              <a:gd name="adj" fmla="val 13333"/>
            </a:avLst>
          </a:prstGeom>
          <a:solidFill>
            <a:schemeClr val="bg2"/>
          </a:solidFill>
          <a:ln/>
        </p:spPr>
      </p:sp>
      <p:sp>
        <p:nvSpPr>
          <p:cNvPr id="29" name="Text 26"/>
          <p:cNvSpPr txBox="1"/>
          <p:nvPr/>
        </p:nvSpPr>
        <p:spPr>
          <a:xfrm>
            <a:off x="4343400" y="434340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Marketing &amp; Digital</a:t>
            </a:r>
            <a:endParaRPr lang="en-US" sz="1200" dirty="0"/>
          </a:p>
        </p:txBody>
      </p:sp>
      <p:sp>
        <p:nvSpPr>
          <p:cNvPr id="30" name="Text 27"/>
          <p:cNvSpPr txBox="1"/>
          <p:nvPr/>
        </p:nvSpPr>
        <p:spPr>
          <a:xfrm>
            <a:off x="7132320" y="434340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a:t>
            </a:r>
            <a:endParaRPr lang="en-US" sz="1200" dirty="0"/>
          </a:p>
        </p:txBody>
      </p:sp>
      <p:sp>
        <p:nvSpPr>
          <p:cNvPr id="31" name="Text 28"/>
          <p:cNvSpPr txBox="1"/>
          <p:nvPr/>
        </p:nvSpPr>
        <p:spPr>
          <a:xfrm>
            <a:off x="8458200" y="434340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The content asset under review, its campaign, and the events behind gifts and meetings</a:t>
            </a:r>
            <a:endParaRPr lang="en-US" sz="1100" dirty="0"/>
          </a:p>
        </p:txBody>
      </p:sp>
      <p:sp>
        <p:nvSpPr>
          <p:cNvPr id="32" name="Shape 29"/>
          <p:cNvSpPr/>
          <p:nvPr/>
        </p:nvSpPr>
        <p:spPr>
          <a:xfrm>
            <a:off x="4114800" y="4983480"/>
            <a:ext cx="7525512" cy="548640"/>
          </a:xfrm>
          <a:prstGeom prst="roundRect">
            <a:avLst>
              <a:gd name="adj" fmla="val 13333"/>
            </a:avLst>
          </a:prstGeom>
          <a:solidFill>
            <a:schemeClr val="bg2"/>
          </a:solidFill>
          <a:ln/>
        </p:spPr>
      </p:sp>
      <p:sp>
        <p:nvSpPr>
          <p:cNvPr id="33" name="Text 30"/>
          <p:cNvSpPr txBox="1"/>
          <p:nvPr/>
        </p:nvSpPr>
        <p:spPr>
          <a:xfrm>
            <a:off x="4343400" y="4983480"/>
            <a:ext cx="2697480" cy="548640"/>
          </a:xfrm>
          <a:prstGeom prst="rect">
            <a:avLst/>
          </a:prstGeom>
          <a:noFill/>
          <a:ln/>
        </p:spPr>
        <p:txBody>
          <a:bodyPr wrap="square" lIns="0" tIns="0" rIns="0" bIns="0" rtlCol="0" anchor="ctr"/>
          <a:lstStyle/>
          <a:p>
            <a:pPr algn="l" indent="0" marL="0">
              <a:buNone/>
            </a:pPr>
            <a:r>
              <a:rPr lang="en-US" sz="1200" b="1" dirty="0">
                <a:solidFill>
                  <a:schemeClr val="tx1"/>
                </a:solidFill>
              </a:rPr>
              <a:t>Other domains</a:t>
            </a:r>
            <a:endParaRPr lang="en-US" sz="1200" dirty="0"/>
          </a:p>
        </p:txBody>
      </p:sp>
      <p:sp>
        <p:nvSpPr>
          <p:cNvPr id="34" name="Text 31"/>
          <p:cNvSpPr txBox="1"/>
          <p:nvPr/>
        </p:nvSpPr>
        <p:spPr>
          <a:xfrm>
            <a:off x="7132320" y="4983480"/>
            <a:ext cx="1234440" cy="548640"/>
          </a:xfrm>
          <a:prstGeom prst="rect">
            <a:avLst/>
          </a:prstGeom>
          <a:noFill/>
          <a:ln/>
        </p:spPr>
        <p:txBody>
          <a:bodyPr wrap="square" lIns="0" tIns="0" rIns="0" bIns="0" rtlCol="0" anchor="ctr"/>
          <a:lstStyle/>
          <a:p>
            <a:pPr algn="l" indent="0" marL="0">
              <a:buNone/>
            </a:pPr>
            <a:r>
              <a:rPr lang="en-US" sz="1200" b="1" dirty="0">
                <a:solidFill>
                  <a:schemeClr val="accent1"/>
                </a:solidFill>
              </a:rPr>
              <a:t>5 references</a:t>
            </a:r>
            <a:endParaRPr lang="en-US" sz="1200" dirty="0"/>
          </a:p>
        </p:txBody>
      </p:sp>
      <p:sp>
        <p:nvSpPr>
          <p:cNvPr id="35" name="Text 32"/>
          <p:cNvSpPr txBox="1"/>
          <p:nvPr/>
        </p:nvSpPr>
        <p:spPr>
          <a:xfrm>
            <a:off x="8458200" y="4983480"/>
            <a:ext cx="3063240" cy="548640"/>
          </a:xfrm>
          <a:prstGeom prst="rect">
            <a:avLst/>
          </a:prstGeom>
          <a:noFill/>
          <a:ln/>
        </p:spPr>
        <p:txBody>
          <a:bodyPr wrap="square" lIns="0" tIns="0" rIns="0" bIns="0" rtlCol="0" anchor="ctr"/>
          <a:lstStyle/>
          <a:p>
            <a:pPr algn="l" indent="0" marL="0">
              <a:buNone/>
            </a:pPr>
            <a:r>
              <a:rPr lang="en-US" sz="1100" dirty="0">
                <a:solidFill>
                  <a:schemeClr val="tx1"/>
                </a:solidFill>
              </a:rPr>
              <a:t>Transactions and feeds behind complaints, alerts and reports; accounts behind complaints and cases</a:t>
            </a:r>
            <a:endParaRPr lang="en-US" sz="1100" dirty="0"/>
          </a:p>
        </p:txBody>
      </p:sp>
      <p:sp>
        <p:nvSpPr>
          <p:cNvPr id="36" name="Shape 33"/>
          <p:cNvSpPr/>
          <p:nvPr/>
        </p:nvSpPr>
        <p:spPr>
          <a:xfrm>
            <a:off x="548640" y="5687568"/>
            <a:ext cx="11091672" cy="530352"/>
          </a:xfrm>
          <a:prstGeom prst="roundRect">
            <a:avLst>
              <a:gd name="adj" fmla="val 13793"/>
            </a:avLst>
          </a:prstGeom>
          <a:solidFill>
            <a:schemeClr val="bg2"/>
          </a:solidFill>
          <a:ln/>
        </p:spPr>
      </p:sp>
      <p:sp>
        <p:nvSpPr>
          <p:cNvPr id="37" name="Text 34"/>
          <p:cNvSpPr txBox="1"/>
          <p:nvPr/>
        </p:nvSpPr>
        <p:spPr>
          <a:xfrm>
            <a:off x="777240" y="5687568"/>
            <a:ext cx="10634472" cy="530352"/>
          </a:xfrm>
          <a:prstGeom prst="rect">
            <a:avLst/>
          </a:prstGeom>
          <a:noFill/>
          <a:ln/>
        </p:spPr>
        <p:txBody>
          <a:bodyPr wrap="square" lIns="0" tIns="0" rIns="0" bIns="0" rtlCol="0" anchor="ctr"/>
          <a:lstStyle/>
          <a:p>
            <a:pPr algn="l" indent="0" marL="0">
              <a:buNone/>
            </a:pPr>
            <a:r>
              <a:rPr lang="en-US" sz="1200" dirty="0">
                <a:solidFill>
                  <a:schemeClr val="tx1"/>
                </a:solidFill>
              </a:rPr>
              <a:t>In the other direction, 27 attributes in 9 other domains point to a review, license, gift record or complaint mastered here. Also excluded from every view: Record Metadata, which the program documents separately.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WHAT IS EXCLUDED  |  NOT YET COVERED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Not yet covered: 28 open gaps</a:t>
            </a:r>
            <a:endParaRPr lang="en-US" sz="3600" dirty="0"/>
          </a:p>
        </p:txBody>
      </p:sp>
      <p:sp>
        <p:nvSpPr>
          <p:cNvPr id="5" name="Shape 2"/>
          <p:cNvSpPr/>
          <p:nvPr/>
        </p:nvSpPr>
        <p:spPr>
          <a:xfrm>
            <a:off x="548640" y="1783080"/>
            <a:ext cx="3017520" cy="4187952"/>
          </a:xfrm>
          <a:prstGeom prst="roundRect">
            <a:avLst>
              <a:gd name="adj" fmla="val 2424"/>
            </a:avLst>
          </a:prstGeom>
          <a:solidFill>
            <a:schemeClr val="bg2"/>
          </a:solidFill>
          <a:ln/>
        </p:spPr>
      </p:sp>
      <p:sp>
        <p:nvSpPr>
          <p:cNvPr id="6" name="Text 3"/>
          <p:cNvSpPr txBox="1"/>
          <p:nvPr/>
        </p:nvSpPr>
        <p:spPr>
          <a:xfrm>
            <a:off x="822960" y="2011680"/>
            <a:ext cx="2468880" cy="777240"/>
          </a:xfrm>
          <a:prstGeom prst="rect">
            <a:avLst/>
          </a:prstGeom>
          <a:noFill/>
          <a:ln/>
        </p:spPr>
        <p:txBody>
          <a:bodyPr wrap="square" lIns="0" tIns="0" rIns="0" bIns="0" rtlCol="0" anchor="ctr"/>
          <a:lstStyle/>
          <a:p>
            <a:pPr algn="l" indent="0" marL="0">
              <a:buNone/>
            </a:pPr>
            <a:r>
              <a:rPr lang="en-US" sz="5400" b="1" dirty="0">
                <a:solidFill>
                  <a:schemeClr val="accent1"/>
                </a:solidFill>
              </a:rPr>
              <a:t>28</a:t>
            </a:r>
            <a:endParaRPr lang="en-US" sz="5400" dirty="0"/>
          </a:p>
        </p:txBody>
      </p:sp>
      <p:sp>
        <p:nvSpPr>
          <p:cNvPr id="7" name="Text 4"/>
          <p:cNvSpPr txBox="1"/>
          <p:nvPr/>
        </p:nvSpPr>
        <p:spPr>
          <a:xfrm>
            <a:off x="822960" y="2834640"/>
            <a:ext cx="2468880" cy="822960"/>
          </a:xfrm>
          <a:prstGeom prst="rect">
            <a:avLst/>
          </a:prstGeom>
          <a:noFill/>
          <a:ln/>
        </p:spPr>
        <p:txBody>
          <a:bodyPr wrap="square" lIns="0" tIns="0" rIns="0" bIns="0" rtlCol="0" anchor="t"/>
          <a:lstStyle/>
          <a:p>
            <a:pPr algn="l" indent="0" marL="0">
              <a:buNone/>
            </a:pPr>
            <a:r>
              <a:rPr lang="en-US" sz="1300" dirty="0">
                <a:solidFill>
                  <a:schemeClr val="tx1"/>
                </a:solidFill>
              </a:rPr>
              <a:t>gaps raised against this domain while specifying and modeling data products</a:t>
            </a:r>
            <a:endParaRPr lang="en-US" sz="1300" dirty="0"/>
          </a:p>
        </p:txBody>
      </p:sp>
      <p:sp>
        <p:nvSpPr>
          <p:cNvPr id="8" name="Text 5"/>
          <p:cNvSpPr txBox="1"/>
          <p:nvPr/>
        </p:nvSpPr>
        <p:spPr>
          <a:xfrm>
            <a:off x="822960" y="3886200"/>
            <a:ext cx="2468880" cy="320040"/>
          </a:xfrm>
          <a:prstGeom prst="rect">
            <a:avLst/>
          </a:prstGeom>
          <a:noFill/>
          <a:ln/>
        </p:spPr>
        <p:txBody>
          <a:bodyPr wrap="square" lIns="0" tIns="0" rIns="0" bIns="0" rtlCol="0" anchor="ctr"/>
          <a:lstStyle/>
          <a:p>
            <a:pPr algn="l" indent="0" marL="0">
              <a:buNone/>
            </a:pPr>
            <a:r>
              <a:rPr lang="en-US" sz="1600" b="1" dirty="0">
                <a:solidFill>
                  <a:schemeClr val="accent5"/>
                </a:solidFill>
              </a:rPr>
              <a:t>0 resolved</a:t>
            </a:r>
            <a:endParaRPr lang="en-US" sz="1600" dirty="0"/>
          </a:p>
        </p:txBody>
      </p:sp>
      <p:sp>
        <p:nvSpPr>
          <p:cNvPr id="9" name="Text 6"/>
          <p:cNvSpPr txBox="1"/>
          <p:nvPr/>
        </p:nvSpPr>
        <p:spPr>
          <a:xfrm>
            <a:off x="822960" y="4389120"/>
            <a:ext cx="2468880" cy="320040"/>
          </a:xfrm>
          <a:prstGeom prst="rect">
            <a:avLst/>
          </a:prstGeom>
          <a:noFill/>
          <a:ln/>
        </p:spPr>
        <p:txBody>
          <a:bodyPr wrap="square" lIns="0" tIns="0" rIns="0" bIns="0" rtlCol="0" anchor="ctr"/>
          <a:lstStyle/>
          <a:p>
            <a:pPr algn="l" indent="0" marL="0">
              <a:buNone/>
            </a:pPr>
            <a:r>
              <a:rPr lang="en-US" sz="1600" b="1" dirty="0">
                <a:solidFill>
                  <a:schemeClr val="accent4"/>
                </a:solidFill>
              </a:rPr>
              <a:t>28 open</a:t>
            </a:r>
            <a:endParaRPr lang="en-US" sz="1600" dirty="0"/>
          </a:p>
        </p:txBody>
      </p:sp>
      <p:sp>
        <p:nvSpPr>
          <p:cNvPr id="10" name="Text 7"/>
          <p:cNvSpPr txBox="1"/>
          <p:nvPr/>
        </p:nvSpPr>
        <p:spPr>
          <a:xfrm>
            <a:off x="822960" y="4709160"/>
            <a:ext cx="2468880" cy="274320"/>
          </a:xfrm>
          <a:prstGeom prst="rect">
            <a:avLst/>
          </a:prstGeom>
          <a:noFill/>
          <a:ln/>
        </p:spPr>
        <p:txBody>
          <a:bodyPr wrap="square" lIns="0" tIns="0" rIns="0" bIns="0" rtlCol="0" anchor="ctr"/>
          <a:lstStyle/>
          <a:p>
            <a:pPr algn="l" indent="0" marL="0">
              <a:buNone/>
            </a:pPr>
            <a:r>
              <a:rPr lang="en-US" sz="1200" dirty="0">
                <a:solidFill>
                  <a:schemeClr val="tx2"/>
                </a:solidFill>
              </a:rPr>
              <a:t>0 high, 15 medium, 13 low priority</a:t>
            </a:r>
            <a:endParaRPr lang="en-US" sz="1200" dirty="0"/>
          </a:p>
        </p:txBody>
      </p:sp>
      <p:sp>
        <p:nvSpPr>
          <p:cNvPr id="11" name="Shape 8"/>
          <p:cNvSpPr/>
          <p:nvPr/>
        </p:nvSpPr>
        <p:spPr>
          <a:xfrm>
            <a:off x="3840480" y="1783080"/>
            <a:ext cx="7799832" cy="530352"/>
          </a:xfrm>
          <a:prstGeom prst="roundRect">
            <a:avLst>
              <a:gd name="adj" fmla="val 13793"/>
            </a:avLst>
          </a:prstGeom>
          <a:solidFill>
            <a:schemeClr val="bg2"/>
          </a:solidFill>
          <a:ln/>
        </p:spPr>
      </p:sp>
      <p:sp>
        <p:nvSpPr>
          <p:cNvPr id="12" name="Text 9"/>
          <p:cNvSpPr/>
          <p:nvPr/>
        </p:nvSpPr>
        <p:spPr>
          <a:xfrm>
            <a:off x="3977640" y="189280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3" name="Text 10"/>
          <p:cNvSpPr txBox="1"/>
          <p:nvPr/>
        </p:nvSpPr>
        <p:spPr>
          <a:xfrm>
            <a:off x="4983480" y="178308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GAP-08-001</a:t>
            </a:r>
            <a:endParaRPr lang="en-US" sz="1200" dirty="0"/>
          </a:p>
        </p:txBody>
      </p:sp>
      <p:sp>
        <p:nvSpPr>
          <p:cNvPr id="14" name="Text 11"/>
          <p:cNvSpPr txBox="1"/>
          <p:nvPr/>
        </p:nvSpPr>
        <p:spPr>
          <a:xfrm>
            <a:off x="6126480" y="178308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Outcome Metric has no product, share class, distributor or measurement period (DP-040, DP-061)</a:t>
            </a:r>
            <a:endParaRPr lang="en-US" sz="1200" dirty="0"/>
          </a:p>
        </p:txBody>
      </p:sp>
      <p:sp>
        <p:nvSpPr>
          <p:cNvPr id="15" name="Shape 12"/>
          <p:cNvSpPr/>
          <p:nvPr/>
        </p:nvSpPr>
        <p:spPr>
          <a:xfrm>
            <a:off x="3840480" y="2386584"/>
            <a:ext cx="7799832" cy="530352"/>
          </a:xfrm>
          <a:prstGeom prst="roundRect">
            <a:avLst>
              <a:gd name="adj" fmla="val 13793"/>
            </a:avLst>
          </a:prstGeom>
          <a:solidFill>
            <a:schemeClr val="bg2"/>
          </a:solidFill>
          <a:ln/>
        </p:spPr>
      </p:sp>
      <p:sp>
        <p:nvSpPr>
          <p:cNvPr id="16" name="Text 13"/>
          <p:cNvSpPr/>
          <p:nvPr/>
        </p:nvSpPr>
        <p:spPr>
          <a:xfrm>
            <a:off x="3977640" y="249631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17" name="Text 14"/>
          <p:cNvSpPr txBox="1"/>
          <p:nvPr/>
        </p:nvSpPr>
        <p:spPr>
          <a:xfrm>
            <a:off x="4983480" y="238658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GAP-08-002</a:t>
            </a:r>
            <a:endParaRPr lang="en-US" sz="1200" dirty="0"/>
          </a:p>
        </p:txBody>
      </p:sp>
      <p:sp>
        <p:nvSpPr>
          <p:cNvPr id="18" name="Text 15"/>
          <p:cNvSpPr txBox="1"/>
          <p:nvPr/>
        </p:nvSpPr>
        <p:spPr>
          <a:xfrm>
            <a:off x="6126480" y="238658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Compliance Review does not name the asset version it reviewed or its retention rule (DP-058, DP-062)</a:t>
            </a:r>
            <a:endParaRPr lang="en-US" sz="1200" dirty="0"/>
          </a:p>
        </p:txBody>
      </p:sp>
      <p:sp>
        <p:nvSpPr>
          <p:cNvPr id="19" name="Shape 16"/>
          <p:cNvSpPr/>
          <p:nvPr/>
        </p:nvSpPr>
        <p:spPr>
          <a:xfrm>
            <a:off x="3840480" y="2990088"/>
            <a:ext cx="7799832" cy="530352"/>
          </a:xfrm>
          <a:prstGeom prst="roundRect">
            <a:avLst>
              <a:gd name="adj" fmla="val 13793"/>
            </a:avLst>
          </a:prstGeom>
          <a:solidFill>
            <a:schemeClr val="bg2"/>
          </a:solidFill>
          <a:ln/>
        </p:spPr>
      </p:sp>
      <p:sp>
        <p:nvSpPr>
          <p:cNvPr id="20" name="Text 17"/>
          <p:cNvSpPr/>
          <p:nvPr/>
        </p:nvSpPr>
        <p:spPr>
          <a:xfrm>
            <a:off x="3977640" y="3099816"/>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1" name="Text 18"/>
          <p:cNvSpPr txBox="1"/>
          <p:nvPr/>
        </p:nvSpPr>
        <p:spPr>
          <a:xfrm>
            <a:off x="4983480" y="2990088"/>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GAP-08-004</a:t>
            </a:r>
            <a:endParaRPr lang="en-US" sz="1200" dirty="0"/>
          </a:p>
        </p:txBody>
      </p:sp>
      <p:sp>
        <p:nvSpPr>
          <p:cNvPr id="22" name="Text 19"/>
          <p:cNvSpPr txBox="1"/>
          <p:nvPr/>
        </p:nvSpPr>
        <p:spPr>
          <a:xfrm>
            <a:off x="6126480" y="2990088"/>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object for a fraud case or suspicious activity referral behind an account restriction (DP-085)</a:t>
            </a:r>
            <a:endParaRPr lang="en-US" sz="1200" dirty="0"/>
          </a:p>
        </p:txBody>
      </p:sp>
      <p:sp>
        <p:nvSpPr>
          <p:cNvPr id="23" name="Shape 20"/>
          <p:cNvSpPr/>
          <p:nvPr/>
        </p:nvSpPr>
        <p:spPr>
          <a:xfrm>
            <a:off x="3840480" y="3593592"/>
            <a:ext cx="7799832" cy="530352"/>
          </a:xfrm>
          <a:prstGeom prst="roundRect">
            <a:avLst>
              <a:gd name="adj" fmla="val 13793"/>
            </a:avLst>
          </a:prstGeom>
          <a:solidFill>
            <a:schemeClr val="bg2"/>
          </a:solidFill>
          <a:ln/>
        </p:spPr>
      </p:sp>
      <p:sp>
        <p:nvSpPr>
          <p:cNvPr id="24" name="Text 21"/>
          <p:cNvSpPr/>
          <p:nvPr/>
        </p:nvSpPr>
        <p:spPr>
          <a:xfrm>
            <a:off x="3977640" y="3703320"/>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5" name="Text 22"/>
          <p:cNvSpPr txBox="1"/>
          <p:nvPr/>
        </p:nvSpPr>
        <p:spPr>
          <a:xfrm>
            <a:off x="4983480" y="3593592"/>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GAP-08-008</a:t>
            </a:r>
            <a:endParaRPr lang="en-US" sz="1200" dirty="0"/>
          </a:p>
        </p:txBody>
      </p:sp>
      <p:sp>
        <p:nvSpPr>
          <p:cNvPr id="26" name="Text 23"/>
          <p:cNvSpPr txBox="1"/>
          <p:nvPr/>
        </p:nvSpPr>
        <p:spPr>
          <a:xfrm>
            <a:off x="6126480" y="3593592"/>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object for the performance figures shown in a communication, so those tests stay manual (DP-062)</a:t>
            </a:r>
            <a:endParaRPr lang="en-US" sz="1200" dirty="0"/>
          </a:p>
        </p:txBody>
      </p:sp>
      <p:sp>
        <p:nvSpPr>
          <p:cNvPr id="27" name="Shape 24"/>
          <p:cNvSpPr/>
          <p:nvPr/>
        </p:nvSpPr>
        <p:spPr>
          <a:xfrm>
            <a:off x="3840480" y="4197096"/>
            <a:ext cx="7799832" cy="530352"/>
          </a:xfrm>
          <a:prstGeom prst="roundRect">
            <a:avLst>
              <a:gd name="adj" fmla="val 13793"/>
            </a:avLst>
          </a:prstGeom>
          <a:solidFill>
            <a:schemeClr val="bg2"/>
          </a:solidFill>
          <a:ln/>
        </p:spPr>
      </p:sp>
      <p:sp>
        <p:nvSpPr>
          <p:cNvPr id="28" name="Text 25"/>
          <p:cNvSpPr/>
          <p:nvPr/>
        </p:nvSpPr>
        <p:spPr>
          <a:xfrm>
            <a:off x="3977640" y="4306824"/>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29" name="Text 26"/>
          <p:cNvSpPr txBox="1"/>
          <p:nvPr/>
        </p:nvSpPr>
        <p:spPr>
          <a:xfrm>
            <a:off x="4983480" y="4197096"/>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GAP-08-010</a:t>
            </a:r>
            <a:endParaRPr lang="en-US" sz="1200" dirty="0"/>
          </a:p>
        </p:txBody>
      </p:sp>
      <p:sp>
        <p:nvSpPr>
          <p:cNvPr id="30" name="Text 27"/>
          <p:cNvSpPr txBox="1"/>
          <p:nvPr/>
        </p:nvSpPr>
        <p:spPr>
          <a:xfrm>
            <a:off x="6126480" y="4197096"/>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Inducement Assessment is held on a gift item but is also used for payment arrangements (DP-065)</a:t>
            </a:r>
            <a:endParaRPr lang="en-US" sz="1200" dirty="0"/>
          </a:p>
        </p:txBody>
      </p:sp>
      <p:sp>
        <p:nvSpPr>
          <p:cNvPr id="31" name="Shape 28"/>
          <p:cNvSpPr/>
          <p:nvPr/>
        </p:nvSpPr>
        <p:spPr>
          <a:xfrm>
            <a:off x="3840480" y="4800600"/>
            <a:ext cx="7799832" cy="530352"/>
          </a:xfrm>
          <a:prstGeom prst="roundRect">
            <a:avLst>
              <a:gd name="adj" fmla="val 13793"/>
            </a:avLst>
          </a:prstGeom>
          <a:solidFill>
            <a:schemeClr val="bg2"/>
          </a:solidFill>
          <a:ln/>
        </p:spPr>
      </p:sp>
      <p:sp>
        <p:nvSpPr>
          <p:cNvPr id="32" name="Text 29"/>
          <p:cNvSpPr/>
          <p:nvPr/>
        </p:nvSpPr>
        <p:spPr>
          <a:xfrm>
            <a:off x="3977640" y="4910328"/>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3" name="Text 30"/>
          <p:cNvSpPr txBox="1"/>
          <p:nvPr/>
        </p:nvSpPr>
        <p:spPr>
          <a:xfrm>
            <a:off x="4983480" y="4800600"/>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GAP-08-011</a:t>
            </a:r>
            <a:endParaRPr lang="en-US" sz="1200" dirty="0"/>
          </a:p>
        </p:txBody>
      </p:sp>
      <p:sp>
        <p:nvSpPr>
          <p:cNvPr id="34" name="Text 31"/>
          <p:cNvSpPr txBox="1"/>
          <p:nvPr/>
        </p:nvSpPr>
        <p:spPr>
          <a:xfrm>
            <a:off x="6126480" y="4800600"/>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Captured Communication Record has no channel type, capture source or employee link (DP-078)</a:t>
            </a:r>
            <a:endParaRPr lang="en-US" sz="1200" dirty="0"/>
          </a:p>
        </p:txBody>
      </p:sp>
      <p:sp>
        <p:nvSpPr>
          <p:cNvPr id="35" name="Shape 32"/>
          <p:cNvSpPr/>
          <p:nvPr/>
        </p:nvSpPr>
        <p:spPr>
          <a:xfrm>
            <a:off x="3840480" y="5404104"/>
            <a:ext cx="7799832" cy="530352"/>
          </a:xfrm>
          <a:prstGeom prst="roundRect">
            <a:avLst>
              <a:gd name="adj" fmla="val 13793"/>
            </a:avLst>
          </a:prstGeom>
          <a:solidFill>
            <a:schemeClr val="bg2"/>
          </a:solidFill>
          <a:ln/>
        </p:spPr>
      </p:sp>
      <p:sp>
        <p:nvSpPr>
          <p:cNvPr id="36" name="Text 33"/>
          <p:cNvSpPr/>
          <p:nvPr/>
        </p:nvSpPr>
        <p:spPr>
          <a:xfrm>
            <a:off x="3977640" y="5513832"/>
            <a:ext cx="868680" cy="310896"/>
          </a:xfrm>
          <a:prstGeom prst="roundRect">
            <a:avLst>
              <a:gd name="adj" fmla="val 17647"/>
            </a:avLst>
          </a:prstGeom>
          <a:solidFill>
            <a:schemeClr val="accent2"/>
          </a:solidFill>
          <a:ln/>
        </p:spPr>
        <p:txBody>
          <a:bodyPr wrap="square" lIns="0" tIns="0" rIns="0" bIns="0" rtlCol="0" anchor="ctr"/>
          <a:lstStyle/>
          <a:p>
            <a:pPr algn="ctr" indent="0" marL="0">
              <a:buNone/>
            </a:pPr>
            <a:r>
              <a:rPr lang="en-US" sz="1100" b="1" dirty="0">
                <a:solidFill>
                  <a:schemeClr val="bg1"/>
                </a:solidFill>
              </a:rPr>
              <a:t>Medium</a:t>
            </a:r>
            <a:endParaRPr lang="en-US" sz="1100" dirty="0"/>
          </a:p>
        </p:txBody>
      </p:sp>
      <p:sp>
        <p:nvSpPr>
          <p:cNvPr id="37" name="Text 34"/>
          <p:cNvSpPr txBox="1"/>
          <p:nvPr/>
        </p:nvSpPr>
        <p:spPr>
          <a:xfrm>
            <a:off x="4983480" y="5404104"/>
            <a:ext cx="1097280" cy="530352"/>
          </a:xfrm>
          <a:prstGeom prst="rect">
            <a:avLst/>
          </a:prstGeom>
          <a:noFill/>
          <a:ln/>
        </p:spPr>
        <p:txBody>
          <a:bodyPr wrap="square" lIns="0" tIns="0" rIns="0" bIns="0" rtlCol="0" anchor="ctr"/>
          <a:lstStyle/>
          <a:p>
            <a:pPr algn="l" indent="0" marL="0">
              <a:buNone/>
            </a:pPr>
            <a:r>
              <a:rPr lang="en-US" sz="1200" b="1" dirty="0">
                <a:solidFill>
                  <a:schemeClr val="tx1"/>
                </a:solidFill>
              </a:rPr>
              <a:t>GAP-08-014</a:t>
            </a:r>
            <a:endParaRPr lang="en-US" sz="1200" dirty="0"/>
          </a:p>
        </p:txBody>
      </p:sp>
      <p:sp>
        <p:nvSpPr>
          <p:cNvPr id="38" name="Text 35"/>
          <p:cNvSpPr txBox="1"/>
          <p:nvPr/>
        </p:nvSpPr>
        <p:spPr>
          <a:xfrm>
            <a:off x="6126480" y="5404104"/>
            <a:ext cx="5349240" cy="530352"/>
          </a:xfrm>
          <a:prstGeom prst="rect">
            <a:avLst/>
          </a:prstGeom>
          <a:noFill/>
          <a:ln/>
        </p:spPr>
        <p:txBody>
          <a:bodyPr wrap="square" lIns="0" tIns="0" rIns="0" bIns="0" rtlCol="0" anchor="ctr"/>
          <a:lstStyle/>
          <a:p>
            <a:pPr algn="l" indent="0" marL="0">
              <a:buNone/>
            </a:pPr>
            <a:r>
              <a:rPr lang="en-US" sz="1200" dirty="0">
                <a:solidFill>
                  <a:schemeClr val="tx1"/>
                </a:solidFill>
              </a:rPr>
              <a:t>No mapping of sales roles to the registrations and exams they require (DP-039)</a:t>
            </a:r>
            <a:endParaRPr lang="en-US" sz="1200" dirty="0"/>
          </a:p>
        </p:txBody>
      </p:sp>
      <p:sp>
        <p:nvSpPr>
          <p:cNvPr id="39" name="Text 36"/>
          <p:cNvSpPr txBox="1"/>
          <p:nvPr/>
        </p:nvSpPr>
        <p:spPr>
          <a:xfrm>
            <a:off x="3840480" y="6062472"/>
            <a:ext cx="7799832" cy="274320"/>
          </a:xfrm>
          <a:prstGeom prst="rect">
            <a:avLst/>
          </a:prstGeom>
          <a:noFill/>
          <a:ln/>
        </p:spPr>
        <p:txBody>
          <a:bodyPr wrap="square" lIns="0" tIns="0" rIns="0" bIns="0" rtlCol="0" anchor="ctr"/>
          <a:lstStyle/>
          <a:p>
            <a:pPr algn="l" indent="0" marL="0">
              <a:buNone/>
            </a:pPr>
            <a:r>
              <a:rPr lang="en-US" sz="1200" dirty="0">
                <a:solidFill>
                  <a:schemeClr val="tx2"/>
                </a:solidFill>
              </a:rPr>
              <a:t>Each gap has a proposed resolution and a decision owner in Gap_Register.xlsx.</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taxonomy does four jobs</a:t>
            </a:r>
            <a:endParaRPr lang="en-US" sz="3600" dirty="0"/>
          </a:p>
        </p:txBody>
      </p:sp>
      <p:sp>
        <p:nvSpPr>
          <p:cNvPr id="5" name="Shape 2"/>
          <p:cNvSpPr/>
          <p:nvPr/>
        </p:nvSpPr>
        <p:spPr>
          <a:xfrm>
            <a:off x="548640" y="1783080"/>
            <a:ext cx="2560320" cy="2971800"/>
          </a:xfrm>
          <a:prstGeom prst="roundRect">
            <a:avLst>
              <a:gd name="adj" fmla="val 2857"/>
            </a:avLst>
          </a:prstGeom>
          <a:solidFill>
            <a:schemeClr val="bg2"/>
          </a:solidFill>
          <a:ln/>
        </p:spPr>
      </p:sp>
      <p:sp>
        <p:nvSpPr>
          <p:cNvPr id="6" name="Text 3"/>
          <p:cNvSpPr/>
          <p:nvPr/>
        </p:nvSpPr>
        <p:spPr>
          <a:xfrm>
            <a:off x="777240" y="2011680"/>
            <a:ext cx="411480" cy="4114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Mapping target</a:t>
            </a:r>
            <a:endParaRPr lang="en-US" sz="1600" dirty="0"/>
          </a:p>
        </p:txBody>
      </p:sp>
      <p:sp>
        <p:nvSpPr>
          <p:cNvPr id="8" name="Text 5"/>
          <p:cNvSpPr txBox="1"/>
          <p:nvPr/>
        </p:nvSpPr>
        <p:spPr>
          <a:xfrm>
            <a:off x="777240"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Review workflow, FINRA filing, CRD tracking, G&amp;E, complaints and archive tools each map to one definition per field. Source mapping is Phase D and is not yet done.</a:t>
            </a:r>
            <a:endParaRPr lang="en-US" sz="1300" dirty="0"/>
          </a:p>
        </p:txBody>
      </p:sp>
      <p:sp>
        <p:nvSpPr>
          <p:cNvPr id="9" name="Shape 6"/>
          <p:cNvSpPr/>
          <p:nvPr/>
        </p:nvSpPr>
        <p:spPr>
          <a:xfrm>
            <a:off x="3392424" y="1783080"/>
            <a:ext cx="2560320" cy="2971800"/>
          </a:xfrm>
          <a:prstGeom prst="roundRect">
            <a:avLst>
              <a:gd name="adj" fmla="val 2857"/>
            </a:avLst>
          </a:prstGeom>
          <a:solidFill>
            <a:schemeClr val="bg2"/>
          </a:solidFill>
          <a:ln/>
        </p:spPr>
      </p:sp>
      <p:sp>
        <p:nvSpPr>
          <p:cNvPr id="10" name="Text 7"/>
          <p:cNvSpPr/>
          <p:nvPr/>
        </p:nvSpPr>
        <p:spPr>
          <a:xfrm>
            <a:off x="3621024" y="20116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621024"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Bill of materials</a:t>
            </a:r>
            <a:endParaRPr lang="en-US" sz="1600" dirty="0"/>
          </a:p>
        </p:txBody>
      </p:sp>
      <p:sp>
        <p:nvSpPr>
          <p:cNvPr id="12" name="Text 9"/>
          <p:cNvSpPr txBox="1"/>
          <p:nvPr/>
        </p:nvSpPr>
        <p:spPr>
          <a:xfrm>
            <a:off x="3621024"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Each data product lists the exact objects and attributes it uses. The build fails if one does not exist in the taxonomy.</a:t>
            </a:r>
            <a:endParaRPr lang="en-US" sz="1300" dirty="0"/>
          </a:p>
        </p:txBody>
      </p:sp>
      <p:sp>
        <p:nvSpPr>
          <p:cNvPr id="13" name="Shape 10"/>
          <p:cNvSpPr/>
          <p:nvPr/>
        </p:nvSpPr>
        <p:spPr>
          <a:xfrm>
            <a:off x="6236208" y="1783080"/>
            <a:ext cx="2560320" cy="2971800"/>
          </a:xfrm>
          <a:prstGeom prst="roundRect">
            <a:avLst>
              <a:gd name="adj" fmla="val 2857"/>
            </a:avLst>
          </a:prstGeom>
          <a:solidFill>
            <a:schemeClr val="bg2"/>
          </a:solidFill>
          <a:ln/>
        </p:spPr>
      </p:sp>
      <p:sp>
        <p:nvSpPr>
          <p:cNvPr id="14" name="Text 11"/>
          <p:cNvSpPr/>
          <p:nvPr/>
        </p:nvSpPr>
        <p:spPr>
          <a:xfrm>
            <a:off x="6464808" y="2011680"/>
            <a:ext cx="411480" cy="4114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464808"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Shared control record</a:t>
            </a:r>
            <a:endParaRPr lang="en-US" sz="1600" dirty="0"/>
          </a:p>
        </p:txBody>
      </p:sp>
      <p:sp>
        <p:nvSpPr>
          <p:cNvPr id="16" name="Text 13"/>
          <p:cNvSpPr txBox="1"/>
          <p:nvPr/>
        </p:nvSpPr>
        <p:spPr>
          <a:xfrm>
            <a:off x="6464808"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Other domains point to the review, license, gift record and complaint by ID. DP-036 is the one owned product published in a semantic model so far, SM-05.</a:t>
            </a:r>
            <a:endParaRPr lang="en-US" sz="1300" dirty="0"/>
          </a:p>
        </p:txBody>
      </p:sp>
      <p:sp>
        <p:nvSpPr>
          <p:cNvPr id="17" name="Shape 14"/>
          <p:cNvSpPr/>
          <p:nvPr/>
        </p:nvSpPr>
        <p:spPr>
          <a:xfrm>
            <a:off x="9079992" y="1783080"/>
            <a:ext cx="2560320" cy="2971800"/>
          </a:xfrm>
          <a:prstGeom prst="roundRect">
            <a:avLst>
              <a:gd name="adj" fmla="val 2857"/>
            </a:avLst>
          </a:prstGeom>
          <a:solidFill>
            <a:schemeClr val="bg2"/>
          </a:solidFill>
          <a:ln/>
        </p:spPr>
      </p:sp>
      <p:sp>
        <p:nvSpPr>
          <p:cNvPr id="18" name="Text 15"/>
          <p:cNvSpPr/>
          <p:nvPr/>
        </p:nvSpPr>
        <p:spPr>
          <a:xfrm>
            <a:off x="9308592" y="2011680"/>
            <a:ext cx="411480" cy="4114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308592" y="2560320"/>
            <a:ext cx="2103120" cy="365760"/>
          </a:xfrm>
          <a:prstGeom prst="rect">
            <a:avLst/>
          </a:prstGeom>
          <a:noFill/>
          <a:ln/>
        </p:spPr>
        <p:txBody>
          <a:bodyPr wrap="square" lIns="0" tIns="0" rIns="0" bIns="0" rtlCol="0" anchor="ctr"/>
          <a:lstStyle/>
          <a:p>
            <a:pPr algn="l" indent="0" marL="0">
              <a:buNone/>
            </a:pPr>
            <a:r>
              <a:rPr lang="en-US" sz="1600" b="1" dirty="0">
                <a:solidFill>
                  <a:schemeClr val="tx1"/>
                </a:solidFill>
              </a:rPr>
              <a:t>Governance focus</a:t>
            </a:r>
            <a:endParaRPr lang="en-US" sz="1600" dirty="0"/>
          </a:p>
        </p:txBody>
      </p:sp>
      <p:sp>
        <p:nvSpPr>
          <p:cNvPr id="20" name="Text 17"/>
          <p:cNvSpPr txBox="1"/>
          <p:nvPr/>
        </p:nvSpPr>
        <p:spPr>
          <a:xfrm>
            <a:off x="9308592" y="2971800"/>
            <a:ext cx="2103120" cy="1645920"/>
          </a:xfrm>
          <a:prstGeom prst="rect">
            <a:avLst/>
          </a:prstGeom>
          <a:noFill/>
          <a:ln/>
        </p:spPr>
        <p:txBody>
          <a:bodyPr wrap="square" lIns="0" tIns="0" rIns="0" bIns="0" rtlCol="0" anchor="t"/>
          <a:lstStyle/>
          <a:p>
            <a:pPr algn="l" indent="0" marL="0">
              <a:buNone/>
            </a:pPr>
            <a:r>
              <a:rPr lang="en-US" sz="1300" dirty="0">
                <a:solidFill>
                  <a:schemeClr val="tx1"/>
                </a:solidFill>
              </a:rPr>
              <a:t>A named owning domain for every attribute, 80 proposed critical data elements and 26 personal data flags show stewards where to focus.</a:t>
            </a:r>
            <a:endParaRPr lang="en-US" sz="1300" dirty="0"/>
          </a:p>
        </p:txBody>
      </p:sp>
      <p:sp>
        <p:nvSpPr>
          <p:cNvPr id="21" name="Text 18"/>
          <p:cNvSpPr txBox="1"/>
          <p:nvPr/>
        </p:nvSpPr>
        <p:spPr>
          <a:xfrm>
            <a:off x="548640" y="4937760"/>
            <a:ext cx="5486400"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WHERE THE DEFINITIONS TRAVEL</a:t>
            </a:r>
            <a:endParaRPr lang="en-US" sz="1200" dirty="0"/>
          </a:p>
        </p:txBody>
      </p:sp>
      <p:sp>
        <p:nvSpPr>
          <p:cNvPr id="22" name="Text 19"/>
          <p:cNvSpPr/>
          <p:nvPr/>
        </p:nvSpPr>
        <p:spPr>
          <a:xfrm>
            <a:off x="54864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Compliance systems and registers</a:t>
            </a:r>
            <a:endParaRPr lang="en-US" sz="1200" dirty="0"/>
          </a:p>
        </p:txBody>
      </p:sp>
      <p:sp>
        <p:nvSpPr>
          <p:cNvPr id="23" name="Shape 20"/>
          <p:cNvSpPr/>
          <p:nvPr/>
        </p:nvSpPr>
        <p:spPr>
          <a:xfrm>
            <a:off x="2203704" y="5692140"/>
            <a:ext cx="202997" cy="0"/>
          </a:xfrm>
          <a:prstGeom prst="line">
            <a:avLst/>
          </a:prstGeom>
          <a:noFill/>
          <a:ln w="19050">
            <a:solidFill>
              <a:schemeClr val="tx2"/>
            </a:solidFill>
            <a:prstDash val="solid"/>
            <a:tailEnd type="triangle"/>
          </a:ln>
        </p:spPr>
      </p:sp>
      <p:sp>
        <p:nvSpPr>
          <p:cNvPr id="24" name="Text 21"/>
          <p:cNvSpPr/>
          <p:nvPr/>
        </p:nvSpPr>
        <p:spPr>
          <a:xfrm>
            <a:off x="2443277" y="5257800"/>
            <a:ext cx="1618488" cy="868680"/>
          </a:xfrm>
          <a:prstGeom prst="roundRect">
            <a:avLst>
              <a:gd name="adj" fmla="val 8421"/>
            </a:avLst>
          </a:prstGeom>
          <a:solidFill>
            <a:schemeClr val="accent1"/>
          </a:solidFill>
          <a:ln/>
        </p:spPr>
        <p:txBody>
          <a:bodyPr wrap="square" lIns="1016" tIns="1016" rIns="1016" bIns="1016" rtlCol="0" anchor="ctr"/>
          <a:lstStyle/>
          <a:p>
            <a:pPr algn="ctr" indent="0" marL="0">
              <a:buNone/>
            </a:pPr>
            <a:r>
              <a:rPr lang="en-US" sz="1100" b="1" dirty="0">
                <a:solidFill>
                  <a:schemeClr val="bg1"/>
                </a:solidFill>
              </a:rPr>
              <a:t>Distribution Compliance definitions</a:t>
            </a:r>
            <a:endParaRPr lang="en-US" sz="1100" dirty="0"/>
          </a:p>
        </p:txBody>
      </p:sp>
      <p:sp>
        <p:nvSpPr>
          <p:cNvPr id="25" name="Shape 22"/>
          <p:cNvSpPr/>
          <p:nvPr/>
        </p:nvSpPr>
        <p:spPr>
          <a:xfrm>
            <a:off x="4098341" y="5692140"/>
            <a:ext cx="202997" cy="0"/>
          </a:xfrm>
          <a:prstGeom prst="line">
            <a:avLst/>
          </a:prstGeom>
          <a:noFill/>
          <a:ln w="19050">
            <a:solidFill>
              <a:schemeClr val="tx2"/>
            </a:solidFill>
            <a:prstDash val="solid"/>
            <a:tailEnd type="triangle"/>
          </a:ln>
        </p:spPr>
      </p:sp>
      <p:sp>
        <p:nvSpPr>
          <p:cNvPr id="26" name="Text 23"/>
          <p:cNvSpPr/>
          <p:nvPr/>
        </p:nvSpPr>
        <p:spPr>
          <a:xfrm>
            <a:off x="433791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DP-036 and 12 more owned products</a:t>
            </a:r>
            <a:endParaRPr lang="en-US" sz="1100" dirty="0"/>
          </a:p>
        </p:txBody>
      </p:sp>
      <p:sp>
        <p:nvSpPr>
          <p:cNvPr id="27" name="Shape 24"/>
          <p:cNvSpPr/>
          <p:nvPr/>
        </p:nvSpPr>
        <p:spPr>
          <a:xfrm>
            <a:off x="5992978" y="5692140"/>
            <a:ext cx="202997" cy="0"/>
          </a:xfrm>
          <a:prstGeom prst="line">
            <a:avLst/>
          </a:prstGeom>
          <a:noFill/>
          <a:ln w="19050">
            <a:solidFill>
              <a:schemeClr val="tx2"/>
            </a:solidFill>
            <a:prstDash val="solid"/>
            <a:tailEnd type="triangle"/>
          </a:ln>
        </p:spPr>
      </p:sp>
      <p:sp>
        <p:nvSpPr>
          <p:cNvPr id="28" name="Text 25"/>
          <p:cNvSpPr/>
          <p:nvPr/>
        </p:nvSpPr>
        <p:spPr>
          <a:xfrm>
            <a:off x="6232550"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12 reader products in other domains</a:t>
            </a:r>
            <a:endParaRPr lang="en-US" sz="1100" dirty="0"/>
          </a:p>
        </p:txBody>
      </p:sp>
      <p:sp>
        <p:nvSpPr>
          <p:cNvPr id="29" name="Shape 26"/>
          <p:cNvSpPr/>
          <p:nvPr/>
        </p:nvSpPr>
        <p:spPr>
          <a:xfrm>
            <a:off x="7887614" y="5692140"/>
            <a:ext cx="202997" cy="0"/>
          </a:xfrm>
          <a:prstGeom prst="line">
            <a:avLst/>
          </a:prstGeom>
          <a:noFill/>
          <a:ln w="19050">
            <a:solidFill>
              <a:schemeClr val="tx2"/>
            </a:solidFill>
            <a:prstDash val="solid"/>
            <a:tailEnd type="triangle"/>
          </a:ln>
        </p:spPr>
      </p:sp>
      <p:sp>
        <p:nvSpPr>
          <p:cNvPr id="30" name="Text 27"/>
          <p:cNvSpPr/>
          <p:nvPr/>
        </p:nvSpPr>
        <p:spPr>
          <a:xfrm>
            <a:off x="8127187"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100" b="1" dirty="0">
                <a:solidFill>
                  <a:schemeClr val="tx1"/>
                </a:solidFill>
              </a:rPr>
              <a:t>Semantic models (SM-05 Marketing)</a:t>
            </a:r>
            <a:endParaRPr lang="en-US" sz="1100" dirty="0"/>
          </a:p>
        </p:txBody>
      </p:sp>
      <p:sp>
        <p:nvSpPr>
          <p:cNvPr id="31" name="Shape 28"/>
          <p:cNvSpPr/>
          <p:nvPr/>
        </p:nvSpPr>
        <p:spPr>
          <a:xfrm>
            <a:off x="9782251" y="5692140"/>
            <a:ext cx="202997" cy="0"/>
          </a:xfrm>
          <a:prstGeom prst="line">
            <a:avLst/>
          </a:prstGeom>
          <a:noFill/>
          <a:ln w="19050">
            <a:solidFill>
              <a:schemeClr val="tx2"/>
            </a:solidFill>
            <a:prstDash val="solid"/>
            <a:tailEnd type="triangle"/>
          </a:ln>
        </p:spPr>
      </p:sp>
      <p:sp>
        <p:nvSpPr>
          <p:cNvPr id="32" name="Text 29"/>
          <p:cNvSpPr/>
          <p:nvPr/>
        </p:nvSpPr>
        <p:spPr>
          <a:xfrm>
            <a:off x="10021824" y="5257800"/>
            <a:ext cx="1618488" cy="868680"/>
          </a:xfrm>
          <a:prstGeom prst="roundRect">
            <a:avLst>
              <a:gd name="adj" fmla="val 8421"/>
            </a:avLst>
          </a:prstGeom>
          <a:solidFill>
            <a:schemeClr val="bg2"/>
          </a:solidFill>
          <a:ln/>
        </p:spPr>
        <p:txBody>
          <a:bodyPr wrap="square" lIns="1016" tIns="1016" rIns="1016" bIns="1016" rtlCol="0" anchor="ctr"/>
          <a:lstStyle/>
          <a:p>
            <a:pPr algn="ctr" indent="0" marL="0">
              <a:buNone/>
            </a:pPr>
            <a:r>
              <a:rPr lang="en-US" sz="1200" b="1" dirty="0">
                <a:solidFill>
                  <a:schemeClr val="tx1"/>
                </a:solidFill>
              </a:rPr>
              <a:t>Dashboards, exams, AI assistants</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HOW IT IS USED  |  THE ANCHOR PRODUCT</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The register of every communication reviewed</a:t>
            </a:r>
            <a:endParaRPr lang="en-US" sz="3600" dirty="0"/>
          </a:p>
        </p:txBody>
      </p:sp>
      <p:sp>
        <p:nvSpPr>
          <p:cNvPr id="5" name="Text 2"/>
          <p:cNvSpPr/>
          <p:nvPr/>
        </p:nvSpPr>
        <p:spPr>
          <a:xfrm>
            <a:off x="548640" y="1783080"/>
            <a:ext cx="1005840" cy="384048"/>
          </a:xfrm>
          <a:prstGeom prst="roundRect">
            <a:avLst>
              <a:gd name="adj" fmla="val 14286"/>
            </a:avLst>
          </a:prstGeom>
          <a:solidFill>
            <a:schemeClr val="accent1"/>
          </a:solidFill>
          <a:ln/>
        </p:spPr>
        <p:txBody>
          <a:bodyPr wrap="square" lIns="0" tIns="0" rIns="0" bIns="0" rtlCol="0" anchor="ctr"/>
          <a:lstStyle/>
          <a:p>
            <a:pPr algn="ctr" indent="0" marL="0">
              <a:buNone/>
            </a:pPr>
            <a:r>
              <a:rPr lang="en-US" sz="1300" b="1" dirty="0">
                <a:solidFill>
                  <a:schemeClr val="bg1"/>
                </a:solidFill>
              </a:rPr>
              <a:t>DP-036</a:t>
            </a:r>
            <a:endParaRPr lang="en-US" sz="1300" dirty="0"/>
          </a:p>
        </p:txBody>
      </p:sp>
      <p:sp>
        <p:nvSpPr>
          <p:cNvPr id="6" name="Text 3"/>
          <p:cNvSpPr txBox="1"/>
          <p:nvPr/>
        </p:nvSpPr>
        <p:spPr>
          <a:xfrm>
            <a:off x="1737360" y="1783080"/>
            <a:ext cx="5486400" cy="384048"/>
          </a:xfrm>
          <a:prstGeom prst="rect">
            <a:avLst/>
          </a:prstGeom>
          <a:noFill/>
          <a:ln/>
        </p:spPr>
        <p:txBody>
          <a:bodyPr wrap="square" lIns="0" tIns="0" rIns="0" bIns="0" rtlCol="0" anchor="ctr"/>
          <a:lstStyle/>
          <a:p>
            <a:pPr algn="l" indent="0" marL="0">
              <a:buNone/>
            </a:pPr>
            <a:r>
              <a:rPr lang="en-US" sz="1800" b="1" dirty="0">
                <a:solidFill>
                  <a:schemeClr val="tx1"/>
                </a:solidFill>
              </a:rPr>
              <a:t>Marketing Communications Review &amp; Filing</a:t>
            </a:r>
            <a:endParaRPr lang="en-US" sz="1800" dirty="0"/>
          </a:p>
        </p:txBody>
      </p:sp>
      <p:sp>
        <p:nvSpPr>
          <p:cNvPr id="7" name="Text 4"/>
          <p:cNvSpPr txBox="1"/>
          <p:nvPr/>
        </p:nvSpPr>
        <p:spPr>
          <a:xfrm>
            <a:off x="548640" y="2258568"/>
            <a:ext cx="6675120" cy="274320"/>
          </a:xfrm>
          <a:prstGeom prst="rect">
            <a:avLst/>
          </a:prstGeom>
          <a:noFill/>
          <a:ln/>
        </p:spPr>
        <p:txBody>
          <a:bodyPr wrap="square" lIns="0" tIns="0" rIns="0" bIns="0" rtlCol="0" anchor="ctr"/>
          <a:lstStyle/>
          <a:p>
            <a:pPr algn="l" indent="0" marL="0">
              <a:buNone/>
            </a:pPr>
            <a:r>
              <a:rPr lang="en-US" sz="1200" dirty="0">
                <a:solidFill>
                  <a:schemeClr val="tx2"/>
                </a:solidFill>
              </a:rPr>
              <a:t>Consumer-aligned  |  Regulatory &amp; Control  |  Owner: Head of Marketing Compliance</a:t>
            </a:r>
            <a:endParaRPr lang="en-US" sz="1200" dirty="0"/>
          </a:p>
        </p:txBody>
      </p:sp>
      <p:sp>
        <p:nvSpPr>
          <p:cNvPr id="8" name="Shape 5"/>
          <p:cNvSpPr/>
          <p:nvPr/>
        </p:nvSpPr>
        <p:spPr>
          <a:xfrm>
            <a:off x="548640" y="2697480"/>
            <a:ext cx="6675120" cy="0"/>
          </a:xfrm>
          <a:prstGeom prst="line">
            <a:avLst/>
          </a:prstGeom>
          <a:noFill/>
          <a:ln w="9525">
            <a:solidFill>
              <a:srgbClr val="D5D9E1"/>
            </a:solidFill>
            <a:prstDash val="solid"/>
          </a:ln>
        </p:spPr>
      </p:sp>
      <p:sp>
        <p:nvSpPr>
          <p:cNvPr id="9" name="Text 6"/>
          <p:cNvSpPr txBox="1"/>
          <p:nvPr/>
        </p:nvSpPr>
        <p:spPr>
          <a:xfrm>
            <a:off x="548640" y="2697480"/>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GRAIN</a:t>
            </a:r>
            <a:endParaRPr lang="en-US" sz="1200" dirty="0"/>
          </a:p>
        </p:txBody>
      </p:sp>
      <p:sp>
        <p:nvSpPr>
          <p:cNvPr id="10" name="Text 7"/>
          <p:cNvSpPr txBox="1"/>
          <p:nvPr/>
        </p:nvSpPr>
        <p:spPr>
          <a:xfrm>
            <a:off x="1828800" y="2697480"/>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One row per compliance review and asset version, with child rows for each review step and each filing submission</a:t>
            </a:r>
            <a:endParaRPr lang="en-US" sz="1300" dirty="0"/>
          </a:p>
        </p:txBody>
      </p:sp>
      <p:sp>
        <p:nvSpPr>
          <p:cNvPr id="11" name="Shape 8"/>
          <p:cNvSpPr/>
          <p:nvPr/>
        </p:nvSpPr>
        <p:spPr>
          <a:xfrm>
            <a:off x="548640" y="3355848"/>
            <a:ext cx="6675120" cy="0"/>
          </a:xfrm>
          <a:prstGeom prst="line">
            <a:avLst/>
          </a:prstGeom>
          <a:noFill/>
          <a:ln w="9525">
            <a:solidFill>
              <a:srgbClr val="D5D9E1"/>
            </a:solidFill>
            <a:prstDash val="solid"/>
          </a:ln>
        </p:spPr>
      </p:sp>
      <p:sp>
        <p:nvSpPr>
          <p:cNvPr id="12" name="Text 9"/>
          <p:cNvSpPr txBox="1"/>
          <p:nvPr/>
        </p:nvSpPr>
        <p:spPr>
          <a:xfrm>
            <a:off x="548640" y="3355848"/>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INPUTS</a:t>
            </a:r>
            <a:endParaRPr lang="en-US" sz="1200" dirty="0"/>
          </a:p>
        </p:txBody>
      </p:sp>
      <p:sp>
        <p:nvSpPr>
          <p:cNvPr id="13" name="Text 10"/>
          <p:cNvSpPr txBox="1"/>
          <p:nvPr/>
        </p:nvSpPr>
        <p:spPr>
          <a:xfrm>
            <a:off x="1828800" y="3355848"/>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58 of its 69 attributes come from 10 of this domain's 52 objects. The other 11 are the asset and asset version from Marketing &amp; Digital</a:t>
            </a:r>
            <a:endParaRPr lang="en-US" sz="1300" dirty="0"/>
          </a:p>
        </p:txBody>
      </p:sp>
      <p:sp>
        <p:nvSpPr>
          <p:cNvPr id="14" name="Shape 11"/>
          <p:cNvSpPr/>
          <p:nvPr/>
        </p:nvSpPr>
        <p:spPr>
          <a:xfrm>
            <a:off x="548640" y="4014216"/>
            <a:ext cx="6675120" cy="0"/>
          </a:xfrm>
          <a:prstGeom prst="line">
            <a:avLst/>
          </a:prstGeom>
          <a:noFill/>
          <a:ln w="9525">
            <a:solidFill>
              <a:srgbClr val="D5D9E1"/>
            </a:solidFill>
            <a:prstDash val="solid"/>
          </a:ln>
        </p:spPr>
      </p:sp>
      <p:sp>
        <p:nvSpPr>
          <p:cNvPr id="15" name="Text 12"/>
          <p:cNvSpPr txBox="1"/>
          <p:nvPr/>
        </p:nvSpPr>
        <p:spPr>
          <a:xfrm>
            <a:off x="548640" y="4014216"/>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REFRESH</a:t>
            </a:r>
            <a:endParaRPr lang="en-US" sz="1200" dirty="0"/>
          </a:p>
        </p:txBody>
      </p:sp>
      <p:sp>
        <p:nvSpPr>
          <p:cNvPr id="16" name="Text 13"/>
          <p:cNvSpPr txBox="1"/>
          <p:nvPr/>
        </p:nvSpPr>
        <p:spPr>
          <a:xfrm>
            <a:off x="1828800" y="4014216"/>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Daily, by 7am Eastern each business day, covering decisions and filings to the prior day's close</a:t>
            </a:r>
            <a:endParaRPr lang="en-US" sz="1300" dirty="0"/>
          </a:p>
        </p:txBody>
      </p:sp>
      <p:sp>
        <p:nvSpPr>
          <p:cNvPr id="17" name="Shape 14"/>
          <p:cNvSpPr/>
          <p:nvPr/>
        </p:nvSpPr>
        <p:spPr>
          <a:xfrm>
            <a:off x="548640" y="4672584"/>
            <a:ext cx="6675120" cy="0"/>
          </a:xfrm>
          <a:prstGeom prst="line">
            <a:avLst/>
          </a:prstGeom>
          <a:noFill/>
          <a:ln w="9525">
            <a:solidFill>
              <a:srgbClr val="D5D9E1"/>
            </a:solidFill>
            <a:prstDash val="solid"/>
          </a:ln>
        </p:spPr>
      </p:sp>
      <p:sp>
        <p:nvSpPr>
          <p:cNvPr id="18" name="Text 15"/>
          <p:cNvSpPr txBox="1"/>
          <p:nvPr/>
        </p:nvSpPr>
        <p:spPr>
          <a:xfrm>
            <a:off x="548640" y="4672584"/>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HISTORY</a:t>
            </a:r>
            <a:endParaRPr lang="en-US" sz="1200" dirty="0"/>
          </a:p>
        </p:txBody>
      </p:sp>
      <p:sp>
        <p:nvSpPr>
          <p:cNvPr id="19" name="Text 16"/>
          <p:cNvSpPr txBox="1"/>
          <p:nvPr/>
        </p:nvSpPr>
        <p:spPr>
          <a:xfrm>
            <a:off x="1828800" y="4672584"/>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Every review, step, decision and filing kept for at least six years from last use. Approval and status changes keep full history</a:t>
            </a:r>
            <a:endParaRPr lang="en-US" sz="1300" dirty="0"/>
          </a:p>
        </p:txBody>
      </p:sp>
      <p:sp>
        <p:nvSpPr>
          <p:cNvPr id="20" name="Shape 17"/>
          <p:cNvSpPr/>
          <p:nvPr/>
        </p:nvSpPr>
        <p:spPr>
          <a:xfrm>
            <a:off x="548640" y="5330952"/>
            <a:ext cx="6675120" cy="0"/>
          </a:xfrm>
          <a:prstGeom prst="line">
            <a:avLst/>
          </a:prstGeom>
          <a:noFill/>
          <a:ln w="9525">
            <a:solidFill>
              <a:srgbClr val="D5D9E1"/>
            </a:solidFill>
            <a:prstDash val="solid"/>
          </a:ln>
        </p:spPr>
      </p:sp>
      <p:sp>
        <p:nvSpPr>
          <p:cNvPr id="21" name="Text 18"/>
          <p:cNvSpPr txBox="1"/>
          <p:nvPr/>
        </p:nvSpPr>
        <p:spPr>
          <a:xfrm>
            <a:off x="548640" y="5330952"/>
            <a:ext cx="1188720" cy="658368"/>
          </a:xfrm>
          <a:prstGeom prst="rect">
            <a:avLst/>
          </a:prstGeom>
          <a:noFill/>
          <a:ln/>
        </p:spPr>
        <p:txBody>
          <a:bodyPr wrap="square" lIns="0" tIns="0" rIns="0" bIns="0" rtlCol="0" anchor="ctr"/>
          <a:lstStyle/>
          <a:p>
            <a:pPr algn="l" indent="0" marL="0">
              <a:buNone/>
            </a:pPr>
            <a:r>
              <a:rPr lang="en-US" sz="1200" b="1" spc="150" kern="0" dirty="0">
                <a:solidFill>
                  <a:schemeClr val="accent1"/>
                </a:solidFill>
              </a:rPr>
              <a:t>ACCESS</a:t>
            </a:r>
            <a:endParaRPr lang="en-US" sz="1200" dirty="0"/>
          </a:p>
        </p:txBody>
      </p:sp>
      <p:sp>
        <p:nvSpPr>
          <p:cNvPr id="22" name="Text 19"/>
          <p:cNvSpPr txBox="1"/>
          <p:nvPr/>
        </p:nvSpPr>
        <p:spPr>
          <a:xfrm>
            <a:off x="1828800" y="5330952"/>
            <a:ext cx="5394960" cy="658368"/>
          </a:xfrm>
          <a:prstGeom prst="rect">
            <a:avLst/>
          </a:prstGeom>
          <a:noFill/>
          <a:ln/>
        </p:spPr>
        <p:txBody>
          <a:bodyPr wrap="square" lIns="0" tIns="0" rIns="0" bIns="0" rtlCol="0" anchor="ctr"/>
          <a:lstStyle/>
          <a:p>
            <a:pPr algn="l" indent="0" marL="0">
              <a:buNone/>
            </a:pPr>
            <a:r>
              <a:rPr lang="en-US" sz="1300" dirty="0">
                <a:solidFill>
                  <a:schemeClr val="tx1"/>
                </a:solidFill>
              </a:rPr>
              <a:t>Confidential. Contains personal data: it names the employees who submit, review and approve</a:t>
            </a:r>
            <a:endParaRPr lang="en-US" sz="1300" dirty="0"/>
          </a:p>
        </p:txBody>
      </p:sp>
      <p:sp>
        <p:nvSpPr>
          <p:cNvPr id="23" name="Shape 20"/>
          <p:cNvSpPr/>
          <p:nvPr/>
        </p:nvSpPr>
        <p:spPr>
          <a:xfrm>
            <a:off x="7589520" y="1783080"/>
            <a:ext cx="1933956" cy="1600200"/>
          </a:xfrm>
          <a:prstGeom prst="roundRect">
            <a:avLst>
              <a:gd name="adj" fmla="val 4571"/>
            </a:avLst>
          </a:prstGeom>
          <a:solidFill>
            <a:schemeClr val="tx1"/>
          </a:solidFill>
          <a:ln/>
        </p:spPr>
      </p:sp>
      <p:sp>
        <p:nvSpPr>
          <p:cNvPr id="24" name="Text 21"/>
          <p:cNvSpPr txBox="1"/>
          <p:nvPr/>
        </p:nvSpPr>
        <p:spPr>
          <a:xfrm>
            <a:off x="7772400"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3</a:t>
            </a:r>
            <a:endParaRPr lang="en-US" sz="2800" dirty="0"/>
          </a:p>
        </p:txBody>
      </p:sp>
      <p:sp>
        <p:nvSpPr>
          <p:cNvPr id="25" name="Text 22"/>
          <p:cNvSpPr txBox="1"/>
          <p:nvPr/>
        </p:nvSpPr>
        <p:spPr>
          <a:xfrm>
            <a:off x="7772400"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other products name DP-036 as a direct upstream</a:t>
            </a:r>
            <a:endParaRPr lang="en-US" sz="1200" dirty="0"/>
          </a:p>
        </p:txBody>
      </p:sp>
      <p:sp>
        <p:nvSpPr>
          <p:cNvPr id="26" name="Shape 23"/>
          <p:cNvSpPr/>
          <p:nvPr/>
        </p:nvSpPr>
        <p:spPr>
          <a:xfrm>
            <a:off x="9706356" y="1783080"/>
            <a:ext cx="1933956" cy="1600200"/>
          </a:xfrm>
          <a:prstGeom prst="roundRect">
            <a:avLst>
              <a:gd name="adj" fmla="val 4571"/>
            </a:avLst>
          </a:prstGeom>
          <a:solidFill>
            <a:schemeClr val="tx1"/>
          </a:solidFill>
          <a:ln/>
        </p:spPr>
      </p:sp>
      <p:sp>
        <p:nvSpPr>
          <p:cNvPr id="27" name="Text 24"/>
          <p:cNvSpPr txBox="1"/>
          <p:nvPr/>
        </p:nvSpPr>
        <p:spPr>
          <a:xfrm>
            <a:off x="9889236" y="1920240"/>
            <a:ext cx="1572768" cy="594360"/>
          </a:xfrm>
          <a:prstGeom prst="rect">
            <a:avLst/>
          </a:prstGeom>
          <a:noFill/>
          <a:ln/>
        </p:spPr>
        <p:txBody>
          <a:bodyPr wrap="square" lIns="0" tIns="0" rIns="0" bIns="0" rtlCol="0" anchor="ctr"/>
          <a:lstStyle/>
          <a:p>
            <a:pPr algn="l" indent="0" marL="0">
              <a:buNone/>
            </a:pPr>
            <a:r>
              <a:rPr lang="en-US" sz="2800" b="1" dirty="0">
                <a:solidFill>
                  <a:schemeClr val="accent6"/>
                </a:solidFill>
              </a:rPr>
              <a:t>58 of 69</a:t>
            </a:r>
            <a:endParaRPr lang="en-US" sz="2800" dirty="0"/>
          </a:p>
        </p:txBody>
      </p:sp>
      <p:sp>
        <p:nvSpPr>
          <p:cNvPr id="28" name="Text 25"/>
          <p:cNvSpPr txBox="1"/>
          <p:nvPr/>
        </p:nvSpPr>
        <p:spPr>
          <a:xfrm>
            <a:off x="9889236" y="2560320"/>
            <a:ext cx="1572768" cy="731520"/>
          </a:xfrm>
          <a:prstGeom prst="rect">
            <a:avLst/>
          </a:prstGeom>
          <a:noFill/>
          <a:ln/>
        </p:spPr>
        <p:txBody>
          <a:bodyPr wrap="square" lIns="0" tIns="0" rIns="0" bIns="0" rtlCol="0" anchor="t"/>
          <a:lstStyle/>
          <a:p>
            <a:pPr algn="l" indent="0" marL="0">
              <a:buNone/>
            </a:pPr>
            <a:r>
              <a:rPr lang="en-US" sz="1200" dirty="0">
                <a:solidFill>
                  <a:schemeClr val="bg1"/>
                </a:solidFill>
              </a:rPr>
              <a:t>of its input attributes come from this domain</a:t>
            </a:r>
            <a:endParaRPr lang="en-US" sz="1200" dirty="0"/>
          </a:p>
        </p:txBody>
      </p:sp>
      <p:sp>
        <p:nvSpPr>
          <p:cNvPr id="29" name="Text 26"/>
          <p:cNvSpPr txBox="1"/>
          <p:nvPr/>
        </p:nvSpPr>
        <p:spPr>
          <a:xfrm>
            <a:off x="7589520" y="3657600"/>
            <a:ext cx="4050792" cy="256032"/>
          </a:xfrm>
          <a:prstGeom prst="rect">
            <a:avLst/>
          </a:prstGeom>
          <a:noFill/>
          <a:ln/>
        </p:spPr>
        <p:txBody>
          <a:bodyPr wrap="square" lIns="0" tIns="0" rIns="0" bIns="0" rtlCol="0" anchor="ctr"/>
          <a:lstStyle/>
          <a:p>
            <a:pPr algn="l" indent="0" marL="0">
              <a:buNone/>
            </a:pPr>
            <a:r>
              <a:rPr lang="en-US" sz="1200" b="1" spc="150" kern="0" dirty="0">
                <a:solidFill>
                  <a:schemeClr val="tx2"/>
                </a:solidFill>
              </a:rPr>
              <a:t>QUALITY RULES, FOR EXAMPLE</a:t>
            </a:r>
            <a:endParaRPr lang="en-US" sz="1200" dirty="0"/>
          </a:p>
        </p:txBody>
      </p:sp>
      <p:sp>
        <p:nvSpPr>
          <p:cNvPr id="30" name="Text 27"/>
          <p:cNvSpPr txBox="1"/>
          <p:nvPr/>
        </p:nvSpPr>
        <p:spPr>
          <a:xfrm>
            <a:off x="7589520" y="3995928"/>
            <a:ext cx="4050792"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 approved review has an approving principal, an approval code and an approval expiry date</a:t>
            </a:r>
            <a:endParaRPr lang="en-US" sz="1300" dirty="0"/>
          </a:p>
          <a:p>
            <a:pPr marL="177800" indent="-177800">
              <a:spcAft>
                <a:spcPts val="600"/>
              </a:spcAft>
              <a:buSzPct val="100000"/>
              <a:buChar char="•"/>
            </a:pPr>
            <a:r>
              <a:rPr lang="en-US" sz="1300" dirty="0">
                <a:solidFill>
                  <a:schemeClr val="tx1"/>
                </a:solidFill>
              </a:rPr>
              <a:t>The approval decision date is on or after the submission timestamp</a:t>
            </a:r>
            <a:endParaRPr lang="en-US" sz="1300" dirty="0"/>
          </a:p>
          <a:p>
            <a:pPr marL="177800" indent="-177800">
              <a:spcAft>
                <a:spcPts val="600"/>
              </a:spcAft>
              <a:buSzPct val="100000"/>
              <a:buChar char="•"/>
            </a:pPr>
            <a:r>
              <a:rPr lang="en-US" sz="1300" dirty="0">
                <a:solidFill>
                  <a:schemeClr val="tx1"/>
                </a:solidFill>
              </a:rPr>
              <a:t>Every review with a FINRA filing requirement has a filing due date</a:t>
            </a:r>
            <a:endParaRPr lang="en-US" sz="1300" dirty="0"/>
          </a:p>
          <a:p>
            <a:pPr marL="177800" indent="-177800">
              <a:spcAft>
                <a:spcPts val="600"/>
              </a:spcAft>
              <a:buSzPct val="100000"/>
              <a:buChar char="•"/>
            </a:pPr>
            <a:r>
              <a:rPr lang="en-US" sz="1300" dirty="0">
                <a:solidFill>
                  <a:schemeClr val="tx1"/>
                </a:solidFill>
              </a:rPr>
              <a:t>The approval status mirrored on the marketing asset matches this domain's status on every run</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REACH</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25 of 96 data products read it directly</a:t>
            </a:r>
            <a:endParaRPr lang="en-US" sz="3600" dirty="0"/>
          </a:p>
        </p:txBody>
      </p:sp>
      <p:graphicFrame>
        <p:nvGraphicFramePr>
          <p:cNvPr id="5" name="Chart 0" descr=""/>
          <p:cNvGraphicFramePr/>
          <p:nvPr/>
        </p:nvGraphicFramePr>
        <p:xfrm>
          <a:off x="548640" y="1783080"/>
          <a:ext cx="6217920" cy="43434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132320" y="1783080"/>
            <a:ext cx="2116836" cy="1691640"/>
          </a:xfrm>
          <a:prstGeom prst="roundRect">
            <a:avLst>
              <a:gd name="adj" fmla="val 4324"/>
            </a:avLst>
          </a:prstGeom>
          <a:solidFill>
            <a:schemeClr val="bg2"/>
          </a:solidFill>
          <a:ln/>
        </p:spPr>
      </p:sp>
      <p:sp>
        <p:nvSpPr>
          <p:cNvPr id="7" name="Text 3"/>
          <p:cNvSpPr txBox="1"/>
          <p:nvPr/>
        </p:nvSpPr>
        <p:spPr>
          <a:xfrm>
            <a:off x="7315200"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25</a:t>
            </a:r>
            <a:endParaRPr lang="en-US" sz="2800" dirty="0"/>
          </a:p>
        </p:txBody>
      </p:sp>
      <p:sp>
        <p:nvSpPr>
          <p:cNvPr id="8" name="Text 4"/>
          <p:cNvSpPr txBox="1"/>
          <p:nvPr/>
        </p:nvSpPr>
        <p:spPr>
          <a:xfrm>
            <a:off x="7315200"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products read this domain directly: 1 foundational and 24 consumer-aligned</a:t>
            </a:r>
            <a:endParaRPr lang="en-US" sz="1200" dirty="0"/>
          </a:p>
        </p:txBody>
      </p:sp>
      <p:sp>
        <p:nvSpPr>
          <p:cNvPr id="9" name="Shape 5"/>
          <p:cNvSpPr/>
          <p:nvPr/>
        </p:nvSpPr>
        <p:spPr>
          <a:xfrm>
            <a:off x="9523476" y="1783080"/>
            <a:ext cx="2116836" cy="1691640"/>
          </a:xfrm>
          <a:prstGeom prst="roundRect">
            <a:avLst>
              <a:gd name="adj" fmla="val 4324"/>
            </a:avLst>
          </a:prstGeom>
          <a:solidFill>
            <a:schemeClr val="bg2"/>
          </a:solidFill>
          <a:ln/>
        </p:spPr>
      </p:sp>
      <p:sp>
        <p:nvSpPr>
          <p:cNvPr id="10" name="Text 6"/>
          <p:cNvSpPr txBox="1"/>
          <p:nvPr/>
        </p:nvSpPr>
        <p:spPr>
          <a:xfrm>
            <a:off x="9706356" y="192024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52 of 52</a:t>
            </a:r>
            <a:endParaRPr lang="en-US" sz="2800" dirty="0"/>
          </a:p>
        </p:txBody>
      </p:sp>
      <p:sp>
        <p:nvSpPr>
          <p:cNvPr id="11" name="Text 7"/>
          <p:cNvSpPr txBox="1"/>
          <p:nvPr/>
        </p:nvSpPr>
        <p:spPr>
          <a:xfrm>
            <a:off x="9706356" y="251460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objects are used by at least one product</a:t>
            </a:r>
            <a:endParaRPr lang="en-US" sz="1200" dirty="0"/>
          </a:p>
        </p:txBody>
      </p:sp>
      <p:sp>
        <p:nvSpPr>
          <p:cNvPr id="12" name="Shape 8"/>
          <p:cNvSpPr/>
          <p:nvPr/>
        </p:nvSpPr>
        <p:spPr>
          <a:xfrm>
            <a:off x="7132320" y="3657600"/>
            <a:ext cx="2116836" cy="1691640"/>
          </a:xfrm>
          <a:prstGeom prst="roundRect">
            <a:avLst>
              <a:gd name="adj" fmla="val 4324"/>
            </a:avLst>
          </a:prstGeom>
          <a:solidFill>
            <a:schemeClr val="bg2"/>
          </a:solidFill>
          <a:ln/>
        </p:spPr>
      </p:sp>
      <p:sp>
        <p:nvSpPr>
          <p:cNvPr id="13" name="Text 9"/>
          <p:cNvSpPr txBox="1"/>
          <p:nvPr/>
        </p:nvSpPr>
        <p:spPr>
          <a:xfrm>
            <a:off x="7315200"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98%</a:t>
            </a:r>
            <a:endParaRPr lang="en-US" sz="2800" dirty="0"/>
          </a:p>
        </p:txBody>
      </p:sp>
      <p:sp>
        <p:nvSpPr>
          <p:cNvPr id="14" name="Text 10"/>
          <p:cNvSpPr txBox="1"/>
          <p:nvPr/>
        </p:nvSpPr>
        <p:spPr>
          <a:xfrm>
            <a:off x="7315200"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of attributes (259 of 264) appear in a product specification</a:t>
            </a:r>
            <a:endParaRPr lang="en-US" sz="1200" dirty="0"/>
          </a:p>
        </p:txBody>
      </p:sp>
      <p:sp>
        <p:nvSpPr>
          <p:cNvPr id="15" name="Shape 11"/>
          <p:cNvSpPr/>
          <p:nvPr/>
        </p:nvSpPr>
        <p:spPr>
          <a:xfrm>
            <a:off x="9523476" y="3657600"/>
            <a:ext cx="2116836" cy="1691640"/>
          </a:xfrm>
          <a:prstGeom prst="roundRect">
            <a:avLst>
              <a:gd name="adj" fmla="val 4324"/>
            </a:avLst>
          </a:prstGeom>
          <a:solidFill>
            <a:schemeClr val="bg2"/>
          </a:solidFill>
          <a:ln/>
        </p:spPr>
      </p:sp>
      <p:sp>
        <p:nvSpPr>
          <p:cNvPr id="16" name="Text 12"/>
          <p:cNvSpPr txBox="1"/>
          <p:nvPr/>
        </p:nvSpPr>
        <p:spPr>
          <a:xfrm>
            <a:off x="9706356" y="3794760"/>
            <a:ext cx="1755648" cy="548640"/>
          </a:xfrm>
          <a:prstGeom prst="rect">
            <a:avLst/>
          </a:prstGeom>
          <a:noFill/>
          <a:ln/>
        </p:spPr>
        <p:txBody>
          <a:bodyPr wrap="square" lIns="0" tIns="0" rIns="0" bIns="0" rtlCol="0" anchor="ctr"/>
          <a:lstStyle/>
          <a:p>
            <a:pPr algn="l" indent="0" marL="0">
              <a:buNone/>
            </a:pPr>
            <a:r>
              <a:rPr lang="en-US" sz="2800" b="1" dirty="0">
                <a:solidFill>
                  <a:schemeClr val="accent1"/>
                </a:solidFill>
              </a:rPr>
              <a:t>19</a:t>
            </a:r>
            <a:endParaRPr lang="en-US" sz="2800" dirty="0"/>
          </a:p>
        </p:txBody>
      </p:sp>
      <p:sp>
        <p:nvSpPr>
          <p:cNvPr id="17" name="Text 13"/>
          <p:cNvSpPr txBox="1"/>
          <p:nvPr/>
        </p:nvSpPr>
        <p:spPr>
          <a:xfrm>
            <a:off x="9706356" y="4389120"/>
            <a:ext cx="1755648" cy="868680"/>
          </a:xfrm>
          <a:prstGeom prst="rect">
            <a:avLst/>
          </a:prstGeom>
          <a:noFill/>
          <a:ln/>
        </p:spPr>
        <p:txBody>
          <a:bodyPr wrap="square" lIns="0" tIns="0" rIns="0" bIns="0" rtlCol="0" anchor="t"/>
          <a:lstStyle/>
          <a:p>
            <a:pPr algn="l" indent="0" marL="0">
              <a:buNone/>
            </a:pPr>
            <a:r>
              <a:rPr lang="en-US" sz="1200" dirty="0">
                <a:solidFill>
                  <a:schemeClr val="tx1"/>
                </a:solidFill>
              </a:rPr>
              <a:t>are regulatory and control products, the largest group of the 25</a:t>
            </a:r>
            <a:endParaRPr lang="en-US" sz="1200" dirty="0"/>
          </a:p>
        </p:txBody>
      </p:sp>
      <p:sp>
        <p:nvSpPr>
          <p:cNvPr id="18" name="Text 14"/>
          <p:cNvSpPr txBox="1"/>
          <p:nvPr/>
        </p:nvSpPr>
        <p:spPr>
          <a:xfrm>
            <a:off x="7132320" y="5623560"/>
            <a:ext cx="4507992" cy="457200"/>
          </a:xfrm>
          <a:prstGeom prst="rect">
            <a:avLst/>
          </a:prstGeom>
          <a:noFill/>
          <a:ln/>
        </p:spPr>
        <p:txBody>
          <a:bodyPr wrap="square" lIns="0" tIns="0" rIns="0" bIns="0" rtlCol="0" anchor="t"/>
          <a:lstStyle/>
          <a:p>
            <a:pPr algn="l" indent="0" marL="0">
              <a:buNone/>
            </a:pPr>
            <a:r>
              <a:rPr lang="en-US" sz="1200" dirty="0">
                <a:solidFill>
                  <a:schemeClr val="tx2"/>
                </a:solidFill>
              </a:rPr>
              <a:t>By type: 19 regulatory and control, 4 analytical, 1 master and reference, 1 operational.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Thirteen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DP-036</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Marketing Communications Review &amp; Filing</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Register of every communication reviewed, from submission to approval, filing and expiry.</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1152939"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58 of 69</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DP-037</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Know-Your-Distributor Oversight</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Due diligence cases and risk ratings for every distributor, with the assets held through each.</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685800"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25 of 50</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DP-038</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Gifts, Entertainment &amp; Non-Cash Compensation</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Gifts, entertainment and training meetings, valued per recipient and tested against limits.</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883920"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29 of 45</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DP-039</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Sales Personnel Registration &amp; Licensing</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Registrations, exams, continuing education and certificates of the firm's own sales staff.</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635000"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25 of 54</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DP-040</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Product Governance &amp; Target Market Feedback</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Distributor feedback on sales against target market, with complaints and outcome metrics.</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707231"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33 of 64</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DP-041</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Cross-Border Distribution Eligibility</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EU / UK Cross-Border Distribution</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Daily matrix of where each share class may be marketed, and to which investor types.</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427512"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24 of 77</a:t>
            </a:r>
            <a:endParaRPr lang="en-US" sz="1200" dirty="0"/>
          </a:p>
        </p:txBody>
      </p:sp>
      <p:sp>
        <p:nvSpPr>
          <p:cNvPr id="54" name="Shape 51"/>
          <p:cNvSpPr/>
          <p:nvPr/>
        </p:nvSpPr>
        <p:spPr>
          <a:xfrm>
            <a:off x="548640" y="5678424"/>
            <a:ext cx="11091672" cy="530352"/>
          </a:xfrm>
          <a:prstGeom prst="roundRect">
            <a:avLst>
              <a:gd name="adj" fmla="val 13793"/>
            </a:avLst>
          </a:prstGeom>
          <a:solidFill>
            <a:schemeClr val="bg2"/>
          </a:solidFill>
          <a:ln/>
        </p:spPr>
      </p:sp>
      <p:sp>
        <p:nvSpPr>
          <p:cNvPr id="55" name="Text 52"/>
          <p:cNvSpPr/>
          <p:nvPr/>
        </p:nvSpPr>
        <p:spPr>
          <a:xfrm>
            <a:off x="731520" y="577443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DP-060</a:t>
            </a:r>
            <a:endParaRPr lang="en-US" sz="1200" dirty="0"/>
          </a:p>
        </p:txBody>
      </p:sp>
      <p:sp>
        <p:nvSpPr>
          <p:cNvPr id="56" name="Text 53"/>
          <p:cNvSpPr txBox="1"/>
          <p:nvPr/>
        </p:nvSpPr>
        <p:spPr>
          <a:xfrm>
            <a:off x="1828800" y="5724144"/>
            <a:ext cx="3931920" cy="256032"/>
          </a:xfrm>
          <a:prstGeom prst="rect">
            <a:avLst/>
          </a:prstGeom>
          <a:noFill/>
          <a:ln/>
        </p:spPr>
        <p:txBody>
          <a:bodyPr wrap="square" lIns="0" tIns="0" rIns="0" bIns="0" rtlCol="0" anchor="ctr"/>
          <a:lstStyle/>
          <a:p>
            <a:pPr algn="l" indent="0" marL="0">
              <a:buNone/>
            </a:pPr>
            <a:r>
              <a:rPr lang="en-US" sz="1100" b="1" dirty="0">
                <a:solidFill>
                  <a:schemeClr val="tx1"/>
                </a:solidFill>
              </a:rPr>
              <a:t>Share Class Eligibility &amp; Breakpoint Monitoring</a:t>
            </a:r>
            <a:endParaRPr lang="en-US" sz="1100" dirty="0"/>
          </a:p>
        </p:txBody>
      </p:sp>
      <p:sp>
        <p:nvSpPr>
          <p:cNvPr id="57" name="Text 54"/>
          <p:cNvSpPr txBox="1"/>
          <p:nvPr/>
        </p:nvSpPr>
        <p:spPr>
          <a:xfrm>
            <a:off x="1828800" y="598017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58" name="Text 55"/>
          <p:cNvSpPr txBox="1"/>
          <p:nvPr/>
        </p:nvSpPr>
        <p:spPr>
          <a:xfrm>
            <a:off x="5897880" y="567842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Alerts on missed breakpoints and share class selection in load fund purchases and holdings.</a:t>
            </a:r>
            <a:endParaRPr lang="en-US" sz="1100" dirty="0"/>
          </a:p>
        </p:txBody>
      </p:sp>
      <p:sp>
        <p:nvSpPr>
          <p:cNvPr id="59" name="Shape 56"/>
          <p:cNvSpPr/>
          <p:nvPr/>
        </p:nvSpPr>
        <p:spPr>
          <a:xfrm>
            <a:off x="9326880" y="5879592"/>
            <a:ext cx="1371600" cy="128016"/>
          </a:xfrm>
          <a:prstGeom prst="rect">
            <a:avLst/>
          </a:prstGeom>
          <a:solidFill>
            <a:schemeClr val="bg1"/>
          </a:solidFill>
          <a:ln/>
        </p:spPr>
      </p:sp>
      <p:sp>
        <p:nvSpPr>
          <p:cNvPr id="60" name="Shape 57"/>
          <p:cNvSpPr/>
          <p:nvPr/>
        </p:nvSpPr>
        <p:spPr>
          <a:xfrm>
            <a:off x="9326880" y="5879592"/>
            <a:ext cx="118241" cy="128016"/>
          </a:xfrm>
          <a:prstGeom prst="rect">
            <a:avLst/>
          </a:prstGeom>
          <a:solidFill>
            <a:schemeClr val="accent1"/>
          </a:solidFill>
          <a:ln/>
        </p:spPr>
      </p:sp>
      <p:sp>
        <p:nvSpPr>
          <p:cNvPr id="61" name="Text 58"/>
          <p:cNvSpPr txBox="1"/>
          <p:nvPr/>
        </p:nvSpPr>
        <p:spPr>
          <a:xfrm>
            <a:off x="10789920" y="567842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 of 58</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THIS DOMAIN, CONTINUED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Thirteen products are owned by this domain</a:t>
            </a:r>
            <a:endParaRPr lang="en-US" sz="3600" dirty="0"/>
          </a:p>
        </p:txBody>
      </p:sp>
      <p:sp>
        <p:nvSpPr>
          <p:cNvPr id="5" name="Text 2"/>
          <p:cNvSpPr txBox="1"/>
          <p:nvPr/>
        </p:nvSpPr>
        <p:spPr>
          <a:xfrm>
            <a:off x="9326880" y="1764792"/>
            <a:ext cx="2313432" cy="228600"/>
          </a:xfrm>
          <a:prstGeom prst="rect">
            <a:avLst/>
          </a:prstGeom>
          <a:noFill/>
          <a:ln/>
        </p:spPr>
        <p:txBody>
          <a:bodyPr wrap="square" lIns="0" tIns="0" rIns="0" bIns="0" rtlCol="0" anchor="ctr"/>
          <a:lstStyle/>
          <a:p>
            <a:pPr algn="l" indent="0" marL="0">
              <a:buNone/>
            </a:pPr>
            <a:r>
              <a:rPr lang="en-US" sz="1000" b="1" spc="100" kern="0" dirty="0">
                <a:solidFill>
                  <a:schemeClr val="tx2"/>
                </a:solidFill>
              </a:rPr>
              <a:t>INPUTS FROM THIS DOMAIN</a:t>
            </a:r>
            <a:endParaRPr lang="en-US" sz="1000" dirty="0"/>
          </a:p>
        </p:txBody>
      </p:sp>
      <p:sp>
        <p:nvSpPr>
          <p:cNvPr id="6" name="Shape 3"/>
          <p:cNvSpPr/>
          <p:nvPr/>
        </p:nvSpPr>
        <p:spPr>
          <a:xfrm>
            <a:off x="548640" y="2057400"/>
            <a:ext cx="11091672" cy="530352"/>
          </a:xfrm>
          <a:prstGeom prst="roundRect">
            <a:avLst>
              <a:gd name="adj" fmla="val 13793"/>
            </a:avLst>
          </a:prstGeom>
          <a:solidFill>
            <a:schemeClr val="bg2"/>
          </a:solidFill>
          <a:ln/>
        </p:spPr>
      </p:sp>
      <p:sp>
        <p:nvSpPr>
          <p:cNvPr id="7" name="Text 4"/>
          <p:cNvSpPr/>
          <p:nvPr/>
        </p:nvSpPr>
        <p:spPr>
          <a:xfrm>
            <a:off x="731520" y="215341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DP-061</a:t>
            </a:r>
            <a:endParaRPr lang="en-US" sz="1200" dirty="0"/>
          </a:p>
        </p:txBody>
      </p:sp>
      <p:sp>
        <p:nvSpPr>
          <p:cNvPr id="8" name="Text 5"/>
          <p:cNvSpPr txBox="1"/>
          <p:nvPr/>
        </p:nvSpPr>
        <p:spPr>
          <a:xfrm>
            <a:off x="1828800" y="210312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Complaints &amp; Conduct Analytics</a:t>
            </a:r>
            <a:endParaRPr lang="en-US" sz="1300" dirty="0"/>
          </a:p>
        </p:txBody>
      </p:sp>
      <p:sp>
        <p:nvSpPr>
          <p:cNvPr id="9" name="Text 6"/>
          <p:cNvSpPr txBox="1"/>
          <p:nvPr/>
        </p:nvSpPr>
        <p:spPr>
          <a:xfrm>
            <a:off x="1828800" y="235915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10" name="Text 7"/>
          <p:cNvSpPr txBox="1"/>
          <p:nvPr/>
        </p:nvSpPr>
        <p:spPr>
          <a:xfrm>
            <a:off x="5897880" y="205740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Complaint volumes, rates, timeliness, redress and root causes, with conduct indicators.</a:t>
            </a:r>
            <a:endParaRPr lang="en-US" sz="1100" dirty="0"/>
          </a:p>
        </p:txBody>
      </p:sp>
      <p:sp>
        <p:nvSpPr>
          <p:cNvPr id="11" name="Shape 8"/>
          <p:cNvSpPr/>
          <p:nvPr/>
        </p:nvSpPr>
        <p:spPr>
          <a:xfrm>
            <a:off x="9326880" y="2258568"/>
            <a:ext cx="1371600" cy="128016"/>
          </a:xfrm>
          <a:prstGeom prst="rect">
            <a:avLst/>
          </a:prstGeom>
          <a:solidFill>
            <a:schemeClr val="bg1"/>
          </a:solidFill>
          <a:ln/>
        </p:spPr>
      </p:sp>
      <p:sp>
        <p:nvSpPr>
          <p:cNvPr id="12" name="Shape 9"/>
          <p:cNvSpPr/>
          <p:nvPr/>
        </p:nvSpPr>
        <p:spPr>
          <a:xfrm>
            <a:off x="9326880" y="2258568"/>
            <a:ext cx="644236" cy="128016"/>
          </a:xfrm>
          <a:prstGeom prst="rect">
            <a:avLst/>
          </a:prstGeom>
          <a:solidFill>
            <a:schemeClr val="accent1"/>
          </a:solidFill>
          <a:ln/>
        </p:spPr>
      </p:sp>
      <p:sp>
        <p:nvSpPr>
          <p:cNvPr id="13" name="Text 10"/>
          <p:cNvSpPr txBox="1"/>
          <p:nvPr/>
        </p:nvSpPr>
        <p:spPr>
          <a:xfrm>
            <a:off x="10789920" y="205740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31 of 66</a:t>
            </a:r>
            <a:endParaRPr lang="en-US" sz="1200" dirty="0"/>
          </a:p>
        </p:txBody>
      </p:sp>
      <p:sp>
        <p:nvSpPr>
          <p:cNvPr id="14" name="Shape 11"/>
          <p:cNvSpPr/>
          <p:nvPr/>
        </p:nvSpPr>
        <p:spPr>
          <a:xfrm>
            <a:off x="548640" y="2660904"/>
            <a:ext cx="11091672" cy="530352"/>
          </a:xfrm>
          <a:prstGeom prst="roundRect">
            <a:avLst>
              <a:gd name="adj" fmla="val 13793"/>
            </a:avLst>
          </a:prstGeom>
          <a:solidFill>
            <a:schemeClr val="bg2"/>
          </a:solidFill>
          <a:ln/>
        </p:spPr>
      </p:sp>
      <p:sp>
        <p:nvSpPr>
          <p:cNvPr id="15" name="Text 12"/>
          <p:cNvSpPr/>
          <p:nvPr/>
        </p:nvSpPr>
        <p:spPr>
          <a:xfrm>
            <a:off x="731520" y="2756916"/>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DP-062</a:t>
            </a:r>
            <a:endParaRPr lang="en-US" sz="1200" dirty="0"/>
          </a:p>
        </p:txBody>
      </p:sp>
      <p:sp>
        <p:nvSpPr>
          <p:cNvPr id="16" name="Text 13"/>
          <p:cNvSpPr txBox="1"/>
          <p:nvPr/>
        </p:nvSpPr>
        <p:spPr>
          <a:xfrm>
            <a:off x="1828800" y="2706624"/>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Marketing Rule Performance Substantiation</a:t>
            </a:r>
            <a:endParaRPr lang="en-US" sz="1300" dirty="0"/>
          </a:p>
        </p:txBody>
      </p:sp>
      <p:sp>
        <p:nvSpPr>
          <p:cNvPr id="17" name="Text 14"/>
          <p:cNvSpPr txBox="1"/>
          <p:nvPr/>
        </p:nvSpPr>
        <p:spPr>
          <a:xfrm>
            <a:off x="1828800" y="2962656"/>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18" name="Text 15"/>
          <p:cNvSpPr txBox="1"/>
          <p:nvPr/>
        </p:nvSpPr>
        <p:spPr>
          <a:xfrm>
            <a:off x="5897880" y="2660904"/>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Evidence pack behind each performance presentation: type, gross and net, as-of date, records.</a:t>
            </a:r>
            <a:endParaRPr lang="en-US" sz="1100" dirty="0"/>
          </a:p>
        </p:txBody>
      </p:sp>
      <p:sp>
        <p:nvSpPr>
          <p:cNvPr id="19" name="Shape 16"/>
          <p:cNvSpPr/>
          <p:nvPr/>
        </p:nvSpPr>
        <p:spPr>
          <a:xfrm>
            <a:off x="9326880" y="2862072"/>
            <a:ext cx="1371600" cy="128016"/>
          </a:xfrm>
          <a:prstGeom prst="rect">
            <a:avLst/>
          </a:prstGeom>
          <a:solidFill>
            <a:schemeClr val="bg1"/>
          </a:solidFill>
          <a:ln/>
        </p:spPr>
      </p:sp>
      <p:sp>
        <p:nvSpPr>
          <p:cNvPr id="20" name="Shape 17"/>
          <p:cNvSpPr/>
          <p:nvPr/>
        </p:nvSpPr>
        <p:spPr>
          <a:xfrm>
            <a:off x="9326880" y="2862072"/>
            <a:ext cx="593678" cy="128016"/>
          </a:xfrm>
          <a:prstGeom prst="rect">
            <a:avLst/>
          </a:prstGeom>
          <a:solidFill>
            <a:schemeClr val="accent1"/>
          </a:solidFill>
          <a:ln/>
        </p:spPr>
      </p:sp>
      <p:sp>
        <p:nvSpPr>
          <p:cNvPr id="21" name="Text 18"/>
          <p:cNvSpPr txBox="1"/>
          <p:nvPr/>
        </p:nvSpPr>
        <p:spPr>
          <a:xfrm>
            <a:off x="10789920" y="2660904"/>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29 of 67</a:t>
            </a:r>
            <a:endParaRPr lang="en-US" sz="1200" dirty="0"/>
          </a:p>
        </p:txBody>
      </p:sp>
      <p:sp>
        <p:nvSpPr>
          <p:cNvPr id="22" name="Shape 19"/>
          <p:cNvSpPr/>
          <p:nvPr/>
        </p:nvSpPr>
        <p:spPr>
          <a:xfrm>
            <a:off x="548640" y="3264408"/>
            <a:ext cx="11091672" cy="530352"/>
          </a:xfrm>
          <a:prstGeom prst="roundRect">
            <a:avLst>
              <a:gd name="adj" fmla="val 13793"/>
            </a:avLst>
          </a:prstGeom>
          <a:solidFill>
            <a:schemeClr val="bg2"/>
          </a:solidFill>
          <a:ln/>
        </p:spPr>
      </p:sp>
      <p:sp>
        <p:nvSpPr>
          <p:cNvPr id="23" name="Text 20"/>
          <p:cNvSpPr/>
          <p:nvPr/>
        </p:nvSpPr>
        <p:spPr>
          <a:xfrm>
            <a:off x="731520" y="3360420"/>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DP-065</a:t>
            </a:r>
            <a:endParaRPr lang="en-US" sz="1200" dirty="0"/>
          </a:p>
        </p:txBody>
      </p:sp>
      <p:sp>
        <p:nvSpPr>
          <p:cNvPr id="24" name="Text 21"/>
          <p:cNvSpPr txBox="1"/>
          <p:nvPr/>
        </p:nvSpPr>
        <p:spPr>
          <a:xfrm>
            <a:off x="1828800" y="3310128"/>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Inducement &amp; Retrocession Monitoring (EU/UK)</a:t>
            </a:r>
            <a:endParaRPr lang="en-US" sz="1300" dirty="0"/>
          </a:p>
        </p:txBody>
      </p:sp>
      <p:sp>
        <p:nvSpPr>
          <p:cNvPr id="25" name="Text 22"/>
          <p:cNvSpPr txBox="1"/>
          <p:nvPr/>
        </p:nvSpPr>
        <p:spPr>
          <a:xfrm>
            <a:off x="1828800" y="3566160"/>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EU / UK Cross-Border Distribution</a:t>
            </a:r>
            <a:endParaRPr lang="en-US" sz="1000" dirty="0"/>
          </a:p>
        </p:txBody>
      </p:sp>
      <p:sp>
        <p:nvSpPr>
          <p:cNvPr id="26" name="Text 23"/>
          <p:cNvSpPr txBox="1"/>
          <p:nvPr/>
        </p:nvSpPr>
        <p:spPr>
          <a:xfrm>
            <a:off x="5897880" y="3264408"/>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Retrocessions and trail paid to EU and UK distributors, by the basis that permits each.</a:t>
            </a:r>
            <a:endParaRPr lang="en-US" sz="1100" dirty="0"/>
          </a:p>
        </p:txBody>
      </p:sp>
      <p:sp>
        <p:nvSpPr>
          <p:cNvPr id="27" name="Shape 24"/>
          <p:cNvSpPr/>
          <p:nvPr/>
        </p:nvSpPr>
        <p:spPr>
          <a:xfrm>
            <a:off x="9326880" y="3465576"/>
            <a:ext cx="1371600" cy="128016"/>
          </a:xfrm>
          <a:prstGeom prst="rect">
            <a:avLst/>
          </a:prstGeom>
          <a:solidFill>
            <a:schemeClr val="bg1"/>
          </a:solidFill>
          <a:ln/>
        </p:spPr>
      </p:sp>
      <p:sp>
        <p:nvSpPr>
          <p:cNvPr id="28" name="Shape 25"/>
          <p:cNvSpPr/>
          <p:nvPr/>
        </p:nvSpPr>
        <p:spPr>
          <a:xfrm>
            <a:off x="9326880" y="3465576"/>
            <a:ext cx="48126" cy="128016"/>
          </a:xfrm>
          <a:prstGeom prst="rect">
            <a:avLst/>
          </a:prstGeom>
          <a:solidFill>
            <a:schemeClr val="accent1"/>
          </a:solidFill>
          <a:ln/>
        </p:spPr>
      </p:sp>
      <p:sp>
        <p:nvSpPr>
          <p:cNvPr id="29" name="Text 26"/>
          <p:cNvSpPr txBox="1"/>
          <p:nvPr/>
        </p:nvSpPr>
        <p:spPr>
          <a:xfrm>
            <a:off x="10789920" y="3264408"/>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2 of 57</a:t>
            </a:r>
            <a:endParaRPr lang="en-US" sz="1200" dirty="0"/>
          </a:p>
        </p:txBody>
      </p:sp>
      <p:sp>
        <p:nvSpPr>
          <p:cNvPr id="30" name="Shape 27"/>
          <p:cNvSpPr/>
          <p:nvPr/>
        </p:nvSpPr>
        <p:spPr>
          <a:xfrm>
            <a:off x="548640" y="3867912"/>
            <a:ext cx="11091672" cy="530352"/>
          </a:xfrm>
          <a:prstGeom prst="roundRect">
            <a:avLst>
              <a:gd name="adj" fmla="val 13793"/>
            </a:avLst>
          </a:prstGeom>
          <a:solidFill>
            <a:schemeClr val="bg2"/>
          </a:solidFill>
          <a:ln/>
        </p:spPr>
      </p:sp>
      <p:sp>
        <p:nvSpPr>
          <p:cNvPr id="31" name="Text 28"/>
          <p:cNvSpPr/>
          <p:nvPr/>
        </p:nvSpPr>
        <p:spPr>
          <a:xfrm>
            <a:off x="731520" y="3963924"/>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DP-078</a:t>
            </a:r>
            <a:endParaRPr lang="en-US" sz="1200" dirty="0"/>
          </a:p>
        </p:txBody>
      </p:sp>
      <p:sp>
        <p:nvSpPr>
          <p:cNvPr id="32" name="Text 29"/>
          <p:cNvSpPr txBox="1"/>
          <p:nvPr/>
        </p:nvSpPr>
        <p:spPr>
          <a:xfrm>
            <a:off x="1828800" y="3913632"/>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Communications Surveillance &amp; Recordkeeping</a:t>
            </a:r>
            <a:endParaRPr lang="en-US" sz="1300" dirty="0"/>
          </a:p>
        </p:txBody>
      </p:sp>
      <p:sp>
        <p:nvSpPr>
          <p:cNvPr id="33" name="Text 30"/>
          <p:cNvSpPr txBox="1"/>
          <p:nvPr/>
        </p:nvSpPr>
        <p:spPr>
          <a:xfrm>
            <a:off x="1828800" y="4169664"/>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34" name="Text 31"/>
          <p:cNvSpPr txBox="1"/>
          <p:nvPr/>
        </p:nvSpPr>
        <p:spPr>
          <a:xfrm>
            <a:off x="5897880" y="3867912"/>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Evidence that business communications are captured, retained and supervised.</a:t>
            </a:r>
            <a:endParaRPr lang="en-US" sz="1100" dirty="0"/>
          </a:p>
        </p:txBody>
      </p:sp>
      <p:sp>
        <p:nvSpPr>
          <p:cNvPr id="35" name="Shape 32"/>
          <p:cNvSpPr/>
          <p:nvPr/>
        </p:nvSpPr>
        <p:spPr>
          <a:xfrm>
            <a:off x="9326880" y="4069080"/>
            <a:ext cx="1371600" cy="128016"/>
          </a:xfrm>
          <a:prstGeom prst="rect">
            <a:avLst/>
          </a:prstGeom>
          <a:solidFill>
            <a:schemeClr val="bg1"/>
          </a:solidFill>
          <a:ln/>
        </p:spPr>
      </p:sp>
      <p:sp>
        <p:nvSpPr>
          <p:cNvPr id="36" name="Shape 33"/>
          <p:cNvSpPr/>
          <p:nvPr/>
        </p:nvSpPr>
        <p:spPr>
          <a:xfrm>
            <a:off x="9326880" y="4069080"/>
            <a:ext cx="634621" cy="128016"/>
          </a:xfrm>
          <a:prstGeom prst="rect">
            <a:avLst/>
          </a:prstGeom>
          <a:solidFill>
            <a:schemeClr val="accent1"/>
          </a:solidFill>
          <a:ln/>
        </p:spPr>
      </p:sp>
      <p:sp>
        <p:nvSpPr>
          <p:cNvPr id="37" name="Text 34"/>
          <p:cNvSpPr txBox="1"/>
          <p:nvPr/>
        </p:nvSpPr>
        <p:spPr>
          <a:xfrm>
            <a:off x="10789920" y="3867912"/>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31 of 67</a:t>
            </a:r>
            <a:endParaRPr lang="en-US" sz="1200" dirty="0"/>
          </a:p>
        </p:txBody>
      </p:sp>
      <p:sp>
        <p:nvSpPr>
          <p:cNvPr id="38" name="Shape 35"/>
          <p:cNvSpPr/>
          <p:nvPr/>
        </p:nvSpPr>
        <p:spPr>
          <a:xfrm>
            <a:off x="548640" y="4471416"/>
            <a:ext cx="11091672" cy="530352"/>
          </a:xfrm>
          <a:prstGeom prst="roundRect">
            <a:avLst>
              <a:gd name="adj" fmla="val 13793"/>
            </a:avLst>
          </a:prstGeom>
          <a:solidFill>
            <a:schemeClr val="bg2"/>
          </a:solidFill>
          <a:ln/>
        </p:spPr>
      </p:sp>
      <p:sp>
        <p:nvSpPr>
          <p:cNvPr id="39" name="Text 36"/>
          <p:cNvSpPr/>
          <p:nvPr/>
        </p:nvSpPr>
        <p:spPr>
          <a:xfrm>
            <a:off x="731520" y="4567428"/>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DP-083</a:t>
            </a:r>
            <a:endParaRPr lang="en-US" sz="1200" dirty="0"/>
          </a:p>
        </p:txBody>
      </p:sp>
      <p:sp>
        <p:nvSpPr>
          <p:cNvPr id="40" name="Text 37"/>
          <p:cNvSpPr txBox="1"/>
          <p:nvPr/>
        </p:nvSpPr>
        <p:spPr>
          <a:xfrm>
            <a:off x="1828800" y="4517136"/>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Regulatory Obligations, Attestations &amp; Horizon</a:t>
            </a:r>
            <a:endParaRPr lang="en-US" sz="1300" dirty="0"/>
          </a:p>
        </p:txBody>
      </p:sp>
      <p:sp>
        <p:nvSpPr>
          <p:cNvPr id="41" name="Text 38"/>
          <p:cNvSpPr txBox="1"/>
          <p:nvPr/>
        </p:nvSpPr>
        <p:spPr>
          <a:xfrm>
            <a:off x="1828800" y="4773168"/>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42" name="Text 39"/>
          <p:cNvSpPr txBox="1"/>
          <p:nvPr/>
        </p:nvSpPr>
        <p:spPr>
          <a:xfrm>
            <a:off x="5897880" y="4471416"/>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Obligations by legal entity with their owners, attestations and upcoming rule changes.</a:t>
            </a:r>
            <a:endParaRPr lang="en-US" sz="1100" dirty="0"/>
          </a:p>
        </p:txBody>
      </p:sp>
      <p:sp>
        <p:nvSpPr>
          <p:cNvPr id="43" name="Shape 40"/>
          <p:cNvSpPr/>
          <p:nvPr/>
        </p:nvSpPr>
        <p:spPr>
          <a:xfrm>
            <a:off x="9326880" y="4672584"/>
            <a:ext cx="1371600" cy="128016"/>
          </a:xfrm>
          <a:prstGeom prst="rect">
            <a:avLst/>
          </a:prstGeom>
          <a:solidFill>
            <a:schemeClr val="bg1"/>
          </a:solidFill>
          <a:ln/>
        </p:spPr>
      </p:sp>
      <p:sp>
        <p:nvSpPr>
          <p:cNvPr id="44" name="Shape 41"/>
          <p:cNvSpPr/>
          <p:nvPr/>
        </p:nvSpPr>
        <p:spPr>
          <a:xfrm>
            <a:off x="9326880" y="4672584"/>
            <a:ext cx="260131" cy="128016"/>
          </a:xfrm>
          <a:prstGeom prst="rect">
            <a:avLst/>
          </a:prstGeom>
          <a:solidFill>
            <a:schemeClr val="accent1"/>
          </a:solidFill>
          <a:ln/>
        </p:spPr>
      </p:sp>
      <p:sp>
        <p:nvSpPr>
          <p:cNvPr id="45" name="Text 42"/>
          <p:cNvSpPr txBox="1"/>
          <p:nvPr/>
        </p:nvSpPr>
        <p:spPr>
          <a:xfrm>
            <a:off x="10789920" y="4471416"/>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11 of 58</a:t>
            </a:r>
            <a:endParaRPr lang="en-US" sz="1200" dirty="0"/>
          </a:p>
        </p:txBody>
      </p:sp>
      <p:sp>
        <p:nvSpPr>
          <p:cNvPr id="46" name="Shape 43"/>
          <p:cNvSpPr/>
          <p:nvPr/>
        </p:nvSpPr>
        <p:spPr>
          <a:xfrm>
            <a:off x="548640" y="5074920"/>
            <a:ext cx="11091672" cy="530352"/>
          </a:xfrm>
          <a:prstGeom prst="roundRect">
            <a:avLst>
              <a:gd name="adj" fmla="val 13793"/>
            </a:avLst>
          </a:prstGeom>
          <a:solidFill>
            <a:schemeClr val="bg2"/>
          </a:solidFill>
          <a:ln/>
        </p:spPr>
      </p:sp>
      <p:sp>
        <p:nvSpPr>
          <p:cNvPr id="47" name="Text 44"/>
          <p:cNvSpPr/>
          <p:nvPr/>
        </p:nvSpPr>
        <p:spPr>
          <a:xfrm>
            <a:off x="731520" y="5170932"/>
            <a:ext cx="914400" cy="338328"/>
          </a:xfrm>
          <a:prstGeom prst="roundRect">
            <a:avLst>
              <a:gd name="adj" fmla="val 16216"/>
            </a:avLst>
          </a:prstGeom>
          <a:solidFill>
            <a:schemeClr val="accent1"/>
          </a:solidFill>
          <a:ln/>
        </p:spPr>
        <p:txBody>
          <a:bodyPr wrap="square" lIns="0" tIns="0" rIns="0" bIns="0" rtlCol="0" anchor="ctr"/>
          <a:lstStyle/>
          <a:p>
            <a:pPr algn="ctr" indent="0" marL="0">
              <a:buNone/>
            </a:pPr>
            <a:r>
              <a:rPr lang="en-US" sz="1200" b="1" dirty="0">
                <a:solidFill>
                  <a:schemeClr val="bg1"/>
                </a:solidFill>
              </a:rPr>
              <a:t>DP-084</a:t>
            </a:r>
            <a:endParaRPr lang="en-US" sz="1200" dirty="0"/>
          </a:p>
        </p:txBody>
      </p:sp>
      <p:sp>
        <p:nvSpPr>
          <p:cNvPr id="48" name="Text 45"/>
          <p:cNvSpPr txBox="1"/>
          <p:nvPr/>
        </p:nvSpPr>
        <p:spPr>
          <a:xfrm>
            <a:off x="1828800" y="5120640"/>
            <a:ext cx="3931920" cy="256032"/>
          </a:xfrm>
          <a:prstGeom prst="rect">
            <a:avLst/>
          </a:prstGeom>
          <a:noFill/>
          <a:ln/>
        </p:spPr>
        <p:txBody>
          <a:bodyPr wrap="square" lIns="0" tIns="0" rIns="0" bIns="0" rtlCol="0" anchor="ctr"/>
          <a:lstStyle/>
          <a:p>
            <a:pPr algn="l" indent="0" marL="0">
              <a:buNone/>
            </a:pPr>
            <a:r>
              <a:rPr lang="en-US" sz="1300" b="1" dirty="0">
                <a:solidFill>
                  <a:schemeClr val="tx1"/>
                </a:solidFill>
              </a:rPr>
              <a:t>Frequent Trading &amp; Market Timing Surveillance</a:t>
            </a:r>
            <a:endParaRPr lang="en-US" sz="1300" dirty="0"/>
          </a:p>
        </p:txBody>
      </p:sp>
      <p:sp>
        <p:nvSpPr>
          <p:cNvPr id="49" name="Text 46"/>
          <p:cNvSpPr txBox="1"/>
          <p:nvPr/>
        </p:nvSpPr>
        <p:spPr>
          <a:xfrm>
            <a:off x="1828800" y="5376672"/>
            <a:ext cx="3931920" cy="182880"/>
          </a:xfrm>
          <a:prstGeom prst="rect">
            <a:avLst/>
          </a:prstGeom>
          <a:noFill/>
          <a:ln/>
        </p:spPr>
        <p:txBody>
          <a:bodyPr wrap="square" lIns="0" tIns="0" rIns="0" bIns="0" rtlCol="0" anchor="ctr"/>
          <a:lstStyle/>
          <a:p>
            <a:pPr algn="l" indent="0" marL="0">
              <a:buNone/>
            </a:pPr>
            <a:r>
              <a:rPr lang="en-US" sz="1000" dirty="0">
                <a:solidFill>
                  <a:schemeClr val="tx2"/>
                </a:solidFill>
              </a:rPr>
              <a:t>Regulatory and control  |  Distribution Compliance</a:t>
            </a:r>
            <a:endParaRPr lang="en-US" sz="1000" dirty="0"/>
          </a:p>
        </p:txBody>
      </p:sp>
      <p:sp>
        <p:nvSpPr>
          <p:cNvPr id="50" name="Text 47"/>
          <p:cNvSpPr txBox="1"/>
          <p:nvPr/>
        </p:nvSpPr>
        <p:spPr>
          <a:xfrm>
            <a:off x="5897880" y="5074920"/>
            <a:ext cx="3291840" cy="530352"/>
          </a:xfrm>
          <a:prstGeom prst="rect">
            <a:avLst/>
          </a:prstGeom>
          <a:noFill/>
          <a:ln/>
        </p:spPr>
        <p:txBody>
          <a:bodyPr wrap="square" lIns="0" tIns="0" rIns="0" bIns="0" rtlCol="0" anchor="ctr"/>
          <a:lstStyle/>
          <a:p>
            <a:pPr algn="l" indent="0" marL="0">
              <a:buNone/>
            </a:pPr>
            <a:r>
              <a:rPr lang="en-US" sz="1100" dirty="0">
                <a:solidFill>
                  <a:schemeClr val="tx1"/>
                </a:solidFill>
              </a:rPr>
              <a:t>Round-trip and excessive trading tested against each fund's frequent trading policy.</a:t>
            </a:r>
            <a:endParaRPr lang="en-US" sz="1100" dirty="0"/>
          </a:p>
        </p:txBody>
      </p:sp>
      <p:sp>
        <p:nvSpPr>
          <p:cNvPr id="51" name="Shape 48"/>
          <p:cNvSpPr/>
          <p:nvPr/>
        </p:nvSpPr>
        <p:spPr>
          <a:xfrm>
            <a:off x="9326880" y="5276088"/>
            <a:ext cx="1371600" cy="128016"/>
          </a:xfrm>
          <a:prstGeom prst="rect">
            <a:avLst/>
          </a:prstGeom>
          <a:solidFill>
            <a:schemeClr val="bg1"/>
          </a:solidFill>
          <a:ln/>
        </p:spPr>
      </p:sp>
      <p:sp>
        <p:nvSpPr>
          <p:cNvPr id="52" name="Shape 49"/>
          <p:cNvSpPr/>
          <p:nvPr/>
        </p:nvSpPr>
        <p:spPr>
          <a:xfrm>
            <a:off x="9326880" y="5276088"/>
            <a:ext cx="96592" cy="128016"/>
          </a:xfrm>
          <a:prstGeom prst="rect">
            <a:avLst/>
          </a:prstGeom>
          <a:solidFill>
            <a:schemeClr val="accent1"/>
          </a:solidFill>
          <a:ln/>
        </p:spPr>
      </p:sp>
      <p:sp>
        <p:nvSpPr>
          <p:cNvPr id="53" name="Text 50"/>
          <p:cNvSpPr txBox="1"/>
          <p:nvPr/>
        </p:nvSpPr>
        <p:spPr>
          <a:xfrm>
            <a:off x="10789920" y="5074920"/>
            <a:ext cx="822960" cy="530352"/>
          </a:xfrm>
          <a:prstGeom prst="rect">
            <a:avLst/>
          </a:prstGeom>
          <a:noFill/>
          <a:ln/>
        </p:spPr>
        <p:txBody>
          <a:bodyPr wrap="square" lIns="0" tIns="0" rIns="0" bIns="0" rtlCol="0" anchor="ctr"/>
          <a:lstStyle/>
          <a:p>
            <a:pPr algn="l" indent="0" marL="0">
              <a:buNone/>
            </a:pPr>
            <a:r>
              <a:rPr lang="en-US" sz="1200" b="1" dirty="0">
                <a:solidFill>
                  <a:schemeClr val="tx1"/>
                </a:solidFill>
              </a:rPr>
              <a:t>5 of 71</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OWNED BY OTHER DOMAINS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12 more rely on it for compliance status</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200400"/>
                <a:gridCol w="3200400"/>
                <a:gridCol w="4690872"/>
              </a:tblGrid>
              <a:tr h="365760">
                <a:tc>
                  <a:txBody>
                    <a:bodyPr/>
                    <a:lstStyle/>
                    <a:p>
                      <a:pPr indent="0" marL="0">
                        <a:buNone/>
                      </a:pPr>
                      <a:r>
                        <a:rPr lang="en-US" sz="1200" b="1" dirty="0">
                          <a:solidFill>
                            <a:schemeClr val="bg1"/>
                          </a:solidFill>
                        </a:rPr>
                        <a:t>Who it serves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Products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What this domain supplies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solidFill>
                      <a:schemeClr val="tx1"/>
                    </a:solidFill>
                  </a:tcPr>
                </a:tc>
              </a:tr>
              <a:tr h="512064">
                <a:tc>
                  <a:txBody>
                    <a:bodyPr/>
                    <a:lstStyle/>
                    <a:p>
                      <a:pPr indent="0" marL="0">
                        <a:buNone/>
                      </a:pPr>
                      <a:r>
                        <a:rPr lang="en-US" sz="1200" b="1" dirty="0">
                          <a:solidFill>
                            <a:schemeClr val="tx1"/>
                          </a:solidFill>
                        </a:rPr>
                        <a:t>Marketing content, events and social</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DP-026, DP-051, DP-090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Approval status, decision, expiry and withdrawal dates; gift and training meeting records; complaints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Product launch and digital gating</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DP-058, DP-087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Cross-border marketing notifications by host country, and approvals of launch materials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Sales organization and wholesaler expense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DP-009, DP-057</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Individual registrations of sales staff; gift and entertainment items with their total cost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Partner agreements and disclosure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DP-063, DP-081</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Distribution conflicts, intermediary information packages, and due diligence cases by agreement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Client restrictions and privacy</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DP-077, DP-080</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Due diligence status and outcome for each distributor; retention rules by record class</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r h="512064">
                <a:tc>
                  <a:txBody>
                    <a:bodyPr/>
                    <a:lstStyle/>
                    <a:p>
                      <a:pPr indent="0" marL="0">
                        <a:buNone/>
                      </a:pPr>
                      <a:r>
                        <a:rPr lang="en-US" sz="1200" b="1" dirty="0">
                          <a:solidFill>
                            <a:schemeClr val="tx1"/>
                          </a:solidFill>
                        </a:rPr>
                        <a:t>Shareholder servicing oversight</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DP-043</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c>
                  <a:txBody>
                    <a:bodyPr/>
                    <a:lstStyle/>
                    <a:p>
                      <a:pPr indent="0" marL="0">
                        <a:buNone/>
                      </a:pPr>
                      <a:r>
                        <a:rPr lang="en-US" sz="1200" dirty="0">
                          <a:solidFill>
                            <a:schemeClr val="tx1"/>
                          </a:solidFill>
                        </a:rPr>
                        <a:t>Complaints by product and distributor, with their category and root cause</a:t>
                      </a:r>
                      <a:endParaRPr lang="en-US" sz="1200" dirty="0"/>
                    </a:p>
                  </a:txBody>
                  <a:tcPr marL="91440" marR="91440" marT="45720" marB="45720" anchor="ctr">
                    <a:lnL w="0" cap="flat" cmpd="sng" algn="ctr">
                      <a:noFill/>
                    </a:lnL>
                    <a:lnR w="0" cap="flat" cmpd="sng" algn="ctr">
                      <a:noFill/>
                    </a:lnR>
                    <a:lnT w="0" cap="flat" cmpd="sng" algn="ctr">
                      <a:noFill/>
                    </a:lnT>
                    <a:lnB w="9525" cap="flat" cmpd="sng" algn="ctr">
                      <a:solidFill>
                        <a:srgbClr val="D5D9E1"/>
                      </a:solidFill>
                      <a:prstDash val="solid"/>
                      <a:round/>
                      <a:headEnd type="none" w="med" len="med"/>
                      <a:tailEnd type="none" w="med" len="med"/>
                    </a:lnB>
                  </a:tcPr>
                </a:tc>
              </a:tr>
            </a:tbl>
          </a:graphicData>
        </a:graphic>
      </p:graphicFrame>
      <p:sp>
        <p:nvSpPr>
          <p:cNvPr id="6" name="Text 2"/>
          <p:cNvSpPr txBox="1"/>
          <p:nvPr/>
        </p:nvSpPr>
        <p:spPr>
          <a:xfrm>
            <a:off x="548640" y="589788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This domain owns no foundational product, so no product depends on it only indirectly. All 25 readers take its objects directly.</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DATA PRODUCTS  |  ONE ATTRIBUTE, END TO END</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One date, followed to a control</a:t>
            </a:r>
            <a:endParaRPr lang="en-US" sz="3600" dirty="0"/>
          </a:p>
        </p:txBody>
      </p:sp>
      <p:sp>
        <p:nvSpPr>
          <p:cNvPr id="5" name="Shape 2"/>
          <p:cNvSpPr/>
          <p:nvPr/>
        </p:nvSpPr>
        <p:spPr>
          <a:xfrm>
            <a:off x="548640" y="1874520"/>
            <a:ext cx="1938528" cy="2514600"/>
          </a:xfrm>
          <a:prstGeom prst="roundRect">
            <a:avLst>
              <a:gd name="adj" fmla="val 3774"/>
            </a:avLst>
          </a:prstGeom>
          <a:solidFill>
            <a:schemeClr val="accent2"/>
          </a:solidFill>
          <a:ln/>
        </p:spPr>
      </p:sp>
      <p:sp>
        <p:nvSpPr>
          <p:cNvPr id="6" name="Text 3"/>
          <p:cNvSpPr txBox="1"/>
          <p:nvPr/>
        </p:nvSpPr>
        <p:spPr>
          <a:xfrm>
            <a:off x="731520"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bg1"/>
                </a:solidFill>
              </a:rPr>
              <a:t>TAXONOMY</a:t>
            </a:r>
            <a:endParaRPr lang="en-US" sz="1100" dirty="0"/>
          </a:p>
        </p:txBody>
      </p:sp>
      <p:sp>
        <p:nvSpPr>
          <p:cNvPr id="7" name="Text 4"/>
          <p:cNvSpPr txBox="1"/>
          <p:nvPr/>
        </p:nvSpPr>
        <p:spPr>
          <a:xfrm>
            <a:off x="731520" y="2331720"/>
            <a:ext cx="1572768" cy="548640"/>
          </a:xfrm>
          <a:prstGeom prst="rect">
            <a:avLst/>
          </a:prstGeom>
          <a:noFill/>
          <a:ln/>
        </p:spPr>
        <p:txBody>
          <a:bodyPr wrap="square" lIns="0" tIns="0" rIns="0" bIns="0" rtlCol="0" anchor="ctr"/>
          <a:lstStyle/>
          <a:p>
            <a:pPr algn="l" indent="0" marL="0">
              <a:buNone/>
            </a:pPr>
            <a:r>
              <a:rPr lang="en-US" sz="1400" b="1" dirty="0">
                <a:solidFill>
                  <a:schemeClr val="bg1"/>
                </a:solidFill>
              </a:rPr>
              <a:t>Approval Expiry Date</a:t>
            </a:r>
            <a:endParaRPr lang="en-US" sz="1400" dirty="0"/>
          </a:p>
        </p:txBody>
      </p:sp>
      <p:sp>
        <p:nvSpPr>
          <p:cNvPr id="8" name="Text 5"/>
          <p:cNvSpPr txBox="1"/>
          <p:nvPr/>
        </p:nvSpPr>
        <p:spPr>
          <a:xfrm>
            <a:off x="731520" y="2971800"/>
            <a:ext cx="1572768" cy="1280160"/>
          </a:xfrm>
          <a:prstGeom prst="rect">
            <a:avLst/>
          </a:prstGeom>
          <a:noFill/>
          <a:ln/>
        </p:spPr>
        <p:txBody>
          <a:bodyPr wrap="square" lIns="0" tIns="0" rIns="0" bIns="0" rtlCol="0" anchor="t"/>
          <a:lstStyle/>
          <a:p>
            <a:pPr algn="l" indent="0" marL="0">
              <a:buNone/>
            </a:pPr>
            <a:r>
              <a:rPr lang="en-US" sz="1200" dirty="0">
                <a:solidFill>
                  <a:schemeClr val="bg1"/>
                </a:solidFill>
              </a:rPr>
              <a:t>Defined once, on the Compliance Approval object: the date after which a communication needs re-approval.</a:t>
            </a:r>
            <a:endParaRPr lang="en-US" sz="1200" dirty="0"/>
          </a:p>
        </p:txBody>
      </p:sp>
      <p:sp>
        <p:nvSpPr>
          <p:cNvPr id="9" name="Shape 6"/>
          <p:cNvSpPr/>
          <p:nvPr/>
        </p:nvSpPr>
        <p:spPr>
          <a:xfrm>
            <a:off x="2532888" y="3131820"/>
            <a:ext cx="258318" cy="0"/>
          </a:xfrm>
          <a:prstGeom prst="line">
            <a:avLst/>
          </a:prstGeom>
          <a:noFill/>
          <a:ln w="19050">
            <a:solidFill>
              <a:schemeClr val="tx2"/>
            </a:solidFill>
            <a:prstDash val="solid"/>
            <a:tailEnd type="triangle"/>
          </a:ln>
        </p:spPr>
      </p:sp>
      <p:sp>
        <p:nvSpPr>
          <p:cNvPr id="10" name="Shape 7"/>
          <p:cNvSpPr/>
          <p:nvPr/>
        </p:nvSpPr>
        <p:spPr>
          <a:xfrm>
            <a:off x="2836926" y="1874520"/>
            <a:ext cx="1938528" cy="2514600"/>
          </a:xfrm>
          <a:prstGeom prst="roundRect">
            <a:avLst>
              <a:gd name="adj" fmla="val 3774"/>
            </a:avLst>
          </a:prstGeom>
          <a:solidFill>
            <a:schemeClr val="bg2"/>
          </a:solidFill>
          <a:ln/>
        </p:spPr>
      </p:sp>
      <p:sp>
        <p:nvSpPr>
          <p:cNvPr id="11" name="Text 8"/>
          <p:cNvSpPr txBox="1"/>
          <p:nvPr/>
        </p:nvSpPr>
        <p:spPr>
          <a:xfrm>
            <a:off x="3019806"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ANCHOR</a:t>
            </a:r>
            <a:endParaRPr lang="en-US" sz="1100" dirty="0"/>
          </a:p>
        </p:txBody>
      </p:sp>
      <p:sp>
        <p:nvSpPr>
          <p:cNvPr id="12" name="Text 9"/>
          <p:cNvSpPr txBox="1"/>
          <p:nvPr/>
        </p:nvSpPr>
        <p:spPr>
          <a:xfrm>
            <a:off x="3019806"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DP-036</a:t>
            </a:r>
            <a:endParaRPr lang="en-US" sz="1400" dirty="0"/>
          </a:p>
        </p:txBody>
      </p:sp>
      <p:sp>
        <p:nvSpPr>
          <p:cNvPr id="13" name="Text 10"/>
          <p:cNvSpPr txBox="1"/>
          <p:nvPr/>
        </p:nvSpPr>
        <p:spPr>
          <a:xfrm>
            <a:off x="3019806"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Flags approved material still published after expiry, and counts approvals expiring in the next 30 days.</a:t>
            </a:r>
            <a:endParaRPr lang="en-US" sz="1200" dirty="0"/>
          </a:p>
        </p:txBody>
      </p:sp>
      <p:sp>
        <p:nvSpPr>
          <p:cNvPr id="14" name="Shape 11"/>
          <p:cNvSpPr/>
          <p:nvPr/>
        </p:nvSpPr>
        <p:spPr>
          <a:xfrm>
            <a:off x="4821174" y="3131820"/>
            <a:ext cx="258318" cy="0"/>
          </a:xfrm>
          <a:prstGeom prst="line">
            <a:avLst/>
          </a:prstGeom>
          <a:noFill/>
          <a:ln w="19050">
            <a:solidFill>
              <a:schemeClr val="tx2"/>
            </a:solidFill>
            <a:prstDash val="solid"/>
            <a:tailEnd type="triangle"/>
          </a:ln>
        </p:spPr>
      </p:sp>
      <p:sp>
        <p:nvSpPr>
          <p:cNvPr id="15" name="Shape 12"/>
          <p:cNvSpPr/>
          <p:nvPr/>
        </p:nvSpPr>
        <p:spPr>
          <a:xfrm>
            <a:off x="5125212" y="1874520"/>
            <a:ext cx="1938528" cy="2514600"/>
          </a:xfrm>
          <a:prstGeom prst="roundRect">
            <a:avLst>
              <a:gd name="adj" fmla="val 3774"/>
            </a:avLst>
          </a:prstGeom>
          <a:solidFill>
            <a:schemeClr val="bg2"/>
          </a:solidFill>
          <a:ln/>
        </p:spPr>
      </p:sp>
      <p:sp>
        <p:nvSpPr>
          <p:cNvPr id="16" name="Text 13"/>
          <p:cNvSpPr txBox="1"/>
          <p:nvPr/>
        </p:nvSpPr>
        <p:spPr>
          <a:xfrm>
            <a:off x="5308092"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READER</a:t>
            </a:r>
            <a:endParaRPr lang="en-US" sz="1100" dirty="0"/>
          </a:p>
        </p:txBody>
      </p:sp>
      <p:sp>
        <p:nvSpPr>
          <p:cNvPr id="17" name="Text 14"/>
          <p:cNvSpPr txBox="1"/>
          <p:nvPr/>
        </p:nvSpPr>
        <p:spPr>
          <a:xfrm>
            <a:off x="5308092"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DP-026</a:t>
            </a:r>
            <a:endParaRPr lang="en-US" sz="1400" dirty="0"/>
          </a:p>
        </p:txBody>
      </p:sp>
      <p:sp>
        <p:nvSpPr>
          <p:cNvPr id="18" name="Text 15"/>
          <p:cNvSpPr txBox="1"/>
          <p:nvPr/>
        </p:nvSpPr>
        <p:spPr>
          <a:xfrm>
            <a:off x="5308092"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Content Performance, owned by Marketing &amp; Digital, reads the same date to count uses after approval lapsed.</a:t>
            </a:r>
            <a:endParaRPr lang="en-US" sz="1200" dirty="0"/>
          </a:p>
        </p:txBody>
      </p:sp>
      <p:sp>
        <p:nvSpPr>
          <p:cNvPr id="19" name="Shape 16"/>
          <p:cNvSpPr/>
          <p:nvPr/>
        </p:nvSpPr>
        <p:spPr>
          <a:xfrm>
            <a:off x="7109460" y="3131820"/>
            <a:ext cx="258318" cy="0"/>
          </a:xfrm>
          <a:prstGeom prst="line">
            <a:avLst/>
          </a:prstGeom>
          <a:noFill/>
          <a:ln w="19050">
            <a:solidFill>
              <a:schemeClr val="tx2"/>
            </a:solidFill>
            <a:prstDash val="solid"/>
            <a:tailEnd type="triangle"/>
          </a:ln>
        </p:spPr>
      </p:sp>
      <p:sp>
        <p:nvSpPr>
          <p:cNvPr id="20" name="Shape 17"/>
          <p:cNvSpPr/>
          <p:nvPr/>
        </p:nvSpPr>
        <p:spPr>
          <a:xfrm>
            <a:off x="7413498" y="1874520"/>
            <a:ext cx="1938528" cy="2514600"/>
          </a:xfrm>
          <a:prstGeom prst="roundRect">
            <a:avLst>
              <a:gd name="adj" fmla="val 3774"/>
            </a:avLst>
          </a:prstGeom>
          <a:solidFill>
            <a:schemeClr val="bg2"/>
          </a:solidFill>
          <a:ln/>
        </p:spPr>
      </p:sp>
      <p:sp>
        <p:nvSpPr>
          <p:cNvPr id="21" name="Text 18"/>
          <p:cNvSpPr txBox="1"/>
          <p:nvPr/>
        </p:nvSpPr>
        <p:spPr>
          <a:xfrm>
            <a:off x="7596378"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SEMANTIC MODEL</a:t>
            </a:r>
            <a:endParaRPr lang="en-US" sz="1100" dirty="0"/>
          </a:p>
        </p:txBody>
      </p:sp>
      <p:sp>
        <p:nvSpPr>
          <p:cNvPr id="22" name="Text 19"/>
          <p:cNvSpPr txBox="1"/>
          <p:nvPr/>
        </p:nvSpPr>
        <p:spPr>
          <a:xfrm>
            <a:off x="7596378"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SM-05 Marketing</a:t>
            </a:r>
            <a:endParaRPr lang="en-US" sz="1400" dirty="0"/>
          </a:p>
        </p:txBody>
      </p:sp>
      <p:sp>
        <p:nvSpPr>
          <p:cNvPr id="23" name="Text 20"/>
          <p:cNvSpPr txBox="1"/>
          <p:nvPr/>
        </p:nvSpPr>
        <p:spPr>
          <a:xfrm>
            <a:off x="7596378"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Publishes the date from DP-036 and the metric Content Use After Approval Lapse from DP-026.</a:t>
            </a:r>
            <a:endParaRPr lang="en-US" sz="1200" dirty="0"/>
          </a:p>
        </p:txBody>
      </p:sp>
      <p:sp>
        <p:nvSpPr>
          <p:cNvPr id="24" name="Shape 21"/>
          <p:cNvSpPr/>
          <p:nvPr/>
        </p:nvSpPr>
        <p:spPr>
          <a:xfrm>
            <a:off x="9397746" y="3131820"/>
            <a:ext cx="258318" cy="0"/>
          </a:xfrm>
          <a:prstGeom prst="line">
            <a:avLst/>
          </a:prstGeom>
          <a:noFill/>
          <a:ln w="19050">
            <a:solidFill>
              <a:schemeClr val="tx2"/>
            </a:solidFill>
            <a:prstDash val="solid"/>
            <a:tailEnd type="triangle"/>
          </a:ln>
        </p:spPr>
      </p:sp>
      <p:sp>
        <p:nvSpPr>
          <p:cNvPr id="25" name="Shape 22"/>
          <p:cNvSpPr/>
          <p:nvPr/>
        </p:nvSpPr>
        <p:spPr>
          <a:xfrm>
            <a:off x="9701784" y="1874520"/>
            <a:ext cx="1938528" cy="2514600"/>
          </a:xfrm>
          <a:prstGeom prst="roundRect">
            <a:avLst>
              <a:gd name="adj" fmla="val 3774"/>
            </a:avLst>
          </a:prstGeom>
          <a:solidFill>
            <a:schemeClr val="bg2"/>
          </a:solidFill>
          <a:ln/>
        </p:spPr>
      </p:sp>
      <p:sp>
        <p:nvSpPr>
          <p:cNvPr id="26" name="Text 23"/>
          <p:cNvSpPr txBox="1"/>
          <p:nvPr/>
        </p:nvSpPr>
        <p:spPr>
          <a:xfrm>
            <a:off x="9884664" y="2057400"/>
            <a:ext cx="1572768" cy="228600"/>
          </a:xfrm>
          <a:prstGeom prst="rect">
            <a:avLst/>
          </a:prstGeom>
          <a:noFill/>
          <a:ln/>
        </p:spPr>
        <p:txBody>
          <a:bodyPr wrap="square" lIns="0" tIns="0" rIns="0" bIns="0" rtlCol="0" anchor="ctr"/>
          <a:lstStyle/>
          <a:p>
            <a:pPr algn="l" indent="0" marL="0">
              <a:buNone/>
            </a:pPr>
            <a:r>
              <a:rPr lang="en-US" sz="1100" b="1" spc="150" kern="0" dirty="0">
                <a:solidFill>
                  <a:schemeClr val="accent1"/>
                </a:solidFill>
              </a:rPr>
              <a:t>USE</a:t>
            </a:r>
            <a:endParaRPr lang="en-US" sz="1100" dirty="0"/>
          </a:p>
        </p:txBody>
      </p:sp>
      <p:sp>
        <p:nvSpPr>
          <p:cNvPr id="27" name="Text 24"/>
          <p:cNvSpPr txBox="1"/>
          <p:nvPr/>
        </p:nvSpPr>
        <p:spPr>
          <a:xfrm>
            <a:off x="9884664" y="2331720"/>
            <a:ext cx="1572768" cy="548640"/>
          </a:xfrm>
          <a:prstGeom prst="rect">
            <a:avLst/>
          </a:prstGeom>
          <a:noFill/>
          <a:ln/>
        </p:spPr>
        <p:txBody>
          <a:bodyPr wrap="square" lIns="0" tIns="0" rIns="0" bIns="0" rtlCol="0" anchor="ctr"/>
          <a:lstStyle/>
          <a:p>
            <a:pPr algn="l" indent="0" marL="0">
              <a:buNone/>
            </a:pPr>
            <a:r>
              <a:rPr lang="en-US" sz="1400" b="1" dirty="0">
                <a:solidFill>
                  <a:schemeClr val="tx1"/>
                </a:solidFill>
              </a:rPr>
              <a:t>Dashboard or AI assistant</a:t>
            </a:r>
            <a:endParaRPr lang="en-US" sz="1400" dirty="0"/>
          </a:p>
        </p:txBody>
      </p:sp>
      <p:sp>
        <p:nvSpPr>
          <p:cNvPr id="28" name="Text 25"/>
          <p:cNvSpPr txBox="1"/>
          <p:nvPr/>
        </p:nvSpPr>
        <p:spPr>
          <a:xfrm>
            <a:off x="9884664" y="2971800"/>
            <a:ext cx="1572768" cy="1280160"/>
          </a:xfrm>
          <a:prstGeom prst="rect">
            <a:avLst/>
          </a:prstGeom>
          <a:noFill/>
          <a:ln/>
        </p:spPr>
        <p:txBody>
          <a:bodyPr wrap="square" lIns="0" tIns="0" rIns="0" bIns="0" rtlCol="0" anchor="t"/>
          <a:lstStyle/>
          <a:p>
            <a:pPr algn="l" indent="0" marL="0">
              <a:buNone/>
            </a:pPr>
            <a:r>
              <a:rPr lang="en-US" sz="1200" dirty="0">
                <a:solidFill>
                  <a:schemeClr val="tx1"/>
                </a:solidFill>
              </a:rPr>
              <a:t>“Was any content used after its approval expired or was withdrawn?”</a:t>
            </a:r>
            <a:endParaRPr lang="en-US" sz="1200" dirty="0"/>
          </a:p>
        </p:txBody>
      </p:sp>
      <p:sp>
        <p:nvSpPr>
          <p:cNvPr id="29" name="Shape 26"/>
          <p:cNvSpPr/>
          <p:nvPr/>
        </p:nvSpPr>
        <p:spPr>
          <a:xfrm>
            <a:off x="548640" y="4663440"/>
            <a:ext cx="11091672" cy="731520"/>
          </a:xfrm>
          <a:prstGeom prst="roundRect">
            <a:avLst>
              <a:gd name="adj" fmla="val 10000"/>
            </a:avLst>
          </a:prstGeom>
          <a:solidFill>
            <a:schemeClr val="tx1"/>
          </a:solidFill>
          <a:ln/>
        </p:spPr>
      </p:sp>
      <p:sp>
        <p:nvSpPr>
          <p:cNvPr id="30" name="Text 27"/>
          <p:cNvSpPr txBox="1"/>
          <p:nvPr/>
        </p:nvSpPr>
        <p:spPr>
          <a:xfrm>
            <a:off x="548640" y="4663440"/>
            <a:ext cx="11091672" cy="731520"/>
          </a:xfrm>
          <a:prstGeom prst="rect">
            <a:avLst/>
          </a:prstGeom>
          <a:noFill/>
          <a:ln/>
        </p:spPr>
        <p:txBody>
          <a:bodyPr wrap="square" lIns="0" tIns="0" rIns="0" bIns="0" rtlCol="0" anchor="ctr"/>
          <a:lstStyle/>
          <a:p>
            <a:pPr algn="ctr" indent="0" marL="0">
              <a:buNone/>
            </a:pPr>
            <a:r>
              <a:rPr lang="en-US" sz="1600" b="1" dirty="0">
                <a:solidFill>
                  <a:schemeClr val="bg1"/>
                </a:solidFill>
              </a:rPr>
              <a:t>Use After Approval Lapse  =  uses and views after the Approval Expiry Date or Withdrawal Date</a:t>
            </a:r>
            <a:endParaRPr lang="en-US" sz="1600" dirty="0"/>
          </a:p>
        </p:txBody>
      </p:sp>
      <p:sp>
        <p:nvSpPr>
          <p:cNvPr id="31" name="Text 28"/>
          <p:cNvSpPr txBox="1"/>
          <p:nvPr/>
        </p:nvSpPr>
        <p:spPr>
          <a:xfrm>
            <a:off x="548640" y="5623560"/>
            <a:ext cx="11091672" cy="274320"/>
          </a:xfrm>
          <a:prstGeom prst="rect">
            <a:avLst/>
          </a:prstGeom>
          <a:noFill/>
          <a:ln/>
        </p:spPr>
        <p:txBody>
          <a:bodyPr wrap="square" lIns="0" tIns="0" rIns="0" bIns="0" rtlCol="0" anchor="ctr"/>
          <a:lstStyle/>
          <a:p>
            <a:pPr algn="l" indent="0" marL="0">
              <a:buNone/>
            </a:pPr>
            <a:r>
              <a:rPr lang="en-US" sz="1200" dirty="0">
                <a:solidFill>
                  <a:schemeClr val="tx2"/>
                </a:solidFill>
              </a:rPr>
              <a:t>Content expiry is mastered in Marketing &amp; Digital. Distribution Compliance supplies the approval, its expiry and its withdrawal.</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NEXT STEPS</a:t>
            </a:r>
            <a:endParaRPr lang="en-US" sz="1200" dirty="0"/>
          </a:p>
        </p:txBody>
      </p:sp>
      <p:sp>
        <p:nvSpPr>
          <p:cNvPr id="3" name="Text 0"/>
          <p:cNvSpPr/>
          <p:nvPr>
            <p:ph idx="101" type="title" hasCustomPrompt="1"/>
          </p:nvPr>
        </p:nvSpPr>
        <p:spPr>
          <a:xfrm>
            <a:off x="548640" y="749808"/>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What needs deciding next</a:t>
            </a:r>
            <a:endParaRPr lang="en-US" sz="3600" dirty="0"/>
          </a:p>
        </p:txBody>
      </p:sp>
      <p:sp>
        <p:nvSpPr>
          <p:cNvPr id="5" name="Text 2"/>
          <p:cNvSpPr txBox="1"/>
          <p:nvPr/>
        </p:nvSpPr>
        <p:spPr>
          <a:xfrm>
            <a:off x="548640"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OPEN DECISIONS</a:t>
            </a:r>
            <a:endParaRPr lang="en-US" sz="1200" dirty="0"/>
          </a:p>
        </p:txBody>
      </p:sp>
      <p:sp>
        <p:nvSpPr>
          <p:cNvPr id="6" name="Shape 3"/>
          <p:cNvSpPr/>
          <p:nvPr/>
        </p:nvSpPr>
        <p:spPr>
          <a:xfrm>
            <a:off x="548640" y="2148840"/>
            <a:ext cx="5303520" cy="841248"/>
          </a:xfrm>
          <a:prstGeom prst="roundRect">
            <a:avLst>
              <a:gd name="adj" fmla="val 8696"/>
            </a:avLst>
          </a:prstGeom>
          <a:solidFill>
            <a:schemeClr val="bg2"/>
          </a:solidFill>
          <a:ln/>
        </p:spPr>
      </p:sp>
      <p:sp>
        <p:nvSpPr>
          <p:cNvPr id="7" name="Text 4"/>
          <p:cNvSpPr/>
          <p:nvPr/>
        </p:nvSpPr>
        <p:spPr>
          <a:xfrm>
            <a:off x="731520" y="239572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CD-064</a:t>
            </a:r>
            <a:endParaRPr lang="en-US" sz="1100" dirty="0"/>
          </a:p>
        </p:txBody>
      </p:sp>
      <p:sp>
        <p:nvSpPr>
          <p:cNvPr id="8" name="Text 5"/>
          <p:cNvSpPr txBox="1"/>
          <p:nvPr/>
        </p:nvSpPr>
        <p:spPr>
          <a:xfrm>
            <a:off x="2057400" y="214884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Whether state notice filings and blue-sky registrations stay here or move to entity authorizations. Needs an SME decision.</a:t>
            </a:r>
            <a:endParaRPr lang="en-US" sz="1200" dirty="0"/>
          </a:p>
        </p:txBody>
      </p:sp>
      <p:sp>
        <p:nvSpPr>
          <p:cNvPr id="9" name="Shape 6"/>
          <p:cNvSpPr/>
          <p:nvPr/>
        </p:nvSpPr>
        <p:spPr>
          <a:xfrm>
            <a:off x="548640" y="3108960"/>
            <a:ext cx="5303520" cy="841248"/>
          </a:xfrm>
          <a:prstGeom prst="roundRect">
            <a:avLst>
              <a:gd name="adj" fmla="val 8696"/>
            </a:avLst>
          </a:prstGeom>
          <a:solidFill>
            <a:schemeClr val="bg2"/>
          </a:solidFill>
          <a:ln/>
        </p:spPr>
      </p:sp>
      <p:sp>
        <p:nvSpPr>
          <p:cNvPr id="10" name="Text 7"/>
          <p:cNvSpPr/>
          <p:nvPr/>
        </p:nvSpPr>
        <p:spPr>
          <a:xfrm>
            <a:off x="731520" y="335584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CD-074</a:t>
            </a:r>
            <a:endParaRPr lang="en-US" sz="1100" dirty="0"/>
          </a:p>
        </p:txBody>
      </p:sp>
      <p:sp>
        <p:nvSpPr>
          <p:cNvPr id="11" name="Text 8"/>
          <p:cNvSpPr txBox="1"/>
          <p:nvPr/>
        </p:nvSpPr>
        <p:spPr>
          <a:xfrm>
            <a:off x="2057400" y="310896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Who owns the audience restriction and content type lists that route a review. Recommended: Marketing &amp; Digital. Needs an SME decision.</a:t>
            </a:r>
            <a:endParaRPr lang="en-US" sz="1200" dirty="0"/>
          </a:p>
        </p:txBody>
      </p:sp>
      <p:sp>
        <p:nvSpPr>
          <p:cNvPr id="12" name="Shape 9"/>
          <p:cNvSpPr/>
          <p:nvPr/>
        </p:nvSpPr>
        <p:spPr>
          <a:xfrm>
            <a:off x="548640" y="4069080"/>
            <a:ext cx="5303520" cy="841248"/>
          </a:xfrm>
          <a:prstGeom prst="roundRect">
            <a:avLst>
              <a:gd name="adj" fmla="val 8696"/>
            </a:avLst>
          </a:prstGeom>
          <a:solidFill>
            <a:schemeClr val="bg2"/>
          </a:solidFill>
          <a:ln/>
        </p:spPr>
      </p:sp>
      <p:sp>
        <p:nvSpPr>
          <p:cNvPr id="13" name="Text 10"/>
          <p:cNvSpPr/>
          <p:nvPr/>
        </p:nvSpPr>
        <p:spPr>
          <a:xfrm>
            <a:off x="731520" y="431596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CD-001</a:t>
            </a:r>
            <a:endParaRPr lang="en-US" sz="1100" dirty="0"/>
          </a:p>
        </p:txBody>
      </p:sp>
      <p:sp>
        <p:nvSpPr>
          <p:cNvPr id="14" name="Text 11"/>
          <p:cNvSpPr txBox="1"/>
          <p:nvPr/>
        </p:nvSpPr>
        <p:spPr>
          <a:xfrm>
            <a:off x="2057400" y="406908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The CRD number of the firm's own staff is held on the registration record here; Client &amp; Customer holds it for external advisors.</a:t>
            </a:r>
            <a:endParaRPr lang="en-US" sz="1200" dirty="0"/>
          </a:p>
        </p:txBody>
      </p:sp>
      <p:sp>
        <p:nvSpPr>
          <p:cNvPr id="15" name="Shape 12"/>
          <p:cNvSpPr/>
          <p:nvPr/>
        </p:nvSpPr>
        <p:spPr>
          <a:xfrm>
            <a:off x="548640" y="5029200"/>
            <a:ext cx="5303520" cy="841248"/>
          </a:xfrm>
          <a:prstGeom prst="roundRect">
            <a:avLst>
              <a:gd name="adj" fmla="val 8696"/>
            </a:avLst>
          </a:prstGeom>
          <a:solidFill>
            <a:schemeClr val="bg2"/>
          </a:solidFill>
          <a:ln/>
        </p:spPr>
      </p:sp>
      <p:sp>
        <p:nvSpPr>
          <p:cNvPr id="16" name="Text 13"/>
          <p:cNvSpPr/>
          <p:nvPr/>
        </p:nvSpPr>
        <p:spPr>
          <a:xfrm>
            <a:off x="731520" y="5276088"/>
            <a:ext cx="1143000" cy="347472"/>
          </a:xfrm>
          <a:prstGeom prst="roundRect">
            <a:avLst>
              <a:gd name="adj" fmla="val 15789"/>
            </a:avLst>
          </a:prstGeom>
          <a:solidFill>
            <a:schemeClr val="accent4"/>
          </a:solidFill>
          <a:ln/>
        </p:spPr>
        <p:txBody>
          <a:bodyPr wrap="square" lIns="0" tIns="0" rIns="0" bIns="0" rtlCol="0" anchor="ctr"/>
          <a:lstStyle/>
          <a:p>
            <a:pPr algn="ctr" indent="0" marL="0">
              <a:buNone/>
            </a:pPr>
            <a:r>
              <a:rPr lang="en-US" sz="1100" b="1" dirty="0">
                <a:solidFill>
                  <a:schemeClr val="bg1"/>
                </a:solidFill>
              </a:rPr>
              <a:t>CD-062</a:t>
            </a:r>
            <a:endParaRPr lang="en-US" sz="1100" dirty="0"/>
          </a:p>
        </p:txBody>
      </p:sp>
      <p:sp>
        <p:nvSpPr>
          <p:cNvPr id="17" name="Text 14"/>
          <p:cNvSpPr txBox="1"/>
          <p:nvPr/>
        </p:nvSpPr>
        <p:spPr>
          <a:xfrm>
            <a:off x="2057400" y="5029200"/>
            <a:ext cx="3611880" cy="841248"/>
          </a:xfrm>
          <a:prstGeom prst="rect">
            <a:avLst/>
          </a:prstGeom>
          <a:noFill/>
          <a:ln/>
        </p:spPr>
        <p:txBody>
          <a:bodyPr wrap="square" lIns="0" tIns="0" rIns="0" bIns="0" rtlCol="0" anchor="ctr"/>
          <a:lstStyle/>
          <a:p>
            <a:pPr algn="l" indent="0" marL="0">
              <a:buNone/>
            </a:pPr>
            <a:r>
              <a:rPr lang="en-US" sz="1200" dirty="0">
                <a:solidFill>
                  <a:schemeClr val="tx1"/>
                </a:solidFill>
              </a:rPr>
              <a:t>Make this domain's retention rules the enterprise records retention schedule that other domains reference.</a:t>
            </a:r>
            <a:endParaRPr lang="en-US" sz="1200" dirty="0"/>
          </a:p>
        </p:txBody>
      </p:sp>
      <p:sp>
        <p:nvSpPr>
          <p:cNvPr id="18" name="Text 15"/>
          <p:cNvSpPr txBox="1"/>
          <p:nvPr/>
        </p:nvSpPr>
        <p:spPr>
          <a:xfrm>
            <a:off x="6336792" y="1783080"/>
            <a:ext cx="5303520" cy="256032"/>
          </a:xfrm>
          <a:prstGeom prst="rect">
            <a:avLst/>
          </a:prstGeom>
          <a:noFill/>
          <a:ln/>
        </p:spPr>
        <p:txBody>
          <a:bodyPr wrap="square" lIns="0" tIns="0" rIns="0" bIns="0" rtlCol="0" anchor="ctr"/>
          <a:lstStyle/>
          <a:p>
            <a:pPr algn="l" indent="0" marL="0">
              <a:buNone/>
            </a:pPr>
            <a:r>
              <a:rPr lang="en-US" sz="1200" b="1" spc="150" kern="0" dirty="0">
                <a:solidFill>
                  <a:schemeClr val="accent1"/>
                </a:solidFill>
              </a:rPr>
              <a:t>NEXT STEPS</a:t>
            </a:r>
            <a:endParaRPr lang="en-US" sz="1200" dirty="0"/>
          </a:p>
        </p:txBody>
      </p:sp>
      <p:sp>
        <p:nvSpPr>
          <p:cNvPr id="19" name="Text 16"/>
          <p:cNvSpPr/>
          <p:nvPr/>
        </p:nvSpPr>
        <p:spPr>
          <a:xfrm>
            <a:off x="6336792" y="2240280"/>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0" name="Text 17"/>
          <p:cNvSpPr txBox="1"/>
          <p:nvPr/>
        </p:nvSpPr>
        <p:spPr>
          <a:xfrm>
            <a:off x="6903720" y="2148840"/>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Walk through the 80 proposed critical data elements and code lists with US advertising compliance, EMEA compliance and FINRA principals</a:t>
            </a:r>
            <a:endParaRPr lang="en-US" sz="1300" dirty="0"/>
          </a:p>
        </p:txBody>
      </p:sp>
      <p:sp>
        <p:nvSpPr>
          <p:cNvPr id="21" name="Text 18"/>
          <p:cNvSpPr/>
          <p:nvPr/>
        </p:nvSpPr>
        <p:spPr>
          <a:xfrm>
            <a:off x="6336792" y="3008376"/>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2" name="Text 19"/>
          <p:cNvSpPr txBox="1"/>
          <p:nvPr/>
        </p:nvSpPr>
        <p:spPr>
          <a:xfrm>
            <a:off x="6903720" y="2916936"/>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Load the FINRA Rule 4530 product and problem codes and the FCA complaints return categories in full</a:t>
            </a:r>
            <a:endParaRPr lang="en-US" sz="1300" dirty="0"/>
          </a:p>
        </p:txBody>
      </p:sp>
      <p:sp>
        <p:nvSpPr>
          <p:cNvPr id="23" name="Text 20"/>
          <p:cNvSpPr/>
          <p:nvPr/>
        </p:nvSpPr>
        <p:spPr>
          <a:xfrm>
            <a:off x="6336792" y="3776472"/>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 21"/>
          <p:cNvSpPr txBox="1"/>
          <p:nvPr/>
        </p:nvSpPr>
        <p:spPr>
          <a:xfrm>
            <a:off x="6903720" y="3685032"/>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Map each attribute to its source system: review workflow, FINRA Gateway, CRD tracking, G&amp;E, complaints, archive and distributor oversight</a:t>
            </a:r>
            <a:endParaRPr lang="en-US" sz="1300" dirty="0"/>
          </a:p>
        </p:txBody>
      </p:sp>
      <p:sp>
        <p:nvSpPr>
          <p:cNvPr id="25" name="Text 22"/>
          <p:cNvSpPr/>
          <p:nvPr/>
        </p:nvSpPr>
        <p:spPr>
          <a:xfrm>
            <a:off x="6336792" y="4544568"/>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6" name="Text 23"/>
          <p:cNvSpPr txBox="1"/>
          <p:nvPr/>
        </p:nvSpPr>
        <p:spPr>
          <a:xfrm>
            <a:off x="6903720" y="4453128"/>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Confirm the boundary calls with the owners of Investment Product, Sales, Marketing &amp; Digital and Distribution Agreements &amp; Partners</a:t>
            </a:r>
            <a:endParaRPr lang="en-US" sz="1300" dirty="0"/>
          </a:p>
        </p:txBody>
      </p:sp>
      <p:sp>
        <p:nvSpPr>
          <p:cNvPr id="27" name="Text 24"/>
          <p:cNvSpPr/>
          <p:nvPr/>
        </p:nvSpPr>
        <p:spPr>
          <a:xfrm>
            <a:off x="6336792" y="5312664"/>
            <a:ext cx="384048" cy="384048"/>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Text 25"/>
          <p:cNvSpPr txBox="1"/>
          <p:nvPr/>
        </p:nvSpPr>
        <p:spPr>
          <a:xfrm>
            <a:off x="6903720" y="5221224"/>
            <a:ext cx="4736592" cy="566928"/>
          </a:xfrm>
          <a:prstGeom prst="rect">
            <a:avLst/>
          </a:prstGeom>
          <a:noFill/>
          <a:ln/>
        </p:spPr>
        <p:txBody>
          <a:bodyPr wrap="square" lIns="0" tIns="0" rIns="0" bIns="0" rtlCol="0" anchor="ctr"/>
          <a:lstStyle/>
          <a:p>
            <a:pPr algn="l" indent="0" marL="0">
              <a:buNone/>
            </a:pPr>
            <a:r>
              <a:rPr lang="en-US" sz="1300" dirty="0">
                <a:solidFill>
                  <a:schemeClr val="tx1"/>
                </a:solidFill>
              </a:rPr>
              <a:t>Decide the 28 open gaps, starting with the 15 medium-priority ones</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G Taxonomy">
  <a:themeElements>
    <a:clrScheme name="CG Taxonomy">
      <a:dk1>
        <a:srgbClr val="0C233C"/>
      </a:dk1>
      <a:lt1>
        <a:srgbClr val="FFFFFF"/>
      </a:lt1>
      <a:dk2>
        <a:srgbClr val="535E6C"/>
      </a:dk2>
      <a:lt2>
        <a:srgbClr val="EEF1F8"/>
      </a:lt2>
      <a:accent1>
        <a:srgbClr val="1E49E2"/>
      </a:accent1>
      <a:accent2>
        <a:srgbClr val="7213EA"/>
      </a:accent2>
      <a:accent3>
        <a:srgbClr val="00B8F5"/>
      </a:accent3>
      <a:accent4>
        <a:srgbClr val="C8166F"/>
      </a:accent4>
      <a:accent5>
        <a:srgbClr val="00796F"/>
      </a:accent5>
      <a:accent6>
        <a:srgbClr val="ACEAFF"/>
      </a:accent6>
      <a:hlink>
        <a:srgbClr val="1E49E2"/>
      </a:hlink>
      <a:folHlink>
        <a:srgbClr val="7213EA"/>
      </a:folHlink>
    </a:clrScheme>
    <a:fontScheme name="CG Taxonom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 Compliance taxonomy walkthrough</dc:title>
  <dc:subject>PptxGenJS Presentation</dc:subject>
  <dc:creator>Distribution Data Taxonomy Program</dc:creator>
  <cp:lastModifiedBy>Distribution Data Taxonomy Program</cp:lastModifiedBy>
  <cp:revision>1</cp:revision>
  <dcterms:created xsi:type="dcterms:W3CDTF">2026-10-06T08:34:35Z</dcterms:created>
  <dcterms:modified xsi:type="dcterms:W3CDTF">2026-10-06T08:34:35Z</dcterms:modified>
</cp:coreProperties>
</file>