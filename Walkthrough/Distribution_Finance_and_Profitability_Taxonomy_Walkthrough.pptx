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bc815ed-8842-a07c-ef20-fe8e9a857b3d}">
          <p14:sldIdLst>
            <p14:sldId id="256"/>
            <p14:sldId id="257"/>
            <p14:sldId id="258"/>
            <p14:sldId id="259"/>
          </p14:sldIdLst>
        </p14:section>
        <p14:section name="What is included" id="{8987f205-1c3e-d323-d4ab-8f60123dfa03}">
          <p14:sldIdLst>
            <p14:sldId id="260"/>
            <p14:sldId id="261"/>
            <p14:sldId id="262"/>
            <p14:sldId id="263"/>
            <p14:sldId id="264"/>
          </p14:sldIdLst>
        </p14:section>
        <p14:section name="What is excluded" id="{a03ea247-4c46-4497-f57b-322dd9d07d66}">
          <p14:sldIdLst>
            <p14:sldId id="265"/>
            <p14:sldId id="266"/>
            <p14:sldId id="267"/>
          </p14:sldIdLst>
        </p14:section>
        <p14:section name="How it is used" id="{278f09b4-39e1-6fd8-33c5-46140d385929}">
          <p14:sldIdLst>
            <p14:sldId id="268"/>
            <p14:sldId id="269"/>
          </p14:sldIdLst>
        </p14:section>
        <p14:section name="Data products" id="{237a9bf7-901a-67aa-5813-055bb0b36771}">
          <p14:sldIdLst>
            <p14:sldId id="270"/>
            <p14:sldId id="271"/>
            <p14:sldId id="272"/>
            <p14:sldId id="273"/>
          </p14:sldIdLst>
        </p14:section>
        <p14:section name="Next steps" id="{fa605041-97bc-738f-4e44-471a30590a5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ASC 606 (revenue)</c:v>
                  </c:pt>
                  <c:pt idx="2">
                    <c:v>ASC 340-40 (contract costs)</c:v>
                  </c:pt>
                  <c:pt idx="3">
                    <c:v>OECD Transfer Pricing Guidelines</c:v>
                  </c:pt>
                  <c:pt idx="4">
                    <c:v>AICPA Revenue Recognition Guide</c:v>
                  </c:pt>
                  <c:pt idx="5">
                    <c:v>Time-driven ABC (TDABC)</c:v>
                  </c:pt>
                  <c:pt idx="6">
                    <c:v>Other standards and regulation</c:v>
                  </c:pt>
                </c:lvl>
              </c:multiLvlStrCache>
            </c:multiLvlStrRef>
          </c:cat>
          <c:val>
            <c:numRef>
              <c:f>Sheet1!$B$2:$B$8</c:f>
              <c:numCache>
                <c:formatCode>General</c:formatCode>
                <c:ptCount val="7"/>
                <c:pt idx="0">
                  <c:v>174</c:v>
                </c:pt>
                <c:pt idx="1">
                  <c:v>16</c:v>
                </c:pt>
                <c:pt idx="2">
                  <c:v>11</c:v>
                </c:pt>
                <c:pt idx="3">
                  <c:v>9</c:v>
                </c:pt>
                <c:pt idx="4">
                  <c:v>5</c:v>
                </c:pt>
                <c:pt idx="5">
                  <c:v>5</c:v>
                </c:pt>
                <c:pt idx="6">
                  <c:v>16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8 of 35)</a:t>
            </a:r>
          </a:p>
        </c:rich>
      </c:tx>
      <c:layout/>
      <c:overlay val="0"/>
    </c:title>
    <c:autoTitleDeleted val="0"/>
    <c:plotArea>
      <c:layout/>
      <c:barChart>
        <c:barDir val="bar"/>
        <c:grouping val="clustered"/>
        <c:varyColors val="0"/>
        <c:ser>
          <c:idx val="0"/>
          <c:order val="0"/>
          <c:tx>
            <c:strRef>
              <c:f>Sheet1!$B$1</c:f>
              <c:strCache>
                <c:ptCount val="1"/>
                <c:pt idx="0">
                  <c:v>Products reading each object (top 8 of 35)</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Distribution Cost Item</c:v>
                  </c:pt>
                  <c:pt idx="1">
                    <c:v>Fee Revenue Record</c:v>
                  </c:pt>
                  <c:pt idx="2">
                    <c:v>Distribution Revenue Record</c:v>
                  </c:pt>
                  <c:pt idx="3">
                    <c:v>GL Posting</c:v>
                  </c:pt>
                  <c:pt idx="4">
                    <c:v>Profitability Record</c:v>
                  </c:pt>
                  <c:pt idx="5">
                    <c:v>Profitability Measure</c:v>
                  </c:pt>
                  <c:pt idx="6">
                    <c:v>Plan Version</c:v>
                  </c:pt>
                  <c:pt idx="7">
                    <c:v>Accounting Period Status</c:v>
                  </c:pt>
                </c:lvl>
              </c:multiLvlStrCache>
            </c:multiLvlStrRef>
          </c:cat>
          <c:val>
            <c:numRef>
              <c:f>Sheet1!$B$2:$B$9</c:f>
              <c:numCache>
                <c:formatCode>General</c:formatCode>
                <c:ptCount val="8"/>
                <c:pt idx="0">
                  <c:v>11</c:v>
                </c:pt>
                <c:pt idx="1">
                  <c:v>9</c:v>
                </c:pt>
                <c:pt idx="2">
                  <c:v>5</c:v>
                </c:pt>
                <c:pt idx="3">
                  <c:v>4</c:v>
                </c:pt>
                <c:pt idx="4">
                  <c:v>3</c:v>
                </c:pt>
                <c:pt idx="5">
                  <c:v>3</c:v>
                </c:pt>
                <c:pt idx="6">
                  <c:v>3</c:v>
                </c:pt>
                <c:pt idx="7">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Distribution Finance &amp; Profitability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Distribution Finance &amp; Profitability is the finance view of distribution. It records what distribution earns, what it costs, and how profitable each channel, partner firm, product, territory and client is after cost allocation. It does not recalculate what other domains calculate. Partner payments, sales compensation and campaign spend are referenced by ID, and this domain adds the accounting. 19 of the 96 specified data products read the domain directly, and 15 of the other 95 depend on its foundational revenue product, DP-012,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Distribution Finance &amp; Profitability is one of 16 domains. It has 11 families, 35 business objects and 236 attributes. The purple text shows the path to one attribute, Net Fee Revenue, which we follow to an answer near the end of the deck. For every attribute the taxonomy records its meaning, its data type, its owner and the standard it aligns to. It does not hold data values, ledger balances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revenue side starts with a revenue contract: the advisory agreement with a fund, or the investment management agreement for a mandate. Each contract has a performance obligation. What is booked each period sits on three records: fee revenue, performance fees, and distribution revenue such as 12b-1 fees and sales charges. On the cost side, which this diagram does not draw, amounts calculated in other domains become distribution cost items, with accruals, true-ups and GL postings. Indirect cost is spread by allocation runs. Revenue and cost meet on the profitability record, which always declares its grain, version, hierarchy version and allocation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11 data families. For this walkthrough they are grouped in three: the spine, which is booked revenue and booked distribution cost; how revenue and cost are booked, which covers waivers, contract costs, the chart of accounts and intercompany charges; and how profit is measured, which covers allocation, profitability, hierarchies, plans and period close.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64 of the 236 attributes. Revenue and Revenue Recognition holds the revenue contract and the three booked revenue records, with the ASC 606 and IFRS 15 attributes that govern when revenue is recognized. Fee Revenue Record is the busiest of them: one record per share class or mandate and period, gross and net of waivers. Distribution Expense Accounting holds one cost item for each cost calculated elsewhere, such as a partner payment, a compensation payout or campaign spend, with its bearing entity, funding source, cost center, accrual and true-up.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67 attributes. Fee Waivers and Fund Expense Support holds the period financial impact of waivers and expense caps; the terms themselves stay in Investment Product. Contract Costs and Deferred Commissions holds capitalized costs of obtaining a contract, including legacy deferred sales commissions offset by CDSC, and the assessment of whether a commission qualifies. Chart of Accounts and GL Posting maps management P&amp;L lines to ledger accounts and external reporting lines, and holds the journal lines. Intercompany and Transfer Pricing holds agreements between the firm's own legal entities, the pricing method and arm's length range, and the resulting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105 attributes. Cost Allocation holds cost pools, methods, drivers and rules, and the runs that spread indirect cost to channels, partners and products. It supports time-driven activity-based costing through a capacity cost rate and a unit time estimate. Profitability and Cost-to-Serve is the largest of the five, with 32 attributes: the profitability record, its nine measures from gross revenue to operating margin, and the cost of serving each partner or client. Management Reporting Hierarchies holds versioned rollups and a recorded restatement whenever one changes. Budgets, Forecasts and Plans holds plan versions, plan lines, forecasts and variances. Period Close, Controls and Data Management is small, with five attributes: close status and the reconciliations to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62 of the 236 attributes, 26 percent, align to an external standard, guide or regulation. ASC 606 on revenue, with 16 attributes, and ASC 340-40 on contract costs, with 11, are the largest, followed by the OECD Transfer Pricing Guidelines with 9. 174 attributes are firm-defined, because allocation, profitability, hierarchies and planning are management accounting and no external body defines them. 71 attributes take their values from a controlled code list. 63 attributes, 27 percent, reference or copy a record mastered in another domain, which is the account for, do not recalculate principle in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accounts for distribution. It deliberately leaves the operational records with the domains that create them. This table shows where each excluded subject lives and what this domain keeps so that it can point to it. Three boundaries are worth calling out. Waiver terms are in Investment Product, but the period financial impact is here. Partner payment calculations are in Distribution Agreements &amp; Partners, but the booked accrual and true-up are here. Estimated Management Fee Revenue stays in Sales Transactions &amp; AUM Attribution as an analytic measure, while the booked amount is here, with a reconciliation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173 of the 236 are mastered in this domain. 52 are references, which hold only the ID of a record mastered in another domain, and 11 are derived copies. That is far more borrowing than in a master domain, and it is by design: finance accounts for records that others create. Shared &amp; Enterprise Reference Data supplies 25 references, mostly legal entities, fiscal periods and cost centers. In the other direction only 5 attributes in 3 other domains reference a record mastered here.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23 gaps against this domain. Two are resolved. Twenty-one are open, all proposed and waiting for a decision: five high priority, seven medium and nine low. The slide shows the five high-priority gaps and the first two medium ones. Most are the same kind of problem: a record whose grain names a period, a contract, a run or a hierarchy version that the record does not actually hold. Four of the five high-priority gaps affect DP-012, the foundational revenue product.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finance source is mapped to: the general ledger, fund accounting, the planning tool and the intermediary payment engine. That mapping to the firm's actual systems is a next step and has not been done. Second, it is the bill of materials for data products: each product lists the exact attributes it uses, and the build fails if one does not exist. Third, where a master domain would supply shared dimensions, this domain supplies certified metrics: gross and net fee revenue and the effective net fee rate are defined once in the semantic model SM-07. Fourth, the ownership flags and the 71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one foundational product, DP-012, Distribution Revenue. It holds management fee revenue gross and net of waivers, performance fees, and distribution revenue with the amount passed through to intermediaries. It applies the revenue recognition conclusions once and reconciles to the general ledger, so channel, partner and product profitability all use the same revenue. 59 of its 73 attributes come from this domain. It refreshes monthly: estimated by business day 5, and final when the fiscal period closes, typically business day 10. 12 products name it as a direct upstream, and 15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of the 96 specified data products list this domain's objects among their inputs: 1 foundational and 18 consumer-aligned. Every one of the 35 objects is used by at least one product, and 223 of the 236 attributes, 94 percent, appear in a product specification. Distribution Cost Item is the most used object, read by 11 products, followed by Fee Revenue Record with 9 and Distribution Revenue Record with 5. Analytical products are the largest group with 10, and regulatory and control products are next with 6, which reflects how often compliance and disclosure need to know what was actually paid and booked.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products have this domain as their owning domain. DP-012 is the foundational product. The other five are consumer-aligned. Intermediary Payments and Revenue-Sharing Accruals shows what each intermediary is owed and paid. Channel, Partner and Product Profitability is the distribution P&amp;L. Distribution Budget vs Actual lets cost center owners explain variances before close. Intercompany Distribution Cost Allocation supports transfer pricing documentation. Capitalized Contract Costs is the controlled basis for journal entries and disclosures. The bar on the right shows how many of each product's input attributes come from this domain: 91 of 94 for profitability, but only 27 of 98 for intermediary payments, which draws mostly on Distribution Agreements &amp;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13 products are owned by other domains but read this domain's attributes directly. They are grouped here by the business function they serve. Most take one of two things: booked fee revenue, or distribution cost items. The Distribution Executive Dashboard, DP-015, takes the most, 21 attributes, covering revenue, plan versions and forecasts. Pricing and Fee Waiver Analytics, DP-059, takes 17, mainly fee revenue and waiver records. The three compliance and disclosure products read cost items to show what was paid to whom. Beyond these, one more product depends on the domain only through DP-012,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 Fee Revenue is defined once, on the Fee Revenue Record: fee revenue after waivers and reimbursements, the amount recognized. DP-012 books it by share class or mandate and period, and checks that net equals gross less the waiver offset. DP-035 attributes it to channel, partner and product, adds retained distribution revenue, and subtracts partner payments, direct cost and allocated cost to reach operating profit. The semantic model SM-07 publishes Net Fee Revenue as a certified metric that other models reference. The same definition then answers the question on the right. Note the boundary: the AUM-based revenue estimate stays in Sales Transactions &amp; AUM Attribution. This domain holds the booked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which domain owns the fund advisory agreement; the recommendation is Investment Product, with the revenue contract here referencing it. The second is for Technical Accounting: confirm that wholesaler commissions on fund sales are expensed and not capitalized. The third is to agree that the enterprise term revenue means booked revenue from this domain. The fourth is to make this domain's accrual the only booked accrual. The next steps on the right come from the taxonomy's own plan: a policy walkthrough, an FP&amp;A workshop with a one-quarter pilot, hand-off contracts with the source domains, source mapping, and triage of the 21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Distribution Finance &amp; Profitability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DISTRIBUTION FINANCE &amp; PROFITABILITY</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Distribution Finance &amp; Profitability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Booked Revenue</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distribution earns</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Distribution Cost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distribution costs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Profitability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is left, and for whom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distribution's P&amp;L,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11</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35</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236</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71</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Booked fee and distribution revenue, fee waivers, distribution cost items and accruals, contract cost assets, GL postings, cost allocation, profitability records, plans and intercompany charges.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operational records behind the numbers: fee and waiver terms, payment and payout calculations, campaign spend, flows and AUM, parties, legal entities and fiscal calendars. These are referenced by ID.</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the ledger and finance systems, the bill of materials for finance data products, and the source of the certified revenue metrics that other semantic models reference.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19 of the 96 data products read it directly. 15 of the other 95 depend on its foundational revenue product, DP-012,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Distribution Finance &amp; Profitability</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11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Revenue &amp; Revenue Recognition</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35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Fee Revenue Record</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236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 Fee Revenue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revenue type, cost type or record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contract to margin</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WE CONTRACTED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IS BOOKED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IS LEFT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Revenue Contract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Advisory agreement or IMA (RVC-)</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Performance Obligation</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The promise and how it is satisfied</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contract per identified customer: the fund or the mandate client</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Fee Revenue Record</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Booked fee by share class and period</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Performance Fee Record</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Constrained until crystallization</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Distribution Revenue Record</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12b-1, servicing fees and sales charges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Profitability Record</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By channel, partner, product, client</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Booked revenue meets cost items and allocated cost at a declared grain, version and allocation run.</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Account for, do not recalculate: partner payments, payouts and campaign spend are calculated in their own domains and referenced by ID. This domain adds period, entity, account, cost center, accrual and capitalization.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11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Eleven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7 objects  |  64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Revenue &amp; Revenue Recognition</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40 attributes  |  15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Distribution Expense Accounting</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24 attributes  |  9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revenue and cost are booked</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9 objects  |  67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 Waivers &amp; Fund Expense Support</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12 attributes  |  4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Contract Costs &amp; Deferred Commissions</a:t>
            </a:r>
            <a:endParaRPr lang="en-US" sz="11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16 attributes  |  4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Chart of Accounts &amp; GL Posting</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18 attributes  |  5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Intercompany &amp; Transfer Pricing</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21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profit is measured</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19 objects  |  105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Cost Allocation</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30 attributes  |  6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Profitability &amp; Cost-to-Serve</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32 attributes  |  13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Management Reporting Hierarchies</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15 attributes  |  4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Budgets, Forecasts &amp; Plans</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23 attributes  |  5 critical</a:t>
            </a:r>
            <a:endParaRPr lang="en-US" sz="1100" dirty="0"/>
          </a:p>
        </p:txBody>
      </p:sp>
      <p:sp>
        <p:nvSpPr>
          <p:cNvPr id="44" name="Shape 41"/>
          <p:cNvSpPr/>
          <p:nvPr/>
        </p:nvSpPr>
        <p:spPr>
          <a:xfrm>
            <a:off x="8129016" y="5550408"/>
            <a:ext cx="3511296" cy="612648"/>
          </a:xfrm>
          <a:prstGeom prst="roundRect">
            <a:avLst>
              <a:gd name="adj" fmla="val 11940"/>
            </a:avLst>
          </a:prstGeom>
          <a:solidFill>
            <a:schemeClr val="bg2"/>
          </a:solidFill>
          <a:ln/>
        </p:spPr>
      </p:sp>
      <p:sp>
        <p:nvSpPr>
          <p:cNvPr id="45" name="Text 42"/>
          <p:cNvSpPr txBox="1"/>
          <p:nvPr/>
        </p:nvSpPr>
        <p:spPr>
          <a:xfrm>
            <a:off x="8311896" y="5605272"/>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Period Close, Controls &amp; Data Management</a:t>
            </a:r>
            <a:endParaRPr lang="en-US" sz="1100" dirty="0"/>
          </a:p>
        </p:txBody>
      </p:sp>
      <p:sp>
        <p:nvSpPr>
          <p:cNvPr id="46" name="Text 43"/>
          <p:cNvSpPr txBox="1"/>
          <p:nvPr/>
        </p:nvSpPr>
        <p:spPr>
          <a:xfrm>
            <a:off x="8311896"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5 attributes  |  0 critical</a:t>
            </a:r>
            <a:endParaRPr lang="en-US" sz="1100" dirty="0"/>
          </a:p>
        </p:txBody>
      </p:sp>
      <p:sp>
        <p:nvSpPr>
          <p:cNvPr id="47" name="Text 44"/>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booked revenue and booked cost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Revenue &amp; Revenue Recognition</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40 attributes  |  15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Booked fee, performance fee and distribution revenue, and the contract terms that govern when it is recognized.</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Revenue Contract, </a:t>
            </a:r>
            <a:pPr indent="0" marL="0">
              <a:buNone/>
            </a:pPr>
            <a:r>
              <a:rPr lang="en-US" sz="1300" dirty="0">
                <a:solidFill>
                  <a:schemeClr val="tx1"/>
                </a:solidFill>
              </a:rPr>
              <a:t>Performance Obligation, </a:t>
            </a:r>
            <a:pPr indent="0" marL="0">
              <a:buNone/>
            </a:pPr>
            <a:r>
              <a:rPr lang="en-US" sz="1300" b="1" dirty="0">
                <a:solidFill>
                  <a:schemeClr val="tx1"/>
                </a:solidFill>
              </a:rPr>
              <a:t>Fee Revenue Record, </a:t>
            </a:r>
            <a:pPr indent="0" marL="0">
              <a:buNone/>
            </a:pPr>
            <a:r>
              <a:rPr lang="en-US" sz="1300" b="1" dirty="0">
                <a:solidFill>
                  <a:schemeClr val="tx1"/>
                </a:solidFill>
              </a:rPr>
              <a:t>Performance Fee Record, </a:t>
            </a:r>
            <a:pPr indent="0" marL="0">
              <a:buNone/>
            </a:pPr>
            <a:r>
              <a:rPr lang="en-US" sz="1300" b="1" dirty="0">
                <a:solidFill>
                  <a:schemeClr val="tx1"/>
                </a:solidFill>
              </a:rPr>
              <a:t>Distribution Revenue Record</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Gross Fee Revenue, Net Fee Revenue, Crystallization Date, Amount Passed Through</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Distribution Expense Accounting</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2 objects  |  24 attributes  |  9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One accounting cost line for each cost calculated in another domain, with its accrual and true-up.</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Distribution Cost Item, </a:t>
            </a:r>
            <a:pPr indent="0" marL="0">
              <a:buNone/>
            </a:pPr>
            <a:r>
              <a:rPr lang="en-US" sz="1300" b="1" dirty="0">
                <a:solidFill>
                  <a:schemeClr val="tx1"/>
                </a:solidFill>
              </a:rPr>
              <a:t>Accrual</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Distribution Expense Category, Source Record, Funding Source, True-Up Amount</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contract, record or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revenue and cost are booked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Fee Waivers &amp; Fund Expense Support</a:t>
                      </a:r>
                      <a:endParaRPr lang="en-US" sz="1200" dirty="0"/>
                    </a:p>
                    <a:p>
                      <a:pPr indent="0" marL="0">
                        <a:buNone/>
                      </a:pPr>
                      <a:r>
                        <a:rPr lang="en-US" sz="1100" dirty="0">
                          <a:solidFill>
                            <a:schemeClr val="tx2"/>
                          </a:solidFill>
                        </a:rPr>
                        <a:t>2 objects  |  12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Period amounts waived, reimbursed or borne by the adviser under expense cap terms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Waiver Record, </a:t>
                      </a:r>
                      <a:pPr indent="0" marL="0">
                        <a:buNone/>
                      </a:pPr>
                      <a:r>
                        <a:rPr lang="en-US" sz="1200" b="1" dirty="0">
                          <a:solidFill>
                            <a:schemeClr val="tx1"/>
                          </a:solidFill>
                        </a:rPr>
                        <a:t>Adviser-Borne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Waiver Type, Waived Fee Amount, Recoupment Expiry Date, Adviser-Borne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Contract Costs &amp; Deferred Commissions</a:t>
                      </a:r>
                      <a:endParaRPr lang="en-US" sz="1200" dirty="0"/>
                    </a:p>
                    <a:p>
                      <a:pPr indent="0" marL="0">
                        <a:buNone/>
                      </a:pPr>
                      <a:r>
                        <a:rPr lang="en-US" sz="1100" dirty="0">
                          <a:solidFill>
                            <a:schemeClr val="tx2"/>
                          </a:solidFill>
                        </a:rPr>
                        <a:t>2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Capitalized contract costs, their amortization, and whether a commission qualifies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Contract Cost Asset, </a:t>
                      </a:r>
                      <a:pPr indent="0" marL="0">
                        <a:buNone/>
                      </a:pPr>
                      <a:r>
                        <a:rPr lang="en-US" sz="1200" b="1" dirty="0">
                          <a:solidFill>
                            <a:schemeClr val="tx1"/>
                          </a:solidFill>
                        </a:rPr>
                        <a:t>Capitalization Assessment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Capitalized Amount, Amortization Period, Net Carrying Amount, Assessment Conclusion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Chart of Accounts &amp; GL Posting</a:t>
                      </a:r>
                      <a:endParaRPr lang="en-US" sz="1200" dirty="0"/>
                    </a:p>
                    <a:p>
                      <a:pPr indent="0" marL="0">
                        <a:buNone/>
                      </a:pPr>
                      <a:r>
                        <a:rPr lang="en-US" sz="1100" dirty="0">
                          <a:solidFill>
                            <a:schemeClr val="tx2"/>
                          </a:solidFill>
                        </a:rPr>
                        <a:t>2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Mapping from management P&amp;L lines to ledger accounts, and the journal lines posted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Mapping, </a:t>
                      </a:r>
                      <a:pPr indent="0" marL="0">
                        <a:buNone/>
                      </a:pPr>
                      <a:r>
                        <a:rPr lang="en-US" sz="1200" b="1" dirty="0">
                          <a:solidFill>
                            <a:schemeClr val="tx1"/>
                          </a:solidFill>
                        </a:rPr>
                        <a:t>GL Posting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Management P&amp;L Line, GL Natural Account, Journal Type, Posted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Intercompany &amp; Transfer Pricing</a:t>
                      </a:r>
                      <a:endParaRPr lang="en-US" sz="1200" dirty="0"/>
                    </a:p>
                    <a:p>
                      <a:pPr indent="0" marL="0">
                        <a:buNone/>
                      </a:pPr>
                      <a:r>
                        <a:rPr lang="en-US" sz="1100" dirty="0">
                          <a:solidFill>
                            <a:schemeClr val="tx2"/>
                          </a:solidFill>
                        </a:rPr>
                        <a:t>3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Agreements between internal legal entities, their pricing method and period charges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Intercompany Agreement, </a:t>
                      </a:r>
                      <a:pPr indent="0" marL="0">
                        <a:buNone/>
                      </a:pPr>
                      <a:r>
                        <a:rPr lang="en-US" sz="1200" dirty="0">
                          <a:solidFill>
                            <a:schemeClr val="tx1"/>
                          </a:solidFill>
                        </a:rPr>
                        <a:t>TP Policy, </a:t>
                      </a:r>
                      <a:pPr indent="0" marL="0">
                        <a:buNone/>
                      </a:pPr>
                      <a:r>
                        <a:rPr lang="en-US" sz="1200" b="1" dirty="0">
                          <a:solidFill>
                            <a:schemeClr val="tx1"/>
                          </a:solidFill>
                        </a:rPr>
                        <a:t>Intercompany Charge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Intercompany Service Type, TP Method, Remuneration Rate, Charge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contract, record or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profit is measured and controlled</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Cost Allocation</a:t>
                      </a:r>
                      <a:endParaRPr lang="en-US" sz="1200" dirty="0"/>
                    </a:p>
                    <a:p>
                      <a:pPr indent="0" marL="0">
                        <a:buNone/>
                      </a:pPr>
                      <a:r>
                        <a:rPr lang="en-US" sz="1100" dirty="0">
                          <a:solidFill>
                            <a:schemeClr val="tx2"/>
                          </a:solidFill>
                        </a:rPr>
                        <a:t>6 objects  |  30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Cost pools, methods, drivers and rules, and the runs that spread indirect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Cost Pool, </a:t>
                      </a:r>
                      <a:pPr indent="0" marL="0">
                        <a:buNone/>
                      </a:pPr>
                      <a:r>
                        <a:rPr lang="en-US" sz="1200" b="1" dirty="0">
                          <a:solidFill>
                            <a:schemeClr val="tx1"/>
                          </a:solidFill>
                        </a:rPr>
                        <a:t>Allocation Method, </a:t>
                      </a:r>
                      <a:pPr indent="0" marL="0">
                        <a:buNone/>
                      </a:pPr>
                      <a:r>
                        <a:rPr lang="en-US" sz="1200" b="1" dirty="0">
                          <a:solidFill>
                            <a:schemeClr val="tx1"/>
                          </a:solidFill>
                        </a:rPr>
                        <a:t>Allocation Driver, </a:t>
                      </a:r>
                      <a:pPr indent="0" marL="0">
                        <a:buNone/>
                      </a:pPr>
                      <a:r>
                        <a:rPr lang="en-US" sz="1200" b="1" dirty="0">
                          <a:solidFill>
                            <a:schemeClr val="tx1"/>
                          </a:solidFill>
                        </a:rPr>
                        <a:t>Allocation Rule, </a:t>
                      </a:r>
                      <a:pPr indent="0" marL="0">
                        <a:buNone/>
                      </a:pPr>
                      <a:r>
                        <a:rPr lang="en-US" sz="1200" b="1" dirty="0">
                          <a:solidFill>
                            <a:schemeClr val="tx1"/>
                          </a:solidFill>
                        </a:rPr>
                        <a:t>Allocation Run, </a:t>
                      </a:r>
                      <a:pPr indent="0" marL="0">
                        <a:buNone/>
                      </a:pPr>
                      <a:r>
                        <a:rPr lang="en-US" sz="1200" b="1" dirty="0">
                          <a:solidFill>
                            <a:schemeClr val="tx1"/>
                          </a:solidFill>
                        </a:rPr>
                        <a:t>Allocation Result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Cost Pool Type, Driver Type, Target Dimension, Allocated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Profitability &amp; Cost-to-Serve</a:t>
                      </a:r>
                      <a:endParaRPr lang="en-US" sz="1200" dirty="0"/>
                    </a:p>
                    <a:p>
                      <a:pPr indent="0" marL="0">
                        <a:buNone/>
                      </a:pPr>
                      <a:r>
                        <a:rPr lang="en-US" sz="1100" dirty="0">
                          <a:solidFill>
                            <a:schemeClr val="tx2"/>
                          </a:solidFill>
                        </a:rPr>
                        <a:t>4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distribution P&amp;L at a declared grain and version, and cost-to-serve by partner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Profitability Record, </a:t>
                      </a:r>
                      <a:pPr indent="0" marL="0">
                        <a:buNone/>
                      </a:pPr>
                      <a:r>
                        <a:rPr lang="en-US" sz="1200" dirty="0">
                          <a:solidFill>
                            <a:schemeClr val="tx1"/>
                          </a:solidFill>
                        </a:rPr>
                        <a:t>Profitability Measure, </a:t>
                      </a:r>
                      <a:pPr indent="0" marL="0">
                        <a:buNone/>
                      </a:pPr>
                      <a:r>
                        <a:rPr lang="en-US" sz="1200" b="1" dirty="0">
                          <a:solidFill>
                            <a:schemeClr val="tx1"/>
                          </a:solidFill>
                        </a:rPr>
                        <a:t>Profitability Measure Definition, </a:t>
                      </a:r>
                      <a:pPr indent="0" marL="0">
                        <a:buNone/>
                      </a:pPr>
                      <a:r>
                        <a:rPr lang="en-US" sz="1200" b="1" dirty="0">
                          <a:solidFill>
                            <a:schemeClr val="tx1"/>
                          </a:solidFill>
                        </a:rPr>
                        <a:t>Cost-to-Serve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Dimension Grain, Data Version, Contribution Margin, Total Cost-to-Serve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Management Reporting Hierarchies</a:t>
                      </a:r>
                      <a:endParaRPr lang="en-US" sz="1200" dirty="0"/>
                    </a:p>
                    <a:p>
                      <a:pPr indent="0" marL="0">
                        <a:buNone/>
                      </a:pPr>
                      <a:r>
                        <a:rPr lang="en-US" sz="1100" dirty="0">
                          <a:solidFill>
                            <a:schemeClr val="tx2"/>
                          </a:solidFill>
                        </a:rPr>
                        <a:t>3 objects  |  15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Versioned rollups for management P&amp;L, and restatements when they change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Management Hierarchy, </a:t>
                      </a:r>
                      <a:pPr indent="0" marL="0">
                        <a:buNone/>
                      </a:pPr>
                      <a:r>
                        <a:rPr lang="en-US" sz="1200" b="1" dirty="0">
                          <a:solidFill>
                            <a:schemeClr val="tx1"/>
                          </a:solidFill>
                        </a:rPr>
                        <a:t>Hierarchy Node, </a:t>
                      </a:r>
                      <a:pPr indent="0" marL="0">
                        <a:buNone/>
                      </a:pPr>
                      <a:r>
                        <a:rPr lang="en-US" sz="1200" b="1" dirty="0">
                          <a:solidFill>
                            <a:schemeClr val="tx1"/>
                          </a:solidFill>
                        </a:rPr>
                        <a:t>Hierarchy Restatement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Hierarchy Type, Parent Node, Operating Segment Mapping, Restatement Trigger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Budgets, Forecasts &amp; Plans</a:t>
                      </a:r>
                      <a:endParaRPr lang="en-US" sz="1200" dirty="0"/>
                    </a:p>
                    <a:p>
                      <a:pPr indent="0" marL="0">
                        <a:buNone/>
                      </a:pPr>
                      <a:r>
                        <a:rPr lang="en-US" sz="1100" dirty="0">
                          <a:solidFill>
                            <a:schemeClr val="tx2"/>
                          </a:solidFill>
                        </a:rPr>
                        <a:t>4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Budget and forecast versions, planned amounts, flow and revenue forecasts, variances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Plan Version, </a:t>
                      </a:r>
                      <a:pPr indent="0" marL="0">
                        <a:buNone/>
                      </a:pPr>
                      <a:r>
                        <a:rPr lang="en-US" sz="1200" b="1" dirty="0">
                          <a:solidFill>
                            <a:schemeClr val="tx1"/>
                          </a:solidFill>
                        </a:rPr>
                        <a:t>Plan Line, </a:t>
                      </a:r>
                      <a:pPr indent="0" marL="0">
                        <a:buNone/>
                      </a:pPr>
                      <a:r>
                        <a:rPr lang="en-US" sz="1200" b="1" dirty="0">
                          <a:solidFill>
                            <a:schemeClr val="tx1"/>
                          </a:solidFill>
                        </a:rPr>
                        <a:t>Flow &amp; Revenue Forecast, </a:t>
                      </a:r>
                      <a:pPr indent="0" marL="0">
                        <a:buNone/>
                      </a:pPr>
                      <a:r>
                        <a:rPr lang="en-US" sz="1200" b="1" dirty="0">
                          <a:solidFill>
                            <a:schemeClr val="tx1"/>
                          </a:solidFill>
                        </a:rPr>
                        <a:t>Variance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Type, Scenario, Planned Amount, Forecast Net Revenue, Variance Driver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Period Close, Controls &amp; Data Management</a:t>
                      </a:r>
                      <a:endParaRPr lang="en-US" sz="1200" dirty="0"/>
                    </a:p>
                    <a:p>
                      <a:pPr indent="0" marL="0">
                        <a:buNone/>
                      </a:pPr>
                      <a:r>
                        <a:rPr lang="en-US" sz="1100" dirty="0">
                          <a:solidFill>
                            <a:schemeClr val="tx2"/>
                          </a:solidFill>
                        </a:rPr>
                        <a:t>2 objects  |  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Close status of each accounting period, and reconciliations to source and ledger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Accounting Period Status, </a:t>
                      </a:r>
                      <a:pPr indent="0" marL="0">
                        <a:buNone/>
                      </a:pPr>
                      <a:r>
                        <a:rPr lang="en-US" sz="1200" b="1" dirty="0">
                          <a:solidFill>
                            <a:schemeClr val="tx1"/>
                          </a:solidFill>
                        </a:rPr>
                        <a:t>Control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Period Close Status, Reconciliation Type, Reconciliation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contract, record or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anchored in GAAP</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SEC Rule 12b-1, Form N-1A, US GAAP Taxonomy, ICI, ESMA, MiFID II, ISO 4217 and SOX.</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(62 of 236) align to an external standard, guide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63</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(27%) reference or copy a record mastered in another domain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Fee, expense cap and waiver terms on the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period financial impact: amounts waived, reimbursed and eligible for recoupment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Payment arrangements, calculations, invoices,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cost item that references the source record, plus the booked accrual and true-up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Flows, AUM and Estimated Management Fee Revenue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Booked revenue, and a reconciliation between booked and estimated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Incentive plans, payouts and compensation statements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accounting cost item, and the capitalization assessment of plan components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 budgets and spend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accounting record of the spend, reconciled to the general ledger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Fiscal calendar, FX rate types, legal entities, cost centers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only, plus the close status of each fiscal period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Segregated-mandate fee invoices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Servicing &amp;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recognized revenue, with the client invoice named as its fee basis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license costs at contract level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accounting cost item for third-party data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173 attributes mastered, 63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173</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236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52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11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25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Legal entities, fiscal periods, cost and profit centers, the salesperson, FX translation rate type</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11 references, 3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Share classes, mandates and expense cap terms; copies of the gross fee rate and contract dates</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Identified customer, cost counterparty, partner firm and served party; a copy of client segment</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3 copies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Sales charge transactions and driver measures; copies of average assets and CDSC recovered</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3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Source record and payment arrangement; copies of funding source and amounts passed through</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Territory, plan components, the sales forecast and its gross sales, inducement assessment, the account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only 5 attributes in 3 other domains reference a record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23</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2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5 high, 7 medium, 9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Six records name an accounting period in their grain but do not hold it, so products borrow fiscal period keys (DP-012, DP-089)</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 cost item's Source Record points to many record types, so cost joins to its source only by value matching (DP-056, DP-089)</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Accounting Period Status and Control lack legal entity and ledger, so close cannot be checked by entity (DP-012)</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Fee and distribution revenue records do not name their Revenue Contract or its identified customer (DP-012)</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Distribution Revenue Record has no data basis, so its revenue cannot be split estimated versus final (DP-012)</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Allocation, plan and hierarchy records point to a generic dimension member that no object resolves (DP-035, DP-056)</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GAP-10-007</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Allocation Result does not name its run, and Hierarchy Node does not name its hierarchy version (DP-035, DP-074)</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general ledger, fund accounting, the planning tool and the payment engine each map to one definition per field. Source mapping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Certified metrics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Gross Fee Revenue, Net Fee Revenue and Effective Net Fee Rate are certified once, in SM-07 Finance &amp; Profitability. Other semantic models reference them.</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71 proposed critical data elements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Ledger and finance systems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Distribution Finance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DP-012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DP-012 books distribution revenue once</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DP-012</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Distribution Revenue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Head of Distribution Finance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share class or mandate, revenue type, receiving legal entity, accounting period and data basis (estimated or final).</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59 of its 73 attributes come from 10 of this domain's 35 objects. Upstream products: DP-001, DP-004, DP-005, DP-008 and DP-013.</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Estimated by business day 5 after month-end; final when the fiscal period closes, typically business day 10.</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All closed periods since 2015 kept as final. Estimated versions kept until superseded. Prior-period adjustments recorded in the period posted.</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Classified Confidential - Financial. Holds no personal data. Product owner: Head of Distribution Finance.</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12</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DP-012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15</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Net Fee Revenue equals Gross Fee Revenue less the Waiver and Reimbursement Offset on every record</a:t>
            </a:r>
            <a:endParaRPr lang="en-US" sz="1300" dirty="0"/>
          </a:p>
          <a:p>
            <a:pPr marL="177800" indent="-177800">
              <a:spcAft>
                <a:spcPts val="600"/>
              </a:spcAft>
              <a:buSzPct val="100000"/>
              <a:buChar char="•"/>
            </a:pPr>
            <a:r>
              <a:rPr lang="en-US" sz="1300" dirty="0">
                <a:solidFill>
                  <a:schemeClr val="tx1"/>
                </a:solidFill>
              </a:rPr>
              <a:t>Revenue for each closed period and legal entity reconciles to GL postings to the cent</a:t>
            </a:r>
            <a:endParaRPr lang="en-US" sz="1300" dirty="0"/>
          </a:p>
          <a:p>
            <a:pPr marL="177800" indent="-177800">
              <a:spcAft>
                <a:spcPts val="600"/>
              </a:spcAft>
              <a:buSzPct val="100000"/>
              <a:buChar char="•"/>
            </a:pPr>
            <a:r>
              <a:rPr lang="en-US" sz="1300" dirty="0">
                <a:solidFill>
                  <a:schemeClr val="tx1"/>
                </a:solidFill>
              </a:rPr>
              <a:t>Amount Passed Through never exceeds Gross Distribution Revenue unless a reason is recorded</a:t>
            </a:r>
            <a:endParaRPr lang="en-US" sz="1300" dirty="0"/>
          </a:p>
          <a:p>
            <a:pPr marL="177800" indent="-177800">
              <a:spcAft>
                <a:spcPts val="600"/>
              </a:spcAft>
              <a:buSzPct val="100000"/>
              <a:buChar char="•"/>
            </a:pPr>
            <a:r>
              <a:rPr lang="en-US" sz="1300" dirty="0">
                <a:solidFill>
                  <a:schemeClr val="tx1"/>
                </a:solidFill>
              </a:rPr>
              <a:t>Fee Basis Average Assets is within 0.5% of certified Average AUM, or the variance is explained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18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35 of 35</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94%</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(223 of 236)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19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10 analytical, 6 regulatory and control, 2 operational,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Six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DP-012</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Revenue</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Distribution Finance and FPandA</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Booked fee, performance fee and distribution revenue by share class or mandate and period.</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108553"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59 of 73</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DP-034</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100" b="1" dirty="0">
                <a:solidFill>
                  <a:schemeClr val="tx1"/>
                </a:solidFill>
              </a:rPr>
              <a:t>Intermediary Payments &amp; Revenue-Sharing Accruals</a:t>
            </a:r>
            <a:endParaRPr lang="en-US" sz="11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Distribution Finance and FPandA</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What each intermediary is owed, accrued, invoiced and paid under every payment arrangement.</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377890"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27 of 98</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DP-035</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Channel, Partner &amp; Product Profitability</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Finance and FPandA</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Revenue, payments, direct and allocated cost, and margin by channel, partner and product.</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1327826"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91 of 94</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DP-056</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Budget vs Actual</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Finance and FPandA</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Distribution expense against budget and latest forecast by cost center, category and channel.</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881743"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45 of 70</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DP-074</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Intercompany Distribution Cost Allocation</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Finance and FPandA</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Charges between the firm's legal entities, tested against the arm's length range.</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1148316"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72 of 86</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DP-089</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Capitalized Contract Costs</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Finance and FPandA</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The register and rollforward of capitalized contract costs under ASC 340-40 and IFRS 15.</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969264"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53 of 75</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13 more rely on it for booked numbers</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Distribution leadership and strategy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Booked fee and distribution revenue, plan versions, flow and revenue forecasts, profitability measures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 and pricing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DP-029, DP-059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revenue records and waiver records by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inducement disclosure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DP-038, DP-063, DP-065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cost items: what was paid, to whom, by which entity and from which funding source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DP-067,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revenue records for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investor servicing, data office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DP-051, DP-069, DP-072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cost items for events, shareholder communications and licenses; fee revenue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One more product depends on this domain only through DP-012, without reading the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amount, followed to a margin</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 Fee Revenue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Fee Revenue Record: fee revenue after waivers and reimbursements, the amount recognized.</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DP-012</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Books it by share class or mandate and period. Quality rule: net equals gross less the waiver offset.</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DP-035</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Attributes it to channel, partner and product, then subtracts partner payments, direct and allocated cost.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SM-07 Finance &amp;</a:t>
            </a:r>
            <a:endParaRPr lang="en-US" sz="1400" dirty="0"/>
          </a:p>
          <a:p>
            <a:pPr algn="l" indent="0" marL="0">
              <a:buNone/>
            </a:pPr>
            <a:r>
              <a:rPr lang="en-US" sz="1400" b="1" dirty="0">
                <a:solidFill>
                  <a:schemeClr val="tx1"/>
                </a:solidFill>
              </a:rPr>
              <a:t>Profitability</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Net Fee Revenue as a certified metric. Other semantic models reference it.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products are unprofitable once partner payments, waivers and allocated cost are included?”</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Operating Profit = Net Fee Revenue + distribution revenue kept - payments - direct and indirect cost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AUM-based revenue estimate stays in Sales Transactions &amp; AUM Attribution. This domain holds the booked amount and reconciles the two.</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CD-022</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owns the fund advisory agreement. Recommended: Investment Product owns it and the Revenue Contract here references it.</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CD-085</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Technical Accounting to confirm that wholesaler commissions on fund sales are expensed, not capitalized.</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CD-040</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Revenue as an enterprise term means booked revenue from this domain. Pipeline and AUM-based estimates keep qualified names.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CD-030</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This domain holds the only booked accrual. Partner payment and compensation engines keep calculated amounts under new names.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revenue recognition and contract cost policies with Technical Accounting, then confirm the 71 proposed critical data elements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an FP&amp;A workshop on cost pools, allocation rules and profitability grain, and pilot one quarter for the US intermediary channel</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hand-off contracts with the domains that calculate partner payments, compensation, campaign cost and estimated revenue</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general ledger, fund accounting and planning systems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21 open gaps, starting with the five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Finance &amp; Profitability taxonomy walkthrough</dc:title>
  <dc:subject>PptxGenJS Presentation</dc:subject>
  <dc:creator>Distribution Data Taxonomy Program</dc:creator>
  <cp:lastModifiedBy>Distribution Data Taxonomy Program</cp:lastModifiedBy>
  <cp:revision>1</cp:revision>
  <dcterms:created xsi:type="dcterms:W3CDTF">2026-10-06T08:36:33Z</dcterms:created>
  <dcterms:modified xsi:type="dcterms:W3CDTF">2026-10-06T08:36:33Z</dcterms:modified>
</cp:coreProperties>
</file>