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05273e4-2ef3-53dc-8a59-5bea32eee8ad}">
          <p14:sldIdLst>
            <p14:sldId id="256"/>
            <p14:sldId id="257"/>
            <p14:sldId id="258"/>
            <p14:sldId id="259"/>
          </p14:sldIdLst>
        </p14:section>
        <p14:section name="What is included" id="{7c8af230-25fb-b2f9-fb5f-b86892835c0c}">
          <p14:sldIdLst>
            <p14:sldId id="260"/>
            <p14:sldId id="261"/>
            <p14:sldId id="262"/>
            <p14:sldId id="263"/>
            <p14:sldId id="264"/>
          </p14:sldIdLst>
        </p14:section>
        <p14:section name="What is excluded" id="{7bea975a-2276-fbc3-1ed9-52b881583e85}">
          <p14:sldIdLst>
            <p14:sldId id="265"/>
            <p14:sldId id="266"/>
            <p14:sldId id="267"/>
          </p14:sldIdLst>
        </p14:section>
        <p14:section name="How it is used" id="{6ff6984e-6316-23d8-5c8b-78b9c9ce774f}">
          <p14:sldIdLst>
            <p14:sldId id="268"/>
            <p14:sldId id="269"/>
          </p14:sldIdLst>
        </p14:section>
        <p14:section name="Data products" id="{444d831a-6c27-41a1-364c-85d281ddc7cf}">
          <p14:sldIdLst>
            <p14:sldId id="270"/>
            <p14:sldId id="271"/>
            <p14:sldId id="272"/>
            <p14:sldId id="273"/>
          </p14:sldIdLst>
        </p14:section>
        <p14:section name="Next steps" id="{7268a64b-c527-b335-4455-c9fa005105da}">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Internal (firm-defined)</c:v>
                  </c:pt>
                  <c:pt idx="1">
                    <c:v>GIPS</c:v>
                  </c:pt>
                  <c:pt idx="2">
                    <c:v>Salesforce FSC</c:v>
                  </c:pt>
                  <c:pt idx="3">
                    <c:v>MiFID II Delegated Regulation</c:v>
                  </c:pt>
                  <c:pt idx="4">
                    <c:v>SWIFT ISO 15022</c:v>
                  </c:pt>
                  <c:pt idx="5">
                    <c:v>Other standards and regulation</c:v>
                  </c:pt>
                </c:lvl>
              </c:multiLvlStrCache>
            </c:multiLvlStrRef>
          </c:cat>
          <c:val>
            <c:numRef>
              <c:f>Sheet1!$B$2:$B$7</c:f>
              <c:numCache>
                <c:formatCode>General</c:formatCode>
                <c:ptCount val="6"/>
                <c:pt idx="0">
                  <c:v>204</c:v>
                </c:pt>
                <c:pt idx="1">
                  <c:v>10</c:v>
                </c:pt>
                <c:pt idx="2">
                  <c:v>6</c:v>
                </c:pt>
                <c:pt idx="3">
                  <c:v>5</c:v>
                </c:pt>
                <c:pt idx="4">
                  <c:v>5</c:v>
                </c:pt>
                <c:pt idx="5">
                  <c:v>13</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5 of 37)</a:t>
            </a:r>
          </a:p>
        </c:rich>
      </c:tx>
      <c:layout/>
      <c:overlay val="0"/>
    </c:title>
    <c:autoTitleDeleted val="0"/>
    <c:plotArea>
      <c:layout/>
      <c:barChart>
        <c:barDir val="bar"/>
        <c:grouping val="clustered"/>
        <c:varyColors val="0"/>
        <c:ser>
          <c:idx val="0"/>
          <c:order val="0"/>
          <c:tx>
            <c:strRef>
              <c:f>Sheet1!$B$1</c:f>
              <c:strCache>
                <c:ptCount val="1"/>
                <c:pt idx="0">
                  <c:v>Products reading each object (top 5 of 37)</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Sheet1!$A$2:$A$6</c:f>
              <c:multiLvlStrCache>
                <c:ptCount val="5"/>
                <c:lvl>
                  <c:pt idx="0">
                    <c:v>Service Relationship</c:v>
                  </c:pt>
                  <c:pt idx="1">
                    <c:v>Mandate Termination</c:v>
                  </c:pt>
                  <c:pt idx="2">
                    <c:v>Client Service Request</c:v>
                  </c:pt>
                  <c:pt idx="3">
                    <c:v>Client Review</c:v>
                  </c:pt>
                  <c:pt idx="4">
                    <c:v>Billing Arrangement</c:v>
                  </c:pt>
                </c:lvl>
              </c:multiLvlStrCache>
            </c:multiLvlStrRef>
          </c:cat>
          <c:val>
            <c:numRef>
              <c:f>Sheet1!$B$2:$B$6</c:f>
              <c:numCache>
                <c:formatCode>General</c:formatCode>
                <c:ptCount val="5"/>
                <c:pt idx="0">
                  <c:v>5</c:v>
                </c:pt>
                <c:pt idx="1">
                  <c:v>4</c:v>
                </c:pt>
                <c:pt idx="2">
                  <c:v>4</c:v>
                </c:pt>
                <c:pt idx="3">
                  <c:v>3</c:v>
                </c:pt>
                <c:pt idx="4">
                  <c:v>3</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Institutional Client Servicing &amp; Reporting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Institutional Client Servicing &amp; Reporting covers what happens after an institutional mandate is won: who services the client, what the firm reports and how, how requests, cash flow notices and guideline breaches are handled, how the mandate is set up, how it is billed and how it ends. Mandates, parties, transactions and revenue accounting stay with their owning domains and are referenced by ID. The domain has 243 attributes in 37 objects. 7 of the 96 specified data products read it directly: the 4 it owns and 3 owned by other domains. It owns no foundational product, and no other domain references its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Institutional Client Servicing &amp; Reporting is one of 16 domains. The purple text shows the path to one attribute, Breach Notification Deadline, which we follow to an answer near the end of the deck. It is the number of days the contract allows for telling a client that a guideline has been breached. For every attribute the taxonomy records its meaning and its owner.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starts from the Service Relationship, which is the servicing wrapper around a client and its mandates. It is not a second party record; the client itself is mastered in Client &amp; Customer. Service staff are assigned to the relationship by role and date. From the relationship hang the things the firm has promised: the report package and its schedule, the service tier and its standards, and the guideline monitoring and billing terms arranged for each mandate. Each promise then has dated instances. A report package produces report runs, a monitoring arrangement produces breach notifications and a billing arrangement produces invoices. Keeping the two apart is what lets service levels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10 data families. For this walkthrough they are grouped in three: the spine, which is the service model and the catalog of what the firm reports to each client; day-to-day reporting and servicing, which covers presentation choices, report production, breach notices, service requests and reviews; and the set-up, billing and exit of a mandate. The three-way grouping is a presentation aid and is not a level in the taxonomy. The spine holds 56 attributes, the second group 111 and the third 76, which makes the 243.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56 attributes in 9 objects. Client Service Model is the servicing view of each client: the service relationship, the tier it sits in, the service standards the firm commits to, and the service teams and staff assigned to it. Report Definition and Content is the catalog of what the firm reports: report definitions, reusable content components, layout and branding templates, and the report package assembled for each client with its frequency and the mandates it covers. Together they say who is serviced and what has been promised. All nine objects here are business objects with their own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111 attributes. Performance and Holdings Presentation records which return methodology, fee basis, currency and benchmark a client sees. It records presentation choices only; the return and holdings values are produced elsewhere. Report Production and Delivery holds the schedule, each production run with its sign-off, version, restatement and the investment commentary it used, and each delivery to each recipient. Guideline Monitoring and Breach Reporting holds what the firm has promised each client about monitoring and certification, and the breach and MiFID depreciation notices actually sent. The restrictions themselves are mastered in Investment Product. Client Service Requests and Instructions holds the case record for each request, and the contribution and withdrawal notices with their controls. Client Reviews and Relationship Health holds review meetings, survey feedback and the health score with its at-risk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76 attributes. Mandate Operational Set-Up holds what must exist before a mandate can be funded, traded and settled: the custody account, standing settlement instructions by asset class and market, the cash flow notice terms, outbound data feeds to custodians and consultants, and transition events. Fee Billing and Invoicing is the largest family in the domain, with 34 attributes. It holds how fees are applied, invoiced, adjusted and disputed, including performance fee calculations and most-favored-nation clauses. The fee rates and breakpoints are mastered in Investment Product, and revenue accounting in Distribution Finance &amp; Profitability. Termination and Offboarding is one object, Mandate Termination, which carries the notice, the reason, the final report and invoice, and the records retention end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This domain is unusual: 204 of the 243 attributes are firm-defined, because how a firm tiers, services and bills its clients has no authoritative external definition. The other 39, 16 percent, align to an external standard, and they sit where the outside world sets the rules: GIPS for how performance is presented, MiFID II for periodic statements and depreciation notices, SWIFT ISO 15022 for settlement instructions, and a CRM case model for service requests. 61 attributes take their values from a controlled code list, and 80 are proposed critical data elements. Some source references, including the GIPS provision numbers and the UK depreciation rule, are still to be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records how a client is serviced, reported to and billed. It deliberately leaves out the things it services. This table shows where each excluded subject lives and what this domain keeps so that it can point to it. Three boundaries are worth calling out. The restriction is mastered in Investment Product, but the notice to the client that it was breached is here. The client's cash flow instruction and its controls are here, but the settled transaction is in Sales Transactions &amp; AUM Attribution. And this domain records which return type, fee basis and benchmark a client sees, not the return values, which stay in the performance and accounting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190 of the 243 are mastered in this domain. 49 are references, which hold only the ID of a record mastered in another domain, and 4 are derived copies. That is a high share, and it is by design: the first design principle is to reference and not redefine. Investment Product supplies the most, 22 references, mostly the mandate that each record belongs to, plus the investment commentary used in a report run. Client &amp; Customer supplies 12 references and 3 copies, and the client account behind each custody set-up is now a reference to Account. In the other direction the count is zero: no attribute in any other domain references this one. Record Metadata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11 gaps against this domain. One is resolved. Ten are open, all proposed and waiting for a decision. None is high priority: three are medium and seven are low. The slide shows the three medium gaps and four of the low ones. Most are a missing timestamp or a child object that does not name its parent. The three low gaps not shown are a missing link from report components to report definitions, four attributes that each point to one of two object types, and a missing set-up status on custody accounts and client data feeds.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servicing source is mapped to: CRM service cases, the client reporting platform, the performance system, guideline compliance, DTCC ALERT and the billing engine. That mapping to the firm's actual systems has not been done. Second, it is the bill of materials for data products: each product lists the exact attributes it uses, and 222 of the 243 appear in a product specification. Third, where other domains supply shared dimensions, this one supplies service measures. They are defined once in DP-042 and published in the semantic model SM-04. Fourth, the ownership flags, the 80 proposed critical data elements and the 13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no foundational product. Its anchor is DP-042, Institutional Client Health and Service, owned by the Head of Institutional Client Service. It has one row per service relationship and month, and it brings together service requests against their SLA, report timeliness and restatements, breach notifications, reviews, feedback, billing disputes and terminations, alongside certified AUM. 94 of its 102 attributes come from this domain, drawn from 18 of the 37 objects. It refreshes weekly, by 9am Eastern each Monday. Two other products name it as a direct upstream, Institutional Client 360 and the Unified Engagement Timeline, and three depend on it directly or indirectly. It exists so that client service can act on an at-risk relationship before it becomes a 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of the 96 specified data products list this domain's objects among their inputs. All seven are consumer-aligned and none is foundational: three are operational, three are regulatory and control products, and one is analytical. That is a small number of readers, and it reflects where the domain sits, at the servicing end of the client lifecycle. The use is deep, though. Every one of the 37 objects is used by at least one product, and 222 of the 243 attributes, 91 percent, appear in a product specification. Service Relationship is the most used object, read by 5 products, followed by Mandate Termination and Client Service Request with 4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data products have this domain as their owning domain, and all four are consumer-aligned. Institutional Client Health and Service is the anchor, with 94 of its 102 attributes from this domain. Client Reporting Delivery and SLA tracks every report run against its schedule, and takes 92 of its 94 attributes from here. Institutional Fee Billing and Revenue Leakage recalculates the contracted fee and compares it with what was billed; 38 of its 72 attributes are from this domain, and the rest are mostly fee terms, AUM and revenue from other domains. Mandate Onboarding and Cash Flow Readiness shows whether a won mandate is ready to fund, with 49 of its 82 attributes from here. The bar on the right shows that share for each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three products owned by other domains read this domain directly, so this table is short. Institutional Client 360, owned by Sales, takes the most: 38 of its 148 attributes, covering the service relationship, coverage, service requests, reviews, health status and termination notices for one client. The Unified Engagement Timeline, also owned by Sales, takes 15 attributes so that service requests and client reviews appear alongside sales activity. Complaints and Conduct Analytics, owned by Distribution Compliance, takes 5 attributes from Client Service Request, including the complaint a request raised. No further products depend on this domain indirectly, because it owns no foundational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Breach Notification Deadline is defined once, on the Guideline Monitoring Arrangement for a mandate. It is the number of days the contract allows for telling the client about an active guideline breach. DP-086, the onboarding product, reads the arrangement and checks that one exists before a mandate with custom guidelines is funded. DP-042 then compares the deadline with the evidence: the date each breach was detected and the time the client was notified. The semantic model SM-04 publishes the deadline and the Late Breach Notifications metric. The same definition then answers the client service question on a dashboard or through an AI assistant. Note the boundary: the restriction itself is mastered in Investment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are still open. The most important is the fee schedule key: Investment Product has no versioned fee schedule ID, so a billing arrangement cannot point to the exact schedule it applies. The second is the custodian, which appears both on the client account and on this domain's custody set-up. The third is which records retention schedule applies after a termination. The fourth is a gap: service requests have no resolved or closed timestamp. The next steps on the right come from the taxonomy's own plan: validate with the business, map to source systems, verify the unconfirmed source items, harmonize shared code lists, and decide the 10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Institutional Client Servicing &amp; Reporting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INSTITUTIONAL CLIENT SERVICING &amp; REPORTING</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000" b="1" dirty="0">
                <a:solidFill>
                  <a:schemeClr val="bg1"/>
                </a:solidFill>
              </a:rPr>
              <a:t>The Institutional Client Servicing &amp; Reporting taxonomy: a walkthrough</a:t>
            </a:r>
            <a:endParaRPr lang="en-US" sz="30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Service Relationship</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we service, and how</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Report Package</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promised to report</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Report Run</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delivered, and when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client servicing,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10</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37</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243</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80</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service model, the client reporting catalog and its production, guideline breach notices, service requests, cash flow notices, client reviews, mandate set-up, fee billing and termination.</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Mandates, restrictions and fee terms, parties and accounts, sales activity, transactions and AUM, complaints, revenue accounting, and the return and holdings values themselves.</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service, reporting and billing systems, the bill of materials for data products, and the source of the service measures published for institutional client service.</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7 of the 96 data products read it directly: the 4 it owns and 3 owned by other domains. It owns no foundational product, and no other domain references its attributes.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Institutional Client Servicing &amp; Reporting</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10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Guideline Monitoring &amp; Breach Reporting</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37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Guideline Monitoring Arrangement</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243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Breach Notification Deadline</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client, mandate, report or event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a promise, then the evidence</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WHO WE SERVICE</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WE PROMISED</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WE DID</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Service Relationship</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Client with its mandates, keyed SVR-</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Service Coverage Assignment</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Service staff, by role and date</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servicing record per client and segment, wrapping its mandates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Report Package and Schedule</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The reports a client receives, and when</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Service Tier and Standards</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Review cadence, frequency, SLAs</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Guideline and Billing Terms</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Breach deadline, certificates, billing basis</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Report Run</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Cut-off, sign-off, version, delivery</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Every promise has dated instances: report runs, breach notifications, invoices, reviews and service requests.</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Definition is kept apart from instance. The package, standard or arrangement says what was promised. Each run, notification or invoice records what happened, with timestamps. That is what lets service levels be measured.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10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9 objects  |  56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Client Service Model</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32 attributes  |  8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Report Definition &amp; Content</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24 attributes  |  5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Day-to-day reporting and servicing</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17 objects  |  111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Performance &amp; Holdings Presentation</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23 attributes  |  5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Report Production &amp; Delivery</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28 attributes  |  9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Guideline Monitoring &amp; Breach Reporting</a:t>
            </a:r>
            <a:endParaRPr lang="en-US" sz="11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20 attributes  |  10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Client Service Requests &amp; Instructions</a:t>
            </a:r>
            <a:endParaRPr lang="en-US" sz="11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21 attributes  |  9 critical</a:t>
            </a:r>
            <a:endParaRPr lang="en-US" sz="1100" dirty="0"/>
          </a:p>
        </p:txBody>
      </p:sp>
      <p:sp>
        <p:nvSpPr>
          <p:cNvPr id="29" name="Shape 26"/>
          <p:cNvSpPr/>
          <p:nvPr/>
        </p:nvSpPr>
        <p:spPr>
          <a:xfrm>
            <a:off x="4338828" y="5550408"/>
            <a:ext cx="3511296" cy="612648"/>
          </a:xfrm>
          <a:prstGeom prst="roundRect">
            <a:avLst>
              <a:gd name="adj" fmla="val 11940"/>
            </a:avLst>
          </a:prstGeom>
          <a:solidFill>
            <a:schemeClr val="bg2"/>
          </a:solidFill>
          <a:ln/>
        </p:spPr>
      </p:sp>
      <p:sp>
        <p:nvSpPr>
          <p:cNvPr id="30" name="Text 27"/>
          <p:cNvSpPr txBox="1"/>
          <p:nvPr/>
        </p:nvSpPr>
        <p:spPr>
          <a:xfrm>
            <a:off x="4521708" y="5605272"/>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Client Reviews &amp; Relationship Health</a:t>
            </a:r>
            <a:endParaRPr lang="en-US" sz="1300" dirty="0"/>
          </a:p>
        </p:txBody>
      </p:sp>
      <p:sp>
        <p:nvSpPr>
          <p:cNvPr id="31" name="Text 28"/>
          <p:cNvSpPr txBox="1"/>
          <p:nvPr/>
        </p:nvSpPr>
        <p:spPr>
          <a:xfrm>
            <a:off x="4521708"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19 attributes  |  4 critical</a:t>
            </a:r>
            <a:endParaRPr lang="en-US" sz="1100" dirty="0"/>
          </a:p>
        </p:txBody>
      </p:sp>
      <p:sp>
        <p:nvSpPr>
          <p:cNvPr id="32" name="Shape 29"/>
          <p:cNvSpPr/>
          <p:nvPr/>
        </p:nvSpPr>
        <p:spPr>
          <a:xfrm>
            <a:off x="8129016" y="1783080"/>
            <a:ext cx="3511296" cy="777240"/>
          </a:xfrm>
          <a:prstGeom prst="roundRect">
            <a:avLst>
              <a:gd name="adj" fmla="val 9412"/>
            </a:avLst>
          </a:prstGeom>
          <a:solidFill>
            <a:schemeClr val="accent5"/>
          </a:solidFill>
          <a:ln/>
        </p:spPr>
      </p:sp>
      <p:sp>
        <p:nvSpPr>
          <p:cNvPr id="33" name="Text 30"/>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Set-up, billing and exit</a:t>
            </a:r>
            <a:endParaRPr lang="en-US" sz="1400" dirty="0"/>
          </a:p>
        </p:txBody>
      </p:sp>
      <p:sp>
        <p:nvSpPr>
          <p:cNvPr id="34" name="Text 31"/>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11 objects  |  76 attributes</a:t>
            </a:r>
            <a:endParaRPr lang="en-US" sz="1200" dirty="0"/>
          </a:p>
        </p:txBody>
      </p:sp>
      <p:sp>
        <p:nvSpPr>
          <p:cNvPr id="35" name="Shape 32"/>
          <p:cNvSpPr/>
          <p:nvPr/>
        </p:nvSpPr>
        <p:spPr>
          <a:xfrm>
            <a:off x="8129016" y="2697480"/>
            <a:ext cx="3511296" cy="612648"/>
          </a:xfrm>
          <a:prstGeom prst="roundRect">
            <a:avLst>
              <a:gd name="adj" fmla="val 11940"/>
            </a:avLst>
          </a:prstGeom>
          <a:solidFill>
            <a:schemeClr val="bg2"/>
          </a:solidFill>
          <a:ln/>
        </p:spPr>
      </p:sp>
      <p:sp>
        <p:nvSpPr>
          <p:cNvPr id="36" name="Text 33"/>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Mandate Operational Set-Up</a:t>
            </a:r>
            <a:endParaRPr lang="en-US" sz="1300" dirty="0"/>
          </a:p>
        </p:txBody>
      </p:sp>
      <p:sp>
        <p:nvSpPr>
          <p:cNvPr id="37" name="Text 34"/>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32 attributes  |  15 critical</a:t>
            </a:r>
            <a:endParaRPr lang="en-US" sz="1100" dirty="0"/>
          </a:p>
        </p:txBody>
      </p:sp>
      <p:sp>
        <p:nvSpPr>
          <p:cNvPr id="38" name="Shape 35"/>
          <p:cNvSpPr/>
          <p:nvPr/>
        </p:nvSpPr>
        <p:spPr>
          <a:xfrm>
            <a:off x="8129016" y="3410712"/>
            <a:ext cx="3511296" cy="612648"/>
          </a:xfrm>
          <a:prstGeom prst="roundRect">
            <a:avLst>
              <a:gd name="adj" fmla="val 11940"/>
            </a:avLst>
          </a:prstGeom>
          <a:solidFill>
            <a:schemeClr val="bg2"/>
          </a:solidFill>
          <a:ln/>
        </p:spPr>
      </p:sp>
      <p:sp>
        <p:nvSpPr>
          <p:cNvPr id="39" name="Text 36"/>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Fee Billing &amp; Invoicing</a:t>
            </a:r>
            <a:endParaRPr lang="en-US" sz="1300" dirty="0"/>
          </a:p>
        </p:txBody>
      </p:sp>
      <p:sp>
        <p:nvSpPr>
          <p:cNvPr id="40" name="Text 37"/>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34 attributes  |  11 critical</a:t>
            </a:r>
            <a:endParaRPr lang="en-US" sz="1100" dirty="0"/>
          </a:p>
        </p:txBody>
      </p:sp>
      <p:sp>
        <p:nvSpPr>
          <p:cNvPr id="41" name="Shape 38"/>
          <p:cNvSpPr/>
          <p:nvPr/>
        </p:nvSpPr>
        <p:spPr>
          <a:xfrm>
            <a:off x="8129016" y="4123944"/>
            <a:ext cx="3511296" cy="612648"/>
          </a:xfrm>
          <a:prstGeom prst="roundRect">
            <a:avLst>
              <a:gd name="adj" fmla="val 11940"/>
            </a:avLst>
          </a:prstGeom>
          <a:solidFill>
            <a:schemeClr val="bg2"/>
          </a:solidFill>
          <a:ln/>
        </p:spPr>
      </p:sp>
      <p:sp>
        <p:nvSpPr>
          <p:cNvPr id="42" name="Text 39"/>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Termination &amp; Offboarding</a:t>
            </a:r>
            <a:endParaRPr lang="en-US" sz="1300" dirty="0"/>
          </a:p>
        </p:txBody>
      </p:sp>
      <p:sp>
        <p:nvSpPr>
          <p:cNvPr id="43" name="Text 40"/>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 objects  |  10 attributes  |  4 critical</a:t>
            </a:r>
            <a:endParaRPr lang="en-US" sz="1100" dirty="0"/>
          </a:p>
        </p:txBody>
      </p:sp>
      <p:sp>
        <p:nvSpPr>
          <p:cNvPr id="44" name="Text 41"/>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service model and report catalog</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Client Service Model</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5 objects  |  32 attributes  |  8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The servicing view of each client: its tier, the standards it is promised and the service staff assigned to it.</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Service Relationship, </a:t>
            </a:r>
            <a:pPr indent="0" marL="0">
              <a:buNone/>
            </a:pPr>
            <a:r>
              <a:rPr lang="en-US" sz="1300" b="1" dirty="0">
                <a:solidFill>
                  <a:schemeClr val="tx1"/>
                </a:solidFill>
              </a:rPr>
              <a:t>Service Tier, </a:t>
            </a:r>
            <a:pPr indent="0" marL="0">
              <a:buNone/>
            </a:pPr>
            <a:r>
              <a:rPr lang="en-US" sz="1300" b="1" dirty="0">
                <a:solidFill>
                  <a:schemeClr val="tx1"/>
                </a:solidFill>
              </a:rPr>
              <a:t>Service Standard, </a:t>
            </a:r>
            <a:pPr indent="0" marL="0">
              <a:buNone/>
            </a:pPr>
            <a:r>
              <a:rPr lang="en-US" sz="1300" b="1" dirty="0">
                <a:solidFill>
                  <a:schemeClr val="tx1"/>
                </a:solidFill>
              </a:rPr>
              <a:t>Service Team, </a:t>
            </a:r>
            <a:pPr indent="0" marL="0">
              <a:buNone/>
            </a:pPr>
            <a:r>
              <a:rPr lang="en-US" sz="1300" b="1" dirty="0">
                <a:solidFill>
                  <a:schemeClr val="tx1"/>
                </a:solidFill>
              </a:rPr>
              <a:t>Service Coverage Assignment</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Servicing Segment, Service Tier, Service Standard Metric, Service Role</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Report Definition &amp; Content</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4 objects  |  24 attributes  |  5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The catalog of client reports, their components and templates, and the package assembled for each client.</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Report Definition, </a:t>
            </a:r>
            <a:pPr indent="0" marL="0">
              <a:buNone/>
            </a:pPr>
            <a:r>
              <a:rPr lang="en-US" sz="1300" b="1" dirty="0">
                <a:solidFill>
                  <a:schemeClr val="tx1"/>
                </a:solidFill>
              </a:rPr>
              <a:t>Report Component, </a:t>
            </a:r>
            <a:pPr indent="0" marL="0">
              <a:buNone/>
            </a:pPr>
            <a:r>
              <a:rPr lang="en-US" sz="1300" b="1" dirty="0">
                <a:solidFill>
                  <a:schemeClr val="tx1"/>
                </a:solidFill>
              </a:rPr>
              <a:t>Report Template, </a:t>
            </a:r>
            <a:pPr indent="0" marL="0">
              <a:buNone/>
            </a:pPr>
            <a:r>
              <a:rPr lang="en-US" sz="1300" b="1" dirty="0">
                <a:solidFill>
                  <a:schemeClr val="tx1"/>
                </a:solidFill>
              </a:rPr>
              <a:t>Report Package</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Report Type, Regulatory Driver, Component Type, Output Format, Package Frequency</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report definition, package, profile or breach notification.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Day-to-day reporting and servicing</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Performance &amp; Holdings Presentation</a:t>
                      </a:r>
                      <a:endParaRPr lang="en-US" sz="1200" dirty="0"/>
                    </a:p>
                    <a:p>
                      <a:pPr indent="0" marL="0">
                        <a:buNone/>
                      </a:pPr>
                      <a:r>
                        <a:rPr lang="en-US" sz="1100" dirty="0">
                          <a:solidFill>
                            <a:schemeClr val="tx2"/>
                          </a:solidFill>
                        </a:rPr>
                        <a:t>4 objects  |  23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Which returns, fee basis, currency, benchmark and holdings detail each client sees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Presentation Profile, </a:t>
                      </a:r>
                      <a:pPr indent="0" marL="0">
                        <a:buNone/>
                      </a:pPr>
                      <a:r>
                        <a:rPr lang="en-US" sz="1200" dirty="0">
                          <a:solidFill>
                            <a:schemeClr val="tx1"/>
                          </a:solidFill>
                        </a:rPr>
                        <a:t>Holdings Presentation, </a:t>
                      </a:r>
                      <a:pPr indent="0" marL="0">
                        <a:buNone/>
                      </a:pPr>
                      <a:r>
                        <a:rPr lang="en-US" sz="1200" dirty="0">
                          <a:solidFill>
                            <a:schemeClr val="tx1"/>
                          </a:solidFill>
                        </a:rPr>
                        <a:t>GIPS Report Provision, </a:t>
                      </a:r>
                      <a:pPr indent="0" marL="0">
                        <a:buNone/>
                      </a:pPr>
                      <a:r>
                        <a:rPr lang="en-US" sz="1200" dirty="0">
                          <a:solidFill>
                            <a:schemeClr val="tx1"/>
                          </a:solidFill>
                        </a:rPr>
                        <a:t>Template Adoption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Return Methodology Shown, Fee Basis Shown, Reporting Currency, CTI Template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Report Production &amp; Delivery</a:t>
                      </a:r>
                      <a:endParaRPr lang="en-US" sz="1200" dirty="0"/>
                    </a:p>
                    <a:p>
                      <a:pPr indent="0" marL="0">
                        <a:buNone/>
                      </a:pPr>
                      <a:r>
                        <a:rPr lang="en-US" sz="1100" dirty="0">
                          <a:solidFill>
                            <a:schemeClr val="tx2"/>
                          </a:solidFill>
                        </a:rPr>
                        <a:t>4 objects  |  28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Schedules, production runs with sign-off and versions, distribution lists and deliveries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Report Schedule, </a:t>
                      </a:r>
                      <a:pPr indent="0" marL="0">
                        <a:buNone/>
                      </a:pPr>
                      <a:r>
                        <a:rPr lang="en-US" sz="1200" b="1" dirty="0">
                          <a:solidFill>
                            <a:schemeClr val="tx1"/>
                          </a:solidFill>
                        </a:rPr>
                        <a:t>Report Run, </a:t>
                      </a:r>
                      <a:pPr indent="0" marL="0">
                        <a:buNone/>
                      </a:pPr>
                      <a:r>
                        <a:rPr lang="en-US" sz="1200" b="1" dirty="0">
                          <a:solidFill>
                            <a:schemeClr val="tx1"/>
                          </a:solidFill>
                        </a:rPr>
                        <a:t>Distribution List, </a:t>
                      </a:r>
                      <a:pPr indent="0" marL="0">
                        <a:buNone/>
                      </a:pPr>
                      <a:r>
                        <a:rPr lang="en-US" sz="1200" b="1" dirty="0">
                          <a:solidFill>
                            <a:schemeClr val="tx1"/>
                          </a:solidFill>
                        </a:rPr>
                        <a:t>Report Delivery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Delivery Due Offset, Sign-Off Timestamp, Restatement Indicator, Delivery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Guideline Monitoring &amp; Breach Reporting</a:t>
                      </a:r>
                      <a:endParaRPr lang="en-US" sz="1200" dirty="0"/>
                    </a:p>
                    <a:p>
                      <a:pPr indent="0" marL="0">
                        <a:buNone/>
                      </a:pPr>
                      <a:r>
                        <a:rPr lang="en-US" sz="1100" dirty="0">
                          <a:solidFill>
                            <a:schemeClr val="tx2"/>
                          </a:solidFill>
                        </a:rPr>
                        <a:t>4 objects  |  20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Monitoring and certification promised per mandate, and the breach notices sent to clients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Guideline Monitoring Arrangement, </a:t>
                      </a:r>
                      <a:pPr indent="0" marL="0">
                        <a:buNone/>
                      </a:pPr>
                      <a:r>
                        <a:rPr lang="en-US" sz="1200" b="1" dirty="0">
                          <a:solidFill>
                            <a:schemeClr val="tx1"/>
                          </a:solidFill>
                        </a:rPr>
                        <a:t>Breach Notification, </a:t>
                      </a:r>
                      <a:pPr indent="0" marL="0">
                        <a:buNone/>
                      </a:pPr>
                      <a:r>
                        <a:rPr lang="en-US" sz="1200" b="1" dirty="0">
                          <a:solidFill>
                            <a:schemeClr val="tx1"/>
                          </a:solidFill>
                        </a:rPr>
                        <a:t>Compliance Certificate, </a:t>
                      </a:r>
                      <a:pPr indent="0" marL="0">
                        <a:buNone/>
                      </a:pPr>
                      <a:r>
                        <a:rPr lang="en-US" sz="1200" dirty="0">
                          <a:solidFill>
                            <a:schemeClr val="tx1"/>
                          </a:solidFill>
                        </a:rPr>
                        <a:t>Depreciation Notification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Breach Notification Deadline, Breach Type, Client Notified Timestamp, Cure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Client Service Requests &amp; Instructions</a:t>
                      </a:r>
                      <a:endParaRPr lang="en-US" sz="1200" dirty="0"/>
                    </a:p>
                    <a:p>
                      <a:pPr indent="0" marL="0">
                        <a:buNone/>
                      </a:pPr>
                      <a:r>
                        <a:rPr lang="en-US" sz="1100" dirty="0">
                          <a:solidFill>
                            <a:schemeClr val="tx2"/>
                          </a:solidFill>
                        </a:rPr>
                        <a:t>2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Requests from clients and consultants, and contribution and withdrawal notices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Client Service Request, </a:t>
                      </a:r>
                      <a:pPr indent="0" marL="0">
                        <a:buNone/>
                      </a:pPr>
                      <a:r>
                        <a:rPr lang="en-US" sz="1200" b="1" dirty="0">
                          <a:solidFill>
                            <a:schemeClr val="tx1"/>
                          </a:solidFill>
                        </a:rPr>
                        <a:t>Cash Flow Notification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Request Type, Request SLA Due Timestamp, Flow Direction, Notified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Client Reviews &amp; Relationship Health</a:t>
                      </a:r>
                      <a:endParaRPr lang="en-US" sz="1200" dirty="0"/>
                    </a:p>
                    <a:p>
                      <a:pPr indent="0" marL="0">
                        <a:buNone/>
                      </a:pPr>
                      <a:r>
                        <a:rPr lang="en-US" sz="1100" dirty="0">
                          <a:solidFill>
                            <a:schemeClr val="tx2"/>
                          </a:solidFill>
                        </a:rPr>
                        <a:t>3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Formal review meetings, client feedback and the health score used to manage retention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Client Review, </a:t>
                      </a:r>
                      <a:pPr indent="0" marL="0">
                        <a:buNone/>
                      </a:pPr>
                      <a:r>
                        <a:rPr lang="en-US" sz="1200" b="1" dirty="0">
                          <a:solidFill>
                            <a:schemeClr val="tx1"/>
                          </a:solidFill>
                        </a:rPr>
                        <a:t>Client Feedback Response, </a:t>
                      </a:r>
                      <a:pPr indent="0" marL="0">
                        <a:buNone/>
                      </a:pPr>
                      <a:r>
                        <a:rPr lang="en-US" sz="1200" b="1" dirty="0">
                          <a:solidFill>
                            <a:schemeClr val="tx1"/>
                          </a:solidFill>
                        </a:rPr>
                        <a:t>Relationship Health Score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Review Type, Likelihood to Recommend Score, Health Status, At-Risk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report definition, package, profile or breach notification.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Set-up, billing and exit</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Mandate Operational Set-Up</a:t>
                      </a:r>
                      <a:endParaRPr lang="en-US" sz="1200" dirty="0"/>
                    </a:p>
                    <a:p>
                      <a:pPr indent="0" marL="0">
                        <a:buNone/>
                      </a:pPr>
                      <a:r>
                        <a:rPr lang="en-US" sz="1100" dirty="0">
                          <a:solidFill>
                            <a:schemeClr val="tx2"/>
                          </a:solidFill>
                        </a:rPr>
                        <a:t>5 objects  |  32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Custody accounts, settlement instructions, cash flow terms, outbound feeds and transitions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Custody Account, </a:t>
                      </a:r>
                      <a:pPr indent="0" marL="0">
                        <a:buNone/>
                      </a:pPr>
                      <a:r>
                        <a:rPr lang="en-US" sz="1200" b="1" dirty="0">
                          <a:solidFill>
                            <a:schemeClr val="tx1"/>
                          </a:solidFill>
                        </a:rPr>
                        <a:t>Standing Settlement Instruction, </a:t>
                      </a:r>
                      <a:pPr indent="0" marL="0">
                        <a:buNone/>
                      </a:pPr>
                      <a:r>
                        <a:rPr lang="en-US" sz="1200" b="1" dirty="0">
                          <a:solidFill>
                            <a:schemeClr val="tx1"/>
                          </a:solidFill>
                        </a:rPr>
                        <a:t>Cash Flow Arrangement, </a:t>
                      </a:r>
                      <a:pPr indent="0" marL="0">
                        <a:buNone/>
                      </a:pPr>
                      <a:r>
                        <a:rPr lang="en-US" sz="1200" b="1" dirty="0">
                          <a:solidFill>
                            <a:schemeClr val="tx1"/>
                          </a:solidFill>
                        </a:rPr>
                        <a:t>Client Data Feed, </a:t>
                      </a:r>
                      <a:pPr indent="0" marL="0">
                        <a:buNone/>
                      </a:pPr>
                      <a:r>
                        <a:rPr lang="en-US" sz="1200" b="1" dirty="0">
                          <a:solidFill>
                            <a:schemeClr val="tx1"/>
                          </a:solidFill>
                        </a:rPr>
                        <a:t>Transition Event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Custodian BIC, SSI Verification Status, Notice Period Days, Feed Content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Fee Billing &amp; Invoicing</a:t>
                      </a:r>
                      <a:endParaRPr lang="en-US" sz="1200" dirty="0"/>
                    </a:p>
                    <a:p>
                      <a:pPr indent="0" marL="0">
                        <a:buNone/>
                      </a:pPr>
                      <a:r>
                        <a:rPr lang="en-US" sz="1100" dirty="0">
                          <a:solidFill>
                            <a:schemeClr val="tx2"/>
                          </a:solidFill>
                        </a:rPr>
                        <a:t>5 objects  |  34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How mandate fees are applied, invoiced, adjusted and disputed, including performance fees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Billing Arrangement, </a:t>
                      </a:r>
                      <a:pPr indent="0" marL="0">
                        <a:buNone/>
                      </a:pPr>
                      <a:r>
                        <a:rPr lang="en-US" sz="1200" b="1" dirty="0">
                          <a:solidFill>
                            <a:schemeClr val="tx1"/>
                          </a:solidFill>
                        </a:rPr>
                        <a:t>Fee Invoice, </a:t>
                      </a:r>
                      <a:pPr indent="0" marL="0">
                        <a:buNone/>
                      </a:pPr>
                      <a:r>
                        <a:rPr lang="en-US" sz="1200" b="1" dirty="0">
                          <a:solidFill>
                            <a:schemeClr val="tx1"/>
                          </a:solidFill>
                        </a:rPr>
                        <a:t>Performance Fee Calculation, </a:t>
                      </a:r>
                      <a:pPr indent="0" marL="0">
                        <a:buNone/>
                      </a:pPr>
                      <a:r>
                        <a:rPr lang="en-US" sz="1200" b="1" dirty="0">
                          <a:solidFill>
                            <a:schemeClr val="tx1"/>
                          </a:solidFill>
                        </a:rPr>
                        <a:t>Fee Adjustment, </a:t>
                      </a:r>
                      <a:pPr indent="0" marL="0">
                        <a:buNone/>
                      </a:pPr>
                      <a:r>
                        <a:rPr lang="en-US" sz="1200" b="1" dirty="0">
                          <a:solidFill>
                            <a:schemeClr val="tx1"/>
                          </a:solidFill>
                        </a:rPr>
                        <a:t>Billing Dispute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Billing Basis, MFN Clause Indicator, Invoice Total, Payment Status, Dispute Reason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Termination &amp; Offboarding</a:t>
                      </a:r>
                      <a:endParaRPr lang="en-US" sz="1200" dirty="0"/>
                    </a:p>
                    <a:p>
                      <a:pPr indent="0" marL="0">
                        <a:buNone/>
                      </a:pPr>
                      <a:r>
                        <a:rPr lang="en-US" sz="1100" dirty="0">
                          <a:solidFill>
                            <a:schemeClr val="tx2"/>
                          </a:solidFill>
                        </a:rPr>
                        <a:t>1 objects  |  10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Termination notice, transition out, final report and invoice, and records retention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Mandate Termination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Notice Received Date, Termination Reason, Effective Termination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report definition, package, profile or breach notification.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standards at the edges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Net Promoter System, DTCC ALERT, ILPA, CTI, Solvency II TPT, ISO 9362, ESMA and SEC rules.</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16%</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(39 of 243) align to an external standard, regulation or template</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61</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80</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critical data elements, 33 percent of the total</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Mandates, restrictions, fee terms, benchmarks, composites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each; which benchmark a client sees and how the fee schedule is billed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Parties, contact points and consent; the client 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 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the client, consultant, custodian, recipients and account; the custody set-up</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Sales meetings, opportunities, RFPs, consultant databases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client review record, which points to the meeting activity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positions, AUM and inbound data feeds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client's cash flow notice and its controls; outbound feeds to custodians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Sales territories and sales coverage of clients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assignment of service staff to relationships and mandates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Compliance reviews and complaints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reference to the review of a report run and to a complaint raised from a request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Fee revenue accounting and cost-to-serve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invoice, its adjustments and disputes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Return and holdings values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Performance and accounting systems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Presentation choices only: return type, fee basis, currency, periods, benchmark shown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190 attributes mastered, 53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190</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243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49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22 references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mandate on almost every record, plus restrictions, benchmarks, composite, fee schedule, commentary</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12 references, 3 copies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Client, consultant, custodian, recipients, signatories and bill-to party; copies of three BICs</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8 references</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Employees who service, sign off, certify and approve; legal entity; business calendar</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Compliance</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Compliance review of a report run; complaint raised from a service request</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 reference, 1 copy</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Transaction that settles a cash flow notice; billable assets on a fee invoice</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4 references</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Brand on a report template, meeting behind a review, data-sharing agreement for a feed, client account</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no attribute in any other domain references this domain.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10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11</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1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10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0 high, 3 medium, 7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GAP-12-001</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Client Service Request has no resolved or closed timestamp, so on-time resolution cannot be measured directly (DP-042, DP-053)</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Billing Arrangement has no payment terms or invoice due offset, so late billing is measured against a policy offset (DP-067)</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GAP-12-003</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Performance Fee Calculation does not name its billing arrangement (DP-067)</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GAP-12-005</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Compliance Certificate does not name its monitored mandate or arrangement (DP-042)</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GAP-12-006</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Report Run has no delivery due date, so an extension agreed for one run cannot be recorded (DP-068)</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GAP-12-007</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There is no error record for client reports, so errors caught before delivery are not visible (DP-068)</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GAP-12-011</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Cash Flow Notification has no received timestamp, so notice lead time cannot be recomputed (DP-086)</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CRM service cases, the reporting platform, the performance system, DTCC ALERT and the billing engine each map to one definition per field. Source mapping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222 of the 243 attributes, 91 percent, appear in a product specification.</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Service measures</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Request, report, breach and review measures are defined once in DP-042 and published in SM-04 Institutional &amp; Retirement. This domain supplies no shared dimension.</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80 proposed critical data elements and 13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Service, reporting, billing systems</a:t>
            </a:r>
            <a:endParaRPr lang="en-US" sz="11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Client servicing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DP-042 anchor product</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SM-04 semantic</a:t>
            </a:r>
            <a:endParaRPr lang="en-US" sz="1200" dirty="0"/>
          </a:p>
          <a:p>
            <a:pPr algn="ctr" indent="0" marL="0">
              <a:buNone/>
            </a:pPr>
            <a:r>
              <a:rPr lang="en-US" sz="1200" b="1" dirty="0">
                <a:solidFill>
                  <a:schemeClr val="tx1"/>
                </a:solidFill>
              </a:rPr>
              <a:t>model</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CRM,</a:t>
            </a:r>
            <a:endParaRPr lang="en-US" sz="1200" dirty="0"/>
          </a:p>
          <a:p>
            <a:pPr algn="ctr" indent="0" marL="0">
              <a:buNone/>
            </a:pPr>
            <a:r>
              <a:rPr lang="en-US" sz="1200" b="1" dirty="0">
                <a:solidFill>
                  <a:schemeClr val="tx1"/>
                </a:solidFill>
              </a:rPr>
              <a:t>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ANCHOR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joins the service signals</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DP-042</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Institutional Client Health &amp; Service</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Consumer-aligned  |  Analytical  |  Owner: Head of Institutional Client Service</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service relationship and month, with drill-down to request, report run, breach, review and feedback events</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94 of its 102 attributes come from 18 of this domain's 37 objects. The other 8 are certified AUM from Sales Transactions &amp; AUM Attribution</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Weekly, by 9am Eastern each Monday. The month view is final by business day 8 after month-end, once DP-008 locks AUM</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Monthly relationship snapshots kept for 7 years. Health scores and feedback responses are kept with their dates</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 Client. Holds personal data because it names service staff. Feedback comments and respondent names are left out</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2</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name DP-042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3</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active service relationship has exactly one primary contact on each date</a:t>
            </a:r>
            <a:endParaRPr lang="en-US" sz="1300" dirty="0"/>
          </a:p>
          <a:p>
            <a:pPr marL="177800" indent="-177800">
              <a:spcAft>
                <a:spcPts val="600"/>
              </a:spcAft>
              <a:buSzPct val="100000"/>
              <a:buChar char="•"/>
            </a:pPr>
            <a:r>
              <a:rPr lang="en-US" sz="1300" dirty="0">
                <a:solidFill>
                  <a:schemeClr val="tx1"/>
                </a:solidFill>
              </a:rPr>
              <a:t>AUM comes from the locked DP-008 month-end snapshot, never from an estimate</a:t>
            </a:r>
            <a:endParaRPr lang="en-US" sz="1300" dirty="0"/>
          </a:p>
          <a:p>
            <a:pPr marL="177800" indent="-177800">
              <a:spcAft>
                <a:spcPts val="600"/>
              </a:spcAft>
              <a:buSzPct val="100000"/>
              <a:buChar char="•"/>
            </a:pPr>
            <a:r>
              <a:rPr lang="en-US" sz="1300" dirty="0">
                <a:solidFill>
                  <a:schemeClr val="tx1"/>
                </a:solidFill>
              </a:rPr>
              <a:t>Every relationship flagged at risk has an at-risk reason</a:t>
            </a:r>
            <a:endParaRPr lang="en-US" sz="1300" dirty="0"/>
          </a:p>
          <a:p>
            <a:pPr marL="177800" indent="-177800">
              <a:spcAft>
                <a:spcPts val="600"/>
              </a:spcAft>
              <a:buSzPct val="100000"/>
              <a:buChar char="•"/>
            </a:pPr>
            <a:r>
              <a:rPr lang="en-US" sz="1300" dirty="0">
                <a:solidFill>
                  <a:schemeClr val="tx1"/>
                </a:solidFill>
              </a:rPr>
              <a:t>Every compliance certificate names its certifying officer</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7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7</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0 foundational and 7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37 of 37</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91%</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(222 of 243)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operational products, the joint largest group of the 7</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3 operational, 3 regulatory and control, 1 analytical.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Four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DP-042</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Institutional Client Health &amp; Service</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Institutional Client Service and Reporting</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Health and service view of each relationship: SLAs, report timeliness, breaches, reviews, feedback and AUM at risk.</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264024"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94 of 102</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DP-067</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Institutional Fee Billing &amp; Revenue Leakage</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Institutional Client Service</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Fees billed against fees contracted for each billing period, with exceptions such as missed breakpoints.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723900"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38 of 72</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DP-068</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Client Reporting Delivery &amp; SLA</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Institutional Client Service</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Timeliness, sign-off, delivery and restatement of every client report run against its schedule and standards.</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342417"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92 of 94</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DP-086</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Mandate Onboarding &amp; Cash Flow Readiness</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Institutional Client Service and Reporting</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Set-up status of each new mandate from win to first funding, and every cash flow notice against its controls.</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819615"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49 of 82</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3 more read it for service context</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Institutional sales, consultant relations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DP-092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relationship and coverage, open service requests, reviews, health status and termination notices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Field sales and sales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requests, client reviews and the service relationship, as events on the engagement timeline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DP-061</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service requests and the complaint each one raised, for complaints and conduct analysis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No further products depend on this domain indirectly, because it owns no foundational product. DP-092 and DP-053 also take DP-042 as an upstream.</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deadline,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Breach Notification</a:t>
            </a:r>
            <a:endParaRPr lang="en-US" sz="1400" dirty="0"/>
          </a:p>
          <a:p>
            <a:pPr algn="l" indent="0" marL="0">
              <a:buNone/>
            </a:pPr>
            <a:r>
              <a:rPr lang="en-US" sz="1400" b="1" dirty="0">
                <a:solidFill>
                  <a:schemeClr val="bg1"/>
                </a:solidFill>
              </a:rPr>
              <a:t>Deadline</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Guideline Monitoring Arrangement: the days the contract allows to tell a client of a breach.</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SET-UP</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DP-086</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Reads the arrangement with its deadline, and checks one exists before a mandate with custom guidelines is funded.</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ANCHOR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DP-042</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Compares the deadline with each breach's detection date and client notification time, and counts the late ones.</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SM-04</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The Institutional &amp; Retirement model publishes the deadline, and Late Breach Notifications as a metric.</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clients were told of a guideline breach later than we agreed?”</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Late Breach Notification  =  days from breach detected to client notified exceed the deadline</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restriction that was breached is mastered in Investment Product. This domain owns the promise to notify the client and the evidence that it was kept.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CD-023</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Investment Product has no versioned fee schedule key. Proposed: add a fee schedule ID that billing arrangements reference.</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CD-013</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Custodian on the account and on the custody set-up. Proposed: Client &amp; Customer keeps the party; this domain validates against it.</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CD-062</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Retention after termination. Proposed: reference the enterprise retention schedule mastered in Distribution Compliance.</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GAP-12-001</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Add resolved and closed timestamps to Client Service Request, so on-time resolution can be measured.</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Validate tiers, service roles, service standards and the 80 proposed critical data elements with Client Service, Reporting and Operations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source systems: CRM service cases, the reporting platform, the performance system, DTCC ALERT and the billing engine</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Verify the open source items: GIPS provision numbers, the UK position on 10% depreciation notices and the ILPA template version label</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Harmonize frequency, delivery channel and status code lists with Shared &amp; Enterprise Reference Data</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10 open gaps, starting with the three medium-priority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Institutional Client Servicing &amp; Reporting taxonomy walkthrough</dc:title>
  <dc:subject>PptxGenJS Presentation</dc:subject>
  <dc:creator>Distribution Data Taxonomy Program</dc:creator>
  <cp:lastModifiedBy>Distribution Data Taxonomy Program</cp:lastModifiedBy>
  <cp:revision>1</cp:revision>
  <dcterms:created xsi:type="dcterms:W3CDTF">2026-10-06T08:42:20Z</dcterms:created>
  <dcterms:modified xsi:type="dcterms:W3CDTF">2026-10-06T08:42:20Z</dcterms:modified>
</cp:coreProperties>
</file>