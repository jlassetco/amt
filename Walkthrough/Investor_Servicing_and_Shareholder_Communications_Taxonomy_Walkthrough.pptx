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c43a7a8e-2ffa-2bf9-bc77-4b2eb07ac610}">
          <p14:sldIdLst>
            <p14:sldId id="256"/>
            <p14:sldId id="257"/>
            <p14:sldId id="258"/>
            <p14:sldId id="259"/>
          </p14:sldIdLst>
        </p14:section>
        <p14:section name="What is included" id="{b4dc1f3c-bde4-e945-a237-6fb7d7bbd356}">
          <p14:sldIdLst>
            <p14:sldId id="260"/>
            <p14:sldId id="261"/>
            <p14:sldId id="262"/>
            <p14:sldId id="263"/>
            <p14:sldId id="264"/>
          </p14:sldIdLst>
        </p14:section>
        <p14:section name="What is excluded" id="{fdaebdc2-87ae-2220-18e4-9b9dac3ac052}">
          <p14:sldIdLst>
            <p14:sldId id="265"/>
            <p14:sldId id="266"/>
            <p14:sldId id="267"/>
          </p14:sldIdLst>
        </p14:section>
        <p14:section name="How it is used" id="{3c443b4d-7c47-585f-19b9-c4ee4e6fef62}">
          <p14:sldIdLst>
            <p14:sldId id="268"/>
            <p14:sldId id="269"/>
          </p14:sldIdLst>
        </p14:section>
        <p14:section name="Data products" id="{b0980224-04c0-9028-5259-e3e4a90d3282}">
          <p14:sldIdLst>
            <p14:sldId id="270"/>
            <p14:sldId id="271"/>
            <p14:sldId id="272"/>
            <p14:sldId id="273"/>
          </p14:sldIdLst>
        </p14:section>
        <p14:section name="Next steps" id="{73e0dd88-fb56-341f-6d31-2d1c9367b0fa}">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Sheet1!$A$2:$A$7</c:f>
              <c:multiLvlStrCache>
                <c:ptCount val="6"/>
                <c:lvl>
                  <c:pt idx="0">
                    <c:v>Internal (firm-defined)</c:v>
                  </c:pt>
                  <c:pt idx="1">
                    <c:v>SEC rules, forms and releases</c:v>
                  </c:pt>
                  <c:pt idx="2">
                    <c:v>IRS information return rules</c:v>
                  </c:pt>
                  <c:pt idx="3">
                    <c:v>UK and EU rules</c:v>
                  </c:pt>
                  <c:pt idx="4">
                    <c:v>US state unclaimed property law</c:v>
                  </c:pt>
                  <c:pt idx="5">
                    <c:v>Other standards and regulation</c:v>
                  </c:pt>
                </c:lvl>
              </c:multiLvlStrCache>
            </c:multiLvlStrRef>
          </c:cat>
          <c:val>
            <c:numRef>
              <c:f>Sheet1!$B$2:$B$7</c:f>
              <c:numCache>
                <c:formatCode>General</c:formatCode>
                <c:ptCount val="6"/>
                <c:pt idx="0">
                  <c:v>145</c:v>
                </c:pt>
                <c:pt idx="1">
                  <c:v>43</c:v>
                </c:pt>
                <c:pt idx="2">
                  <c:v>11</c:v>
                </c:pt>
                <c:pt idx="3">
                  <c:v>12</c:v>
                </c:pt>
                <c:pt idx="4">
                  <c:v>11</c:v>
                </c:pt>
                <c:pt idx="5">
                  <c:v>6</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10 of 40)</a:t>
            </a:r>
          </a:p>
        </c:rich>
      </c:tx>
      <c:layout/>
      <c:overlay val="0"/>
    </c:title>
    <c:autoTitleDeleted val="0"/>
    <c:plotArea>
      <c:layout/>
      <c:barChart>
        <c:barDir val="bar"/>
        <c:grouping val="clustered"/>
        <c:varyColors val="0"/>
        <c:ser>
          <c:idx val="0"/>
          <c:order val="0"/>
          <c:tx>
            <c:strRef>
              <c:f>Sheet1!$B$1</c:f>
              <c:strCache>
                <c:ptCount val="1"/>
                <c:pt idx="0">
                  <c:v>Products reading each object (top 10 of 40)</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Sheet1!$A$2:$A$11</c:f>
              <c:multiLvlStrCache>
                <c:ptCount val="10"/>
                <c:lvl>
                  <c:pt idx="0">
                    <c:v>Service Request</c:v>
                  </c:pt>
                  <c:pt idx="1">
                    <c:v>Contact Center Interaction</c:v>
                  </c:pt>
                  <c:pt idx="2">
                    <c:v>Intermediary Distribution Request</c:v>
                  </c:pt>
                  <c:pt idx="3">
                    <c:v>Tax Form Record</c:v>
                  </c:pt>
                  <c:pt idx="4">
                    <c:v>Shareholder Communication</c:v>
                  </c:pt>
                  <c:pt idx="5">
                    <c:v>Production Run</c:v>
                  </c:pt>
                  <c:pt idx="6">
                    <c:v>Investor Document</c:v>
                  </c:pt>
                  <c:pt idx="7">
                    <c:v>Intermediary Communication Fee Invoice</c:v>
                  </c:pt>
                  <c:pt idx="8">
                    <c:v>E-Delivery Election</c:v>
                  </c:pt>
                  <c:pt idx="9">
                    <c:v>Communication Distribution</c:v>
                  </c:pt>
                </c:lvl>
              </c:multiLvlStrCache>
            </c:multiLvlStrRef>
          </c:cat>
          <c:val>
            <c:numRef>
              <c:f>Sheet1!$B$2:$B$11</c:f>
              <c:numCache>
                <c:formatCode>General</c:formatCode>
                <c:ptCount val="10"/>
                <c:pt idx="0">
                  <c:v>5</c:v>
                </c:pt>
                <c:pt idx="1">
                  <c:v>4</c:v>
                </c:pt>
                <c:pt idx="2">
                  <c:v>3</c:v>
                </c:pt>
                <c:pt idx="3">
                  <c:v>2</c:v>
                </c:pt>
                <c:pt idx="4">
                  <c:v>2</c:v>
                </c:pt>
                <c:pt idx="5">
                  <c:v>2</c:v>
                </c:pt>
                <c:pt idx="6">
                  <c:v>2</c:v>
                </c:pt>
                <c:pt idx="7">
                  <c:v>2</c:v>
                </c:pt>
                <c:pt idx="8">
                  <c:v>2</c:v>
                </c:pt>
                <c:pt idx="9">
                  <c:v>2</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Investor Servicing &amp; Shareholder Communications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Investor Servicing &amp; Shareholder Communications describes what the fund and its transfer agent must do for shareholders, and how the firm oversees that work. It covers service requests, statements, confirmations and tax forms, regulatory reports and notices, delivery elections, fund proxy votes, escheatment, and oversight of the transfer agent. It does not master the account, the product or the transaction. Those belong to other domains and are referenced by ID. Standing instructions, bank instructions and cost basis elections moved to the new Account domain with the account itself. The domain has 8 families, 40 business objects and 228 attributes. 9 of the 96 specified data products read it directly: 6 that it owns and 3 owned by other domains. It owns no foundational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Investor Servicing &amp; Shareholder Communications is one of 16 domains. The purple text shows the path to one attribute, Recipient Delivery Method, which we follow to an answer near the end of the deck. It records how one communication reached one recipient account, for example in print or electronically. For every attribute the taxonomy records its meaning and its owner.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starts from the shareholder account, which is mastered in Account and referenced here by ID. Standing instructions and cost basis elections live in Account too; this domain holds only the request that changes them. Three kinds of record describe what is done for that account. A service request is something the shareholder asks for. A shareholder communication is a report, prospectus or notice that regulation requires. An investor document is a statement, confirmation or tax form issued for the account. The communication is kept separate from its distribution: the communication says what must be sent and by when, and the distribution job says to whom, how and when it went. Registered holders and beneficial owners are two delivery paths for the same communication. Every record carries the servicing provider, so service levels and errors can be attributed.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8 data families. For this walkthrough they are grouped in three. The spine is what shareholders ask for and what each account receives: service requests, and statements, confirmations and tax documents. The second group is the communications that regulation requires and how they reach every holder: delivery elections, distribution through intermediaries to beneficial owners, and proxy solicitation. The third is what happens when a holder is lost, and how the firm oversees its servicing providers.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72 of the 228 attributes. Shareholder Service Requests and Interactions holds each request from intake through good-order review to completion, with extra detail for account maintenance and for ownership transfers and estates. It also holds the contact center interactions in which requests arise and quality reviews. Standing instructions such as systematic plans and distribution options are mastered in Account; the request that sets them up is here. Statements, Confirmations and Tax Documents holds the catalog of investor documents, each document issued to a shareholder of record, tax form amounts by box, and the production runs in which a vendor prints or posts them. The cost basis election behind a tax form is mastered on the account in Account. Business objects, in bold, have their own key. Attribute groups are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99 attributes. Regulatory Shareholder Communications holds tailored shareholder reports, prospectus delivery and notices, each distribution job, and the delivery outcome for each recipient. Delivery Elections and Householding holds each shareholder's consent to electronic delivery with its evidence, the householding groups that receive one copy at a shared address, and mail holds. The delivery household is distinct from the relationship household in Client &amp; Customer. Beneficial-Owner Communications via Intermediaries covers investors who hold through brokers, banks, platforms and nominees: broker searches, distribution requests, platform cascades in the EU and UK, and the fee invoices for that distribution. Proxy Solicitation and Shareholder Meetings covers fund shareholders voting on fund matters, not the firm voting the securities its funds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families, 57 attributes. Escheatment, Unclaimed Property and Dormancy follows an account from lost shareholder status, through the two database searches that SEC Rule 17Ad-17 requires, to the state dormancy assessment, the due diligence letter, and the report and remittance to the state. It also holds transfers to the UK reclaim fund and reclaims by owners. TA Oversight and Servicing Quality is the firm's view of its outsourced providers: the engagement and its oversight rating, agreed service levels and their measurement each period, servicing errors including NAV errors, and the remediation paid to each affected account. The appointed transfer agent itself is recorded in Investment Product. This domain holds the oversight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rule or source it is aligned to. 83 of the 228 attributes, 36 percent, align to an external rule or regulation. SEC rules, forms and releases are the largest external source with 43 attributes, led by the e-delivery releases, the householding rule and the lost securityholder rule. IRS information return rules account for 11, UK and EU rules for 12 and US state unclaimed property law for 11. 145 attributes are firm-defined, because no authoritative external definition exists for them. 65 attributes take their values from a controlled code list, and 70 are proposed critical data elements. Several rule details were stated from memory during drafting. They are listed in the Source Notes and still need confirming.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records the servicing work and deliberately leaves the master data to others. The table shows where each excluded subject lives and what this domain keeps so that it can point to it. Three boundaries are worth calling out. A service request records what was asked and points to the Account or Client &amp; Customer record it updated; it does not hold the new address or instruction. Standing instructions, bank instructions and cost basis elections now live in Account. Product documents and lifecycle events stay in Investment Product; this domain owns the delivery, the audience, the deadline and the proof of delivery. Complaints stay in Distribution Compliance; a request or interaction carries only a dissatisfaction indicator and a reference. One subject is outside the program altogether: the firm voting proxies of the companies its funds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188 of the 228 are mastered in this domain. 34 are references, which hold only the ID of a record mastered in another domain, and 6 are derived copies. Client &amp; Customer supplies 18 of those 40, mostly the party and the servicing provider, and Account supplies 9, the account on each record. That is expected: servicing is done for accounts and parties that are mastered elsewhere. The traffic in the other direction is light. Four attributes in three other domains reference this one: the Investor Notice Date on the Investment Product lifecycle event, the service request that triggers an account lifecycle event in Account, and the delivery communication and tax form document in Retirement Plan Administration. Record Metadata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23 gaps against this domain. One is resolved and 22 are open, all proposed and waiting for a decision. None is high priority: 8 are medium and the other 14 are low. The table shows seven of the eight medium-priority gaps. The eighth, GAP-13-008, is that tax filing due dates and UK reporting fund reports to HMRC are not recorded. Most are the same kind of problem: an object that does not name the account, provider or parent record it belongs to, so the product has to borrow the key. The tax gaps are different: cost basis lots, transfer statements and withholding status are not modeled at all.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servicing sources are mapped to, starting with transfer agent record layouts and Broadridge job reports. That mapping has not been done. Second, it is the bill of materials for data products: each product lists the exact attributes it uses, and the build fails if one does not exist. Third, where other domains publish shared dimensions, this domain supplies regulatory evidence. Each deadline is stored as a date with the rule behind it, so a product can test whether a form, report, notice or search was on time. Fourth, the ownership flags, the 70 proposed critical data elements and the 22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no foundational product. Its anchor is DP-043, Shareholder Servicing and TA Oversight, a Wave 1 regulatory and control product owned by the Head of TA Oversight. It is the oversight evidence for the transfer agent and other servicing providers: service levels against contract, request turnaround and not-in-good-order rates, contact center quality, servicing errors with remediation, and the timeliness of tax forms and regulatory communications. 65 of its 71 attributes come from 11 of this domain's 40 objects. It refreshes monthly, by business day 10. Four products name it as a direct upstream, including three of the other five that this domain owns, and five depend on it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of the 96 specified data products list this domain's objects among their inputs. All 9 are consumer-aligned; none is foundational. Every one of the 40 objects is used by at least one product, and 217 of the 228 attributes, 95 percent, appear in a product specification. Service Request is the most used object, read by 5 products, followed by Contact Center Interaction with 4 and Intermediary Distribution Request with 3. Seven objects are read by 2 products and the remaining 30 by one. Five of the 9 readers are regulatory and control products, which reflects how much of this domain exists to evidence that obligations to shareholders were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data products have this domain as their owning domain. All are consumer-aligned and all serve investor servicing and fund operations. DP-043 is the anchor and the only Wave 1 product. Three more are in Wave 2: communications delivery and cost, escheatment and lost shareholder monitoring, and fund proxy solicitation tracking. Two are in Wave 3: account maintenance and fraud monitoring, and shareholder tax and cost basis reporting. The bar on the right shows how many of each product's input attributes come from this domain. The rest come from other domains, for example accounts and their standing instructions from Account, positions and transactions from Sales Transactions &amp; AUM Attribution, or cost items from Distribution Finance &amp; Profitability.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three products owned by other domains read this domain directly, so this table is short. Unified Engagement Timeline, owned by Sales, takes 8 attributes of the service request so that servicing contacts appear on the engagement timeline. Complaints and Conduct Analytics, owned by Distribution Compliance, takes 11 attributes of service requests and contact center interactions, including the dissatisfaction indicator and the escalated complaint. End-Investor Look-Through Insights, owned by Sales Transactions &amp; AUM Attribution, takes 10 attributes of intermediary distribution requests and shareholder communications, and uses the beneficial owner position count to measure look-through coverage. Because this domain owns no foundational product, no other product depends on it through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Recipient Delivery Method is defined once, on the Recipient Delivery Record: how one communication reached one recipient account. DP-069, Shareholder Communications Delivery and Cost, counts pieces by delivery method and checks that the pieces for a job add up to its audience, with no account counted twice. It then prices the pieces that were not printed: electronic, householded and suppressed pieces times the print and postage cost per piece. The semantic model SM-07, Finance and Profitability, publishes the delivery method as a dimension with the pieces and avoided cost measures, and hides the recipient account because it is personal data. Finance can then ask what e-delivery and householding saved. The compliance rates, such as deadline met, stay in the DP-069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are still open. The most important needs a business decision: whether oversight of servicing vendors here and risk assessment of data vendors in Third-Party Data &amp; Licensing should sit under one enterprise third-party risk framework. The other three are proposed resolutions waiting for sign-off: keeping consent, marketing preferences and delivery elections with three separate owners, making the servicing error the master record for NAV errors, and keeping account status in Client &amp; Customer while this domain owns the escheatment workflow. The next steps on the right come from the Source Notes: validate with the business, map to transfer agent and Broadridge sources, load the state dormancy rules, confirm system ownership, and decide the 22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Investor Servicing &amp; Shareholder Communications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INVESTOR SERVICING &amp; SHAREHOLDER COMMUNICATIONS</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000" b="1" dirty="0">
                <a:solidFill>
                  <a:schemeClr val="bg1"/>
                </a:solidFill>
              </a:rPr>
              <a:t>The Investor Servicing &amp; Shareholder Communications taxonomy: a walkthrough</a:t>
            </a:r>
            <a:endParaRPr lang="en-US" sz="30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Service Request</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a shareholder asks for</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Investor Document</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each account receives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Communication</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regulation requires sent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investor servicing,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40</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228</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70</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Shareholder service requests, statements, confirmations and tax forms, regulatory reports and notices, delivery elections, fund proxy votes, escheatment, and oversight of the transfer agent.</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Parties and contact points; accounts, standing instructions and cost basis elections; product documents; transactions and positions; complaints; sub-TA payments; institutional client reporting.</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transfer agent and Broadridge sources, the bill of materials for nine data products, and the evidence that servicing deadlines and service levels were met.</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9 of the 96 data products read it directly: 6 it owns and 3 owned by other domains. 40 of its 228 attributes point to records mastered elsewhere, 18 of them in Client &amp; Customer and 9 in Account.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Investor Servicing &amp; Shareholder Communications</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8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Regulatory Shareholder Communications</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40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Recipient Delivery Record</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228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Recipient Delivery Method</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request, document, communication or record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one account, three records</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WHO IS SERVICED</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IS DONE FOR THEM</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HOW IT REACHES THEM</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Account</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Shareholder account, ACC-</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Servicing Provider</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Transfer agent or vendor</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Mastered in Account; referenced here</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Service Request</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What a shareholder asks for, SRQ-</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Shareholder Communication</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Required report or notice, COMM-</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Investor Document</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Statement, confirmation, tax form</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3657600"/>
            <a:ext cx="914400" cy="0"/>
          </a:xfrm>
          <a:prstGeom prst="line">
            <a:avLst/>
          </a:prstGeom>
          <a:noFill/>
          <a:ln w="19050">
            <a:solidFill>
              <a:schemeClr val="tx2"/>
            </a:solidFill>
            <a:prstDash val="solid"/>
            <a:tailEnd type="triangle"/>
          </a:ln>
        </p:spPr>
      </p:sp>
      <p:sp>
        <p:nvSpPr>
          <p:cNvPr id="29" name="Shape 26"/>
          <p:cNvSpPr/>
          <p:nvPr/>
        </p:nvSpPr>
        <p:spPr>
          <a:xfrm>
            <a:off x="8686800" y="3246120"/>
            <a:ext cx="2953512" cy="822960"/>
          </a:xfrm>
          <a:prstGeom prst="roundRect">
            <a:avLst>
              <a:gd name="adj" fmla="val 8889"/>
            </a:avLst>
          </a:prstGeom>
          <a:solidFill>
            <a:schemeClr val="accent4"/>
          </a:solidFill>
          <a:ln/>
        </p:spPr>
      </p:sp>
      <p:sp>
        <p:nvSpPr>
          <p:cNvPr id="30" name="Text 27"/>
          <p:cNvSpPr txBox="1"/>
          <p:nvPr/>
        </p:nvSpPr>
        <p:spPr>
          <a:xfrm>
            <a:off x="8915400" y="331927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Communication Distribution</a:t>
            </a:r>
            <a:endParaRPr lang="en-US" sz="1400" dirty="0"/>
          </a:p>
        </p:txBody>
      </p:sp>
      <p:sp>
        <p:nvSpPr>
          <p:cNvPr id="31" name="Text 28"/>
          <p:cNvSpPr txBox="1"/>
          <p:nvPr/>
        </p:nvSpPr>
        <p:spPr>
          <a:xfrm>
            <a:off x="8915400" y="364845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To whom, how and when, MAIL-</a:t>
            </a:r>
            <a:endParaRPr lang="en-US" sz="1200" dirty="0"/>
          </a:p>
        </p:txBody>
      </p:sp>
      <p:sp>
        <p:nvSpPr>
          <p:cNvPr id="32" name="Text 29"/>
          <p:cNvSpPr txBox="1"/>
          <p:nvPr/>
        </p:nvSpPr>
        <p:spPr>
          <a:xfrm>
            <a:off x="8686800" y="420624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Registered holders get a distribution job. Beneficial owners are reached through intermediaries.</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Servicing records point to accounts, parties, products and transactions by ID and never copy them. Each regulatory deadline is stored as a date with the rule behind it, so timeliness can be measured.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8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Eight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12 objects  |  72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34056"/>
            <a:ext cx="3145536" cy="329184"/>
          </a:xfrm>
          <a:prstGeom prst="rect">
            <a:avLst/>
          </a:prstGeom>
          <a:noFill/>
          <a:ln/>
        </p:spPr>
        <p:txBody>
          <a:bodyPr wrap="square" lIns="0" tIns="0" rIns="0" bIns="0" rtlCol="0" anchor="ctr"/>
          <a:lstStyle/>
          <a:p>
            <a:pPr algn="l" indent="0" marL="0">
              <a:buNone/>
            </a:pPr>
            <a:r>
              <a:rPr lang="en-US" sz="1000" b="1" dirty="0">
                <a:solidFill>
                  <a:schemeClr val="tx1"/>
                </a:solidFill>
              </a:rPr>
              <a:t>Shareholder Service Requests &amp; Interactions</a:t>
            </a:r>
            <a:endParaRPr lang="en-US" sz="1000" dirty="0"/>
          </a:p>
        </p:txBody>
      </p:sp>
      <p:sp>
        <p:nvSpPr>
          <p:cNvPr id="10" name="Text 7"/>
          <p:cNvSpPr txBox="1"/>
          <p:nvPr/>
        </p:nvSpPr>
        <p:spPr>
          <a:xfrm>
            <a:off x="731520" y="3081528"/>
            <a:ext cx="3145536" cy="182880"/>
          </a:xfrm>
          <a:prstGeom prst="rect">
            <a:avLst/>
          </a:prstGeom>
          <a:noFill/>
          <a:ln/>
        </p:spPr>
        <p:txBody>
          <a:bodyPr wrap="square" lIns="0" tIns="0" rIns="0" bIns="0" rtlCol="0" anchor="ctr"/>
          <a:lstStyle/>
          <a:p>
            <a:pPr algn="l" indent="0" marL="0">
              <a:buNone/>
            </a:pPr>
            <a:r>
              <a:rPr lang="en-US" sz="1000" dirty="0">
                <a:solidFill>
                  <a:schemeClr val="tx2"/>
                </a:solidFill>
              </a:rPr>
              <a:t>6 objects  |  34 attributes  |  9 critical</a:t>
            </a:r>
            <a:endParaRPr lang="en-US" sz="10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Statements, Confirmations &amp; Tax Documents</a:t>
            </a:r>
            <a:endParaRPr lang="en-US" sz="11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38 attributes  |  11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Communications and delivery</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18 objects  |  99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Regulatory Shareholder Communications</a:t>
            </a:r>
            <a:endParaRPr lang="en-US" sz="11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32 attributes  |  9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Delivery Elections &amp; Householding</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21 attributes  |  8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60520"/>
            <a:ext cx="3145536" cy="329184"/>
          </a:xfrm>
          <a:prstGeom prst="rect">
            <a:avLst/>
          </a:prstGeom>
          <a:noFill/>
          <a:ln/>
        </p:spPr>
        <p:txBody>
          <a:bodyPr wrap="square" lIns="0" tIns="0" rIns="0" bIns="0" rtlCol="0" anchor="ctr"/>
          <a:lstStyle/>
          <a:p>
            <a:pPr algn="l" indent="0" marL="0">
              <a:buNone/>
            </a:pPr>
            <a:r>
              <a:rPr lang="en-US" sz="1000" b="1" dirty="0">
                <a:solidFill>
                  <a:schemeClr val="tx1"/>
                </a:solidFill>
              </a:rPr>
              <a:t>Beneficial-Owner Communications via Intermediaries</a:t>
            </a:r>
            <a:endParaRPr lang="en-US" sz="1000" dirty="0"/>
          </a:p>
        </p:txBody>
      </p:sp>
      <p:sp>
        <p:nvSpPr>
          <p:cNvPr id="25" name="Text 22"/>
          <p:cNvSpPr txBox="1"/>
          <p:nvPr/>
        </p:nvSpPr>
        <p:spPr>
          <a:xfrm>
            <a:off x="4521708" y="4507992"/>
            <a:ext cx="3145536" cy="182880"/>
          </a:xfrm>
          <a:prstGeom prst="rect">
            <a:avLst/>
          </a:prstGeom>
          <a:noFill/>
          <a:ln/>
        </p:spPr>
        <p:txBody>
          <a:bodyPr wrap="square" lIns="0" tIns="0" rIns="0" bIns="0" rtlCol="0" anchor="ctr"/>
          <a:lstStyle/>
          <a:p>
            <a:pPr algn="l" indent="0" marL="0">
              <a:buNone/>
            </a:pPr>
            <a:r>
              <a:rPr lang="en-US" sz="1000" dirty="0">
                <a:solidFill>
                  <a:schemeClr val="tx2"/>
                </a:solidFill>
              </a:rPr>
              <a:t>4 objects  |  20 attributes  |  5 critical</a:t>
            </a:r>
            <a:endParaRPr lang="en-US" sz="10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Proxy Solicitation &amp; Shareholder Meetings</a:t>
            </a:r>
            <a:endParaRPr lang="en-US" sz="11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26 attributes  |  8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Lost holders and provider oversight</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10 objects  |  57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Escheatment, Unclaimed Property &amp; Dormancy</a:t>
            </a:r>
            <a:endParaRPr lang="en-US" sz="11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28 attributes  |  10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TA Oversight &amp; Servicing Quality</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29 attributes  |  10 critical</a:t>
            </a:r>
            <a:endParaRPr lang="en-US" sz="1100" dirty="0"/>
          </a:p>
        </p:txBody>
      </p:sp>
      <p:sp>
        <p:nvSpPr>
          <p:cNvPr id="38" name="Text 35"/>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requests and documents</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500" b="1" dirty="0">
                <a:solidFill>
                  <a:schemeClr val="accent1"/>
                </a:solidFill>
              </a:rPr>
              <a:t>Shareholder Service Requests &amp; Interactions</a:t>
            </a:r>
            <a:endParaRPr lang="en-US" sz="15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6 objects  |  34 attributes  |  9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What shareholders ask the transfer agent to do, the contacts in which they ask, and the quality reviews.</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Service Request, </a:t>
            </a:r>
            <a:pPr indent="0" marL="0">
              <a:buNone/>
            </a:pPr>
            <a:r>
              <a:rPr lang="en-US" sz="1300" dirty="0">
                <a:solidFill>
                  <a:schemeClr val="tx1"/>
                </a:solidFill>
              </a:rPr>
              <a:t>Request Controls, </a:t>
            </a:r>
            <a:pPr indent="0" marL="0">
              <a:buNone/>
            </a:pPr>
            <a:r>
              <a:rPr lang="en-US" sz="1300" dirty="0">
                <a:solidFill>
                  <a:schemeClr val="tx1"/>
                </a:solidFill>
              </a:rPr>
              <a:t>Account Maintenance Change, </a:t>
            </a:r>
            <a:pPr indent="0" marL="0">
              <a:buNone/>
            </a:pPr>
            <a:r>
              <a:rPr lang="en-US" sz="1300" dirty="0">
                <a:solidFill>
                  <a:schemeClr val="tx1"/>
                </a:solidFill>
              </a:rPr>
              <a:t>Transfer of Ownership &amp; Estate, </a:t>
            </a:r>
            <a:pPr indent="0" marL="0">
              <a:buNone/>
            </a:pPr>
            <a:r>
              <a:rPr lang="en-US" sz="1300" b="1" dirty="0">
                <a:solidFill>
                  <a:schemeClr val="tx1"/>
                </a:solidFill>
              </a:rPr>
              <a:t>Contact Center Interaction, </a:t>
            </a:r>
            <a:pPr indent="0" marL="0">
              <a:buNone/>
            </a:pPr>
            <a:r>
              <a:rPr lang="en-US" sz="1300" b="1" dirty="0">
                <a:solidFill>
                  <a:schemeClr val="tx1"/>
                </a:solidFill>
              </a:rPr>
              <a:t>QA Review</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Request Type, Good Order Status, NIGO Reason, Maintained Data Element, Contact Reason</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500" b="1" dirty="0">
                <a:solidFill>
                  <a:schemeClr val="accent2"/>
                </a:solidFill>
              </a:rPr>
              <a:t>Statements, Confirmations &amp; Tax Documents</a:t>
            </a:r>
            <a:endParaRPr lang="en-US" sz="15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6 objects  |  38 attributes  |  11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Statements, trade confirmations and tax forms issued to shareholders of record, and how they are produced.</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Investor Document Definition, </a:t>
            </a:r>
            <a:pPr indent="0" marL="0">
              <a:buNone/>
            </a:pPr>
            <a:r>
              <a:rPr lang="en-US" sz="1300" b="1" dirty="0">
                <a:solidFill>
                  <a:schemeClr val="tx1"/>
                </a:solidFill>
              </a:rPr>
              <a:t>Investor Document, </a:t>
            </a:r>
            <a:pPr indent="0" marL="0">
              <a:buNone/>
            </a:pPr>
            <a:r>
              <a:rPr lang="en-US" sz="1300" dirty="0">
                <a:solidFill>
                  <a:schemeClr val="tx1"/>
                </a:solidFill>
              </a:rPr>
              <a:t>Trade Confirmation, </a:t>
            </a:r>
            <a:pPr indent="0" marL="0">
              <a:buNone/>
            </a:pPr>
            <a:r>
              <a:rPr lang="en-US" sz="1300" b="1" dirty="0">
                <a:solidFill>
                  <a:schemeClr val="tx1"/>
                </a:solidFill>
              </a:rPr>
              <a:t>Tax Form Record, </a:t>
            </a:r>
            <a:pPr indent="0" marL="0">
              <a:buNone/>
            </a:pPr>
            <a:r>
              <a:rPr lang="en-US" sz="1300" dirty="0">
                <a:solidFill>
                  <a:schemeClr val="tx1"/>
                </a:solidFill>
              </a:rPr>
              <a:t>UK &amp; EU Tax Document, </a:t>
            </a:r>
            <a:pPr indent="0" marL="0">
              <a:buNone/>
            </a:pPr>
            <a:r>
              <a:rPr lang="en-US" sz="1300" b="1" dirty="0">
                <a:solidFill>
                  <a:schemeClr val="tx1"/>
                </a:solidFill>
              </a:rPr>
              <a:t>Production Run</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Period End Date, Delivery Method, Tax Document Type, Furnished Date, Reported Amount</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request, document or communication.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Required communications and delivery</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Regulatory Shareholder Communications</a:t>
                      </a:r>
                      <a:endParaRPr lang="en-US" sz="1200" dirty="0"/>
                    </a:p>
                    <a:p>
                      <a:pPr indent="0" marL="0">
                        <a:buNone/>
                      </a:pPr>
                      <a:r>
                        <a:rPr lang="en-US" sz="1100" dirty="0">
                          <a:solidFill>
                            <a:schemeClr val="tx2"/>
                          </a:solidFill>
                        </a:rPr>
                        <a:t>7 objects  |  32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Required reports, prospectuses and notices, who each was sent to, and how it was delivered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Shareholder Communication, </a:t>
                      </a:r>
                      <a:pPr indent="0" marL="0">
                        <a:buNone/>
                      </a:pPr>
                      <a:r>
                        <a:rPr lang="en-US" sz="1200" dirty="0">
                          <a:solidFill>
                            <a:schemeClr val="tx1"/>
                          </a:solidFill>
                        </a:rPr>
                        <a:t>Shareholder Notice, </a:t>
                      </a:r>
                      <a:pPr indent="0" marL="0">
                        <a:buNone/>
                      </a:pPr>
                      <a:r>
                        <a:rPr lang="en-US" sz="1200" b="1" dirty="0">
                          <a:solidFill>
                            <a:schemeClr val="tx1"/>
                          </a:solidFill>
                        </a:rPr>
                        <a:t>Communication Distribution, </a:t>
                      </a:r>
                      <a:pPr indent="0" marL="0">
                        <a:buNone/>
                      </a:pPr>
                      <a:r>
                        <a:rPr lang="en-US" sz="1200" b="1" dirty="0">
                          <a:solidFill>
                            <a:schemeClr val="tx1"/>
                          </a:solidFill>
                        </a:rPr>
                        <a:t>Recipient Delivery Record, </a:t>
                      </a:r>
                      <a:pPr indent="0" marL="0">
                        <a:buNone/>
                      </a:pPr>
                      <a:r>
                        <a:rPr lang="en-US" sz="1200" dirty="0">
                          <a:solidFill>
                            <a:schemeClr val="tx1"/>
                          </a:solidFill>
                        </a:rPr>
                        <a:t>and 3 more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Communication Type, Required Delivery Deadline, Mail Date, Recipient Delivery Method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Delivery Elections &amp; Householding</a:t>
                      </a:r>
                      <a:endParaRPr lang="en-US" sz="1200" dirty="0"/>
                    </a:p>
                    <a:p>
                      <a:pPr indent="0" marL="0">
                        <a:buNone/>
                      </a:pPr>
                      <a:r>
                        <a:rPr lang="en-US" sz="1100" dirty="0">
                          <a:solidFill>
                            <a:schemeClr val="tx2"/>
                          </a:solidFill>
                        </a:rPr>
                        <a:t>3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E-delivery consent, householding of shared addresses and mail holds, with their evidence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E-Delivery Election, </a:t>
                      </a:r>
                      <a:pPr indent="0" marL="0">
                        <a:buNone/>
                      </a:pPr>
                      <a:r>
                        <a:rPr lang="en-US" sz="1200" b="1" dirty="0">
                          <a:solidFill>
                            <a:schemeClr val="tx1"/>
                          </a:solidFill>
                        </a:rPr>
                        <a:t>Householding Group, </a:t>
                      </a:r>
                      <a:pPr indent="0" marL="0">
                        <a:buNone/>
                      </a:pPr>
                      <a:r>
                        <a:rPr lang="en-US" sz="1200" dirty="0">
                          <a:solidFill>
                            <a:schemeClr val="tx1"/>
                          </a:solidFill>
                        </a:rPr>
                        <a:t>Mail Hold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Delivery Preference, E-Delivery Consent Type, Householding Status, Mail Hold Reason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Beneficial-Owner Communications via Intermediaries</a:t>
                      </a:r>
                      <a:endParaRPr lang="en-US" sz="1200" dirty="0"/>
                    </a:p>
                    <a:p>
                      <a:pPr indent="0" marL="0">
                        <a:buNone/>
                      </a:pPr>
                      <a:r>
                        <a:rPr lang="en-US" sz="1100" dirty="0">
                          <a:solidFill>
                            <a:schemeClr val="tx2"/>
                          </a:solidFill>
                        </a:rPr>
                        <a:t>4 objects  |  20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to investors who hold through brokers, platforms and nominees, and its fees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Intermediary Distribution Request, </a:t>
                      </a:r>
                      <a:pPr indent="0" marL="0">
                        <a:buNone/>
                      </a:pPr>
                      <a:r>
                        <a:rPr lang="en-US" sz="1200" dirty="0">
                          <a:solidFill>
                            <a:schemeClr val="tx1"/>
                          </a:solidFill>
                        </a:rPr>
                        <a:t>NOBO List Request, </a:t>
                      </a:r>
                      <a:pPr indent="0" marL="0">
                        <a:buNone/>
                      </a:pPr>
                      <a:r>
                        <a:rPr lang="en-US" sz="1200" dirty="0">
                          <a:solidFill>
                            <a:schemeClr val="tx1"/>
                          </a:solidFill>
                        </a:rPr>
                        <a:t>Notice Cascade, </a:t>
                      </a:r>
                      <a:pPr indent="0" marL="0">
                        <a:buNone/>
                      </a:pPr>
                      <a:r>
                        <a:rPr lang="en-US" sz="1200" b="1" dirty="0">
                          <a:solidFill>
                            <a:schemeClr val="tx1"/>
                          </a:solidFill>
                        </a:rPr>
                        <a:t>Intermediary Communication Fee Invoice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Holding Model, Broker Search Date, Cascade Method, Fee Type, Invoice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Proxy Solicitation &amp; Shareholder Meetings</a:t>
                      </a:r>
                      <a:endParaRPr lang="en-US" sz="1200" dirty="0"/>
                    </a:p>
                    <a:p>
                      <a:pPr indent="0" marL="0">
                        <a:buNone/>
                      </a:pPr>
                      <a:r>
                        <a:rPr lang="en-US" sz="1100" dirty="0">
                          <a:solidFill>
                            <a:schemeClr val="tx2"/>
                          </a:solidFill>
                        </a:rPr>
                        <a:t>4 objects  |  26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Fund shareholder meetings, the proposals put to a vote and the running vote counts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Proxy Campaign, </a:t>
                      </a:r>
                      <a:pPr indent="0" marL="0">
                        <a:buNone/>
                      </a:pPr>
                      <a:r>
                        <a:rPr lang="en-US" sz="1200" b="1" dirty="0">
                          <a:solidFill>
                            <a:schemeClr val="tx1"/>
                          </a:solidFill>
                        </a:rPr>
                        <a:t>Proxy Proposal, </a:t>
                      </a:r>
                      <a:pPr indent="0" marL="0">
                        <a:buNone/>
                      </a:pPr>
                      <a:r>
                        <a:rPr lang="en-US" sz="1200" b="1" dirty="0">
                          <a:solidFill>
                            <a:schemeClr val="tx1"/>
                          </a:solidFill>
                        </a:rPr>
                        <a:t>Vote Tally, </a:t>
                      </a:r>
                      <a:pPr indent="0" marL="0">
                        <a:buNone/>
                      </a:pPr>
                      <a:r>
                        <a:rPr lang="en-US" sz="1200" b="1" dirty="0">
                          <a:solidFill>
                            <a:schemeClr val="tx1"/>
                          </a:solidFill>
                        </a:rPr>
                        <a:t>Intermediary Vote Instruction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Record Date, Quorum Requirement, Vote Standard, Shares Voted For, Broker Non-Votes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request, document or communication.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Lost holders and provider oversight</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Escheatment, Unclaimed Property &amp; Dormancy</a:t>
                      </a:r>
                      <a:endParaRPr lang="en-US" sz="1200" dirty="0"/>
                    </a:p>
                    <a:p>
                      <a:pPr indent="0" marL="0">
                        <a:buNone/>
                      </a:pPr>
                      <a:r>
                        <a:rPr lang="en-US" sz="1100" dirty="0">
                          <a:solidFill>
                            <a:schemeClr val="tx2"/>
                          </a:solidFill>
                        </a:rPr>
                        <a:t>5 objects  |  28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Lost shareholders, state dormancy and escheatment, UK dormant assets, and reclaims by owners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Lost Shareholder Status, </a:t>
                      </a:r>
                      <a:pPr indent="0" marL="0">
                        <a:buNone/>
                      </a:pPr>
                      <a:r>
                        <a:rPr lang="en-US" sz="1200" b="1" dirty="0">
                          <a:solidFill>
                            <a:schemeClr val="tx1"/>
                          </a:solidFill>
                        </a:rPr>
                        <a:t>Dormancy Assessment, </a:t>
                      </a:r>
                      <a:pPr indent="0" marL="0">
                        <a:buNone/>
                      </a:pPr>
                      <a:r>
                        <a:rPr lang="en-US" sz="1200" b="1" dirty="0">
                          <a:solidFill>
                            <a:schemeClr val="tx1"/>
                          </a:solidFill>
                        </a:rPr>
                        <a:t>Escheatment Report &amp; Remittance, </a:t>
                      </a:r>
                      <a:pPr indent="0" marL="0">
                        <a:buNone/>
                      </a:pPr>
                      <a:r>
                        <a:rPr lang="en-US" sz="1200" dirty="0">
                          <a:solidFill>
                            <a:schemeClr val="tx1"/>
                          </a:solidFill>
                        </a:rPr>
                        <a:t>UK Dormant Asset Transfer, </a:t>
                      </a:r>
                      <a:pPr indent="0" marL="0">
                        <a:buNone/>
                      </a:pPr>
                      <a:r>
                        <a:rPr lang="en-US" sz="1200" b="1" dirty="0">
                          <a:solidFill>
                            <a:schemeClr val="tx1"/>
                          </a:solidFill>
                        </a:rPr>
                        <a:t>Unclaimed Property Reclaim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Lost Securityholder Indicator, Presumed Abandoned Date, Reporting State, Reclaim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TA Oversight &amp; Servicing Quality</a:t>
                      </a:r>
                      <a:endParaRPr lang="en-US" sz="1200" dirty="0"/>
                    </a:p>
                    <a:p>
                      <a:pPr indent="0" marL="0">
                        <a:buNone/>
                      </a:pPr>
                      <a:r>
                        <a:rPr lang="en-US" sz="1100" dirty="0">
                          <a:solidFill>
                            <a:schemeClr val="tx2"/>
                          </a:solidFill>
                        </a:rPr>
                        <a:t>5 objects  |  29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levels of the transfer agent and vendors, servicing errors and shareholder remediation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Servicing Provider Engagement, </a:t>
                      </a:r>
                      <a:pPr indent="0" marL="0">
                        <a:buNone/>
                      </a:pPr>
                      <a:r>
                        <a:rPr lang="en-US" sz="1200" b="1" dirty="0">
                          <a:solidFill>
                            <a:schemeClr val="tx1"/>
                          </a:solidFill>
                        </a:rPr>
                        <a:t>Service Level Definition, </a:t>
                      </a:r>
                      <a:pPr indent="0" marL="0">
                        <a:buNone/>
                      </a:pPr>
                      <a:r>
                        <a:rPr lang="en-US" sz="1200" b="1" dirty="0">
                          <a:solidFill>
                            <a:schemeClr val="tx1"/>
                          </a:solidFill>
                        </a:rPr>
                        <a:t>Service Level Measurement, </a:t>
                      </a:r>
                      <a:pPr indent="0" marL="0">
                        <a:buNone/>
                      </a:pPr>
                      <a:r>
                        <a:rPr lang="en-US" sz="1200" b="1" dirty="0">
                          <a:solidFill>
                            <a:schemeClr val="tx1"/>
                          </a:solidFill>
                        </a:rPr>
                        <a:t>Servicing Error, </a:t>
                      </a:r>
                      <a:pPr indent="0" marL="0">
                        <a:buNone/>
                      </a:pPr>
                      <a:r>
                        <a:rPr lang="en-US" sz="1200" b="1" dirty="0">
                          <a:solidFill>
                            <a:schemeClr val="tx1"/>
                          </a:solidFill>
                        </a:rPr>
                        <a:t>Shareholder Remediation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Oversight Rating, Target Value, SLA Met Indicator, NAV Error Magnitude, Compensation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request, document or communication.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the rules that drive the work</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UK and EU = HMRC, FCA, Dormant Assets Act and UCITS. Other = the 1940 Act and NYSE Rules 451 and 452.</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36%</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(83 of 228) align to an external rule, regulation or standard</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65</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70</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critical data elements; 22 are flagged as personal data</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Parties, contact points, consent and tax classification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by ID. An address change request points to the contact point it updated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Accounts, standing instructions and cost basis elections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service request that creates or changes them, with its controls; the account by ID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Product documents, share classes and lifecycle events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delivery of the document or notice: audience, deadline and proof of delivery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positions and correction trades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the transactions a request or error produced, and the correction behind an error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Complaints, marketing approval and records retention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dissatisfaction indicator and a reference to the complaint that was raised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Sub-TA, networking and other contractual payments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Invoices for beneficial-owner distribution fees, with a reference to any agreed rate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Institutional client reporting and service requests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Institutional Client Servicing &amp; Reporting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requests of fund shareholders only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Marketing preferences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E-delivery and householding elections, as delivery instructions under SEC rules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188 attributes mastered, 40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188</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228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34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6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15 references, 3 copies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Requesting and receiving parties, servicing providers, intermediaries and claimants; a masked TIN copy</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Account</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9 references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account on requests, interactions, documents, deliveries, elections, lost status and remediation</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5 references, 2 copies</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Payer fund, covered share classes, source product document, triggering lifecycle event; two tax figures</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 1 copy</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Resulting, confirmed and correction transactions; shares outstanding at the proxy record date</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Compliance</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complaint raised when a requester expresses dissatisfaction</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Agreements &amp; Partners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agreement under which a negotiated communication fee rate applies</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4 attributes in Investment Product, Account and Retirement Plan Administration reference this one. Record Metadata is excluded from every view and documented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22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23</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1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22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0 high, 8 medium, 14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GAP-13-001</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Contact Center Interaction names no servicing provider and no calling party (DP-043, DP-053)</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GAP-13-002</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Escheatment Report &amp; Remittance has no link to the accounts it reports (DP-070)</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GAP-13-003</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Dormancy Assessment carries no account, as-of date or outreach outcome (DP-070)</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GAP-13-004</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Lost Shareholder Status has no date or amount for the unnegotiated payment, so notice timing cannot be tested (DP-070)</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GAP-13-005</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Tax Form Record and Cost Basis Election carry no account, fund or share class (DP-091)</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GAP-13-006</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Cost basis lots and method changes are not modeled, so Form 1099-B cost basis cannot be evidenced (DP-091)</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GAP-13-007</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transfer statements, backup withholding status or Form 1042-S detail (DP-091)</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Transfer agent record layouts and Broadridge job reports each map to one definition per field. Source mapping to the firm's systems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Regulatory evidence</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regulatory deadline is a date stored with the rule that drives it, so products can test whether forms, reports, notices and searches were on time.</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70 proposed critical data elements and 22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Transfer agent and vendor sources</a:t>
            </a:r>
            <a:endParaRPr lang="en-US" sz="11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Investor Servicing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DP-043 anchor product</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Other servicing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Dashboards, board reports, AI assistants</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ANCHOR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anchors servicing oversight</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DP-043</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Shareholder Servicing &amp; TA Oversight</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Consumer-aligned  |  Regulatory &amp; Control  |  Owner: Head of TA Oversight</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servicing provider, oversight metric and month, with drill-down to request, interaction, error and remediation events</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65 of its 71 attributes come from 11 of this domain's 40 objects. The other 6 are complaint attributes from Distribution Compliance</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Monthly, by business day 10 after month-end. Material servicing errors are added within 1 business day of being logged</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Monthly snapshots and all servicing errors and remediations are kept for 7 years</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with personal data. Drill-down shows shareholder accounts; the dashboard and board pack use aggregates only</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4</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name it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5</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service request has a servicing provider with an active engagement</a:t>
            </a:r>
            <a:endParaRPr lang="en-US" sz="1300" dirty="0"/>
          </a:p>
          <a:p>
            <a:pPr marL="177800" indent="-177800">
              <a:spcAft>
                <a:spcPts val="600"/>
              </a:spcAft>
              <a:buSzPct val="100000"/>
              <a:buChar char="•"/>
            </a:pPr>
            <a:r>
              <a:rPr lang="en-US" sz="1300" dirty="0">
                <a:solidFill>
                  <a:schemeClr val="tx1"/>
                </a:solidFill>
              </a:rPr>
              <a:t>Completed time is on or after received time for every completed request</a:t>
            </a:r>
            <a:endParaRPr lang="en-US" sz="1300" dirty="0"/>
          </a:p>
          <a:p>
            <a:pPr marL="177800" indent="-177800">
              <a:spcAft>
                <a:spcPts val="600"/>
              </a:spcAft>
              <a:buSzPct val="100000"/>
              <a:buChar char="•"/>
            </a:pPr>
            <a:r>
              <a:rPr lang="en-US" sz="1300" dirty="0">
                <a:solidFill>
                  <a:schemeClr val="tx1"/>
                </a:solidFill>
              </a:rPr>
              <a:t>Every material servicing error has a remediation or a documented no-harm conclusion</a:t>
            </a:r>
            <a:endParaRPr lang="en-US" sz="1300" dirty="0"/>
          </a:p>
          <a:p>
            <a:pPr marL="177800" indent="-177800">
              <a:spcAft>
                <a:spcPts val="600"/>
              </a:spcAft>
              <a:buSzPct val="100000"/>
              <a:buChar char="•"/>
            </a:pPr>
            <a:r>
              <a:rPr lang="en-US" sz="1300" dirty="0">
                <a:solidFill>
                  <a:schemeClr val="tx1"/>
                </a:solidFill>
              </a:rPr>
              <a:t>A missing result for a contractual service level is reported as not met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9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0 foundational and 9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40 of 40</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95%</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(217 of 228)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5</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regulatory and control products, the largest group of the 9</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5 regulatory and control, 2 operational, 2 analytical.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Six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341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DP-043</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Shareholder Servicing &amp; TA Oversight</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Investor Servicing</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Evidence that the transfer agent and other providers met service levels and fixed errors</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1255690"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65 of 71</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56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DP-069</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Shareholder Communications Delivery &amp; Cost</a:t>
            </a:r>
            <a:endParaRPr lang="en-US" sz="13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Investor Servicing and Fund Operations</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How each shareholder communication was delivered, what it cost and whether it met its deadline</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1192696"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80 of 92</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0420"/>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DP-070</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Escheatment &amp; Lost Shareholder Monitoring</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Investor Servicing</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Lost and dormant accounts moving toward escheatment, with searches, letters and state reports</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868680"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38 of 60</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3924"/>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DP-071</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Fund Proxy Solicitation Tracking</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Operational  |  Investor Servicing and Fund Operations</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Daily vote status of each fund shareholder meeting against quorum, by voting intermediary</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811369"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42 of 71</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67428"/>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DP-085</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100" b="1" dirty="0">
                <a:solidFill>
                  <a:schemeClr val="tx1"/>
                </a:solidFill>
              </a:rPr>
              <a:t>Shareholder Account Maintenance &amp; Fraud Monitoring</a:t>
            </a:r>
            <a:endParaRPr lang="en-US" sz="11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Investor Servicing</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Account changes with their control evidence, and flags for change-then-redeem fraud patterns</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569742"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27 of 65</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093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DP-091</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Shareholder Tax &amp; Cost Basis Reporting</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Investor Servicing</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Whether tax forms, cost basis elections and trade confirmations were complete and on time</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644236"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31 of 66</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Three more read it for servicing context</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Wholesalers and field 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requests with requester, role, intake channel, status and timestamps, as engagement touchpoints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DP-061</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requests and contact center interactions that expressed dissatisfaction or led to a complaint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management and strategy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DP-076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Beneficial owner position counts and holding model by intermediary, and the communications they relate to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This domain owns no foundational product, so no other product depends on it through one. All 9 direct readers are consumer-aligned.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Recipient Delivery Method</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Recipient Delivery Record: the method used to deliver a communication to one account.</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DATA PRODUCT</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DP-069</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Counts pieces by delivery method. Quality rule: pieces sum to the job's audience, no account counted twice.</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MEASURE</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Avoided Cost</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Prices the pieces not printed, using the print and postage cost per piece for the same type and period.</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SM-07 Finance &amp;</a:t>
            </a:r>
            <a:endParaRPr lang="en-US" sz="1400" dirty="0"/>
          </a:p>
          <a:p>
            <a:pPr algn="l" indent="0" marL="0">
              <a:buNone/>
            </a:pPr>
            <a:r>
              <a:rPr lang="en-US" sz="1400" b="1" dirty="0">
                <a:solidFill>
                  <a:schemeClr val="tx1"/>
                </a:solidFill>
              </a:rPr>
              <a:t>Profitability</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delivery method with the pieces and avoided cost measures. The recipient account is hidden.</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“How much did e-delivery and householding save on shareholder mailings last quarter?”</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Avoided Cost  =  (electronic + householded + suppressed pieces)  x  print and postage cost per piece</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Print and postage cost is mastered in Distribution Finance &amp; Profitability. This domain supplies what was sent, to whom and by which method.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CD-090</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One enterprise third-party risk framework for servicing vendors and data vendors. This domain keeps servicing SLAs. Needs a business decision.</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CD-071</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Keep three owners: consent in Client &amp; Customer, marketing preferences in Marketing &amp; Digital, delivery elections here. Rename two attributes.</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CD-045</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The servicing error is the master record of a NAV error. Correction transactions in Sales Transactions &amp; AUM Attribution reference it.</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CD-014</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Account status, including Dormant, stays on the account record. This domain owns the escheatment workflow and updates the status by service request.</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Validate the families and 70 proposed critical data elements with Fund Operations and TA Oversight, Fund Legal, Fund Tax and Compliance</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transfer agent record layouts and Broadridge job reports</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Load the state dormancy rule table, and re-check the rule details not yet verified, such as the Rule 30e-1 and Rule 154 deadlines</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with Fund Operations which transfer agent platforms feed which records, and who owns delivery elections at system level</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22 open gaps, starting with the eight medium-priority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Servicing &amp; Shareholder Communications taxonomy walkthrough</dc:title>
  <dc:subject>PptxGenJS Presentation</dc:subject>
  <dc:creator>Distribution Data Taxonomy Program</dc:creator>
  <cp:lastModifiedBy>Distribution Data Taxonomy Program</cp:lastModifiedBy>
  <cp:revision>1</cp:revision>
  <dcterms:created xsi:type="dcterms:W3CDTF">2026-10-06T08:42:22Z</dcterms:created>
  <dcterms:modified xsi:type="dcterms:W3CDTF">2026-10-06T08:42:22Z</dcterms:modified>
</cp:coreProperties>
</file>