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1964b96e-96a7-32cb-86a3-1a13cf367de9}">
          <p14:sldIdLst>
            <p14:sldId id="256"/>
            <p14:sldId id="257"/>
            <p14:sldId id="258"/>
            <p14:sldId id="259"/>
          </p14:sldIdLst>
        </p14:section>
        <p14:section name="What is included" id="{215b91b8-fb24-7acc-f785-7d806d5fdd07}">
          <p14:sldIdLst>
            <p14:sldId id="260"/>
            <p14:sldId id="261"/>
            <p14:sldId id="262"/>
            <p14:sldId id="263"/>
            <p14:sldId id="264"/>
          </p14:sldIdLst>
        </p14:section>
        <p14:section name="What is excluded" id="{9843e788-dd01-4abf-404f-a2a9939cfe55}">
          <p14:sldIdLst>
            <p14:sldId id="265"/>
            <p14:sldId id="266"/>
            <p14:sldId id="267"/>
          </p14:sldIdLst>
        </p14:section>
        <p14:section name="How it is used" id="{fdb6d6b4-455b-7bf8-2440-db3bf025315c}">
          <p14:sldIdLst>
            <p14:sldId id="268"/>
            <p14:sldId id="269"/>
          </p14:sldIdLst>
        </p14:section>
        <p14:section name="Data products" id="{ce403557-a4f3-07c7-0010-3f73a888105e}">
          <p14:sldIdLst>
            <p14:sldId id="270"/>
            <p14:sldId id="271"/>
            <p14:sldId id="272"/>
            <p14:sldId id="273"/>
          </p14:sldIdLst>
        </p14:section>
        <p14:section name="Next steps" id="{e75b6e66-fd9b-d50c-d661-44c3cb289a66}">
          <p14:sldIdLst>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33C"/>
                </a:solidFill>
                <a:latin typeface="+mn-lt"/>
              </a:defRPr>
            </a:pPr>
            <a:r>
              <a:rPr sz="1300" b="0" i="0" u="none" strike="noStrike">
                <a:solidFill>
                  <a:srgbClr val="0C233C"/>
                </a:solidFill>
                <a:latin typeface="+mn-lt"/>
              </a:rPr>
              <a:t>Attributes by primary reference standard</a:t>
            </a:r>
          </a:p>
        </c:rich>
      </c:tx>
      <c:layout/>
      <c:overlay val="0"/>
    </c:title>
    <c:autoTitleDeleted val="0"/>
    <c:plotArea>
      <c:layout/>
      <c:barChart>
        <c:barDir val="bar"/>
        <c:grouping val="clustered"/>
        <c:varyColors val="0"/>
        <c:ser>
          <c:idx val="0"/>
          <c:order val="0"/>
          <c:tx>
            <c:strRef>
              <c:f>Sheet1!$B$1</c:f>
              <c:strCache>
                <c:ptCount val="1"/>
                <c:pt idx="0">
                  <c:v>Attributes by primary reference standard</c:v>
                </c:pt>
              </c:strCache>
            </c:strRef>
          </c:tx>
          <c:spPr>
            <a:solidFill>
              <a:srgbClr val="1E49E2"/>
            </a:solidFill>
            <a:effectLst/>
          </c:spPr>
          <c:invertIfNegative val="0"/>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cat>
            <c:multiLvlStrRef>
              <c:f>Sheet1!$A$2:$A$9</c:f>
              <c:multiLvlStrCache>
                <c:ptCount val="8"/>
                <c:lvl>
                  <c:pt idx="0">
                    <c:v>Internal (firm-defined)</c:v>
                  </c:pt>
                  <c:pt idx="1">
                    <c:v>Morningstar</c:v>
                  </c:pt>
                  <c:pt idx="2">
                    <c:v>Cerulli</c:v>
                  </c:pt>
                  <c:pt idx="3">
                    <c:v>ICI</c:v>
                  </c:pt>
                  <c:pt idx="4">
                    <c:v>Nasdaq eVestment</c:v>
                  </c:pt>
                  <c:pt idx="5">
                    <c:v>ISS Market Intelligence</c:v>
                  </c:pt>
                  <c:pt idx="6">
                    <c:v>Citywire</c:v>
                  </c:pt>
                  <c:pt idx="7">
                    <c:v>Other vendors and public sources</c:v>
                  </c:pt>
                </c:lvl>
              </c:multiLvlStrCache>
            </c:multiLvlStrRef>
          </c:cat>
          <c:val>
            <c:numRef>
              <c:f>Sheet1!$B$2:$B$9</c:f>
              <c:numCache>
                <c:formatCode>General</c:formatCode>
                <c:ptCount val="8"/>
                <c:pt idx="0">
                  <c:v>144</c:v>
                </c:pt>
                <c:pt idx="1">
                  <c:v>38</c:v>
                </c:pt>
                <c:pt idx="2">
                  <c:v>11</c:v>
                </c:pt>
                <c:pt idx="3">
                  <c:v>9</c:v>
                </c:pt>
                <c:pt idx="4">
                  <c:v>8</c:v>
                </c:pt>
                <c:pt idx="5">
                  <c:v>5</c:v>
                </c:pt>
                <c:pt idx="6">
                  <c:v>5</c:v>
                </c:pt>
                <c:pt idx="7">
                  <c:v>19</c:v>
                </c:pt>
              </c:numCache>
            </c:numRef>
          </c:val>
        </c:ser>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C233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33C"/>
                </a:solidFill>
                <a:latin typeface="+mn-lt"/>
              </a:defRPr>
            </a:pPr>
            <a:r>
              <a:rPr sz="1300" b="0" i="0" u="none" strike="noStrike">
                <a:solidFill>
                  <a:srgbClr val="0C233C"/>
                </a:solidFill>
                <a:latin typeface="+mn-lt"/>
              </a:rPr>
              <a:t>Products reading each object (top 7 of 34)</a:t>
            </a:r>
          </a:p>
        </c:rich>
      </c:tx>
      <c:layout/>
      <c:overlay val="0"/>
    </c:title>
    <c:autoTitleDeleted val="0"/>
    <c:plotArea>
      <c:layout/>
      <c:barChart>
        <c:barDir val="bar"/>
        <c:grouping val="clustered"/>
        <c:varyColors val="0"/>
        <c:ser>
          <c:idx val="0"/>
          <c:order val="0"/>
          <c:tx>
            <c:strRef>
              <c:f>Sheet1!$B$1</c:f>
              <c:strCache>
                <c:ptCount val="1"/>
                <c:pt idx="0">
                  <c:v>Products reading each object (top 7 of 34)</c:v>
                </c:pt>
              </c:strCache>
            </c:strRef>
          </c:tx>
          <c:spPr>
            <a:solidFill>
              <a:srgbClr val="1E49E2"/>
            </a:solidFill>
            <a:effectLst/>
          </c:spPr>
          <c:invertIfNegative val="0"/>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cat>
            <c:multiLvlStrRef>
              <c:f>Sheet1!$A$2:$A$8</c:f>
              <c:multiLvlStrCache>
                <c:ptCount val="7"/>
                <c:lvl>
                  <c:pt idx="0">
                    <c:v>Industry Flow Observation</c:v>
                  </c:pt>
                  <c:pt idx="1">
                    <c:v>Competitor Profile</c:v>
                  </c:pt>
                  <c:pt idx="2">
                    <c:v>Category Mapping</c:v>
                  </c:pt>
                  <c:pt idx="3">
                    <c:v>Peer Fund</c:v>
                  </c:pt>
                  <c:pt idx="4">
                    <c:v>Market Share Record</c:v>
                  </c:pt>
                  <c:pt idx="5">
                    <c:v>Industry Dataset Profile</c:v>
                  </c:pt>
                  <c:pt idx="6">
                    <c:v>Industry Data Release</c:v>
                  </c:pt>
                </c:lvl>
              </c:multiLvlStrCache>
            </c:multiLvlStrRef>
          </c:cat>
          <c:val>
            <c:numRef>
              <c:f>Sheet1!$B$2:$B$8</c:f>
              <c:numCache>
                <c:formatCode>General</c:formatCode>
                <c:ptCount val="7"/>
                <c:pt idx="0">
                  <c:v>6</c:v>
                </c:pt>
                <c:pt idx="1">
                  <c:v>4</c:v>
                </c:pt>
                <c:pt idx="2">
                  <c:v>4</c:v>
                </c:pt>
                <c:pt idx="3">
                  <c:v>3</c:v>
                </c:pt>
                <c:pt idx="4">
                  <c:v>3</c:v>
                </c:pt>
                <c:pt idx="5">
                  <c:v>3</c:v>
                </c:pt>
                <c:pt idx="6">
                  <c:v>3</c:v>
                </c:pt>
              </c:numCache>
            </c:numRef>
          </c:val>
        </c:ser>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C233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walks through the Market &amp; Competitive Intelligence data domain. It answers four questions: what is in the domain, what is deliberately left out, how the taxonomy is used, and which data products it helps define. All counts come from the current drafts of the taxonomy, the data product specifications and the gap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short version. Market &amp; Competitive Intelligence is the firm's view of everything outside its own books: where industry flows are going, what the firm's share is, how competitors and peer funds compare on performance, fees and ratings, and how large each opportunity is. It is built from industry statistics, vendor methodologies and public filings. The firm's own products, parties, flows and licenses are left to their owning domains and referenced by ID. 16 of the 96 specified data products read the domain directly, and 18 of the other 95 depend on its foundational product, DP-014, directly or indirectly.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has four levels: data domain, data family, business object and attribute. Market &amp; Competitive Intelligence is one of 16 domains. The purple text shows the path to one attribute, Net Flow, in the Industry Flow Observation object. This is the industry's net flow as a data provider reports or estimates it, and we follow it to an answer near the end of the deck. For every attribute the taxonomy records its meaning and its owner. It does not hold data values or vendor field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spine of the domain is a chain. A licensed dataset publishes releases, and each release is kept as its own vintage, so a restated history never overwrites what was published before. A release holds industry flow observations: flows and assets at a stated grain. Each observation can point to three things. Category Mapping ties the vendor's category to the firm's own share classes. Peer Fund identifies a competitor fund, and Competitor Profile identifies the manager behind it. The mapping is what makes a market share record possible: the firm's value over the industry's value, computed under a definition that is written down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has 10 data families, 34 objects and 239 attributes. For this walkthrough the families are grouped in three: the spine, which is industry flow data and market share; competitors, peers and ratings, which is how the firm compares with others; and opportunity and market change, which is how large each market is and what is shifting in it. The three-way grouping is a presentation aid and is not a level in the taxonomy. The next three slides take each group in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spine families hold 61 attributes in seven objects. Industry Flow and AUM Data describes each industry dataset's methodology, keeps every release as a separate vintage, and holds the flow and asset observations themselves. It also holds Category Mapping, which ties a vendor category to the firm's own share classes and market segments. Market Share holds the definition of each share measure, the stored results, and league-table rankings. The definition states what is being shared, where the firm's own number comes from, and how negative industry flows are treated, so every report computes share the same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families, 110 attributes. Competitor Intelligence is the firm's analytical view of a competing manager: its size, growth, distribution footprint, strategic events and senior personnel moves. The legal party sits in Client &amp; Customer. Peer Universes and Peer Funds defines the sets of funds that own products are compared against, and holds monthly snapshots of each member's return, rank, fee and flow. Ratings, Rankings and Awards uses one structure for Morningstar, Lipper, FE fundinfo and Citywire ratings, whether the fund is the firm's or a competitor's. Fee Benchmarking compares an own share class with a peer universe and passes pricing evidence to product governance. The actual fee stays in Investment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families, 68 attributes. Market Sizing and Opportunity Potential sizes channels, regions and institutional markets, estimates the addressable assets and wallet share at each advisor and firm, and sizes retirement plans from Form 5500 filings. Advisor practice AUM stays in Client &amp; Customer and is read here as an input. Market Structure Research holds purchased and internal research reports and the structural trends they evidence, such as model-portfolio adoption. Win/Loss and Mandate Search Intelligence holds external search, hire and termination events and aggregated win/loss analysis. The firm's own opportunities stay in Sales. News and Horizon Scanning holds curated news items and upcoming regulatory changes, tagged to competitors and own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attribute definition names the methodology or source it is aligned to. 95 of the 239 attributes, 40 percent, align to a vendor methodology, an industry statistic or a public filing. Morningstar is by far the largest external source with 38 attributes, covering flows, categories and the Star, Medalist and Sustainability ratings. 144 attributes are firm-defined, because definitions of market share, competitor tiers, wallet share and relevance are the firm's own choices. 75 attributes take their values from a controlled code list. Two cautions from the Source Notes: the current Medalist pillar set and the Citywire methodology were not confirmed from primary documents and should be checked.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domain holds the outside view. It deliberately leaves out the firm's own records, even where the two sit side by side in a report. This table shows where each excluded subject lives and what this domain keeps so that it can point to it. Three boundaries are worth calling out. Published, peer-relative ratings are here, but consultant ratings are in Sales and partner research ratings are in Distribution Agreements &amp; Partners. Market sizing is here, but the territory-level values used in goals are in Compensation &amp; Territory. The dataset's methodology is here, but its license is in Third-Party Data &amp; Licensing.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attribute carries an ownership flag. 205 of the 239 are mastered in this domain. 26 are references, which hold only the ID of a record mastered in another domain, and 8 are derived copies. Client &amp; Customer supplies the most, 11 references and 3 copies, because competitors, distributors, plans and rated managers are all parties. Investment Product is next with 7 references and 1 copy. The traffic in the other direction is light: only one attribute in another domain, in Sales, references a record mastered here. This is a consuming domain, and its reach comes through data products. Record Metadata is excluded from every taxonomy view and documented separately by the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Specifying and modeling the data products surfaced 19 gaps against this domain. Four are resolved. Fifteen are open, all proposed and waiting for a decision: three high priority, one medium and eleven low. The three high-priority gaps are about lineage in the spine. A release does not name its dataset, an observation cannot flag the firm's own rows, and a market share record does not name the release it was computed from. Until these are fixed, a vendor restatement cannot be traced into a published share figure. The medium gap concerns how competitors are linked across objects. Each gap has a proposed resolution and a decision owner in the gap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is used in four ways. First, it is the target that every market data source is mapped to: vendor flow and ratings files, industry statistics and public filings. That mapping to the firm's actual feeds is Phase D and has not been done. Second, it is the bill of materials for data products: each product lists the exact attributes it uses, and the build fails if one does not exist. Third, and specific to this domain, it gives one industry baseline. DP-014 loads each vendor release once, so market share, sizing, wallet share and peer benchmarks all start from the same numbers. Fourth, the ownership flags and the 80 proposed critical data elements tell stewards where to focus.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owns one foundational product, DP-014, Industry Flows and Peer Universe. It loads each vendor release once, maps external categories to the firm's share classes and segments, and maintains the peer universes, peer funds and their monthly metrics. It also carries the market share definitions and records, and the vendor's permitted-use terms. 91 of its 103 attributes come from this domain. It refreshes monthly, within two business days of each vendor release, and keeps every release as published, including superseded ones. 14 other products name it as a direct upstream, and 18 depend on it directly or indirectly.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of the 96 specified data products list this domain's objects among their inputs: one foundational and 15 consumer-aligned. Thirteen of the 16 are analytical products, which fits a domain whose purpose is comparison and sizing. Every one of the 34 objects is used by at least one product, and 235 of the 239 attributes, 98 percent, appear in a product specification. Industry Flow Observation is the most used object, read by six products, followed by Competitor Profile and Category Mapping with four each. The spine objects dominate the chart: release, dataset profile and market share record are each read by three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data products have this domain as their owning domain. DP-014 is the foundational product. The other four are consumer-aligned. Competitive Positioning and Peer Benchmarks places each own share class against its peers on rank, fees and ratings. Market Sizing and Share gives leadership the firm's share and rank and the size of each addressable market. Wallet Share Estimates is the governed producer of the Opportunity Potential record, used for segmentation and goal setting. Competitor and Market Watch is a daily feed of competitor events, personnel moves, search outcomes and trends. The bar on the right shows how many of each product's input attributes come from this domain. Wallet Share Estimates takes about half of its inputs from elsewhere, mainly parties and the firm's own assets.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further 11 products are owned by other domains but read this domain's attributes directly. They are grouped here by the business function they serve. The Distribution Executive Dashboard takes the most, 20 attributes, for industry flows and market share beside the firm's own results. Pricing and Fee Waiver Analytics takes 16, all from the fee benchmark objects. The retirement products read plan market records built from Form 5500 filings. Beyond these, five more products depend on the domain only through DP-014, without reading it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this concrete, follow one attribute. Net Flow is defined once in this domain, in the Industry Flow Observation object, as the industry's net flow at a stated grain from one release. DP-014 loads each release once, keeps superseded releases, and checks that net flow equals gross sales less redemptions where the provider supplies both. DP-031, Market Sizing and Share, sets the firm's certified net flows beside the industry figure and computes the Fair Share Gap. The semantic model SM-06, Product and Market, publishes Industry Net Flows and Fair Share Gap. The same definition then answers the leadership question in a dashboard or through an AI assistant. Note the boundary: this is a vendor-basis number. The firm's own net flows are mastered in Sales Transactions &amp; AUM Attribution.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decisions shape the domain and are still open. The first is whether this domain owns all published, peer-relative ratings for own and peer funds; that is the recommendation. The second is the certified net-flow definition, where the industry figure stays a separate, vendor-basis measure. The third is where UK research agency ratings belong; the recommendation is Distribution Agreements &amp; Partners. The fourth is adding a competitor role to the party master. The next steps on the right come from the Source Notes: confirm which datasets are licensed and which is the house denominator, ratify rating ownership, raise the two requests with neighboring domains, pilot one category end to end, and decide the open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C233C"/>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583680" cy="274320"/>
          </a:xfrm>
          <a:prstGeom prst="rect">
            <a:avLst/>
          </a:prstGeom>
          <a:noFill/>
          <a:ln/>
        </p:spPr>
        <p:txBody>
          <a:bodyPr wrap="square" rtlCol="0"/>
          <a:lstStyle>
            <a:lvl1pPr indent="0" marL="0">
              <a:buNone/>
              <a:defRPr lang="en-US" sz="1200" b="1" spc="150" kern="0" dirty="0">
                <a:solidFill>
                  <a:schemeClr val="accent6"/>
                </a:solidFill>
              </a:defRPr>
            </a:lvl1pPr>
          </a:lstStyle>
          <a:p>
            <a:pPr indent="0" marL="0">
              <a:buNone/>
            </a:pPr>
            <a:endParaRPr lang="en-US" sz="1200" dirty="0"/>
          </a:p>
        </p:txBody>
      </p:sp>
      <p:sp>
        <p:nvSpPr>
          <p:cNvPr id="3" name="Text 0"/>
          <p:cNvSpPr/>
          <p:nvPr>
            <p:ph idx="101" type="title" hasCustomPrompt="1"/>
          </p:nvPr>
        </p:nvSpPr>
        <p:spPr>
          <a:xfrm>
            <a:off x="548640" y="1828800"/>
            <a:ext cx="6583680" cy="201168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0"/>
          <p:cNvSpPr/>
          <p:nvPr>
            <p:ph idx="102" type="body" hasCustomPrompt="1"/>
          </p:nvPr>
        </p:nvSpPr>
        <p:spPr>
          <a:xfrm>
            <a:off x="548640" y="3977640"/>
            <a:ext cx="6400800" cy="1005840"/>
          </a:xfrm>
          <a:prstGeom prst="rect">
            <a:avLst/>
          </a:prstGeom>
          <a:noFill/>
          <a:ln/>
        </p:spPr>
        <p:txBody>
          <a:bodyPr wrap="square" rtlCol="0"/>
          <a:lstStyle>
            <a:lvl1pPr indent="0" marL="0">
              <a:buNone/>
              <a:defRPr lang="en-US" sz="1800" dirty="0">
                <a:solidFill>
                  <a:schemeClr val="bg1"/>
                </a:solidFill>
              </a:defRPr>
            </a:lvl1pPr>
          </a:lstStyle>
          <a:p>
            <a:pPr indent="0" marL="0">
              <a:buNone/>
            </a:pPr>
            <a:endParaRPr lang="en-US" sz="1800" dirty="0"/>
          </a:p>
        </p:txBody>
      </p:sp>
      <p:sp>
        <p:nvSpPr>
          <p:cNvPr id="5" name="Text 0"/>
          <p:cNvSpPr/>
          <p:nvPr/>
        </p:nvSpPr>
        <p:spPr>
          <a:xfrm>
            <a:off x="548640" y="6035040"/>
            <a:ext cx="8229600" cy="274320"/>
          </a:xfrm>
          <a:prstGeom prst="rect">
            <a:avLst/>
          </a:prstGeom>
          <a:noFill/>
          <a:ln/>
        </p:spPr>
        <p:txBody>
          <a:bodyPr wrap="square" lIns="0" tIns="0" rIns="0" bIns="0" rtlCol="0" anchor="ctr"/>
          <a:lstStyle/>
          <a:p>
            <a:pPr indent="0" marL="0">
              <a:buNone/>
            </a:pPr>
            <a:r>
              <a:rPr lang="en-US" sz="1200" dirty="0">
                <a:solidFill>
                  <a:schemeClr val="accent6"/>
                </a:solidFill>
              </a:rPr>
              <a:t>Distribution Data Taxonomy Program  |  Draft, October 2026  |  Counts are taken from the current drafts</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rtlCol="0"/>
          <a:lstStyle>
            <a:lvl1pPr indent="0" marL="0">
              <a:buNone/>
              <a:defRPr lang="en-US" sz="1200" b="1" spc="15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tx2"/>
                </a:solidFill>
              </a:rPr>
              <a:t>Market &amp; Competitive Intelligence taxonomy walkthrough  |  Draft, October 2026</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583680" cy="274320"/>
          </a:xfrm>
          <a:prstGeom prst="rect">
            <a:avLst/>
          </a:prstGeom>
          <a:noFill/>
          <a:ln/>
        </p:spPr>
        <p:txBody>
          <a:bodyPr wrap="square" lIns="0" tIns="0" rIns="0" bIns="0" rtlCol="0" anchor="ctr"/>
          <a:lstStyle/>
          <a:p>
            <a:pPr indent="0" marL="0">
              <a:buNone/>
            </a:pPr>
            <a:r>
              <a:rPr lang="en-US" sz="1200" b="1" spc="150" kern="0" dirty="0">
                <a:solidFill>
                  <a:schemeClr val="accent6"/>
                </a:solidFill>
              </a:rPr>
              <a:t>DATA DOMAIN  |  MARKET &amp; COMPETITIVE INTELLIGENCE</a:t>
            </a:r>
            <a:endParaRPr lang="en-US" sz="1200" dirty="0"/>
          </a:p>
        </p:txBody>
      </p:sp>
      <p:sp>
        <p:nvSpPr>
          <p:cNvPr id="3" name="Text 0"/>
          <p:cNvSpPr/>
          <p:nvPr>
            <p:ph idx="101" type="title" hasCustomPrompt="1"/>
          </p:nvPr>
        </p:nvSpPr>
        <p:spPr>
          <a:xfrm>
            <a:off x="548640" y="1828800"/>
            <a:ext cx="6583680" cy="2011680"/>
          </a:xfrm>
          <a:prstGeom prst="rect">
            <a:avLst/>
          </a:prstGeom>
          <a:noFill/>
          <a:ln/>
        </p:spPr>
        <p:txBody>
          <a:bodyPr wrap="square" lIns="0" tIns="0" rIns="0" bIns="0" rtlCol="0" anchor="t"/>
          <a:lstStyle/>
          <a:p>
            <a:pPr algn="l" indent="0" marL="0">
              <a:buNone/>
            </a:pPr>
            <a:r>
              <a:rPr lang="en-US" sz="3600" b="1" dirty="0">
                <a:solidFill>
                  <a:schemeClr val="bg1"/>
                </a:solidFill>
              </a:rPr>
              <a:t>The Market &amp; Competitive Intelligence taxonomy: a walkthrough</a:t>
            </a:r>
            <a:endParaRPr lang="en-US" sz="3600" dirty="0"/>
          </a:p>
        </p:txBody>
      </p:sp>
      <p:sp>
        <p:nvSpPr>
          <p:cNvPr id="4" name="Text 0"/>
          <p:cNvSpPr/>
          <p:nvPr>
            <p:ph idx="102" type="body" hasCustomPrompt="1"/>
          </p:nvPr>
        </p:nvSpPr>
        <p:spPr>
          <a:xfrm>
            <a:off x="548640" y="3977640"/>
            <a:ext cx="6400800" cy="1005840"/>
          </a:xfrm>
          <a:prstGeom prst="rect">
            <a:avLst/>
          </a:prstGeom>
          <a:noFill/>
          <a:ln/>
        </p:spPr>
        <p:txBody>
          <a:bodyPr wrap="square" lIns="0" tIns="0" rIns="0" bIns="0" rtlCol="0" anchor="t"/>
          <a:lstStyle/>
          <a:p>
            <a:pPr indent="0" marL="0">
              <a:buNone/>
            </a:pPr>
            <a:r>
              <a:rPr lang="en-US" sz="1800" dirty="0">
                <a:solidFill>
                  <a:schemeClr val="bg1"/>
                </a:solidFill>
              </a:rPr>
              <a:t>What the domain includes, what it leaves out, how it is used, and the data products it helps define</a:t>
            </a:r>
            <a:endParaRPr lang="en-US" sz="1800" dirty="0"/>
          </a:p>
        </p:txBody>
      </p:sp>
      <p:sp>
        <p:nvSpPr>
          <p:cNvPr id="5" name="Shape 3"/>
          <p:cNvSpPr/>
          <p:nvPr/>
        </p:nvSpPr>
        <p:spPr>
          <a:xfrm>
            <a:off x="8138160" y="1554480"/>
            <a:ext cx="3291840" cy="960120"/>
          </a:xfrm>
          <a:prstGeom prst="roundRect">
            <a:avLst>
              <a:gd name="adj" fmla="val 7619"/>
            </a:avLst>
          </a:prstGeom>
          <a:solidFill>
            <a:schemeClr val="accent1"/>
          </a:solidFill>
          <a:ln/>
        </p:spPr>
      </p:sp>
      <p:sp>
        <p:nvSpPr>
          <p:cNvPr id="6" name="Text 4"/>
          <p:cNvSpPr txBox="1"/>
          <p:nvPr/>
        </p:nvSpPr>
        <p:spPr>
          <a:xfrm>
            <a:off x="8412480" y="17190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Industry Flows</a:t>
            </a:r>
            <a:endParaRPr lang="en-US" sz="1800" dirty="0"/>
          </a:p>
        </p:txBody>
      </p:sp>
      <p:sp>
        <p:nvSpPr>
          <p:cNvPr id="7" name="Text 5"/>
          <p:cNvSpPr txBox="1"/>
          <p:nvPr/>
        </p:nvSpPr>
        <p:spPr>
          <a:xfrm>
            <a:off x="8412480" y="20665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What the market did</a:t>
            </a:r>
            <a:endParaRPr lang="en-US" sz="1300" dirty="0"/>
          </a:p>
        </p:txBody>
      </p:sp>
      <p:sp>
        <p:nvSpPr>
          <p:cNvPr id="8" name="Shape 6"/>
          <p:cNvSpPr/>
          <p:nvPr/>
        </p:nvSpPr>
        <p:spPr>
          <a:xfrm>
            <a:off x="9784080" y="2514600"/>
            <a:ext cx="0" cy="411480"/>
          </a:xfrm>
          <a:prstGeom prst="line">
            <a:avLst/>
          </a:prstGeom>
          <a:noFill/>
          <a:ln w="19050">
            <a:solidFill>
              <a:schemeClr val="accent6"/>
            </a:solidFill>
            <a:prstDash val="solid"/>
            <a:tailEnd type="triangle"/>
          </a:ln>
        </p:spPr>
      </p:sp>
      <p:sp>
        <p:nvSpPr>
          <p:cNvPr id="9" name="Shape 7"/>
          <p:cNvSpPr/>
          <p:nvPr/>
        </p:nvSpPr>
        <p:spPr>
          <a:xfrm>
            <a:off x="8138160" y="2926080"/>
            <a:ext cx="3291840" cy="960120"/>
          </a:xfrm>
          <a:prstGeom prst="roundRect">
            <a:avLst>
              <a:gd name="adj" fmla="val 7619"/>
            </a:avLst>
          </a:prstGeom>
          <a:solidFill>
            <a:schemeClr val="accent2"/>
          </a:solidFill>
          <a:ln/>
        </p:spPr>
      </p:sp>
      <p:sp>
        <p:nvSpPr>
          <p:cNvPr id="10" name="Text 8"/>
          <p:cNvSpPr txBox="1"/>
          <p:nvPr/>
        </p:nvSpPr>
        <p:spPr>
          <a:xfrm>
            <a:off x="8412480" y="30906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Market Share</a:t>
            </a:r>
            <a:endParaRPr lang="en-US" sz="1800" dirty="0"/>
          </a:p>
        </p:txBody>
      </p:sp>
      <p:sp>
        <p:nvSpPr>
          <p:cNvPr id="11" name="Text 9"/>
          <p:cNvSpPr txBox="1"/>
          <p:nvPr/>
        </p:nvSpPr>
        <p:spPr>
          <a:xfrm>
            <a:off x="8412480" y="34381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Our share of it</a:t>
            </a:r>
            <a:endParaRPr lang="en-US" sz="1300" dirty="0"/>
          </a:p>
        </p:txBody>
      </p:sp>
      <p:sp>
        <p:nvSpPr>
          <p:cNvPr id="12" name="Shape 10"/>
          <p:cNvSpPr/>
          <p:nvPr/>
        </p:nvSpPr>
        <p:spPr>
          <a:xfrm>
            <a:off x="9784080" y="3886200"/>
            <a:ext cx="0" cy="411480"/>
          </a:xfrm>
          <a:prstGeom prst="line">
            <a:avLst/>
          </a:prstGeom>
          <a:noFill/>
          <a:ln w="19050">
            <a:solidFill>
              <a:schemeClr val="accent6"/>
            </a:solidFill>
            <a:prstDash val="solid"/>
            <a:tailEnd type="triangle"/>
          </a:ln>
        </p:spPr>
      </p:sp>
      <p:sp>
        <p:nvSpPr>
          <p:cNvPr id="13" name="Shape 11"/>
          <p:cNvSpPr/>
          <p:nvPr/>
        </p:nvSpPr>
        <p:spPr>
          <a:xfrm>
            <a:off x="8138160" y="4297680"/>
            <a:ext cx="3291840" cy="960120"/>
          </a:xfrm>
          <a:prstGeom prst="roundRect">
            <a:avLst>
              <a:gd name="adj" fmla="val 7619"/>
            </a:avLst>
          </a:prstGeom>
          <a:solidFill>
            <a:schemeClr val="accent4"/>
          </a:solidFill>
          <a:ln/>
        </p:spPr>
      </p:sp>
      <p:sp>
        <p:nvSpPr>
          <p:cNvPr id="14" name="Text 12"/>
          <p:cNvSpPr txBox="1"/>
          <p:nvPr/>
        </p:nvSpPr>
        <p:spPr>
          <a:xfrm>
            <a:off x="8412480" y="44622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Peer Universe</a:t>
            </a:r>
            <a:endParaRPr lang="en-US" sz="1800" dirty="0"/>
          </a:p>
        </p:txBody>
      </p:sp>
      <p:sp>
        <p:nvSpPr>
          <p:cNvPr id="15" name="Text 13"/>
          <p:cNvSpPr txBox="1"/>
          <p:nvPr/>
        </p:nvSpPr>
        <p:spPr>
          <a:xfrm>
            <a:off x="8412480" y="48097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Who we are compared with</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SUMMARY</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This domain defines the market view, once</a:t>
            </a:r>
            <a:endParaRPr lang="en-US" sz="3600" dirty="0"/>
          </a:p>
        </p:txBody>
      </p:sp>
      <p:sp>
        <p:nvSpPr>
          <p:cNvPr id="5" name="Shape 2"/>
          <p:cNvSpPr/>
          <p:nvPr/>
        </p:nvSpPr>
        <p:spPr>
          <a:xfrm>
            <a:off x="548640" y="1783080"/>
            <a:ext cx="2651760" cy="4434840"/>
          </a:xfrm>
          <a:prstGeom prst="roundRect">
            <a:avLst>
              <a:gd name="adj" fmla="val 2759"/>
            </a:avLst>
          </a:prstGeom>
          <a:solidFill>
            <a:schemeClr val="tx1"/>
          </a:solidFill>
          <a:ln/>
        </p:spPr>
      </p:sp>
      <p:sp>
        <p:nvSpPr>
          <p:cNvPr id="6" name="Text 3"/>
          <p:cNvSpPr txBox="1"/>
          <p:nvPr/>
        </p:nvSpPr>
        <p:spPr>
          <a:xfrm>
            <a:off x="822960" y="2011680"/>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10</a:t>
            </a:r>
            <a:endParaRPr lang="en-US" sz="3600" dirty="0"/>
          </a:p>
        </p:txBody>
      </p:sp>
      <p:sp>
        <p:nvSpPr>
          <p:cNvPr id="7" name="Text 4"/>
          <p:cNvSpPr txBox="1"/>
          <p:nvPr/>
        </p:nvSpPr>
        <p:spPr>
          <a:xfrm>
            <a:off x="822960" y="2560320"/>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data families</a:t>
            </a:r>
            <a:endParaRPr lang="en-US" sz="1300" dirty="0"/>
          </a:p>
        </p:txBody>
      </p:sp>
      <p:sp>
        <p:nvSpPr>
          <p:cNvPr id="8" name="Text 5"/>
          <p:cNvSpPr txBox="1"/>
          <p:nvPr/>
        </p:nvSpPr>
        <p:spPr>
          <a:xfrm>
            <a:off x="822960" y="3044952"/>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34</a:t>
            </a:r>
            <a:endParaRPr lang="en-US" sz="3600" dirty="0"/>
          </a:p>
        </p:txBody>
      </p:sp>
      <p:sp>
        <p:nvSpPr>
          <p:cNvPr id="9" name="Text 6"/>
          <p:cNvSpPr txBox="1"/>
          <p:nvPr/>
        </p:nvSpPr>
        <p:spPr>
          <a:xfrm>
            <a:off x="822960" y="3593592"/>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objects</a:t>
            </a:r>
            <a:endParaRPr lang="en-US" sz="1300" dirty="0"/>
          </a:p>
        </p:txBody>
      </p:sp>
      <p:sp>
        <p:nvSpPr>
          <p:cNvPr id="10" name="Text 7"/>
          <p:cNvSpPr txBox="1"/>
          <p:nvPr/>
        </p:nvSpPr>
        <p:spPr>
          <a:xfrm>
            <a:off x="822960" y="4078224"/>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239</a:t>
            </a:r>
            <a:endParaRPr lang="en-US" sz="3600" dirty="0"/>
          </a:p>
        </p:txBody>
      </p:sp>
      <p:sp>
        <p:nvSpPr>
          <p:cNvPr id="11" name="Text 8"/>
          <p:cNvSpPr txBox="1"/>
          <p:nvPr/>
        </p:nvSpPr>
        <p:spPr>
          <a:xfrm>
            <a:off x="822960" y="4626864"/>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attributes</a:t>
            </a:r>
            <a:endParaRPr lang="en-US" sz="1300" dirty="0"/>
          </a:p>
        </p:txBody>
      </p:sp>
      <p:sp>
        <p:nvSpPr>
          <p:cNvPr id="12" name="Text 9"/>
          <p:cNvSpPr txBox="1"/>
          <p:nvPr/>
        </p:nvSpPr>
        <p:spPr>
          <a:xfrm>
            <a:off x="822960" y="5111496"/>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80</a:t>
            </a:r>
            <a:endParaRPr lang="en-US" sz="3600" dirty="0"/>
          </a:p>
        </p:txBody>
      </p:sp>
      <p:sp>
        <p:nvSpPr>
          <p:cNvPr id="13" name="Text 10"/>
          <p:cNvSpPr txBox="1"/>
          <p:nvPr/>
        </p:nvSpPr>
        <p:spPr>
          <a:xfrm>
            <a:off x="822960" y="5660136"/>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proposed critical data elements</a:t>
            </a:r>
            <a:endParaRPr lang="en-US" sz="1300" dirty="0"/>
          </a:p>
        </p:txBody>
      </p:sp>
      <p:sp>
        <p:nvSpPr>
          <p:cNvPr id="14" name="Shape 11"/>
          <p:cNvSpPr/>
          <p:nvPr/>
        </p:nvSpPr>
        <p:spPr>
          <a:xfrm>
            <a:off x="3474720" y="1783080"/>
            <a:ext cx="3945636" cy="2080260"/>
          </a:xfrm>
          <a:prstGeom prst="roundRect">
            <a:avLst>
              <a:gd name="adj" fmla="val 3516"/>
            </a:avLst>
          </a:prstGeom>
          <a:solidFill>
            <a:schemeClr val="bg2"/>
          </a:solidFill>
          <a:ln/>
        </p:spPr>
      </p:sp>
      <p:sp>
        <p:nvSpPr>
          <p:cNvPr id="15" name="Text 12"/>
          <p:cNvSpPr/>
          <p:nvPr/>
        </p:nvSpPr>
        <p:spPr>
          <a:xfrm>
            <a:off x="3703320" y="201168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6" name="Text 13"/>
          <p:cNvSpPr txBox="1"/>
          <p:nvPr/>
        </p:nvSpPr>
        <p:spPr>
          <a:xfrm>
            <a:off x="4224528" y="201168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is included</a:t>
            </a:r>
            <a:endParaRPr lang="en-US" sz="1600" dirty="0"/>
          </a:p>
        </p:txBody>
      </p:sp>
      <p:sp>
        <p:nvSpPr>
          <p:cNvPr id="17" name="Text 14"/>
          <p:cNvSpPr txBox="1"/>
          <p:nvPr/>
        </p:nvSpPr>
        <p:spPr>
          <a:xfrm>
            <a:off x="3703320" y="256032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Industry flows and assets by release, market share definitions and results, competitor profiles, peer universes and peer funds, published ratings and awards, fee benchmarks, market sizing and market research.</a:t>
            </a:r>
            <a:endParaRPr lang="en-US" sz="1300" dirty="0"/>
          </a:p>
        </p:txBody>
      </p:sp>
      <p:sp>
        <p:nvSpPr>
          <p:cNvPr id="18" name="Shape 15"/>
          <p:cNvSpPr/>
          <p:nvPr/>
        </p:nvSpPr>
        <p:spPr>
          <a:xfrm>
            <a:off x="7694676" y="1783080"/>
            <a:ext cx="3945636" cy="2080260"/>
          </a:xfrm>
          <a:prstGeom prst="roundRect">
            <a:avLst>
              <a:gd name="adj" fmla="val 3516"/>
            </a:avLst>
          </a:prstGeom>
          <a:solidFill>
            <a:schemeClr val="bg2"/>
          </a:solidFill>
          <a:ln/>
        </p:spPr>
      </p:sp>
      <p:sp>
        <p:nvSpPr>
          <p:cNvPr id="19" name="Text 16"/>
          <p:cNvSpPr/>
          <p:nvPr/>
        </p:nvSpPr>
        <p:spPr>
          <a:xfrm>
            <a:off x="7923276" y="2011680"/>
            <a:ext cx="384048" cy="384048"/>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0" name="Text 17"/>
          <p:cNvSpPr txBox="1"/>
          <p:nvPr/>
        </p:nvSpPr>
        <p:spPr>
          <a:xfrm>
            <a:off x="8444484" y="201168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is excluded</a:t>
            </a:r>
            <a:endParaRPr lang="en-US" sz="1600" dirty="0"/>
          </a:p>
        </p:txBody>
      </p:sp>
      <p:sp>
        <p:nvSpPr>
          <p:cNvPr id="21" name="Text 18"/>
          <p:cNvSpPr txBox="1"/>
          <p:nvPr/>
        </p:nvSpPr>
        <p:spPr>
          <a:xfrm>
            <a:off x="7923276" y="256032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The firm's own products and fees, the party master, its own opportunities, flows and AUM, territory potential, partner research ratings, and data licenses. These are referenced by ID only.</a:t>
            </a:r>
            <a:endParaRPr lang="en-US" sz="1300" dirty="0"/>
          </a:p>
        </p:txBody>
      </p:sp>
      <p:sp>
        <p:nvSpPr>
          <p:cNvPr id="22" name="Shape 19"/>
          <p:cNvSpPr/>
          <p:nvPr/>
        </p:nvSpPr>
        <p:spPr>
          <a:xfrm>
            <a:off x="3474720" y="4137660"/>
            <a:ext cx="3945636" cy="2080260"/>
          </a:xfrm>
          <a:prstGeom prst="roundRect">
            <a:avLst>
              <a:gd name="adj" fmla="val 3516"/>
            </a:avLst>
          </a:prstGeom>
          <a:solidFill>
            <a:schemeClr val="bg2"/>
          </a:solidFill>
          <a:ln/>
        </p:spPr>
      </p:sp>
      <p:sp>
        <p:nvSpPr>
          <p:cNvPr id="23" name="Text 20"/>
          <p:cNvSpPr/>
          <p:nvPr/>
        </p:nvSpPr>
        <p:spPr>
          <a:xfrm>
            <a:off x="3703320" y="4366260"/>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4" name="Text 21"/>
          <p:cNvSpPr txBox="1"/>
          <p:nvPr/>
        </p:nvSpPr>
        <p:spPr>
          <a:xfrm>
            <a:off x="4224528" y="436626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How it is used</a:t>
            </a:r>
            <a:endParaRPr lang="en-US" sz="1600" dirty="0"/>
          </a:p>
        </p:txBody>
      </p:sp>
      <p:sp>
        <p:nvSpPr>
          <p:cNvPr id="25" name="Text 22"/>
          <p:cNvSpPr txBox="1"/>
          <p:nvPr/>
        </p:nvSpPr>
        <p:spPr>
          <a:xfrm>
            <a:off x="3703320" y="491490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As the mapping target for vendor and industry files, the bill of materials for data products, and the single industry baseline behind market share, sizing and peer benchmarks.</a:t>
            </a:r>
            <a:endParaRPr lang="en-US" sz="1300" dirty="0"/>
          </a:p>
        </p:txBody>
      </p:sp>
      <p:sp>
        <p:nvSpPr>
          <p:cNvPr id="26" name="Shape 23"/>
          <p:cNvSpPr/>
          <p:nvPr/>
        </p:nvSpPr>
        <p:spPr>
          <a:xfrm>
            <a:off x="7694676" y="4137660"/>
            <a:ext cx="3945636" cy="2080260"/>
          </a:xfrm>
          <a:prstGeom prst="roundRect">
            <a:avLst>
              <a:gd name="adj" fmla="val 3516"/>
            </a:avLst>
          </a:prstGeom>
          <a:solidFill>
            <a:schemeClr val="bg2"/>
          </a:solidFill>
          <a:ln/>
        </p:spPr>
      </p:sp>
      <p:sp>
        <p:nvSpPr>
          <p:cNvPr id="27" name="Text 24"/>
          <p:cNvSpPr/>
          <p:nvPr/>
        </p:nvSpPr>
        <p:spPr>
          <a:xfrm>
            <a:off x="7923276" y="4366260"/>
            <a:ext cx="384048" cy="384048"/>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8" name="Text 25"/>
          <p:cNvSpPr txBox="1"/>
          <p:nvPr/>
        </p:nvSpPr>
        <p:spPr>
          <a:xfrm>
            <a:off x="8444484" y="436626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it helps define</a:t>
            </a:r>
            <a:endParaRPr lang="en-US" sz="1600" dirty="0"/>
          </a:p>
        </p:txBody>
      </p:sp>
      <p:sp>
        <p:nvSpPr>
          <p:cNvPr id="29" name="Text 26"/>
          <p:cNvSpPr txBox="1"/>
          <p:nvPr/>
        </p:nvSpPr>
        <p:spPr>
          <a:xfrm>
            <a:off x="7923276" y="491490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16 of the 96 data products read it directly. 18 of the other 95 depend on its foundational product, DP-014, which loads each vendor release once.</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WHERE THE DOMAIN SITS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of 16 data domains, four levels deep</a:t>
            </a:r>
            <a:endParaRPr lang="en-US" sz="3600" dirty="0"/>
          </a:p>
        </p:txBody>
      </p:sp>
      <p:sp>
        <p:nvSpPr>
          <p:cNvPr id="5" name="Shape 2"/>
          <p:cNvSpPr/>
          <p:nvPr/>
        </p:nvSpPr>
        <p:spPr>
          <a:xfrm>
            <a:off x="548640" y="1783080"/>
            <a:ext cx="6126480" cy="868680"/>
          </a:xfrm>
          <a:prstGeom prst="roundRect">
            <a:avLst>
              <a:gd name="adj" fmla="val 8421"/>
            </a:avLst>
          </a:prstGeom>
          <a:solidFill>
            <a:schemeClr val="bg2"/>
          </a:solidFill>
          <a:ln/>
        </p:spPr>
      </p:sp>
      <p:sp>
        <p:nvSpPr>
          <p:cNvPr id="6" name="Text 3"/>
          <p:cNvSpPr/>
          <p:nvPr/>
        </p:nvSpPr>
        <p:spPr>
          <a:xfrm>
            <a:off x="731520" y="201168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L1</a:t>
            </a:r>
            <a:endParaRPr lang="en-US" sz="1300" dirty="0"/>
          </a:p>
        </p:txBody>
      </p:sp>
      <p:sp>
        <p:nvSpPr>
          <p:cNvPr id="7" name="Text 4"/>
          <p:cNvSpPr txBox="1"/>
          <p:nvPr/>
        </p:nvSpPr>
        <p:spPr>
          <a:xfrm>
            <a:off x="1463040" y="191109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Data Domain</a:t>
            </a:r>
            <a:endParaRPr lang="en-US" sz="1600" dirty="0"/>
          </a:p>
        </p:txBody>
      </p:sp>
      <p:sp>
        <p:nvSpPr>
          <p:cNvPr id="8" name="Text 5"/>
          <p:cNvSpPr txBox="1"/>
          <p:nvPr/>
        </p:nvSpPr>
        <p:spPr>
          <a:xfrm>
            <a:off x="1463040" y="224028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1 of 16</a:t>
            </a:r>
            <a:endParaRPr lang="en-US" sz="1200" dirty="0"/>
          </a:p>
        </p:txBody>
      </p:sp>
      <p:sp>
        <p:nvSpPr>
          <p:cNvPr id="9" name="Text 6"/>
          <p:cNvSpPr txBox="1"/>
          <p:nvPr/>
        </p:nvSpPr>
        <p:spPr>
          <a:xfrm>
            <a:off x="3474720" y="1911096"/>
            <a:ext cx="3017520" cy="612648"/>
          </a:xfrm>
          <a:prstGeom prst="rect">
            <a:avLst/>
          </a:prstGeom>
          <a:noFill/>
          <a:ln/>
        </p:spPr>
        <p:txBody>
          <a:bodyPr wrap="square" lIns="0" tIns="0" rIns="0" bIns="0" rtlCol="0" anchor="ctr"/>
          <a:lstStyle/>
          <a:p>
            <a:pPr algn="l" indent="0" marL="0">
              <a:buNone/>
            </a:pPr>
            <a:r>
              <a:rPr lang="en-US" sz="1400" b="1" dirty="0">
                <a:solidFill>
                  <a:schemeClr val="accent2"/>
                </a:solidFill>
              </a:rPr>
              <a:t>Market &amp; Competitive Intelligence</a:t>
            </a:r>
            <a:endParaRPr lang="en-US" sz="1400" dirty="0"/>
          </a:p>
        </p:txBody>
      </p:sp>
      <p:sp>
        <p:nvSpPr>
          <p:cNvPr id="10" name="Shape 7"/>
          <p:cNvSpPr/>
          <p:nvPr/>
        </p:nvSpPr>
        <p:spPr>
          <a:xfrm>
            <a:off x="822960" y="2788920"/>
            <a:ext cx="5852160" cy="868680"/>
          </a:xfrm>
          <a:prstGeom prst="roundRect">
            <a:avLst>
              <a:gd name="adj" fmla="val 8421"/>
            </a:avLst>
          </a:prstGeom>
          <a:solidFill>
            <a:schemeClr val="bg2"/>
          </a:solidFill>
          <a:ln/>
        </p:spPr>
      </p:sp>
      <p:sp>
        <p:nvSpPr>
          <p:cNvPr id="11" name="Text 8"/>
          <p:cNvSpPr/>
          <p:nvPr/>
        </p:nvSpPr>
        <p:spPr>
          <a:xfrm>
            <a:off x="1005840" y="301752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L2</a:t>
            </a:r>
            <a:endParaRPr lang="en-US" sz="1300" dirty="0"/>
          </a:p>
        </p:txBody>
      </p:sp>
      <p:sp>
        <p:nvSpPr>
          <p:cNvPr id="12" name="Text 9"/>
          <p:cNvSpPr txBox="1"/>
          <p:nvPr/>
        </p:nvSpPr>
        <p:spPr>
          <a:xfrm>
            <a:off x="1737360" y="291693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Data Family</a:t>
            </a:r>
            <a:endParaRPr lang="en-US" sz="1600" dirty="0"/>
          </a:p>
        </p:txBody>
      </p:sp>
      <p:sp>
        <p:nvSpPr>
          <p:cNvPr id="13" name="Text 10"/>
          <p:cNvSpPr txBox="1"/>
          <p:nvPr/>
        </p:nvSpPr>
        <p:spPr>
          <a:xfrm>
            <a:off x="1737360" y="324612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10 families</a:t>
            </a:r>
            <a:endParaRPr lang="en-US" sz="1200" dirty="0"/>
          </a:p>
        </p:txBody>
      </p:sp>
      <p:sp>
        <p:nvSpPr>
          <p:cNvPr id="14" name="Text 11"/>
          <p:cNvSpPr txBox="1"/>
          <p:nvPr/>
        </p:nvSpPr>
        <p:spPr>
          <a:xfrm>
            <a:off x="3749040" y="2916936"/>
            <a:ext cx="2743200" cy="612648"/>
          </a:xfrm>
          <a:prstGeom prst="rect">
            <a:avLst/>
          </a:prstGeom>
          <a:noFill/>
          <a:ln/>
        </p:spPr>
        <p:txBody>
          <a:bodyPr wrap="square" lIns="0" tIns="0" rIns="0" bIns="0" rtlCol="0" anchor="ctr"/>
          <a:lstStyle/>
          <a:p>
            <a:pPr algn="l" indent="0" marL="0">
              <a:buNone/>
            </a:pPr>
            <a:r>
              <a:rPr lang="en-US" sz="1400" b="1" dirty="0">
                <a:solidFill>
                  <a:schemeClr val="accent2"/>
                </a:solidFill>
              </a:rPr>
              <a:t>Industry Flow &amp; AUM Data</a:t>
            </a:r>
            <a:endParaRPr lang="en-US" sz="1400" dirty="0"/>
          </a:p>
        </p:txBody>
      </p:sp>
      <p:sp>
        <p:nvSpPr>
          <p:cNvPr id="15" name="Shape 12"/>
          <p:cNvSpPr/>
          <p:nvPr/>
        </p:nvSpPr>
        <p:spPr>
          <a:xfrm>
            <a:off x="1097280" y="3794760"/>
            <a:ext cx="5577840" cy="868680"/>
          </a:xfrm>
          <a:prstGeom prst="roundRect">
            <a:avLst>
              <a:gd name="adj" fmla="val 8421"/>
            </a:avLst>
          </a:prstGeom>
          <a:solidFill>
            <a:schemeClr val="bg2"/>
          </a:solidFill>
          <a:ln/>
        </p:spPr>
      </p:sp>
      <p:sp>
        <p:nvSpPr>
          <p:cNvPr id="16" name="Text 13"/>
          <p:cNvSpPr/>
          <p:nvPr/>
        </p:nvSpPr>
        <p:spPr>
          <a:xfrm>
            <a:off x="1280160" y="402336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L3</a:t>
            </a:r>
            <a:endParaRPr lang="en-US" sz="1300" dirty="0"/>
          </a:p>
        </p:txBody>
      </p:sp>
      <p:sp>
        <p:nvSpPr>
          <p:cNvPr id="17" name="Text 14"/>
          <p:cNvSpPr txBox="1"/>
          <p:nvPr/>
        </p:nvSpPr>
        <p:spPr>
          <a:xfrm>
            <a:off x="2011680" y="392277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Business Object</a:t>
            </a:r>
            <a:endParaRPr lang="en-US" sz="1600" dirty="0"/>
          </a:p>
        </p:txBody>
      </p:sp>
      <p:sp>
        <p:nvSpPr>
          <p:cNvPr id="18" name="Text 15"/>
          <p:cNvSpPr txBox="1"/>
          <p:nvPr/>
        </p:nvSpPr>
        <p:spPr>
          <a:xfrm>
            <a:off x="2011680" y="425196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34 objects</a:t>
            </a:r>
            <a:endParaRPr lang="en-US" sz="1200" dirty="0"/>
          </a:p>
        </p:txBody>
      </p:sp>
      <p:sp>
        <p:nvSpPr>
          <p:cNvPr id="19" name="Text 16"/>
          <p:cNvSpPr txBox="1"/>
          <p:nvPr/>
        </p:nvSpPr>
        <p:spPr>
          <a:xfrm>
            <a:off x="4023360" y="3922776"/>
            <a:ext cx="2468880" cy="612648"/>
          </a:xfrm>
          <a:prstGeom prst="rect">
            <a:avLst/>
          </a:prstGeom>
          <a:noFill/>
          <a:ln/>
        </p:spPr>
        <p:txBody>
          <a:bodyPr wrap="square" lIns="0" tIns="0" rIns="0" bIns="0" rtlCol="0" anchor="ctr"/>
          <a:lstStyle/>
          <a:p>
            <a:pPr algn="l" indent="0" marL="0">
              <a:buNone/>
            </a:pPr>
            <a:r>
              <a:rPr lang="en-US" sz="1400" b="1" dirty="0">
                <a:solidFill>
                  <a:schemeClr val="accent2"/>
                </a:solidFill>
              </a:rPr>
              <a:t>Industry Flow Observation</a:t>
            </a:r>
            <a:endParaRPr lang="en-US" sz="1400" dirty="0"/>
          </a:p>
        </p:txBody>
      </p:sp>
      <p:sp>
        <p:nvSpPr>
          <p:cNvPr id="20" name="Shape 17"/>
          <p:cNvSpPr/>
          <p:nvPr/>
        </p:nvSpPr>
        <p:spPr>
          <a:xfrm>
            <a:off x="1371600" y="4800600"/>
            <a:ext cx="5303520" cy="868680"/>
          </a:xfrm>
          <a:prstGeom prst="roundRect">
            <a:avLst>
              <a:gd name="adj" fmla="val 8421"/>
            </a:avLst>
          </a:prstGeom>
          <a:solidFill>
            <a:schemeClr val="bg2"/>
          </a:solidFill>
          <a:ln/>
        </p:spPr>
      </p:sp>
      <p:sp>
        <p:nvSpPr>
          <p:cNvPr id="21" name="Text 18"/>
          <p:cNvSpPr/>
          <p:nvPr/>
        </p:nvSpPr>
        <p:spPr>
          <a:xfrm>
            <a:off x="1554480" y="502920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L4</a:t>
            </a:r>
            <a:endParaRPr lang="en-US" sz="1300" dirty="0"/>
          </a:p>
        </p:txBody>
      </p:sp>
      <p:sp>
        <p:nvSpPr>
          <p:cNvPr id="22" name="Text 19"/>
          <p:cNvSpPr txBox="1"/>
          <p:nvPr/>
        </p:nvSpPr>
        <p:spPr>
          <a:xfrm>
            <a:off x="2286000" y="492861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Attribute</a:t>
            </a:r>
            <a:endParaRPr lang="en-US" sz="1600" dirty="0"/>
          </a:p>
        </p:txBody>
      </p:sp>
      <p:sp>
        <p:nvSpPr>
          <p:cNvPr id="23" name="Text 20"/>
          <p:cNvSpPr txBox="1"/>
          <p:nvPr/>
        </p:nvSpPr>
        <p:spPr>
          <a:xfrm>
            <a:off x="2286000" y="525780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239 attributes</a:t>
            </a:r>
            <a:endParaRPr lang="en-US" sz="1200" dirty="0"/>
          </a:p>
        </p:txBody>
      </p:sp>
      <p:sp>
        <p:nvSpPr>
          <p:cNvPr id="24" name="Text 21"/>
          <p:cNvSpPr txBox="1"/>
          <p:nvPr/>
        </p:nvSpPr>
        <p:spPr>
          <a:xfrm>
            <a:off x="4297680" y="4928616"/>
            <a:ext cx="2194560" cy="612648"/>
          </a:xfrm>
          <a:prstGeom prst="rect">
            <a:avLst/>
          </a:prstGeom>
          <a:noFill/>
          <a:ln/>
        </p:spPr>
        <p:txBody>
          <a:bodyPr wrap="square" lIns="0" tIns="0" rIns="0" bIns="0" rtlCol="0" anchor="ctr"/>
          <a:lstStyle/>
          <a:p>
            <a:pPr algn="l" indent="0" marL="0">
              <a:buNone/>
            </a:pPr>
            <a:r>
              <a:rPr lang="en-US" sz="1400" b="1" dirty="0">
                <a:solidFill>
                  <a:schemeClr val="accent2"/>
                </a:solidFill>
              </a:rPr>
              <a:t>Net Flow</a:t>
            </a:r>
            <a:endParaRPr lang="en-US" sz="1400" dirty="0"/>
          </a:p>
        </p:txBody>
      </p:sp>
      <p:sp>
        <p:nvSpPr>
          <p:cNvPr id="25" name="Text 22"/>
          <p:cNvSpPr txBox="1"/>
          <p:nvPr/>
        </p:nvSpPr>
        <p:spPr>
          <a:xfrm>
            <a:off x="548640" y="5852160"/>
            <a:ext cx="6126480" cy="274320"/>
          </a:xfrm>
          <a:prstGeom prst="rect">
            <a:avLst/>
          </a:prstGeom>
          <a:noFill/>
          <a:ln/>
        </p:spPr>
        <p:txBody>
          <a:bodyPr wrap="square" lIns="0" tIns="0" rIns="0" bIns="0" rtlCol="0" anchor="ctr"/>
          <a:lstStyle/>
          <a:p>
            <a:pPr algn="l" indent="0" marL="0">
              <a:buNone/>
            </a:pPr>
            <a:r>
              <a:rPr lang="en-US" sz="1200" dirty="0">
                <a:solidFill>
                  <a:schemeClr val="accent2"/>
                </a:solidFill>
              </a:rPr>
              <a:t>Purple text: the path to one attribute followed later in this deck</a:t>
            </a:r>
            <a:endParaRPr lang="en-US" sz="1200" dirty="0"/>
          </a:p>
        </p:txBody>
      </p:sp>
      <p:sp>
        <p:nvSpPr>
          <p:cNvPr id="26" name="Text 23"/>
          <p:cNvSpPr txBox="1"/>
          <p:nvPr/>
        </p:nvSpPr>
        <p:spPr>
          <a:xfrm>
            <a:off x="7040880" y="1783080"/>
            <a:ext cx="457200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FOR EVERY ATTRIBUTE, IT RECORDS</a:t>
            </a:r>
            <a:endParaRPr lang="en-US" sz="1200" dirty="0"/>
          </a:p>
        </p:txBody>
      </p:sp>
      <p:sp>
        <p:nvSpPr>
          <p:cNvPr id="27" name="Text 24"/>
          <p:cNvSpPr txBox="1"/>
          <p:nvPr/>
        </p:nvSpPr>
        <p:spPr>
          <a:xfrm>
            <a:off x="7040880" y="2148840"/>
            <a:ext cx="4599432" cy="251460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One definition, with an example value</a:t>
            </a:r>
            <a:endParaRPr lang="en-US" sz="1400" dirty="0"/>
          </a:p>
          <a:p>
            <a:pPr marL="177800" indent="-177800">
              <a:spcAft>
                <a:spcPts val="700"/>
              </a:spcAft>
              <a:buSzPct val="100000"/>
              <a:buChar char="•"/>
            </a:pPr>
            <a:r>
              <a:rPr lang="en-US" sz="1400" dirty="0">
                <a:solidFill>
                  <a:schemeClr val="tx1"/>
                </a:solidFill>
              </a:rPr>
              <a:t>The data type and, where coded, the code list</a:t>
            </a:r>
            <a:endParaRPr lang="en-US" sz="1400" dirty="0"/>
          </a:p>
          <a:p>
            <a:pPr marL="177800" indent="-177800">
              <a:spcAft>
                <a:spcPts val="700"/>
              </a:spcAft>
              <a:buSzPct val="100000"/>
              <a:buChar char="•"/>
            </a:pPr>
            <a:r>
              <a:rPr lang="en-US" sz="1400" dirty="0">
                <a:solidFill>
                  <a:schemeClr val="tx1"/>
                </a:solidFill>
              </a:rPr>
              <a:t>The dataset, release, fund or firm it applies to</a:t>
            </a:r>
            <a:endParaRPr lang="en-US" sz="1400" dirty="0"/>
          </a:p>
          <a:p>
            <a:pPr marL="177800" indent="-177800">
              <a:spcAft>
                <a:spcPts val="700"/>
              </a:spcAft>
              <a:buSzPct val="100000"/>
              <a:buChar char="•"/>
            </a:pPr>
            <a:r>
              <a:rPr lang="en-US" sz="1400" dirty="0">
                <a:solidFill>
                  <a:schemeClr val="tx1"/>
                </a:solidFill>
              </a:rPr>
              <a:t>The standard, regulation or source it aligns to</a:t>
            </a:r>
            <a:endParaRPr lang="en-US" sz="1400" dirty="0"/>
          </a:p>
          <a:p>
            <a:pPr marL="177800" indent="-177800">
              <a:spcAft>
                <a:spcPts val="700"/>
              </a:spcAft>
              <a:buSzPct val="100000"/>
              <a:buChar char="•"/>
            </a:pPr>
            <a:r>
              <a:rPr lang="en-US" sz="1400" dirty="0">
                <a:solidFill>
                  <a:schemeClr val="tx1"/>
                </a:solidFill>
              </a:rPr>
              <a:t>Whether it is a proposed critical data element</a:t>
            </a:r>
            <a:endParaRPr lang="en-US" sz="1400" dirty="0"/>
          </a:p>
          <a:p>
            <a:pPr marL="177800" indent="-177800">
              <a:spcAft>
                <a:spcPts val="700"/>
              </a:spcAft>
              <a:buSzPct val="100000"/>
              <a:buChar char="•"/>
            </a:pPr>
            <a:r>
              <a:rPr lang="en-US" sz="1400" dirty="0">
                <a:solidFill>
                  <a:schemeClr val="tx1"/>
                </a:solidFill>
              </a:rPr>
              <a:t>Whether it is mastered here, referenced or a derived copy</a:t>
            </a:r>
            <a:endParaRPr lang="en-US" sz="1400" dirty="0"/>
          </a:p>
        </p:txBody>
      </p:sp>
      <p:sp>
        <p:nvSpPr>
          <p:cNvPr id="28" name="Shape 25"/>
          <p:cNvSpPr/>
          <p:nvPr/>
        </p:nvSpPr>
        <p:spPr>
          <a:xfrm>
            <a:off x="7040880" y="4800600"/>
            <a:ext cx="4599432" cy="914400"/>
          </a:xfrm>
          <a:prstGeom prst="roundRect">
            <a:avLst>
              <a:gd name="adj" fmla="val 8000"/>
            </a:avLst>
          </a:prstGeom>
          <a:solidFill>
            <a:schemeClr val="bg2"/>
          </a:solidFill>
          <a:ln/>
        </p:spPr>
      </p:sp>
      <p:sp>
        <p:nvSpPr>
          <p:cNvPr id="29" name="Text 26"/>
          <p:cNvSpPr txBox="1"/>
          <p:nvPr/>
        </p:nvSpPr>
        <p:spPr>
          <a:xfrm>
            <a:off x="7269480" y="4800600"/>
            <a:ext cx="4142232" cy="914400"/>
          </a:xfrm>
          <a:prstGeom prst="rect">
            <a:avLst/>
          </a:prstGeom>
          <a:noFill/>
          <a:ln/>
        </p:spPr>
        <p:txBody>
          <a:bodyPr wrap="square" lIns="0" tIns="0" rIns="0" bIns="0" rtlCol="0" anchor="ctr"/>
          <a:lstStyle/>
          <a:p>
            <a:pPr algn="l" indent="0" marL="0">
              <a:buNone/>
            </a:pPr>
            <a:r>
              <a:rPr lang="en-US" sz="1400" b="1" dirty="0">
                <a:solidFill>
                  <a:schemeClr val="tx1"/>
                </a:solidFill>
              </a:rPr>
              <a:t>It defines meaning and ownership. It does not hold data values or system field names.</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THE CORE MODEL</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core model runs from release to share</a:t>
            </a:r>
            <a:endParaRPr lang="en-US" sz="3600" dirty="0"/>
          </a:p>
        </p:txBody>
      </p:sp>
      <p:sp>
        <p:nvSpPr>
          <p:cNvPr id="5" name="Text 2"/>
          <p:cNvSpPr txBox="1"/>
          <p:nvPr/>
        </p:nvSpPr>
        <p:spPr>
          <a:xfrm>
            <a:off x="548640" y="1783080"/>
            <a:ext cx="3017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WHAT THE MARKET DID</a:t>
            </a:r>
            <a:endParaRPr lang="en-US" sz="1200" dirty="0"/>
          </a:p>
        </p:txBody>
      </p:sp>
      <p:sp>
        <p:nvSpPr>
          <p:cNvPr id="6" name="Text 3"/>
          <p:cNvSpPr txBox="1"/>
          <p:nvPr/>
        </p:nvSpPr>
        <p:spPr>
          <a:xfrm>
            <a:off x="4480560" y="1783080"/>
            <a:ext cx="3291840" cy="256032"/>
          </a:xfrm>
          <a:prstGeom prst="rect">
            <a:avLst/>
          </a:prstGeom>
          <a:noFill/>
          <a:ln/>
        </p:spPr>
        <p:txBody>
          <a:bodyPr wrap="square" lIns="0" tIns="0" rIns="0" bIns="0" rtlCol="0" anchor="ctr"/>
          <a:lstStyle/>
          <a:p>
            <a:pPr algn="l" indent="0" marL="0">
              <a:buNone/>
            </a:pPr>
            <a:r>
              <a:rPr lang="en-US" sz="1200" b="1" spc="150" kern="0" dirty="0">
                <a:solidFill>
                  <a:schemeClr val="accent2"/>
                </a:solidFill>
              </a:rPr>
              <a:t>WHO AND WHAT IT COVERS</a:t>
            </a:r>
            <a:endParaRPr lang="en-US" sz="1200" dirty="0"/>
          </a:p>
        </p:txBody>
      </p:sp>
      <p:sp>
        <p:nvSpPr>
          <p:cNvPr id="7" name="Text 4"/>
          <p:cNvSpPr txBox="1"/>
          <p:nvPr/>
        </p:nvSpPr>
        <p:spPr>
          <a:xfrm>
            <a:off x="8686800" y="1783080"/>
            <a:ext cx="2953512" cy="256032"/>
          </a:xfrm>
          <a:prstGeom prst="rect">
            <a:avLst/>
          </a:prstGeom>
          <a:noFill/>
          <a:ln/>
        </p:spPr>
        <p:txBody>
          <a:bodyPr wrap="square" lIns="0" tIns="0" rIns="0" bIns="0" rtlCol="0" anchor="ctr"/>
          <a:lstStyle/>
          <a:p>
            <a:pPr algn="l" indent="0" marL="0">
              <a:buNone/>
            </a:pPr>
            <a:r>
              <a:rPr lang="en-US" sz="1200" b="1" spc="150" kern="0" dirty="0">
                <a:solidFill>
                  <a:schemeClr val="accent4"/>
                </a:solidFill>
              </a:rPr>
              <a:t>OUR POSITION</a:t>
            </a:r>
            <a:endParaRPr lang="en-US" sz="1200" dirty="0"/>
          </a:p>
        </p:txBody>
      </p:sp>
      <p:sp>
        <p:nvSpPr>
          <p:cNvPr id="8" name="Shape 5"/>
          <p:cNvSpPr/>
          <p:nvPr/>
        </p:nvSpPr>
        <p:spPr>
          <a:xfrm>
            <a:off x="548640" y="2788920"/>
            <a:ext cx="3017520" cy="914400"/>
          </a:xfrm>
          <a:prstGeom prst="roundRect">
            <a:avLst>
              <a:gd name="adj" fmla="val 8000"/>
            </a:avLst>
          </a:prstGeom>
          <a:solidFill>
            <a:schemeClr val="accent1"/>
          </a:solidFill>
          <a:ln/>
        </p:spPr>
      </p:sp>
      <p:sp>
        <p:nvSpPr>
          <p:cNvPr id="9" name="Text 6"/>
          <p:cNvSpPr txBox="1"/>
          <p:nvPr/>
        </p:nvSpPr>
        <p:spPr>
          <a:xfrm>
            <a:off x="777240" y="2880360"/>
            <a:ext cx="2560320" cy="365760"/>
          </a:xfrm>
          <a:prstGeom prst="rect">
            <a:avLst/>
          </a:prstGeom>
          <a:noFill/>
          <a:ln/>
        </p:spPr>
        <p:txBody>
          <a:bodyPr wrap="square" lIns="0" tIns="0" rIns="0" bIns="0" rtlCol="0" anchor="ctr"/>
          <a:lstStyle/>
          <a:p>
            <a:pPr algn="l" indent="0" marL="0">
              <a:buNone/>
            </a:pPr>
            <a:r>
              <a:rPr lang="en-US" sz="1600" b="1" dirty="0">
                <a:solidFill>
                  <a:schemeClr val="bg1"/>
                </a:solidFill>
              </a:rPr>
              <a:t>Industry Flow Observation</a:t>
            </a:r>
            <a:endParaRPr lang="en-US" sz="1600" dirty="0"/>
          </a:p>
        </p:txBody>
      </p:sp>
      <p:sp>
        <p:nvSpPr>
          <p:cNvPr id="10" name="Text 7"/>
          <p:cNvSpPr txBox="1"/>
          <p:nvPr/>
        </p:nvSpPr>
        <p:spPr>
          <a:xfrm>
            <a:off x="777240" y="3246120"/>
            <a:ext cx="2560320" cy="274320"/>
          </a:xfrm>
          <a:prstGeom prst="rect">
            <a:avLst/>
          </a:prstGeom>
          <a:noFill/>
          <a:ln/>
        </p:spPr>
        <p:txBody>
          <a:bodyPr wrap="square" lIns="0" tIns="0" rIns="0" bIns="0" rtlCol="0" anchor="ctr"/>
          <a:lstStyle/>
          <a:p>
            <a:pPr algn="l" indent="0" marL="0">
              <a:buNone/>
            </a:pPr>
            <a:r>
              <a:rPr lang="en-US" sz="1200" dirty="0">
                <a:solidFill>
                  <a:schemeClr val="bg1"/>
                </a:solidFill>
              </a:rPr>
              <a:t>Flows and assets at a stated grain</a:t>
            </a:r>
            <a:endParaRPr lang="en-US" sz="1200" dirty="0"/>
          </a:p>
        </p:txBody>
      </p:sp>
      <p:sp>
        <p:nvSpPr>
          <p:cNvPr id="11" name="Shape 8"/>
          <p:cNvSpPr/>
          <p:nvPr/>
        </p:nvSpPr>
        <p:spPr>
          <a:xfrm>
            <a:off x="2057400" y="3703320"/>
            <a:ext cx="0" cy="457200"/>
          </a:xfrm>
          <a:prstGeom prst="line">
            <a:avLst/>
          </a:prstGeom>
          <a:noFill/>
          <a:ln w="19050">
            <a:solidFill>
              <a:schemeClr val="tx2"/>
            </a:solidFill>
            <a:prstDash val="solid"/>
            <a:tailEnd type="triangle"/>
          </a:ln>
        </p:spPr>
      </p:sp>
      <p:sp>
        <p:nvSpPr>
          <p:cNvPr id="12" name="Shape 9"/>
          <p:cNvSpPr/>
          <p:nvPr/>
        </p:nvSpPr>
        <p:spPr>
          <a:xfrm>
            <a:off x="548640" y="4160520"/>
            <a:ext cx="3017520" cy="822960"/>
          </a:xfrm>
          <a:prstGeom prst="roundRect">
            <a:avLst>
              <a:gd name="adj" fmla="val 8889"/>
            </a:avLst>
          </a:prstGeom>
          <a:solidFill>
            <a:schemeClr val="bg2"/>
          </a:solidFill>
          <a:ln/>
        </p:spPr>
      </p:sp>
      <p:sp>
        <p:nvSpPr>
          <p:cNvPr id="13" name="Text 10"/>
          <p:cNvSpPr txBox="1"/>
          <p:nvPr/>
        </p:nvSpPr>
        <p:spPr>
          <a:xfrm>
            <a:off x="777240" y="4224528"/>
            <a:ext cx="2560320" cy="329184"/>
          </a:xfrm>
          <a:prstGeom prst="rect">
            <a:avLst/>
          </a:prstGeom>
          <a:noFill/>
          <a:ln/>
        </p:spPr>
        <p:txBody>
          <a:bodyPr wrap="square" lIns="0" tIns="0" rIns="0" bIns="0" rtlCol="0" anchor="ctr"/>
          <a:lstStyle/>
          <a:p>
            <a:pPr algn="l" indent="0" marL="0">
              <a:buNone/>
            </a:pPr>
            <a:r>
              <a:rPr lang="en-US" sz="1400" b="1" dirty="0">
                <a:solidFill>
                  <a:schemeClr val="tx1"/>
                </a:solidFill>
              </a:rPr>
              <a:t>Industry Data Release</a:t>
            </a:r>
            <a:endParaRPr lang="en-US" sz="1400" dirty="0"/>
          </a:p>
        </p:txBody>
      </p:sp>
      <p:sp>
        <p:nvSpPr>
          <p:cNvPr id="14" name="Text 11"/>
          <p:cNvSpPr txBox="1"/>
          <p:nvPr/>
        </p:nvSpPr>
        <p:spPr>
          <a:xfrm>
            <a:off x="777240" y="4553712"/>
            <a:ext cx="2560320" cy="274320"/>
          </a:xfrm>
          <a:prstGeom prst="rect">
            <a:avLst/>
          </a:prstGeom>
          <a:noFill/>
          <a:ln/>
        </p:spPr>
        <p:txBody>
          <a:bodyPr wrap="square" lIns="0" tIns="0" rIns="0" bIns="0" rtlCol="0" anchor="ctr"/>
          <a:lstStyle/>
          <a:p>
            <a:pPr algn="l" indent="0" marL="0">
              <a:buNone/>
            </a:pPr>
            <a:r>
              <a:rPr lang="en-US" sz="1200" dirty="0">
                <a:solidFill>
                  <a:schemeClr val="tx2"/>
                </a:solidFill>
              </a:rPr>
              <a:t>Each published vintage, keyed IDR-</a:t>
            </a:r>
            <a:endParaRPr lang="en-US" sz="1200" dirty="0"/>
          </a:p>
        </p:txBody>
      </p:sp>
      <p:sp>
        <p:nvSpPr>
          <p:cNvPr id="15" name="Text 12"/>
          <p:cNvSpPr txBox="1"/>
          <p:nvPr/>
        </p:nvSpPr>
        <p:spPr>
          <a:xfrm>
            <a:off x="548640" y="2194560"/>
            <a:ext cx="3017520" cy="457200"/>
          </a:xfrm>
          <a:prstGeom prst="rect">
            <a:avLst/>
          </a:prstGeom>
          <a:noFill/>
          <a:ln/>
        </p:spPr>
        <p:txBody>
          <a:bodyPr wrap="square" lIns="0" tIns="0" rIns="0" bIns="0" rtlCol="0" anchor="ctr"/>
          <a:lstStyle/>
          <a:p>
            <a:pPr algn="l" indent="0" marL="0">
              <a:buNone/>
            </a:pPr>
            <a:r>
              <a:rPr lang="en-US" sz="1200" dirty="0">
                <a:solidFill>
                  <a:schemeClr val="tx2"/>
                </a:solidFill>
              </a:rPr>
              <a:t>Every value states its release, basis, grain and as-of date</a:t>
            </a:r>
            <a:endParaRPr lang="en-US" sz="1200" dirty="0"/>
          </a:p>
        </p:txBody>
      </p:sp>
      <p:sp>
        <p:nvSpPr>
          <p:cNvPr id="16" name="Shape 13"/>
          <p:cNvSpPr/>
          <p:nvPr/>
        </p:nvSpPr>
        <p:spPr>
          <a:xfrm>
            <a:off x="4480560" y="2240280"/>
            <a:ext cx="3291840" cy="822960"/>
          </a:xfrm>
          <a:prstGeom prst="roundRect">
            <a:avLst>
              <a:gd name="adj" fmla="val 8889"/>
            </a:avLst>
          </a:prstGeom>
          <a:solidFill>
            <a:schemeClr val="accent2"/>
          </a:solidFill>
          <a:ln/>
        </p:spPr>
      </p:sp>
      <p:sp>
        <p:nvSpPr>
          <p:cNvPr id="17" name="Text 14"/>
          <p:cNvSpPr txBox="1"/>
          <p:nvPr/>
        </p:nvSpPr>
        <p:spPr>
          <a:xfrm>
            <a:off x="4709160" y="2313432"/>
            <a:ext cx="2834640" cy="329184"/>
          </a:xfrm>
          <a:prstGeom prst="rect">
            <a:avLst/>
          </a:prstGeom>
          <a:noFill/>
          <a:ln/>
        </p:spPr>
        <p:txBody>
          <a:bodyPr wrap="square" lIns="0" tIns="0" rIns="0" bIns="0" rtlCol="0" anchor="ctr"/>
          <a:lstStyle/>
          <a:p>
            <a:pPr algn="l" indent="0" marL="0">
              <a:buNone/>
            </a:pPr>
            <a:r>
              <a:rPr lang="en-US" sz="1400" b="1" dirty="0">
                <a:solidFill>
                  <a:schemeClr val="bg1"/>
                </a:solidFill>
              </a:rPr>
              <a:t>Category Mapping</a:t>
            </a:r>
            <a:endParaRPr lang="en-US" sz="1400" dirty="0"/>
          </a:p>
        </p:txBody>
      </p:sp>
      <p:sp>
        <p:nvSpPr>
          <p:cNvPr id="18" name="Text 15"/>
          <p:cNvSpPr txBox="1"/>
          <p:nvPr/>
        </p:nvSpPr>
        <p:spPr>
          <a:xfrm>
            <a:off x="4709160" y="2642616"/>
            <a:ext cx="2834640" cy="329184"/>
          </a:xfrm>
          <a:prstGeom prst="rect">
            <a:avLst/>
          </a:prstGeom>
          <a:noFill/>
          <a:ln/>
        </p:spPr>
        <p:txBody>
          <a:bodyPr wrap="square" lIns="0" tIns="0" rIns="0" bIns="0" rtlCol="0" anchor="ctr"/>
          <a:lstStyle/>
          <a:p>
            <a:pPr algn="l" indent="0" marL="0">
              <a:buNone/>
            </a:pPr>
            <a:r>
              <a:rPr lang="en-US" sz="1200" dirty="0">
                <a:solidFill>
                  <a:schemeClr val="bg1"/>
                </a:solidFill>
              </a:rPr>
              <a:t>External categories to our share classes</a:t>
            </a:r>
            <a:endParaRPr lang="en-US" sz="1200" dirty="0"/>
          </a:p>
        </p:txBody>
      </p:sp>
      <p:sp>
        <p:nvSpPr>
          <p:cNvPr id="19" name="Shape 16"/>
          <p:cNvSpPr/>
          <p:nvPr/>
        </p:nvSpPr>
        <p:spPr>
          <a:xfrm>
            <a:off x="4480560" y="3246120"/>
            <a:ext cx="3291840" cy="822960"/>
          </a:xfrm>
          <a:prstGeom prst="roundRect">
            <a:avLst>
              <a:gd name="adj" fmla="val 8889"/>
            </a:avLst>
          </a:prstGeom>
          <a:solidFill>
            <a:schemeClr val="bg2"/>
          </a:solidFill>
          <a:ln/>
        </p:spPr>
      </p:sp>
      <p:sp>
        <p:nvSpPr>
          <p:cNvPr id="20" name="Text 17"/>
          <p:cNvSpPr txBox="1"/>
          <p:nvPr/>
        </p:nvSpPr>
        <p:spPr>
          <a:xfrm>
            <a:off x="4709160" y="3319272"/>
            <a:ext cx="2834640" cy="329184"/>
          </a:xfrm>
          <a:prstGeom prst="rect">
            <a:avLst/>
          </a:prstGeom>
          <a:noFill/>
          <a:ln/>
        </p:spPr>
        <p:txBody>
          <a:bodyPr wrap="square" lIns="0" tIns="0" rIns="0" bIns="0" rtlCol="0" anchor="ctr"/>
          <a:lstStyle/>
          <a:p>
            <a:pPr algn="l" indent="0" marL="0">
              <a:buNone/>
            </a:pPr>
            <a:r>
              <a:rPr lang="en-US" sz="1400" b="1" dirty="0">
                <a:solidFill>
                  <a:schemeClr val="tx1"/>
                </a:solidFill>
              </a:rPr>
              <a:t>Peer Fund</a:t>
            </a:r>
            <a:endParaRPr lang="en-US" sz="1400" dirty="0"/>
          </a:p>
        </p:txBody>
      </p:sp>
      <p:sp>
        <p:nvSpPr>
          <p:cNvPr id="21" name="Text 18"/>
          <p:cNvSpPr txBox="1"/>
          <p:nvPr/>
        </p:nvSpPr>
        <p:spPr>
          <a:xfrm>
            <a:off x="4709160" y="3648456"/>
            <a:ext cx="2834640" cy="329184"/>
          </a:xfrm>
          <a:prstGeom prst="rect">
            <a:avLst/>
          </a:prstGeom>
          <a:noFill/>
          <a:ln/>
        </p:spPr>
        <p:txBody>
          <a:bodyPr wrap="square" lIns="0" tIns="0" rIns="0" bIns="0" rtlCol="0" anchor="ctr"/>
          <a:lstStyle/>
          <a:p>
            <a:pPr algn="l" indent="0" marL="0">
              <a:buNone/>
            </a:pPr>
            <a:r>
              <a:rPr lang="en-US" sz="1200" dirty="0">
                <a:solidFill>
                  <a:schemeClr val="tx2"/>
                </a:solidFill>
              </a:rPr>
              <a:t>A competitor fund, keyed PFD-</a:t>
            </a:r>
            <a:endParaRPr lang="en-US" sz="1200" dirty="0"/>
          </a:p>
        </p:txBody>
      </p:sp>
      <p:sp>
        <p:nvSpPr>
          <p:cNvPr id="22" name="Shape 19"/>
          <p:cNvSpPr/>
          <p:nvPr/>
        </p:nvSpPr>
        <p:spPr>
          <a:xfrm>
            <a:off x="4480560" y="4251960"/>
            <a:ext cx="3291840" cy="822960"/>
          </a:xfrm>
          <a:prstGeom prst="roundRect">
            <a:avLst>
              <a:gd name="adj" fmla="val 8889"/>
            </a:avLst>
          </a:prstGeom>
          <a:solidFill>
            <a:schemeClr val="bg2"/>
          </a:solidFill>
          <a:ln/>
        </p:spPr>
      </p:sp>
      <p:sp>
        <p:nvSpPr>
          <p:cNvPr id="23" name="Text 20"/>
          <p:cNvSpPr txBox="1"/>
          <p:nvPr/>
        </p:nvSpPr>
        <p:spPr>
          <a:xfrm>
            <a:off x="4709160" y="4325112"/>
            <a:ext cx="2834640" cy="329184"/>
          </a:xfrm>
          <a:prstGeom prst="rect">
            <a:avLst/>
          </a:prstGeom>
          <a:noFill/>
          <a:ln/>
        </p:spPr>
        <p:txBody>
          <a:bodyPr wrap="square" lIns="0" tIns="0" rIns="0" bIns="0" rtlCol="0" anchor="ctr"/>
          <a:lstStyle/>
          <a:p>
            <a:pPr algn="l" indent="0" marL="0">
              <a:buNone/>
            </a:pPr>
            <a:r>
              <a:rPr lang="en-US" sz="1400" b="1" dirty="0">
                <a:solidFill>
                  <a:schemeClr val="tx1"/>
                </a:solidFill>
              </a:rPr>
              <a:t>Competitor Profile</a:t>
            </a:r>
            <a:endParaRPr lang="en-US" sz="1400" dirty="0"/>
          </a:p>
        </p:txBody>
      </p:sp>
      <p:sp>
        <p:nvSpPr>
          <p:cNvPr id="24" name="Text 21"/>
          <p:cNvSpPr txBox="1"/>
          <p:nvPr/>
        </p:nvSpPr>
        <p:spPr>
          <a:xfrm>
            <a:off x="4709160" y="4654296"/>
            <a:ext cx="2834640" cy="329184"/>
          </a:xfrm>
          <a:prstGeom prst="rect">
            <a:avLst/>
          </a:prstGeom>
          <a:noFill/>
          <a:ln/>
        </p:spPr>
        <p:txBody>
          <a:bodyPr wrap="square" lIns="0" tIns="0" rIns="0" bIns="0" rtlCol="0" anchor="ctr"/>
          <a:lstStyle/>
          <a:p>
            <a:pPr algn="l" indent="0" marL="0">
              <a:buNone/>
            </a:pPr>
            <a:r>
              <a:rPr lang="en-US" sz="1200" dirty="0">
                <a:solidFill>
                  <a:schemeClr val="tx2"/>
                </a:solidFill>
              </a:rPr>
              <a:t>The competing manager, keyed CPF-</a:t>
            </a:r>
            <a:endParaRPr lang="en-US" sz="1200" dirty="0"/>
          </a:p>
        </p:txBody>
      </p:sp>
      <p:sp>
        <p:nvSpPr>
          <p:cNvPr id="25" name="Shape 22"/>
          <p:cNvSpPr/>
          <p:nvPr/>
        </p:nvSpPr>
        <p:spPr>
          <a:xfrm flipV="1">
            <a:off x="3566160" y="2651760"/>
            <a:ext cx="914400" cy="594360"/>
          </a:xfrm>
          <a:prstGeom prst="line">
            <a:avLst/>
          </a:prstGeom>
          <a:noFill/>
          <a:ln w="19050">
            <a:solidFill>
              <a:schemeClr val="tx2"/>
            </a:solidFill>
            <a:prstDash val="solid"/>
            <a:tailEnd type="triangle"/>
          </a:ln>
        </p:spPr>
      </p:sp>
      <p:sp>
        <p:nvSpPr>
          <p:cNvPr id="26" name="Shape 23"/>
          <p:cNvSpPr/>
          <p:nvPr/>
        </p:nvSpPr>
        <p:spPr>
          <a:xfrm>
            <a:off x="3566160" y="3246120"/>
            <a:ext cx="914400" cy="411480"/>
          </a:xfrm>
          <a:prstGeom prst="line">
            <a:avLst/>
          </a:prstGeom>
          <a:noFill/>
          <a:ln w="19050">
            <a:solidFill>
              <a:schemeClr val="tx2"/>
            </a:solidFill>
            <a:prstDash val="solid"/>
            <a:tailEnd type="triangle"/>
          </a:ln>
        </p:spPr>
      </p:sp>
      <p:sp>
        <p:nvSpPr>
          <p:cNvPr id="27" name="Shape 24"/>
          <p:cNvSpPr/>
          <p:nvPr/>
        </p:nvSpPr>
        <p:spPr>
          <a:xfrm>
            <a:off x="3566160" y="3246120"/>
            <a:ext cx="914400" cy="1417320"/>
          </a:xfrm>
          <a:prstGeom prst="line">
            <a:avLst/>
          </a:prstGeom>
          <a:noFill/>
          <a:ln w="19050">
            <a:solidFill>
              <a:schemeClr val="tx2"/>
            </a:solidFill>
            <a:prstDash val="solid"/>
            <a:tailEnd type="triangle"/>
          </a:ln>
        </p:spPr>
      </p:sp>
      <p:sp>
        <p:nvSpPr>
          <p:cNvPr id="28" name="Shape 25"/>
          <p:cNvSpPr/>
          <p:nvPr/>
        </p:nvSpPr>
        <p:spPr>
          <a:xfrm>
            <a:off x="7772400" y="2651760"/>
            <a:ext cx="914400" cy="0"/>
          </a:xfrm>
          <a:prstGeom prst="line">
            <a:avLst/>
          </a:prstGeom>
          <a:noFill/>
          <a:ln w="19050">
            <a:solidFill>
              <a:schemeClr val="tx2"/>
            </a:solidFill>
            <a:prstDash val="solid"/>
            <a:tailEnd type="triangle"/>
          </a:ln>
        </p:spPr>
      </p:sp>
      <p:sp>
        <p:nvSpPr>
          <p:cNvPr id="29" name="Shape 26"/>
          <p:cNvSpPr/>
          <p:nvPr/>
        </p:nvSpPr>
        <p:spPr>
          <a:xfrm>
            <a:off x="8686800" y="2240280"/>
            <a:ext cx="2953512" cy="822960"/>
          </a:xfrm>
          <a:prstGeom prst="roundRect">
            <a:avLst>
              <a:gd name="adj" fmla="val 8889"/>
            </a:avLst>
          </a:prstGeom>
          <a:solidFill>
            <a:schemeClr val="accent4"/>
          </a:solidFill>
          <a:ln/>
        </p:spPr>
      </p:sp>
      <p:sp>
        <p:nvSpPr>
          <p:cNvPr id="30" name="Text 27"/>
          <p:cNvSpPr txBox="1"/>
          <p:nvPr/>
        </p:nvSpPr>
        <p:spPr>
          <a:xfrm>
            <a:off x="8915400" y="2313432"/>
            <a:ext cx="2496312" cy="329184"/>
          </a:xfrm>
          <a:prstGeom prst="rect">
            <a:avLst/>
          </a:prstGeom>
          <a:noFill/>
          <a:ln/>
        </p:spPr>
        <p:txBody>
          <a:bodyPr wrap="square" lIns="0" tIns="0" rIns="0" bIns="0" rtlCol="0" anchor="ctr"/>
          <a:lstStyle/>
          <a:p>
            <a:pPr algn="l" indent="0" marL="0">
              <a:buNone/>
            </a:pPr>
            <a:r>
              <a:rPr lang="en-US" sz="1400" b="1" dirty="0">
                <a:solidFill>
                  <a:schemeClr val="bg1"/>
                </a:solidFill>
              </a:rPr>
              <a:t>Market Share Record</a:t>
            </a:r>
            <a:endParaRPr lang="en-US" sz="1400" dirty="0"/>
          </a:p>
        </p:txBody>
      </p:sp>
      <p:sp>
        <p:nvSpPr>
          <p:cNvPr id="31" name="Text 28"/>
          <p:cNvSpPr txBox="1"/>
          <p:nvPr/>
        </p:nvSpPr>
        <p:spPr>
          <a:xfrm>
            <a:off x="8915400" y="2642616"/>
            <a:ext cx="2496312" cy="329184"/>
          </a:xfrm>
          <a:prstGeom prst="rect">
            <a:avLst/>
          </a:prstGeom>
          <a:noFill/>
          <a:ln/>
        </p:spPr>
        <p:txBody>
          <a:bodyPr wrap="square" lIns="0" tIns="0" rIns="0" bIns="0" rtlCol="0" anchor="ctr"/>
          <a:lstStyle/>
          <a:p>
            <a:pPr algn="l" indent="0" marL="0">
              <a:buNone/>
            </a:pPr>
            <a:r>
              <a:rPr lang="en-US" sz="1200" dirty="0">
                <a:solidFill>
                  <a:schemeClr val="bg1"/>
                </a:solidFill>
              </a:rPr>
              <a:t>Firm value over industry value, MSH-</a:t>
            </a:r>
            <a:endParaRPr lang="en-US" sz="1200" dirty="0"/>
          </a:p>
        </p:txBody>
      </p:sp>
      <p:sp>
        <p:nvSpPr>
          <p:cNvPr id="32" name="Text 29"/>
          <p:cNvSpPr txBox="1"/>
          <p:nvPr/>
        </p:nvSpPr>
        <p:spPr>
          <a:xfrm>
            <a:off x="8686800" y="3200400"/>
            <a:ext cx="2953512" cy="640080"/>
          </a:xfrm>
          <a:prstGeom prst="rect">
            <a:avLst/>
          </a:prstGeom>
          <a:noFill/>
          <a:ln/>
        </p:spPr>
        <p:txBody>
          <a:bodyPr wrap="square" lIns="0" tIns="0" rIns="0" bIns="0" rtlCol="0" anchor="t"/>
          <a:lstStyle/>
          <a:p>
            <a:pPr algn="l" indent="0" marL="0">
              <a:buNone/>
            </a:pPr>
            <a:r>
              <a:rPr lang="en-US" sz="1200" dirty="0">
                <a:solidFill>
                  <a:schemeClr val="tx2"/>
                </a:solidFill>
              </a:rPr>
              <a:t>Computed under a Market Share Definition that fixes numerator, denominator, measure basis and scope.</a:t>
            </a:r>
            <a:endParaRPr lang="en-US" sz="1200" dirty="0"/>
          </a:p>
        </p:txBody>
      </p:sp>
      <p:sp>
        <p:nvSpPr>
          <p:cNvPr id="33" name="Shape 30"/>
          <p:cNvSpPr/>
          <p:nvPr/>
        </p:nvSpPr>
        <p:spPr>
          <a:xfrm>
            <a:off x="548640" y="5303520"/>
            <a:ext cx="11091672" cy="868680"/>
          </a:xfrm>
          <a:prstGeom prst="roundRect">
            <a:avLst>
              <a:gd name="adj" fmla="val 8421"/>
            </a:avLst>
          </a:prstGeom>
          <a:solidFill>
            <a:schemeClr val="bg2"/>
          </a:solidFill>
          <a:ln/>
        </p:spPr>
      </p:sp>
      <p:sp>
        <p:nvSpPr>
          <p:cNvPr id="34" name="Text 31"/>
          <p:cNvSpPr txBox="1"/>
          <p:nvPr/>
        </p:nvSpPr>
        <p:spPr>
          <a:xfrm>
            <a:off x="822960" y="5303520"/>
            <a:ext cx="10543032" cy="868680"/>
          </a:xfrm>
          <a:prstGeom prst="rect">
            <a:avLst/>
          </a:prstGeom>
          <a:noFill/>
          <a:ln/>
        </p:spPr>
        <p:txBody>
          <a:bodyPr wrap="square" lIns="0" tIns="0" rIns="0" bIns="0" rtlCol="0" anchor="ctr"/>
          <a:lstStyle/>
          <a:p>
            <a:pPr algn="l" indent="0" marL="0">
              <a:buNone/>
            </a:pPr>
            <a:r>
              <a:rPr lang="en-US" sz="1400" dirty="0">
                <a:solidFill>
                  <a:schemeClr val="tx1"/>
                </a:solidFill>
              </a:rPr>
              <a:t>Dataset, release and observation are kept apart, so a vendor restatement never overwrites history. Market share is defined once, with numerator and denominator at the same grain.</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THE 10 FAMILIES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Ten families in three groups</a:t>
            </a:r>
            <a:endParaRPr lang="en-US" sz="3600" dirty="0"/>
          </a:p>
        </p:txBody>
      </p:sp>
      <p:sp>
        <p:nvSpPr>
          <p:cNvPr id="5" name="Shape 2"/>
          <p:cNvSpPr/>
          <p:nvPr/>
        </p:nvSpPr>
        <p:spPr>
          <a:xfrm>
            <a:off x="548640" y="1783080"/>
            <a:ext cx="3511296" cy="777240"/>
          </a:xfrm>
          <a:prstGeom prst="roundRect">
            <a:avLst>
              <a:gd name="adj" fmla="val 9412"/>
            </a:avLst>
          </a:prstGeom>
          <a:solidFill>
            <a:schemeClr val="accent1"/>
          </a:solidFill>
          <a:ln/>
        </p:spPr>
      </p:sp>
      <p:sp>
        <p:nvSpPr>
          <p:cNvPr id="6" name="Text 3"/>
          <p:cNvSpPr txBox="1"/>
          <p:nvPr/>
        </p:nvSpPr>
        <p:spPr>
          <a:xfrm>
            <a:off x="731520"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The spine</a:t>
            </a:r>
            <a:endParaRPr lang="en-US" sz="1400" dirty="0"/>
          </a:p>
        </p:txBody>
      </p:sp>
      <p:sp>
        <p:nvSpPr>
          <p:cNvPr id="7" name="Text 4"/>
          <p:cNvSpPr txBox="1"/>
          <p:nvPr/>
        </p:nvSpPr>
        <p:spPr>
          <a:xfrm>
            <a:off x="731520"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2 families  |  7 objects  |  61 attributes</a:t>
            </a:r>
            <a:endParaRPr lang="en-US" sz="1200" dirty="0"/>
          </a:p>
        </p:txBody>
      </p:sp>
      <p:sp>
        <p:nvSpPr>
          <p:cNvPr id="8" name="Shape 5"/>
          <p:cNvSpPr/>
          <p:nvPr/>
        </p:nvSpPr>
        <p:spPr>
          <a:xfrm>
            <a:off x="548640" y="2697480"/>
            <a:ext cx="3511296" cy="612648"/>
          </a:xfrm>
          <a:prstGeom prst="roundRect">
            <a:avLst>
              <a:gd name="adj" fmla="val 11940"/>
            </a:avLst>
          </a:prstGeom>
          <a:solidFill>
            <a:schemeClr val="bg2"/>
          </a:solidFill>
          <a:ln/>
        </p:spPr>
      </p:sp>
      <p:sp>
        <p:nvSpPr>
          <p:cNvPr id="9" name="Text 6"/>
          <p:cNvSpPr txBox="1"/>
          <p:nvPr/>
        </p:nvSpPr>
        <p:spPr>
          <a:xfrm>
            <a:off x="731520"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Industry Flow &amp; AUM Data</a:t>
            </a:r>
            <a:endParaRPr lang="en-US" sz="1300" dirty="0"/>
          </a:p>
        </p:txBody>
      </p:sp>
      <p:sp>
        <p:nvSpPr>
          <p:cNvPr id="10" name="Text 7"/>
          <p:cNvSpPr txBox="1"/>
          <p:nvPr/>
        </p:nvSpPr>
        <p:spPr>
          <a:xfrm>
            <a:off x="731520"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37 attributes  |  10 critical</a:t>
            </a:r>
            <a:endParaRPr lang="en-US" sz="1100" dirty="0"/>
          </a:p>
        </p:txBody>
      </p:sp>
      <p:sp>
        <p:nvSpPr>
          <p:cNvPr id="11" name="Shape 8"/>
          <p:cNvSpPr/>
          <p:nvPr/>
        </p:nvSpPr>
        <p:spPr>
          <a:xfrm>
            <a:off x="548640" y="3410712"/>
            <a:ext cx="3511296" cy="612648"/>
          </a:xfrm>
          <a:prstGeom prst="roundRect">
            <a:avLst>
              <a:gd name="adj" fmla="val 11940"/>
            </a:avLst>
          </a:prstGeom>
          <a:solidFill>
            <a:schemeClr val="bg2"/>
          </a:solidFill>
          <a:ln/>
        </p:spPr>
      </p:sp>
      <p:sp>
        <p:nvSpPr>
          <p:cNvPr id="12" name="Text 9"/>
          <p:cNvSpPr txBox="1"/>
          <p:nvPr/>
        </p:nvSpPr>
        <p:spPr>
          <a:xfrm>
            <a:off x="731520"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Market Share</a:t>
            </a:r>
            <a:endParaRPr lang="en-US" sz="1300" dirty="0"/>
          </a:p>
        </p:txBody>
      </p:sp>
      <p:sp>
        <p:nvSpPr>
          <p:cNvPr id="13" name="Text 10"/>
          <p:cNvSpPr txBox="1"/>
          <p:nvPr/>
        </p:nvSpPr>
        <p:spPr>
          <a:xfrm>
            <a:off x="731520"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3 objects  |  24 attributes  |  8 critical</a:t>
            </a:r>
            <a:endParaRPr lang="en-US" sz="1100" dirty="0"/>
          </a:p>
        </p:txBody>
      </p:sp>
      <p:sp>
        <p:nvSpPr>
          <p:cNvPr id="14" name="Shape 11"/>
          <p:cNvSpPr/>
          <p:nvPr/>
        </p:nvSpPr>
        <p:spPr>
          <a:xfrm>
            <a:off x="4338828" y="1783080"/>
            <a:ext cx="3511296" cy="777240"/>
          </a:xfrm>
          <a:prstGeom prst="roundRect">
            <a:avLst>
              <a:gd name="adj" fmla="val 9412"/>
            </a:avLst>
          </a:prstGeom>
          <a:solidFill>
            <a:schemeClr val="accent2"/>
          </a:solidFill>
          <a:ln/>
        </p:spPr>
      </p:sp>
      <p:sp>
        <p:nvSpPr>
          <p:cNvPr id="15" name="Text 12"/>
          <p:cNvSpPr txBox="1"/>
          <p:nvPr/>
        </p:nvSpPr>
        <p:spPr>
          <a:xfrm>
            <a:off x="4521708"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Competitors, peers and ratings</a:t>
            </a:r>
            <a:endParaRPr lang="en-US" sz="1400" dirty="0"/>
          </a:p>
        </p:txBody>
      </p:sp>
      <p:sp>
        <p:nvSpPr>
          <p:cNvPr id="16" name="Text 13"/>
          <p:cNvSpPr txBox="1"/>
          <p:nvPr/>
        </p:nvSpPr>
        <p:spPr>
          <a:xfrm>
            <a:off x="4521708"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4 families  |  18 objects  |  110 attributes</a:t>
            </a:r>
            <a:endParaRPr lang="en-US" sz="1200" dirty="0"/>
          </a:p>
        </p:txBody>
      </p:sp>
      <p:sp>
        <p:nvSpPr>
          <p:cNvPr id="17" name="Shape 14"/>
          <p:cNvSpPr/>
          <p:nvPr/>
        </p:nvSpPr>
        <p:spPr>
          <a:xfrm>
            <a:off x="4338828" y="2697480"/>
            <a:ext cx="3511296" cy="612648"/>
          </a:xfrm>
          <a:prstGeom prst="roundRect">
            <a:avLst>
              <a:gd name="adj" fmla="val 11940"/>
            </a:avLst>
          </a:prstGeom>
          <a:solidFill>
            <a:schemeClr val="bg2"/>
          </a:solidFill>
          <a:ln/>
        </p:spPr>
      </p:sp>
      <p:sp>
        <p:nvSpPr>
          <p:cNvPr id="18" name="Text 15"/>
          <p:cNvSpPr txBox="1"/>
          <p:nvPr/>
        </p:nvSpPr>
        <p:spPr>
          <a:xfrm>
            <a:off x="4521708"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Competitor Intelligence</a:t>
            </a:r>
            <a:endParaRPr lang="en-US" sz="1300" dirty="0"/>
          </a:p>
        </p:txBody>
      </p:sp>
      <p:sp>
        <p:nvSpPr>
          <p:cNvPr id="19" name="Text 16"/>
          <p:cNvSpPr txBox="1"/>
          <p:nvPr/>
        </p:nvSpPr>
        <p:spPr>
          <a:xfrm>
            <a:off x="4521708"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5 objects  |  30 attributes  |  9 critical</a:t>
            </a:r>
            <a:endParaRPr lang="en-US" sz="1100" dirty="0"/>
          </a:p>
        </p:txBody>
      </p:sp>
      <p:sp>
        <p:nvSpPr>
          <p:cNvPr id="20" name="Shape 17"/>
          <p:cNvSpPr/>
          <p:nvPr/>
        </p:nvSpPr>
        <p:spPr>
          <a:xfrm>
            <a:off x="4338828" y="3410712"/>
            <a:ext cx="3511296" cy="612648"/>
          </a:xfrm>
          <a:prstGeom prst="roundRect">
            <a:avLst>
              <a:gd name="adj" fmla="val 11940"/>
            </a:avLst>
          </a:prstGeom>
          <a:solidFill>
            <a:schemeClr val="bg2"/>
          </a:solidFill>
          <a:ln/>
        </p:spPr>
      </p:sp>
      <p:sp>
        <p:nvSpPr>
          <p:cNvPr id="21" name="Text 18"/>
          <p:cNvSpPr txBox="1"/>
          <p:nvPr/>
        </p:nvSpPr>
        <p:spPr>
          <a:xfrm>
            <a:off x="4521708"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Peer Universes &amp; Peer Funds</a:t>
            </a:r>
            <a:endParaRPr lang="en-US" sz="1300" dirty="0"/>
          </a:p>
        </p:txBody>
      </p:sp>
      <p:sp>
        <p:nvSpPr>
          <p:cNvPr id="22" name="Text 19"/>
          <p:cNvSpPr txBox="1"/>
          <p:nvPr/>
        </p:nvSpPr>
        <p:spPr>
          <a:xfrm>
            <a:off x="4521708"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29 attributes  |  10 critical</a:t>
            </a:r>
            <a:endParaRPr lang="en-US" sz="1100" dirty="0"/>
          </a:p>
        </p:txBody>
      </p:sp>
      <p:sp>
        <p:nvSpPr>
          <p:cNvPr id="23" name="Shape 20"/>
          <p:cNvSpPr/>
          <p:nvPr/>
        </p:nvSpPr>
        <p:spPr>
          <a:xfrm>
            <a:off x="4338828" y="4123944"/>
            <a:ext cx="3511296" cy="612648"/>
          </a:xfrm>
          <a:prstGeom prst="roundRect">
            <a:avLst>
              <a:gd name="adj" fmla="val 11940"/>
            </a:avLst>
          </a:prstGeom>
          <a:solidFill>
            <a:schemeClr val="bg2"/>
          </a:solidFill>
          <a:ln/>
        </p:spPr>
      </p:sp>
      <p:sp>
        <p:nvSpPr>
          <p:cNvPr id="24" name="Text 21"/>
          <p:cNvSpPr txBox="1"/>
          <p:nvPr/>
        </p:nvSpPr>
        <p:spPr>
          <a:xfrm>
            <a:off x="4521708" y="4178808"/>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Ratings, Rankings &amp; Awards</a:t>
            </a:r>
            <a:endParaRPr lang="en-US" sz="1300" dirty="0"/>
          </a:p>
        </p:txBody>
      </p:sp>
      <p:sp>
        <p:nvSpPr>
          <p:cNvPr id="25" name="Text 22"/>
          <p:cNvSpPr txBox="1"/>
          <p:nvPr/>
        </p:nvSpPr>
        <p:spPr>
          <a:xfrm>
            <a:off x="4521708" y="4443984"/>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6 objects  |  35 attributes  |  13 critical</a:t>
            </a:r>
            <a:endParaRPr lang="en-US" sz="1100" dirty="0"/>
          </a:p>
        </p:txBody>
      </p:sp>
      <p:sp>
        <p:nvSpPr>
          <p:cNvPr id="26" name="Shape 23"/>
          <p:cNvSpPr/>
          <p:nvPr/>
        </p:nvSpPr>
        <p:spPr>
          <a:xfrm>
            <a:off x="4338828" y="4837176"/>
            <a:ext cx="3511296" cy="612648"/>
          </a:xfrm>
          <a:prstGeom prst="roundRect">
            <a:avLst>
              <a:gd name="adj" fmla="val 11940"/>
            </a:avLst>
          </a:prstGeom>
          <a:solidFill>
            <a:schemeClr val="bg2"/>
          </a:solidFill>
          <a:ln/>
        </p:spPr>
      </p:sp>
      <p:sp>
        <p:nvSpPr>
          <p:cNvPr id="27" name="Text 24"/>
          <p:cNvSpPr txBox="1"/>
          <p:nvPr/>
        </p:nvSpPr>
        <p:spPr>
          <a:xfrm>
            <a:off x="4521708" y="4892040"/>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Fee Benchmarking</a:t>
            </a:r>
            <a:endParaRPr lang="en-US" sz="1300" dirty="0"/>
          </a:p>
        </p:txBody>
      </p:sp>
      <p:sp>
        <p:nvSpPr>
          <p:cNvPr id="28" name="Text 25"/>
          <p:cNvSpPr txBox="1"/>
          <p:nvPr/>
        </p:nvSpPr>
        <p:spPr>
          <a:xfrm>
            <a:off x="4521708" y="5157216"/>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3 objects  |  16 attributes  |  6 critical</a:t>
            </a:r>
            <a:endParaRPr lang="en-US" sz="1100" dirty="0"/>
          </a:p>
        </p:txBody>
      </p:sp>
      <p:sp>
        <p:nvSpPr>
          <p:cNvPr id="29" name="Shape 26"/>
          <p:cNvSpPr/>
          <p:nvPr/>
        </p:nvSpPr>
        <p:spPr>
          <a:xfrm>
            <a:off x="8129016" y="1783080"/>
            <a:ext cx="3511296" cy="777240"/>
          </a:xfrm>
          <a:prstGeom prst="roundRect">
            <a:avLst>
              <a:gd name="adj" fmla="val 9412"/>
            </a:avLst>
          </a:prstGeom>
          <a:solidFill>
            <a:schemeClr val="accent5"/>
          </a:solidFill>
          <a:ln/>
        </p:spPr>
      </p:sp>
      <p:sp>
        <p:nvSpPr>
          <p:cNvPr id="30" name="Text 27"/>
          <p:cNvSpPr txBox="1"/>
          <p:nvPr/>
        </p:nvSpPr>
        <p:spPr>
          <a:xfrm>
            <a:off x="8311896"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Opportunity and market change</a:t>
            </a:r>
            <a:endParaRPr lang="en-US" sz="1400" dirty="0"/>
          </a:p>
        </p:txBody>
      </p:sp>
      <p:sp>
        <p:nvSpPr>
          <p:cNvPr id="31" name="Text 28"/>
          <p:cNvSpPr txBox="1"/>
          <p:nvPr/>
        </p:nvSpPr>
        <p:spPr>
          <a:xfrm>
            <a:off x="8311896"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4 families  |  9 objects  |  68 attributes</a:t>
            </a:r>
            <a:endParaRPr lang="en-US" sz="1200" dirty="0"/>
          </a:p>
        </p:txBody>
      </p:sp>
      <p:sp>
        <p:nvSpPr>
          <p:cNvPr id="32" name="Shape 29"/>
          <p:cNvSpPr/>
          <p:nvPr/>
        </p:nvSpPr>
        <p:spPr>
          <a:xfrm>
            <a:off x="8129016" y="2697480"/>
            <a:ext cx="3511296" cy="612648"/>
          </a:xfrm>
          <a:prstGeom prst="roundRect">
            <a:avLst>
              <a:gd name="adj" fmla="val 11940"/>
            </a:avLst>
          </a:prstGeom>
          <a:solidFill>
            <a:schemeClr val="bg2"/>
          </a:solidFill>
          <a:ln/>
        </p:spPr>
      </p:sp>
      <p:sp>
        <p:nvSpPr>
          <p:cNvPr id="33" name="Text 30"/>
          <p:cNvSpPr txBox="1"/>
          <p:nvPr/>
        </p:nvSpPr>
        <p:spPr>
          <a:xfrm>
            <a:off x="8311896" y="2752344"/>
            <a:ext cx="3145536" cy="274320"/>
          </a:xfrm>
          <a:prstGeom prst="rect">
            <a:avLst/>
          </a:prstGeom>
          <a:noFill/>
          <a:ln/>
        </p:spPr>
        <p:txBody>
          <a:bodyPr wrap="square" lIns="0" tIns="0" rIns="0" bIns="0" rtlCol="0" anchor="ctr"/>
          <a:lstStyle/>
          <a:p>
            <a:pPr algn="l" indent="0" marL="0">
              <a:buNone/>
            </a:pPr>
            <a:r>
              <a:rPr lang="en-US" sz="1100" b="1" dirty="0">
                <a:solidFill>
                  <a:schemeClr val="tx1"/>
                </a:solidFill>
              </a:rPr>
              <a:t>Market Sizing &amp; Opportunity Potential</a:t>
            </a:r>
            <a:endParaRPr lang="en-US" sz="1100" dirty="0"/>
          </a:p>
        </p:txBody>
      </p:sp>
      <p:sp>
        <p:nvSpPr>
          <p:cNvPr id="34" name="Text 31"/>
          <p:cNvSpPr txBox="1"/>
          <p:nvPr/>
        </p:nvSpPr>
        <p:spPr>
          <a:xfrm>
            <a:off x="8311896"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3 objects  |  24 attributes  |  11 critical</a:t>
            </a:r>
            <a:endParaRPr lang="en-US" sz="1100" dirty="0"/>
          </a:p>
        </p:txBody>
      </p:sp>
      <p:sp>
        <p:nvSpPr>
          <p:cNvPr id="35" name="Shape 32"/>
          <p:cNvSpPr/>
          <p:nvPr/>
        </p:nvSpPr>
        <p:spPr>
          <a:xfrm>
            <a:off x="8129016" y="3410712"/>
            <a:ext cx="3511296" cy="612648"/>
          </a:xfrm>
          <a:prstGeom prst="roundRect">
            <a:avLst>
              <a:gd name="adj" fmla="val 11940"/>
            </a:avLst>
          </a:prstGeom>
          <a:solidFill>
            <a:schemeClr val="bg2"/>
          </a:solidFill>
          <a:ln/>
        </p:spPr>
      </p:sp>
      <p:sp>
        <p:nvSpPr>
          <p:cNvPr id="36" name="Text 33"/>
          <p:cNvSpPr txBox="1"/>
          <p:nvPr/>
        </p:nvSpPr>
        <p:spPr>
          <a:xfrm>
            <a:off x="8311896"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Market Structure Research</a:t>
            </a:r>
            <a:endParaRPr lang="en-US" sz="1300" dirty="0"/>
          </a:p>
        </p:txBody>
      </p:sp>
      <p:sp>
        <p:nvSpPr>
          <p:cNvPr id="37" name="Text 34"/>
          <p:cNvSpPr txBox="1"/>
          <p:nvPr/>
        </p:nvSpPr>
        <p:spPr>
          <a:xfrm>
            <a:off x="8311896"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2 objects  |  14 attributes  |  3 critical</a:t>
            </a:r>
            <a:endParaRPr lang="en-US" sz="1100" dirty="0"/>
          </a:p>
        </p:txBody>
      </p:sp>
      <p:sp>
        <p:nvSpPr>
          <p:cNvPr id="38" name="Shape 35"/>
          <p:cNvSpPr/>
          <p:nvPr/>
        </p:nvSpPr>
        <p:spPr>
          <a:xfrm>
            <a:off x="8129016" y="4123944"/>
            <a:ext cx="3511296" cy="612648"/>
          </a:xfrm>
          <a:prstGeom prst="roundRect">
            <a:avLst>
              <a:gd name="adj" fmla="val 11940"/>
            </a:avLst>
          </a:prstGeom>
          <a:solidFill>
            <a:schemeClr val="bg2"/>
          </a:solidFill>
          <a:ln/>
        </p:spPr>
      </p:sp>
      <p:sp>
        <p:nvSpPr>
          <p:cNvPr id="39" name="Text 36"/>
          <p:cNvSpPr txBox="1"/>
          <p:nvPr/>
        </p:nvSpPr>
        <p:spPr>
          <a:xfrm>
            <a:off x="8311896" y="4178808"/>
            <a:ext cx="3145536" cy="274320"/>
          </a:xfrm>
          <a:prstGeom prst="rect">
            <a:avLst/>
          </a:prstGeom>
          <a:noFill/>
          <a:ln/>
        </p:spPr>
        <p:txBody>
          <a:bodyPr wrap="square" lIns="0" tIns="0" rIns="0" bIns="0" rtlCol="0" anchor="ctr"/>
          <a:lstStyle/>
          <a:p>
            <a:pPr algn="l" indent="0" marL="0">
              <a:buNone/>
            </a:pPr>
            <a:r>
              <a:rPr lang="en-US" sz="1100" b="1" dirty="0">
                <a:solidFill>
                  <a:schemeClr val="tx1"/>
                </a:solidFill>
              </a:rPr>
              <a:t>Win/Loss &amp; Mandate Search Intelligence</a:t>
            </a:r>
            <a:endParaRPr lang="en-US" sz="1100" dirty="0"/>
          </a:p>
        </p:txBody>
      </p:sp>
      <p:sp>
        <p:nvSpPr>
          <p:cNvPr id="40" name="Text 37"/>
          <p:cNvSpPr txBox="1"/>
          <p:nvPr/>
        </p:nvSpPr>
        <p:spPr>
          <a:xfrm>
            <a:off x="8311896" y="4443984"/>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2 objects  |  16 attributes  |  6 critical</a:t>
            </a:r>
            <a:endParaRPr lang="en-US" sz="1100" dirty="0"/>
          </a:p>
        </p:txBody>
      </p:sp>
      <p:sp>
        <p:nvSpPr>
          <p:cNvPr id="41" name="Shape 38"/>
          <p:cNvSpPr/>
          <p:nvPr/>
        </p:nvSpPr>
        <p:spPr>
          <a:xfrm>
            <a:off x="8129016" y="4837176"/>
            <a:ext cx="3511296" cy="612648"/>
          </a:xfrm>
          <a:prstGeom prst="roundRect">
            <a:avLst>
              <a:gd name="adj" fmla="val 11940"/>
            </a:avLst>
          </a:prstGeom>
          <a:solidFill>
            <a:schemeClr val="bg2"/>
          </a:solidFill>
          <a:ln/>
        </p:spPr>
      </p:sp>
      <p:sp>
        <p:nvSpPr>
          <p:cNvPr id="42" name="Text 39"/>
          <p:cNvSpPr txBox="1"/>
          <p:nvPr/>
        </p:nvSpPr>
        <p:spPr>
          <a:xfrm>
            <a:off x="8311896" y="4892040"/>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News &amp; Horizon Scanning</a:t>
            </a:r>
            <a:endParaRPr lang="en-US" sz="1300" dirty="0"/>
          </a:p>
        </p:txBody>
      </p:sp>
      <p:sp>
        <p:nvSpPr>
          <p:cNvPr id="43" name="Text 40"/>
          <p:cNvSpPr txBox="1"/>
          <p:nvPr/>
        </p:nvSpPr>
        <p:spPr>
          <a:xfrm>
            <a:off x="8311896" y="5157216"/>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2 objects  |  14 attributes  |  4 critical</a:t>
            </a:r>
            <a:endParaRPr lang="en-US" sz="1100" dirty="0"/>
          </a:p>
        </p:txBody>
      </p:sp>
      <p:sp>
        <p:nvSpPr>
          <p:cNvPr id="44" name="Text 41"/>
          <p:cNvSpPr txBox="1"/>
          <p:nvPr/>
        </p:nvSpPr>
        <p:spPr>
          <a:xfrm>
            <a:off x="548640" y="4261104"/>
            <a:ext cx="3511296" cy="914400"/>
          </a:xfrm>
          <a:prstGeom prst="rect">
            <a:avLst/>
          </a:prstGeom>
          <a:noFill/>
          <a:ln/>
        </p:spPr>
        <p:txBody>
          <a:bodyPr wrap="square" lIns="0" tIns="0" rIns="0" bIns="0" rtlCol="0" anchor="t"/>
          <a:lstStyle/>
          <a:p>
            <a:pPr algn="l" indent="0" marL="0">
              <a:buNone/>
            </a:pPr>
            <a:r>
              <a:rPr lang="en-US" sz="1200" dirty="0">
                <a:solidFill>
                  <a:schemeClr val="tx2"/>
                </a:solidFill>
              </a:rPr>
              <a:t>The three groups are a presentation aid for this walkthrough. In the taxonomy, families sit directly under the domain.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1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spine: industry flows and market share</a:t>
            </a:r>
            <a:endParaRPr lang="en-US" sz="3600" dirty="0"/>
          </a:p>
        </p:txBody>
      </p:sp>
      <p:sp>
        <p:nvSpPr>
          <p:cNvPr id="5" name="Shape 2"/>
          <p:cNvSpPr/>
          <p:nvPr/>
        </p:nvSpPr>
        <p:spPr>
          <a:xfrm>
            <a:off x="548640" y="1783080"/>
            <a:ext cx="5406390" cy="4069080"/>
          </a:xfrm>
          <a:prstGeom prst="roundRect">
            <a:avLst>
              <a:gd name="adj" fmla="val 1798"/>
            </a:avLst>
          </a:prstGeom>
          <a:solidFill>
            <a:schemeClr val="bg2"/>
          </a:solidFill>
          <a:ln/>
        </p:spPr>
      </p:sp>
      <p:sp>
        <p:nvSpPr>
          <p:cNvPr id="6" name="Text 3"/>
          <p:cNvSpPr txBox="1"/>
          <p:nvPr/>
        </p:nvSpPr>
        <p:spPr>
          <a:xfrm>
            <a:off x="777240" y="1965960"/>
            <a:ext cx="4949190" cy="365760"/>
          </a:xfrm>
          <a:prstGeom prst="rect">
            <a:avLst/>
          </a:prstGeom>
          <a:noFill/>
          <a:ln/>
        </p:spPr>
        <p:txBody>
          <a:bodyPr wrap="square" lIns="0" tIns="0" rIns="0" bIns="0" rtlCol="0" anchor="ctr"/>
          <a:lstStyle/>
          <a:p>
            <a:pPr algn="l" indent="0" marL="0">
              <a:buNone/>
            </a:pPr>
            <a:r>
              <a:rPr lang="en-US" sz="1800" b="1" dirty="0">
                <a:solidFill>
                  <a:schemeClr val="accent1"/>
                </a:solidFill>
              </a:rPr>
              <a:t>Industry Flow &amp; AUM Data</a:t>
            </a:r>
            <a:endParaRPr lang="en-US" sz="1800" dirty="0"/>
          </a:p>
        </p:txBody>
      </p:sp>
      <p:sp>
        <p:nvSpPr>
          <p:cNvPr id="7" name="Text 4"/>
          <p:cNvSpPr txBox="1"/>
          <p:nvPr/>
        </p:nvSpPr>
        <p:spPr>
          <a:xfrm>
            <a:off x="777240" y="2331720"/>
            <a:ext cx="4949190" cy="256032"/>
          </a:xfrm>
          <a:prstGeom prst="rect">
            <a:avLst/>
          </a:prstGeom>
          <a:noFill/>
          <a:ln/>
        </p:spPr>
        <p:txBody>
          <a:bodyPr wrap="square" lIns="0" tIns="0" rIns="0" bIns="0" rtlCol="0" anchor="ctr"/>
          <a:lstStyle/>
          <a:p>
            <a:pPr algn="l" indent="0" marL="0">
              <a:buNone/>
            </a:pPr>
            <a:r>
              <a:rPr lang="en-US" sz="1200" dirty="0">
                <a:solidFill>
                  <a:schemeClr val="tx2"/>
                </a:solidFill>
              </a:rPr>
              <a:t>4 objects  |  37 attributes  |  10 critical</a:t>
            </a:r>
            <a:endParaRPr lang="en-US" sz="1200" dirty="0"/>
          </a:p>
        </p:txBody>
      </p:sp>
      <p:sp>
        <p:nvSpPr>
          <p:cNvPr id="8" name="Text 5"/>
          <p:cNvSpPr txBox="1"/>
          <p:nvPr/>
        </p:nvSpPr>
        <p:spPr>
          <a:xfrm>
            <a:off x="777240" y="2697480"/>
            <a:ext cx="4949190" cy="822960"/>
          </a:xfrm>
          <a:prstGeom prst="rect">
            <a:avLst/>
          </a:prstGeom>
          <a:noFill/>
          <a:ln/>
        </p:spPr>
        <p:txBody>
          <a:bodyPr wrap="square" lIns="0" tIns="0" rIns="0" bIns="0" rtlCol="0" anchor="t"/>
          <a:lstStyle/>
          <a:p>
            <a:pPr algn="l" indent="0" marL="0">
              <a:buNone/>
            </a:pPr>
            <a:r>
              <a:rPr lang="en-US" sz="1300" dirty="0">
                <a:solidFill>
                  <a:schemeClr val="tx1"/>
                </a:solidFill>
              </a:rPr>
              <a:t>Each industry dataset's methodology, every release as its own vintage, and flows and assets at a stated grain.</a:t>
            </a:r>
            <a:endParaRPr lang="en-US" sz="1300" dirty="0"/>
          </a:p>
        </p:txBody>
      </p:sp>
      <p:sp>
        <p:nvSpPr>
          <p:cNvPr id="9" name="Text 6"/>
          <p:cNvSpPr txBox="1"/>
          <p:nvPr/>
        </p:nvSpPr>
        <p:spPr>
          <a:xfrm>
            <a:off x="777240" y="3566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10" name="Text 7"/>
          <p:cNvSpPr txBox="1"/>
          <p:nvPr/>
        </p:nvSpPr>
        <p:spPr>
          <a:xfrm>
            <a:off x="777240" y="3840480"/>
            <a:ext cx="4949190" cy="822960"/>
          </a:xfrm>
          <a:prstGeom prst="rect">
            <a:avLst/>
          </a:prstGeom>
          <a:noFill/>
          <a:ln/>
        </p:spPr>
        <p:txBody>
          <a:bodyPr wrap="square" lIns="0" tIns="0" rIns="0" bIns="0" rtlCol="0" anchor="t"/>
          <a:lstStyle/>
          <a:p>
            <a:pPr indent="0" marL="0">
              <a:buNone/>
            </a:pPr>
            <a:r>
              <a:rPr lang="en-US" sz="1300" b="1" dirty="0">
                <a:solidFill>
                  <a:schemeClr val="tx1"/>
                </a:solidFill>
              </a:rPr>
              <a:t>Industry Dataset Profile, </a:t>
            </a:r>
            <a:pPr indent="0" marL="0">
              <a:buNone/>
            </a:pPr>
            <a:r>
              <a:rPr lang="en-US" sz="1300" b="1" dirty="0">
                <a:solidFill>
                  <a:schemeClr val="tx1"/>
                </a:solidFill>
              </a:rPr>
              <a:t>Industry Data Release, </a:t>
            </a:r>
            <a:pPr indent="0" marL="0">
              <a:buNone/>
            </a:pPr>
            <a:r>
              <a:rPr lang="en-US" sz="1300" b="1" dirty="0">
                <a:solidFill>
                  <a:schemeClr val="tx1"/>
                </a:solidFill>
              </a:rPr>
              <a:t>Industry Flow Observation, </a:t>
            </a:r>
            <a:pPr indent="0" marL="0">
              <a:buNone/>
            </a:pPr>
            <a:r>
              <a:rPr lang="en-US" sz="1300" b="1" dirty="0">
                <a:solidFill>
                  <a:schemeClr val="tx1"/>
                </a:solidFill>
              </a:rPr>
              <a:t>Category Mapping</a:t>
            </a:r>
            <a:endParaRPr lang="en-US" sz="1300" dirty="0"/>
          </a:p>
        </p:txBody>
      </p:sp>
      <p:sp>
        <p:nvSpPr>
          <p:cNvPr id="11" name="Text 8"/>
          <p:cNvSpPr txBox="1"/>
          <p:nvPr/>
        </p:nvSpPr>
        <p:spPr>
          <a:xfrm>
            <a:off x="777240" y="4709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12" name="Text 9"/>
          <p:cNvSpPr txBox="1"/>
          <p:nvPr/>
        </p:nvSpPr>
        <p:spPr>
          <a:xfrm>
            <a:off x="777240" y="4983480"/>
            <a:ext cx="4949190" cy="731520"/>
          </a:xfrm>
          <a:prstGeom prst="rect">
            <a:avLst/>
          </a:prstGeom>
          <a:noFill/>
          <a:ln/>
        </p:spPr>
        <p:txBody>
          <a:bodyPr wrap="square" lIns="0" tIns="0" rIns="0" bIns="0" rtlCol="0" anchor="t"/>
          <a:lstStyle/>
          <a:p>
            <a:pPr algn="l" indent="0" marL="0">
              <a:buNone/>
            </a:pPr>
            <a:r>
              <a:rPr lang="en-US" sz="1300" dirty="0">
                <a:solidFill>
                  <a:schemeClr val="tx1"/>
                </a:solidFill>
              </a:rPr>
              <a:t>Flow Estimation Method, As-of Date, Release Status, Net Flow, Ending Assets, Value Basis</a:t>
            </a:r>
            <a:endParaRPr lang="en-US" sz="1300" dirty="0"/>
          </a:p>
        </p:txBody>
      </p:sp>
      <p:sp>
        <p:nvSpPr>
          <p:cNvPr id="13" name="Shape 10"/>
          <p:cNvSpPr/>
          <p:nvPr/>
        </p:nvSpPr>
        <p:spPr>
          <a:xfrm>
            <a:off x="6233922" y="1783080"/>
            <a:ext cx="5406390" cy="4069080"/>
          </a:xfrm>
          <a:prstGeom prst="roundRect">
            <a:avLst>
              <a:gd name="adj" fmla="val 1798"/>
            </a:avLst>
          </a:prstGeom>
          <a:solidFill>
            <a:schemeClr val="bg2"/>
          </a:solidFill>
          <a:ln/>
        </p:spPr>
      </p:sp>
      <p:sp>
        <p:nvSpPr>
          <p:cNvPr id="14" name="Text 11"/>
          <p:cNvSpPr txBox="1"/>
          <p:nvPr/>
        </p:nvSpPr>
        <p:spPr>
          <a:xfrm>
            <a:off x="6462522" y="1965960"/>
            <a:ext cx="4949190" cy="365760"/>
          </a:xfrm>
          <a:prstGeom prst="rect">
            <a:avLst/>
          </a:prstGeom>
          <a:noFill/>
          <a:ln/>
        </p:spPr>
        <p:txBody>
          <a:bodyPr wrap="square" lIns="0" tIns="0" rIns="0" bIns="0" rtlCol="0" anchor="ctr"/>
          <a:lstStyle/>
          <a:p>
            <a:pPr algn="l" indent="0" marL="0">
              <a:buNone/>
            </a:pPr>
            <a:r>
              <a:rPr lang="en-US" sz="1800" b="1" dirty="0">
                <a:solidFill>
                  <a:schemeClr val="accent2"/>
                </a:solidFill>
              </a:rPr>
              <a:t>Market Share</a:t>
            </a:r>
            <a:endParaRPr lang="en-US" sz="1800" dirty="0"/>
          </a:p>
        </p:txBody>
      </p:sp>
      <p:sp>
        <p:nvSpPr>
          <p:cNvPr id="15" name="Text 12"/>
          <p:cNvSpPr txBox="1"/>
          <p:nvPr/>
        </p:nvSpPr>
        <p:spPr>
          <a:xfrm>
            <a:off x="6462522" y="2331720"/>
            <a:ext cx="4949190" cy="256032"/>
          </a:xfrm>
          <a:prstGeom prst="rect">
            <a:avLst/>
          </a:prstGeom>
          <a:noFill/>
          <a:ln/>
        </p:spPr>
        <p:txBody>
          <a:bodyPr wrap="square" lIns="0" tIns="0" rIns="0" bIns="0" rtlCol="0" anchor="ctr"/>
          <a:lstStyle/>
          <a:p>
            <a:pPr algn="l" indent="0" marL="0">
              <a:buNone/>
            </a:pPr>
            <a:r>
              <a:rPr lang="en-US" sz="1200" dirty="0">
                <a:solidFill>
                  <a:schemeClr val="tx2"/>
                </a:solidFill>
              </a:rPr>
              <a:t>3 objects  |  24 attributes  |  8 critical</a:t>
            </a:r>
            <a:endParaRPr lang="en-US" sz="1200" dirty="0"/>
          </a:p>
        </p:txBody>
      </p:sp>
      <p:sp>
        <p:nvSpPr>
          <p:cNvPr id="16" name="Text 13"/>
          <p:cNvSpPr txBox="1"/>
          <p:nvPr/>
        </p:nvSpPr>
        <p:spPr>
          <a:xfrm>
            <a:off x="6462522" y="2697480"/>
            <a:ext cx="4949190" cy="822960"/>
          </a:xfrm>
          <a:prstGeom prst="rect">
            <a:avLst/>
          </a:prstGeom>
          <a:noFill/>
          <a:ln/>
        </p:spPr>
        <p:txBody>
          <a:bodyPr wrap="square" lIns="0" tIns="0" rIns="0" bIns="0" rtlCol="0" anchor="t"/>
          <a:lstStyle/>
          <a:p>
            <a:pPr algn="l" indent="0" marL="0">
              <a:buNone/>
            </a:pPr>
            <a:r>
              <a:rPr lang="en-US" sz="1300" dirty="0">
                <a:solidFill>
                  <a:schemeClr val="tx1"/>
                </a:solidFill>
              </a:rPr>
              <a:t>How each share measure is calculated, the stored results by period and segment, and league-table positions.</a:t>
            </a:r>
            <a:endParaRPr lang="en-US" sz="1300" dirty="0"/>
          </a:p>
        </p:txBody>
      </p:sp>
      <p:sp>
        <p:nvSpPr>
          <p:cNvPr id="17" name="Text 14"/>
          <p:cNvSpPr txBox="1"/>
          <p:nvPr/>
        </p:nvSpPr>
        <p:spPr>
          <a:xfrm>
            <a:off x="6462522" y="3566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18" name="Text 15"/>
          <p:cNvSpPr txBox="1"/>
          <p:nvPr/>
        </p:nvSpPr>
        <p:spPr>
          <a:xfrm>
            <a:off x="6462522" y="3840480"/>
            <a:ext cx="4949190" cy="822960"/>
          </a:xfrm>
          <a:prstGeom prst="rect">
            <a:avLst/>
          </a:prstGeom>
          <a:noFill/>
          <a:ln/>
        </p:spPr>
        <p:txBody>
          <a:bodyPr wrap="square" lIns="0" tIns="0" rIns="0" bIns="0" rtlCol="0" anchor="t"/>
          <a:lstStyle/>
          <a:p>
            <a:pPr indent="0" marL="0">
              <a:buNone/>
            </a:pPr>
            <a:r>
              <a:rPr lang="en-US" sz="1300" b="1" dirty="0">
                <a:solidFill>
                  <a:schemeClr val="tx1"/>
                </a:solidFill>
              </a:rPr>
              <a:t>Market Share Definition, </a:t>
            </a:r>
            <a:pPr indent="0" marL="0">
              <a:buNone/>
            </a:pPr>
            <a:r>
              <a:rPr lang="en-US" sz="1300" b="1" dirty="0">
                <a:solidFill>
                  <a:schemeClr val="tx1"/>
                </a:solidFill>
              </a:rPr>
              <a:t>Market Share Record, </a:t>
            </a:r>
            <a:pPr indent="0" marL="0">
              <a:buNone/>
            </a:pPr>
            <a:r>
              <a:rPr lang="en-US" sz="1300" b="1" dirty="0">
                <a:solidFill>
                  <a:schemeClr val="tx1"/>
                </a:solidFill>
              </a:rPr>
              <a:t>Industry Ranking</a:t>
            </a:r>
            <a:endParaRPr lang="en-US" sz="1300" dirty="0"/>
          </a:p>
        </p:txBody>
      </p:sp>
      <p:sp>
        <p:nvSpPr>
          <p:cNvPr id="19" name="Text 16"/>
          <p:cNvSpPr txBox="1"/>
          <p:nvPr/>
        </p:nvSpPr>
        <p:spPr>
          <a:xfrm>
            <a:off x="6462522" y="4709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20" name="Text 17"/>
          <p:cNvSpPr txBox="1"/>
          <p:nvPr/>
        </p:nvSpPr>
        <p:spPr>
          <a:xfrm>
            <a:off x="6462522" y="4983480"/>
            <a:ext cx="4949190" cy="731520"/>
          </a:xfrm>
          <a:prstGeom prst="rect">
            <a:avLst/>
          </a:prstGeom>
          <a:noFill/>
          <a:ln/>
        </p:spPr>
        <p:txBody>
          <a:bodyPr wrap="square" lIns="0" tIns="0" rIns="0" bIns="0" rtlCol="0" anchor="t"/>
          <a:lstStyle/>
          <a:p>
            <a:pPr algn="l" indent="0" marL="0">
              <a:buNone/>
            </a:pPr>
            <a:r>
              <a:rPr lang="en-US" sz="1300" dirty="0">
                <a:solidFill>
                  <a:schemeClr val="tx1"/>
                </a:solidFill>
              </a:rPr>
              <a:t>Share Measure Basis, Numerator Source, Firm Value, Industry Value, Market Share</a:t>
            </a:r>
            <a:endParaRPr lang="en-US" sz="1300" dirty="0"/>
          </a:p>
        </p:txBody>
      </p:sp>
      <p:sp>
        <p:nvSpPr>
          <p:cNvPr id="21" name="Text 18"/>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profile, universe, rating or study.</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2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Competitors, peers and ratings</a:t>
            </a:r>
            <a:endParaRPr lang="en-US" sz="3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377440"/>
                <a:gridCol w="2743200"/>
                <a:gridCol w="3200400"/>
                <a:gridCol w="2770632"/>
              </a:tblGrid>
              <a:tr h="365760">
                <a:tc>
                  <a:txBody>
                    <a:bodyPr/>
                    <a:lstStyle/>
                    <a:p>
                      <a:pPr indent="0" marL="0">
                        <a:buNone/>
                      </a:pPr>
                      <a:r>
                        <a:rPr lang="en-US" sz="1200" b="1" dirty="0">
                          <a:solidFill>
                            <a:schemeClr val="bg1"/>
                          </a:solidFill>
                        </a:rPr>
                        <a:t>Family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Objects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Example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749808">
                <a:tc>
                  <a:txBody>
                    <a:bodyPr/>
                    <a:lstStyle/>
                    <a:p>
                      <a:pPr indent="0" marL="0">
                        <a:buNone/>
                      </a:pPr>
                      <a:r>
                        <a:rPr lang="en-US" sz="1200" b="1" dirty="0">
                          <a:solidFill>
                            <a:schemeClr val="tx1"/>
                          </a:solidFill>
                        </a:rPr>
                        <a:t>Competitor Intelligence</a:t>
                      </a:r>
                      <a:endParaRPr lang="en-US" sz="1200" dirty="0"/>
                    </a:p>
                    <a:p>
                      <a:pPr indent="0" marL="0">
                        <a:buNone/>
                      </a:pPr>
                      <a:r>
                        <a:rPr lang="en-US" sz="1100" dirty="0">
                          <a:solidFill>
                            <a:schemeClr val="tx2"/>
                          </a:solidFill>
                        </a:rPr>
                        <a:t>5 objects  |  30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Competing managers: size and growth, where they distribute, strategic events, people moves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Competitor Profile, </a:t>
                      </a:r>
                      <a:pPr indent="0" marL="0">
                        <a:buNone/>
                      </a:pPr>
                      <a:r>
                        <a:rPr lang="en-US" sz="1200" dirty="0">
                          <a:solidFill>
                            <a:schemeClr val="tx1"/>
                          </a:solidFill>
                        </a:rPr>
                        <a:t>Competitor Metric Snapshot, </a:t>
                      </a:r>
                      <a:pPr indent="0" marL="0">
                        <a:buNone/>
                      </a:pPr>
                      <a:r>
                        <a:rPr lang="en-US" sz="1200" dirty="0">
                          <a:solidFill>
                            <a:schemeClr val="tx1"/>
                          </a:solidFill>
                        </a:rPr>
                        <a:t>Competitor Distribution Footprint, </a:t>
                      </a:r>
                      <a:pPr indent="0" marL="0">
                        <a:buNone/>
                      </a:pPr>
                      <a:r>
                        <a:rPr lang="en-US" sz="1200" b="1" dirty="0">
                          <a:solidFill>
                            <a:schemeClr val="tx1"/>
                          </a:solidFill>
                        </a:rPr>
                        <a:t>Competitor Event, </a:t>
                      </a:r>
                      <a:pPr indent="0" marL="0">
                        <a:buNone/>
                      </a:pPr>
                      <a:r>
                        <a:rPr lang="en-US" sz="1200" b="1" dirty="0">
                          <a:solidFill>
                            <a:schemeClr val="tx1"/>
                          </a:solidFill>
                        </a:rPr>
                        <a:t>Competitor Personnel Move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Competitor Tier, Total AUM, Presence Strength, Event Type, Move Type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Peer Universes &amp; Peer Funds</a:t>
                      </a:r>
                      <a:endParaRPr lang="en-US" sz="1200" dirty="0"/>
                    </a:p>
                    <a:p>
                      <a:pPr indent="0" marL="0">
                        <a:buNone/>
                      </a:pPr>
                      <a:r>
                        <a:rPr lang="en-US" sz="1100" dirty="0">
                          <a:solidFill>
                            <a:schemeClr val="tx2"/>
                          </a:solidFill>
                        </a:rPr>
                        <a:t>4 objects  |  29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Peer group definitions, the competitor funds in them, and monthly peer metrics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Peer Universe, </a:t>
                      </a:r>
                      <a:pPr indent="0" marL="0">
                        <a:buNone/>
                      </a:pPr>
                      <a:r>
                        <a:rPr lang="en-US" sz="1200" dirty="0">
                          <a:solidFill>
                            <a:schemeClr val="tx1"/>
                          </a:solidFill>
                        </a:rPr>
                        <a:t>Peer Universe Member, </a:t>
                      </a:r>
                      <a:pPr indent="0" marL="0">
                        <a:buNone/>
                      </a:pPr>
                      <a:r>
                        <a:rPr lang="en-US" sz="1200" b="1" dirty="0">
                          <a:solidFill>
                            <a:schemeClr val="tx1"/>
                          </a:solidFill>
                        </a:rPr>
                        <a:t>Peer Fund, </a:t>
                      </a:r>
                      <a:pPr indent="0" marL="0">
                        <a:buNone/>
                      </a:pPr>
                      <a:r>
                        <a:rPr lang="en-US" sz="1200" dirty="0">
                          <a:solidFill>
                            <a:schemeClr val="tx1"/>
                          </a:solidFill>
                        </a:rPr>
                        <a:t>Peer Metric Snapshot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Universe Type, Inclusion Rules, Peer Fund ID, Category Percentile Rank, Expense Ratio</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Ratings, Rankings &amp; Awards</a:t>
                      </a:r>
                      <a:endParaRPr lang="en-US" sz="1200" dirty="0"/>
                    </a:p>
                    <a:p>
                      <a:pPr indent="0" marL="0">
                        <a:buNone/>
                      </a:pPr>
                      <a:r>
                        <a:rPr lang="en-US" sz="1100" dirty="0">
                          <a:solidFill>
                            <a:schemeClr val="tx2"/>
                          </a:solidFill>
                        </a:rPr>
                        <a:t>6 objects  |  35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Published fund and manager ratings and industry awards, for own and peer funds alike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Rating Scheme, </a:t>
                      </a:r>
                      <a:pPr indent="0" marL="0">
                        <a:buNone/>
                      </a:pPr>
                      <a:r>
                        <a:rPr lang="en-US" sz="1200" b="1" dirty="0">
                          <a:solidFill>
                            <a:schemeClr val="tx1"/>
                          </a:solidFill>
                        </a:rPr>
                        <a:t>Rating Observation, </a:t>
                      </a:r>
                      <a:pPr indent="0" marL="0">
                        <a:buNone/>
                      </a:pPr>
                      <a:r>
                        <a:rPr lang="en-US" sz="1200" dirty="0">
                          <a:solidFill>
                            <a:schemeClr val="tx1"/>
                          </a:solidFill>
                        </a:rPr>
                        <a:t>Medalist Rating Detail, </a:t>
                      </a:r>
                      <a:pPr indent="0" marL="0">
                        <a:buNone/>
                      </a:pPr>
                      <a:r>
                        <a:rPr lang="en-US" sz="1200" dirty="0">
                          <a:solidFill>
                            <a:schemeClr val="tx1"/>
                          </a:solidFill>
                        </a:rPr>
                        <a:t>Sustainability Rating Detail, </a:t>
                      </a:r>
                      <a:pPr indent="0" marL="0">
                        <a:buNone/>
                      </a:pPr>
                      <a:r>
                        <a:rPr lang="en-US" sz="1200" b="1" dirty="0">
                          <a:solidFill>
                            <a:schemeClr val="tx1"/>
                          </a:solidFill>
                        </a:rPr>
                        <a:t>Manager Rating, </a:t>
                      </a:r>
                      <a:pPr indent="0" marL="0">
                        <a:buNone/>
                      </a:pPr>
                      <a:r>
                        <a:rPr lang="en-US" sz="1200" b="1" dirty="0">
                          <a:solidFill>
                            <a:schemeClr val="tx1"/>
                          </a:solidFill>
                        </a:rPr>
                        <a:t>Award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Rating Scheme, Rating Value, Rating Date, Manager Rating Value, Award Outcome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Fee Benchmarking</a:t>
                      </a:r>
                      <a:endParaRPr lang="en-US" sz="1200" dirty="0"/>
                    </a:p>
                    <a:p>
                      <a:pPr indent="0" marL="0">
                        <a:buNone/>
                      </a:pPr>
                      <a:r>
                        <a:rPr lang="en-US" sz="1100" dirty="0">
                          <a:solidFill>
                            <a:schemeClr val="tx2"/>
                          </a:solidFill>
                        </a:rPr>
                        <a:t>3 objects  |  16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Own fees compared with a peer universe, and the pricing evidence passed to Product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Fee Benchmark Study, </a:t>
                      </a:r>
                      <a:pPr indent="0" marL="0">
                        <a:buNone/>
                      </a:pPr>
                      <a:r>
                        <a:rPr lang="en-US" sz="1200" dirty="0">
                          <a:solidFill>
                            <a:schemeClr val="tx1"/>
                          </a:solidFill>
                        </a:rPr>
                        <a:t>Fee Benchmark Result, </a:t>
                      </a:r>
                      <a:pPr indent="0" marL="0">
                        <a:buNone/>
                      </a:pPr>
                      <a:r>
                        <a:rPr lang="en-US" sz="1200" dirty="0">
                          <a:solidFill>
                            <a:schemeClr val="tx1"/>
                          </a:solidFill>
                        </a:rPr>
                        <a:t>Pricing Input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Fee Measure Compared, Peer Median Fee, Own Fee Percentile, Study Purpose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profile, universe, rating or study.</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3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Opportunity and market change</a:t>
            </a:r>
            <a:endParaRPr lang="en-US" sz="3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377440"/>
                <a:gridCol w="2743200"/>
                <a:gridCol w="3200400"/>
                <a:gridCol w="2770632"/>
              </a:tblGrid>
              <a:tr h="365760">
                <a:tc>
                  <a:txBody>
                    <a:bodyPr/>
                    <a:lstStyle/>
                    <a:p>
                      <a:pPr indent="0" marL="0">
                        <a:buNone/>
                      </a:pPr>
                      <a:r>
                        <a:rPr lang="en-US" sz="1200" b="1" dirty="0">
                          <a:solidFill>
                            <a:schemeClr val="bg1"/>
                          </a:solidFill>
                        </a:rPr>
                        <a:t>Family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Objects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Example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749808">
                <a:tc>
                  <a:txBody>
                    <a:bodyPr/>
                    <a:lstStyle/>
                    <a:p>
                      <a:pPr indent="0" marL="0">
                        <a:buNone/>
                      </a:pPr>
                      <a:r>
                        <a:rPr lang="en-US" sz="1200" b="1" dirty="0">
                          <a:solidFill>
                            <a:schemeClr val="tx1"/>
                          </a:solidFill>
                        </a:rPr>
                        <a:t>Market Sizing &amp; Opportunity Potential</a:t>
                      </a:r>
                      <a:endParaRPr lang="en-US" sz="1200" dirty="0"/>
                    </a:p>
                    <a:p>
                      <a:pPr indent="0" marL="0">
                        <a:buNone/>
                      </a:pPr>
                      <a:r>
                        <a:rPr lang="en-US" sz="1100" dirty="0">
                          <a:solidFill>
                            <a:schemeClr val="tx2"/>
                          </a:solidFill>
                        </a:rPr>
                        <a:t>3 objects  |  24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Size of each market segment, and addressable assets and wallet share by advisor or firm</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Market Sizing Record, </a:t>
                      </a:r>
                      <a:pPr indent="0" marL="0">
                        <a:buNone/>
                      </a:pPr>
                      <a:r>
                        <a:rPr lang="en-US" sz="1200" b="1" dirty="0">
                          <a:solidFill>
                            <a:schemeClr val="tx1"/>
                          </a:solidFill>
                        </a:rPr>
                        <a:t>Opportunity Potential, </a:t>
                      </a:r>
                      <a:pPr indent="0" marL="0">
                        <a:buNone/>
                      </a:pPr>
                      <a:r>
                        <a:rPr lang="en-US" sz="1200" b="1" dirty="0">
                          <a:solidFill>
                            <a:schemeClr val="tx1"/>
                          </a:solidFill>
                        </a:rPr>
                        <a:t>Plan Market Record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Sizing Metric, Sizing Value, Addressable Assets, Wallet Share, DCIO Opportunity Value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Market Structure Research</a:t>
                      </a:r>
                      <a:endParaRPr lang="en-US" sz="1200" dirty="0"/>
                    </a:p>
                    <a:p>
                      <a:pPr indent="0" marL="0">
                        <a:buNone/>
                      </a:pPr>
                      <a:r>
                        <a:rPr lang="en-US" sz="1100" dirty="0">
                          <a:solidFill>
                            <a:schemeClr val="tx2"/>
                          </a:solidFill>
                        </a:rPr>
                        <a:t>2 objects  |  14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Research reports bought or produced, and the structural trends they evidence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Market Research Report, </a:t>
                      </a:r>
                      <a:pPr indent="0" marL="0">
                        <a:buNone/>
                      </a:pPr>
                      <a:r>
                        <a:rPr lang="en-US" sz="1200" b="1" dirty="0">
                          <a:solidFill>
                            <a:schemeClr val="tx1"/>
                          </a:solidFill>
                        </a:rPr>
                        <a:t>Market Trend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Report Title, Research Topics, Trend Topic, Indicator Value, Trend Direction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Win/Loss &amp; Mandate Search Intelligence</a:t>
                      </a:r>
                      <a:endParaRPr lang="en-US" sz="1200" dirty="0"/>
                    </a:p>
                    <a:p>
                      <a:pPr indent="0" marL="0">
                        <a:buNone/>
                      </a:pPr>
                      <a:r>
                        <a:rPr lang="en-US" sz="1100" dirty="0">
                          <a:solidFill>
                            <a:schemeClr val="tx2"/>
                          </a:solidFill>
                        </a:rPr>
                        <a:t>2 objects  |  16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External searches, hires and terminations, and aggregated win/loss analysis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Mandate Search Event, </a:t>
                      </a:r>
                      <a:pPr indent="0" marL="0">
                        <a:buNone/>
                      </a:pPr>
                      <a:r>
                        <a:rPr lang="en-US" sz="1200" b="1" dirty="0">
                          <a:solidFill>
                            <a:schemeClr val="tx1"/>
                          </a:solidFill>
                        </a:rPr>
                        <a:t>Win/Loss Analysis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Search Event Type, Mandate Size, Win Rate, Top Loss Reasons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News &amp; Horizon Scanning</a:t>
                      </a:r>
                      <a:endParaRPr lang="en-US" sz="1200" dirty="0"/>
                    </a:p>
                    <a:p>
                      <a:pPr indent="0" marL="0">
                        <a:buNone/>
                      </a:pPr>
                      <a:r>
                        <a:rPr lang="en-US" sz="1100" dirty="0">
                          <a:solidFill>
                            <a:schemeClr val="tx2"/>
                          </a:solidFill>
                        </a:rPr>
                        <a:t>2 objects  |  14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Curated news and research items, and upcoming regulatory changes, with relevance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Intelligence Item, </a:t>
                      </a:r>
                      <a:pPr indent="0" marL="0">
                        <a:buNone/>
                      </a:pPr>
                      <a:r>
                        <a:rPr lang="en-US" sz="1200" b="1" dirty="0">
                          <a:solidFill>
                            <a:schemeClr val="tx1"/>
                          </a:solidFill>
                        </a:rPr>
                        <a:t>Regulatory Horizon Item</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Headline, Topic Tags, Relevance Rating, Regulatory Initiative, Initiative Stage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profile, universe, rating or study.</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WHERE THE DEFINITIONS COME FROM</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Built on vendor methods and public data</a:t>
            </a:r>
            <a:endParaRPr lang="en-US" sz="3600" dirty="0"/>
          </a:p>
        </p:txBody>
      </p:sp>
      <p:graphicFrame>
        <p:nvGraphicFramePr>
          <p:cNvPr id="5" name="Chart 0" descr=""/>
          <p:cNvGraphicFramePr/>
          <p:nvPr/>
        </p:nvGraphicFramePr>
        <p:xfrm>
          <a:off x="548640" y="1783080"/>
          <a:ext cx="6400800" cy="406908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5870448"/>
            <a:ext cx="6400800" cy="411480"/>
          </a:xfrm>
          <a:prstGeom prst="rect">
            <a:avLst/>
          </a:prstGeom>
          <a:noFill/>
          <a:ln/>
        </p:spPr>
        <p:txBody>
          <a:bodyPr wrap="square" lIns="0" tIns="0" rIns="0" bIns="0" rtlCol="0" anchor="t"/>
          <a:lstStyle/>
          <a:p>
            <a:pPr algn="l" indent="0" marL="0">
              <a:buNone/>
            </a:pPr>
            <a:r>
              <a:rPr lang="en-US" sz="1100" dirty="0">
                <a:solidFill>
                  <a:schemeClr val="tx2"/>
                </a:solidFill>
              </a:rPr>
              <a:t>Internal = no authoritative external definition exists. Other includes Broadridge, DOL Form 5500, EFAMA, LSEG Lipper, SEC rules and forms, and ISO 6166.</a:t>
            </a:r>
            <a:endParaRPr lang="en-US" sz="1100" dirty="0"/>
          </a:p>
        </p:txBody>
      </p:sp>
      <p:sp>
        <p:nvSpPr>
          <p:cNvPr id="7" name="Shape 3"/>
          <p:cNvSpPr/>
          <p:nvPr/>
        </p:nvSpPr>
        <p:spPr>
          <a:xfrm>
            <a:off x="7315200" y="1783080"/>
            <a:ext cx="4325112" cy="1280160"/>
          </a:xfrm>
          <a:prstGeom prst="roundRect">
            <a:avLst>
              <a:gd name="adj" fmla="val 5714"/>
            </a:avLst>
          </a:prstGeom>
          <a:solidFill>
            <a:schemeClr val="bg2"/>
          </a:solidFill>
          <a:ln/>
        </p:spPr>
      </p:sp>
      <p:sp>
        <p:nvSpPr>
          <p:cNvPr id="8" name="Text 4"/>
          <p:cNvSpPr txBox="1"/>
          <p:nvPr/>
        </p:nvSpPr>
        <p:spPr>
          <a:xfrm>
            <a:off x="7543800" y="189280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40%</a:t>
            </a:r>
            <a:endParaRPr lang="en-US" sz="3200" dirty="0"/>
          </a:p>
        </p:txBody>
      </p:sp>
      <p:sp>
        <p:nvSpPr>
          <p:cNvPr id="9" name="Text 5"/>
          <p:cNvSpPr txBox="1"/>
          <p:nvPr/>
        </p:nvSpPr>
        <p:spPr>
          <a:xfrm>
            <a:off x="7543800" y="245973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of attributes (95 of 239) align to a vendor methodology, statistic or public filing</a:t>
            </a:r>
            <a:endParaRPr lang="en-US" sz="1300" dirty="0"/>
          </a:p>
        </p:txBody>
      </p:sp>
      <p:sp>
        <p:nvSpPr>
          <p:cNvPr id="10" name="Shape 6"/>
          <p:cNvSpPr/>
          <p:nvPr/>
        </p:nvSpPr>
        <p:spPr>
          <a:xfrm>
            <a:off x="7315200" y="3246120"/>
            <a:ext cx="4325112" cy="1280160"/>
          </a:xfrm>
          <a:prstGeom prst="roundRect">
            <a:avLst>
              <a:gd name="adj" fmla="val 5714"/>
            </a:avLst>
          </a:prstGeom>
          <a:solidFill>
            <a:schemeClr val="bg2"/>
          </a:solidFill>
          <a:ln/>
        </p:spPr>
      </p:sp>
      <p:sp>
        <p:nvSpPr>
          <p:cNvPr id="11" name="Text 7"/>
          <p:cNvSpPr txBox="1"/>
          <p:nvPr/>
        </p:nvSpPr>
        <p:spPr>
          <a:xfrm>
            <a:off x="7543800" y="335584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75</a:t>
            </a:r>
            <a:endParaRPr lang="en-US" sz="3200" dirty="0"/>
          </a:p>
        </p:txBody>
      </p:sp>
      <p:sp>
        <p:nvSpPr>
          <p:cNvPr id="12" name="Text 8"/>
          <p:cNvSpPr txBox="1"/>
          <p:nvPr/>
        </p:nvSpPr>
        <p:spPr>
          <a:xfrm>
            <a:off x="7543800" y="392277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attributes take their values from a controlled code list, not free text</a:t>
            </a:r>
            <a:endParaRPr lang="en-US" sz="1300" dirty="0"/>
          </a:p>
        </p:txBody>
      </p:sp>
      <p:sp>
        <p:nvSpPr>
          <p:cNvPr id="13" name="Shape 9"/>
          <p:cNvSpPr/>
          <p:nvPr/>
        </p:nvSpPr>
        <p:spPr>
          <a:xfrm>
            <a:off x="7315200" y="4709160"/>
            <a:ext cx="4325112" cy="1280160"/>
          </a:xfrm>
          <a:prstGeom prst="roundRect">
            <a:avLst>
              <a:gd name="adj" fmla="val 5714"/>
            </a:avLst>
          </a:prstGeom>
          <a:solidFill>
            <a:schemeClr val="bg2"/>
          </a:solidFill>
          <a:ln/>
        </p:spPr>
      </p:sp>
      <p:sp>
        <p:nvSpPr>
          <p:cNvPr id="14" name="Text 10"/>
          <p:cNvSpPr txBox="1"/>
          <p:nvPr/>
        </p:nvSpPr>
        <p:spPr>
          <a:xfrm>
            <a:off x="7543800" y="481888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38</a:t>
            </a:r>
            <a:endParaRPr lang="en-US" sz="3200" dirty="0"/>
          </a:p>
        </p:txBody>
      </p:sp>
      <p:sp>
        <p:nvSpPr>
          <p:cNvPr id="15" name="Text 11"/>
          <p:cNvSpPr txBox="1"/>
          <p:nvPr/>
        </p:nvSpPr>
        <p:spPr>
          <a:xfrm>
            <a:off x="7543800" y="538581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attributes follow a Morningstar methodology, the largest single external source</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SCOPE BOUNDARY</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Out of scope by design, and where it lives</a:t>
            </a:r>
            <a:endParaRPr lang="en-US" sz="3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840480"/>
                <a:gridCol w="3566160"/>
                <a:gridCol w="3685032"/>
              </a:tblGrid>
              <a:tr h="365760">
                <a:tc>
                  <a:txBody>
                    <a:bodyPr/>
                    <a:lstStyle/>
                    <a:p>
                      <a:pPr indent="0" marL="0">
                        <a:buNone/>
                      </a:pPr>
                      <a:r>
                        <a:rPr lang="en-US" sz="1200" b="1" dirty="0">
                          <a:solidFill>
                            <a:schemeClr val="bg1"/>
                          </a:solidFill>
                        </a:rPr>
                        <a:t>Not in this domain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Where it lives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this domain keeps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502920">
                <a:tc>
                  <a:txBody>
                    <a:bodyPr/>
                    <a:lstStyle/>
                    <a:p>
                      <a:pPr indent="0" marL="0">
                        <a:buNone/>
                      </a:pPr>
                      <a:r>
                        <a:rPr lang="en-US" sz="1200" b="1" dirty="0">
                          <a:solidFill>
                            <a:schemeClr val="tx1"/>
                          </a:solidFill>
                        </a:rPr>
                        <a:t>Own strategies, products, share classes and actual fees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Investment Product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References by ID, and a point-in-time copy of the own fee rate on each fee study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The party record for competitors, distributors and plans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Client &amp; Customer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competitive profile on top of the party; practice AUM is read as an input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Own opportunities, win/loss reasons, consultant ratings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Sales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External mandate search events and aggregated win/loss analysis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Partner home-office research ratings and shelf status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Agreements &amp; Partners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Published ratings from Morningstar, Lipper, FE fundinfo and Citywire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Own flows, AUM, attribution and data feeds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Sales Transactions &amp; AUM Attribution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Industry flows and assets, and a reference to the load that brought in each release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Territory potential used in territory design and goals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Compensation &amp; Territory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Market sizing records and opportunity potential by advisor, team and firm</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Compliance approval of rating and award citations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Compliance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 reference from each award to the review that approved its citation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Data licenses, entitlements and the dataset catalog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Third-Party Data &amp; Licensing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methodology profile of each dataset, keyed to the licensed dataset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REFERENCED, NOT MASTERED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205 attributes mastered, 34 borrowed</a:t>
            </a:r>
            <a:endParaRPr lang="en-US" sz="3600" dirty="0"/>
          </a:p>
        </p:txBody>
      </p:sp>
      <p:sp>
        <p:nvSpPr>
          <p:cNvPr id="5" name="Shape 2"/>
          <p:cNvSpPr/>
          <p:nvPr/>
        </p:nvSpPr>
        <p:spPr>
          <a:xfrm>
            <a:off x="548640" y="1783080"/>
            <a:ext cx="3291840" cy="3730752"/>
          </a:xfrm>
          <a:prstGeom prst="roundRect">
            <a:avLst>
              <a:gd name="adj" fmla="val 2222"/>
            </a:avLst>
          </a:prstGeom>
          <a:solidFill>
            <a:schemeClr val="tx1"/>
          </a:solidFill>
          <a:ln/>
        </p:spPr>
      </p:sp>
      <p:sp>
        <p:nvSpPr>
          <p:cNvPr id="6" name="Text 3"/>
          <p:cNvSpPr txBox="1"/>
          <p:nvPr/>
        </p:nvSpPr>
        <p:spPr>
          <a:xfrm>
            <a:off x="822960" y="2057400"/>
            <a:ext cx="2743200" cy="868680"/>
          </a:xfrm>
          <a:prstGeom prst="rect">
            <a:avLst/>
          </a:prstGeom>
          <a:noFill/>
          <a:ln/>
        </p:spPr>
        <p:txBody>
          <a:bodyPr wrap="square" lIns="0" tIns="0" rIns="0" bIns="0" rtlCol="0" anchor="ctr"/>
          <a:lstStyle/>
          <a:p>
            <a:pPr algn="l" indent="0" marL="0">
              <a:buNone/>
            </a:pPr>
            <a:r>
              <a:rPr lang="en-US" sz="6000" b="1" dirty="0">
                <a:solidFill>
                  <a:schemeClr val="accent6"/>
                </a:solidFill>
              </a:rPr>
              <a:t>205</a:t>
            </a:r>
            <a:endParaRPr lang="en-US" sz="6000" dirty="0"/>
          </a:p>
        </p:txBody>
      </p:sp>
      <p:sp>
        <p:nvSpPr>
          <p:cNvPr id="7" name="Text 4"/>
          <p:cNvSpPr txBox="1"/>
          <p:nvPr/>
        </p:nvSpPr>
        <p:spPr>
          <a:xfrm>
            <a:off x="822960" y="2971800"/>
            <a:ext cx="2743200" cy="548640"/>
          </a:xfrm>
          <a:prstGeom prst="rect">
            <a:avLst/>
          </a:prstGeom>
          <a:noFill/>
          <a:ln/>
        </p:spPr>
        <p:txBody>
          <a:bodyPr wrap="square" lIns="0" tIns="0" rIns="0" bIns="0" rtlCol="0" anchor="t"/>
          <a:lstStyle/>
          <a:p>
            <a:pPr algn="l" indent="0" marL="0">
              <a:buNone/>
            </a:pPr>
            <a:r>
              <a:rPr lang="en-US" sz="1400" dirty="0">
                <a:solidFill>
                  <a:schemeClr val="bg1"/>
                </a:solidFill>
              </a:rPr>
              <a:t>of 239 attributes are mastered in this domain</a:t>
            </a:r>
            <a:endParaRPr lang="en-US" sz="1400" dirty="0"/>
          </a:p>
        </p:txBody>
      </p:sp>
      <p:sp>
        <p:nvSpPr>
          <p:cNvPr id="8" name="Text 5"/>
          <p:cNvSpPr txBox="1"/>
          <p:nvPr/>
        </p:nvSpPr>
        <p:spPr>
          <a:xfrm>
            <a:off x="822960" y="3840480"/>
            <a:ext cx="2743200" cy="292608"/>
          </a:xfrm>
          <a:prstGeom prst="rect">
            <a:avLst/>
          </a:prstGeom>
          <a:noFill/>
          <a:ln/>
        </p:spPr>
        <p:txBody>
          <a:bodyPr wrap="square" lIns="0" tIns="0" rIns="0" bIns="0" rtlCol="0" anchor="ctr"/>
          <a:lstStyle/>
          <a:p>
            <a:pPr algn="l" indent="0" marL="0">
              <a:buNone/>
            </a:pPr>
            <a:r>
              <a:rPr lang="en-US" sz="1600" b="1" dirty="0">
                <a:solidFill>
                  <a:schemeClr val="bg1"/>
                </a:solidFill>
              </a:rPr>
              <a:t>26 references</a:t>
            </a:r>
            <a:endParaRPr lang="en-US" sz="1600" dirty="0"/>
          </a:p>
        </p:txBody>
      </p:sp>
      <p:sp>
        <p:nvSpPr>
          <p:cNvPr id="9" name="Text 6"/>
          <p:cNvSpPr txBox="1"/>
          <p:nvPr/>
        </p:nvSpPr>
        <p:spPr>
          <a:xfrm>
            <a:off x="822960" y="4133088"/>
            <a:ext cx="2743200" cy="411480"/>
          </a:xfrm>
          <a:prstGeom prst="rect">
            <a:avLst/>
          </a:prstGeom>
          <a:noFill/>
          <a:ln/>
        </p:spPr>
        <p:txBody>
          <a:bodyPr wrap="square" lIns="0" tIns="0" rIns="0" bIns="0" rtlCol="0" anchor="t"/>
          <a:lstStyle/>
          <a:p>
            <a:pPr algn="l" indent="0" marL="0">
              <a:buNone/>
            </a:pPr>
            <a:r>
              <a:rPr lang="en-US" sz="1200" dirty="0">
                <a:solidFill>
                  <a:schemeClr val="bg1"/>
                </a:solidFill>
              </a:rPr>
              <a:t>Hold only the ID of a record another domain masters</a:t>
            </a:r>
            <a:endParaRPr lang="en-US" sz="1200" dirty="0"/>
          </a:p>
        </p:txBody>
      </p:sp>
      <p:sp>
        <p:nvSpPr>
          <p:cNvPr id="10" name="Text 7"/>
          <p:cNvSpPr txBox="1"/>
          <p:nvPr/>
        </p:nvSpPr>
        <p:spPr>
          <a:xfrm>
            <a:off x="822960" y="4636008"/>
            <a:ext cx="2743200" cy="292608"/>
          </a:xfrm>
          <a:prstGeom prst="rect">
            <a:avLst/>
          </a:prstGeom>
          <a:noFill/>
          <a:ln/>
        </p:spPr>
        <p:txBody>
          <a:bodyPr wrap="square" lIns="0" tIns="0" rIns="0" bIns="0" rtlCol="0" anchor="ctr"/>
          <a:lstStyle/>
          <a:p>
            <a:pPr algn="l" indent="0" marL="0">
              <a:buNone/>
            </a:pPr>
            <a:r>
              <a:rPr lang="en-US" sz="1600" b="1" dirty="0">
                <a:solidFill>
                  <a:schemeClr val="bg1"/>
                </a:solidFill>
              </a:rPr>
              <a:t>8 derived copies</a:t>
            </a:r>
            <a:endParaRPr lang="en-US" sz="1600" dirty="0"/>
          </a:p>
        </p:txBody>
      </p:sp>
      <p:sp>
        <p:nvSpPr>
          <p:cNvPr id="11" name="Text 8"/>
          <p:cNvSpPr txBox="1"/>
          <p:nvPr/>
        </p:nvSpPr>
        <p:spPr>
          <a:xfrm>
            <a:off x="822960" y="4928616"/>
            <a:ext cx="2743200" cy="411480"/>
          </a:xfrm>
          <a:prstGeom prst="rect">
            <a:avLst/>
          </a:prstGeom>
          <a:noFill/>
          <a:ln/>
        </p:spPr>
        <p:txBody>
          <a:bodyPr wrap="square" lIns="0" tIns="0" rIns="0" bIns="0" rtlCol="0" anchor="t"/>
          <a:lstStyle/>
          <a:p>
            <a:pPr algn="l" indent="0" marL="0">
              <a:buNone/>
            </a:pPr>
            <a:r>
              <a:rPr lang="en-US" sz="1200" dirty="0">
                <a:solidFill>
                  <a:schemeClr val="bg1"/>
                </a:solidFill>
              </a:rPr>
              <a:t>Display only; never edited here</a:t>
            </a:r>
            <a:endParaRPr lang="en-US" sz="1200" dirty="0"/>
          </a:p>
        </p:txBody>
      </p:sp>
      <p:sp>
        <p:nvSpPr>
          <p:cNvPr id="12" name="Shape 9"/>
          <p:cNvSpPr/>
          <p:nvPr/>
        </p:nvSpPr>
        <p:spPr>
          <a:xfrm>
            <a:off x="4114800" y="1783080"/>
            <a:ext cx="7525512" cy="658368"/>
          </a:xfrm>
          <a:prstGeom prst="roundRect">
            <a:avLst>
              <a:gd name="adj" fmla="val 11111"/>
            </a:avLst>
          </a:prstGeom>
          <a:solidFill>
            <a:schemeClr val="bg2"/>
          </a:solidFill>
          <a:ln/>
        </p:spPr>
      </p:sp>
      <p:sp>
        <p:nvSpPr>
          <p:cNvPr id="13" name="Text 10"/>
          <p:cNvSpPr txBox="1"/>
          <p:nvPr/>
        </p:nvSpPr>
        <p:spPr>
          <a:xfrm>
            <a:off x="4343400" y="1783080"/>
            <a:ext cx="2697480" cy="658368"/>
          </a:xfrm>
          <a:prstGeom prst="rect">
            <a:avLst/>
          </a:prstGeom>
          <a:noFill/>
          <a:ln/>
        </p:spPr>
        <p:txBody>
          <a:bodyPr wrap="square" lIns="0" tIns="0" rIns="0" bIns="0" rtlCol="0" anchor="ctr"/>
          <a:lstStyle/>
          <a:p>
            <a:pPr algn="l" indent="0" marL="0">
              <a:buNone/>
            </a:pPr>
            <a:r>
              <a:rPr lang="en-US" sz="1200" b="1" dirty="0">
                <a:solidFill>
                  <a:schemeClr val="tx1"/>
                </a:solidFill>
              </a:rPr>
              <a:t>Client &amp; Customer</a:t>
            </a:r>
            <a:endParaRPr lang="en-US" sz="1200" dirty="0"/>
          </a:p>
        </p:txBody>
      </p:sp>
      <p:sp>
        <p:nvSpPr>
          <p:cNvPr id="14" name="Text 11"/>
          <p:cNvSpPr txBox="1"/>
          <p:nvPr/>
        </p:nvSpPr>
        <p:spPr>
          <a:xfrm>
            <a:off x="7132320" y="1783080"/>
            <a:ext cx="1234440" cy="658368"/>
          </a:xfrm>
          <a:prstGeom prst="rect">
            <a:avLst/>
          </a:prstGeom>
          <a:noFill/>
          <a:ln/>
        </p:spPr>
        <p:txBody>
          <a:bodyPr wrap="square" lIns="0" tIns="0" rIns="0" bIns="0" rtlCol="0" anchor="ctr"/>
          <a:lstStyle/>
          <a:p>
            <a:pPr algn="l" indent="0" marL="0">
              <a:buNone/>
            </a:pPr>
            <a:r>
              <a:rPr lang="en-US" sz="1200" b="1" dirty="0">
                <a:solidFill>
                  <a:schemeClr val="accent1"/>
                </a:solidFill>
              </a:rPr>
              <a:t>11 references, 3 copies</a:t>
            </a:r>
            <a:endParaRPr lang="en-US" sz="1200" dirty="0"/>
          </a:p>
        </p:txBody>
      </p:sp>
      <p:sp>
        <p:nvSpPr>
          <p:cNvPr id="15" name="Text 12"/>
          <p:cNvSpPr txBox="1"/>
          <p:nvPr/>
        </p:nvSpPr>
        <p:spPr>
          <a:xfrm>
            <a:off x="8458200" y="1783080"/>
            <a:ext cx="3063240" cy="658368"/>
          </a:xfrm>
          <a:prstGeom prst="rect">
            <a:avLst/>
          </a:prstGeom>
          <a:noFill/>
          <a:ln/>
        </p:spPr>
        <p:txBody>
          <a:bodyPr wrap="square" lIns="0" tIns="0" rIns="0" bIns="0" rtlCol="0" anchor="ctr"/>
          <a:lstStyle/>
          <a:p>
            <a:pPr algn="l" indent="0" marL="0">
              <a:buNone/>
            </a:pPr>
            <a:r>
              <a:rPr lang="en-US" sz="1100" dirty="0">
                <a:solidFill>
                  <a:schemeClr val="tx1"/>
                </a:solidFill>
              </a:rPr>
              <a:t>Competitor, distributor, plan, asset owner, consultant and rated manager parties; competitor name and country</a:t>
            </a:r>
            <a:endParaRPr lang="en-US" sz="1100" dirty="0"/>
          </a:p>
        </p:txBody>
      </p:sp>
      <p:sp>
        <p:nvSpPr>
          <p:cNvPr id="16" name="Shape 13"/>
          <p:cNvSpPr/>
          <p:nvPr/>
        </p:nvSpPr>
        <p:spPr>
          <a:xfrm>
            <a:off x="4114800" y="2551176"/>
            <a:ext cx="7525512" cy="658368"/>
          </a:xfrm>
          <a:prstGeom prst="roundRect">
            <a:avLst>
              <a:gd name="adj" fmla="val 11111"/>
            </a:avLst>
          </a:prstGeom>
          <a:solidFill>
            <a:schemeClr val="bg2"/>
          </a:solidFill>
          <a:ln/>
        </p:spPr>
      </p:sp>
      <p:sp>
        <p:nvSpPr>
          <p:cNvPr id="17" name="Text 14"/>
          <p:cNvSpPr txBox="1"/>
          <p:nvPr/>
        </p:nvSpPr>
        <p:spPr>
          <a:xfrm>
            <a:off x="4343400" y="2551176"/>
            <a:ext cx="2697480" cy="658368"/>
          </a:xfrm>
          <a:prstGeom prst="rect">
            <a:avLst/>
          </a:prstGeom>
          <a:noFill/>
          <a:ln/>
        </p:spPr>
        <p:txBody>
          <a:bodyPr wrap="square" lIns="0" tIns="0" rIns="0" bIns="0" rtlCol="0" anchor="ctr"/>
          <a:lstStyle/>
          <a:p>
            <a:pPr algn="l" indent="0" marL="0">
              <a:buNone/>
            </a:pPr>
            <a:r>
              <a:rPr lang="en-US" sz="1200" b="1" dirty="0">
                <a:solidFill>
                  <a:schemeClr val="tx1"/>
                </a:solidFill>
              </a:rPr>
              <a:t>Investment Product</a:t>
            </a:r>
            <a:endParaRPr lang="en-US" sz="1200" dirty="0"/>
          </a:p>
        </p:txBody>
      </p:sp>
      <p:sp>
        <p:nvSpPr>
          <p:cNvPr id="18" name="Text 15"/>
          <p:cNvSpPr txBox="1"/>
          <p:nvPr/>
        </p:nvSpPr>
        <p:spPr>
          <a:xfrm>
            <a:off x="7132320" y="2551176"/>
            <a:ext cx="1234440" cy="658368"/>
          </a:xfrm>
          <a:prstGeom prst="rect">
            <a:avLst/>
          </a:prstGeom>
          <a:noFill/>
          <a:ln/>
        </p:spPr>
        <p:txBody>
          <a:bodyPr wrap="square" lIns="0" tIns="0" rIns="0" bIns="0" rtlCol="0" anchor="ctr"/>
          <a:lstStyle/>
          <a:p>
            <a:pPr algn="l" indent="0" marL="0">
              <a:buNone/>
            </a:pPr>
            <a:r>
              <a:rPr lang="en-US" sz="1200" b="1" dirty="0">
                <a:solidFill>
                  <a:schemeClr val="accent1"/>
                </a:solidFill>
              </a:rPr>
              <a:t>7 references, 1 copy</a:t>
            </a:r>
            <a:endParaRPr lang="en-US" sz="1200" dirty="0"/>
          </a:p>
        </p:txBody>
      </p:sp>
      <p:sp>
        <p:nvSpPr>
          <p:cNvPr id="19" name="Text 16"/>
          <p:cNvSpPr txBox="1"/>
          <p:nvPr/>
        </p:nvSpPr>
        <p:spPr>
          <a:xfrm>
            <a:off x="8458200" y="2551176"/>
            <a:ext cx="3063240" cy="658368"/>
          </a:xfrm>
          <a:prstGeom prst="rect">
            <a:avLst/>
          </a:prstGeom>
          <a:noFill/>
          <a:ln/>
        </p:spPr>
        <p:txBody>
          <a:bodyPr wrap="square" lIns="0" tIns="0" rIns="0" bIns="0" rtlCol="0" anchor="ctr"/>
          <a:lstStyle/>
          <a:p>
            <a:pPr algn="l" indent="0" marL="0">
              <a:buNone/>
            </a:pPr>
            <a:r>
              <a:rPr lang="en-US" sz="1100" dirty="0">
                <a:solidFill>
                  <a:schemeClr val="tx1"/>
                </a:solidFill>
              </a:rPr>
              <a:t>Own share classes and strategies that are mapped, rated, benchmarked or compared; own fee rate</a:t>
            </a:r>
            <a:endParaRPr lang="en-US" sz="1100" dirty="0"/>
          </a:p>
        </p:txBody>
      </p:sp>
      <p:sp>
        <p:nvSpPr>
          <p:cNvPr id="20" name="Shape 17"/>
          <p:cNvSpPr/>
          <p:nvPr/>
        </p:nvSpPr>
        <p:spPr>
          <a:xfrm>
            <a:off x="4114800" y="3319272"/>
            <a:ext cx="7525512" cy="658368"/>
          </a:xfrm>
          <a:prstGeom prst="roundRect">
            <a:avLst>
              <a:gd name="adj" fmla="val 11111"/>
            </a:avLst>
          </a:prstGeom>
          <a:solidFill>
            <a:schemeClr val="bg2"/>
          </a:solidFill>
          <a:ln/>
        </p:spPr>
      </p:sp>
      <p:sp>
        <p:nvSpPr>
          <p:cNvPr id="21" name="Text 18"/>
          <p:cNvSpPr txBox="1"/>
          <p:nvPr/>
        </p:nvSpPr>
        <p:spPr>
          <a:xfrm>
            <a:off x="4343400" y="3319272"/>
            <a:ext cx="2697480" cy="658368"/>
          </a:xfrm>
          <a:prstGeom prst="rect">
            <a:avLst/>
          </a:prstGeom>
          <a:noFill/>
          <a:ln/>
        </p:spPr>
        <p:txBody>
          <a:bodyPr wrap="square" lIns="0" tIns="0" rIns="0" bIns="0" rtlCol="0" anchor="ctr"/>
          <a:lstStyle/>
          <a:p>
            <a:pPr algn="l" indent="0" marL="0">
              <a:buNone/>
            </a:pPr>
            <a:r>
              <a:rPr lang="en-US" sz="1200" b="1" dirty="0">
                <a:solidFill>
                  <a:schemeClr val="tx1"/>
                </a:solidFill>
              </a:rPr>
              <a:t>Third-Party Data &amp; Licensing</a:t>
            </a:r>
            <a:endParaRPr lang="en-US" sz="1200" dirty="0"/>
          </a:p>
        </p:txBody>
      </p:sp>
      <p:sp>
        <p:nvSpPr>
          <p:cNvPr id="22" name="Text 19"/>
          <p:cNvSpPr txBox="1"/>
          <p:nvPr/>
        </p:nvSpPr>
        <p:spPr>
          <a:xfrm>
            <a:off x="7132320" y="3319272"/>
            <a:ext cx="1234440" cy="658368"/>
          </a:xfrm>
          <a:prstGeom prst="rect">
            <a:avLst/>
          </a:prstGeom>
          <a:noFill/>
          <a:ln/>
        </p:spPr>
        <p:txBody>
          <a:bodyPr wrap="square" lIns="0" tIns="0" rIns="0" bIns="0" rtlCol="0" anchor="ctr"/>
          <a:lstStyle/>
          <a:p>
            <a:pPr algn="l" indent="0" marL="0">
              <a:buNone/>
            </a:pPr>
            <a:r>
              <a:rPr lang="en-US" sz="1200" b="1" dirty="0">
                <a:solidFill>
                  <a:schemeClr val="accent1"/>
                </a:solidFill>
              </a:rPr>
              <a:t>4 references, 3 copies</a:t>
            </a:r>
            <a:endParaRPr lang="en-US" sz="1200" dirty="0"/>
          </a:p>
        </p:txBody>
      </p:sp>
      <p:sp>
        <p:nvSpPr>
          <p:cNvPr id="23" name="Text 20"/>
          <p:cNvSpPr txBox="1"/>
          <p:nvPr/>
        </p:nvSpPr>
        <p:spPr>
          <a:xfrm>
            <a:off x="8458200" y="3319272"/>
            <a:ext cx="3063240" cy="658368"/>
          </a:xfrm>
          <a:prstGeom prst="rect">
            <a:avLst/>
          </a:prstGeom>
          <a:noFill/>
          <a:ln/>
        </p:spPr>
        <p:txBody>
          <a:bodyPr wrap="square" lIns="0" tIns="0" rIns="0" bIns="0" rtlCol="0" anchor="ctr"/>
          <a:lstStyle/>
          <a:p>
            <a:pPr algn="l" indent="0" marL="0">
              <a:buNone/>
            </a:pPr>
            <a:r>
              <a:rPr lang="en-US" sz="1100" dirty="0">
                <a:solidFill>
                  <a:schemeClr val="tx1"/>
                </a:solidFill>
              </a:rPr>
              <a:t>The licensed dataset behind each profile, share definition and sizing record; provider and frequency</a:t>
            </a:r>
            <a:endParaRPr lang="en-US" sz="1100" dirty="0"/>
          </a:p>
        </p:txBody>
      </p:sp>
      <p:sp>
        <p:nvSpPr>
          <p:cNvPr id="24" name="Shape 21"/>
          <p:cNvSpPr/>
          <p:nvPr/>
        </p:nvSpPr>
        <p:spPr>
          <a:xfrm>
            <a:off x="4114800" y="4087368"/>
            <a:ext cx="7525512" cy="658368"/>
          </a:xfrm>
          <a:prstGeom prst="roundRect">
            <a:avLst>
              <a:gd name="adj" fmla="val 11111"/>
            </a:avLst>
          </a:prstGeom>
          <a:solidFill>
            <a:schemeClr val="bg2"/>
          </a:solidFill>
          <a:ln/>
        </p:spPr>
      </p:sp>
      <p:sp>
        <p:nvSpPr>
          <p:cNvPr id="25" name="Text 22"/>
          <p:cNvSpPr txBox="1"/>
          <p:nvPr/>
        </p:nvSpPr>
        <p:spPr>
          <a:xfrm>
            <a:off x="4343400" y="4087368"/>
            <a:ext cx="2697480" cy="658368"/>
          </a:xfrm>
          <a:prstGeom prst="rect">
            <a:avLst/>
          </a:prstGeom>
          <a:noFill/>
          <a:ln/>
        </p:spPr>
        <p:txBody>
          <a:bodyPr wrap="square" lIns="0" tIns="0" rIns="0" bIns="0" rtlCol="0" anchor="ctr"/>
          <a:lstStyle/>
          <a:p>
            <a:pPr algn="l" indent="0" marL="0">
              <a:buNone/>
            </a:pPr>
            <a:r>
              <a:rPr lang="en-US" sz="1200" b="1" dirty="0">
                <a:solidFill>
                  <a:schemeClr val="tx1"/>
                </a:solidFill>
              </a:rPr>
              <a:t>Sales Transactions &amp; AUM Attribution</a:t>
            </a:r>
            <a:endParaRPr lang="en-US" sz="1200" dirty="0"/>
          </a:p>
        </p:txBody>
      </p:sp>
      <p:sp>
        <p:nvSpPr>
          <p:cNvPr id="26" name="Text 23"/>
          <p:cNvSpPr txBox="1"/>
          <p:nvPr/>
        </p:nvSpPr>
        <p:spPr>
          <a:xfrm>
            <a:off x="7132320" y="4087368"/>
            <a:ext cx="1234440" cy="658368"/>
          </a:xfrm>
          <a:prstGeom prst="rect">
            <a:avLst/>
          </a:prstGeom>
          <a:noFill/>
          <a:ln/>
        </p:spPr>
        <p:txBody>
          <a:bodyPr wrap="square" lIns="0" tIns="0" rIns="0" bIns="0" rtlCol="0" anchor="ctr"/>
          <a:lstStyle/>
          <a:p>
            <a:pPr algn="l" indent="0" marL="0">
              <a:buNone/>
            </a:pPr>
            <a:r>
              <a:rPr lang="en-US" sz="1200" b="1" dirty="0">
                <a:solidFill>
                  <a:schemeClr val="accent1"/>
                </a:solidFill>
              </a:rPr>
              <a:t>1 reference, 1 copy</a:t>
            </a:r>
            <a:endParaRPr lang="en-US" sz="1200" dirty="0"/>
          </a:p>
        </p:txBody>
      </p:sp>
      <p:sp>
        <p:nvSpPr>
          <p:cNvPr id="27" name="Text 24"/>
          <p:cNvSpPr txBox="1"/>
          <p:nvPr/>
        </p:nvSpPr>
        <p:spPr>
          <a:xfrm>
            <a:off x="8458200" y="4087368"/>
            <a:ext cx="3063240" cy="658368"/>
          </a:xfrm>
          <a:prstGeom prst="rect">
            <a:avLst/>
          </a:prstGeom>
          <a:noFill/>
          <a:ln/>
        </p:spPr>
        <p:txBody>
          <a:bodyPr wrap="square" lIns="0" tIns="0" rIns="0" bIns="0" rtlCol="0" anchor="ctr"/>
          <a:lstStyle/>
          <a:p>
            <a:pPr algn="l" indent="0" marL="0">
              <a:buNone/>
            </a:pPr>
            <a:r>
              <a:rPr lang="en-US" sz="1100" dirty="0">
                <a:solidFill>
                  <a:schemeClr val="tx1"/>
                </a:solidFill>
              </a:rPr>
              <a:t>The load that brought in each release; the firm's own assets with a party</a:t>
            </a:r>
            <a:endParaRPr lang="en-US" sz="1100" dirty="0"/>
          </a:p>
        </p:txBody>
      </p:sp>
      <p:sp>
        <p:nvSpPr>
          <p:cNvPr id="28" name="Shape 25"/>
          <p:cNvSpPr/>
          <p:nvPr/>
        </p:nvSpPr>
        <p:spPr>
          <a:xfrm>
            <a:off x="4114800" y="4855464"/>
            <a:ext cx="7525512" cy="658368"/>
          </a:xfrm>
          <a:prstGeom prst="roundRect">
            <a:avLst>
              <a:gd name="adj" fmla="val 11111"/>
            </a:avLst>
          </a:prstGeom>
          <a:solidFill>
            <a:schemeClr val="bg2"/>
          </a:solidFill>
          <a:ln/>
        </p:spPr>
      </p:sp>
      <p:sp>
        <p:nvSpPr>
          <p:cNvPr id="29" name="Text 26"/>
          <p:cNvSpPr txBox="1"/>
          <p:nvPr/>
        </p:nvSpPr>
        <p:spPr>
          <a:xfrm>
            <a:off x="4343400" y="4855464"/>
            <a:ext cx="2697480" cy="658368"/>
          </a:xfrm>
          <a:prstGeom prst="rect">
            <a:avLst/>
          </a:prstGeom>
          <a:noFill/>
          <a:ln/>
        </p:spPr>
        <p:txBody>
          <a:bodyPr wrap="square" lIns="0" tIns="0" rIns="0" bIns="0" rtlCol="0" anchor="ctr"/>
          <a:lstStyle/>
          <a:p>
            <a:pPr algn="l" indent="0" marL="0">
              <a:buNone/>
            </a:pPr>
            <a:r>
              <a:rPr lang="en-US" sz="1200" b="1" dirty="0">
                <a:solidFill>
                  <a:schemeClr val="tx1"/>
                </a:solidFill>
              </a:rPr>
              <a:t>Other domains</a:t>
            </a:r>
            <a:endParaRPr lang="en-US" sz="1200" dirty="0"/>
          </a:p>
        </p:txBody>
      </p:sp>
      <p:sp>
        <p:nvSpPr>
          <p:cNvPr id="30" name="Text 27"/>
          <p:cNvSpPr txBox="1"/>
          <p:nvPr/>
        </p:nvSpPr>
        <p:spPr>
          <a:xfrm>
            <a:off x="7132320" y="4855464"/>
            <a:ext cx="1234440" cy="658368"/>
          </a:xfrm>
          <a:prstGeom prst="rect">
            <a:avLst/>
          </a:prstGeom>
          <a:noFill/>
          <a:ln/>
        </p:spPr>
        <p:txBody>
          <a:bodyPr wrap="square" lIns="0" tIns="0" rIns="0" bIns="0" rtlCol="0" anchor="ctr"/>
          <a:lstStyle/>
          <a:p>
            <a:pPr algn="l" indent="0" marL="0">
              <a:buNone/>
            </a:pPr>
            <a:r>
              <a:rPr lang="en-US" sz="1200" b="1" dirty="0">
                <a:solidFill>
                  <a:schemeClr val="accent1"/>
                </a:solidFill>
              </a:rPr>
              <a:t>3 references</a:t>
            </a:r>
            <a:endParaRPr lang="en-US" sz="1200" dirty="0"/>
          </a:p>
        </p:txBody>
      </p:sp>
      <p:sp>
        <p:nvSpPr>
          <p:cNvPr id="31" name="Text 28"/>
          <p:cNvSpPr txBox="1"/>
          <p:nvPr/>
        </p:nvSpPr>
        <p:spPr>
          <a:xfrm>
            <a:off x="8458200" y="4855464"/>
            <a:ext cx="3063240" cy="658368"/>
          </a:xfrm>
          <a:prstGeom prst="rect">
            <a:avLst/>
          </a:prstGeom>
          <a:noFill/>
          <a:ln/>
        </p:spPr>
        <p:txBody>
          <a:bodyPr wrap="square" lIns="0" tIns="0" rIns="0" bIns="0" rtlCol="0" anchor="ctr"/>
          <a:lstStyle/>
          <a:p>
            <a:pPr algn="l" indent="0" marL="0">
              <a:buNone/>
            </a:pPr>
            <a:r>
              <a:rPr lang="en-US" sz="1100" dirty="0">
                <a:solidFill>
                  <a:schemeClr val="tx1"/>
                </a:solidFill>
              </a:rPr>
              <a:t>Compliance review of an award citation, geographic unit of a sizing record, own opportunity in a search</a:t>
            </a:r>
            <a:endParaRPr lang="en-US" sz="1100" dirty="0"/>
          </a:p>
        </p:txBody>
      </p:sp>
      <p:sp>
        <p:nvSpPr>
          <p:cNvPr id="32" name="Shape 29"/>
          <p:cNvSpPr/>
          <p:nvPr/>
        </p:nvSpPr>
        <p:spPr>
          <a:xfrm>
            <a:off x="548640" y="5687568"/>
            <a:ext cx="11091672" cy="530352"/>
          </a:xfrm>
          <a:prstGeom prst="roundRect">
            <a:avLst>
              <a:gd name="adj" fmla="val 13793"/>
            </a:avLst>
          </a:prstGeom>
          <a:solidFill>
            <a:schemeClr val="bg2"/>
          </a:solidFill>
          <a:ln/>
        </p:spPr>
      </p:sp>
      <p:sp>
        <p:nvSpPr>
          <p:cNvPr id="33" name="Text 30"/>
          <p:cNvSpPr txBox="1"/>
          <p:nvPr/>
        </p:nvSpPr>
        <p:spPr>
          <a:xfrm>
            <a:off x="777240" y="5687568"/>
            <a:ext cx="10634472" cy="530352"/>
          </a:xfrm>
          <a:prstGeom prst="rect">
            <a:avLst/>
          </a:prstGeom>
          <a:noFill/>
          <a:ln/>
        </p:spPr>
        <p:txBody>
          <a:bodyPr wrap="square" lIns="0" tIns="0" rIns="0" bIns="0" rtlCol="0" anchor="ctr"/>
          <a:lstStyle/>
          <a:p>
            <a:pPr algn="l" indent="0" marL="0">
              <a:buNone/>
            </a:pPr>
            <a:r>
              <a:rPr lang="en-US" sz="1200" dirty="0">
                <a:solidFill>
                  <a:schemeClr val="tx1"/>
                </a:solidFill>
              </a:rPr>
              <a:t>In the other direction, only 1 attribute in 1 other domain, Sales, references a record mastered here. Also excluded from every view: Record Metadata, which the program documents separately.</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NOT YET COVERED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Not yet covered: 15 open gaps</a:t>
            </a:r>
            <a:endParaRPr lang="en-US" sz="3600" dirty="0"/>
          </a:p>
        </p:txBody>
      </p:sp>
      <p:sp>
        <p:nvSpPr>
          <p:cNvPr id="5" name="Shape 2"/>
          <p:cNvSpPr/>
          <p:nvPr/>
        </p:nvSpPr>
        <p:spPr>
          <a:xfrm>
            <a:off x="548640" y="1783080"/>
            <a:ext cx="3017520" cy="4187952"/>
          </a:xfrm>
          <a:prstGeom prst="roundRect">
            <a:avLst>
              <a:gd name="adj" fmla="val 2424"/>
            </a:avLst>
          </a:prstGeom>
          <a:solidFill>
            <a:schemeClr val="bg2"/>
          </a:solidFill>
          <a:ln/>
        </p:spPr>
      </p:sp>
      <p:sp>
        <p:nvSpPr>
          <p:cNvPr id="6" name="Text 3"/>
          <p:cNvSpPr txBox="1"/>
          <p:nvPr/>
        </p:nvSpPr>
        <p:spPr>
          <a:xfrm>
            <a:off x="822960" y="2011680"/>
            <a:ext cx="2468880" cy="777240"/>
          </a:xfrm>
          <a:prstGeom prst="rect">
            <a:avLst/>
          </a:prstGeom>
          <a:noFill/>
          <a:ln/>
        </p:spPr>
        <p:txBody>
          <a:bodyPr wrap="square" lIns="0" tIns="0" rIns="0" bIns="0" rtlCol="0" anchor="ctr"/>
          <a:lstStyle/>
          <a:p>
            <a:pPr algn="l" indent="0" marL="0">
              <a:buNone/>
            </a:pPr>
            <a:r>
              <a:rPr lang="en-US" sz="5400" b="1" dirty="0">
                <a:solidFill>
                  <a:schemeClr val="accent1"/>
                </a:solidFill>
              </a:rPr>
              <a:t>19</a:t>
            </a:r>
            <a:endParaRPr lang="en-US" sz="5400" dirty="0"/>
          </a:p>
        </p:txBody>
      </p:sp>
      <p:sp>
        <p:nvSpPr>
          <p:cNvPr id="7" name="Text 4"/>
          <p:cNvSpPr txBox="1"/>
          <p:nvPr/>
        </p:nvSpPr>
        <p:spPr>
          <a:xfrm>
            <a:off x="822960" y="2834640"/>
            <a:ext cx="2468880" cy="822960"/>
          </a:xfrm>
          <a:prstGeom prst="rect">
            <a:avLst/>
          </a:prstGeom>
          <a:noFill/>
          <a:ln/>
        </p:spPr>
        <p:txBody>
          <a:bodyPr wrap="square" lIns="0" tIns="0" rIns="0" bIns="0" rtlCol="0" anchor="t"/>
          <a:lstStyle/>
          <a:p>
            <a:pPr algn="l" indent="0" marL="0">
              <a:buNone/>
            </a:pPr>
            <a:r>
              <a:rPr lang="en-US" sz="1300" dirty="0">
                <a:solidFill>
                  <a:schemeClr val="tx1"/>
                </a:solidFill>
              </a:rPr>
              <a:t>gaps raised against this domain while specifying and modeling data products</a:t>
            </a:r>
            <a:endParaRPr lang="en-US" sz="1300" dirty="0"/>
          </a:p>
        </p:txBody>
      </p:sp>
      <p:sp>
        <p:nvSpPr>
          <p:cNvPr id="8" name="Text 5"/>
          <p:cNvSpPr txBox="1"/>
          <p:nvPr/>
        </p:nvSpPr>
        <p:spPr>
          <a:xfrm>
            <a:off x="822960" y="3886200"/>
            <a:ext cx="2468880" cy="320040"/>
          </a:xfrm>
          <a:prstGeom prst="rect">
            <a:avLst/>
          </a:prstGeom>
          <a:noFill/>
          <a:ln/>
        </p:spPr>
        <p:txBody>
          <a:bodyPr wrap="square" lIns="0" tIns="0" rIns="0" bIns="0" rtlCol="0" anchor="ctr"/>
          <a:lstStyle/>
          <a:p>
            <a:pPr algn="l" indent="0" marL="0">
              <a:buNone/>
            </a:pPr>
            <a:r>
              <a:rPr lang="en-US" sz="1600" b="1" dirty="0">
                <a:solidFill>
                  <a:schemeClr val="accent5"/>
                </a:solidFill>
              </a:rPr>
              <a:t>4 resolved</a:t>
            </a:r>
            <a:endParaRPr lang="en-US" sz="1600" dirty="0"/>
          </a:p>
        </p:txBody>
      </p:sp>
      <p:sp>
        <p:nvSpPr>
          <p:cNvPr id="9" name="Text 6"/>
          <p:cNvSpPr txBox="1"/>
          <p:nvPr/>
        </p:nvSpPr>
        <p:spPr>
          <a:xfrm>
            <a:off x="822960" y="4389120"/>
            <a:ext cx="2468880" cy="320040"/>
          </a:xfrm>
          <a:prstGeom prst="rect">
            <a:avLst/>
          </a:prstGeom>
          <a:noFill/>
          <a:ln/>
        </p:spPr>
        <p:txBody>
          <a:bodyPr wrap="square" lIns="0" tIns="0" rIns="0" bIns="0" rtlCol="0" anchor="ctr"/>
          <a:lstStyle/>
          <a:p>
            <a:pPr algn="l" indent="0" marL="0">
              <a:buNone/>
            </a:pPr>
            <a:r>
              <a:rPr lang="en-US" sz="1600" b="1" dirty="0">
                <a:solidFill>
                  <a:schemeClr val="accent4"/>
                </a:solidFill>
              </a:rPr>
              <a:t>15 open</a:t>
            </a:r>
            <a:endParaRPr lang="en-US" sz="1600" dirty="0"/>
          </a:p>
        </p:txBody>
      </p:sp>
      <p:sp>
        <p:nvSpPr>
          <p:cNvPr id="10" name="Text 7"/>
          <p:cNvSpPr txBox="1"/>
          <p:nvPr/>
        </p:nvSpPr>
        <p:spPr>
          <a:xfrm>
            <a:off x="822960" y="4709160"/>
            <a:ext cx="2468880" cy="274320"/>
          </a:xfrm>
          <a:prstGeom prst="rect">
            <a:avLst/>
          </a:prstGeom>
          <a:noFill/>
          <a:ln/>
        </p:spPr>
        <p:txBody>
          <a:bodyPr wrap="square" lIns="0" tIns="0" rIns="0" bIns="0" rtlCol="0" anchor="ctr"/>
          <a:lstStyle/>
          <a:p>
            <a:pPr algn="l" indent="0" marL="0">
              <a:buNone/>
            </a:pPr>
            <a:r>
              <a:rPr lang="en-US" sz="1200" dirty="0">
                <a:solidFill>
                  <a:schemeClr val="tx2"/>
                </a:solidFill>
              </a:rPr>
              <a:t>3 high, 1 medium, 11 low priority</a:t>
            </a:r>
            <a:endParaRPr lang="en-US" sz="1200" dirty="0"/>
          </a:p>
        </p:txBody>
      </p:sp>
      <p:sp>
        <p:nvSpPr>
          <p:cNvPr id="11" name="Shape 8"/>
          <p:cNvSpPr/>
          <p:nvPr/>
        </p:nvSpPr>
        <p:spPr>
          <a:xfrm>
            <a:off x="3840480" y="1783080"/>
            <a:ext cx="7799832" cy="530352"/>
          </a:xfrm>
          <a:prstGeom prst="roundRect">
            <a:avLst>
              <a:gd name="adj" fmla="val 13793"/>
            </a:avLst>
          </a:prstGeom>
          <a:solidFill>
            <a:schemeClr val="bg2"/>
          </a:solidFill>
          <a:ln/>
        </p:spPr>
      </p:sp>
      <p:sp>
        <p:nvSpPr>
          <p:cNvPr id="12" name="Text 9"/>
          <p:cNvSpPr/>
          <p:nvPr/>
        </p:nvSpPr>
        <p:spPr>
          <a:xfrm>
            <a:off x="3977640" y="1892808"/>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13" name="Text 10"/>
          <p:cNvSpPr txBox="1"/>
          <p:nvPr/>
        </p:nvSpPr>
        <p:spPr>
          <a:xfrm>
            <a:off x="4983480" y="1783080"/>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GAP-11-002</a:t>
            </a:r>
            <a:endParaRPr lang="en-US" sz="1200" dirty="0"/>
          </a:p>
        </p:txBody>
      </p:sp>
      <p:sp>
        <p:nvSpPr>
          <p:cNvPr id="14" name="Text 11"/>
          <p:cNvSpPr txBox="1"/>
          <p:nvPr/>
        </p:nvSpPr>
        <p:spPr>
          <a:xfrm>
            <a:off x="6126480" y="1783080"/>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Industry Data Release does not name the dataset it belongs to, so releases cannot be validated against it (DP-014, DP-031)</a:t>
            </a:r>
            <a:endParaRPr lang="en-US" sz="1200" dirty="0"/>
          </a:p>
        </p:txBody>
      </p:sp>
      <p:sp>
        <p:nvSpPr>
          <p:cNvPr id="15" name="Shape 12"/>
          <p:cNvSpPr/>
          <p:nvPr/>
        </p:nvSpPr>
        <p:spPr>
          <a:xfrm>
            <a:off x="3840480" y="2386584"/>
            <a:ext cx="7799832" cy="530352"/>
          </a:xfrm>
          <a:prstGeom prst="roundRect">
            <a:avLst>
              <a:gd name="adj" fmla="val 13793"/>
            </a:avLst>
          </a:prstGeom>
          <a:solidFill>
            <a:schemeClr val="bg2"/>
          </a:solidFill>
          <a:ln/>
        </p:spPr>
      </p:sp>
      <p:sp>
        <p:nvSpPr>
          <p:cNvPr id="16" name="Text 13"/>
          <p:cNvSpPr/>
          <p:nvPr/>
        </p:nvSpPr>
        <p:spPr>
          <a:xfrm>
            <a:off x="3977640" y="2496312"/>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17" name="Text 14"/>
          <p:cNvSpPr txBox="1"/>
          <p:nvPr/>
        </p:nvSpPr>
        <p:spPr>
          <a:xfrm>
            <a:off x="4983480" y="2386584"/>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GAP-11-004</a:t>
            </a:r>
            <a:endParaRPr lang="en-US" sz="1200" dirty="0"/>
          </a:p>
        </p:txBody>
      </p:sp>
      <p:sp>
        <p:nvSpPr>
          <p:cNvPr id="18" name="Text 15"/>
          <p:cNvSpPr txBox="1"/>
          <p:nvPr/>
        </p:nvSpPr>
        <p:spPr>
          <a:xfrm>
            <a:off x="6126480" y="2386584"/>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Industry Flow Observation cannot flag the firm's own rows; a changed vendor identifier drops the firm from its share (DP-014)</a:t>
            </a:r>
            <a:endParaRPr lang="en-US" sz="1200" dirty="0"/>
          </a:p>
        </p:txBody>
      </p:sp>
      <p:sp>
        <p:nvSpPr>
          <p:cNvPr id="19" name="Shape 16"/>
          <p:cNvSpPr/>
          <p:nvPr/>
        </p:nvSpPr>
        <p:spPr>
          <a:xfrm>
            <a:off x="3840480" y="2990088"/>
            <a:ext cx="7799832" cy="530352"/>
          </a:xfrm>
          <a:prstGeom prst="roundRect">
            <a:avLst>
              <a:gd name="adj" fmla="val 13793"/>
            </a:avLst>
          </a:prstGeom>
          <a:solidFill>
            <a:schemeClr val="bg2"/>
          </a:solidFill>
          <a:ln/>
        </p:spPr>
      </p:sp>
      <p:sp>
        <p:nvSpPr>
          <p:cNvPr id="20" name="Text 17"/>
          <p:cNvSpPr/>
          <p:nvPr/>
        </p:nvSpPr>
        <p:spPr>
          <a:xfrm>
            <a:off x="3977640" y="3099816"/>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21" name="Text 18"/>
          <p:cNvSpPr txBox="1"/>
          <p:nvPr/>
        </p:nvSpPr>
        <p:spPr>
          <a:xfrm>
            <a:off x="4983480" y="2990088"/>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GAP-11-005</a:t>
            </a:r>
            <a:endParaRPr lang="en-US" sz="1200" dirty="0"/>
          </a:p>
        </p:txBody>
      </p:sp>
      <p:sp>
        <p:nvSpPr>
          <p:cNvPr id="22" name="Text 19"/>
          <p:cNvSpPr txBox="1"/>
          <p:nvPr/>
        </p:nvSpPr>
        <p:spPr>
          <a:xfrm>
            <a:off x="6126480" y="2990088"/>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Market Share Record does not name the industry release it used, so a vendor restatement cannot be traced (DP-014)</a:t>
            </a:r>
            <a:endParaRPr lang="en-US" sz="1200" dirty="0"/>
          </a:p>
        </p:txBody>
      </p:sp>
      <p:sp>
        <p:nvSpPr>
          <p:cNvPr id="23" name="Shape 20"/>
          <p:cNvSpPr/>
          <p:nvPr/>
        </p:nvSpPr>
        <p:spPr>
          <a:xfrm>
            <a:off x="3840480" y="3593592"/>
            <a:ext cx="7799832" cy="530352"/>
          </a:xfrm>
          <a:prstGeom prst="roundRect">
            <a:avLst>
              <a:gd name="adj" fmla="val 13793"/>
            </a:avLst>
          </a:prstGeom>
          <a:solidFill>
            <a:schemeClr val="bg2"/>
          </a:solidFill>
          <a:ln/>
        </p:spPr>
      </p:sp>
      <p:sp>
        <p:nvSpPr>
          <p:cNvPr id="24" name="Text 21"/>
          <p:cNvSpPr/>
          <p:nvPr/>
        </p:nvSpPr>
        <p:spPr>
          <a:xfrm>
            <a:off x="3977640" y="3703320"/>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25" name="Text 22"/>
          <p:cNvSpPr txBox="1"/>
          <p:nvPr/>
        </p:nvSpPr>
        <p:spPr>
          <a:xfrm>
            <a:off x="4983480" y="3593592"/>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GAP-11-006</a:t>
            </a:r>
            <a:endParaRPr lang="en-US" sz="1200" dirty="0"/>
          </a:p>
        </p:txBody>
      </p:sp>
      <p:sp>
        <p:nvSpPr>
          <p:cNvPr id="26" name="Text 23"/>
          <p:cNvSpPr txBox="1"/>
          <p:nvPr/>
        </p:nvSpPr>
        <p:spPr>
          <a:xfrm>
            <a:off x="6126480" y="3593592"/>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Competitor names on four objects do not link to Competitor Profile, so roll-ups rely on name matching (DP-030, DP-088)</a:t>
            </a:r>
            <a:endParaRPr lang="en-US" sz="1200" dirty="0"/>
          </a:p>
        </p:txBody>
      </p:sp>
      <p:sp>
        <p:nvSpPr>
          <p:cNvPr id="27" name="Shape 24"/>
          <p:cNvSpPr/>
          <p:nvPr/>
        </p:nvSpPr>
        <p:spPr>
          <a:xfrm>
            <a:off x="3840480" y="4197096"/>
            <a:ext cx="7799832" cy="530352"/>
          </a:xfrm>
          <a:prstGeom prst="roundRect">
            <a:avLst>
              <a:gd name="adj" fmla="val 13793"/>
            </a:avLst>
          </a:prstGeom>
          <a:solidFill>
            <a:schemeClr val="bg2"/>
          </a:solidFill>
          <a:ln/>
        </p:spPr>
      </p:sp>
      <p:sp>
        <p:nvSpPr>
          <p:cNvPr id="28" name="Text 25"/>
          <p:cNvSpPr/>
          <p:nvPr/>
        </p:nvSpPr>
        <p:spPr>
          <a:xfrm>
            <a:off x="3977640" y="4306824"/>
            <a:ext cx="868680" cy="310896"/>
          </a:xfrm>
          <a:prstGeom prst="roundRect">
            <a:avLst>
              <a:gd name="adj" fmla="val 17647"/>
            </a:avLst>
          </a:prstGeom>
          <a:solidFill>
            <a:schemeClr val="tx2"/>
          </a:solidFill>
          <a:ln/>
        </p:spPr>
        <p:txBody>
          <a:bodyPr wrap="square" lIns="0" tIns="0" rIns="0" bIns="0" rtlCol="0" anchor="ctr"/>
          <a:lstStyle/>
          <a:p>
            <a:pPr algn="ctr" indent="0" marL="0">
              <a:buNone/>
            </a:pPr>
            <a:r>
              <a:rPr lang="en-US" sz="1100" b="1" dirty="0">
                <a:solidFill>
                  <a:schemeClr val="bg1"/>
                </a:solidFill>
              </a:rPr>
              <a:t>Low</a:t>
            </a:r>
            <a:endParaRPr lang="en-US" sz="1100" dirty="0"/>
          </a:p>
        </p:txBody>
      </p:sp>
      <p:sp>
        <p:nvSpPr>
          <p:cNvPr id="29" name="Text 26"/>
          <p:cNvSpPr txBox="1"/>
          <p:nvPr/>
        </p:nvSpPr>
        <p:spPr>
          <a:xfrm>
            <a:off x="4983480" y="4197096"/>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GAP-11-011</a:t>
            </a:r>
            <a:endParaRPr lang="en-US" sz="1200" dirty="0"/>
          </a:p>
        </p:txBody>
      </p:sp>
      <p:sp>
        <p:nvSpPr>
          <p:cNvPr id="30" name="Text 27"/>
          <p:cNvSpPr txBox="1"/>
          <p:nvPr/>
        </p:nvSpPr>
        <p:spPr>
          <a:xfrm>
            <a:off x="6126480" y="4197096"/>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Opportunity Potential has no product category, estimation method or source for its estimates (DP-049)</a:t>
            </a:r>
            <a:endParaRPr lang="en-US" sz="1200" dirty="0"/>
          </a:p>
        </p:txBody>
      </p:sp>
      <p:sp>
        <p:nvSpPr>
          <p:cNvPr id="31" name="Shape 28"/>
          <p:cNvSpPr/>
          <p:nvPr/>
        </p:nvSpPr>
        <p:spPr>
          <a:xfrm>
            <a:off x="3840480" y="4800600"/>
            <a:ext cx="7799832" cy="530352"/>
          </a:xfrm>
          <a:prstGeom prst="roundRect">
            <a:avLst>
              <a:gd name="adj" fmla="val 13793"/>
            </a:avLst>
          </a:prstGeom>
          <a:solidFill>
            <a:schemeClr val="bg2"/>
          </a:solidFill>
          <a:ln/>
        </p:spPr>
      </p:sp>
      <p:sp>
        <p:nvSpPr>
          <p:cNvPr id="32" name="Text 29"/>
          <p:cNvSpPr/>
          <p:nvPr/>
        </p:nvSpPr>
        <p:spPr>
          <a:xfrm>
            <a:off x="3977640" y="4910328"/>
            <a:ext cx="868680" cy="310896"/>
          </a:xfrm>
          <a:prstGeom prst="roundRect">
            <a:avLst>
              <a:gd name="adj" fmla="val 17647"/>
            </a:avLst>
          </a:prstGeom>
          <a:solidFill>
            <a:schemeClr val="tx2"/>
          </a:solidFill>
          <a:ln/>
        </p:spPr>
        <p:txBody>
          <a:bodyPr wrap="square" lIns="0" tIns="0" rIns="0" bIns="0" rtlCol="0" anchor="ctr"/>
          <a:lstStyle/>
          <a:p>
            <a:pPr algn="ctr" indent="0" marL="0">
              <a:buNone/>
            </a:pPr>
            <a:r>
              <a:rPr lang="en-US" sz="1100" b="1" dirty="0">
                <a:solidFill>
                  <a:schemeClr val="bg1"/>
                </a:solidFill>
              </a:rPr>
              <a:t>Low</a:t>
            </a:r>
            <a:endParaRPr lang="en-US" sz="1100" dirty="0"/>
          </a:p>
        </p:txBody>
      </p:sp>
      <p:sp>
        <p:nvSpPr>
          <p:cNvPr id="33" name="Text 30"/>
          <p:cNvSpPr txBox="1"/>
          <p:nvPr/>
        </p:nvSpPr>
        <p:spPr>
          <a:xfrm>
            <a:off x="4983480" y="4800600"/>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GAP-11-012</a:t>
            </a:r>
            <a:endParaRPr lang="en-US" sz="1200" dirty="0"/>
          </a:p>
        </p:txBody>
      </p:sp>
      <p:sp>
        <p:nvSpPr>
          <p:cNvPr id="34" name="Text 31"/>
          <p:cNvSpPr txBox="1"/>
          <p:nvPr/>
        </p:nvSpPr>
        <p:spPr>
          <a:xfrm>
            <a:off x="6126480" y="4800600"/>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Advisor- and office-level competitor holdings have no home; observations stop at distributor firm (DP-049)</a:t>
            </a:r>
            <a:endParaRPr lang="en-US" sz="1200" dirty="0"/>
          </a:p>
        </p:txBody>
      </p:sp>
      <p:sp>
        <p:nvSpPr>
          <p:cNvPr id="35" name="Shape 32"/>
          <p:cNvSpPr/>
          <p:nvPr/>
        </p:nvSpPr>
        <p:spPr>
          <a:xfrm>
            <a:off x="3840480" y="5404104"/>
            <a:ext cx="7799832" cy="530352"/>
          </a:xfrm>
          <a:prstGeom prst="roundRect">
            <a:avLst>
              <a:gd name="adj" fmla="val 13793"/>
            </a:avLst>
          </a:prstGeom>
          <a:solidFill>
            <a:schemeClr val="bg2"/>
          </a:solidFill>
          <a:ln/>
        </p:spPr>
      </p:sp>
      <p:sp>
        <p:nvSpPr>
          <p:cNvPr id="36" name="Text 33"/>
          <p:cNvSpPr/>
          <p:nvPr/>
        </p:nvSpPr>
        <p:spPr>
          <a:xfrm>
            <a:off x="3977640" y="5513832"/>
            <a:ext cx="868680" cy="310896"/>
          </a:xfrm>
          <a:prstGeom prst="roundRect">
            <a:avLst>
              <a:gd name="adj" fmla="val 17647"/>
            </a:avLst>
          </a:prstGeom>
          <a:solidFill>
            <a:schemeClr val="tx2"/>
          </a:solidFill>
          <a:ln/>
        </p:spPr>
        <p:txBody>
          <a:bodyPr wrap="square" lIns="0" tIns="0" rIns="0" bIns="0" rtlCol="0" anchor="ctr"/>
          <a:lstStyle/>
          <a:p>
            <a:pPr algn="ctr" indent="0" marL="0">
              <a:buNone/>
            </a:pPr>
            <a:r>
              <a:rPr lang="en-US" sz="1100" b="1" dirty="0">
                <a:solidFill>
                  <a:schemeClr val="bg1"/>
                </a:solidFill>
              </a:rPr>
              <a:t>Low</a:t>
            </a:r>
            <a:endParaRPr lang="en-US" sz="1100" dirty="0"/>
          </a:p>
        </p:txBody>
      </p:sp>
      <p:sp>
        <p:nvSpPr>
          <p:cNvPr id="37" name="Text 34"/>
          <p:cNvSpPr txBox="1"/>
          <p:nvPr/>
        </p:nvSpPr>
        <p:spPr>
          <a:xfrm>
            <a:off x="4983480" y="5404104"/>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GAP-11-014</a:t>
            </a:r>
            <a:endParaRPr lang="en-US" sz="1200" dirty="0"/>
          </a:p>
        </p:txBody>
      </p:sp>
      <p:sp>
        <p:nvSpPr>
          <p:cNvPr id="38" name="Text 35"/>
          <p:cNvSpPr txBox="1"/>
          <p:nvPr/>
        </p:nvSpPr>
        <p:spPr>
          <a:xfrm>
            <a:off x="6126480" y="5404104"/>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Industry Ranking has no period or identifier, so rankings from different periods cannot be told apart (DP-031)</a:t>
            </a:r>
            <a:endParaRPr lang="en-US" sz="1200" dirty="0"/>
          </a:p>
        </p:txBody>
      </p:sp>
      <p:sp>
        <p:nvSpPr>
          <p:cNvPr id="39" name="Text 36"/>
          <p:cNvSpPr txBox="1"/>
          <p:nvPr/>
        </p:nvSpPr>
        <p:spPr>
          <a:xfrm>
            <a:off x="3840480" y="6062472"/>
            <a:ext cx="7799832" cy="274320"/>
          </a:xfrm>
          <a:prstGeom prst="rect">
            <a:avLst/>
          </a:prstGeom>
          <a:noFill/>
          <a:ln/>
        </p:spPr>
        <p:txBody>
          <a:bodyPr wrap="square" lIns="0" tIns="0" rIns="0" bIns="0" rtlCol="0" anchor="ctr"/>
          <a:lstStyle/>
          <a:p>
            <a:pPr algn="l" indent="0" marL="0">
              <a:buNone/>
            </a:pPr>
            <a:r>
              <a:rPr lang="en-US" sz="1200" dirty="0">
                <a:solidFill>
                  <a:schemeClr val="tx2"/>
                </a:solidFill>
              </a:rPr>
              <a:t>Each gap has a proposed resolution and a decision owner in Gap_Register.xlsx.</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HOW IT IS USED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taxonomy does four jobs</a:t>
            </a:r>
            <a:endParaRPr lang="en-US" sz="3600" dirty="0"/>
          </a:p>
        </p:txBody>
      </p:sp>
      <p:sp>
        <p:nvSpPr>
          <p:cNvPr id="5" name="Shape 2"/>
          <p:cNvSpPr/>
          <p:nvPr/>
        </p:nvSpPr>
        <p:spPr>
          <a:xfrm>
            <a:off x="548640" y="1783080"/>
            <a:ext cx="2560320" cy="2971800"/>
          </a:xfrm>
          <a:prstGeom prst="roundRect">
            <a:avLst>
              <a:gd name="adj" fmla="val 2857"/>
            </a:avLst>
          </a:prstGeom>
          <a:solidFill>
            <a:schemeClr val="bg2"/>
          </a:solidFill>
          <a:ln/>
        </p:spPr>
      </p:sp>
      <p:sp>
        <p:nvSpPr>
          <p:cNvPr id="6" name="Text 3"/>
          <p:cNvSpPr/>
          <p:nvPr/>
        </p:nvSpPr>
        <p:spPr>
          <a:xfrm>
            <a:off x="777240" y="201168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777240"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Mapping target</a:t>
            </a:r>
            <a:endParaRPr lang="en-US" sz="1600" dirty="0"/>
          </a:p>
        </p:txBody>
      </p:sp>
      <p:sp>
        <p:nvSpPr>
          <p:cNvPr id="8" name="Text 5"/>
          <p:cNvSpPr txBox="1"/>
          <p:nvPr/>
        </p:nvSpPr>
        <p:spPr>
          <a:xfrm>
            <a:off x="777240"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Vendor flow, peer and ratings files, industry statistics and public filings each map to one definition per field. Source mapping is Phase D and is not yet done.</a:t>
            </a:r>
            <a:endParaRPr lang="en-US" sz="1300" dirty="0"/>
          </a:p>
        </p:txBody>
      </p:sp>
      <p:sp>
        <p:nvSpPr>
          <p:cNvPr id="9" name="Shape 6"/>
          <p:cNvSpPr/>
          <p:nvPr/>
        </p:nvSpPr>
        <p:spPr>
          <a:xfrm>
            <a:off x="3392424" y="1783080"/>
            <a:ext cx="2560320" cy="2971800"/>
          </a:xfrm>
          <a:prstGeom prst="roundRect">
            <a:avLst>
              <a:gd name="adj" fmla="val 2857"/>
            </a:avLst>
          </a:prstGeom>
          <a:solidFill>
            <a:schemeClr val="bg2"/>
          </a:solidFill>
          <a:ln/>
        </p:spPr>
      </p:sp>
      <p:sp>
        <p:nvSpPr>
          <p:cNvPr id="10" name="Text 7"/>
          <p:cNvSpPr/>
          <p:nvPr/>
        </p:nvSpPr>
        <p:spPr>
          <a:xfrm>
            <a:off x="3621024" y="2011680"/>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8"/>
          <p:cNvSpPr txBox="1"/>
          <p:nvPr/>
        </p:nvSpPr>
        <p:spPr>
          <a:xfrm>
            <a:off x="3621024"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Bill of materials</a:t>
            </a:r>
            <a:endParaRPr lang="en-US" sz="1600" dirty="0"/>
          </a:p>
        </p:txBody>
      </p:sp>
      <p:sp>
        <p:nvSpPr>
          <p:cNvPr id="12" name="Text 9"/>
          <p:cNvSpPr txBox="1"/>
          <p:nvPr/>
        </p:nvSpPr>
        <p:spPr>
          <a:xfrm>
            <a:off x="3621024"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Each data product lists the exact objects and attributes it uses. The build fails if one does not exist in the taxonomy.</a:t>
            </a:r>
            <a:endParaRPr lang="en-US" sz="1300" dirty="0"/>
          </a:p>
        </p:txBody>
      </p:sp>
      <p:sp>
        <p:nvSpPr>
          <p:cNvPr id="13" name="Shape 10"/>
          <p:cNvSpPr/>
          <p:nvPr/>
        </p:nvSpPr>
        <p:spPr>
          <a:xfrm>
            <a:off x="6236208" y="1783080"/>
            <a:ext cx="2560320" cy="2971800"/>
          </a:xfrm>
          <a:prstGeom prst="roundRect">
            <a:avLst>
              <a:gd name="adj" fmla="val 2857"/>
            </a:avLst>
          </a:prstGeom>
          <a:solidFill>
            <a:schemeClr val="bg2"/>
          </a:solidFill>
          <a:ln/>
        </p:spPr>
      </p:sp>
      <p:sp>
        <p:nvSpPr>
          <p:cNvPr id="14" name="Text 11"/>
          <p:cNvSpPr/>
          <p:nvPr/>
        </p:nvSpPr>
        <p:spPr>
          <a:xfrm>
            <a:off x="6464808" y="2011680"/>
            <a:ext cx="411480" cy="411480"/>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 12"/>
          <p:cNvSpPr txBox="1"/>
          <p:nvPr/>
        </p:nvSpPr>
        <p:spPr>
          <a:xfrm>
            <a:off x="6464808"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Shared baseline</a:t>
            </a:r>
            <a:endParaRPr lang="en-US" sz="1600" dirty="0"/>
          </a:p>
        </p:txBody>
      </p:sp>
      <p:sp>
        <p:nvSpPr>
          <p:cNvPr id="16" name="Text 13"/>
          <p:cNvSpPr txBox="1"/>
          <p:nvPr/>
        </p:nvSpPr>
        <p:spPr>
          <a:xfrm>
            <a:off x="6464808"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DP-014 loads each vendor release once. Market share, sizing, wallet share and peer benchmarks all start from the same industry numbers.</a:t>
            </a:r>
            <a:endParaRPr lang="en-US" sz="1300" dirty="0"/>
          </a:p>
        </p:txBody>
      </p:sp>
      <p:sp>
        <p:nvSpPr>
          <p:cNvPr id="17" name="Shape 14"/>
          <p:cNvSpPr/>
          <p:nvPr/>
        </p:nvSpPr>
        <p:spPr>
          <a:xfrm>
            <a:off x="9079992" y="1783080"/>
            <a:ext cx="2560320" cy="2971800"/>
          </a:xfrm>
          <a:prstGeom prst="roundRect">
            <a:avLst>
              <a:gd name="adj" fmla="val 2857"/>
            </a:avLst>
          </a:prstGeom>
          <a:solidFill>
            <a:schemeClr val="bg2"/>
          </a:solidFill>
          <a:ln/>
        </p:spPr>
      </p:sp>
      <p:sp>
        <p:nvSpPr>
          <p:cNvPr id="18" name="Text 15"/>
          <p:cNvSpPr/>
          <p:nvPr/>
        </p:nvSpPr>
        <p:spPr>
          <a:xfrm>
            <a:off x="9308592" y="2011680"/>
            <a:ext cx="411480" cy="411480"/>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9" name="Text 16"/>
          <p:cNvSpPr txBox="1"/>
          <p:nvPr/>
        </p:nvSpPr>
        <p:spPr>
          <a:xfrm>
            <a:off x="9308592"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Governance focus</a:t>
            </a:r>
            <a:endParaRPr lang="en-US" sz="1600" dirty="0"/>
          </a:p>
        </p:txBody>
      </p:sp>
      <p:sp>
        <p:nvSpPr>
          <p:cNvPr id="20" name="Text 17"/>
          <p:cNvSpPr txBox="1"/>
          <p:nvPr/>
        </p:nvSpPr>
        <p:spPr>
          <a:xfrm>
            <a:off x="9308592"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A named owning domain for every attribute and 80 proposed critical data elements show stewards where to focus. Every value states its basis and as-of date.</a:t>
            </a:r>
            <a:endParaRPr lang="en-US" sz="1300" dirty="0"/>
          </a:p>
        </p:txBody>
      </p:sp>
      <p:sp>
        <p:nvSpPr>
          <p:cNvPr id="21" name="Text 18"/>
          <p:cNvSpPr txBox="1"/>
          <p:nvPr/>
        </p:nvSpPr>
        <p:spPr>
          <a:xfrm>
            <a:off x="548640" y="4937760"/>
            <a:ext cx="548640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WHERE THE DEFINITIONS TRAVEL</a:t>
            </a:r>
            <a:endParaRPr lang="en-US" sz="1200" dirty="0"/>
          </a:p>
        </p:txBody>
      </p:sp>
      <p:sp>
        <p:nvSpPr>
          <p:cNvPr id="22" name="Text 19"/>
          <p:cNvSpPr/>
          <p:nvPr/>
        </p:nvSpPr>
        <p:spPr>
          <a:xfrm>
            <a:off x="548640"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Vendor and industry sources</a:t>
            </a:r>
            <a:endParaRPr lang="en-US" sz="1200" dirty="0"/>
          </a:p>
        </p:txBody>
      </p:sp>
      <p:sp>
        <p:nvSpPr>
          <p:cNvPr id="23" name="Shape 20"/>
          <p:cNvSpPr/>
          <p:nvPr/>
        </p:nvSpPr>
        <p:spPr>
          <a:xfrm>
            <a:off x="2203704" y="5692140"/>
            <a:ext cx="202997" cy="0"/>
          </a:xfrm>
          <a:prstGeom prst="line">
            <a:avLst/>
          </a:prstGeom>
          <a:noFill/>
          <a:ln w="19050">
            <a:solidFill>
              <a:schemeClr val="tx2"/>
            </a:solidFill>
            <a:prstDash val="solid"/>
            <a:tailEnd type="triangle"/>
          </a:ln>
        </p:spPr>
      </p:sp>
      <p:sp>
        <p:nvSpPr>
          <p:cNvPr id="24" name="Text 21"/>
          <p:cNvSpPr/>
          <p:nvPr/>
        </p:nvSpPr>
        <p:spPr>
          <a:xfrm>
            <a:off x="2443277" y="5257800"/>
            <a:ext cx="1618488" cy="868680"/>
          </a:xfrm>
          <a:prstGeom prst="roundRect">
            <a:avLst>
              <a:gd name="adj" fmla="val 8421"/>
            </a:avLst>
          </a:prstGeom>
          <a:solidFill>
            <a:schemeClr val="accent1"/>
          </a:solidFill>
          <a:ln/>
        </p:spPr>
        <p:txBody>
          <a:bodyPr wrap="square" lIns="1016" tIns="1016" rIns="1016" bIns="1016" rtlCol="0" anchor="ctr"/>
          <a:lstStyle/>
          <a:p>
            <a:pPr algn="ctr" indent="0" marL="0">
              <a:buNone/>
            </a:pPr>
            <a:r>
              <a:rPr lang="en-US" sz="1100" b="1" dirty="0">
                <a:solidFill>
                  <a:schemeClr val="bg1"/>
                </a:solidFill>
              </a:rPr>
              <a:t>Market &amp; Competitive Intelligence definitions</a:t>
            </a:r>
            <a:endParaRPr lang="en-US" sz="1100" dirty="0"/>
          </a:p>
        </p:txBody>
      </p:sp>
      <p:sp>
        <p:nvSpPr>
          <p:cNvPr id="25" name="Shape 22"/>
          <p:cNvSpPr/>
          <p:nvPr/>
        </p:nvSpPr>
        <p:spPr>
          <a:xfrm>
            <a:off x="4098341" y="5692140"/>
            <a:ext cx="202997" cy="0"/>
          </a:xfrm>
          <a:prstGeom prst="line">
            <a:avLst/>
          </a:prstGeom>
          <a:noFill/>
          <a:ln w="19050">
            <a:solidFill>
              <a:schemeClr val="tx2"/>
            </a:solidFill>
            <a:prstDash val="solid"/>
            <a:tailEnd type="triangle"/>
          </a:ln>
        </p:spPr>
      </p:sp>
      <p:sp>
        <p:nvSpPr>
          <p:cNvPr id="26" name="Text 23"/>
          <p:cNvSpPr/>
          <p:nvPr/>
        </p:nvSpPr>
        <p:spPr>
          <a:xfrm>
            <a:off x="4337914"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DP-014 foundational</a:t>
            </a:r>
            <a:endParaRPr lang="en-US" sz="1200" dirty="0"/>
          </a:p>
        </p:txBody>
      </p:sp>
      <p:sp>
        <p:nvSpPr>
          <p:cNvPr id="27" name="Shape 24"/>
          <p:cNvSpPr/>
          <p:nvPr/>
        </p:nvSpPr>
        <p:spPr>
          <a:xfrm>
            <a:off x="5992978" y="5692140"/>
            <a:ext cx="202997" cy="0"/>
          </a:xfrm>
          <a:prstGeom prst="line">
            <a:avLst/>
          </a:prstGeom>
          <a:noFill/>
          <a:ln w="19050">
            <a:solidFill>
              <a:schemeClr val="tx2"/>
            </a:solidFill>
            <a:prstDash val="solid"/>
            <a:tailEnd type="triangle"/>
          </a:ln>
        </p:spPr>
      </p:sp>
      <p:sp>
        <p:nvSpPr>
          <p:cNvPr id="28" name="Text 25"/>
          <p:cNvSpPr/>
          <p:nvPr/>
        </p:nvSpPr>
        <p:spPr>
          <a:xfrm>
            <a:off x="6232550"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Consumer data products</a:t>
            </a:r>
            <a:endParaRPr lang="en-US" sz="1200" dirty="0"/>
          </a:p>
        </p:txBody>
      </p:sp>
      <p:sp>
        <p:nvSpPr>
          <p:cNvPr id="29" name="Shape 26"/>
          <p:cNvSpPr/>
          <p:nvPr/>
        </p:nvSpPr>
        <p:spPr>
          <a:xfrm>
            <a:off x="7887614" y="5692140"/>
            <a:ext cx="202997" cy="0"/>
          </a:xfrm>
          <a:prstGeom prst="line">
            <a:avLst/>
          </a:prstGeom>
          <a:noFill/>
          <a:ln w="19050">
            <a:solidFill>
              <a:schemeClr val="tx2"/>
            </a:solidFill>
            <a:prstDash val="solid"/>
            <a:tailEnd type="triangle"/>
          </a:ln>
        </p:spPr>
      </p:sp>
      <p:sp>
        <p:nvSpPr>
          <p:cNvPr id="30" name="Text 27"/>
          <p:cNvSpPr/>
          <p:nvPr/>
        </p:nvSpPr>
        <p:spPr>
          <a:xfrm>
            <a:off x="8127187"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Semantic models</a:t>
            </a:r>
            <a:endParaRPr lang="en-US" sz="1200" dirty="0"/>
          </a:p>
        </p:txBody>
      </p:sp>
      <p:sp>
        <p:nvSpPr>
          <p:cNvPr id="31" name="Shape 28"/>
          <p:cNvSpPr/>
          <p:nvPr/>
        </p:nvSpPr>
        <p:spPr>
          <a:xfrm>
            <a:off x="9782251" y="5692140"/>
            <a:ext cx="202997" cy="0"/>
          </a:xfrm>
          <a:prstGeom prst="line">
            <a:avLst/>
          </a:prstGeom>
          <a:noFill/>
          <a:ln w="19050">
            <a:solidFill>
              <a:schemeClr val="tx2"/>
            </a:solidFill>
            <a:prstDash val="solid"/>
            <a:tailEnd type="triangle"/>
          </a:ln>
        </p:spPr>
      </p:sp>
      <p:sp>
        <p:nvSpPr>
          <p:cNvPr id="32" name="Text 29"/>
          <p:cNvSpPr/>
          <p:nvPr/>
        </p:nvSpPr>
        <p:spPr>
          <a:xfrm>
            <a:off x="10021824"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Dashboards, feeds, AI assistants</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HOW IT IS USED  |  THE FOUNDATIONAL PRODUCT</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product turns the domain into records</a:t>
            </a:r>
            <a:endParaRPr lang="en-US" sz="3600" dirty="0"/>
          </a:p>
        </p:txBody>
      </p:sp>
      <p:sp>
        <p:nvSpPr>
          <p:cNvPr id="5" name="Text 2"/>
          <p:cNvSpPr/>
          <p:nvPr/>
        </p:nvSpPr>
        <p:spPr>
          <a:xfrm>
            <a:off x="548640" y="1783080"/>
            <a:ext cx="1005840" cy="384048"/>
          </a:xfrm>
          <a:prstGeom prst="roundRect">
            <a:avLst>
              <a:gd name="adj" fmla="val 14286"/>
            </a:avLst>
          </a:prstGeom>
          <a:solidFill>
            <a:schemeClr val="accent1"/>
          </a:solidFill>
          <a:ln/>
        </p:spPr>
        <p:txBody>
          <a:bodyPr wrap="square" lIns="0" tIns="0" rIns="0" bIns="0" rtlCol="0" anchor="ctr"/>
          <a:lstStyle/>
          <a:p>
            <a:pPr algn="ctr" indent="0" marL="0">
              <a:buNone/>
            </a:pPr>
            <a:r>
              <a:rPr lang="en-US" sz="1300" b="1" dirty="0">
                <a:solidFill>
                  <a:schemeClr val="bg1"/>
                </a:solidFill>
              </a:rPr>
              <a:t>DP-014</a:t>
            </a:r>
            <a:endParaRPr lang="en-US" sz="1300" dirty="0"/>
          </a:p>
        </p:txBody>
      </p:sp>
      <p:sp>
        <p:nvSpPr>
          <p:cNvPr id="6" name="Text 3"/>
          <p:cNvSpPr txBox="1"/>
          <p:nvPr/>
        </p:nvSpPr>
        <p:spPr>
          <a:xfrm>
            <a:off x="1737360" y="1783080"/>
            <a:ext cx="5486400" cy="384048"/>
          </a:xfrm>
          <a:prstGeom prst="rect">
            <a:avLst/>
          </a:prstGeom>
          <a:noFill/>
          <a:ln/>
        </p:spPr>
        <p:txBody>
          <a:bodyPr wrap="square" lIns="0" tIns="0" rIns="0" bIns="0" rtlCol="0" anchor="ctr"/>
          <a:lstStyle/>
          <a:p>
            <a:pPr algn="l" indent="0" marL="0">
              <a:buNone/>
            </a:pPr>
            <a:r>
              <a:rPr lang="en-US" sz="1800" b="1" dirty="0">
                <a:solidFill>
                  <a:schemeClr val="tx1"/>
                </a:solidFill>
              </a:rPr>
              <a:t>Industry Flows &amp; Peer Universe</a:t>
            </a:r>
            <a:endParaRPr lang="en-US" sz="1800" dirty="0"/>
          </a:p>
        </p:txBody>
      </p:sp>
      <p:sp>
        <p:nvSpPr>
          <p:cNvPr id="7" name="Text 4"/>
          <p:cNvSpPr txBox="1"/>
          <p:nvPr/>
        </p:nvSpPr>
        <p:spPr>
          <a:xfrm>
            <a:off x="548640" y="2258568"/>
            <a:ext cx="6675120" cy="274320"/>
          </a:xfrm>
          <a:prstGeom prst="rect">
            <a:avLst/>
          </a:prstGeom>
          <a:noFill/>
          <a:ln/>
        </p:spPr>
        <p:txBody>
          <a:bodyPr wrap="square" lIns="0" tIns="0" rIns="0" bIns="0" rtlCol="0" anchor="ctr"/>
          <a:lstStyle/>
          <a:p>
            <a:pPr algn="l" indent="0" marL="0">
              <a:buNone/>
            </a:pPr>
            <a:r>
              <a:rPr lang="en-US" sz="1200" dirty="0">
                <a:solidFill>
                  <a:schemeClr val="tx2"/>
                </a:solidFill>
              </a:rPr>
              <a:t>Foundational  |  Conformed Facts  |  Owner: Head of Market Intelligence</a:t>
            </a:r>
            <a:endParaRPr lang="en-US" sz="1200" dirty="0"/>
          </a:p>
        </p:txBody>
      </p:sp>
      <p:sp>
        <p:nvSpPr>
          <p:cNvPr id="8" name="Shape 5"/>
          <p:cNvSpPr/>
          <p:nvPr/>
        </p:nvSpPr>
        <p:spPr>
          <a:xfrm>
            <a:off x="548640" y="2697480"/>
            <a:ext cx="6675120" cy="0"/>
          </a:xfrm>
          <a:prstGeom prst="line">
            <a:avLst/>
          </a:prstGeom>
          <a:noFill/>
          <a:ln w="9525">
            <a:solidFill>
              <a:srgbClr val="D5D9E1"/>
            </a:solidFill>
            <a:prstDash val="solid"/>
          </a:ln>
        </p:spPr>
      </p:sp>
      <p:sp>
        <p:nvSpPr>
          <p:cNvPr id="9" name="Text 6"/>
          <p:cNvSpPr txBox="1"/>
          <p:nvPr/>
        </p:nvSpPr>
        <p:spPr>
          <a:xfrm>
            <a:off x="548640" y="2697480"/>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GRAIN</a:t>
            </a:r>
            <a:endParaRPr lang="en-US" sz="1200" dirty="0"/>
          </a:p>
        </p:txBody>
      </p:sp>
      <p:sp>
        <p:nvSpPr>
          <p:cNvPr id="10" name="Text 7"/>
          <p:cNvSpPr txBox="1"/>
          <p:nvPr/>
        </p:nvSpPr>
        <p:spPr>
          <a:xfrm>
            <a:off x="1828800" y="2697480"/>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One row per industry flow observation: release x category x channel x vehicle x region x distributor firm x fund manager x fund or share class.</a:t>
            </a:r>
            <a:endParaRPr lang="en-US" sz="1300" dirty="0"/>
          </a:p>
        </p:txBody>
      </p:sp>
      <p:sp>
        <p:nvSpPr>
          <p:cNvPr id="11" name="Shape 8"/>
          <p:cNvSpPr/>
          <p:nvPr/>
        </p:nvSpPr>
        <p:spPr>
          <a:xfrm>
            <a:off x="548640" y="3355848"/>
            <a:ext cx="6675120" cy="0"/>
          </a:xfrm>
          <a:prstGeom prst="line">
            <a:avLst/>
          </a:prstGeom>
          <a:noFill/>
          <a:ln w="9525">
            <a:solidFill>
              <a:srgbClr val="D5D9E1"/>
            </a:solidFill>
            <a:prstDash val="solid"/>
          </a:ln>
        </p:spPr>
      </p:sp>
      <p:sp>
        <p:nvSpPr>
          <p:cNvPr id="12" name="Text 9"/>
          <p:cNvSpPr txBox="1"/>
          <p:nvPr/>
        </p:nvSpPr>
        <p:spPr>
          <a:xfrm>
            <a:off x="548640" y="3355848"/>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INPUTS</a:t>
            </a:r>
            <a:endParaRPr lang="en-US" sz="1200" dirty="0"/>
          </a:p>
        </p:txBody>
      </p:sp>
      <p:sp>
        <p:nvSpPr>
          <p:cNvPr id="13" name="Text 10"/>
          <p:cNvSpPr txBox="1"/>
          <p:nvPr/>
        </p:nvSpPr>
        <p:spPr>
          <a:xfrm>
            <a:off x="1828800" y="3355848"/>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91 of its 103 attributes come from 11 of this domain's 34 objects. The rest come from other domains.</a:t>
            </a:r>
            <a:endParaRPr lang="en-US" sz="1300" dirty="0"/>
          </a:p>
        </p:txBody>
      </p:sp>
      <p:sp>
        <p:nvSpPr>
          <p:cNvPr id="14" name="Shape 11"/>
          <p:cNvSpPr/>
          <p:nvPr/>
        </p:nvSpPr>
        <p:spPr>
          <a:xfrm>
            <a:off x="548640" y="4014216"/>
            <a:ext cx="6675120" cy="0"/>
          </a:xfrm>
          <a:prstGeom prst="line">
            <a:avLst/>
          </a:prstGeom>
          <a:noFill/>
          <a:ln w="9525">
            <a:solidFill>
              <a:srgbClr val="D5D9E1"/>
            </a:solidFill>
            <a:prstDash val="solid"/>
          </a:ln>
        </p:spPr>
      </p:sp>
      <p:sp>
        <p:nvSpPr>
          <p:cNvPr id="15" name="Text 12"/>
          <p:cNvSpPr txBox="1"/>
          <p:nvPr/>
        </p:nvSpPr>
        <p:spPr>
          <a:xfrm>
            <a:off x="548640" y="4014216"/>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REFRESH</a:t>
            </a:r>
            <a:endParaRPr lang="en-US" sz="1200" dirty="0"/>
          </a:p>
        </p:txBody>
      </p:sp>
      <p:sp>
        <p:nvSpPr>
          <p:cNvPr id="16" name="Text 13"/>
          <p:cNvSpPr txBox="1"/>
          <p:nvPr/>
        </p:nvSpPr>
        <p:spPr>
          <a:xfrm>
            <a:off x="1828800" y="4014216"/>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Monthly, within 2 business days of each vendor release. Peer metrics by business day 5 after month-end.</a:t>
            </a:r>
            <a:endParaRPr lang="en-US" sz="1300" dirty="0"/>
          </a:p>
        </p:txBody>
      </p:sp>
      <p:sp>
        <p:nvSpPr>
          <p:cNvPr id="17" name="Shape 14"/>
          <p:cNvSpPr/>
          <p:nvPr/>
        </p:nvSpPr>
        <p:spPr>
          <a:xfrm>
            <a:off x="548640" y="4672584"/>
            <a:ext cx="6675120" cy="0"/>
          </a:xfrm>
          <a:prstGeom prst="line">
            <a:avLst/>
          </a:prstGeom>
          <a:noFill/>
          <a:ln w="9525">
            <a:solidFill>
              <a:srgbClr val="D5D9E1"/>
            </a:solidFill>
            <a:prstDash val="solid"/>
          </a:ln>
        </p:spPr>
      </p:sp>
      <p:sp>
        <p:nvSpPr>
          <p:cNvPr id="18" name="Text 15"/>
          <p:cNvSpPr txBox="1"/>
          <p:nvPr/>
        </p:nvSpPr>
        <p:spPr>
          <a:xfrm>
            <a:off x="548640" y="4672584"/>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HISTORY</a:t>
            </a:r>
            <a:endParaRPr lang="en-US" sz="1200" dirty="0"/>
          </a:p>
        </p:txBody>
      </p:sp>
      <p:sp>
        <p:nvSpPr>
          <p:cNvPr id="19" name="Text 16"/>
          <p:cNvSpPr txBox="1"/>
          <p:nvPr/>
        </p:nvSpPr>
        <p:spPr>
          <a:xfrm>
            <a:off x="1828800" y="4672584"/>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Every vendor release kept as published, including superseded releases, since 2010 or the licensed history depth if shorter.</a:t>
            </a:r>
            <a:endParaRPr lang="en-US" sz="1300" dirty="0"/>
          </a:p>
        </p:txBody>
      </p:sp>
      <p:sp>
        <p:nvSpPr>
          <p:cNvPr id="20" name="Shape 17"/>
          <p:cNvSpPr/>
          <p:nvPr/>
        </p:nvSpPr>
        <p:spPr>
          <a:xfrm>
            <a:off x="548640" y="5330952"/>
            <a:ext cx="6675120" cy="0"/>
          </a:xfrm>
          <a:prstGeom prst="line">
            <a:avLst/>
          </a:prstGeom>
          <a:noFill/>
          <a:ln w="9525">
            <a:solidFill>
              <a:srgbClr val="D5D9E1"/>
            </a:solidFill>
            <a:prstDash val="solid"/>
          </a:ln>
        </p:spPr>
      </p:sp>
      <p:sp>
        <p:nvSpPr>
          <p:cNvPr id="21" name="Text 18"/>
          <p:cNvSpPr txBox="1"/>
          <p:nvPr/>
        </p:nvSpPr>
        <p:spPr>
          <a:xfrm>
            <a:off x="548640" y="5330952"/>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ACCESS</a:t>
            </a:r>
            <a:endParaRPr lang="en-US" sz="1200" dirty="0"/>
          </a:p>
        </p:txBody>
      </p:sp>
      <p:sp>
        <p:nvSpPr>
          <p:cNvPr id="22" name="Text 19"/>
          <p:cNvSpPr txBox="1"/>
          <p:nvPr/>
        </p:nvSpPr>
        <p:spPr>
          <a:xfrm>
            <a:off x="1828800" y="5330952"/>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Confidential, licensed data. No personal data. No dataset reaches a consumer use without a permitted-use grant for that use.</a:t>
            </a:r>
            <a:endParaRPr lang="en-US" sz="1300" dirty="0"/>
          </a:p>
        </p:txBody>
      </p:sp>
      <p:sp>
        <p:nvSpPr>
          <p:cNvPr id="23" name="Shape 20"/>
          <p:cNvSpPr/>
          <p:nvPr/>
        </p:nvSpPr>
        <p:spPr>
          <a:xfrm>
            <a:off x="7589520" y="1783080"/>
            <a:ext cx="1933956" cy="1600200"/>
          </a:xfrm>
          <a:prstGeom prst="roundRect">
            <a:avLst>
              <a:gd name="adj" fmla="val 4571"/>
            </a:avLst>
          </a:prstGeom>
          <a:solidFill>
            <a:schemeClr val="tx1"/>
          </a:solidFill>
          <a:ln/>
        </p:spPr>
      </p:sp>
      <p:sp>
        <p:nvSpPr>
          <p:cNvPr id="24" name="Text 21"/>
          <p:cNvSpPr txBox="1"/>
          <p:nvPr/>
        </p:nvSpPr>
        <p:spPr>
          <a:xfrm>
            <a:off x="7772400" y="1920240"/>
            <a:ext cx="1572768" cy="594360"/>
          </a:xfrm>
          <a:prstGeom prst="rect">
            <a:avLst/>
          </a:prstGeom>
          <a:noFill/>
          <a:ln/>
        </p:spPr>
        <p:txBody>
          <a:bodyPr wrap="square" lIns="0" tIns="0" rIns="0" bIns="0" rtlCol="0" anchor="ctr"/>
          <a:lstStyle/>
          <a:p>
            <a:pPr algn="l" indent="0" marL="0">
              <a:buNone/>
            </a:pPr>
            <a:r>
              <a:rPr lang="en-US" sz="2800" b="1" dirty="0">
                <a:solidFill>
                  <a:schemeClr val="accent6"/>
                </a:solidFill>
              </a:rPr>
              <a:t>14</a:t>
            </a:r>
            <a:endParaRPr lang="en-US" sz="2800" dirty="0"/>
          </a:p>
        </p:txBody>
      </p:sp>
      <p:sp>
        <p:nvSpPr>
          <p:cNvPr id="25" name="Text 22"/>
          <p:cNvSpPr txBox="1"/>
          <p:nvPr/>
        </p:nvSpPr>
        <p:spPr>
          <a:xfrm>
            <a:off x="7772400" y="2560320"/>
            <a:ext cx="1572768" cy="731520"/>
          </a:xfrm>
          <a:prstGeom prst="rect">
            <a:avLst/>
          </a:prstGeom>
          <a:noFill/>
          <a:ln/>
        </p:spPr>
        <p:txBody>
          <a:bodyPr wrap="square" lIns="0" tIns="0" rIns="0" bIns="0" rtlCol="0" anchor="t"/>
          <a:lstStyle/>
          <a:p>
            <a:pPr algn="l" indent="0" marL="0">
              <a:buNone/>
            </a:pPr>
            <a:r>
              <a:rPr lang="en-US" sz="1200" dirty="0">
                <a:solidFill>
                  <a:schemeClr val="bg1"/>
                </a:solidFill>
              </a:rPr>
              <a:t>other products name it as a direct upstream</a:t>
            </a:r>
            <a:endParaRPr lang="en-US" sz="1200" dirty="0"/>
          </a:p>
        </p:txBody>
      </p:sp>
      <p:sp>
        <p:nvSpPr>
          <p:cNvPr id="26" name="Shape 23"/>
          <p:cNvSpPr/>
          <p:nvPr/>
        </p:nvSpPr>
        <p:spPr>
          <a:xfrm>
            <a:off x="9706356" y="1783080"/>
            <a:ext cx="1933956" cy="1600200"/>
          </a:xfrm>
          <a:prstGeom prst="roundRect">
            <a:avLst>
              <a:gd name="adj" fmla="val 4571"/>
            </a:avLst>
          </a:prstGeom>
          <a:solidFill>
            <a:schemeClr val="tx1"/>
          </a:solidFill>
          <a:ln/>
        </p:spPr>
      </p:sp>
      <p:sp>
        <p:nvSpPr>
          <p:cNvPr id="27" name="Text 24"/>
          <p:cNvSpPr txBox="1"/>
          <p:nvPr/>
        </p:nvSpPr>
        <p:spPr>
          <a:xfrm>
            <a:off x="9889236" y="1920240"/>
            <a:ext cx="1572768" cy="594360"/>
          </a:xfrm>
          <a:prstGeom prst="rect">
            <a:avLst/>
          </a:prstGeom>
          <a:noFill/>
          <a:ln/>
        </p:spPr>
        <p:txBody>
          <a:bodyPr wrap="square" lIns="0" tIns="0" rIns="0" bIns="0" rtlCol="0" anchor="ctr"/>
          <a:lstStyle/>
          <a:p>
            <a:pPr algn="l" indent="0" marL="0">
              <a:buNone/>
            </a:pPr>
            <a:r>
              <a:rPr lang="en-US" sz="2800" b="1" dirty="0">
                <a:solidFill>
                  <a:schemeClr val="accent6"/>
                </a:solidFill>
              </a:rPr>
              <a:t>18</a:t>
            </a:r>
            <a:endParaRPr lang="en-US" sz="2800" dirty="0"/>
          </a:p>
        </p:txBody>
      </p:sp>
      <p:sp>
        <p:nvSpPr>
          <p:cNvPr id="28" name="Text 25"/>
          <p:cNvSpPr txBox="1"/>
          <p:nvPr/>
        </p:nvSpPr>
        <p:spPr>
          <a:xfrm>
            <a:off x="9889236" y="2560320"/>
            <a:ext cx="1572768" cy="731520"/>
          </a:xfrm>
          <a:prstGeom prst="rect">
            <a:avLst/>
          </a:prstGeom>
          <a:noFill/>
          <a:ln/>
        </p:spPr>
        <p:txBody>
          <a:bodyPr wrap="square" lIns="0" tIns="0" rIns="0" bIns="0" rtlCol="0" anchor="t"/>
          <a:lstStyle/>
          <a:p>
            <a:pPr algn="l" indent="0" marL="0">
              <a:buNone/>
            </a:pPr>
            <a:r>
              <a:rPr lang="en-US" sz="1200" dirty="0">
                <a:solidFill>
                  <a:schemeClr val="bg1"/>
                </a:solidFill>
              </a:rPr>
              <a:t>depend on it directly or indirectly</a:t>
            </a:r>
            <a:endParaRPr lang="en-US" sz="1200" dirty="0"/>
          </a:p>
        </p:txBody>
      </p:sp>
      <p:sp>
        <p:nvSpPr>
          <p:cNvPr id="29" name="Text 26"/>
          <p:cNvSpPr txBox="1"/>
          <p:nvPr/>
        </p:nvSpPr>
        <p:spPr>
          <a:xfrm>
            <a:off x="7589520" y="3657600"/>
            <a:ext cx="4050792"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QUALITY RULES, FOR EXAMPLE</a:t>
            </a:r>
            <a:endParaRPr lang="en-US" sz="1200" dirty="0"/>
          </a:p>
        </p:txBody>
      </p:sp>
      <p:sp>
        <p:nvSpPr>
          <p:cNvPr id="30" name="Text 27"/>
          <p:cNvSpPr txBox="1"/>
          <p:nvPr/>
        </p:nvSpPr>
        <p:spPr>
          <a:xfrm>
            <a:off x="7589520" y="3995928"/>
            <a:ext cx="4050792" cy="20116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Only the latest non-superseded release for each as-of date is flagged current</a:t>
            </a:r>
            <a:endParaRPr lang="en-US" sz="1300" dirty="0"/>
          </a:p>
          <a:p>
            <a:pPr marL="177800" indent="-177800">
              <a:spcAft>
                <a:spcPts val="600"/>
              </a:spcAft>
              <a:buSzPct val="100000"/>
              <a:buChar char="•"/>
            </a:pPr>
            <a:r>
              <a:rPr lang="en-US" sz="1300" dirty="0">
                <a:solidFill>
                  <a:schemeClr val="tx1"/>
                </a:solidFill>
              </a:rPr>
              <a:t>At least 98% of the firm's own ending assets in each release map to an own share class</a:t>
            </a:r>
            <a:endParaRPr lang="en-US" sz="1300" dirty="0"/>
          </a:p>
          <a:p>
            <a:pPr marL="177800" indent="-177800">
              <a:spcAft>
                <a:spcPts val="600"/>
              </a:spcAft>
              <a:buSzPct val="100000"/>
              <a:buChar char="•"/>
            </a:pPr>
            <a:r>
              <a:rPr lang="en-US" sz="1300" dirty="0">
                <a:solidFill>
                  <a:schemeClr val="tx1"/>
                </a:solidFill>
              </a:rPr>
              <a:t>Every peer universe has at least 10 members on each snapshot date</a:t>
            </a:r>
            <a:endParaRPr lang="en-US" sz="1300" dirty="0"/>
          </a:p>
          <a:p>
            <a:pPr marL="177800" indent="-177800">
              <a:spcAft>
                <a:spcPts val="600"/>
              </a:spcAft>
              <a:buSzPct val="100000"/>
              <a:buChar char="•"/>
            </a:pPr>
            <a:r>
              <a:rPr lang="en-US" sz="1300" dirty="0">
                <a:solidFill>
                  <a:schemeClr val="tx1"/>
                </a:solidFill>
              </a:rPr>
              <a:t>Market Share equals Firm Value divided by Industry Value, and Industry Value is above zero</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REACH</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16 of 96 data products read it directly</a:t>
            </a:r>
            <a:endParaRPr lang="en-US" sz="3600" dirty="0"/>
          </a:p>
        </p:txBody>
      </p:sp>
      <p:graphicFrame>
        <p:nvGraphicFramePr>
          <p:cNvPr id="5" name="Chart 0" descr=""/>
          <p:cNvGraphicFramePr/>
          <p:nvPr/>
        </p:nvGraphicFramePr>
        <p:xfrm>
          <a:off x="548640" y="1783080"/>
          <a:ext cx="6217920" cy="434340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7132320" y="1783080"/>
            <a:ext cx="2116836" cy="1691640"/>
          </a:xfrm>
          <a:prstGeom prst="roundRect">
            <a:avLst>
              <a:gd name="adj" fmla="val 4324"/>
            </a:avLst>
          </a:prstGeom>
          <a:solidFill>
            <a:schemeClr val="bg2"/>
          </a:solidFill>
          <a:ln/>
        </p:spPr>
      </p:sp>
      <p:sp>
        <p:nvSpPr>
          <p:cNvPr id="7" name="Text 3"/>
          <p:cNvSpPr txBox="1"/>
          <p:nvPr/>
        </p:nvSpPr>
        <p:spPr>
          <a:xfrm>
            <a:off x="7315200" y="192024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16</a:t>
            </a:r>
            <a:endParaRPr lang="en-US" sz="2800" dirty="0"/>
          </a:p>
        </p:txBody>
      </p:sp>
      <p:sp>
        <p:nvSpPr>
          <p:cNvPr id="8" name="Text 4"/>
          <p:cNvSpPr txBox="1"/>
          <p:nvPr/>
        </p:nvSpPr>
        <p:spPr>
          <a:xfrm>
            <a:off x="7315200" y="251460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products read this domain directly: 1 foundational and 15 consumer-aligned</a:t>
            </a:r>
            <a:endParaRPr lang="en-US" sz="1200" dirty="0"/>
          </a:p>
        </p:txBody>
      </p:sp>
      <p:sp>
        <p:nvSpPr>
          <p:cNvPr id="9" name="Shape 5"/>
          <p:cNvSpPr/>
          <p:nvPr/>
        </p:nvSpPr>
        <p:spPr>
          <a:xfrm>
            <a:off x="9523476" y="1783080"/>
            <a:ext cx="2116836" cy="1691640"/>
          </a:xfrm>
          <a:prstGeom prst="roundRect">
            <a:avLst>
              <a:gd name="adj" fmla="val 4324"/>
            </a:avLst>
          </a:prstGeom>
          <a:solidFill>
            <a:schemeClr val="bg2"/>
          </a:solidFill>
          <a:ln/>
        </p:spPr>
      </p:sp>
      <p:sp>
        <p:nvSpPr>
          <p:cNvPr id="10" name="Text 6"/>
          <p:cNvSpPr txBox="1"/>
          <p:nvPr/>
        </p:nvSpPr>
        <p:spPr>
          <a:xfrm>
            <a:off x="9706356" y="192024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34 of 34</a:t>
            </a:r>
            <a:endParaRPr lang="en-US" sz="2800" dirty="0"/>
          </a:p>
        </p:txBody>
      </p:sp>
      <p:sp>
        <p:nvSpPr>
          <p:cNvPr id="11" name="Text 7"/>
          <p:cNvSpPr txBox="1"/>
          <p:nvPr/>
        </p:nvSpPr>
        <p:spPr>
          <a:xfrm>
            <a:off x="9706356" y="251460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objects are used by at least one product</a:t>
            </a:r>
            <a:endParaRPr lang="en-US" sz="1200" dirty="0"/>
          </a:p>
        </p:txBody>
      </p:sp>
      <p:sp>
        <p:nvSpPr>
          <p:cNvPr id="12" name="Shape 8"/>
          <p:cNvSpPr/>
          <p:nvPr/>
        </p:nvSpPr>
        <p:spPr>
          <a:xfrm>
            <a:off x="7132320" y="3657600"/>
            <a:ext cx="2116836" cy="1691640"/>
          </a:xfrm>
          <a:prstGeom prst="roundRect">
            <a:avLst>
              <a:gd name="adj" fmla="val 4324"/>
            </a:avLst>
          </a:prstGeom>
          <a:solidFill>
            <a:schemeClr val="bg2"/>
          </a:solidFill>
          <a:ln/>
        </p:spPr>
      </p:sp>
      <p:sp>
        <p:nvSpPr>
          <p:cNvPr id="13" name="Text 9"/>
          <p:cNvSpPr txBox="1"/>
          <p:nvPr/>
        </p:nvSpPr>
        <p:spPr>
          <a:xfrm>
            <a:off x="7315200" y="379476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98%</a:t>
            </a:r>
            <a:endParaRPr lang="en-US" sz="2800" dirty="0"/>
          </a:p>
        </p:txBody>
      </p:sp>
      <p:sp>
        <p:nvSpPr>
          <p:cNvPr id="14" name="Text 10"/>
          <p:cNvSpPr txBox="1"/>
          <p:nvPr/>
        </p:nvSpPr>
        <p:spPr>
          <a:xfrm>
            <a:off x="7315200" y="438912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of attributes (235 of 239) appear in a product specification</a:t>
            </a:r>
            <a:endParaRPr lang="en-US" sz="1200" dirty="0"/>
          </a:p>
        </p:txBody>
      </p:sp>
      <p:sp>
        <p:nvSpPr>
          <p:cNvPr id="15" name="Shape 11"/>
          <p:cNvSpPr/>
          <p:nvPr/>
        </p:nvSpPr>
        <p:spPr>
          <a:xfrm>
            <a:off x="9523476" y="3657600"/>
            <a:ext cx="2116836" cy="1691640"/>
          </a:xfrm>
          <a:prstGeom prst="roundRect">
            <a:avLst>
              <a:gd name="adj" fmla="val 4324"/>
            </a:avLst>
          </a:prstGeom>
          <a:solidFill>
            <a:schemeClr val="bg2"/>
          </a:solidFill>
          <a:ln/>
        </p:spPr>
      </p:sp>
      <p:sp>
        <p:nvSpPr>
          <p:cNvPr id="16" name="Text 12"/>
          <p:cNvSpPr txBox="1"/>
          <p:nvPr/>
        </p:nvSpPr>
        <p:spPr>
          <a:xfrm>
            <a:off x="9706356" y="379476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13</a:t>
            </a:r>
            <a:endParaRPr lang="en-US" sz="2800" dirty="0"/>
          </a:p>
        </p:txBody>
      </p:sp>
      <p:sp>
        <p:nvSpPr>
          <p:cNvPr id="17" name="Text 13"/>
          <p:cNvSpPr txBox="1"/>
          <p:nvPr/>
        </p:nvSpPr>
        <p:spPr>
          <a:xfrm>
            <a:off x="9706356" y="438912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are analytical products, the largest group of the 16</a:t>
            </a:r>
            <a:endParaRPr lang="en-US" sz="1200" dirty="0"/>
          </a:p>
        </p:txBody>
      </p:sp>
      <p:sp>
        <p:nvSpPr>
          <p:cNvPr id="18" name="Text 14"/>
          <p:cNvSpPr txBox="1"/>
          <p:nvPr/>
        </p:nvSpPr>
        <p:spPr>
          <a:xfrm>
            <a:off x="7132320" y="5623560"/>
            <a:ext cx="4507992" cy="457200"/>
          </a:xfrm>
          <a:prstGeom prst="rect">
            <a:avLst/>
          </a:prstGeom>
          <a:noFill/>
          <a:ln/>
        </p:spPr>
        <p:txBody>
          <a:bodyPr wrap="square" lIns="0" tIns="0" rIns="0" bIns="0" rtlCol="0" anchor="t"/>
          <a:lstStyle/>
          <a:p>
            <a:pPr algn="l" indent="0" marL="0">
              <a:buNone/>
            </a:pPr>
            <a:r>
              <a:rPr lang="en-US" sz="1200" dirty="0">
                <a:solidFill>
                  <a:schemeClr val="tx2"/>
                </a:solidFill>
              </a:rPr>
              <a:t>By type: 13 analytical, 1 conformed facts, 1 operational, 1 regulatory and control.</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THIS DOMAIN</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Five products are owned by this domain</a:t>
            </a:r>
            <a:endParaRPr lang="en-US" sz="3600" dirty="0"/>
          </a:p>
        </p:txBody>
      </p:sp>
      <p:sp>
        <p:nvSpPr>
          <p:cNvPr id="5" name="Text 2"/>
          <p:cNvSpPr txBox="1"/>
          <p:nvPr/>
        </p:nvSpPr>
        <p:spPr>
          <a:xfrm>
            <a:off x="9326880" y="1764792"/>
            <a:ext cx="2313432" cy="228600"/>
          </a:xfrm>
          <a:prstGeom prst="rect">
            <a:avLst/>
          </a:prstGeom>
          <a:noFill/>
          <a:ln/>
        </p:spPr>
        <p:txBody>
          <a:bodyPr wrap="square" lIns="0" tIns="0" rIns="0" bIns="0" rtlCol="0" anchor="ctr"/>
          <a:lstStyle/>
          <a:p>
            <a:pPr algn="l" indent="0" marL="0">
              <a:buNone/>
            </a:pPr>
            <a:r>
              <a:rPr lang="en-US" sz="1000" b="1" spc="100" kern="0" dirty="0">
                <a:solidFill>
                  <a:schemeClr val="tx2"/>
                </a:solidFill>
              </a:rPr>
              <a:t>INPUTS FROM THIS DOMAIN</a:t>
            </a:r>
            <a:endParaRPr lang="en-US" sz="1000" dirty="0"/>
          </a:p>
        </p:txBody>
      </p:sp>
      <p:sp>
        <p:nvSpPr>
          <p:cNvPr id="6" name="Shape 3"/>
          <p:cNvSpPr/>
          <p:nvPr/>
        </p:nvSpPr>
        <p:spPr>
          <a:xfrm>
            <a:off x="548640" y="2057400"/>
            <a:ext cx="11091672" cy="731520"/>
          </a:xfrm>
          <a:prstGeom prst="roundRect">
            <a:avLst>
              <a:gd name="adj" fmla="val 10000"/>
            </a:avLst>
          </a:prstGeom>
          <a:solidFill>
            <a:schemeClr val="bg2"/>
          </a:solidFill>
          <a:ln/>
        </p:spPr>
      </p:sp>
      <p:sp>
        <p:nvSpPr>
          <p:cNvPr id="7" name="Text 4"/>
          <p:cNvSpPr/>
          <p:nvPr/>
        </p:nvSpPr>
        <p:spPr>
          <a:xfrm>
            <a:off x="731520" y="225399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DP-014</a:t>
            </a:r>
            <a:endParaRPr lang="en-US" sz="1200" dirty="0"/>
          </a:p>
        </p:txBody>
      </p:sp>
      <p:sp>
        <p:nvSpPr>
          <p:cNvPr id="8" name="Text 5"/>
          <p:cNvSpPr txBox="1"/>
          <p:nvPr/>
        </p:nvSpPr>
        <p:spPr>
          <a:xfrm>
            <a:off x="1828800" y="211226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Industry Flows &amp; Peer Universe</a:t>
            </a:r>
            <a:endParaRPr lang="en-US" sz="1300" dirty="0"/>
          </a:p>
        </p:txBody>
      </p:sp>
      <p:sp>
        <p:nvSpPr>
          <p:cNvPr id="9" name="Text 6"/>
          <p:cNvSpPr txBox="1"/>
          <p:nvPr/>
        </p:nvSpPr>
        <p:spPr>
          <a:xfrm>
            <a:off x="1828800" y="253288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Foundational  |  Market and Competitive Intelligence</a:t>
            </a:r>
            <a:endParaRPr lang="en-US" sz="1000" dirty="0"/>
          </a:p>
        </p:txBody>
      </p:sp>
      <p:sp>
        <p:nvSpPr>
          <p:cNvPr id="10" name="Text 7"/>
          <p:cNvSpPr txBox="1"/>
          <p:nvPr/>
        </p:nvSpPr>
        <p:spPr>
          <a:xfrm>
            <a:off x="5897880" y="205740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Licensed industry flows and assets, peer universes and peer metrics, and market share records, loaded once.</a:t>
            </a:r>
            <a:endParaRPr lang="en-US" sz="1200" dirty="0"/>
          </a:p>
        </p:txBody>
      </p:sp>
      <p:sp>
        <p:nvSpPr>
          <p:cNvPr id="11" name="Shape 8"/>
          <p:cNvSpPr/>
          <p:nvPr/>
        </p:nvSpPr>
        <p:spPr>
          <a:xfrm>
            <a:off x="9326880" y="2359152"/>
            <a:ext cx="1371600" cy="128016"/>
          </a:xfrm>
          <a:prstGeom prst="rect">
            <a:avLst/>
          </a:prstGeom>
          <a:solidFill>
            <a:schemeClr val="bg1"/>
          </a:solidFill>
          <a:ln/>
        </p:spPr>
      </p:sp>
      <p:sp>
        <p:nvSpPr>
          <p:cNvPr id="12" name="Shape 9"/>
          <p:cNvSpPr/>
          <p:nvPr/>
        </p:nvSpPr>
        <p:spPr>
          <a:xfrm>
            <a:off x="9326880" y="2359152"/>
            <a:ext cx="1211802" cy="128016"/>
          </a:xfrm>
          <a:prstGeom prst="rect">
            <a:avLst/>
          </a:prstGeom>
          <a:solidFill>
            <a:schemeClr val="accent1"/>
          </a:solidFill>
          <a:ln/>
        </p:spPr>
      </p:sp>
      <p:sp>
        <p:nvSpPr>
          <p:cNvPr id="13" name="Text 10"/>
          <p:cNvSpPr txBox="1"/>
          <p:nvPr/>
        </p:nvSpPr>
        <p:spPr>
          <a:xfrm>
            <a:off x="10789920" y="205740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91 of 103</a:t>
            </a:r>
            <a:endParaRPr lang="en-US" sz="1200" dirty="0"/>
          </a:p>
        </p:txBody>
      </p:sp>
      <p:sp>
        <p:nvSpPr>
          <p:cNvPr id="14" name="Shape 11"/>
          <p:cNvSpPr/>
          <p:nvPr/>
        </p:nvSpPr>
        <p:spPr>
          <a:xfrm>
            <a:off x="548640" y="2880360"/>
            <a:ext cx="11091672" cy="731520"/>
          </a:xfrm>
          <a:prstGeom prst="roundRect">
            <a:avLst>
              <a:gd name="adj" fmla="val 10000"/>
            </a:avLst>
          </a:prstGeom>
          <a:solidFill>
            <a:schemeClr val="bg2"/>
          </a:solidFill>
          <a:ln/>
        </p:spPr>
      </p:sp>
      <p:sp>
        <p:nvSpPr>
          <p:cNvPr id="15" name="Text 12"/>
          <p:cNvSpPr/>
          <p:nvPr/>
        </p:nvSpPr>
        <p:spPr>
          <a:xfrm>
            <a:off x="731520" y="307695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DP-030</a:t>
            </a:r>
            <a:endParaRPr lang="en-US" sz="1200" dirty="0"/>
          </a:p>
        </p:txBody>
      </p:sp>
      <p:sp>
        <p:nvSpPr>
          <p:cNvPr id="16" name="Text 13"/>
          <p:cNvSpPr txBox="1"/>
          <p:nvPr/>
        </p:nvSpPr>
        <p:spPr>
          <a:xfrm>
            <a:off x="1828800" y="293522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Competitive Positioning &amp; Peer Benchmarks</a:t>
            </a:r>
            <a:endParaRPr lang="en-US" sz="1300" dirty="0"/>
          </a:p>
        </p:txBody>
      </p:sp>
      <p:sp>
        <p:nvSpPr>
          <p:cNvPr id="17" name="Text 14"/>
          <p:cNvSpPr txBox="1"/>
          <p:nvPr/>
        </p:nvSpPr>
        <p:spPr>
          <a:xfrm>
            <a:off x="1828800" y="335584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Analytical  |  Product Management and Product Strategy</a:t>
            </a:r>
            <a:endParaRPr lang="en-US" sz="1000" dirty="0"/>
          </a:p>
        </p:txBody>
      </p:sp>
      <p:sp>
        <p:nvSpPr>
          <p:cNvPr id="18" name="Text 15"/>
          <p:cNvSpPr txBox="1"/>
          <p:nvPr/>
        </p:nvSpPr>
        <p:spPr>
          <a:xfrm>
            <a:off x="5897880" y="288036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Each own share class against its peer universes on performance rank, fees, ratings and estimated flows.</a:t>
            </a:r>
            <a:endParaRPr lang="en-US" sz="1200" dirty="0"/>
          </a:p>
        </p:txBody>
      </p:sp>
      <p:sp>
        <p:nvSpPr>
          <p:cNvPr id="19" name="Shape 16"/>
          <p:cNvSpPr/>
          <p:nvPr/>
        </p:nvSpPr>
        <p:spPr>
          <a:xfrm>
            <a:off x="9326880" y="3182112"/>
            <a:ext cx="1371600" cy="128016"/>
          </a:xfrm>
          <a:prstGeom prst="rect">
            <a:avLst/>
          </a:prstGeom>
          <a:solidFill>
            <a:schemeClr val="bg1"/>
          </a:solidFill>
          <a:ln/>
        </p:spPr>
      </p:sp>
      <p:sp>
        <p:nvSpPr>
          <p:cNvPr id="20" name="Shape 17"/>
          <p:cNvSpPr/>
          <p:nvPr/>
        </p:nvSpPr>
        <p:spPr>
          <a:xfrm>
            <a:off x="9326880" y="3182112"/>
            <a:ext cx="1148316" cy="128016"/>
          </a:xfrm>
          <a:prstGeom prst="rect">
            <a:avLst/>
          </a:prstGeom>
          <a:solidFill>
            <a:schemeClr val="accent1"/>
          </a:solidFill>
          <a:ln/>
        </p:spPr>
      </p:sp>
      <p:sp>
        <p:nvSpPr>
          <p:cNvPr id="21" name="Text 18"/>
          <p:cNvSpPr txBox="1"/>
          <p:nvPr/>
        </p:nvSpPr>
        <p:spPr>
          <a:xfrm>
            <a:off x="10789920" y="288036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72 of 86</a:t>
            </a:r>
            <a:endParaRPr lang="en-US" sz="1200" dirty="0"/>
          </a:p>
        </p:txBody>
      </p:sp>
      <p:sp>
        <p:nvSpPr>
          <p:cNvPr id="22" name="Shape 19"/>
          <p:cNvSpPr/>
          <p:nvPr/>
        </p:nvSpPr>
        <p:spPr>
          <a:xfrm>
            <a:off x="548640" y="3703320"/>
            <a:ext cx="11091672" cy="731520"/>
          </a:xfrm>
          <a:prstGeom prst="roundRect">
            <a:avLst>
              <a:gd name="adj" fmla="val 10000"/>
            </a:avLst>
          </a:prstGeom>
          <a:solidFill>
            <a:schemeClr val="bg2"/>
          </a:solidFill>
          <a:ln/>
        </p:spPr>
      </p:sp>
      <p:sp>
        <p:nvSpPr>
          <p:cNvPr id="23" name="Text 20"/>
          <p:cNvSpPr/>
          <p:nvPr/>
        </p:nvSpPr>
        <p:spPr>
          <a:xfrm>
            <a:off x="731520" y="389991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DP-031</a:t>
            </a:r>
            <a:endParaRPr lang="en-US" sz="1200" dirty="0"/>
          </a:p>
        </p:txBody>
      </p:sp>
      <p:sp>
        <p:nvSpPr>
          <p:cNvPr id="24" name="Text 21"/>
          <p:cNvSpPr txBox="1"/>
          <p:nvPr/>
        </p:nvSpPr>
        <p:spPr>
          <a:xfrm>
            <a:off x="1828800" y="375818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Market Sizing &amp; Share</a:t>
            </a:r>
            <a:endParaRPr lang="en-US" sz="1300" dirty="0"/>
          </a:p>
        </p:txBody>
      </p:sp>
      <p:sp>
        <p:nvSpPr>
          <p:cNvPr id="25" name="Text 22"/>
          <p:cNvSpPr txBox="1"/>
          <p:nvPr/>
        </p:nvSpPr>
        <p:spPr>
          <a:xfrm>
            <a:off x="1828800" y="417880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Analytical  |  Market and Competitive Intelligence</a:t>
            </a:r>
            <a:endParaRPr lang="en-US" sz="1000" dirty="0"/>
          </a:p>
        </p:txBody>
      </p:sp>
      <p:sp>
        <p:nvSpPr>
          <p:cNvPr id="26" name="Text 23"/>
          <p:cNvSpPr txBox="1"/>
          <p:nvPr/>
        </p:nvSpPr>
        <p:spPr>
          <a:xfrm>
            <a:off x="5897880" y="370332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The firm's market share and rank, and the size of addressable markets by category, channel and region.</a:t>
            </a:r>
            <a:endParaRPr lang="en-US" sz="1200" dirty="0"/>
          </a:p>
        </p:txBody>
      </p:sp>
      <p:sp>
        <p:nvSpPr>
          <p:cNvPr id="27" name="Shape 24"/>
          <p:cNvSpPr/>
          <p:nvPr/>
        </p:nvSpPr>
        <p:spPr>
          <a:xfrm>
            <a:off x="9326880" y="4005072"/>
            <a:ext cx="1371600" cy="128016"/>
          </a:xfrm>
          <a:prstGeom prst="rect">
            <a:avLst/>
          </a:prstGeom>
          <a:solidFill>
            <a:schemeClr val="bg1"/>
          </a:solidFill>
          <a:ln/>
        </p:spPr>
      </p:sp>
      <p:sp>
        <p:nvSpPr>
          <p:cNvPr id="28" name="Shape 25"/>
          <p:cNvSpPr/>
          <p:nvPr/>
        </p:nvSpPr>
        <p:spPr>
          <a:xfrm>
            <a:off x="9326880" y="4005072"/>
            <a:ext cx="1084521" cy="128016"/>
          </a:xfrm>
          <a:prstGeom prst="rect">
            <a:avLst/>
          </a:prstGeom>
          <a:solidFill>
            <a:schemeClr val="accent1"/>
          </a:solidFill>
          <a:ln/>
        </p:spPr>
      </p:sp>
      <p:sp>
        <p:nvSpPr>
          <p:cNvPr id="29" name="Text 26"/>
          <p:cNvSpPr txBox="1"/>
          <p:nvPr/>
        </p:nvSpPr>
        <p:spPr>
          <a:xfrm>
            <a:off x="10789920" y="370332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68 of 86</a:t>
            </a:r>
            <a:endParaRPr lang="en-US" sz="1200" dirty="0"/>
          </a:p>
        </p:txBody>
      </p:sp>
      <p:sp>
        <p:nvSpPr>
          <p:cNvPr id="30" name="Shape 27"/>
          <p:cNvSpPr/>
          <p:nvPr/>
        </p:nvSpPr>
        <p:spPr>
          <a:xfrm>
            <a:off x="548640" y="4526280"/>
            <a:ext cx="11091672" cy="731520"/>
          </a:xfrm>
          <a:prstGeom prst="roundRect">
            <a:avLst>
              <a:gd name="adj" fmla="val 10000"/>
            </a:avLst>
          </a:prstGeom>
          <a:solidFill>
            <a:schemeClr val="bg2"/>
          </a:solidFill>
          <a:ln/>
        </p:spPr>
      </p:sp>
      <p:sp>
        <p:nvSpPr>
          <p:cNvPr id="31" name="Text 28"/>
          <p:cNvSpPr/>
          <p:nvPr/>
        </p:nvSpPr>
        <p:spPr>
          <a:xfrm>
            <a:off x="731520" y="472287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DP-049</a:t>
            </a:r>
            <a:endParaRPr lang="en-US" sz="1200" dirty="0"/>
          </a:p>
        </p:txBody>
      </p:sp>
      <p:sp>
        <p:nvSpPr>
          <p:cNvPr id="32" name="Text 29"/>
          <p:cNvSpPr txBox="1"/>
          <p:nvPr/>
        </p:nvSpPr>
        <p:spPr>
          <a:xfrm>
            <a:off x="1828800" y="458114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Wallet Share Estimates</a:t>
            </a:r>
            <a:endParaRPr lang="en-US" sz="1300" dirty="0"/>
          </a:p>
        </p:txBody>
      </p:sp>
      <p:sp>
        <p:nvSpPr>
          <p:cNvPr id="33" name="Text 30"/>
          <p:cNvSpPr txBox="1"/>
          <p:nvPr/>
        </p:nvSpPr>
        <p:spPr>
          <a:xfrm>
            <a:off x="1828800" y="500176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Analytical  |  Sales Operations, Strategy and Analytics</a:t>
            </a:r>
            <a:endParaRPr lang="en-US" sz="1000" dirty="0"/>
          </a:p>
        </p:txBody>
      </p:sp>
      <p:sp>
        <p:nvSpPr>
          <p:cNvPr id="34" name="Text 31"/>
          <p:cNvSpPr txBox="1"/>
          <p:nvPr/>
        </p:nvSpPr>
        <p:spPr>
          <a:xfrm>
            <a:off x="5897880" y="452628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How much of each advisor's, team's or firm's addressable assets the firm holds, and the white space left.</a:t>
            </a:r>
            <a:endParaRPr lang="en-US" sz="1200" dirty="0"/>
          </a:p>
        </p:txBody>
      </p:sp>
      <p:sp>
        <p:nvSpPr>
          <p:cNvPr id="35" name="Shape 32"/>
          <p:cNvSpPr/>
          <p:nvPr/>
        </p:nvSpPr>
        <p:spPr>
          <a:xfrm>
            <a:off x="9326880" y="4828032"/>
            <a:ext cx="1371600" cy="128016"/>
          </a:xfrm>
          <a:prstGeom prst="rect">
            <a:avLst/>
          </a:prstGeom>
          <a:solidFill>
            <a:schemeClr val="bg1"/>
          </a:solidFill>
          <a:ln/>
        </p:spPr>
      </p:sp>
      <p:sp>
        <p:nvSpPr>
          <p:cNvPr id="36" name="Shape 33"/>
          <p:cNvSpPr/>
          <p:nvPr/>
        </p:nvSpPr>
        <p:spPr>
          <a:xfrm>
            <a:off x="9326880" y="4828032"/>
            <a:ext cx="674176" cy="128016"/>
          </a:xfrm>
          <a:prstGeom prst="rect">
            <a:avLst/>
          </a:prstGeom>
          <a:solidFill>
            <a:schemeClr val="accent1"/>
          </a:solidFill>
          <a:ln/>
        </p:spPr>
      </p:sp>
      <p:sp>
        <p:nvSpPr>
          <p:cNvPr id="37" name="Text 34"/>
          <p:cNvSpPr txBox="1"/>
          <p:nvPr/>
        </p:nvSpPr>
        <p:spPr>
          <a:xfrm>
            <a:off x="10789920" y="452628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29 of 59</a:t>
            </a:r>
            <a:endParaRPr lang="en-US" sz="1200" dirty="0"/>
          </a:p>
        </p:txBody>
      </p:sp>
      <p:sp>
        <p:nvSpPr>
          <p:cNvPr id="38" name="Shape 35"/>
          <p:cNvSpPr/>
          <p:nvPr/>
        </p:nvSpPr>
        <p:spPr>
          <a:xfrm>
            <a:off x="548640" y="5349240"/>
            <a:ext cx="11091672" cy="731520"/>
          </a:xfrm>
          <a:prstGeom prst="roundRect">
            <a:avLst>
              <a:gd name="adj" fmla="val 10000"/>
            </a:avLst>
          </a:prstGeom>
          <a:solidFill>
            <a:schemeClr val="bg2"/>
          </a:solidFill>
          <a:ln/>
        </p:spPr>
      </p:sp>
      <p:sp>
        <p:nvSpPr>
          <p:cNvPr id="39" name="Text 36"/>
          <p:cNvSpPr/>
          <p:nvPr/>
        </p:nvSpPr>
        <p:spPr>
          <a:xfrm>
            <a:off x="731520" y="554583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DP-088</a:t>
            </a:r>
            <a:endParaRPr lang="en-US" sz="1200" dirty="0"/>
          </a:p>
        </p:txBody>
      </p:sp>
      <p:sp>
        <p:nvSpPr>
          <p:cNvPr id="40" name="Text 37"/>
          <p:cNvSpPr txBox="1"/>
          <p:nvPr/>
        </p:nvSpPr>
        <p:spPr>
          <a:xfrm>
            <a:off x="1828800" y="540410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Competitor &amp; Market Watch</a:t>
            </a:r>
            <a:endParaRPr lang="en-US" sz="1300" dirty="0"/>
          </a:p>
        </p:txBody>
      </p:sp>
      <p:sp>
        <p:nvSpPr>
          <p:cNvPr id="41" name="Text 38"/>
          <p:cNvSpPr txBox="1"/>
          <p:nvPr/>
        </p:nvSpPr>
        <p:spPr>
          <a:xfrm>
            <a:off x="1828800" y="582472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Analytical  |  Market and Competitive Intelligence</a:t>
            </a:r>
            <a:endParaRPr lang="en-US" sz="1000" dirty="0"/>
          </a:p>
        </p:txBody>
      </p:sp>
      <p:sp>
        <p:nvSpPr>
          <p:cNvPr id="42" name="Text 39"/>
          <p:cNvSpPr txBox="1"/>
          <p:nvPr/>
        </p:nvSpPr>
        <p:spPr>
          <a:xfrm>
            <a:off x="5897880" y="534924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One feed of competitor events, personnel moves, search wins and losses, market trends and news.</a:t>
            </a:r>
            <a:endParaRPr lang="en-US" sz="1200" dirty="0"/>
          </a:p>
        </p:txBody>
      </p:sp>
      <p:sp>
        <p:nvSpPr>
          <p:cNvPr id="43" name="Shape 40"/>
          <p:cNvSpPr/>
          <p:nvPr/>
        </p:nvSpPr>
        <p:spPr>
          <a:xfrm>
            <a:off x="9326880" y="5650992"/>
            <a:ext cx="1371600" cy="128016"/>
          </a:xfrm>
          <a:prstGeom prst="rect">
            <a:avLst/>
          </a:prstGeom>
          <a:solidFill>
            <a:schemeClr val="bg1"/>
          </a:solidFill>
          <a:ln/>
        </p:spPr>
      </p:sp>
      <p:sp>
        <p:nvSpPr>
          <p:cNvPr id="44" name="Shape 41"/>
          <p:cNvSpPr/>
          <p:nvPr/>
        </p:nvSpPr>
        <p:spPr>
          <a:xfrm>
            <a:off x="9326880" y="5650992"/>
            <a:ext cx="1264722" cy="128016"/>
          </a:xfrm>
          <a:prstGeom prst="rect">
            <a:avLst/>
          </a:prstGeom>
          <a:solidFill>
            <a:schemeClr val="accent1"/>
          </a:solidFill>
          <a:ln/>
        </p:spPr>
      </p:sp>
      <p:sp>
        <p:nvSpPr>
          <p:cNvPr id="45" name="Text 42"/>
          <p:cNvSpPr txBox="1"/>
          <p:nvPr/>
        </p:nvSpPr>
        <p:spPr>
          <a:xfrm>
            <a:off x="10789920" y="534924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71 of 77</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OTHER DOMAINS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11 more rely on it for market context</a:t>
            </a:r>
            <a:endParaRPr lang="en-US" sz="3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200400"/>
                <a:gridCol w="3200400"/>
                <a:gridCol w="4690872"/>
              </a:tblGrid>
              <a:tr h="365760">
                <a:tc>
                  <a:txBody>
                    <a:bodyPr/>
                    <a:lstStyle/>
                    <a:p>
                      <a:pPr indent="0" marL="0">
                        <a:buNone/>
                      </a:pPr>
                      <a:r>
                        <a:rPr lang="en-US" sz="1200" b="1" dirty="0">
                          <a:solidFill>
                            <a:schemeClr val="bg1"/>
                          </a:solidFill>
                        </a:rPr>
                        <a:t>Who it serves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Products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this domain supplies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512064">
                <a:tc>
                  <a:txBody>
                    <a:bodyPr/>
                    <a:lstStyle/>
                    <a:p>
                      <a:pPr indent="0" marL="0">
                        <a:buNone/>
                      </a:pPr>
                      <a:r>
                        <a:rPr lang="en-US" sz="1200" b="1" dirty="0">
                          <a:solidFill>
                            <a:schemeClr val="tx1"/>
                          </a:solidFill>
                        </a:rPr>
                        <a:t>Distribution leadership and planning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DP-015, DP-055</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Industry flows and assets, market share records and the category mapping to own share classes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Field sales and sales operations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DP-018, DP-047</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Opportunity potential and wallet share for each advisor; published ratings of held share classes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Institutional sales and consultant relations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DP-019, DP-022</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Competitor profiles for win/loss reporting; external mandate search events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Retirement and DCIO</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DP-024, DP-066</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Plan market records: total plan assets, recordkeeper and DCIO opportunity value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National accounts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DP-020</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Industry flows and assets at distributor firm level</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Product pricing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DP-059</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Fee benchmark studies, peer fee statistics and pricing inputs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Compliance and product governance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DP-083</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Regulatory horizon items: initiative, stage and expected effective date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897880"/>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A further 5 products depend on this domain only through DP-014, without reading it directly.</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ONE ATTRIBUTE, END TO END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attribute, followed to an answer</a:t>
            </a:r>
            <a:endParaRPr lang="en-US" sz="3600" dirty="0"/>
          </a:p>
        </p:txBody>
      </p:sp>
      <p:sp>
        <p:nvSpPr>
          <p:cNvPr id="5" name="Shape 2"/>
          <p:cNvSpPr/>
          <p:nvPr/>
        </p:nvSpPr>
        <p:spPr>
          <a:xfrm>
            <a:off x="548640" y="1874520"/>
            <a:ext cx="1938528" cy="2514600"/>
          </a:xfrm>
          <a:prstGeom prst="roundRect">
            <a:avLst>
              <a:gd name="adj" fmla="val 3774"/>
            </a:avLst>
          </a:prstGeom>
          <a:solidFill>
            <a:schemeClr val="accent2"/>
          </a:solidFill>
          <a:ln/>
        </p:spPr>
      </p:sp>
      <p:sp>
        <p:nvSpPr>
          <p:cNvPr id="6" name="Text 3"/>
          <p:cNvSpPr txBox="1"/>
          <p:nvPr/>
        </p:nvSpPr>
        <p:spPr>
          <a:xfrm>
            <a:off x="731520"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bg1"/>
                </a:solidFill>
              </a:rPr>
              <a:t>TAXONOMY</a:t>
            </a:r>
            <a:endParaRPr lang="en-US" sz="1100" dirty="0"/>
          </a:p>
        </p:txBody>
      </p:sp>
      <p:sp>
        <p:nvSpPr>
          <p:cNvPr id="7" name="Text 4"/>
          <p:cNvSpPr txBox="1"/>
          <p:nvPr/>
        </p:nvSpPr>
        <p:spPr>
          <a:xfrm>
            <a:off x="731520" y="2331720"/>
            <a:ext cx="1572768" cy="548640"/>
          </a:xfrm>
          <a:prstGeom prst="rect">
            <a:avLst/>
          </a:prstGeom>
          <a:noFill/>
          <a:ln/>
        </p:spPr>
        <p:txBody>
          <a:bodyPr wrap="square" lIns="0" tIns="0" rIns="0" bIns="0" rtlCol="0" anchor="ctr"/>
          <a:lstStyle/>
          <a:p>
            <a:pPr algn="l" indent="0" marL="0">
              <a:buNone/>
            </a:pPr>
            <a:r>
              <a:rPr lang="en-US" sz="1400" b="1" dirty="0">
                <a:solidFill>
                  <a:schemeClr val="bg1"/>
                </a:solidFill>
              </a:rPr>
              <a:t>Net Flow</a:t>
            </a:r>
            <a:endParaRPr lang="en-US" sz="1400" dirty="0"/>
          </a:p>
        </p:txBody>
      </p:sp>
      <p:sp>
        <p:nvSpPr>
          <p:cNvPr id="8" name="Text 5"/>
          <p:cNvSpPr txBox="1"/>
          <p:nvPr/>
        </p:nvSpPr>
        <p:spPr>
          <a:xfrm>
            <a:off x="731520" y="2971800"/>
            <a:ext cx="1572768" cy="1280160"/>
          </a:xfrm>
          <a:prstGeom prst="rect">
            <a:avLst/>
          </a:prstGeom>
          <a:noFill/>
          <a:ln/>
        </p:spPr>
        <p:txBody>
          <a:bodyPr wrap="square" lIns="0" tIns="0" rIns="0" bIns="0" rtlCol="0" anchor="t"/>
          <a:lstStyle/>
          <a:p>
            <a:pPr algn="l" indent="0" marL="0">
              <a:buNone/>
            </a:pPr>
            <a:r>
              <a:rPr lang="en-US" sz="1200" dirty="0">
                <a:solidFill>
                  <a:schemeClr val="bg1"/>
                </a:solidFill>
              </a:rPr>
              <a:t>Defined once, in the Industry Flow Observation object: industry net flow at a stated grain, from one release.</a:t>
            </a:r>
            <a:endParaRPr lang="en-US" sz="1200" dirty="0"/>
          </a:p>
        </p:txBody>
      </p:sp>
      <p:sp>
        <p:nvSpPr>
          <p:cNvPr id="9" name="Shape 6"/>
          <p:cNvSpPr/>
          <p:nvPr/>
        </p:nvSpPr>
        <p:spPr>
          <a:xfrm>
            <a:off x="2532888" y="3131820"/>
            <a:ext cx="258318" cy="0"/>
          </a:xfrm>
          <a:prstGeom prst="line">
            <a:avLst/>
          </a:prstGeom>
          <a:noFill/>
          <a:ln w="19050">
            <a:solidFill>
              <a:schemeClr val="tx2"/>
            </a:solidFill>
            <a:prstDash val="solid"/>
            <a:tailEnd type="triangle"/>
          </a:ln>
        </p:spPr>
      </p:sp>
      <p:sp>
        <p:nvSpPr>
          <p:cNvPr id="10" name="Shape 7"/>
          <p:cNvSpPr/>
          <p:nvPr/>
        </p:nvSpPr>
        <p:spPr>
          <a:xfrm>
            <a:off x="2836926" y="1874520"/>
            <a:ext cx="1938528" cy="2514600"/>
          </a:xfrm>
          <a:prstGeom prst="roundRect">
            <a:avLst>
              <a:gd name="adj" fmla="val 3774"/>
            </a:avLst>
          </a:prstGeom>
          <a:solidFill>
            <a:schemeClr val="bg2"/>
          </a:solidFill>
          <a:ln/>
        </p:spPr>
      </p:sp>
      <p:sp>
        <p:nvSpPr>
          <p:cNvPr id="11" name="Text 8"/>
          <p:cNvSpPr txBox="1"/>
          <p:nvPr/>
        </p:nvSpPr>
        <p:spPr>
          <a:xfrm>
            <a:off x="3019806"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FOUNDATIONAL</a:t>
            </a:r>
            <a:endParaRPr lang="en-US" sz="1100" dirty="0"/>
          </a:p>
        </p:txBody>
      </p:sp>
      <p:sp>
        <p:nvSpPr>
          <p:cNvPr id="12" name="Text 9"/>
          <p:cNvSpPr txBox="1"/>
          <p:nvPr/>
        </p:nvSpPr>
        <p:spPr>
          <a:xfrm>
            <a:off x="3019806"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DP-014</a:t>
            </a:r>
            <a:endParaRPr lang="en-US" sz="1400" dirty="0"/>
          </a:p>
        </p:txBody>
      </p:sp>
      <p:sp>
        <p:nvSpPr>
          <p:cNvPr id="13" name="Text 10"/>
          <p:cNvSpPr txBox="1"/>
          <p:nvPr/>
        </p:nvSpPr>
        <p:spPr>
          <a:xfrm>
            <a:off x="3019806"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Loads each vendor release once and keeps superseded ones. Quality rule: net flow = gross sales less redemptions.</a:t>
            </a:r>
            <a:endParaRPr lang="en-US" sz="1200" dirty="0"/>
          </a:p>
        </p:txBody>
      </p:sp>
      <p:sp>
        <p:nvSpPr>
          <p:cNvPr id="14" name="Shape 11"/>
          <p:cNvSpPr/>
          <p:nvPr/>
        </p:nvSpPr>
        <p:spPr>
          <a:xfrm>
            <a:off x="4821174" y="3131820"/>
            <a:ext cx="258318" cy="0"/>
          </a:xfrm>
          <a:prstGeom prst="line">
            <a:avLst/>
          </a:prstGeom>
          <a:noFill/>
          <a:ln w="19050">
            <a:solidFill>
              <a:schemeClr val="tx2"/>
            </a:solidFill>
            <a:prstDash val="solid"/>
            <a:tailEnd type="triangle"/>
          </a:ln>
        </p:spPr>
      </p:sp>
      <p:sp>
        <p:nvSpPr>
          <p:cNvPr id="15" name="Shape 12"/>
          <p:cNvSpPr/>
          <p:nvPr/>
        </p:nvSpPr>
        <p:spPr>
          <a:xfrm>
            <a:off x="5125212" y="1874520"/>
            <a:ext cx="1938528" cy="2514600"/>
          </a:xfrm>
          <a:prstGeom prst="roundRect">
            <a:avLst>
              <a:gd name="adj" fmla="val 3774"/>
            </a:avLst>
          </a:prstGeom>
          <a:solidFill>
            <a:schemeClr val="bg2"/>
          </a:solidFill>
          <a:ln/>
        </p:spPr>
      </p:sp>
      <p:sp>
        <p:nvSpPr>
          <p:cNvPr id="16" name="Text 13"/>
          <p:cNvSpPr txBox="1"/>
          <p:nvPr/>
        </p:nvSpPr>
        <p:spPr>
          <a:xfrm>
            <a:off x="5308092"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CONSUMER</a:t>
            </a:r>
            <a:endParaRPr lang="en-US" sz="1100" dirty="0"/>
          </a:p>
        </p:txBody>
      </p:sp>
      <p:sp>
        <p:nvSpPr>
          <p:cNvPr id="17" name="Text 14"/>
          <p:cNvSpPr txBox="1"/>
          <p:nvPr/>
        </p:nvSpPr>
        <p:spPr>
          <a:xfrm>
            <a:off x="5308092"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DP-031</a:t>
            </a:r>
            <a:endParaRPr lang="en-US" sz="1400" dirty="0"/>
          </a:p>
        </p:txBody>
      </p:sp>
      <p:sp>
        <p:nvSpPr>
          <p:cNvPr id="18" name="Text 15"/>
          <p:cNvSpPr txBox="1"/>
          <p:nvPr/>
        </p:nvSpPr>
        <p:spPr>
          <a:xfrm>
            <a:off x="5308092"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Market Sizing &amp; Share sets the firm's certified net flows beside the industry figure, segment by segment.</a:t>
            </a:r>
            <a:endParaRPr lang="en-US" sz="1200" dirty="0"/>
          </a:p>
        </p:txBody>
      </p:sp>
      <p:sp>
        <p:nvSpPr>
          <p:cNvPr id="19" name="Shape 16"/>
          <p:cNvSpPr/>
          <p:nvPr/>
        </p:nvSpPr>
        <p:spPr>
          <a:xfrm>
            <a:off x="7109460" y="3131820"/>
            <a:ext cx="258318" cy="0"/>
          </a:xfrm>
          <a:prstGeom prst="line">
            <a:avLst/>
          </a:prstGeom>
          <a:noFill/>
          <a:ln w="19050">
            <a:solidFill>
              <a:schemeClr val="tx2"/>
            </a:solidFill>
            <a:prstDash val="solid"/>
            <a:tailEnd type="triangle"/>
          </a:ln>
        </p:spPr>
      </p:sp>
      <p:sp>
        <p:nvSpPr>
          <p:cNvPr id="20" name="Shape 17"/>
          <p:cNvSpPr/>
          <p:nvPr/>
        </p:nvSpPr>
        <p:spPr>
          <a:xfrm>
            <a:off x="7413498" y="1874520"/>
            <a:ext cx="1938528" cy="2514600"/>
          </a:xfrm>
          <a:prstGeom prst="roundRect">
            <a:avLst>
              <a:gd name="adj" fmla="val 3774"/>
            </a:avLst>
          </a:prstGeom>
          <a:solidFill>
            <a:schemeClr val="bg2"/>
          </a:solidFill>
          <a:ln/>
        </p:spPr>
      </p:sp>
      <p:sp>
        <p:nvSpPr>
          <p:cNvPr id="21" name="Text 18"/>
          <p:cNvSpPr txBox="1"/>
          <p:nvPr/>
        </p:nvSpPr>
        <p:spPr>
          <a:xfrm>
            <a:off x="7596378"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SEMANTIC MODEL</a:t>
            </a:r>
            <a:endParaRPr lang="en-US" sz="1100" dirty="0"/>
          </a:p>
        </p:txBody>
      </p:sp>
      <p:sp>
        <p:nvSpPr>
          <p:cNvPr id="22" name="Text 19"/>
          <p:cNvSpPr txBox="1"/>
          <p:nvPr/>
        </p:nvSpPr>
        <p:spPr>
          <a:xfrm>
            <a:off x="7596378"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SM-06 Product &amp; Market</a:t>
            </a:r>
            <a:endParaRPr lang="en-US" sz="1400" dirty="0"/>
          </a:p>
        </p:txBody>
      </p:sp>
      <p:sp>
        <p:nvSpPr>
          <p:cNvPr id="23" name="Text 20"/>
          <p:cNvSpPr txBox="1"/>
          <p:nvPr/>
        </p:nvSpPr>
        <p:spPr>
          <a:xfrm>
            <a:off x="7596378"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Publishes Industry Net Flows and Fair Share Gap, always labeled as licensed third-party data.</a:t>
            </a:r>
            <a:endParaRPr lang="en-US" sz="1200" dirty="0"/>
          </a:p>
        </p:txBody>
      </p:sp>
      <p:sp>
        <p:nvSpPr>
          <p:cNvPr id="24" name="Shape 21"/>
          <p:cNvSpPr/>
          <p:nvPr/>
        </p:nvSpPr>
        <p:spPr>
          <a:xfrm>
            <a:off x="9397746" y="3131820"/>
            <a:ext cx="258318" cy="0"/>
          </a:xfrm>
          <a:prstGeom prst="line">
            <a:avLst/>
          </a:prstGeom>
          <a:noFill/>
          <a:ln w="19050">
            <a:solidFill>
              <a:schemeClr val="tx2"/>
            </a:solidFill>
            <a:prstDash val="solid"/>
            <a:tailEnd type="triangle"/>
          </a:ln>
        </p:spPr>
      </p:sp>
      <p:sp>
        <p:nvSpPr>
          <p:cNvPr id="25" name="Shape 22"/>
          <p:cNvSpPr/>
          <p:nvPr/>
        </p:nvSpPr>
        <p:spPr>
          <a:xfrm>
            <a:off x="9701784" y="1874520"/>
            <a:ext cx="1938528" cy="2514600"/>
          </a:xfrm>
          <a:prstGeom prst="roundRect">
            <a:avLst>
              <a:gd name="adj" fmla="val 3774"/>
            </a:avLst>
          </a:prstGeom>
          <a:solidFill>
            <a:schemeClr val="bg2"/>
          </a:solidFill>
          <a:ln/>
        </p:spPr>
      </p:sp>
      <p:sp>
        <p:nvSpPr>
          <p:cNvPr id="26" name="Text 23"/>
          <p:cNvSpPr txBox="1"/>
          <p:nvPr/>
        </p:nvSpPr>
        <p:spPr>
          <a:xfrm>
            <a:off x="9884664"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USE</a:t>
            </a:r>
            <a:endParaRPr lang="en-US" sz="1100" dirty="0"/>
          </a:p>
        </p:txBody>
      </p:sp>
      <p:sp>
        <p:nvSpPr>
          <p:cNvPr id="27" name="Text 24"/>
          <p:cNvSpPr txBox="1"/>
          <p:nvPr/>
        </p:nvSpPr>
        <p:spPr>
          <a:xfrm>
            <a:off x="9884664"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Dashboard or AI assistant</a:t>
            </a:r>
            <a:endParaRPr lang="en-US" sz="1400" dirty="0"/>
          </a:p>
        </p:txBody>
      </p:sp>
      <p:sp>
        <p:nvSpPr>
          <p:cNvPr id="28" name="Text 25"/>
          <p:cNvSpPr txBox="1"/>
          <p:nvPr/>
        </p:nvSpPr>
        <p:spPr>
          <a:xfrm>
            <a:off x="9884664"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“In which segments did we gather less than our fair share of net flows?”</a:t>
            </a:r>
            <a:endParaRPr lang="en-US" sz="1200" dirty="0"/>
          </a:p>
        </p:txBody>
      </p:sp>
      <p:sp>
        <p:nvSpPr>
          <p:cNvPr id="29" name="Shape 26"/>
          <p:cNvSpPr/>
          <p:nvPr/>
        </p:nvSpPr>
        <p:spPr>
          <a:xfrm>
            <a:off x="548640" y="4663440"/>
            <a:ext cx="11091672" cy="731520"/>
          </a:xfrm>
          <a:prstGeom prst="roundRect">
            <a:avLst>
              <a:gd name="adj" fmla="val 10000"/>
            </a:avLst>
          </a:prstGeom>
          <a:solidFill>
            <a:schemeClr val="tx1"/>
          </a:solidFill>
          <a:ln/>
        </p:spPr>
      </p:sp>
      <p:sp>
        <p:nvSpPr>
          <p:cNvPr id="30" name="Text 27"/>
          <p:cNvSpPr txBox="1"/>
          <p:nvPr/>
        </p:nvSpPr>
        <p:spPr>
          <a:xfrm>
            <a:off x="548640" y="4663440"/>
            <a:ext cx="11091672" cy="731520"/>
          </a:xfrm>
          <a:prstGeom prst="rect">
            <a:avLst/>
          </a:prstGeom>
          <a:noFill/>
          <a:ln/>
        </p:spPr>
        <p:txBody>
          <a:bodyPr wrap="square" lIns="0" tIns="0" rIns="0" bIns="0" rtlCol="0" anchor="ctr"/>
          <a:lstStyle/>
          <a:p>
            <a:pPr algn="ctr" indent="0" marL="0">
              <a:buNone/>
            </a:pPr>
            <a:r>
              <a:rPr lang="en-US" sz="1600" b="1" dirty="0">
                <a:solidFill>
                  <a:schemeClr val="bg1"/>
                </a:solidFill>
              </a:rPr>
              <a:t>Fair Share Gap  =  firm net flows minus (starting market share of assets x industry Net Flow)</a:t>
            </a:r>
            <a:endParaRPr lang="en-US" sz="1600" dirty="0"/>
          </a:p>
        </p:txBody>
      </p:sp>
      <p:sp>
        <p:nvSpPr>
          <p:cNvPr id="31" name="Text 28"/>
          <p:cNvSpPr txBox="1"/>
          <p:nvPr/>
        </p:nvSpPr>
        <p:spPr>
          <a:xfrm>
            <a:off x="548640" y="5623560"/>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Industry Net Flow is a vendor-basis number. The firm's own certified net flows are mastered in Sales Transactions &amp; AUM Attribution.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NEXT STEPS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What needs deciding next</a:t>
            </a:r>
            <a:endParaRPr lang="en-US" sz="3600" dirty="0"/>
          </a:p>
        </p:txBody>
      </p:sp>
      <p:sp>
        <p:nvSpPr>
          <p:cNvPr id="5" name="Text 2"/>
          <p:cNvSpPr txBox="1"/>
          <p:nvPr/>
        </p:nvSpPr>
        <p:spPr>
          <a:xfrm>
            <a:off x="548640" y="1783080"/>
            <a:ext cx="5303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OPEN DECISIONS</a:t>
            </a:r>
            <a:endParaRPr lang="en-US" sz="1200" dirty="0"/>
          </a:p>
        </p:txBody>
      </p:sp>
      <p:sp>
        <p:nvSpPr>
          <p:cNvPr id="6" name="Shape 3"/>
          <p:cNvSpPr/>
          <p:nvPr/>
        </p:nvSpPr>
        <p:spPr>
          <a:xfrm>
            <a:off x="548640" y="2148840"/>
            <a:ext cx="5303520" cy="841248"/>
          </a:xfrm>
          <a:prstGeom prst="roundRect">
            <a:avLst>
              <a:gd name="adj" fmla="val 8696"/>
            </a:avLst>
          </a:prstGeom>
          <a:solidFill>
            <a:schemeClr val="bg2"/>
          </a:solidFill>
          <a:ln/>
        </p:spPr>
      </p:sp>
      <p:sp>
        <p:nvSpPr>
          <p:cNvPr id="7" name="Text 4"/>
          <p:cNvSpPr/>
          <p:nvPr/>
        </p:nvSpPr>
        <p:spPr>
          <a:xfrm>
            <a:off x="731520" y="239572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CD-020</a:t>
            </a:r>
            <a:endParaRPr lang="en-US" sz="1100" dirty="0"/>
          </a:p>
        </p:txBody>
      </p:sp>
      <p:sp>
        <p:nvSpPr>
          <p:cNvPr id="8" name="Text 5"/>
          <p:cNvSpPr txBox="1"/>
          <p:nvPr/>
        </p:nvSpPr>
        <p:spPr>
          <a:xfrm>
            <a:off x="2057400" y="214884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This domain owns all published, peer-relative ratings and awards for own and peer funds. Consultant and partner ratings stay where they are.</a:t>
            </a:r>
            <a:endParaRPr lang="en-US" sz="1200" dirty="0"/>
          </a:p>
        </p:txBody>
      </p:sp>
      <p:sp>
        <p:nvSpPr>
          <p:cNvPr id="9" name="Shape 6"/>
          <p:cNvSpPr/>
          <p:nvPr/>
        </p:nvSpPr>
        <p:spPr>
          <a:xfrm>
            <a:off x="548640" y="3108960"/>
            <a:ext cx="5303520" cy="841248"/>
          </a:xfrm>
          <a:prstGeom prst="roundRect">
            <a:avLst>
              <a:gd name="adj" fmla="val 8696"/>
            </a:avLst>
          </a:prstGeom>
          <a:solidFill>
            <a:schemeClr val="bg2"/>
          </a:solidFill>
          <a:ln/>
        </p:spPr>
      </p:sp>
      <p:sp>
        <p:nvSpPr>
          <p:cNvPr id="10" name="Text 7"/>
          <p:cNvSpPr/>
          <p:nvPr/>
        </p:nvSpPr>
        <p:spPr>
          <a:xfrm>
            <a:off x="731520" y="335584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CD-041</a:t>
            </a:r>
            <a:endParaRPr lang="en-US" sz="1100" dirty="0"/>
          </a:p>
        </p:txBody>
      </p:sp>
      <p:sp>
        <p:nvSpPr>
          <p:cNvPr id="11" name="Text 8"/>
          <p:cNvSpPr txBox="1"/>
          <p:nvPr/>
        </p:nvSpPr>
        <p:spPr>
          <a:xfrm>
            <a:off x="2057400" y="310896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Certified net-flow definition. Industry net flow stays a separate, vendor-basis measure and is named as such.</a:t>
            </a:r>
            <a:endParaRPr lang="en-US" sz="1200" dirty="0"/>
          </a:p>
        </p:txBody>
      </p:sp>
      <p:sp>
        <p:nvSpPr>
          <p:cNvPr id="12" name="Shape 9"/>
          <p:cNvSpPr/>
          <p:nvPr/>
        </p:nvSpPr>
        <p:spPr>
          <a:xfrm>
            <a:off x="548640" y="4069080"/>
            <a:ext cx="5303520" cy="841248"/>
          </a:xfrm>
          <a:prstGeom prst="roundRect">
            <a:avLst>
              <a:gd name="adj" fmla="val 8696"/>
            </a:avLst>
          </a:prstGeom>
          <a:solidFill>
            <a:schemeClr val="bg2"/>
          </a:solidFill>
          <a:ln/>
        </p:spPr>
      </p:sp>
      <p:sp>
        <p:nvSpPr>
          <p:cNvPr id="13" name="Text 10"/>
          <p:cNvSpPr/>
          <p:nvPr/>
        </p:nvSpPr>
        <p:spPr>
          <a:xfrm>
            <a:off x="731520" y="431596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CD-021</a:t>
            </a:r>
            <a:endParaRPr lang="en-US" sz="1100" dirty="0"/>
          </a:p>
        </p:txBody>
      </p:sp>
      <p:sp>
        <p:nvSpPr>
          <p:cNvPr id="14" name="Text 11"/>
          <p:cNvSpPr txBox="1"/>
          <p:nvPr/>
        </p:nvSpPr>
        <p:spPr>
          <a:xfrm>
            <a:off x="2057400" y="406908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Where UK research agency ratings belong. Recommended: Distribution Agreements &amp; Partners, as gatekeeper ratings.</a:t>
            </a:r>
            <a:endParaRPr lang="en-US" sz="1200" dirty="0"/>
          </a:p>
        </p:txBody>
      </p:sp>
      <p:sp>
        <p:nvSpPr>
          <p:cNvPr id="15" name="Shape 12"/>
          <p:cNvSpPr/>
          <p:nvPr/>
        </p:nvSpPr>
        <p:spPr>
          <a:xfrm>
            <a:off x="548640" y="5029200"/>
            <a:ext cx="5303520" cy="841248"/>
          </a:xfrm>
          <a:prstGeom prst="roundRect">
            <a:avLst>
              <a:gd name="adj" fmla="val 8696"/>
            </a:avLst>
          </a:prstGeom>
          <a:solidFill>
            <a:schemeClr val="bg2"/>
          </a:solidFill>
          <a:ln/>
        </p:spPr>
      </p:sp>
      <p:sp>
        <p:nvSpPr>
          <p:cNvPr id="16" name="Text 13"/>
          <p:cNvSpPr/>
          <p:nvPr/>
        </p:nvSpPr>
        <p:spPr>
          <a:xfrm>
            <a:off x="731520" y="527608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CD-012</a:t>
            </a:r>
            <a:endParaRPr lang="en-US" sz="1100" dirty="0"/>
          </a:p>
        </p:txBody>
      </p:sp>
      <p:sp>
        <p:nvSpPr>
          <p:cNvPr id="17" name="Text 14"/>
          <p:cNvSpPr txBox="1"/>
          <p:nvPr/>
        </p:nvSpPr>
        <p:spPr>
          <a:xfrm>
            <a:off x="2057400" y="502920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Add a competitor party role and an asset manager organization type in Client &amp; Customer, under each competitor profile.</a:t>
            </a:r>
            <a:endParaRPr lang="en-US" sz="1200" dirty="0"/>
          </a:p>
        </p:txBody>
      </p:sp>
      <p:sp>
        <p:nvSpPr>
          <p:cNvPr id="18" name="Text 15"/>
          <p:cNvSpPr txBox="1"/>
          <p:nvPr/>
        </p:nvSpPr>
        <p:spPr>
          <a:xfrm>
            <a:off x="6336792" y="1783080"/>
            <a:ext cx="5303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NEXT STEPS</a:t>
            </a:r>
            <a:endParaRPr lang="en-US" sz="1200" dirty="0"/>
          </a:p>
        </p:txBody>
      </p:sp>
      <p:sp>
        <p:nvSpPr>
          <p:cNvPr id="19" name="Text 16"/>
          <p:cNvSpPr/>
          <p:nvPr/>
        </p:nvSpPr>
        <p:spPr>
          <a:xfrm>
            <a:off x="6336792" y="2240280"/>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0" name="Text 17"/>
          <p:cNvSpPr txBox="1"/>
          <p:nvPr/>
        </p:nvSpPr>
        <p:spPr>
          <a:xfrm>
            <a:off x="6903720" y="2148840"/>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Confirm which industry datasets are licensed today and which is the house denominator for US and EU/UK market share</a:t>
            </a:r>
            <a:endParaRPr lang="en-US" sz="1300" dirty="0"/>
          </a:p>
        </p:txBody>
      </p:sp>
      <p:sp>
        <p:nvSpPr>
          <p:cNvPr id="21" name="Text 18"/>
          <p:cNvSpPr/>
          <p:nvPr/>
        </p:nvSpPr>
        <p:spPr>
          <a:xfrm>
            <a:off x="6336792" y="3008376"/>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2" name="Text 19"/>
          <p:cNvSpPr txBox="1"/>
          <p:nvPr/>
        </p:nvSpPr>
        <p:spPr>
          <a:xfrm>
            <a:off x="6903720" y="2916936"/>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Ratify rating ownership with Investment Product, Sales and Distribution Agreements &amp; Partners</a:t>
            </a:r>
            <a:endParaRPr lang="en-US" sz="1300" dirty="0"/>
          </a:p>
        </p:txBody>
      </p:sp>
      <p:sp>
        <p:nvSpPr>
          <p:cNvPr id="23" name="Text 20"/>
          <p:cNvSpPr/>
          <p:nvPr/>
        </p:nvSpPr>
        <p:spPr>
          <a:xfrm>
            <a:off x="6336792" y="3776472"/>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4" name="Text 21"/>
          <p:cNvSpPr txBox="1"/>
          <p:nvPr/>
        </p:nvSpPr>
        <p:spPr>
          <a:xfrm>
            <a:off x="6903720" y="3685032"/>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Ask Client &amp; Customer for a competitor role, and Compensation &amp; Territory to reference market sizing records</a:t>
            </a:r>
            <a:endParaRPr lang="en-US" sz="1300" dirty="0"/>
          </a:p>
        </p:txBody>
      </p:sp>
      <p:sp>
        <p:nvSpPr>
          <p:cNvPr id="25" name="Text 22"/>
          <p:cNvSpPr/>
          <p:nvPr/>
        </p:nvSpPr>
        <p:spPr>
          <a:xfrm>
            <a:off x="6336792" y="4544568"/>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6" name="Text 23"/>
          <p:cNvSpPr txBox="1"/>
          <p:nvPr/>
        </p:nvSpPr>
        <p:spPr>
          <a:xfrm>
            <a:off x="6903720" y="4453128"/>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Pilot one category end to end: dataset, release, observation, mapping, market share, peer universe, rating and fee study</a:t>
            </a:r>
            <a:endParaRPr lang="en-US" sz="1300" dirty="0"/>
          </a:p>
        </p:txBody>
      </p:sp>
      <p:sp>
        <p:nvSpPr>
          <p:cNvPr id="27" name="Text 24"/>
          <p:cNvSpPr/>
          <p:nvPr/>
        </p:nvSpPr>
        <p:spPr>
          <a:xfrm>
            <a:off x="6336792" y="5312664"/>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8" name="Text 25"/>
          <p:cNvSpPr txBox="1"/>
          <p:nvPr/>
        </p:nvSpPr>
        <p:spPr>
          <a:xfrm>
            <a:off x="6903720" y="5221224"/>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Decide the 15 open gaps, starting with the three high-priority lineage gaps in the spine</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CG Taxonomy">
  <a:themeElements>
    <a:clrScheme name="CG Taxonomy">
      <a:dk1>
        <a:srgbClr val="0C233C"/>
      </a:dk1>
      <a:lt1>
        <a:srgbClr val="FFFFFF"/>
      </a:lt1>
      <a:dk2>
        <a:srgbClr val="535E6C"/>
      </a:dk2>
      <a:lt2>
        <a:srgbClr val="EEF1F8"/>
      </a:lt2>
      <a:accent1>
        <a:srgbClr val="1E49E2"/>
      </a:accent1>
      <a:accent2>
        <a:srgbClr val="7213EA"/>
      </a:accent2>
      <a:accent3>
        <a:srgbClr val="00B8F5"/>
      </a:accent3>
      <a:accent4>
        <a:srgbClr val="C8166F"/>
      </a:accent4>
      <a:accent5>
        <a:srgbClr val="00796F"/>
      </a:accent5>
      <a:accent6>
        <a:srgbClr val="ACEAFF"/>
      </a:accent6>
      <a:hlink>
        <a:srgbClr val="1E49E2"/>
      </a:hlink>
      <a:folHlink>
        <a:srgbClr val="7213EA"/>
      </a:folHlink>
    </a:clrScheme>
    <a:fontScheme name="CG Taxonom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Market &amp; Competitive Intelligence taxonomy walkthrough</dc:title>
  <dc:subject>PptxGenJS Presentation</dc:subject>
  <dc:creator>Distribution Data Taxonomy Program</dc:creator>
  <cp:lastModifiedBy>Distribution Data Taxonomy Program</cp:lastModifiedBy>
  <cp:revision>1</cp:revision>
  <dcterms:created xsi:type="dcterms:W3CDTF">2026-10-06T08:37:07Z</dcterms:created>
  <dcterms:modified xsi:type="dcterms:W3CDTF">2026-10-06T08:37:07Z</dcterms:modified>
</cp:coreProperties>
</file>