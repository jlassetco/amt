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447d89c-5086-7f9f-7772-17627d074280}">
          <p14:sldIdLst>
            <p14:sldId id="256"/>
            <p14:sldId id="257"/>
            <p14:sldId id="258"/>
            <p14:sldId id="259"/>
          </p14:sldIdLst>
        </p14:section>
        <p14:section name="What is included" id="{899e7bab-1c48-6f22-7f90-aecf4589a025}">
          <p14:sldIdLst>
            <p14:sldId id="260"/>
            <p14:sldId id="261"/>
            <p14:sldId id="262"/>
            <p14:sldId id="263"/>
            <p14:sldId id="264"/>
          </p14:sldIdLst>
        </p14:section>
        <p14:section name="What is excluded" id="{8fa4d758-2f9b-aec2-06fe-db86bd48f527}">
          <p14:sldIdLst>
            <p14:sldId id="265"/>
            <p14:sldId id="266"/>
            <p14:sldId id="267"/>
          </p14:sldIdLst>
        </p14:section>
        <p14:section name="How it is used" id="{6cb7c38a-641d-2832-65ea-5b2418ff0e4f}">
          <p14:sldIdLst>
            <p14:sldId id="268"/>
            <p14:sldId id="269"/>
          </p14:sldIdLst>
        </p14:section>
        <p14:section name="Data products" id="{6cf9652d-9356-6643-fefe-9f0ad6b26c47}">
          <p14:sldIdLst>
            <p14:sldId id="270"/>
            <p14:sldId id="271"/>
            <p14:sldId id="272"/>
            <p14:sldId id="273"/>
          </p14:sldIdLst>
        </p14:section>
        <p14:section name="Next steps" id="{661e5b3b-3335-1641-80a3-d9780a365619}">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Internal (firm-defined)</c:v>
                  </c:pt>
                  <c:pt idx="1">
                    <c:v>Internal Revenue Code</c:v>
                  </c:pt>
                  <c:pt idx="2">
                    <c:v>DOL regulations and VFCP</c:v>
                  </c:pt>
                  <c:pt idx="3">
                    <c:v>IRS forms, EPCRS and notices</c:v>
                  </c:pt>
                  <c:pt idx="4">
                    <c:v>DOL Form 5500 and EFAST2</c:v>
                  </c:pt>
                  <c:pt idx="5">
                    <c:v>ERISA</c:v>
                  </c:pt>
                  <c:pt idx="6">
                    <c:v>SPARK Institute</c:v>
                  </c:pt>
                  <c:pt idx="7">
                    <c:v>Other standards and regulation</c:v>
                  </c:pt>
                </c:lvl>
              </c:multiLvlStrCache>
            </c:multiLvlStrRef>
          </c:cat>
          <c:val>
            <c:numRef>
              <c:f>Sheet1!$B$2:$B$9</c:f>
              <c:numCache>
                <c:formatCode>General</c:formatCode>
                <c:ptCount val="8"/>
                <c:pt idx="0">
                  <c:v>153</c:v>
                </c:pt>
                <c:pt idx="1">
                  <c:v>51</c:v>
                </c:pt>
                <c:pt idx="2">
                  <c:v>17</c:v>
                </c:pt>
                <c:pt idx="3">
                  <c:v>16</c:v>
                </c:pt>
                <c:pt idx="4">
                  <c:v>12</c:v>
                </c:pt>
                <c:pt idx="5">
                  <c:v>11</c:v>
                </c:pt>
                <c:pt idx="6">
                  <c:v>5</c:v>
                </c:pt>
                <c:pt idx="7">
                  <c:v>10</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3 of 43)</a:t>
            </a:r>
          </a:p>
        </c:rich>
      </c:tx>
      <c:layout/>
      <c:overlay val="0"/>
    </c:title>
    <c:autoTitleDeleted val="0"/>
    <c:plotArea>
      <c:layout/>
      <c:barChart>
        <c:barDir val="bar"/>
        <c:grouping val="clustered"/>
        <c:varyColors val="0"/>
        <c:ser>
          <c:idx val="0"/>
          <c:order val="0"/>
          <c:tx>
            <c:strRef>
              <c:f>Sheet1!$B$1</c:f>
              <c:strCache>
                <c:ptCount val="1"/>
                <c:pt idx="0">
                  <c:v>Products reading each object (top 3 of 43)</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Sheet1!$A$2:$A$4</c:f>
              <c:multiLvlStrCache>
                <c:ptCount val="3"/>
                <c:lvl>
                  <c:pt idx="0">
                    <c:v>Participant Plan Membership</c:v>
                  </c:pt>
                  <c:pt idx="1">
                    <c:v>Plan Type Detail</c:v>
                  </c:pt>
                  <c:pt idx="2">
                    <c:v>Plan Document</c:v>
                  </c:pt>
                </c:lvl>
              </c:multiLvlStrCache>
            </c:multiLvlStrRef>
          </c:cat>
          <c:val>
            <c:numRef>
              <c:f>Sheet1!$B$2:$B$4</c:f>
              <c:numCache>
                <c:formatCode>General</c:formatCode>
                <c:ptCount val="3"/>
                <c:pt idx="0">
                  <c:v>3</c:v>
                </c:pt>
                <c:pt idx="1">
                  <c:v>2</c:v>
                </c:pt>
                <c:pt idx="2">
                  <c:v>2</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Retirement Plan Administration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The firm sells funds into plans that other firms recordkeep, and it also recordkeeps a large book of small and mid-sized defined contribution plans itself. This domain covers the second business: administering the plans where the firm is the system of record. It holds what only the plan's recordkeeper knows, from the governing document and its provisions through participant elections, contributions, loans, vesting, distributions, compliance testing, government filings and conversions. The plan and every person around it stay parties in Client &amp; Customer, and the participant account stays in Account. It is a new domain, added this month, with 11 families, 43 objects and 275 attributes. Three data products read it, all three owned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Retirement Plan Administration is one of 16 domains, with 11 families, 43 objects and 275 attributes. The purple text shows the path to one attribute, Pre-Tax Deferral Percentage, which sits on the Deferral Election object in the Participant Eligibility, Enrollment and Elections family. We follow it to an answer near the end of the deck. For every attribute the taxonomy records one definition with an example value, the data type and code list, what it applies to, the statute, regulation or standard it aligns to, whether it is a proposed critical data element, and whether it is mastered here, referenced or a derived copy.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model has three parts. On the left is the rule: the plan document and its provisions, which say what the plan allows, and the dated assignment of sponsor, trustee, fiduciary, TPA and advisor roles. The plan itself is a party in Client &amp; Customer; this domain adds what its recordkeeper knows. In the middle is the member and what the plan offers: each participant's membership, with eligibility, entry, enrollment, HCE status and elections; the investment menu of share classes by menu role; and the service arrangement with its fee schedule and required notices. On the right are the events: contributions, loans, vesting, distributions and tests. Each event names its membership and its money source. The cash posting itself is a transaction mastered in Sales Transactions and AUM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11 data families. For this walkthrough they are grouped in three. The spine is two families and 70 attributes: the plan document with its provisions, and the participant's membership with its elections. Running the plan is five families and 104 attributes: fiduciary and service roles with fees and notices, the investment menu, compliance testing and corrections, government filings and audit, and onboarding, conversion and termination. Participant money, in and out, is four families and 101 attributes: contributions and limits, loans, vesting and forfeitures, and distributions with tax reporting.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70 attributes. Plan Document and Provisions is the rule: the adoption agreement, its amendments and restatements, and the provisions the recordkeeping platform enforces. Those provisions are attribute groups on the document: plan type and plan year, eligibility and entry, deferral and automatic enrollment features, employer contribution formulas by money source, vesting schedules, withdrawal and forfeiture rules, and SIMPLE IRA and SEP program detail. Participant Eligibility, Enrollment and Elections is the member: one membership per participant and plan, with eligibility and entry dates, enrollment method, HCE status and the spousal consent on file, plus payroll-fed employment events and the dated deferral and investment elections. Business objects, in bold, have their own key. Attribute groups are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104 attributes. Plan Fiduciaries, Service Roles and Fee Arrangement records who holds each fiduciary and service role on the plan with effective dates, the recordkeeping program and service arrangement, the fee schedule, and every statutory notice with its due date and delivery date. Plan Investment Menu is the line-up offered to participants, each option's role such as core or QDIA, and the fund change events that map balances between options. Compliance Testing and Plan Corrections holds the annual nondiscrimination tests, the corrections they trigger and plan corrections under the IRS and DOL programs. Government Filings and Plan Audit covers the Form 5500 series and Form 8955-SSA with due dates and status, and support for the independent audit of large plans. Plan Onboarding, Conversion and Termination covers takeovers, deconversions, blackout periods, reconciliation and terminations.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101 attributes. Contributions and Limits starts with the sponsor's payroll remittance, the contribution batch, and the contribution records by money source inside it, then tracks each participant's statutory limits for the year and any late deposit case with its lost earnings. Participant Loans holds the plan's loan rules, each loan with its terms and status, the repayments applied to it, and the cure period, deemed distribution and offset dates when a loan goes bad. Vesting and Forfeitures credits service by plan year, calculates the vested share of each employer money source, and records forfeitures and how the plan used them. Distributions, Rollovers and Tax Reporting holds every request to pay money out, with withholding and Form 1099-R box 7 detail, the annual required minimum distribution and QDRO cases. The cash itself is a transaction; the balance is in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statute, regulation, form or standard it is aligned to. 122 of the 275 attributes, 44 percent, align to an external source. The Internal Revenue Code is the largest, with 51 attributes, mostly sections 401(k), 402(g), 410, 411, 414 and 72(p). DOL regulations under 29 CFR and the VFCP correction program give 17, IRS forms, EPCRS and notices 16, Form 5500 and EFAST2 12, and ERISA itself 11. The SPARK Institute recordkeeper vocabulary gives 5. 153 attributes are firm-defined because no authoritative external definition exists: identifiers, statuses, dates received and internal references. 63 attributes take their values from a controlled code list. 19 are flagged as personal data; participant-level records fall under GLBA and state privacy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Retirement Plan Administration says how a recordkept plan is run. It deliberately leaves out who the parties are, what they hold and how the cash moved. This table shows where each excluded subject lives and the small amount this domain keeps so that it can point to it. Three boundaries matter most. The plan and every person around it, from sponsor to alternate payee, are parties in Client and Customer; this domain references them by ID. The participant account, its balances by money source and the beneficiary designation are in Account; this domain keeps the membership, which exists before an account is funded. Contributions, loans, distributions and forfeitures create transactions in Sales Transactions and AUM Attribution; this domain keeps the business record and the transaction ID. Plans recordkept by other firms are not administered here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229 of the 275 are mastered in Retirement Plan Administration. 43 are references, which hold only the ID of a record mastered in another domain, and 3 are derived copies. Client and Customer is by far the largest source, with 24 references and one copy, because every object names the plan it belongs to and many name a party such as the sponsor, participant, auditor or alternate payee. Sales Transactions and AUM Attribution and Account each supply 6 references and one copy: the transaction behind each posting, the position a vested percentage applies to, and the participant account. In the other direction, no attribute in another domain references a record mastered here yet, because the domain was added this month. Record Metadata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gaps have been logged against this domain yet. The three data products were specified in the same pass as the taxonomy, so the build found nothing missing, and the gap register has no entry. That will change once the products are modeled and the consolidation runs. The Source Notes already list the first candidates, shown here with the label Candidate rather than a gap ID. The money source list is defined here and in Account and belongs in the shared code list registry. The plan service role lists here and in Client and Customer need harmonizing. The transaction types for loans, forfeitures and mapping exchanges need confirming. And the 31 proposed key prefixes, including GFIL- for government filings, await confirmation. Each will become a logged gap with a decision owner when it is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the plan administration sources are mapped to: the recordkeeping platform, payroll feeds, the compliance testing engine, Form 5500 software and EFAST2 acknowledgments. That mapping is Phase D and has not been done. Second, it is the bill of materials for the three data products: each product lists the exact attributes it uses, and the build fails if one does not exist. Third, the plan is already a shared dimension, published in SM-00 from DP-003; participant membership and the plan menu would join it once DP-094 is modeled, proposed for SM-04. Fourth, the ownership flags, the 84 proposed critical data elements and the 19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one foundational product, DP-094, Recordkept Plan and Participant Core, owned by the Head of Retirement Plan Services. It is the conformed master of the plans the firm recordkeeps and the participants in them: the current plan document with its provisions, fiduciary and service roles, the service arrangement and fees, the investment menu, and each participant's membership, elections, vesting and conversions. 129 of its 156 attributes come from 22 of this domain's 43 objects; the rest come from its upstream products, including the conformed plan in DP-003 and the conformed account in DP-093. It refreshes daily by 6am Eastern and keeps type 2 history on every membership, election, role and provision. The two other products this domain owns, DP-095 and DP-096, both name it as their direct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of the 96 specified data products list this domain's objects among their inputs: one foundational and two consumer-aligned, and all three are owned here. Every one of the 43 objects is used by at least one product, and 273 of the 275 attributes, 99 percent, appear in a product specification. Participant Plan Membership is the most used object, read by all three products, because every operational and compliance record is keyed to a membership. Plan Document and Plan Type Detail are read by two, since DP-096 derives every deadline from the plan year end on the document. The remaining 40 objects are read by one product each. The three readers are one of each type: master and reference, operational, and regulatory and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data products have Retirement Plan Administration as their owning domain. DP-094, Recordkept Plan and Participant Core, is the foundational product: every recordkept plan with its provisions, roles, menu and participants, keyed to the conformed plan and account. DP-095, Plan Contribution, Loan and Distribution Operations, is the daily operational view of money movement: contribution batches, loans, distributions, limit tracking and cases, with good-order, aging and limit flags so that plan services operations work the day's exceptions from one list. DP-096, Plan Compliance Testing and Filing Status, gives plan compliance one register per plan year of what is due, late and corrected. The bar on the right shows how many of each product's input attributes come from this domain. The rest come from the conformed plan, account, share class and transaction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product owned by another domain reads this domain yet, so this table has no product IDs. The domain was added this month, and the only products that read it are the three it owns. That is expected to change. The concept register already records three planned links: Account will hold participant positions in the plan menu options defined here, Distribution Finance and Profitability plans to recognize recordkeeping fee revenue from the plan fee schedule, and Investor Servicing and Shareholder Communications will carry the notices and Form 1099-R documents whose obligations and detail are defined here. None of those is yet a product that lists this domain's attributes among its inputs, so the catalog count stays at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Pre-Tax Deferral Percentage is defined once in this domain, on the Deferral Election object: the pre-tax rate a participant elects, effective from a pay date, with its source, whether the participant chose it, the plan default applied, or an automatic increase. DP-094 keeps at most one election per membership per date, checks that the rate is between 0 and 100, and publishes Participation Rate percent and Average Deferral Rate percent by plan. DP-096 reads the plan year from DP-094 and reports the ADP test, which compares the average deferral rates of highly and non-highly compensated employees, with any corrections. No semantic model publishes these yet; the proposal is to join SM-04 Institutional and Retirement through the retirement plan dimension already in SM-00. The same definition then answers the plan health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decision log entry or gap names this domain yet, so the four open decisions here come from the SME questions in the Source Notes. The first is which recordkeeping programs are in scope and whether the program list matches the firm's product names. The second is whether the firm or an affiliate holds any fiduciary role, such as 3(16) administrator or 3(38) manager, and who signs Form 5500. The third is whether SIMPLE IRA and SEP programs run on the recordkeeping platform or the IRA platform. The fourth is the boundary with Account and Sales Transactions. The next steps on the right come from the Source Notes: validate with the business, confirm the 31 prefixes, map to source systems, verify the unverified items, and decide which trimmed attributes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Retirement Plan Administration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RETIREMENT PLAN ADMINISTRATION</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Retirement Plan Administration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Plan Document</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the plan allows</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500" b="1" dirty="0">
                <a:solidFill>
                  <a:schemeClr val="bg1"/>
                </a:solidFill>
              </a:rPr>
              <a:t>Participant Membership</a:t>
            </a:r>
            <a:endParaRPr lang="en-US" sz="15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is in the plan</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500" b="1" dirty="0">
                <a:solidFill>
                  <a:schemeClr val="bg1"/>
                </a:solidFill>
              </a:rPr>
              <a:t>Contribution to Payout</a:t>
            </a:r>
            <a:endParaRPr lang="en-US" sz="15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happened, by money source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how a plan is run,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11</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43</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275</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84</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What only the plan's recordkeeper knows: the governing document and provisions, fiduciary and service roles, fees and notices, the menu, memberships and elections, contributions, loans, vesting, payouts, tests and filings.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plan, sponsor and participants as parties; participant accounts and balances; share classes; cash and share postings; statements and Form 1099-R documents; and plans that other firms recordkeep.</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the recordkeeping platform, payroll feeds and the testing engine, the bill of materials for three data products, and the deadline and evidence trail that audits and examinations rely on.</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3 of the 96 data products read it directly, all three owned here. DP-094, the foundational plan and participant product, is the one upstream the other two share.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Retirement Plan Administration</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11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Participant Eligibility, Enrollment &amp; Elections</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43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Deferral Election</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275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Pre-Tax Deferral Percentage</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plan, membership or processing record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Core model: the rule, the member, the event</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THE RULE</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THE MEMBER AND THE MENU</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THE EVENT</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Plan Document</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What the document allows, PDOC-</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Plan Role Assignment</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Sponsor, trustee, fiduciary, TPA</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The plan is a Client &amp; Customer party; here is what its document says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Participant Plan Membership</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Eligibility, entry, elections, HCE status</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Plan Investment Menu</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Share class x menu role; fund changes</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Service Arrangement</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Program, fee schedule, required notices</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Operations and compliance</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Contributions, loans, payouts, tests</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Each event names its membership and money source. The cash posting is a transaction mastered elsewhere.</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Separate the rule from the event: provisions say what the document allows, elections and processing records say what happened. The plan and its people are parties, balances sit on the account, and cash movements are transactions.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11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Eleven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13 objects  |  70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Plan Document &amp; Provisions</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9 objects  |  38 attributes  |  12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47288"/>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Participant Eligibility, Enrollment &amp; Elections</a:t>
            </a:r>
            <a:endParaRPr lang="en-US" sz="1000" dirty="0"/>
          </a:p>
        </p:txBody>
      </p:sp>
      <p:sp>
        <p:nvSpPr>
          <p:cNvPr id="13" name="Text 10"/>
          <p:cNvSpPr txBox="1"/>
          <p:nvPr/>
        </p:nvSpPr>
        <p:spPr>
          <a:xfrm>
            <a:off x="731520" y="3794760"/>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4 objects  |  32 attributes  |  11 critical</a:t>
            </a:r>
            <a:endParaRPr lang="en-US" sz="10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Running the plan</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15 objects  |  104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34056"/>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Plan Fiduciaries, Service Roles &amp; Fee Arrangement</a:t>
            </a:r>
            <a:endParaRPr lang="en-US" sz="1000" dirty="0"/>
          </a:p>
        </p:txBody>
      </p:sp>
      <p:sp>
        <p:nvSpPr>
          <p:cNvPr id="19" name="Text 16"/>
          <p:cNvSpPr txBox="1"/>
          <p:nvPr/>
        </p:nvSpPr>
        <p:spPr>
          <a:xfrm>
            <a:off x="4521708" y="3081528"/>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4 objects  |  26 attributes  |  9 critical</a:t>
            </a:r>
            <a:endParaRPr lang="en-US" sz="10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Plan Investment Menu</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14 attributes  |  5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Compliance Testing &amp; Plan Corrections</a:t>
            </a:r>
            <a:endParaRPr lang="en-US" sz="11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23 attributes  |  7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Government Filings &amp; Plan Audit</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7 critical</a:t>
            </a:r>
            <a:endParaRPr lang="en-US" sz="1100" dirty="0"/>
          </a:p>
        </p:txBody>
      </p:sp>
      <p:sp>
        <p:nvSpPr>
          <p:cNvPr id="29" name="Shape 26"/>
          <p:cNvSpPr/>
          <p:nvPr/>
        </p:nvSpPr>
        <p:spPr>
          <a:xfrm>
            <a:off x="4338828" y="5550408"/>
            <a:ext cx="3511296" cy="612648"/>
          </a:xfrm>
          <a:prstGeom prst="roundRect">
            <a:avLst>
              <a:gd name="adj" fmla="val 11940"/>
            </a:avLst>
          </a:prstGeom>
          <a:solidFill>
            <a:schemeClr val="bg2"/>
          </a:solidFill>
          <a:ln/>
        </p:spPr>
      </p:sp>
      <p:sp>
        <p:nvSpPr>
          <p:cNvPr id="30" name="Text 27"/>
          <p:cNvSpPr txBox="1"/>
          <p:nvPr/>
        </p:nvSpPr>
        <p:spPr>
          <a:xfrm>
            <a:off x="4521708" y="5605272"/>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Plan Onboarding, Conversion &amp; Termination</a:t>
            </a:r>
            <a:endParaRPr lang="en-US" sz="1100" dirty="0"/>
          </a:p>
        </p:txBody>
      </p:sp>
      <p:sp>
        <p:nvSpPr>
          <p:cNvPr id="31" name="Text 28"/>
          <p:cNvSpPr txBox="1"/>
          <p:nvPr/>
        </p:nvSpPr>
        <p:spPr>
          <a:xfrm>
            <a:off x="4521708"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19 attributes  |  6 critical</a:t>
            </a:r>
            <a:endParaRPr lang="en-US" sz="1100" dirty="0"/>
          </a:p>
        </p:txBody>
      </p:sp>
      <p:sp>
        <p:nvSpPr>
          <p:cNvPr id="32" name="Shape 29"/>
          <p:cNvSpPr/>
          <p:nvPr/>
        </p:nvSpPr>
        <p:spPr>
          <a:xfrm>
            <a:off x="8129016" y="1783080"/>
            <a:ext cx="3511296" cy="777240"/>
          </a:xfrm>
          <a:prstGeom prst="roundRect">
            <a:avLst>
              <a:gd name="adj" fmla="val 9412"/>
            </a:avLst>
          </a:prstGeom>
          <a:solidFill>
            <a:schemeClr val="accent5"/>
          </a:solidFill>
          <a:ln/>
        </p:spPr>
      </p:sp>
      <p:sp>
        <p:nvSpPr>
          <p:cNvPr id="33" name="Text 30"/>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Participant money, in and out</a:t>
            </a:r>
            <a:endParaRPr lang="en-US" sz="1400" dirty="0"/>
          </a:p>
        </p:txBody>
      </p:sp>
      <p:sp>
        <p:nvSpPr>
          <p:cNvPr id="34" name="Text 31"/>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15 objects  |  101 attributes</a:t>
            </a:r>
            <a:endParaRPr lang="en-US" sz="1200" dirty="0"/>
          </a:p>
        </p:txBody>
      </p:sp>
      <p:sp>
        <p:nvSpPr>
          <p:cNvPr id="35" name="Shape 32"/>
          <p:cNvSpPr/>
          <p:nvPr/>
        </p:nvSpPr>
        <p:spPr>
          <a:xfrm>
            <a:off x="8129016" y="2697480"/>
            <a:ext cx="3511296" cy="612648"/>
          </a:xfrm>
          <a:prstGeom prst="roundRect">
            <a:avLst>
              <a:gd name="adj" fmla="val 11940"/>
            </a:avLst>
          </a:prstGeom>
          <a:solidFill>
            <a:schemeClr val="bg2"/>
          </a:solidFill>
          <a:ln/>
        </p:spPr>
      </p:sp>
      <p:sp>
        <p:nvSpPr>
          <p:cNvPr id="36" name="Text 33"/>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Contributions &amp; Limits</a:t>
            </a:r>
            <a:endParaRPr lang="en-US" sz="1300" dirty="0"/>
          </a:p>
        </p:txBody>
      </p:sp>
      <p:sp>
        <p:nvSpPr>
          <p:cNvPr id="37" name="Text 34"/>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27 attributes  |  9 critical</a:t>
            </a:r>
            <a:endParaRPr lang="en-US" sz="1100" dirty="0"/>
          </a:p>
        </p:txBody>
      </p:sp>
      <p:sp>
        <p:nvSpPr>
          <p:cNvPr id="38" name="Shape 35"/>
          <p:cNvSpPr/>
          <p:nvPr/>
        </p:nvSpPr>
        <p:spPr>
          <a:xfrm>
            <a:off x="8129016" y="3410712"/>
            <a:ext cx="3511296" cy="612648"/>
          </a:xfrm>
          <a:prstGeom prst="roundRect">
            <a:avLst>
              <a:gd name="adj" fmla="val 11940"/>
            </a:avLst>
          </a:prstGeom>
          <a:solidFill>
            <a:schemeClr val="bg2"/>
          </a:solidFill>
          <a:ln/>
        </p:spPr>
      </p:sp>
      <p:sp>
        <p:nvSpPr>
          <p:cNvPr id="39" name="Text 36"/>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Participant Loans</a:t>
            </a:r>
            <a:endParaRPr lang="en-US" sz="1300" dirty="0"/>
          </a:p>
        </p:txBody>
      </p:sp>
      <p:sp>
        <p:nvSpPr>
          <p:cNvPr id="40" name="Text 37"/>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24 attributes  |  4 critical</a:t>
            </a:r>
            <a:endParaRPr lang="en-US" sz="1100" dirty="0"/>
          </a:p>
        </p:txBody>
      </p:sp>
      <p:sp>
        <p:nvSpPr>
          <p:cNvPr id="41" name="Shape 38"/>
          <p:cNvSpPr/>
          <p:nvPr/>
        </p:nvSpPr>
        <p:spPr>
          <a:xfrm>
            <a:off x="8129016" y="4123944"/>
            <a:ext cx="3511296" cy="612648"/>
          </a:xfrm>
          <a:prstGeom prst="roundRect">
            <a:avLst>
              <a:gd name="adj" fmla="val 11940"/>
            </a:avLst>
          </a:prstGeom>
          <a:solidFill>
            <a:schemeClr val="bg2"/>
          </a:solidFill>
          <a:ln/>
        </p:spPr>
      </p:sp>
      <p:sp>
        <p:nvSpPr>
          <p:cNvPr id="42" name="Text 39"/>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Vesting &amp; Forfeitures</a:t>
            </a:r>
            <a:endParaRPr lang="en-US" sz="1300" dirty="0"/>
          </a:p>
        </p:txBody>
      </p:sp>
      <p:sp>
        <p:nvSpPr>
          <p:cNvPr id="43" name="Text 40"/>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19 attributes  |  4 critical</a:t>
            </a:r>
            <a:endParaRPr lang="en-US" sz="1100" dirty="0"/>
          </a:p>
        </p:txBody>
      </p:sp>
      <p:sp>
        <p:nvSpPr>
          <p:cNvPr id="44" name="Shape 41"/>
          <p:cNvSpPr/>
          <p:nvPr/>
        </p:nvSpPr>
        <p:spPr>
          <a:xfrm>
            <a:off x="8129016" y="4837176"/>
            <a:ext cx="3511296" cy="612648"/>
          </a:xfrm>
          <a:prstGeom prst="roundRect">
            <a:avLst>
              <a:gd name="adj" fmla="val 11940"/>
            </a:avLst>
          </a:prstGeom>
          <a:solidFill>
            <a:schemeClr val="bg2"/>
          </a:solidFill>
          <a:ln/>
        </p:spPr>
      </p:sp>
      <p:sp>
        <p:nvSpPr>
          <p:cNvPr id="45" name="Text 42"/>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Distributions, Rollovers &amp; Tax Reporting</a:t>
            </a:r>
            <a:endParaRPr lang="en-US" sz="1100" dirty="0"/>
          </a:p>
        </p:txBody>
      </p:sp>
      <p:sp>
        <p:nvSpPr>
          <p:cNvPr id="46" name="Text 43"/>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31 attributes  |  10 critical</a:t>
            </a:r>
            <a:endParaRPr lang="en-US" sz="1100" dirty="0"/>
          </a:p>
        </p:txBody>
      </p:sp>
      <p:sp>
        <p:nvSpPr>
          <p:cNvPr id="47" name="Text 44"/>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the plan's rules and its members</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Plan Document &amp; Provisions</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9 objects  |  38 attributes  |  12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The governing document, its amendments, and the provisions the platform enforces: eligibility, deferrals, vesting.</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Plan Document, </a:t>
            </a:r>
            <a:pPr indent="0" marL="0">
              <a:buNone/>
            </a:pPr>
            <a:r>
              <a:rPr lang="en-US" sz="1300" b="1" dirty="0">
                <a:solidFill>
                  <a:schemeClr val="tx1"/>
                </a:solidFill>
              </a:rPr>
              <a:t>Plan Amendment, </a:t>
            </a:r>
            <a:pPr indent="0" marL="0">
              <a:buNone/>
            </a:pPr>
            <a:r>
              <a:rPr lang="en-US" sz="1300" dirty="0">
                <a:solidFill>
                  <a:schemeClr val="tx1"/>
                </a:solidFill>
              </a:rPr>
              <a:t>Plan Type Detail, </a:t>
            </a:r>
            <a:pPr indent="0" marL="0">
              <a:buNone/>
            </a:pPr>
            <a:r>
              <a:rPr lang="en-US" sz="1300" dirty="0">
                <a:solidFill>
                  <a:schemeClr val="tx1"/>
                </a:solidFill>
              </a:rPr>
              <a:t>Eligibility Provisions, </a:t>
            </a:r>
            <a:pPr indent="0" marL="0">
              <a:buNone/>
            </a:pPr>
            <a:r>
              <a:rPr lang="en-US" sz="1300" dirty="0">
                <a:solidFill>
                  <a:schemeClr val="tx1"/>
                </a:solidFill>
              </a:rPr>
              <a:t>Deferral &amp; Automatic Features, </a:t>
            </a:r>
            <a:pPr indent="0" marL="0">
              <a:buNone/>
            </a:pPr>
            <a:r>
              <a:rPr lang="en-US" sz="1300" dirty="0">
                <a:solidFill>
                  <a:schemeClr val="tx1"/>
                </a:solidFill>
              </a:rPr>
              <a:t>Employer Contribution Formula, </a:t>
            </a:r>
            <a:pPr indent="0" marL="0">
              <a:buNone/>
            </a:pPr>
            <a:r>
              <a:rPr lang="en-US" sz="1300" dirty="0">
                <a:solidFill>
                  <a:schemeClr val="tx1"/>
                </a:solidFill>
              </a:rPr>
              <a:t>Vesting Schedule, </a:t>
            </a:r>
            <a:pPr indent="0" marL="0">
              <a:buNone/>
            </a:pPr>
            <a:r>
              <a:rPr lang="en-US" sz="1300" dirty="0">
                <a:solidFill>
                  <a:schemeClr val="tx1"/>
                </a:solidFill>
              </a:rPr>
              <a:t>Withdrawal &amp; Forfeiture Provisions, </a:t>
            </a:r>
            <a:pPr indent="0" marL="0">
              <a:buNone/>
            </a:pPr>
            <a:r>
              <a:rPr lang="en-US" sz="1300" dirty="0">
                <a:solidFill>
                  <a:schemeClr val="tx1"/>
                </a:solidFill>
              </a:rPr>
              <a:t>SIMPLE IRA &amp; SEP Program Detail</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Administered Plan Type, Entry Date Frequency, Default Deferral Rate, Vesting Schedule Type</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500" b="1" dirty="0">
                <a:solidFill>
                  <a:schemeClr val="accent2"/>
                </a:solidFill>
              </a:rPr>
              <a:t>Participant Eligibility, Enrollment &amp; Elections</a:t>
            </a:r>
            <a:endParaRPr lang="en-US" sz="15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32 attributes  |  11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Each participant's membership in a plan: eligibility and entry, enrollment, employment events, and deferral and investment elections.</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Participant Plan Membership, </a:t>
            </a:r>
            <a:pPr indent="0" marL="0">
              <a:buNone/>
            </a:pPr>
            <a:r>
              <a:rPr lang="en-US" sz="1300" b="1" dirty="0">
                <a:solidFill>
                  <a:schemeClr val="tx1"/>
                </a:solidFill>
              </a:rPr>
              <a:t>Employment Event, </a:t>
            </a:r>
            <a:pPr indent="0" marL="0">
              <a:buNone/>
            </a:pPr>
            <a:r>
              <a:rPr lang="en-US" sz="1300" b="1" dirty="0">
                <a:solidFill>
                  <a:schemeClr val="tx1"/>
                </a:solidFill>
              </a:rPr>
              <a:t>Deferral Election, </a:t>
            </a:r>
            <a:pPr indent="0" marL="0">
              <a:buNone/>
            </a:pPr>
            <a:r>
              <a:rPr lang="en-US" sz="1300" b="1" dirty="0">
                <a:solidFill>
                  <a:schemeClr val="tx1"/>
                </a:solidFill>
              </a:rPr>
              <a:t>Investment Election</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Membership Status, Plan Entry Date, Enrollment Method, Pre-Tax Deferral Percentage</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plan document, loan, distribution or filing.</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Running the plan: service, menu, compliance</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Plan Fiduciaries, Service Roles &amp; Fee Arrangement</a:t>
                      </a:r>
                      <a:endParaRPr lang="en-US" sz="1200" dirty="0"/>
                    </a:p>
                    <a:p>
                      <a:pPr indent="0" marL="0">
                        <a:buNone/>
                      </a:pPr>
                      <a:r>
                        <a:rPr lang="en-US" sz="1100" dirty="0">
                          <a:solidFill>
                            <a:schemeClr val="tx2"/>
                          </a:solidFill>
                        </a:rPr>
                        <a:t>4 objects  |  26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Who holds each fiduciary and service role, the program and fees, and the notices due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Plan Role Assignment, </a:t>
                      </a:r>
                      <a:pPr indent="0" marL="0">
                        <a:buNone/>
                      </a:pPr>
                      <a:r>
                        <a:rPr lang="en-US" sz="1200" b="1" dirty="0">
                          <a:solidFill>
                            <a:schemeClr val="tx1"/>
                          </a:solidFill>
                        </a:rPr>
                        <a:t>Service Arrangement, </a:t>
                      </a:r>
                      <a:pPr indent="0" marL="0">
                        <a:buNone/>
                      </a:pPr>
                      <a:r>
                        <a:rPr lang="en-US" sz="1200" b="1" dirty="0">
                          <a:solidFill>
                            <a:schemeClr val="tx1"/>
                          </a:solidFill>
                        </a:rPr>
                        <a:t>Plan Fee Schedule, </a:t>
                      </a:r>
                      <a:pPr indent="0" marL="0">
                        <a:buNone/>
                      </a:pPr>
                      <a:r>
                        <a:rPr lang="en-US" sz="1200" b="1" dirty="0">
                          <a:solidFill>
                            <a:schemeClr val="tx1"/>
                          </a:solidFill>
                        </a:rPr>
                        <a:t>Plan Notice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 Role Type, Fiduciary Indicator, Recordkeeping Program, Fee Component, Notice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Plan Investment Menu</a:t>
                      </a:r>
                      <a:endParaRPr lang="en-US" sz="1200" dirty="0"/>
                    </a:p>
                    <a:p>
                      <a:pPr indent="0" marL="0">
                        <a:buNone/>
                      </a:pPr>
                      <a:r>
                        <a:rPr lang="en-US" sz="1100" dirty="0">
                          <a:solidFill>
                            <a:schemeClr val="tx2"/>
                          </a:solidFill>
                        </a:rPr>
                        <a:t>2 objects  |  14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line-up offered to participants, each option's role, and fund changes mapping balances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Plan Investment Option, </a:t>
                      </a:r>
                      <a:pPr indent="0" marL="0">
                        <a:buNone/>
                      </a:pPr>
                      <a:r>
                        <a:rPr lang="en-US" sz="1200" b="1" dirty="0">
                          <a:solidFill>
                            <a:schemeClr val="tx1"/>
                          </a:solidFill>
                        </a:rPr>
                        <a:t>Fund Change Event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Offered Share Class, Menu Role, Fund Change Type, Mapping Effective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Compliance Testing &amp; Plan Corrections</a:t>
                      </a:r>
                      <a:endParaRPr lang="en-US" sz="1200" dirty="0"/>
                    </a:p>
                    <a:p>
                      <a:pPr indent="0" marL="0">
                        <a:buNone/>
                      </a:pPr>
                      <a:r>
                        <a:rPr lang="en-US" sz="1100" dirty="0">
                          <a:solidFill>
                            <a:schemeClr val="tx2"/>
                          </a:solidFill>
                        </a:rPr>
                        <a:t>3 objects  |  23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Annual nondiscrimination tests, the corrections they trigger, and EPCRS plan corrections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Nondiscrimination Test, </a:t>
                      </a:r>
                      <a:pPr indent="0" marL="0">
                        <a:buNone/>
                      </a:pPr>
                      <a:r>
                        <a:rPr lang="en-US" sz="1200" b="1" dirty="0">
                          <a:solidFill>
                            <a:schemeClr val="tx1"/>
                          </a:solidFill>
                        </a:rPr>
                        <a:t>Test Correction, </a:t>
                      </a:r>
                      <a:pPr indent="0" marL="0">
                        <a:buNone/>
                      </a:pPr>
                      <a:r>
                        <a:rPr lang="en-US" sz="1200" b="1" dirty="0">
                          <a:solidFill>
                            <a:schemeClr val="tx1"/>
                          </a:solidFill>
                        </a:rPr>
                        <a:t>Plan Correction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Test Type, HCE Average Percentage, Test Result, Failure Type, Correction Program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Government Filings &amp; Plan Audit</a:t>
                      </a:r>
                      <a:endParaRPr lang="en-US" sz="1200" dirty="0"/>
                    </a:p>
                    <a:p>
                      <a:pPr indent="0" marL="0">
                        <a:buNone/>
                      </a:pPr>
                      <a:r>
                        <a:rPr lang="en-US" sz="1100" dirty="0">
                          <a:solidFill>
                            <a:schemeClr val="tx2"/>
                          </a:solidFill>
                        </a:rPr>
                        <a:t>4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Form 5500 series and 8955-SSA filings, their status, and support for large plan audits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Government Filing, </a:t>
                      </a:r>
                      <a:pPr indent="0" marL="0">
                        <a:buNone/>
                      </a:pPr>
                      <a:r>
                        <a:rPr lang="en-US" sz="1200" dirty="0">
                          <a:solidFill>
                            <a:schemeClr val="tx1"/>
                          </a:solidFill>
                        </a:rPr>
                        <a:t>Form 5500 Detail, </a:t>
                      </a:r>
                      <a:pPr indent="0" marL="0">
                        <a:buNone/>
                      </a:pPr>
                      <a:r>
                        <a:rPr lang="en-US" sz="1200" dirty="0">
                          <a:solidFill>
                            <a:schemeClr val="tx1"/>
                          </a:solidFill>
                        </a:rPr>
                        <a:t>Separated Participant Entry, </a:t>
                      </a:r>
                      <a:pPr indent="0" marL="0">
                        <a:buNone/>
                      </a:pPr>
                      <a:r>
                        <a:rPr lang="en-US" sz="1200" b="1" dirty="0">
                          <a:solidFill>
                            <a:schemeClr val="tx1"/>
                          </a:solidFill>
                        </a:rPr>
                        <a:t>Plan Audit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Filing Form Type, Filing Due Date, Filing Status, Large Plan Filer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Plan Onboarding, Conversion &amp; Termination</a:t>
                      </a:r>
                      <a:endParaRPr lang="en-US" sz="1200" dirty="0"/>
                    </a:p>
                    <a:p>
                      <a:pPr indent="0" marL="0">
                        <a:buNone/>
                      </a:pPr>
                      <a:r>
                        <a:rPr lang="en-US" sz="1100" dirty="0">
                          <a:solidFill>
                            <a:schemeClr val="tx2"/>
                          </a:solidFill>
                        </a:rPr>
                        <a:t>2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Start-ups, takeovers and deconversions with blackout and reconciliation, and terminations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Plan Conversion, </a:t>
                      </a:r>
                      <a:pPr indent="0" marL="0">
                        <a:buNone/>
                      </a:pPr>
                      <a:r>
                        <a:rPr lang="en-US" sz="1200" b="1" dirty="0">
                          <a:solidFill>
                            <a:schemeClr val="tx1"/>
                          </a:solidFill>
                        </a:rPr>
                        <a:t>Plan Termination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Conversion Type, Blackout Notice Sent Date, Record Reconciliation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plan document, loan, distribution or filing.</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Participant money: in, held, out</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Contributions &amp; Limits</a:t>
                      </a:r>
                      <a:endParaRPr lang="en-US" sz="1200" dirty="0"/>
                    </a:p>
                    <a:p>
                      <a:pPr indent="0" marL="0">
                        <a:buNone/>
                      </a:pPr>
                      <a:r>
                        <a:rPr lang="en-US" sz="1100" dirty="0">
                          <a:solidFill>
                            <a:schemeClr val="tx2"/>
                          </a:solidFill>
                        </a:rPr>
                        <a:t>4 objects  |  27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Payroll remittances, the contributions by money source they fund, limits and late deposits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Payroll Contribution Batch, </a:t>
                      </a:r>
                      <a:pPr indent="0" marL="0">
                        <a:buNone/>
                      </a:pPr>
                      <a:r>
                        <a:rPr lang="en-US" sz="1200" b="1" dirty="0">
                          <a:solidFill>
                            <a:schemeClr val="tx1"/>
                          </a:solidFill>
                        </a:rPr>
                        <a:t>Contribution Record, </a:t>
                      </a:r>
                      <a:pPr indent="0" marL="0">
                        <a:buNone/>
                      </a:pPr>
                      <a:r>
                        <a:rPr lang="en-US" sz="1200" b="1" dirty="0">
                          <a:solidFill>
                            <a:schemeClr val="tx1"/>
                          </a:solidFill>
                        </a:rPr>
                        <a:t>Annual Limit Tracking, </a:t>
                      </a:r>
                      <a:pPr indent="0" marL="0">
                        <a:buNone/>
                      </a:pPr>
                      <a:r>
                        <a:rPr lang="en-US" sz="1200" b="1" dirty="0">
                          <a:solidFill>
                            <a:schemeClr val="tx1"/>
                          </a:solidFill>
                        </a:rPr>
                        <a:t>Late Deposit Case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Payroll Date, Late Deposit Indicator, Contribution Source, Year-to-Date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Participant Loans</a:t>
                      </a:r>
                      <a:endParaRPr lang="en-US" sz="1200" dirty="0"/>
                    </a:p>
                    <a:p>
                      <a:pPr indent="0" marL="0">
                        <a:buNone/>
                      </a:pPr>
                      <a:r>
                        <a:rPr lang="en-US" sz="1100" dirty="0">
                          <a:solidFill>
                            <a:schemeClr val="tx2"/>
                          </a:solidFill>
                        </a:rPr>
                        <a:t>4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Loan rules, each loan and its repayments, and default, deemed distribution and offset dates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 Loan Provisions, </a:t>
                      </a:r>
                      <a:pPr indent="0" marL="0">
                        <a:buNone/>
                      </a:pPr>
                      <a:r>
                        <a:rPr lang="en-US" sz="1200" b="1" dirty="0">
                          <a:solidFill>
                            <a:schemeClr val="tx1"/>
                          </a:solidFill>
                        </a:rPr>
                        <a:t>Participant Loan, </a:t>
                      </a:r>
                      <a:pPr indent="0" marL="0">
                        <a:buNone/>
                      </a:pPr>
                      <a:r>
                        <a:rPr lang="en-US" sz="1200" b="1" dirty="0">
                          <a:solidFill>
                            <a:schemeClr val="tx1"/>
                          </a:solidFill>
                        </a:rPr>
                        <a:t>Loan Repayment, </a:t>
                      </a:r>
                      <a:pPr indent="0" marL="0">
                        <a:buNone/>
                      </a:pPr>
                      <a:r>
                        <a:rPr lang="en-US" sz="1200" dirty="0">
                          <a:solidFill>
                            <a:schemeClr val="tx1"/>
                          </a:solidFill>
                        </a:rPr>
                        <a:t>Loan Default &amp; Offset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Loan Type, Original Principal Amount, Loan Status, Cure Period End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Vesting &amp; Forfeitures</a:t>
                      </a:r>
                      <a:endParaRPr lang="en-US" sz="1200" dirty="0"/>
                    </a:p>
                    <a:p>
                      <a:pPr indent="0" marL="0">
                        <a:buNone/>
                      </a:pPr>
                      <a:r>
                        <a:rPr lang="en-US" sz="1100" dirty="0">
                          <a:solidFill>
                            <a:schemeClr val="tx2"/>
                          </a:solidFill>
                        </a:rPr>
                        <a:t>3 objects  |  19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Service credited, the vested share of each employer source, forfeitures and their use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Vesting Service Record, </a:t>
                      </a:r>
                      <a:pPr indent="0" marL="0">
                        <a:buNone/>
                      </a:pPr>
                      <a:r>
                        <a:rPr lang="en-US" sz="1200" b="1" dirty="0">
                          <a:solidFill>
                            <a:schemeClr val="tx1"/>
                          </a:solidFill>
                        </a:rPr>
                        <a:t>Vested Balance by Source, </a:t>
                      </a:r>
                      <a:pPr indent="0" marL="0">
                        <a:buNone/>
                      </a:pPr>
                      <a:r>
                        <a:rPr lang="en-US" sz="1200" b="1" dirty="0">
                          <a:solidFill>
                            <a:schemeClr val="tx1"/>
                          </a:solidFill>
                        </a:rPr>
                        <a:t>Forfeiture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Hours of Service Credited, Vested Percentage, Forfeited Amount, Forfeiture Use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Distributions, Rollovers &amp; Tax Reporting</a:t>
                      </a:r>
                      <a:endParaRPr lang="en-US" sz="1200" dirty="0"/>
                    </a:p>
                    <a:p>
                      <a:pPr indent="0" marL="0">
                        <a:buNone/>
                      </a:pPr>
                      <a:r>
                        <a:rPr lang="en-US" sz="1100" dirty="0">
                          <a:solidFill>
                            <a:schemeClr val="tx2"/>
                          </a:solidFill>
                        </a:rPr>
                        <a:t>4 objects  |  31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Payouts and rollovers with withholding and 1099-R detail, RMD calculations and QDRO cases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Distribution Request, </a:t>
                      </a:r>
                      <a:pPr indent="0" marL="0">
                        <a:buNone/>
                      </a:pPr>
                      <a:r>
                        <a:rPr lang="en-US" sz="1200" dirty="0">
                          <a:solidFill>
                            <a:schemeClr val="tx1"/>
                          </a:solidFill>
                        </a:rPr>
                        <a:t>Tax Withholding &amp; 1099-R Detail, </a:t>
                      </a:r>
                      <a:pPr indent="0" marL="0">
                        <a:buNone/>
                      </a:pPr>
                      <a:r>
                        <a:rPr lang="en-US" sz="1200" b="1" dirty="0">
                          <a:solidFill>
                            <a:schemeClr val="tx1"/>
                          </a:solidFill>
                        </a:rPr>
                        <a:t>RMD Calculation, </a:t>
                      </a:r>
                      <a:pPr indent="0" marL="0">
                        <a:buNone/>
                      </a:pPr>
                      <a:r>
                        <a:rPr lang="en-US" sz="1200" b="1" dirty="0">
                          <a:solidFill>
                            <a:schemeClr val="tx1"/>
                          </a:solidFill>
                        </a:rPr>
                        <a:t>QDRO Case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Type, Rollover Direction, Form 1099-R Distribution Code, Required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plan document, loan, distribution or filing.</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ERISA, the Code and DOL rules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Treasury Regulations, SECURE 2.0 and AICPA SAS 136.</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44%</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(122 of 275) align to a statute, regulation, form or industry standard</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63</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19</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flagged as personal data under GLBA and state privacy law</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The plan, sponsor, participants and every other party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by party ID, and an administered plan type finer than the enterprise plan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Participant accounts, balances, beneficiary designations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membership (participant x plan) and the spousal consent on file for the beneficiary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Share classes, funds and model portfolios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plan menu entry: which share class, in which menu role, from which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Cash and share postings, positions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business record (batch, contribution, loan, payout, forfeiture) and the transaction ID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Statements, Form 1099-R, participant communications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Investor Servicing &amp; Shareholder Communications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notice obligation and delivery date; the withholding and box 7 detail behind the 1099-R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Recordkeeping and TPA agreements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governing agreement reference on the service arrangement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Public Form 5500 data; plans recordkept by other firms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 &amp; Competitive Intelligence, others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Only the filings the firm prepares for the plans it recordkeeps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229 attributes mastered, 46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229</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275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43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3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24 references, 1 copy</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plan on every object; sponsor, participant, alternate payee, auditor and recordkeeper parties</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 1 copy</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Posting, disbursement, settlement, forfeiture and mapping transactions; the position vesting applies to</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Account</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 1 copy</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participant and alternate payee accounts, the beneficiary designation, the deferred vested benefit</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Investor Servicing &amp; Shareholder Communications</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communication that carried a notice; the Form 1099-R document issued for a distribution</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2 references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share class and model portfolio offered on the plan menu</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governing agreement, the complaint that surfaced a plan failure, the employee who owns a conversion</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no attribute in another domain references a record mastered here yet: the domain is new. Record Metadata is excluded from every view and documented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0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0</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0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0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0 high, 0 medium, 0 low priority</a:t>
            </a:r>
            <a:endParaRPr lang="en-US" sz="1200" dirty="0"/>
          </a:p>
        </p:txBody>
      </p:sp>
      <p:sp>
        <p:nvSpPr>
          <p:cNvPr id="11" name="Shape 8"/>
          <p:cNvSpPr/>
          <p:nvPr/>
        </p:nvSpPr>
        <p:spPr>
          <a:xfrm>
            <a:off x="3840480" y="1783080"/>
            <a:ext cx="7799832" cy="621792"/>
          </a:xfrm>
          <a:prstGeom prst="roundRect">
            <a:avLst>
              <a:gd name="adj" fmla="val 11765"/>
            </a:avLst>
          </a:prstGeom>
          <a:solidFill>
            <a:schemeClr val="bg2"/>
          </a:solidFill>
          <a:ln/>
        </p:spPr>
      </p:sp>
      <p:sp>
        <p:nvSpPr>
          <p:cNvPr id="12" name="Text 9"/>
          <p:cNvSpPr/>
          <p:nvPr/>
        </p:nvSpPr>
        <p:spPr>
          <a:xfrm>
            <a:off x="3977640" y="1938528"/>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Candidate</a:t>
            </a:r>
            <a:endParaRPr lang="en-US" sz="1100" dirty="0"/>
          </a:p>
        </p:txBody>
      </p:sp>
      <p:sp>
        <p:nvSpPr>
          <p:cNvPr id="13" name="Text 10"/>
          <p:cNvSpPr txBox="1"/>
          <p:nvPr/>
        </p:nvSpPr>
        <p:spPr>
          <a:xfrm>
            <a:off x="4983480" y="1783080"/>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Source Notes</a:t>
            </a:r>
            <a:endParaRPr lang="en-US" sz="1200" dirty="0"/>
          </a:p>
        </p:txBody>
      </p:sp>
      <p:sp>
        <p:nvSpPr>
          <p:cNvPr id="14" name="Text 11"/>
          <p:cNvSpPr txBox="1"/>
          <p:nvPr/>
        </p:nvSpPr>
        <p:spPr>
          <a:xfrm>
            <a:off x="6126480" y="1783080"/>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The money source list (Contribution Source) is defined here and in Account; one shared list is proposed for the registry</a:t>
            </a:r>
            <a:endParaRPr lang="en-US" sz="1200" dirty="0"/>
          </a:p>
        </p:txBody>
      </p:sp>
      <p:sp>
        <p:nvSpPr>
          <p:cNvPr id="15" name="Shape 12"/>
          <p:cNvSpPr/>
          <p:nvPr/>
        </p:nvSpPr>
        <p:spPr>
          <a:xfrm>
            <a:off x="3840480" y="2496312"/>
            <a:ext cx="7799832" cy="621792"/>
          </a:xfrm>
          <a:prstGeom prst="roundRect">
            <a:avLst>
              <a:gd name="adj" fmla="val 11765"/>
            </a:avLst>
          </a:prstGeom>
          <a:solidFill>
            <a:schemeClr val="bg2"/>
          </a:solidFill>
          <a:ln/>
        </p:spPr>
      </p:sp>
      <p:sp>
        <p:nvSpPr>
          <p:cNvPr id="16" name="Text 13"/>
          <p:cNvSpPr/>
          <p:nvPr/>
        </p:nvSpPr>
        <p:spPr>
          <a:xfrm>
            <a:off x="3977640" y="2651760"/>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Candidate</a:t>
            </a:r>
            <a:endParaRPr lang="en-US" sz="1100" dirty="0"/>
          </a:p>
        </p:txBody>
      </p:sp>
      <p:sp>
        <p:nvSpPr>
          <p:cNvPr id="17" name="Text 14"/>
          <p:cNvSpPr txBox="1"/>
          <p:nvPr/>
        </p:nvSpPr>
        <p:spPr>
          <a:xfrm>
            <a:off x="4983480" y="2496312"/>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Source Notes</a:t>
            </a:r>
            <a:endParaRPr lang="en-US" sz="1200" dirty="0"/>
          </a:p>
        </p:txBody>
      </p:sp>
      <p:sp>
        <p:nvSpPr>
          <p:cNvPr id="18" name="Text 15"/>
          <p:cNvSpPr txBox="1"/>
          <p:nvPr/>
        </p:nvSpPr>
        <p:spPr>
          <a:xfrm>
            <a:off x="6126480" y="2496312"/>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Plan service role lists exist here and in Client &amp; Customer, the Schedule C view; the two need harmonizing</a:t>
            </a:r>
            <a:endParaRPr lang="en-US" sz="1200" dirty="0"/>
          </a:p>
        </p:txBody>
      </p:sp>
      <p:sp>
        <p:nvSpPr>
          <p:cNvPr id="19" name="Shape 16"/>
          <p:cNvSpPr/>
          <p:nvPr/>
        </p:nvSpPr>
        <p:spPr>
          <a:xfrm>
            <a:off x="3840480" y="3209544"/>
            <a:ext cx="7799832" cy="621792"/>
          </a:xfrm>
          <a:prstGeom prst="roundRect">
            <a:avLst>
              <a:gd name="adj" fmla="val 11765"/>
            </a:avLst>
          </a:prstGeom>
          <a:solidFill>
            <a:schemeClr val="bg2"/>
          </a:solidFill>
          <a:ln/>
        </p:spPr>
      </p:sp>
      <p:sp>
        <p:nvSpPr>
          <p:cNvPr id="20" name="Text 17"/>
          <p:cNvSpPr/>
          <p:nvPr/>
        </p:nvSpPr>
        <p:spPr>
          <a:xfrm>
            <a:off x="3977640" y="3364992"/>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Candidate</a:t>
            </a:r>
            <a:endParaRPr lang="en-US" sz="1100" dirty="0"/>
          </a:p>
        </p:txBody>
      </p:sp>
      <p:sp>
        <p:nvSpPr>
          <p:cNvPr id="21" name="Text 18"/>
          <p:cNvSpPr txBox="1"/>
          <p:nvPr/>
        </p:nvSpPr>
        <p:spPr>
          <a:xfrm>
            <a:off x="4983480" y="3209544"/>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Source Notes</a:t>
            </a:r>
            <a:endParaRPr lang="en-US" sz="1200" dirty="0"/>
          </a:p>
        </p:txBody>
      </p:sp>
      <p:sp>
        <p:nvSpPr>
          <p:cNvPr id="22" name="Text 19"/>
          <p:cNvSpPr txBox="1"/>
          <p:nvPr/>
        </p:nvSpPr>
        <p:spPr>
          <a:xfrm>
            <a:off x="6126480" y="3209544"/>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Loan disbursement, repayment, forfeiture and mapping transaction types need confirming in Sales Transactions</a:t>
            </a:r>
            <a:endParaRPr lang="en-US" sz="1200" dirty="0"/>
          </a:p>
        </p:txBody>
      </p:sp>
      <p:sp>
        <p:nvSpPr>
          <p:cNvPr id="23" name="Shape 20"/>
          <p:cNvSpPr/>
          <p:nvPr/>
        </p:nvSpPr>
        <p:spPr>
          <a:xfrm>
            <a:off x="3840480" y="3922776"/>
            <a:ext cx="7799832" cy="621792"/>
          </a:xfrm>
          <a:prstGeom prst="roundRect">
            <a:avLst>
              <a:gd name="adj" fmla="val 11765"/>
            </a:avLst>
          </a:prstGeom>
          <a:solidFill>
            <a:schemeClr val="bg2"/>
          </a:solidFill>
          <a:ln/>
        </p:spPr>
      </p:sp>
      <p:sp>
        <p:nvSpPr>
          <p:cNvPr id="24" name="Text 21"/>
          <p:cNvSpPr/>
          <p:nvPr/>
        </p:nvSpPr>
        <p:spPr>
          <a:xfrm>
            <a:off x="3977640" y="4078224"/>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Candidate</a:t>
            </a:r>
            <a:endParaRPr lang="en-US" sz="1100" dirty="0"/>
          </a:p>
        </p:txBody>
      </p:sp>
      <p:sp>
        <p:nvSpPr>
          <p:cNvPr id="25" name="Text 22"/>
          <p:cNvSpPr txBox="1"/>
          <p:nvPr/>
        </p:nvSpPr>
        <p:spPr>
          <a:xfrm>
            <a:off x="4983480" y="3922776"/>
            <a:ext cx="1097280" cy="621792"/>
          </a:xfrm>
          <a:prstGeom prst="rect">
            <a:avLst/>
          </a:prstGeom>
          <a:noFill/>
          <a:ln/>
        </p:spPr>
        <p:txBody>
          <a:bodyPr wrap="square" lIns="0" tIns="0" rIns="0" bIns="0" rtlCol="0" anchor="ctr"/>
          <a:lstStyle/>
          <a:p>
            <a:pPr algn="l" indent="0" marL="0">
              <a:buNone/>
            </a:pPr>
            <a:r>
              <a:rPr lang="en-US" sz="1200" b="1" dirty="0">
                <a:solidFill>
                  <a:schemeClr val="tx1"/>
                </a:solidFill>
              </a:rPr>
              <a:t>Source Notes</a:t>
            </a:r>
            <a:endParaRPr lang="en-US" sz="1200" dirty="0"/>
          </a:p>
        </p:txBody>
      </p:sp>
      <p:sp>
        <p:nvSpPr>
          <p:cNvPr id="26" name="Text 23"/>
          <p:cNvSpPr txBox="1"/>
          <p:nvPr/>
        </p:nvSpPr>
        <p:spPr>
          <a:xfrm>
            <a:off x="6126480" y="3922776"/>
            <a:ext cx="5349240" cy="621792"/>
          </a:xfrm>
          <a:prstGeom prst="rect">
            <a:avLst/>
          </a:prstGeom>
          <a:noFill/>
          <a:ln/>
        </p:spPr>
        <p:txBody>
          <a:bodyPr wrap="square" lIns="0" tIns="0" rIns="0" bIns="0" rtlCol="0" anchor="ctr"/>
          <a:lstStyle/>
          <a:p>
            <a:pPr algn="l" indent="0" marL="0">
              <a:buNone/>
            </a:pPr>
            <a:r>
              <a:rPr lang="en-US" sz="1200" dirty="0">
                <a:solidFill>
                  <a:schemeClr val="tx1"/>
                </a:solidFill>
              </a:rPr>
              <a:t>The 31 proposed key prefixes, including GFIL- for government filings, await confirmation in the key registry</a:t>
            </a:r>
            <a:endParaRPr lang="en-US" sz="1200" dirty="0"/>
          </a:p>
        </p:txBody>
      </p:sp>
      <p:sp>
        <p:nvSpPr>
          <p:cNvPr id="27" name="Text 24"/>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The recordkeeping platform, payroll feeds, the testing engine and Form 5500 software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 273 of the 275 attributes are used.</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Proposed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The plan is already a shared dimension in SM-00, from DP-003. Participant membership and the plan menu would join it once DP-094 is modeled, proposed for SM-04.</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84 proposed critical data elements and 19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Recordkeeping platform, payroll</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Plan Administration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DP-094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DP-095 and DP-096</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 (proposed)</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Sponsor reports, compliance register</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turns the domain into records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DP-094</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Recordkept Plan &amp; Participant Core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Master &amp; Reference  |  Owner: Head of Retirement Plan Services</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participant plan membership and effective period, under the recordkept plan as a conformed parent keyed on sponsor EIN plus plan number</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129 of its 156 attributes come from 22 of this domain's 43 objects. The rest come from DP-003, DP-093, DP-001, DP-004, DP-005 and DP-013</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6am Eastern on T+1 for recordkeeping changes. Plan document and amendment versions within two business days of execution</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Type 2 history on membership, elections, roles, menu and provisions since conversion. Documents kept for the life of the plan plus seven years</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Restricted, personal data. Participant-level records fall under GLBA and state privacy law; owned by the Head of Retirement Plan Services</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2</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products name it as a direct upstream: DP-095, DP-096</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22 of 43</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of this domain's objects feed it, with 129 attributes</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Each active plan has one active Plan Document and at most one active Service Arrangement</a:t>
            </a:r>
            <a:endParaRPr lang="en-US" sz="1300" dirty="0"/>
          </a:p>
          <a:p>
            <a:pPr marL="177800" indent="-177800">
              <a:spcAft>
                <a:spcPts val="600"/>
              </a:spcAft>
              <a:buSzPct val="100000"/>
              <a:buChar char="•"/>
            </a:pPr>
            <a:r>
              <a:rPr lang="en-US" sz="1300" dirty="0">
                <a:solidFill>
                  <a:schemeClr val="tx1"/>
                </a:solidFill>
              </a:rPr>
              <a:t>A membership has at most one Deferral Election on any date; rates are between 0 and 100</a:t>
            </a:r>
            <a:endParaRPr lang="en-US" sz="1300" dirty="0"/>
          </a:p>
          <a:p>
            <a:pPr marL="177800" indent="-177800">
              <a:spcAft>
                <a:spcPts val="600"/>
              </a:spcAft>
              <a:buSzPct val="100000"/>
              <a:buChar char="•"/>
            </a:pPr>
            <a:r>
              <a:rPr lang="en-US" sz="1300" dirty="0">
                <a:solidFill>
                  <a:schemeClr val="tx1"/>
                </a:solidFill>
              </a:rPr>
              <a:t>A membership's Investment Election allocations sum to 100 percent on any date</a:t>
            </a:r>
            <a:endParaRPr lang="en-US" sz="1300" dirty="0"/>
          </a:p>
          <a:p>
            <a:pPr marL="177800" indent="-177800">
              <a:spcAft>
                <a:spcPts val="600"/>
              </a:spcAft>
              <a:buSzPct val="100000"/>
              <a:buChar char="•"/>
            </a:pPr>
            <a:r>
              <a:rPr lang="en-US" sz="1300" dirty="0">
                <a:solidFill>
                  <a:schemeClr val="tx1"/>
                </a:solidFill>
              </a:rPr>
              <a:t>Every plan resolves to a Retirement Plan in DP-003 on sponsor EIN plus plan number</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1 foundational and 2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43 of 43</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99%</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(273 of 275)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master and reference products, the joint largest group of the 3</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 master and reference, 1 operational, 1 regulatory and control.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Three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DP-094</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Recordkept Plan &amp; Participant Core</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Retirement Plan Services (Recordkeeping)</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Every recordkept plan with its provisions, roles, menu and participants, keyed to the conformed plan and account.</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134208"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129 of 156</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DP-095</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Plan Contribution, Loan &amp; Distribution Operations</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Operational  |  Retirement Plan Services (Recordkeeping)</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The day's contributions, loans, distributions and cases, with good-order, aging and limit flags for operations.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188720"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91 of 105</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DP-096</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Plan Compliance Testing &amp; Filing Status</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Retirement Plan Services (Recordkeeping)</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register per plan year of tests, corrections, filings, audits, notices and terminations: due, late, corrected.</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229096"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69 of 77</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0 more rely on it yet: the domain is new</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No readers outside this domain yet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None yet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domain was added this month; the only products that read it are the three it owns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Planned links, not yet 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None yet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Participant positions in menu options; fee revenue from the plan fee schedule; notice and 1099-R detail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DP-094 is the only foundational product here. The only products that depend on it, directly or indirectly, are DP-095 and DP-096, owned here.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deferral rate,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Pre-Tax Deferral</a:t>
            </a:r>
            <a:endParaRPr lang="en-US" sz="1400" dirty="0"/>
          </a:p>
          <a:p>
            <a:pPr algn="l" indent="0" marL="0">
              <a:buNone/>
            </a:pPr>
            <a:r>
              <a:rPr lang="en-US" sz="1400" b="1" dirty="0">
                <a:solidFill>
                  <a:schemeClr val="bg1"/>
                </a:solidFill>
              </a:rPr>
              <a:t>Percentage</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Deferral Election: the pre-tax rate a participant elects, from a pay date, with its source.</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DP-094</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Keeps one election per membership per date and publishes Participation Rate % and Average Deferral Rate % by plan.</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DP-096</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Reads the plan year from DP-094 and reports the ADP test, which compares HCE and NHCE average deferral rates.</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Proposed: SM-04</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Not published yet. Proposed for SM-04 Institutional &amp; Retirement, joining the retirement plan dimension in SM-00.</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Plan review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of our plans have the lowest participation and average deferral rate, and did auto-enrollment move them?”</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Participation Rate %  =  participants with Pre-Tax + Roth Deferral &gt; 0  /  active participants</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The participant and the plan are parties in Client &amp; Customer; the balance is in Account. This domain supplies the election and its effective dates.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Programs</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recordkeeping programs are in scope: bundled small and mid plan, TPA-partnered, SIMPLE IRA, SEP, 403(b), pooled employer plan</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Fiduciary roles</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the firm or an affiliate acts as 3(16) administrator, directed trustee or 3(38) manager on any program, and who signs Form 5500</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SIMPLE, SEP</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SIMPLE IRA and SEP programs run on the recordkeeping platform or the IRA platform; if the latter, their program detail may move to Account</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Boundaries</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Agree the participant account grain and beneficiary designation with Account, and the loan, forfeiture and mapping transaction types with Transactions</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Validate programs, roles, provisions and the 84 proposed critical data elements with Plan Services, Plan Compliance and ERISA counsel</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the 31 proposed key prefixes, including GFIL- for government filings, in the key registry</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the recordkeeping platform, payroll feeds, the compliance testing engine, Form 5500 software and EFAST2 (Phase D)</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Verify the unverified items: current COLA limits, the forfeiture regulations, Roth catch-up timing and the EFAST2 status vocabulary</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which attributes dropped for size should return, and log the first gaps once the three products are modeled</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Retirement Plan Administration taxonomy walkthrough</dc:title>
  <dc:subject>PptxGenJS Presentation</dc:subject>
  <dc:creator>Distribution Data Taxonomy Program</dc:creator>
  <cp:lastModifiedBy>Distribution Data Taxonomy Program</cp:lastModifiedBy>
  <cp:revision>1</cp:revision>
  <dcterms:created xsi:type="dcterms:W3CDTF">2026-10-06T08:42:19Z</dcterms:created>
  <dcterms:modified xsi:type="dcterms:W3CDTF">2026-10-06T08:42:19Z</dcterms:modified>
</cp:coreProperties>
</file>