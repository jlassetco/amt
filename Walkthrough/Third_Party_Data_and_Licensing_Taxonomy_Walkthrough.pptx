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77e901f-6666-d281-498b-b3e42f893019}">
          <p14:sldIdLst>
            <p14:sldId id="256"/>
            <p14:sldId id="257"/>
            <p14:sldId id="258"/>
            <p14:sldId id="259"/>
          </p14:sldIdLst>
        </p14:section>
        <p14:section name="What is included" id="{07318493-b925-679c-88d3-fb9d0e812593}">
          <p14:sldIdLst>
            <p14:sldId id="260"/>
            <p14:sldId id="261"/>
            <p14:sldId id="262"/>
            <p14:sldId id="263"/>
            <p14:sldId id="264"/>
          </p14:sldIdLst>
        </p14:section>
        <p14:section name="What is excluded" id="{1dd521c0-9a74-557b-228a-646dabce090c}">
          <p14:sldIdLst>
            <p14:sldId id="265"/>
            <p14:sldId id="266"/>
            <p14:sldId id="267"/>
          </p14:sldIdLst>
        </p14:section>
        <p14:section name="How it is used" id="{d1e229f3-afc2-9a3e-04d5-44ff3c0dbea4}">
          <p14:sldIdLst>
            <p14:sldId id="268"/>
            <p14:sldId id="269"/>
          </p14:sldIdLst>
        </p14:section>
        <p14:section name="Data products" id="{e821d344-a2bb-63a0-144f-9a129c134b9b}">
          <p14:sldIdLst>
            <p14:sldId id="270"/>
            <p14:sldId id="271"/>
            <p14:sldId id="272"/>
            <p14:sldId id="273"/>
          </p14:sldIdLst>
        </p14:section>
        <p14:section name="Next steps" id="{8c3429f1-fb15-6284-4fc0-aaa145c87322}">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Internal (firm-defined)</c:v>
                  </c:pt>
                  <c:pt idx="1">
                    <c:v>FISD market data terms</c:v>
                  </c:pt>
                  <c:pt idx="2">
                    <c:v>DORA and its register ITS</c:v>
                  </c:pt>
                  <c:pt idx="3">
                    <c:v>EU and UK benchmark rules</c:v>
                  </c:pt>
                  <c:pt idx="4">
                    <c:v>Index license practice (MSCI)</c:v>
                  </c:pt>
                  <c:pt idx="5">
                    <c:v>AICPA SOC 2</c:v>
                  </c:pt>
                  <c:pt idx="6">
                    <c:v>Other standards and regulation</c:v>
                  </c:pt>
                </c:lvl>
              </c:multiLvlStrCache>
            </c:multiLvlStrRef>
          </c:cat>
          <c:val>
            <c:numRef>
              <c:f>Sheet1!$B$2:$B$8</c:f>
              <c:numCache>
                <c:formatCode>General</c:formatCode>
                <c:ptCount val="7"/>
                <c:pt idx="0">
                  <c:v>189</c:v>
                </c:pt>
                <c:pt idx="1">
                  <c:v>11</c:v>
                </c:pt>
                <c:pt idx="2">
                  <c:v>11</c:v>
                </c:pt>
                <c:pt idx="3">
                  <c:v>7</c:v>
                </c:pt>
                <c:pt idx="4">
                  <c:v>7</c:v>
                </c:pt>
                <c:pt idx="5">
                  <c:v>6</c:v>
                </c:pt>
                <c:pt idx="6">
                  <c:v>12</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7 of 30)</a:t>
            </a:r>
          </a:p>
        </c:rich>
      </c:tx>
      <c:layout/>
      <c:overlay val="0"/>
    </c:title>
    <c:autoTitleDeleted val="0"/>
    <c:plotArea>
      <c:layout/>
      <c:barChart>
        <c:barDir val="bar"/>
        <c:grouping val="clustered"/>
        <c:varyColors val="0"/>
        <c:ser>
          <c:idx val="0"/>
          <c:order val="0"/>
          <c:tx>
            <c:strRef>
              <c:f>Sheet1!$B$1</c:f>
              <c:strCache>
                <c:ptCount val="1"/>
                <c:pt idx="0">
                  <c:v>Products reading each object (top 7 of 30)</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Dataset</c:v>
                  </c:pt>
                  <c:pt idx="1">
                    <c:v>Permitted Use Grant</c:v>
                  </c:pt>
                  <c:pt idx="2">
                    <c:v>Dataset Consumption</c:v>
                  </c:pt>
                  <c:pt idx="3">
                    <c:v>Data License Agreement</c:v>
                  </c:pt>
                  <c:pt idx="4">
                    <c:v>Data Invoice</c:v>
                  </c:pt>
                  <c:pt idx="5">
                    <c:v>Commercial Terms</c:v>
                  </c:pt>
                  <c:pt idx="6">
                    <c:v>Attribution Requirement</c:v>
                  </c:pt>
                </c:lvl>
              </c:multiLvlStrCache>
            </c:multiLvlStrRef>
          </c:cat>
          <c:val>
            <c:numRef>
              <c:f>Sheet1!$B$2:$B$8</c:f>
              <c:numCache>
                <c:formatCode>General</c:formatCode>
                <c:ptCount val="7"/>
                <c:pt idx="0">
                  <c:v>6</c:v>
                </c:pt>
                <c:pt idx="1">
                  <c:v>5</c:v>
                </c:pt>
                <c:pt idx="2">
                  <c:v>3</c:v>
                </c:pt>
                <c:pt idx="3">
                  <c:v>3</c:v>
                </c:pt>
                <c:pt idx="4">
                  <c:v>3</c:v>
                </c:pt>
                <c:pt idx="5">
                  <c:v>3</c:v>
                </c:pt>
                <c:pt idx="6">
                  <c:v>3</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Third-Party Data &amp; Licensing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Third-Party Data &amp; Licensing describes the data the firm buys from vendors: what each dataset is, who supplies it, under which license, what the firm is allowed to do with it, who has access, what it costs and how the vendor is overseen. It does not hold the data itself. Ratings, peer figures, advisor records and feeds stay in the domains that use them. 10 of the 96 specified data products read this domain directly: the 3 it owns and 7 owned by other domains. It owns no foundational product. Its anchor product, DP-044, is named as a direct upstream by 8 other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Third-Party Data &amp; Licensing is one of 16 domains, with 10 families, 30 business objects and 243 attributes. The purple text shows the path to one attribute, Permission Status, which we follow to an answer near the end of the deck. For every attribute the taxonomy records its meaning and its owner. It does not hold data values, contract text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reads left to right. A data vendor is a party in the vendor role; its legal identity and contact persons are mastered in Client &amp; Customer, and this domain holds only the relationship. From the vendor the firm buys under a data license agreement, which schedules one or more datasets and carries commercial terms. The agreement leads to the permitted use grants: one coded right for each agreement, dataset and use category, with a status. Entitlements, consuming applications, usage declarations and license audits are all checked against those grants. Vendor risk assessments, assurance reports and the DORA register entry hang off the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10 data families. For this walkthrough they are grouped in three: the spine, which is the dataset and the license agreement it is bought under; what the firm may do with the data, which covers rights, index licenses, entitlements and compliance; and the vendors themselves, with their risk, cost and service quality.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67 attributes. The Dataset and Data Product Catalog describes each licensed dataset: subject area, coverage, granularity, key fields, how it is delivered and which business domains and applications consume it. Data License Agreement holds the contract facts: licensed scope, term, auto-renewal, the non-renewal notice deadline, what must happen to data on termination, and the vendor's audit rights. The dataset sits between the commercial license and the technical feed, so lineage runs from vendor to license to dataset to feed to the consuming domain. Business objects, in bold, have their own key or grain. Attribute groups are sets of attributes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86 attributes. Permitted Use and Rights holds one coded grant for each agreement, dataset and use category, such as display, non-display, derived data, redistribution, client reporting, marketing and AI or machine learning, plus the attribution and disclaimer text that must travel with outputs. Index and Benchmark Licensing reuses the license agreement for index licenses and adds which index is used for what, which products are covered, the fee in basis points of AUM and the benchmark register status. Entitlements and Access records which users and applications may access each dataset. Usage and License Compliance holds the declarations made to vendors, license audits, findings and true-ups.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90 attributes. Data Vendor Relationship holds the firm's relationship with each provider: type, strategic tier, owner, named contact roles and periodic reviews. The vendor's legal identity stays in Client &amp; Customer. Vendor Risk and Resilience holds due diligence and risk assessments, assurance reports such as SOC 2, and the fields needed to report data vendors in the DORA register of information and to map them to UK important business services. Data Cost and Commercials holds contract value and pricing, invoices checked against the contract, the split of cost to organization units, and renewal cases. Vendor Data Quality and Service Levels holds the service levels agreed for each dataset and the data issues raised with vendors by the consuming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Here 189 of the 243 attributes are firm-defined, because license inventories and vendor management have no single authoritative data standard. The other 54, 22 percent, align to an external source. FISD market data terminology gives the vocabulary for display, non-display and derived data. DORA gives the register of information fields. The EU and UK Benchmarks Regulation and public index license practice shape the index family, and AICPA SOC 2 shapes the assurance report. 65 attributes take their values from a controlled code list, and 73 are proposed critical data elements. Vendor contract terms were not reviewed; only public descriptions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Third-Party Data &amp; Licensing says what the firm buys, under which rights and at what cost. It deliberately leaves out the data itself and the things the data describes. This table shows where each excluded subject lives and what this domain keeps so that it can point to it. Two boundaries need care. A data agreement is a data license here when the counterparty is a data vendor, and a distribution agreement when the counterparty is a distribution partner, even if the content is distributor data. And the dataset is the commercial and catalog view, while the technical feed that delivers it is owned by Sales Transactions &amp; AUM Attribution. One dataset can have several feeds.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214 of the 243 are mastered in Third-Party Data &amp; Licensing. 24 are references, which hold only the ID of a record mastered in another domain, and 5 are derived copies. Most of the borrowing is from two domains: Client &amp; Customer, because every vendor, licensor and index provider is a party, and Shared &amp; Enterprise Reference Data, for the employees, legal entities and org units named on licenses and entitlements. In the other direction, 12 attributes in 5 other domains reference a dataset, vendor or status held here, 7 of them in Market &amp; Competitive Intelligence.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11 gaps against Third-Party Data &amp; Licensing. Two are resolved. Nine are open, all proposed and waiting for a decision: one high priority, four medium and four low. Seven are shown here; the other two low-priority gaps are the same kind of problem. Five of the nine are a child record that does not name its parent, such as a key field that does not name its dataset, so a product has to borrow a key. The rest are missing dates and prices that the cost and renewal products need.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the contract management, procurement and accounts payable, entitlement, data catalog and vendor risk systems are mapped to. That mapping is Phase D and has not been done. Second, it is the bill of materials for data products: each product lists the exact attributes it uses, and all 30 objects and 206 of the 243 attributes appear in a product specification. Third, where other domains publish shared dimensions, this domain supplies a license gate: products that carry vendor data check the permitted use grant before they publish, and the semantic models restrict licensed rows by it. Fourth, the ownership flags and the 73 proposed critical data elements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no foundational product. Its anchor is DP-044, Third-Party Data Usage, Entitlements and Cost, a consumer-aligned control product owned by the Head of Market Data and Licensing. It is one view of every licensed dataset: who and which applications are entitled, whether each use is covered by a permitted use grant, what has been declared to vendors, audits and findings, and cost. 103 of its 107 attributes come from 15 of this domain's 30 objects. It refreshes weekly, by 8am Eastern each Monday. 8 other products name it as a direct upstream and 10 depend on it directly or indirectly, mostly products that carry vendor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of the 96 specified data products list Third-Party Data &amp; Licensing objects among their inputs: 2 foundational and 8 consumer-aligned. That is a small footprint, as expected for a control domain. Every one of the 30 objects is used by at least one product, and 206 of the 243 attributes, 85 percent, appear in a product specification. Dataset is the most used object, read by 6 products, followed by Permitted Use Grant, read by 5. Regulatory and control products are the largest group, with 5 of the 10, which reflects that the domain exists mainly to show that data is used within its license and paid for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data products have Third-Party Data &amp; Licensing as their owning domain. All three are consumer-aligned regulatory and control products for the Data Office. DP-044 is the anchor and is in Wave 1. DP-072, Index Licensing Fees, is the register of index licenses: it estimates the fee due on each covered product from AUM, compares declared AUM with certified AUM, and flags a benchmark or tracked index with no covering license. DP-073, Data Vendor Risk and Renewals, prepares each renewal decision before the notice deadline and shows risk, assurance and spend concentration by vendor. The bar on the right shows how many of each product's input attributes come from this domain. DP-072 takes 51 of 79; the rest are products, benchmarks, AUM and revenue from other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7 products are owned by other domains but read Third-Party Data &amp; Licensing attributes directly. They fall into three groups. Two market intelligence products and two sales products carry vendor data and read the permitted use grant, so that nothing is published for a use the license does not cover. Three Data Office products read the catalog: the Distribution Metadata and Lineage Catalog takes 29 attributes about datasets, key fields, delivery and consumption, the data quality product takes vendor data issues, and the privacy product takes which datasets hold personal data. No product depends on this domain only through a foundational product, because it owns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Permission Status is defined once, on the Permitted Use Grant: whether one use of one dataset is permitted under its license. DP-044 compares every dataset consumption record with the grants and counts the uses that no confirmed grant covers. DP-014, the industry flows product, and DP-048, advisor movement alerts, read the same status and publish vendor data only while the grant allows that use. The semantic model SM-06 does not publish the status as a field. It applies it as an access rule, so licensed rows appear only where a grant is in effect. The Data Office question is answered from DP-044 directly, because no semantic model publishes this domain's own products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most important is who masters vendor risk and the DORA register; the recommendation is one enterprise framework owned by Enterprise Risk, with this domain keeping only the data-vendor and license attributes. The second replaces the local license restriction list on data feeds with a reference to the dataset, license and grants held here. The third settles where benchmark register status lives. The fourth is whether licensed ETF holdings data may be used for compensation. The next steps on the right come from the taxonomy's own plan: build the first inventory, have Legal code the high-risk rights, settle the boundaries, map to source systems, and decide the nine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Third-Party Data &amp; Licensing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THIRD-PARTY DATA &amp; LICENSING</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Third-Party Data &amp; Licensing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Dataset</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buy</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500" b="1" dirty="0">
                <a:solidFill>
                  <a:schemeClr val="bg1"/>
                </a:solidFill>
              </a:rPr>
              <a:t>Data License Agreement</a:t>
            </a:r>
            <a:endParaRPr lang="en-US" sz="15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On what terms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Permitted Use Grant</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may do with 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licensed data,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10</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30</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243</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73</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Data vendor relationships and vendor risk, the catalog of licensed datasets, license agreements, permitted-use rights, index licenses, entitlements, usage declarations and audits, cost, and service levels.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data itself and the things it describes: vendor legal identity, benchmarks and products, ratings and market share values, technical feeds, partner data agreements, and cost accounting.</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contract, procurement, entitlement and vendor risk systems, the bill of materials for data products, and the license check applied before vendor data is published.</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10 of the 96 data products read it directly: the 3 it owns and 7 owned by other domains. 8 other products name its anchor product, DP-044, as a direct upstream.</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Third-Party Data &amp; Licensing</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10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Permitted Use &amp; Rights</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30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Permitted Use Grant</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243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Permission Status</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vendor, dataset, license or use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vendor, license, rights</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WHO WE BUY FROM</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WE BUY</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WE MAY DO WITH IT</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Data Vendor</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A party in the vendor role, keyed PTY-</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Vendor Risk Assessment</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Due diligence and DORA register</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The vendor is a party; only the relationship is held here</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Data License Agreement</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Term, renewal, notice and exit, DLA-</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Dataset</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Catalog entry for what is licensed, DSET-</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Commercial Terms</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Contract value, invoices, cost allocation</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Permitted Use Grant</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One coded right per license and use</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Entitlements, consuming applications, usage declarations and license audits are checked against the grants.</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Rights are data, not prose: each permitted use is a coded grant with a status, so a use can be checked against the license before data is used. A use the contract does not address is treated as not permitted until Legal confirms.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10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9 objects  |  67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Dataset &amp; Data Product Catalog</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35 attributes  |  10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Data License Agreement</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32 attributes  |  12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What we may do with the data</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9 objects  |  86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Permitted Use &amp; Rights</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19 attributes  |  5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Index &amp; Benchmark Licensing</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20 attributes  |  6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Entitlements &amp; Access</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22 attributes  |  8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Usage &amp; License Compliance</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25 attributes  |  8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Vendors, cost and quality</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12 objects  |  90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Data Vendor Relationship</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18 attributes  |  4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Vendor Risk &amp; Resilience</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26 attributes  |  8 critical</a:t>
            </a:r>
            <a:endParaRPr lang="en-US" sz="1100" dirty="0"/>
          </a:p>
        </p:txBody>
      </p:sp>
      <p:sp>
        <p:nvSpPr>
          <p:cNvPr id="38" name="Shape 35"/>
          <p:cNvSpPr/>
          <p:nvPr/>
        </p:nvSpPr>
        <p:spPr>
          <a:xfrm>
            <a:off x="8129016" y="4123944"/>
            <a:ext cx="3511296" cy="612648"/>
          </a:xfrm>
          <a:prstGeom prst="roundRect">
            <a:avLst>
              <a:gd name="adj" fmla="val 11940"/>
            </a:avLst>
          </a:prstGeom>
          <a:solidFill>
            <a:schemeClr val="bg2"/>
          </a:solidFill>
          <a:ln/>
        </p:spPr>
      </p:sp>
      <p:sp>
        <p:nvSpPr>
          <p:cNvPr id="39" name="Text 36"/>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Data Cost &amp; Commercials</a:t>
            </a:r>
            <a:endParaRPr lang="en-US" sz="1300" dirty="0"/>
          </a:p>
        </p:txBody>
      </p:sp>
      <p:sp>
        <p:nvSpPr>
          <p:cNvPr id="40" name="Text 37"/>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27 attributes  |  7 critical</a:t>
            </a:r>
            <a:endParaRPr lang="en-US" sz="1100" dirty="0"/>
          </a:p>
        </p:txBody>
      </p:sp>
      <p:sp>
        <p:nvSpPr>
          <p:cNvPr id="41" name="Shape 38"/>
          <p:cNvSpPr/>
          <p:nvPr/>
        </p:nvSpPr>
        <p:spPr>
          <a:xfrm>
            <a:off x="8129016" y="4837176"/>
            <a:ext cx="3511296" cy="612648"/>
          </a:xfrm>
          <a:prstGeom prst="roundRect">
            <a:avLst>
              <a:gd name="adj" fmla="val 11940"/>
            </a:avLst>
          </a:prstGeom>
          <a:solidFill>
            <a:schemeClr val="bg2"/>
          </a:solidFill>
          <a:ln/>
        </p:spPr>
      </p:sp>
      <p:sp>
        <p:nvSpPr>
          <p:cNvPr id="42" name="Text 39"/>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Vendor Data Quality &amp; Service Levels</a:t>
            </a:r>
            <a:endParaRPr lang="en-US" sz="1300" dirty="0"/>
          </a:p>
        </p:txBody>
      </p:sp>
      <p:sp>
        <p:nvSpPr>
          <p:cNvPr id="43" name="Text 40"/>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19 attributes  |  5 critical</a:t>
            </a:r>
            <a:endParaRPr lang="en-US" sz="1100" dirty="0"/>
          </a:p>
        </p:txBody>
      </p:sp>
      <p:sp>
        <p:nvSpPr>
          <p:cNvPr id="44" name="Text 41"/>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dataset and license agreement</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Dataset &amp; Data Product Catalog</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5 objects  |  35 attributes  |  10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Every licensed dataset: what it covers, its key fields, how it is delivered and who consumes it.</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Dataset, </a:t>
            </a:r>
            <a:pPr indent="0" marL="0">
              <a:buNone/>
            </a:pPr>
            <a:r>
              <a:rPr lang="en-US" sz="1300" dirty="0">
                <a:solidFill>
                  <a:schemeClr val="tx1"/>
                </a:solidFill>
              </a:rPr>
              <a:t>Dataset Coverage, </a:t>
            </a:r>
            <a:pPr indent="0" marL="0">
              <a:buNone/>
            </a:pPr>
            <a:r>
              <a:rPr lang="en-US" sz="1300" b="1" dirty="0">
                <a:solidFill>
                  <a:schemeClr val="tx1"/>
                </a:solidFill>
              </a:rPr>
              <a:t>Dataset Key Field, </a:t>
            </a:r>
            <a:pPr indent="0" marL="0">
              <a:buNone/>
            </a:pPr>
            <a:r>
              <a:rPr lang="en-US" sz="1300" dirty="0">
                <a:solidFill>
                  <a:schemeClr val="tx1"/>
                </a:solidFill>
              </a:rPr>
              <a:t>Dataset Delivery, </a:t>
            </a:r>
            <a:pPr indent="0" marL="0">
              <a:buNone/>
            </a:pPr>
            <a:r>
              <a:rPr lang="en-US" sz="1300" b="1" dirty="0">
                <a:solidFill>
                  <a:schemeClr val="tx1"/>
                </a:solidFill>
              </a:rPr>
              <a:t>Dataset Consumption</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Dataset Subject Area, Data Granularity, Delivery Method, Consuming Business Domain</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Data License Agreement</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4 objects  |  32 attributes  |  12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The contracts under which data is bought: licensed scope, term, renewal, termination and audit clauses.</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Data License Agreement, </a:t>
            </a:r>
            <a:pPr indent="0" marL="0">
              <a:buNone/>
            </a:pPr>
            <a:r>
              <a:rPr lang="en-US" sz="1300" b="1" dirty="0">
                <a:solidFill>
                  <a:schemeClr val="tx1"/>
                </a:solidFill>
              </a:rPr>
              <a:t>Licensed Dataset Schedule, </a:t>
            </a:r>
            <a:pPr indent="0" marL="0">
              <a:buNone/>
            </a:pPr>
            <a:r>
              <a:rPr lang="en-US" sz="1300" dirty="0">
                <a:solidFill>
                  <a:schemeClr val="tx1"/>
                </a:solidFill>
              </a:rPr>
              <a:t>Termination Obligations, </a:t>
            </a:r>
            <a:pPr indent="0" marL="0">
              <a:buNone/>
            </a:pPr>
            <a:r>
              <a:rPr lang="en-US" sz="1300" dirty="0">
                <a:solidFill>
                  <a:schemeClr val="tx1"/>
                </a:solidFill>
              </a:rPr>
              <a:t>Compliance Clauses</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License Model, Notice Deadline Date, Licensed User Count, Vendor Audit Right Indicator</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or grain. Regular = attribute group held on its parent dataset or license agreement.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we may do with the data</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Permitted Use &amp; Rights</a:t>
                      </a:r>
                      <a:endParaRPr lang="en-US" sz="1200" dirty="0"/>
                    </a:p>
                    <a:p>
                      <a:pPr indent="0" marL="0">
                        <a:buNone/>
                      </a:pPr>
                      <a:r>
                        <a:rPr lang="en-US" sz="1100" dirty="0">
                          <a:solidFill>
                            <a:schemeClr val="tx2"/>
                          </a:solidFill>
                        </a:rPr>
                        <a:t>2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One coded right per agreement, dataset and use, plus required attribution text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Permitted Use Grant, </a:t>
                      </a:r>
                      <a:pPr indent="0" marL="0">
                        <a:buNone/>
                      </a:pPr>
                      <a:r>
                        <a:rPr lang="en-US" sz="1200" b="1" dirty="0">
                          <a:solidFill>
                            <a:schemeClr val="tx1"/>
                          </a:solidFill>
                        </a:rPr>
                        <a:t>Attribution Requirement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Permitted Use Category, Permission Status, Use Conditions, Required Attribution Text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Index &amp; Benchmark Licensing</a:t>
                      </a:r>
                      <a:endParaRPr lang="en-US" sz="1200" dirty="0"/>
                    </a:p>
                    <a:p>
                      <a:pPr indent="0" marL="0">
                        <a:buNone/>
                      </a:pPr>
                      <a:r>
                        <a:rPr lang="en-US" sz="1100" dirty="0">
                          <a:solidFill>
                            <a:schemeClr val="tx2"/>
                          </a:solidFill>
                        </a:rPr>
                        <a:t>2 objects  |  20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How each licensed index is used, the products covered, fees and register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Index Use, </a:t>
                      </a:r>
                      <a:pPr indent="0" marL="0">
                        <a:buNone/>
                      </a:pPr>
                      <a:r>
                        <a:rPr lang="en-US" sz="1200" b="1" dirty="0">
                          <a:solidFill>
                            <a:schemeClr val="tx1"/>
                          </a:solidFill>
                        </a:rPr>
                        <a:t>Index Product Coverage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Index Use Type, BMR Use Indicator, License Fee Rate, Fee AUM Basis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Entitlements &amp; Access</a:t>
                      </a:r>
                      <a:endParaRPr lang="en-US" sz="1200" dirty="0"/>
                    </a:p>
                    <a:p>
                      <a:pPr indent="0" marL="0">
                        <a:buNone/>
                      </a:pPr>
                      <a:r>
                        <a:rPr lang="en-US" sz="1100" dirty="0">
                          <a:solidFill>
                            <a:schemeClr val="tx2"/>
                          </a:solidFill>
                        </a:rPr>
                        <a:t>2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Which users and applications may access each dataset, under which license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Entitlement, </a:t>
                      </a:r>
                      <a:pPr indent="0" marL="0">
                        <a:buNone/>
                      </a:pPr>
                      <a:r>
                        <a:rPr lang="en-US" sz="1200" b="1" dirty="0">
                          <a:solidFill>
                            <a:schemeClr val="tx1"/>
                          </a:solidFill>
                        </a:rPr>
                        <a:t>Consuming Application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Entitlement Status, Last Recertification Date, Last Used Date, Usage Mode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Usage &amp; License Compliance</a:t>
                      </a:r>
                      <a:endParaRPr lang="en-US" sz="1200" dirty="0"/>
                    </a:p>
                    <a:p>
                      <a:pPr indent="0" marL="0">
                        <a:buNone/>
                      </a:pPr>
                      <a:r>
                        <a:rPr lang="en-US" sz="1100" dirty="0">
                          <a:solidFill>
                            <a:schemeClr val="tx2"/>
                          </a:solidFill>
                        </a:rPr>
                        <a:t>3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Usage declared to vendors, license audits, findings, remediation and true-ups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Usage Declaration, </a:t>
                      </a:r>
                      <a:pPr indent="0" marL="0">
                        <a:buNone/>
                      </a:pPr>
                      <a:r>
                        <a:rPr lang="en-US" sz="1200" b="1" dirty="0">
                          <a:solidFill>
                            <a:schemeClr val="tx1"/>
                          </a:solidFill>
                        </a:rPr>
                        <a:t>License Audit, </a:t>
                      </a:r>
                      <a:pPr indent="0" marL="0">
                        <a:buNone/>
                      </a:pPr>
                      <a:r>
                        <a:rPr lang="en-US" sz="1200" b="1" dirty="0">
                          <a:solidFill>
                            <a:schemeClr val="tx1"/>
                          </a:solidFill>
                        </a:rPr>
                        <a:t>License Compliance Finding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Declaration Type, Declared AUM, Back-Fees Claimed, Finding Type, True-Up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or grain. Regular = attribute group held on its parent dataset or license agreement.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Vendors, cost and quality</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Data Vendor Relationship</a:t>
                      </a:r>
                      <a:endParaRPr lang="en-US" sz="1200" dirty="0"/>
                    </a:p>
                    <a:p>
                      <a:pPr indent="0" marL="0">
                        <a:buNone/>
                      </a:pPr>
                      <a:r>
                        <a:rPr lang="en-US" sz="1100" dirty="0">
                          <a:solidFill>
                            <a:schemeClr val="tx2"/>
                          </a:solidFill>
                        </a:rPr>
                        <a:t>3 objects  |  18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relationship with each data provider: type, tier, owner, contacts and reviews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Data Vendor, </a:t>
                      </a:r>
                      <a:pPr indent="0" marL="0">
                        <a:buNone/>
                      </a:pPr>
                      <a:r>
                        <a:rPr lang="en-US" sz="1200" b="1" dirty="0">
                          <a:solidFill>
                            <a:schemeClr val="tx1"/>
                          </a:solidFill>
                        </a:rPr>
                        <a:t>Vendor Contact Role, </a:t>
                      </a:r>
                      <a:pPr indent="0" marL="0">
                        <a:buNone/>
                      </a:pPr>
                      <a:r>
                        <a:rPr lang="en-US" sz="1200" b="1" dirty="0">
                          <a:solidFill>
                            <a:schemeClr val="tx1"/>
                          </a:solidFill>
                        </a:rPr>
                        <a:t>Vendor Performance Review</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Vendor Type, Strategic Tier, Relationship Owner, Vendor Contact Role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Vendor Risk &amp; Resilience</a:t>
                      </a:r>
                      <a:endParaRPr lang="en-US" sz="1200" dirty="0"/>
                    </a:p>
                    <a:p>
                      <a:pPr indent="0" marL="0">
                        <a:buNone/>
                      </a:pPr>
                      <a:r>
                        <a:rPr lang="en-US" sz="1100" dirty="0">
                          <a:solidFill>
                            <a:schemeClr val="tx2"/>
                          </a:solidFill>
                        </a:rPr>
                        <a:t>3 objects  |  26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Risk assessments, assurance reports, and DORA and UK resilience register fields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Vendor Risk Assessment, </a:t>
                      </a:r>
                      <a:pPr indent="0" marL="0">
                        <a:buNone/>
                      </a:pPr>
                      <a:r>
                        <a:rPr lang="en-US" sz="1200" b="1" dirty="0">
                          <a:solidFill>
                            <a:schemeClr val="tx1"/>
                          </a:solidFill>
                        </a:rPr>
                        <a:t>Assurance Report, </a:t>
                      </a:r>
                      <a:pPr indent="0" marL="0">
                        <a:buNone/>
                      </a:pPr>
                      <a:r>
                        <a:rPr lang="en-US" sz="1200" b="1" dirty="0">
                          <a:solidFill>
                            <a:schemeClr val="tx1"/>
                          </a:solidFill>
                        </a:rPr>
                        <a:t>ICT Third-Party Register Entry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Residual Risk Rating, Assurance Report Type, Substitutability, ICT Service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Data Cost &amp; Commercials</a:t>
                      </a:r>
                      <a:endParaRPr lang="en-US" sz="1200" dirty="0"/>
                    </a:p>
                    <a:p>
                      <a:pPr indent="0" marL="0">
                        <a:buNone/>
                      </a:pPr>
                      <a:r>
                        <a:rPr lang="en-US" sz="1100" dirty="0">
                          <a:solidFill>
                            <a:schemeClr val="tx2"/>
                          </a:solidFill>
                        </a:rPr>
                        <a:t>4 objects  |  27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Contract value and pricing, invoices, cost split to org units, and renewal cases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Commercial Terms, </a:t>
                      </a:r>
                      <a:pPr indent="0" marL="0">
                        <a:buNone/>
                      </a:pPr>
                      <a:r>
                        <a:rPr lang="en-US" sz="1200" b="1" dirty="0">
                          <a:solidFill>
                            <a:schemeClr val="tx1"/>
                          </a:solidFill>
                        </a:rPr>
                        <a:t>Data Invoice, </a:t>
                      </a:r>
                      <a:pPr indent="0" marL="0">
                        <a:buNone/>
                      </a:pPr>
                      <a:r>
                        <a:rPr lang="en-US" sz="1200" b="1" dirty="0">
                          <a:solidFill>
                            <a:schemeClr val="tx1"/>
                          </a:solidFill>
                        </a:rPr>
                        <a:t>Data Cost Allocation, </a:t>
                      </a:r>
                      <a:pPr indent="0" marL="0">
                        <a:buNone/>
                      </a:pPr>
                      <a:r>
                        <a:rPr lang="en-US" sz="1200" b="1" dirty="0">
                          <a:solidFill>
                            <a:schemeClr val="tx1"/>
                          </a:solidFill>
                        </a:rPr>
                        <a:t>Renewal Case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Annual Contract Value, Invoice Net Amount, Allocation Share, Renewal Decision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Vendor Data Quality &amp; Service Levels</a:t>
                      </a:r>
                      <a:endParaRPr lang="en-US" sz="1200" dirty="0"/>
                    </a:p>
                    <a:p>
                      <a:pPr indent="0" marL="0">
                        <a:buNone/>
                      </a:pPr>
                      <a:r>
                        <a:rPr lang="en-US" sz="1100" dirty="0">
                          <a:solidFill>
                            <a:schemeClr val="tx2"/>
                          </a:solidFill>
                        </a:rPr>
                        <a:t>2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levels agreed per dataset, measured results, and issues raised with vendors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Vendor Data SLA, </a:t>
                      </a:r>
                      <a:pPr indent="0" marL="0">
                        <a:buNone/>
                      </a:pPr>
                      <a:r>
                        <a:rPr lang="en-US" sz="1200" b="1" dirty="0">
                          <a:solidFill>
                            <a:schemeClr val="tx1"/>
                          </a:solidFill>
                        </a:rPr>
                        <a:t>Vendor Data Issue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SLA Metric, SLA Breach Indicator, Issue Type, Resolution Outcome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or grain. Regular = attribute group held on its parent dataset or license agreement.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on a few key standards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GDPR, US interagency third-party guidance, FCA SYSC 15A, CDMC, DCAM and ISO 4217.</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22%</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(54 of 243) align to an external standard, regulation or practice</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65</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73</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30 percent, are proposed critical data elements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Vendor legal identity, LEI and contact persons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vendor role on the party: type, tier, owner, status and reviews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Benchmarks, products and share classes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Which index is licensed for which product, the fee terms and register status as used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Data agreements with distribution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Licenses bought from data vendors, even where the content is distributor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Technical feeds, loads and the data received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dataset catalog entry, with a reference to the feed that delivers it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Rating, peer and market share values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 &amp; Competitive Intelligence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right to show a rating, and the attribution text required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Intent signals and lead scores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intent dataset, its vendor and its license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Submissions the firm makes to consultant databases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license to read the consultant database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Cost accounting, accruals and allocation methods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&amp; Profitability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Contract value, invoices and the agreed cost split to org units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214 attributes mastered, 29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214</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243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24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5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658368"/>
          </a:xfrm>
          <a:prstGeom prst="roundRect">
            <a:avLst>
              <a:gd name="adj" fmla="val 11111"/>
            </a:avLst>
          </a:prstGeom>
          <a:solidFill>
            <a:schemeClr val="bg2"/>
          </a:solidFill>
          <a:ln/>
        </p:spPr>
      </p:sp>
      <p:sp>
        <p:nvSpPr>
          <p:cNvPr id="13" name="Text 10"/>
          <p:cNvSpPr txBox="1"/>
          <p:nvPr/>
        </p:nvSpPr>
        <p:spPr>
          <a:xfrm>
            <a:off x="4343400" y="1783080"/>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9 references, 1 copy</a:t>
            </a:r>
            <a:endParaRPr lang="en-US" sz="1200" dirty="0"/>
          </a:p>
        </p:txBody>
      </p:sp>
      <p:sp>
        <p:nvSpPr>
          <p:cNvPr id="15" name="Text 12"/>
          <p:cNvSpPr txBox="1"/>
          <p:nvPr/>
        </p:nvSpPr>
        <p:spPr>
          <a:xfrm>
            <a:off x="8458200" y="1783080"/>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party behind each vendor, licensor, index provider, vendor contact and subcontractor; display name</a:t>
            </a:r>
            <a:endParaRPr lang="en-US" sz="1100" dirty="0"/>
          </a:p>
        </p:txBody>
      </p:sp>
      <p:sp>
        <p:nvSpPr>
          <p:cNvPr id="16" name="Shape 13"/>
          <p:cNvSpPr/>
          <p:nvPr/>
        </p:nvSpPr>
        <p:spPr>
          <a:xfrm>
            <a:off x="4114800" y="2551176"/>
            <a:ext cx="7525512" cy="658368"/>
          </a:xfrm>
          <a:prstGeom prst="roundRect">
            <a:avLst>
              <a:gd name="adj" fmla="val 11111"/>
            </a:avLst>
          </a:prstGeom>
          <a:solidFill>
            <a:schemeClr val="bg2"/>
          </a:solidFill>
          <a:ln/>
        </p:spPr>
      </p:sp>
      <p:sp>
        <p:nvSpPr>
          <p:cNvPr id="17" name="Text 14"/>
          <p:cNvSpPr txBox="1"/>
          <p:nvPr/>
        </p:nvSpPr>
        <p:spPr>
          <a:xfrm>
            <a:off x="4343400" y="2551176"/>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8" name="Text 15"/>
          <p:cNvSpPr txBox="1"/>
          <p:nvPr/>
        </p:nvSpPr>
        <p:spPr>
          <a:xfrm>
            <a:off x="7132320" y="2551176"/>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10 references</a:t>
            </a:r>
            <a:endParaRPr lang="en-US" sz="1200" dirty="0"/>
          </a:p>
        </p:txBody>
      </p:sp>
      <p:sp>
        <p:nvSpPr>
          <p:cNvPr id="19" name="Text 16"/>
          <p:cNvSpPr txBox="1"/>
          <p:nvPr/>
        </p:nvSpPr>
        <p:spPr>
          <a:xfrm>
            <a:off x="8458200" y="2551176"/>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License and relationship owners, entitled users and approvers, licensee legal entities, org units</a:t>
            </a:r>
            <a:endParaRPr lang="en-US" sz="1100" dirty="0"/>
          </a:p>
        </p:txBody>
      </p:sp>
      <p:sp>
        <p:nvSpPr>
          <p:cNvPr id="20" name="Shape 17"/>
          <p:cNvSpPr/>
          <p:nvPr/>
        </p:nvSpPr>
        <p:spPr>
          <a:xfrm>
            <a:off x="4114800" y="3319272"/>
            <a:ext cx="7525512" cy="658368"/>
          </a:xfrm>
          <a:prstGeom prst="roundRect">
            <a:avLst>
              <a:gd name="adj" fmla="val 11111"/>
            </a:avLst>
          </a:prstGeom>
          <a:solidFill>
            <a:schemeClr val="bg2"/>
          </a:solidFill>
          <a:ln/>
        </p:spPr>
      </p:sp>
      <p:sp>
        <p:nvSpPr>
          <p:cNvPr id="21" name="Text 18"/>
          <p:cNvSpPr txBox="1"/>
          <p:nvPr/>
        </p:nvSpPr>
        <p:spPr>
          <a:xfrm>
            <a:off x="4343400" y="3319272"/>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22" name="Text 19"/>
          <p:cNvSpPr txBox="1"/>
          <p:nvPr/>
        </p:nvSpPr>
        <p:spPr>
          <a:xfrm>
            <a:off x="7132320" y="3319272"/>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3 references, 3 copies</a:t>
            </a:r>
            <a:endParaRPr lang="en-US" sz="1200" dirty="0"/>
          </a:p>
        </p:txBody>
      </p:sp>
      <p:sp>
        <p:nvSpPr>
          <p:cNvPr id="23" name="Text 20"/>
          <p:cNvSpPr txBox="1"/>
          <p:nvPr/>
        </p:nvSpPr>
        <p:spPr>
          <a:xfrm>
            <a:off x="8458200" y="3319272"/>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licensed index and covered product and share class; benchmark category and register status</a:t>
            </a:r>
            <a:endParaRPr lang="en-US" sz="1100" dirty="0"/>
          </a:p>
        </p:txBody>
      </p:sp>
      <p:sp>
        <p:nvSpPr>
          <p:cNvPr id="24" name="Shape 21"/>
          <p:cNvSpPr/>
          <p:nvPr/>
        </p:nvSpPr>
        <p:spPr>
          <a:xfrm>
            <a:off x="4114800" y="4087368"/>
            <a:ext cx="7525512" cy="658368"/>
          </a:xfrm>
          <a:prstGeom prst="roundRect">
            <a:avLst>
              <a:gd name="adj" fmla="val 11111"/>
            </a:avLst>
          </a:prstGeom>
          <a:solidFill>
            <a:schemeClr val="bg2"/>
          </a:solidFill>
          <a:ln/>
        </p:spPr>
      </p:sp>
      <p:sp>
        <p:nvSpPr>
          <p:cNvPr id="25" name="Text 22"/>
          <p:cNvSpPr txBox="1"/>
          <p:nvPr/>
        </p:nvSpPr>
        <p:spPr>
          <a:xfrm>
            <a:off x="4343400" y="4087368"/>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26" name="Text 23"/>
          <p:cNvSpPr txBox="1"/>
          <p:nvPr/>
        </p:nvSpPr>
        <p:spPr>
          <a:xfrm>
            <a:off x="7132320" y="4087368"/>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 1 copy</a:t>
            </a:r>
            <a:endParaRPr lang="en-US" sz="1200" dirty="0"/>
          </a:p>
        </p:txBody>
      </p:sp>
      <p:sp>
        <p:nvSpPr>
          <p:cNvPr id="27" name="Text 24"/>
          <p:cNvSpPr txBox="1"/>
          <p:nvPr/>
        </p:nvSpPr>
        <p:spPr>
          <a:xfrm>
            <a:off x="8458200" y="4087368"/>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technical feed that delivers a dataset; the AUM declared for index license fees</a:t>
            </a:r>
            <a:endParaRPr lang="en-US" sz="1100" dirty="0"/>
          </a:p>
        </p:txBody>
      </p:sp>
      <p:sp>
        <p:nvSpPr>
          <p:cNvPr id="28" name="Shape 25"/>
          <p:cNvSpPr/>
          <p:nvPr/>
        </p:nvSpPr>
        <p:spPr>
          <a:xfrm>
            <a:off x="4114800" y="4855464"/>
            <a:ext cx="7525512" cy="658368"/>
          </a:xfrm>
          <a:prstGeom prst="roundRect">
            <a:avLst>
              <a:gd name="adj" fmla="val 11111"/>
            </a:avLst>
          </a:prstGeom>
          <a:solidFill>
            <a:schemeClr val="bg2"/>
          </a:solidFill>
          <a:ln/>
        </p:spPr>
      </p:sp>
      <p:sp>
        <p:nvSpPr>
          <p:cNvPr id="29" name="Text 26"/>
          <p:cNvSpPr txBox="1"/>
          <p:nvPr/>
        </p:nvSpPr>
        <p:spPr>
          <a:xfrm>
            <a:off x="4343400" y="4855464"/>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Distribution Finance &amp; Profitability</a:t>
            </a:r>
            <a:endParaRPr lang="en-US" sz="1200" dirty="0"/>
          </a:p>
        </p:txBody>
      </p:sp>
      <p:sp>
        <p:nvSpPr>
          <p:cNvPr id="30" name="Text 27"/>
          <p:cNvSpPr txBox="1"/>
          <p:nvPr/>
        </p:nvSpPr>
        <p:spPr>
          <a:xfrm>
            <a:off x="7132320" y="4855464"/>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31" name="Text 28"/>
          <p:cNvSpPr txBox="1"/>
          <p:nvPr/>
        </p:nvSpPr>
        <p:spPr>
          <a:xfrm>
            <a:off x="8458200" y="4855464"/>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standard allocation method behind a data cost split</a:t>
            </a:r>
            <a:endParaRPr lang="en-US" sz="1100" dirty="0"/>
          </a:p>
        </p:txBody>
      </p:sp>
      <p:sp>
        <p:nvSpPr>
          <p:cNvPr id="32" name="Shape 29"/>
          <p:cNvSpPr/>
          <p:nvPr/>
        </p:nvSpPr>
        <p:spPr>
          <a:xfrm>
            <a:off x="548640" y="5687568"/>
            <a:ext cx="11091672" cy="530352"/>
          </a:xfrm>
          <a:prstGeom prst="roundRect">
            <a:avLst>
              <a:gd name="adj" fmla="val 13793"/>
            </a:avLst>
          </a:prstGeom>
          <a:solidFill>
            <a:schemeClr val="bg2"/>
          </a:solidFill>
          <a:ln/>
        </p:spPr>
      </p:sp>
      <p:sp>
        <p:nvSpPr>
          <p:cNvPr id="33" name="Text 30"/>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12 attributes in 5 other domains reference a dataset, vendor or status held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9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11</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2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9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1 high, 4 medium, 4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GAP-14-002</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Dataset Key Field does not name the dataset it belongs to (DP-075)</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GAP-14-003</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Vendor-sourced records do not name the dataset whose license governs them (DP-048, DP-066)</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GAP-14-004</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Commercial Terms has no price per dataset and no prior-term value to compare a renewal with (DP-044, DP-073)</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GAP-14-005</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Vendor reviews, assurance reports and contact roles do not name their vendor; ICT register entry has no agreement (DP-073)</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GAP-14-006</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Vendor Risk Assessment has a next due date but no completed date (DP-073)</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GAP-14-007</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Licensed Dataset Schedule does not name its agreement, and a compliance finding does not name its audit (DP-044)</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GAP-14-008</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License Audit names the vendor but not the agreements audited (DP-044)</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Contract, procurement, accounts payable, entitlement, data catalog and vendor risk systems each map to one definition per field. Mapping is Phase D,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All 30 objects and 206 of the 243 attributes appear in a product specification.</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License gate</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Products that carry vendor data check the permitted use grant before they publish. Semantic models limit licensed rows by the same grant.</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and 73 proposed critical data elements show stewards where to focus. Only 3 attributes are personal data.</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Contract and vendor systems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100" b="1" dirty="0">
                <a:solidFill>
                  <a:schemeClr val="bg1"/>
                </a:solidFill>
              </a:rPr>
              <a:t>Third-Party Data &amp; Licensing definitions</a:t>
            </a:r>
            <a:endParaRPr lang="en-US" sz="11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DP-044 anchor product</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 access rules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ANCHOR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control product anchors the domain</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DP-044</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Third-Party Data Usage, Entitlements &amp; Cost</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Consumer-aligned  |  Regulatory &amp; Control  |  Owner: Head of Market Data &amp; Licensing</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dataset, data license agreement and month, with drill-down to entitlement and consumption records</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103 of its 107 attributes come from 15 of this domain's 30 objects. The other 4 are employee status and certified ending AUM.</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Weekly, by 8am Eastern each Monday. Month-end view by business day 5.</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Monthly snapshots for 7 years. Entitlement and grant history kept for the life of the license plus the vendor audit look-back.</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Classified Restricted - Commercial Terms, and flagged as containing personal data.</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8</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name DP-044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10</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active entitlement references an active license that schedules the dataset on that date</a:t>
            </a:r>
            <a:endParaRPr lang="en-US" sz="1300" dirty="0"/>
          </a:p>
          <a:p>
            <a:pPr marL="177800" indent="-177800">
              <a:spcAft>
                <a:spcPts val="600"/>
              </a:spcAft>
              <a:buSzPct val="100000"/>
              <a:buChar char="•"/>
            </a:pPr>
            <a:r>
              <a:rPr lang="en-US" sz="1300" dirty="0">
                <a:solidFill>
                  <a:schemeClr val="tx1"/>
                </a:solidFill>
              </a:rPr>
              <a:t>No active user entitlement belongs to an employee whose employment has terminated</a:t>
            </a:r>
            <a:endParaRPr lang="en-US" sz="1300" dirty="0"/>
          </a:p>
          <a:p>
            <a:pPr marL="177800" indent="-177800">
              <a:spcAft>
                <a:spcPts val="600"/>
              </a:spcAft>
              <a:buSzPct val="100000"/>
              <a:buChar char="•"/>
            </a:pPr>
            <a:r>
              <a:rPr lang="en-US" sz="1300" dirty="0">
                <a:solidFill>
                  <a:schemeClr val="tx1"/>
                </a:solidFill>
              </a:rPr>
              <a:t>Every dataset consumption has a covering permitted use in force on the consumption dates</a:t>
            </a:r>
            <a:endParaRPr lang="en-US" sz="1300" dirty="0"/>
          </a:p>
          <a:p>
            <a:pPr marL="177800" indent="-177800">
              <a:spcAft>
                <a:spcPts val="600"/>
              </a:spcAft>
              <a:buSzPct val="100000"/>
              <a:buChar char="•"/>
            </a:pPr>
            <a:r>
              <a:rPr lang="en-US" sz="1300" dirty="0">
                <a:solidFill>
                  <a:schemeClr val="tx1"/>
                </a:solidFill>
              </a:rPr>
              <a:t>Cost allocation shares sum to 100% per agreement for each effective period</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10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10</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2 foundational and 8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30 of 30</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85%</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(206 of 243)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5</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regulatory and control products, the largest group of the 10</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5 regulatory and control, 2 analytical, 1 conformed facts, 1 operational, 1 master and reference.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Three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DP-044</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Third-Party Data Usage, Entitlements &amp; Cost</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Data Office</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Who and which applications may use each licensed dataset, whether each use is covered, and what each license costs.</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320325"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103 of 107</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DP-072</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Index Licensing Fees</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Data Office</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Every index license: which products use which index, the fees due on AUM, and the benchmark register status.</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885463"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51 of 79</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DP-073</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Data Vendor Risk &amp; Renewals</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Data Office</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For each vendor and agreement: notice deadlines, price, risk and assurance status, service quality, audit exposure.</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1371600"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101 of 101</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7 more rely on it for rights and the catalog</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Market and competitive intelligence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DP-014, DP-049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Permitted use grants for industry, peer and wallet share data, with attribution text and source datasets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Field sales and retirement prospecting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DP-048, DP-066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Permission status for vendor-sourced advisor alerts and plan prospect lists, and the datasets behind them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Data Office: lineage, quality and privacy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DP-075, DP-045, DP-080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dataset catalog with key fields, delivery and consumption; vendor data issues; personal data flags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This domain owns no foundational product, so no product depends on it indirectly through one. 8 products name DP-044 as a direct upstream.</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Permission Status</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Permitted Use Grant: whether one use of one dataset is permitted under its license.</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ANCHOR PRODUCT</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DP-044</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Compares each dataset consumption record with the grants and counts the uses no confirmed grant covers.</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GATED PRODUCTS</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DP-014 and</a:t>
            </a:r>
            <a:endParaRPr lang="en-US" sz="1400" dirty="0"/>
          </a:p>
          <a:p>
            <a:pPr algn="l" indent="0" marL="0">
              <a:buNone/>
            </a:pPr>
            <a:r>
              <a:rPr lang="en-US" sz="1400" b="1" dirty="0">
                <a:solidFill>
                  <a:schemeClr val="tx1"/>
                </a:solidFill>
              </a:rPr>
              <a:t>DP-048</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Industry data and vendor-sourced advisor alerts are published only while the grant permits that use.</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ACCESS RULE</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SM-06 Product &amp; Market</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Does not publish the status as a field. It limits licensed rows to datasets with a grant in effect.</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Data Office control view</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uses of a dataset are not covered by a confirmed permitted use grant?” Answered from DP-044.</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Uncovered Use Count  =  dataset consumption records with no permitted, Legal-confirmed grant</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Industry and peer values are mastered in Market &amp; Competitive Intelligence. This domain supplies whether they may be used, and with what attribution.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CD-090</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masters vendor risk and the DORA register. Recommended: one enterprise framework under Enterprise Risk; this domain keeps data-vendor fields.</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CD-032</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Vendor feeds reference the dataset and data license held here, and take usage rights from the permitted use grants instead of a local list.</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CD-024</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This domain owns the benchmark register status check. Investment Product keeps a derived indicator on the benchmark.</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CD-047</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Licensed ETF holdings data is used for compensation only where the permitted use grant for that use says permitted.</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Build the first inventory: the top 25 vendors, their license agreements and datasets, and their renewal and notice dates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Run a Legal workshop to code the grants for five high-risk uses: redistribution, client reporting, marketing, index tracking and AI</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Hold a joint session on the boundary between data licenses, partner agreements and technical feeds; agree the benchmark status check</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the contract, procurement and accounts payable, entitlement, data catalog and vendor risk systems (Phase D)</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9 open gaps, starting with the one high-priority gap on Dataset Key Field</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Third-Party Data &amp; Licensing taxonomy walkthrough</dc:title>
  <dc:subject>PptxGenJS Presentation</dc:subject>
  <dc:creator>Distribution Data Taxonomy Program</dc:creator>
  <cp:lastModifiedBy>Distribution Data Taxonomy Program</cp:lastModifiedBy>
  <cp:revision>1</cp:revision>
  <dcterms:created xsi:type="dcterms:W3CDTF">2026-10-06T08:37:09Z</dcterms:created>
  <dcterms:modified xsi:type="dcterms:W3CDTF">2026-10-06T08:37:09Z</dcterms:modified>
</cp:coreProperties>
</file>