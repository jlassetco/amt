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f8c16e2-796b-b50d-bd9d-7ff51e1aa2eb}">
          <p14:sldIdLst>
            <p14:sldId id="256"/>
            <p14:sldId id="257"/>
          </p14:sldIdLst>
        </p14:section>
        <p14:section name="1 Why most firms never got there" id="{bc267e61-86e1-71fd-79e2-bcfe6b2000d2}">
          <p14:sldIdLst>
            <p14:sldId id="258"/>
            <p14:sldId id="259"/>
            <p14:sldId id="260"/>
          </p14:sldIdLst>
        </p14:section>
        <p14:section name="2 Why a taxonomy matters" id="{346b6618-5f65-dd25-45ba-a66b1a1f1e34}">
          <p14:sldIdLst>
            <p14:sldId id="261"/>
            <p14:sldId id="262"/>
            <p14:sldId id="263"/>
          </p14:sldIdLst>
        </p14:section>
        <p14:section name="3 Data products that manage themselves" id="{8ffe47df-6ce9-6e96-01c0-a7e010d6cb45}">
          <p14:sldIdLst>
            <p14:sldId id="264"/>
            <p14:sldId id="265"/>
            <p14:sldId id="266"/>
            <p14:sldId id="267"/>
          </p14:sldIdLst>
        </p14:section>
        <p14:section name="4 The demo" id="{a2448370-f2bc-a6a2-ea6e-ba39b1ad9532}">
          <p14:sldIdLst>
            <p14:sldId id="268"/>
            <p14:sldId id="269"/>
            <p14:sldId id="270"/>
            <p14:sldId id="271"/>
            <p14:sldId id="272"/>
            <p14:sldId id="273"/>
            <p14:sldId id="274"/>
            <p14:sldId id="275"/>
            <p14:sldId id="276"/>
            <p14:sldId id="277"/>
          </p14:sldIdLst>
        </p14:section>
        <p14:section name="5 What it means for you" id="{7d6d5393-081a-00e3-9718-572354cd23d2}">
          <p14:sldIdLst>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session has one claim and one demonstration. The claim: if a firm defines its data once, with an owner for every meaning, then each source system needs to be mapped to that definition only once, and everything above the mapping can be generated: the data products, their tests, the certified metrics, the answers to business questions, and the reasons for the questions that cannot be answered yet.
The demonstration is a running build. Eight source systems, in their vendors' own shapes and codes, mapped to the taxonomy; four semantic models switched on; the certified client asset figures proven to the cent; questions answered with their SQL and their lineage back to the taxonomy; and the questions declined, each with its gap named.
Two caveats. The firm is hypothetical and every dollar is synthetic. And every figure on these slides is on the demo page, so you can read the two side by side; the last slide says where.
The four chips are the four steps we will keep coming back to: define, map, compile,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about forty-five minutes with questions. The first two are about why: why most firms are stuck, and why a taxonomy is the way out. The third is the mechanism: how a taxonomy becomes data products that report their own state. The fourth is the demo itself, in its three moments. The fifth is what it means for the two of you.
The claim on the right is the whole deck in four sentences. Hold the demo against it: every slide in part four is evidence for one of those sentences.
One more thing to say up front: the numbers you will see are not in the deck because they look good. They are in the deck because they are on the demo page and can be re-run while we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is short and it is not a criticism of anyone in the room. The pattern is close to universal, and it has a single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patterns, and I suspect each of you recognizes at least three.
Every platform documents its own fields, so the firm has a dozen data dictionaries and no definition of a client asset. The data catalog knows a column exists; it does not know what the column means or who may decide. Every report that needs net new assets computes it again, and the monthly argument is about definitions dressed up as a reconciliation. And now an AI assistant pointed at the warehouse returns a plausible number with no definition behind it.
These are patterns, not statistics; I am not going to quote an industry survey at you. The point is the band at the bottom: they share one cause. Nobody wrote down, once, what the firm's data means and who owns each meaning. Everything built downstream inherits the ambiguity, and the AI assistant inherits it fastest.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lands differently on the two chairs in this room.
For distribution it is the hour at month-end deciding which number is right, the inability to tell a board or a regulator which definition a given report used, and the fact that every new question is a project. For data management it is that every new source is a bespoke integration, quality rules are written per report and drift, lineage is reconstructed by hand when an auditor asks, and there is no way to say what a given source actually enables for the business.
The rest of the deck is about removing both lists with one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the taxonomy. You have seen the foundational talktrack, so I will keep to the properties that matter for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levels and only four: Data Domain, Data Family, Data Business Object, Data Business Attribute. Every attribute carries one definition, one owner, a data type, a personal-data tier and a flag for whether it is a critical data element.
The ownership rule is the heart of it. The domain that produces and maintains a concept masters it. Every other domain references it by its enterprise identifier. Consumption never changes ownership: a report that reads client assets does not become their owner, and a data product that assembles household data never remasters the household.
The figures on the right are the wealth model as it stands this week. Fifty domains, about thirteen thousand attributes, over four thousand of them critical. The decision count moved from 551 to 557 this week, because the demo raised six rulings; we will come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glossary helps people agree. A taxonomy lets a machine act. Three properties make the difference, and each one is used in the demo.
Stated grain on every object means a conformed table can be generated for it, with its keys. One owner per concept means that when a source cannot fill an attribute, the gap has an address: a domain, an owner role, a register. And because the taxonomy is content as code, validated at build, a renamed attribute breaks the build rather than silently breaking a report six weeks later.
The test for whether you have a taxonomy or a glossary is simple: can a machine compile it into tables, tests and metrics? The demo is that test, run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is the mechanism. The phrase I will use is automated data product management, and I want to be precise about what is automated and what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twice. Data moves left to right: source systems into foundational products that conform and certify, consumer products shaped for one function, the semantic layer, and the uses: dashboards, an AI assistant, workflows and control evidence.
Meaning moves top to bottom. The taxonomy is not the first step of a pipeline; it is the plane across the top. Sources are mapped to its attributes. Products trace their lineage to its definitions. Metrics are defined once, in the model that owns them. And when a product needs something the taxonomy lacks, the gap goes back up to the owning domain.
The demo builds exactly this picture for one slice: the mapping on the left is the only hand-written link, and the three moments of the demo, map, compile and ask, are the three arrows.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precise version of the claim. Three things are written by hand. The confirmed mappings: 606 registry rows over the eight sources, each row naming a taxonomy object and attribute and saying how the source column becomes it. The firm rules for the derived products, the certified client asset family and the household view among them, because a rule like which flows count as net new assets is a business decision, not a derivation from the model. And the SQL for the 62 in-scope metrics whose definition in the model is a sentence rather than an expression.
Everything else is generated from the model: the slice, the conformed tables and their keys, 722 data-quality tests, 88 views and 97 joins, the SQL of the remaining metrics, the activation states, the dbt export and the lineage of every answer.
For the head of data management this is the slide to keep. The hand-written list is what your stewards own; the generated list is what you stop building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automated management means in practice. After the build, every product, entity, table, metric and verified question carries one of three states. Enabled: every attribute the slice reads is mapped or derived. Partial: the keys are mapped but some attributes are not. Not started: nothing maps to it.
The counts are the demo's. Fifteen products enabled, nine partial, four not started. Eighty-one metrics answer; five run but read a column no source populates; twenty-five do not compile yet, each saying why. Four verified questions fully enabled, thirteen partial, six not started.
The right-hand column is the part a data management team usually lacks: a named list of what is missing. 118 gaps, each with the source that would fill it or the taxonomy owner who must rule. Thirty-three of the 722 tests have failing rows, and every one of them is a declared gap, not a surprise.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From here on, everything is on the demo page and can be re-run. I will walk the three moments in order and then show you what the answers look like for each of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tiles, then the slice. Of the 111 metrics in scope, 81 answer. The 504 rows of the certified client asset family were proven to the cent against an independent computation. 722 tests were generated, and the three gaps we planted in the sources to see whether the tests would catch them were all caught. 118 gaps are named and 22 questions declined with a reason.
The slice is the one input: which semantic models to activate. Four were chosen, and their owners are the roles on the right. SM-20 is the certified client asset family, your headline numbers. SM-21 is the household view. SM-27 is the intermediary and institutional channel, with relationship health. SM-28 is client economics: fees, billing, cost to serve and profitability. Everything else, the tables, the entities, the sources needed, was resolved from those four.
The table counts are the tables kept in the slice against the model's total; the rest is left out deliberately, and is the next wave.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 one. Eight source systems, each in its vendor's shape: a brokerage clearing platform with fixed-layout mainframe extracts, a CRM in Salesforce Financial Services Cloud shape, a transfer agent register, an institutional client platform, a portfolio accounting book of record, an advisory fee billing engine, a revenue sub-ledger and a cost allocation engine. Nothing in them uses the taxonomy's names.
The registry is the only hand-written link. Each row names a source table and column, the taxonomy object and attribute it becomes, and the kind: direct, a crosswalk of code values, derived by a stated rule, an identifier under a named scheme, a constant, or unmapped with the reason. 606 rows in all, 418 taxonomy attributes mapped, zero errors against the taxonomy. The example on the right is one row of the brokerage mapping.
The AI mapping assistant drafts a registry from a source's data dictionary and the taxonomy; a steward confirms. We measured a small local model against the confirmed modules on three sources: roughly half of the direct columns and two thirds of the code crosswalks proposed were right, and overall precision was 41 to 48 percent with recall of 25 to 33 percent. That is a useful first draft, not a replacement for the steward. The check against the taxonomy, not the model, is the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 two is where the generation happens, and where we prove it.
The registry compiles to one conformed table per logical entity, keys minted and resolved. The derived products are built by the firm's rules: the certified client asset family with its 504 measure rows, the 300 household rows, 192 relationship health rows, the billing re-performance, cost to serve and profitability facts.
The proof matters most. The synthetic firm's generator computed the certified figures independently, in a different language, from the same firm. The pipeline has to match them to the cent, and it does: 504 measure rows, every household, every relationship, 48 planted facts, no differences. Ending client assets of eleven point two billion, net new assets of forty-one million for the quarter, 939 funded accounts, 297 households: pipeline and truth agree on every one.
Then the tests: 722 generated, 33 with failing rows, all declared gaps; the three gaps we planted in the sources to test the tests were caught. And the semantic models compile to SQL: 86 of 88 tables to views, 91 of 97 joins, 81 of 111 metrics. Each one that does not names its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 three. A question in business words: what were net new assets in the third quarter, by channel? The engine resolves it to a metric, Net New Assets, in the model that owns it, with a breakdown by channel and a period.
It returns three things, always. The rows: eight channels, and they add to forty-one million one hundred fifty-six thousand, the same figure the proof matched to the cent. The SQL it ran, so the data team can see exactly what was computed. And the lineage: from the semantic model, to the product measure it reads, to the taxonomy attribute and its critical-data flag, to the role that owns the number. Hover any attribute on the page and its taxonomy definition appears.
This is the difference between a dashboard figure and a trusted answer: the answer carries its definition and its owner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answers from the same engine, picked for this chair.
Client assets by channel at the September month-end. Eleven point two billion in total, the certified figure, and the same number that was proven to the cent. The institutional channels dominate in this synthetic firm; the direct channels are where the households are. Note that clients and households by channel do not add to the firm totals, because a client can hold accounts in more than one channel; the totals are distinct counts. That is the kind of question the lineage answers before it becomes an argument.
Own-fund share of client assets by channel: over half in self-directed, two percent in OCIO. This is the wallet question, answered from a certified decomposition rather than a spreadsheet.
And the institutional question the slice was built to answer: of the four point three billion with public pension plans, one point nine billion sits with relationships the health score marks at risk. Seven relationships are at risk in all, six separate-account and one OCIO. The household view adds two operational facts: 35 households with advised assets and no primary advisor, and 20 in a service tier their assets do not qualify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model, client economics, is where distribution and finance meet, and it answers four questions in the demo.
Fee revenue and the effective net fee rate by offering over the last four quarters, in basis points on billable assets: twenty-one for digital advice, seventy for personal advisor services, ninety for trust services, eighty-six for the wealth management program. Self-directed brokerage carries no advisory fee stream, so it shows no rate; that is the engine refusing to divide by nothing.
Billing control for the quarter: one of the two fee runs tested failed reconciliation, and four accounts were billed outside their schedule. Both figures were planted in the synthetic billing engine, and both were found by re-performing every released calculation against the schedule version it names.
Cost to serve by segment for the quarter, with the rate on average client assets: the Core segment is the most expensive to serve relative to its assets. And over four quarters the planning-only offering has negative contribution; two negative cuts were planted, an offering and a segment, and the engine finds both when asked by offering and by segment.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I most want the two of you to remember. A trusted answer system has to be able to say no, and say why.
The models decline 22 questions. Each decline is recorded in the model with the reason and, where one exists, the taxonomy gap id. The assistant declines them the same way, with the same words; it does not improvise a number. And of the metrics that do not answer, each names its reason: a source that populates nothing, a definition that is still a sentence, a table outside the slice.
Look at the reasons. None of them is a technology problem. Each is a definition or a source gap with an owner. The one about households without a current plan is simply that no source in the slice carries the plan; map the planning system and it switches on. The one about a restatement is a taxonomy gap: the affected periods are free text. These declines are how the gap register fills, from real questions rather than from a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you have seen is also exposed to an AI assistant, through six tools. The assistant lists the metrics and whether each answers, describes a metric's definition and lineage, runs a query, reports coverage, lists the questions the models decline, and takes a question in plain words and routes it to a verified question or a named metric.
The point is what the assistant cannot do. It cannot invent a metric; it can only run one the model defines. It cannot answer a declined question; it returns the decline and the gap. And every answer it gives carries the same SQL and lineage as the page. We ran it behind Claude and behind a small local model on a home server; the tools are the same, so the model is a lever, not a dependency.
For the head of distribution: this is what makes an assistant safe to put in front of your teams. For the head of data management: the assistant adds no definitions of its own, so there is nothing new to govern.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model against real-shaped sources surfaced six things the taxonomy had not settled, and each became a numbered decision for its owner. That is the loop working: the gap goes back up to the owning domain.
Two are standards: the registry format for mapping a source, and the rule that certified metrics carry an executable definition beside the model text. One is the three-state activation rule you saw. Three are gaps the sources exposed: how the certified measure value is published, a missing identifier scheme for a brokerage customer number, and the fact that held-away assets have no home in the account domain.
For the head of data management: this is what a gap register looks like when it fills from a build rather than a workshop. For the head of distribution: two of these need a business owner's ruling, and they are on the asks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five. What it would take to run this against your firm rather than a synthetic one, and what I need from each of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levers, and none of them is a rebuild. The slice: pick the semantic models to switch on; everything else resolves from them. The sources: your data dictionaries replace the synthetic ones, in the same registry standard, and your extracts replace the generated ones. The runtime: the demo runs on DuckDB and the same layers run on Spark in a Databricks shape; the generated SQL ports to your warehouse. The semantic engine: the demo exports to the dbt Semantic Layer; other engines are adapters over the compiled model. The assistant: any model behind the same six tools.
The work comes in waves, one subject area at a time. Each wave maps its sources, adds the firm rules for its derived products, proves the certified numbers against an independent computation, and publishes. The next three are advice and planning, managed portfolios, and brokerage activity, which together close most of the declined questions in the household and client asset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asks each, and they are small.
Head of distribution: first, look at the verified questions in the four models and tell me whether they are the questions you would ask; the demo answers the model's questions, and the model should carry yours. Second, name the owner of each certified family; without a named owner nothing gets certified, and two of the six rulings are waiting for one. Third, choose the next wave.
Head of data management: first, the data dictionaries and sample extracts for the sources behind the first wave; the registry standard tells your team the shape. Second, a steward per source to confirm the registries the assistant drafts. Third, where it runs: the warehouse the generated SQL should target, and the semantic engine you want the export for. And the three open rulings need a decision between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slide is a map, for whoever rehearses this or checks it later. Every figure in the deck sits in one section of the demo page, and this table says which. The page is rebuilt from the demo's outputs, so if the demo is rebuilt the figures on the page move and the deck has to be refreshed by hand; the generator's header says so.
The taxonomy counts on the part two slide are not demo figures; they are the model's baseline check, run the same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claim was four sentences; the demo is the evidence for each. Define once: the taxonomy, with an owner for every meaning. Map once: eight sources, one registry, confirmed by a steward. Everything above is generated: the products, the tests, the metrics, the answers. And when the answer is no, the reason and the gap are named.
What I need from you is on the previous slide, and the page is open if you want to ask it something we have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C233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611880"/>
            <a:ext cx="11094415"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148840"/>
            <a:ext cx="11094415" cy="45720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
        <p:nvSpPr>
          <p:cNvPr id="3" name="Text 0"/>
          <p:cNvSpPr/>
          <p:nvPr>
            <p:ph idx="101" type="title" hasCustomPrompt="1"/>
          </p:nvPr>
        </p:nvSpPr>
        <p:spPr>
          <a:xfrm>
            <a:off x="548640" y="2606040"/>
            <a:ext cx="11094415"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4023360"/>
            <a:ext cx="8686800"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6400800"/>
            <a:ext cx="10241280" cy="274320"/>
          </a:xfrm>
          <a:prstGeom prst="rect">
            <a:avLst/>
          </a:prstGeom>
          <a:noFill/>
          <a:ln/>
        </p:spPr>
        <p:txBody>
          <a:bodyPr wrap="square" lIns="0" tIns="0" rIns="0" bIns="0" rtlCol="0" anchor="ctr"/>
          <a:lstStyle/>
          <a:p>
            <a:pPr indent="0" marL="0">
              <a:buNone/>
            </a:pPr>
            <a:r>
              <a:rPr lang="en-US" sz="900" dirty="0">
                <a:solidFill>
                  <a:schemeClr val="accent6"/>
                </a:solidFill>
              </a:rPr>
              <a:t>Wealth Manager Reference Model  |  Demo walkthrough, October 2026  |  Demo figures as of 2026-09-30 on a synthetic firm; every dollar is illustrative</a:t>
            </a:r>
            <a:endParaRPr lang="en-US" sz="9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lIns="0" tIns="0" rIns="0" bIns="0" rtlCol="0" anchor="b"/>
          <a:lstStyle/>
          <a:p>
            <a:pPr algn="l" indent="0" marL="0">
              <a:buNone/>
            </a:pPr>
            <a:r>
              <a:rPr lang="en-US" sz="4000" b="1" dirty="0">
                <a:solidFill>
                  <a:schemeClr val="bg1"/>
                </a:solidFill>
              </a:rPr>
              <a:t>From taxonomy to trusted answers</a:t>
            </a:r>
            <a:endParaRPr lang="en-US" sz="4000" dirty="0"/>
          </a:p>
        </p:txBody>
      </p:sp>
      <p:sp>
        <p:nvSpPr>
          <p:cNvPr id="3" name="Text 0"/>
          <p:cNvSpPr/>
          <p:nvPr>
            <p:ph idx="101" type="body" hasCustomPrompt="1"/>
          </p:nvPr>
        </p:nvSpPr>
        <p:spPr>
          <a:xfrm>
            <a:off x="548640" y="3611880"/>
            <a:ext cx="11094415" cy="1463040"/>
          </a:xfrm>
          <a:prstGeom prst="rect">
            <a:avLst/>
          </a:prstGeom>
          <a:noFill/>
          <a:ln/>
        </p:spPr>
        <p:txBody>
          <a:bodyPr wrap="square" lIns="0" tIns="0" rIns="0" bIns="0" rtlCol="0" anchor="t"/>
          <a:lstStyle/>
          <a:p>
            <a:pPr indent="0" marL="0">
              <a:buNone/>
            </a:pPr>
            <a:r>
              <a:rPr lang="en-US" sz="1800" dirty="0">
                <a:solidFill>
                  <a:schemeClr val="bg2"/>
                </a:solidFill>
              </a:rPr>
              <a:t>Why defining the firm's data once matters, how a taxonomy becomes data products that manage themselves, and a running demo that answers distribution's questions with their lineage</a:t>
            </a:r>
            <a:endParaRPr lang="en-US" sz="1800" dirty="0"/>
          </a:p>
        </p:txBody>
      </p:sp>
      <p:sp>
        <p:nvSpPr>
          <p:cNvPr id="4" name="text"/>
          <p:cNvSpPr txBox="1"/>
          <p:nvPr/>
        </p:nvSpPr>
        <p:spPr>
          <a:xfrm>
            <a:off x="548640" y="1417320"/>
            <a:ext cx="11094415" cy="365760"/>
          </a:xfrm>
          <a:prstGeom prst="rect">
            <a:avLst/>
          </a:prstGeom>
          <a:noFill/>
          <a:ln/>
        </p:spPr>
        <p:txBody>
          <a:bodyPr wrap="square" lIns="0" tIns="0" rIns="0" bIns="0" rtlCol="0" anchor="t"/>
          <a:lstStyle/>
          <a:p>
            <a:pPr indent="0" marL="0">
              <a:buNone/>
            </a:pPr>
            <a:r>
              <a:rPr lang="en-US" sz="1200" b="1" spc="200" kern="0" dirty="0">
                <a:solidFill>
                  <a:schemeClr val="accent4"/>
                </a:solidFill>
              </a:rPr>
              <a:t>A WALKTHROUGH FOR THE HEAD OF DISTRIBUTION AND THE HEAD OF DATA MANAGEMENT</a:t>
            </a:r>
            <a:endParaRPr lang="en-US" sz="1200" dirty="0"/>
          </a:p>
        </p:txBody>
      </p:sp>
      <p:sp>
        <p:nvSpPr>
          <p:cNvPr id="5" name="text"/>
          <p:cNvSpPr txBox="1"/>
          <p:nvPr/>
        </p:nvSpPr>
        <p:spPr>
          <a:xfrm>
            <a:off x="548640" y="6035040"/>
            <a:ext cx="11094415" cy="320040"/>
          </a:xfrm>
          <a:prstGeom prst="rect">
            <a:avLst/>
          </a:prstGeom>
          <a:noFill/>
          <a:ln/>
        </p:spPr>
        <p:txBody>
          <a:bodyPr wrap="square" lIns="0" tIns="0" rIns="0" bIns="0" rtlCol="0" anchor="t"/>
          <a:lstStyle/>
          <a:p>
            <a:pPr indent="0" marL="0">
              <a:buNone/>
            </a:pPr>
            <a:r>
              <a:rPr lang="en-US" sz="1200" dirty="0">
                <a:solidFill>
                  <a:schemeClr val="bg2"/>
                </a:solidFill>
              </a:rPr>
              <a:t>Wealth Manager Reference Model  |  Demo walkthrough, October 2026</a:t>
            </a:r>
            <a:endParaRPr lang="en-US" sz="1200" dirty="0"/>
          </a:p>
        </p:txBody>
      </p:sp>
      <p:sp>
        <p:nvSpPr>
          <p:cNvPr id="6" name="chip"/>
          <p:cNvSpPr/>
          <p:nvPr/>
        </p:nvSpPr>
        <p:spPr>
          <a:xfrm>
            <a:off x="548640" y="5257800"/>
            <a:ext cx="384048" cy="384048"/>
          </a:xfrm>
          <a:prstGeom prst="ellipse">
            <a:avLst/>
          </a:prstGeom>
          <a:solidFill>
            <a:schemeClr val="accent1"/>
          </a:solidFill>
          <a:ln w="12700">
            <a:solidFill>
              <a:schemeClr val="accent1"/>
            </a:solidFill>
            <a:prstDash val="solid"/>
          </a:ln>
        </p:spPr>
      </p:sp>
      <p:sp>
        <p:nvSpPr>
          <p:cNvPr id="7" name="text"/>
          <p:cNvSpPr txBox="1"/>
          <p:nvPr/>
        </p:nvSpPr>
        <p:spPr>
          <a:xfrm>
            <a:off x="54864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p:cNvSpPr txBox="1"/>
          <p:nvPr/>
        </p:nvSpPr>
        <p:spPr>
          <a:xfrm>
            <a:off x="1042416" y="5239512"/>
            <a:ext cx="1828800" cy="420624"/>
          </a:xfrm>
          <a:prstGeom prst="rect">
            <a:avLst/>
          </a:prstGeom>
          <a:noFill/>
          <a:ln/>
        </p:spPr>
        <p:txBody>
          <a:bodyPr wrap="square" lIns="0" tIns="0" rIns="0" bIns="0" rtlCol="0" anchor="ctr"/>
          <a:lstStyle/>
          <a:p>
            <a:pPr indent="0" marL="0">
              <a:buNone/>
            </a:pPr>
            <a:r>
              <a:rPr lang="en-US" sz="1200" b="1" dirty="0">
                <a:solidFill>
                  <a:schemeClr val="bg1"/>
                </a:solidFill>
              </a:rPr>
              <a:t>Define</a:t>
            </a:r>
            <a:endParaRPr lang="en-US" sz="1200" dirty="0"/>
          </a:p>
        </p:txBody>
      </p:sp>
      <p:sp>
        <p:nvSpPr>
          <p:cNvPr id="9" name="chip"/>
          <p:cNvSpPr/>
          <p:nvPr/>
        </p:nvSpPr>
        <p:spPr>
          <a:xfrm>
            <a:off x="2788920" y="5257800"/>
            <a:ext cx="384048" cy="384048"/>
          </a:xfrm>
          <a:prstGeom prst="ellipse">
            <a:avLst/>
          </a:prstGeom>
          <a:solidFill>
            <a:schemeClr val="accent2"/>
          </a:solidFill>
          <a:ln w="12700">
            <a:solidFill>
              <a:schemeClr val="accent2"/>
            </a:solidFill>
            <a:prstDash val="solid"/>
          </a:ln>
        </p:spPr>
      </p:sp>
      <p:sp>
        <p:nvSpPr>
          <p:cNvPr id="10" name="text"/>
          <p:cNvSpPr txBox="1"/>
          <p:nvPr/>
        </p:nvSpPr>
        <p:spPr>
          <a:xfrm>
            <a:off x="278892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p:cNvSpPr txBox="1"/>
          <p:nvPr/>
        </p:nvSpPr>
        <p:spPr>
          <a:xfrm>
            <a:off x="3282696" y="5239512"/>
            <a:ext cx="1828800" cy="420624"/>
          </a:xfrm>
          <a:prstGeom prst="rect">
            <a:avLst/>
          </a:prstGeom>
          <a:noFill/>
          <a:ln/>
        </p:spPr>
        <p:txBody>
          <a:bodyPr wrap="square" lIns="0" tIns="0" rIns="0" bIns="0" rtlCol="0" anchor="ctr"/>
          <a:lstStyle/>
          <a:p>
            <a:pPr indent="0" marL="0">
              <a:buNone/>
            </a:pPr>
            <a:r>
              <a:rPr lang="en-US" sz="1200" b="1" dirty="0">
                <a:solidFill>
                  <a:schemeClr val="bg1"/>
                </a:solidFill>
              </a:rPr>
              <a:t>Map</a:t>
            </a:r>
            <a:endParaRPr lang="en-US" sz="1200" dirty="0"/>
          </a:p>
        </p:txBody>
      </p:sp>
      <p:sp>
        <p:nvSpPr>
          <p:cNvPr id="12" name="chip"/>
          <p:cNvSpPr/>
          <p:nvPr/>
        </p:nvSpPr>
        <p:spPr>
          <a:xfrm>
            <a:off x="5029200" y="5257800"/>
            <a:ext cx="384048" cy="384048"/>
          </a:xfrm>
          <a:prstGeom prst="ellipse">
            <a:avLst/>
          </a:prstGeom>
          <a:solidFill>
            <a:schemeClr val="accent5"/>
          </a:solidFill>
          <a:ln w="12700">
            <a:solidFill>
              <a:schemeClr val="accent5"/>
            </a:solidFill>
            <a:prstDash val="solid"/>
          </a:ln>
        </p:spPr>
      </p:sp>
      <p:sp>
        <p:nvSpPr>
          <p:cNvPr id="13" name="text"/>
          <p:cNvSpPr txBox="1"/>
          <p:nvPr/>
        </p:nvSpPr>
        <p:spPr>
          <a:xfrm>
            <a:off x="502920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
          <p:cNvSpPr txBox="1"/>
          <p:nvPr/>
        </p:nvSpPr>
        <p:spPr>
          <a:xfrm>
            <a:off x="5522976" y="5239512"/>
            <a:ext cx="1828800" cy="420624"/>
          </a:xfrm>
          <a:prstGeom prst="rect">
            <a:avLst/>
          </a:prstGeom>
          <a:noFill/>
          <a:ln/>
        </p:spPr>
        <p:txBody>
          <a:bodyPr wrap="square" lIns="0" tIns="0" rIns="0" bIns="0" rtlCol="0" anchor="ctr"/>
          <a:lstStyle/>
          <a:p>
            <a:pPr indent="0" marL="0">
              <a:buNone/>
            </a:pPr>
            <a:r>
              <a:rPr lang="en-US" sz="1200" b="1" dirty="0">
                <a:solidFill>
                  <a:schemeClr val="bg1"/>
                </a:solidFill>
              </a:rPr>
              <a:t>Compile</a:t>
            </a:r>
            <a:endParaRPr lang="en-US" sz="1200" dirty="0"/>
          </a:p>
        </p:txBody>
      </p:sp>
      <p:sp>
        <p:nvSpPr>
          <p:cNvPr id="15" name="chip"/>
          <p:cNvSpPr/>
          <p:nvPr/>
        </p:nvSpPr>
        <p:spPr>
          <a:xfrm>
            <a:off x="7269480" y="5257800"/>
            <a:ext cx="384048" cy="384048"/>
          </a:xfrm>
          <a:prstGeom prst="ellipse">
            <a:avLst/>
          </a:prstGeom>
          <a:solidFill>
            <a:schemeClr val="accent4"/>
          </a:solidFill>
          <a:ln w="12700">
            <a:solidFill>
              <a:schemeClr val="accent4"/>
            </a:solidFill>
            <a:prstDash val="solid"/>
          </a:ln>
        </p:spPr>
      </p:sp>
      <p:sp>
        <p:nvSpPr>
          <p:cNvPr id="16" name="text"/>
          <p:cNvSpPr txBox="1"/>
          <p:nvPr/>
        </p:nvSpPr>
        <p:spPr>
          <a:xfrm>
            <a:off x="726948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7" name="text"/>
          <p:cNvSpPr txBox="1"/>
          <p:nvPr/>
        </p:nvSpPr>
        <p:spPr>
          <a:xfrm>
            <a:off x="7763256" y="5239512"/>
            <a:ext cx="1828800" cy="420624"/>
          </a:xfrm>
          <a:prstGeom prst="rect">
            <a:avLst/>
          </a:prstGeom>
          <a:noFill/>
          <a:ln/>
        </p:spPr>
        <p:txBody>
          <a:bodyPr wrap="square" lIns="0" tIns="0" rIns="0" bIns="0" rtlCol="0" anchor="ctr"/>
          <a:lstStyle/>
          <a:p>
            <a:pPr indent="0" marL="0">
              <a:buNone/>
            </a:pPr>
            <a:r>
              <a:rPr lang="en-US" sz="1200" b="1" dirty="0">
                <a:solidFill>
                  <a:schemeClr val="bg1"/>
                </a:solidFill>
              </a:rPr>
              <a:t>Ask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What we will cover, and the claim behind it</a:t>
            </a:r>
            <a:endParaRPr lang="en-US" sz="2800" dirty="0"/>
          </a:p>
        </p:txBody>
      </p:sp>
      <p:sp>
        <p:nvSpPr>
          <p:cNvPr id="4" name="chip"/>
          <p:cNvSpPr/>
          <p:nvPr/>
        </p:nvSpPr>
        <p:spPr>
          <a:xfrm>
            <a:off x="548640" y="1490472"/>
            <a:ext cx="384048" cy="384048"/>
          </a:xfrm>
          <a:prstGeom prst="ellipse">
            <a:avLst/>
          </a:prstGeom>
          <a:solidFill>
            <a:schemeClr val="accent6"/>
          </a:solidFill>
          <a:ln w="12700">
            <a:solidFill>
              <a:schemeClr val="accent6"/>
            </a:solidFill>
            <a:prstDash val="solid"/>
          </a:ln>
        </p:spPr>
      </p:sp>
      <p:sp>
        <p:nvSpPr>
          <p:cNvPr id="5" name="text"/>
          <p:cNvSpPr txBox="1"/>
          <p:nvPr/>
        </p:nvSpPr>
        <p:spPr>
          <a:xfrm>
            <a:off x="548640" y="149047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
          <p:cNvSpPr txBox="1"/>
          <p:nvPr/>
        </p:nvSpPr>
        <p:spPr>
          <a:xfrm>
            <a:off x="1042416" y="1472184"/>
            <a:ext cx="2651760" cy="420624"/>
          </a:xfrm>
          <a:prstGeom prst="rect">
            <a:avLst/>
          </a:prstGeom>
          <a:noFill/>
          <a:ln/>
        </p:spPr>
        <p:txBody>
          <a:bodyPr wrap="square" lIns="0" tIns="0" rIns="0" bIns="0" rtlCol="0" anchor="ctr"/>
          <a:lstStyle/>
          <a:p>
            <a:pPr indent="0" marL="0">
              <a:buNone/>
            </a:pPr>
            <a:r>
              <a:rPr lang="en-US" sz="1400" b="1" dirty="0">
                <a:solidFill>
                  <a:schemeClr val="tx1"/>
                </a:solidFill>
              </a:rPr>
              <a:t>Why most firms never got there</a:t>
            </a:r>
            <a:endParaRPr lang="en-US" sz="1400" dirty="0"/>
          </a:p>
        </p:txBody>
      </p:sp>
      <p:sp>
        <p:nvSpPr>
          <p:cNvPr id="7" name="text"/>
          <p:cNvSpPr txBox="1"/>
          <p:nvPr/>
        </p:nvSpPr>
        <p:spPr>
          <a:xfrm>
            <a:off x="3840480" y="1435608"/>
            <a:ext cx="4480560" cy="822960"/>
          </a:xfrm>
          <a:prstGeom prst="rect">
            <a:avLst/>
          </a:prstGeom>
          <a:noFill/>
          <a:ln/>
        </p:spPr>
        <p:txBody>
          <a:bodyPr wrap="square" lIns="0" tIns="0" rIns="0" bIns="0" rtlCol="0" anchor="t"/>
          <a:lstStyle/>
          <a:p>
            <a:pPr indent="0" marL="0">
              <a:buNone/>
            </a:pPr>
            <a:r>
              <a:rPr lang="en-US" sz="1150" dirty="0">
                <a:solidFill>
                  <a:schemeClr val="tx1"/>
                </a:solidFill>
              </a:rPr>
              <a:t>Systems got organized; the data's meaning did not. Dictionaries per system, catalogs of tables, every report redefining the number</a:t>
            </a:r>
            <a:endParaRPr lang="en-US" sz="1150" dirty="0"/>
          </a:p>
        </p:txBody>
      </p:sp>
      <p:sp>
        <p:nvSpPr>
          <p:cNvPr id="8" name="text"/>
          <p:cNvSpPr txBox="1"/>
          <p:nvPr/>
        </p:nvSpPr>
        <p:spPr>
          <a:xfrm>
            <a:off x="8412480" y="1508760"/>
            <a:ext cx="731520" cy="365760"/>
          </a:xfrm>
          <a:prstGeom prst="rect">
            <a:avLst/>
          </a:prstGeom>
          <a:noFill/>
          <a:ln/>
        </p:spPr>
        <p:txBody>
          <a:bodyPr wrap="square" lIns="0" tIns="0" rIns="0" bIns="0" rtlCol="0" anchor="t"/>
          <a:lstStyle/>
          <a:p>
            <a:pPr indent="0" marL="0">
              <a:buNone/>
            </a:pPr>
            <a:r>
              <a:rPr lang="en-US" sz="1200" dirty="0">
                <a:solidFill>
                  <a:schemeClr val="accent6"/>
                </a:solidFill>
              </a:rPr>
              <a:t>5 min</a:t>
            </a:r>
            <a:endParaRPr lang="en-US" sz="1200" dirty="0"/>
          </a:p>
        </p:txBody>
      </p:sp>
      <p:sp>
        <p:nvSpPr>
          <p:cNvPr id="9" name="chip"/>
          <p:cNvSpPr/>
          <p:nvPr/>
        </p:nvSpPr>
        <p:spPr>
          <a:xfrm>
            <a:off x="548640" y="2423160"/>
            <a:ext cx="384048" cy="384048"/>
          </a:xfrm>
          <a:prstGeom prst="ellipse">
            <a:avLst/>
          </a:prstGeom>
          <a:solidFill>
            <a:schemeClr val="accent1"/>
          </a:solidFill>
          <a:ln w="12700">
            <a:solidFill>
              <a:schemeClr val="accent1"/>
            </a:solidFill>
            <a:prstDash val="solid"/>
          </a:ln>
        </p:spPr>
      </p:sp>
      <p:sp>
        <p:nvSpPr>
          <p:cNvPr id="10" name="text"/>
          <p:cNvSpPr txBox="1"/>
          <p:nvPr/>
        </p:nvSpPr>
        <p:spPr>
          <a:xfrm>
            <a:off x="548640" y="242316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p:cNvSpPr txBox="1"/>
          <p:nvPr/>
        </p:nvSpPr>
        <p:spPr>
          <a:xfrm>
            <a:off x="1042416" y="2404872"/>
            <a:ext cx="2651760" cy="420624"/>
          </a:xfrm>
          <a:prstGeom prst="rect">
            <a:avLst/>
          </a:prstGeom>
          <a:noFill/>
          <a:ln/>
        </p:spPr>
        <p:txBody>
          <a:bodyPr wrap="square" lIns="0" tIns="0" rIns="0" bIns="0" rtlCol="0" anchor="ctr"/>
          <a:lstStyle/>
          <a:p>
            <a:pPr indent="0" marL="0">
              <a:buNone/>
            </a:pPr>
            <a:r>
              <a:rPr lang="en-US" sz="1400" b="1" dirty="0">
                <a:solidFill>
                  <a:schemeClr val="tx1"/>
                </a:solidFill>
              </a:rPr>
              <a:t>Why a taxonomy matters</a:t>
            </a:r>
            <a:endParaRPr lang="en-US" sz="1400" dirty="0"/>
          </a:p>
        </p:txBody>
      </p:sp>
      <p:sp>
        <p:nvSpPr>
          <p:cNvPr id="12" name="text"/>
          <p:cNvSpPr txBox="1"/>
          <p:nvPr/>
        </p:nvSpPr>
        <p:spPr>
          <a:xfrm>
            <a:off x="3840480" y="2368296"/>
            <a:ext cx="4480560" cy="822960"/>
          </a:xfrm>
          <a:prstGeom prst="rect">
            <a:avLst/>
          </a:prstGeom>
          <a:noFill/>
          <a:ln/>
        </p:spPr>
        <p:txBody>
          <a:bodyPr wrap="square" lIns="0" tIns="0" rIns="0" bIns="0" rtlCol="0" anchor="t"/>
          <a:lstStyle/>
          <a:p>
            <a:pPr indent="0" marL="0">
              <a:buNone/>
            </a:pPr>
            <a:r>
              <a:rPr lang="en-US" sz="1150" dirty="0">
                <a:solidFill>
                  <a:schemeClr val="tx1"/>
                </a:solidFill>
              </a:rPr>
              <a:t>One hierarchy, one owner per concept, built like code. The wealth model as it stands: 50 Data Domains, 13,009 attributes, 4,268 critical data elements</a:t>
            </a:r>
            <a:endParaRPr lang="en-US" sz="1150" dirty="0"/>
          </a:p>
        </p:txBody>
      </p:sp>
      <p:sp>
        <p:nvSpPr>
          <p:cNvPr id="13" name="text"/>
          <p:cNvSpPr txBox="1"/>
          <p:nvPr/>
        </p:nvSpPr>
        <p:spPr>
          <a:xfrm>
            <a:off x="8412480" y="2441448"/>
            <a:ext cx="731520" cy="365760"/>
          </a:xfrm>
          <a:prstGeom prst="rect">
            <a:avLst/>
          </a:prstGeom>
          <a:noFill/>
          <a:ln/>
        </p:spPr>
        <p:txBody>
          <a:bodyPr wrap="square" lIns="0" tIns="0" rIns="0" bIns="0" rtlCol="0" anchor="t"/>
          <a:lstStyle/>
          <a:p>
            <a:pPr indent="0" marL="0">
              <a:buNone/>
            </a:pPr>
            <a:r>
              <a:rPr lang="en-US" sz="1200" dirty="0">
                <a:solidFill>
                  <a:schemeClr val="accent6"/>
                </a:solidFill>
              </a:rPr>
              <a:t>8 min</a:t>
            </a:r>
            <a:endParaRPr lang="en-US" sz="1200" dirty="0"/>
          </a:p>
        </p:txBody>
      </p:sp>
      <p:sp>
        <p:nvSpPr>
          <p:cNvPr id="14" name="chip"/>
          <p:cNvSpPr/>
          <p:nvPr/>
        </p:nvSpPr>
        <p:spPr>
          <a:xfrm>
            <a:off x="548640" y="3355848"/>
            <a:ext cx="384048" cy="384048"/>
          </a:xfrm>
          <a:prstGeom prst="ellipse">
            <a:avLst/>
          </a:prstGeom>
          <a:solidFill>
            <a:schemeClr val="accent2"/>
          </a:solidFill>
          <a:ln w="12700">
            <a:solidFill>
              <a:schemeClr val="accent2"/>
            </a:solidFill>
            <a:prstDash val="solid"/>
          </a:ln>
        </p:spPr>
      </p:sp>
      <p:sp>
        <p:nvSpPr>
          <p:cNvPr id="15" name="text"/>
          <p:cNvSpPr txBox="1"/>
          <p:nvPr/>
        </p:nvSpPr>
        <p:spPr>
          <a:xfrm>
            <a:off x="548640" y="335584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6" name="text"/>
          <p:cNvSpPr txBox="1"/>
          <p:nvPr/>
        </p:nvSpPr>
        <p:spPr>
          <a:xfrm>
            <a:off x="1042416" y="3337560"/>
            <a:ext cx="2651760" cy="420624"/>
          </a:xfrm>
          <a:prstGeom prst="rect">
            <a:avLst/>
          </a:prstGeom>
          <a:noFill/>
          <a:ln/>
        </p:spPr>
        <p:txBody>
          <a:bodyPr wrap="square" lIns="0" tIns="0" rIns="0" bIns="0" rtlCol="0" anchor="ctr"/>
          <a:lstStyle/>
          <a:p>
            <a:pPr indent="0" marL="0">
              <a:buNone/>
            </a:pPr>
            <a:r>
              <a:rPr lang="en-US" sz="1400" b="1" dirty="0">
                <a:solidFill>
                  <a:schemeClr val="tx1"/>
                </a:solidFill>
              </a:rPr>
              <a:t>Data products that manage themselves</a:t>
            </a:r>
            <a:endParaRPr lang="en-US" sz="1400" dirty="0"/>
          </a:p>
        </p:txBody>
      </p:sp>
      <p:sp>
        <p:nvSpPr>
          <p:cNvPr id="17" name="text"/>
          <p:cNvSpPr txBox="1"/>
          <p:nvPr/>
        </p:nvSpPr>
        <p:spPr>
          <a:xfrm>
            <a:off x="3840480" y="3300984"/>
            <a:ext cx="4480560" cy="822960"/>
          </a:xfrm>
          <a:prstGeom prst="rect">
            <a:avLst/>
          </a:prstGeom>
          <a:noFill/>
          <a:ln/>
        </p:spPr>
        <p:txBody>
          <a:bodyPr wrap="square" lIns="0" tIns="0" rIns="0" bIns="0" rtlCol="0" anchor="t"/>
          <a:lstStyle/>
          <a:p>
            <a:pPr indent="0" marL="0">
              <a:buNone/>
            </a:pPr>
            <a:r>
              <a:rPr lang="en-US" sz="1150" dirty="0">
                <a:solidFill>
                  <a:schemeClr val="tx1"/>
                </a:solidFill>
              </a:rPr>
              <a:t>Map a source once; the products, tests, metrics and activation states are generated. What is hand-written and what is not</a:t>
            </a:r>
            <a:endParaRPr lang="en-US" sz="1150" dirty="0"/>
          </a:p>
        </p:txBody>
      </p:sp>
      <p:sp>
        <p:nvSpPr>
          <p:cNvPr id="18" name="text"/>
          <p:cNvSpPr txBox="1"/>
          <p:nvPr/>
        </p:nvSpPr>
        <p:spPr>
          <a:xfrm>
            <a:off x="8412480" y="3374136"/>
            <a:ext cx="731520" cy="365760"/>
          </a:xfrm>
          <a:prstGeom prst="rect">
            <a:avLst/>
          </a:prstGeom>
          <a:noFill/>
          <a:ln/>
        </p:spPr>
        <p:txBody>
          <a:bodyPr wrap="square" lIns="0" tIns="0" rIns="0" bIns="0" rtlCol="0" anchor="t"/>
          <a:lstStyle/>
          <a:p>
            <a:pPr indent="0" marL="0">
              <a:buNone/>
            </a:pPr>
            <a:r>
              <a:rPr lang="en-US" sz="1200" dirty="0">
                <a:solidFill>
                  <a:schemeClr val="accent6"/>
                </a:solidFill>
              </a:rPr>
              <a:t>10 min</a:t>
            </a:r>
            <a:endParaRPr lang="en-US" sz="1200" dirty="0"/>
          </a:p>
        </p:txBody>
      </p:sp>
      <p:sp>
        <p:nvSpPr>
          <p:cNvPr id="19" name="chip"/>
          <p:cNvSpPr/>
          <p:nvPr/>
        </p:nvSpPr>
        <p:spPr>
          <a:xfrm>
            <a:off x="548640" y="4288536"/>
            <a:ext cx="384048" cy="384048"/>
          </a:xfrm>
          <a:prstGeom prst="ellipse">
            <a:avLst/>
          </a:prstGeom>
          <a:solidFill>
            <a:schemeClr val="accent5"/>
          </a:solidFill>
          <a:ln w="12700">
            <a:solidFill>
              <a:schemeClr val="accent5"/>
            </a:solidFill>
            <a:prstDash val="solid"/>
          </a:ln>
        </p:spPr>
      </p:sp>
      <p:sp>
        <p:nvSpPr>
          <p:cNvPr id="20" name="text"/>
          <p:cNvSpPr txBox="1"/>
          <p:nvPr/>
        </p:nvSpPr>
        <p:spPr>
          <a:xfrm>
            <a:off x="548640" y="4288536"/>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1" name="text"/>
          <p:cNvSpPr txBox="1"/>
          <p:nvPr/>
        </p:nvSpPr>
        <p:spPr>
          <a:xfrm>
            <a:off x="1042416" y="4270248"/>
            <a:ext cx="2651760" cy="420624"/>
          </a:xfrm>
          <a:prstGeom prst="rect">
            <a:avLst/>
          </a:prstGeom>
          <a:noFill/>
          <a:ln/>
        </p:spPr>
        <p:txBody>
          <a:bodyPr wrap="square" lIns="0" tIns="0" rIns="0" bIns="0" rtlCol="0" anchor="ctr"/>
          <a:lstStyle/>
          <a:p>
            <a:pPr indent="0" marL="0">
              <a:buNone/>
            </a:pPr>
            <a:r>
              <a:rPr lang="en-US" sz="1400" b="1" dirty="0">
                <a:solidFill>
                  <a:schemeClr val="tx1"/>
                </a:solidFill>
              </a:rPr>
              <a:t>The demo: map, compile, ask</a:t>
            </a:r>
            <a:endParaRPr lang="en-US" sz="1400" dirty="0"/>
          </a:p>
        </p:txBody>
      </p:sp>
      <p:sp>
        <p:nvSpPr>
          <p:cNvPr id="22" name="text"/>
          <p:cNvSpPr txBox="1"/>
          <p:nvPr/>
        </p:nvSpPr>
        <p:spPr>
          <a:xfrm>
            <a:off x="3840480" y="4233672"/>
            <a:ext cx="4480560" cy="822960"/>
          </a:xfrm>
          <a:prstGeom prst="rect">
            <a:avLst/>
          </a:prstGeom>
          <a:noFill/>
          <a:ln/>
        </p:spPr>
        <p:txBody>
          <a:bodyPr wrap="square" lIns="0" tIns="0" rIns="0" bIns="0" rtlCol="0" anchor="t"/>
          <a:lstStyle/>
          <a:p>
            <a:pPr indent="0" marL="0">
              <a:buNone/>
            </a:pPr>
            <a:r>
              <a:rPr lang="en-US" sz="1150" dirty="0">
                <a:solidFill>
                  <a:schemeClr val="tx1"/>
                </a:solidFill>
              </a:rPr>
              <a:t>Eight sources, four semantic models, 81 metrics answering, 504 certified rows proven to the cent, 22 questions answered and the ones declined</a:t>
            </a:r>
            <a:endParaRPr lang="en-US" sz="1150" dirty="0"/>
          </a:p>
        </p:txBody>
      </p:sp>
      <p:sp>
        <p:nvSpPr>
          <p:cNvPr id="23" name="text"/>
          <p:cNvSpPr txBox="1"/>
          <p:nvPr/>
        </p:nvSpPr>
        <p:spPr>
          <a:xfrm>
            <a:off x="8412480" y="4306824"/>
            <a:ext cx="731520" cy="365760"/>
          </a:xfrm>
          <a:prstGeom prst="rect">
            <a:avLst/>
          </a:prstGeom>
          <a:noFill/>
          <a:ln/>
        </p:spPr>
        <p:txBody>
          <a:bodyPr wrap="square" lIns="0" tIns="0" rIns="0" bIns="0" rtlCol="0" anchor="t"/>
          <a:lstStyle/>
          <a:p>
            <a:pPr indent="0" marL="0">
              <a:buNone/>
            </a:pPr>
            <a:r>
              <a:rPr lang="en-US" sz="1200" dirty="0">
                <a:solidFill>
                  <a:schemeClr val="accent6"/>
                </a:solidFill>
              </a:rPr>
              <a:t>15 min</a:t>
            </a:r>
            <a:endParaRPr lang="en-US" sz="1200" dirty="0"/>
          </a:p>
        </p:txBody>
      </p:sp>
      <p:sp>
        <p:nvSpPr>
          <p:cNvPr id="24" name="chip"/>
          <p:cNvSpPr/>
          <p:nvPr/>
        </p:nvSpPr>
        <p:spPr>
          <a:xfrm>
            <a:off x="548640" y="5221224"/>
            <a:ext cx="384048" cy="384048"/>
          </a:xfrm>
          <a:prstGeom prst="ellipse">
            <a:avLst/>
          </a:prstGeom>
          <a:solidFill>
            <a:schemeClr val="accent4"/>
          </a:solidFill>
          <a:ln w="12700">
            <a:solidFill>
              <a:schemeClr val="accent4"/>
            </a:solidFill>
            <a:prstDash val="solid"/>
          </a:ln>
        </p:spPr>
      </p:sp>
      <p:sp>
        <p:nvSpPr>
          <p:cNvPr id="25" name="text"/>
          <p:cNvSpPr txBox="1"/>
          <p:nvPr/>
        </p:nvSpPr>
        <p:spPr>
          <a:xfrm>
            <a:off x="548640" y="5221224"/>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6" name="text"/>
          <p:cNvSpPr txBox="1"/>
          <p:nvPr/>
        </p:nvSpPr>
        <p:spPr>
          <a:xfrm>
            <a:off x="1042416" y="5202936"/>
            <a:ext cx="2651760" cy="420624"/>
          </a:xfrm>
          <a:prstGeom prst="rect">
            <a:avLst/>
          </a:prstGeom>
          <a:noFill/>
          <a:ln/>
        </p:spPr>
        <p:txBody>
          <a:bodyPr wrap="square" lIns="0" tIns="0" rIns="0" bIns="0" rtlCol="0" anchor="ctr"/>
          <a:lstStyle/>
          <a:p>
            <a:pPr indent="0" marL="0">
              <a:buNone/>
            </a:pPr>
            <a:r>
              <a:rPr lang="en-US" sz="1400" b="1" dirty="0">
                <a:solidFill>
                  <a:schemeClr val="tx1"/>
                </a:solidFill>
              </a:rPr>
              <a:t>What it means for you</a:t>
            </a:r>
            <a:endParaRPr lang="en-US" sz="1400" dirty="0"/>
          </a:p>
        </p:txBody>
      </p:sp>
      <p:sp>
        <p:nvSpPr>
          <p:cNvPr id="27" name="text"/>
          <p:cNvSpPr txBox="1"/>
          <p:nvPr/>
        </p:nvSpPr>
        <p:spPr>
          <a:xfrm>
            <a:off x="3840480" y="5166360"/>
            <a:ext cx="4480560" cy="822960"/>
          </a:xfrm>
          <a:prstGeom prst="rect">
            <a:avLst/>
          </a:prstGeom>
          <a:noFill/>
          <a:ln/>
        </p:spPr>
        <p:txBody>
          <a:bodyPr wrap="square" lIns="0" tIns="0" rIns="0" bIns="0" rtlCol="0" anchor="t"/>
          <a:lstStyle/>
          <a:p>
            <a:pPr indent="0" marL="0">
              <a:buNone/>
            </a:pPr>
            <a:r>
              <a:rPr lang="en-US" sz="1150" dirty="0">
                <a:solidFill>
                  <a:schemeClr val="tx1"/>
                </a:solidFill>
              </a:rPr>
              <a:t>The tailoring levers, the next waves, and the asks of distribution and of data management</a:t>
            </a:r>
            <a:endParaRPr lang="en-US" sz="1150" dirty="0"/>
          </a:p>
        </p:txBody>
      </p:sp>
      <p:sp>
        <p:nvSpPr>
          <p:cNvPr id="28" name="text"/>
          <p:cNvSpPr txBox="1"/>
          <p:nvPr/>
        </p:nvSpPr>
        <p:spPr>
          <a:xfrm>
            <a:off x="8412480" y="5239512"/>
            <a:ext cx="731520" cy="365760"/>
          </a:xfrm>
          <a:prstGeom prst="rect">
            <a:avLst/>
          </a:prstGeom>
          <a:noFill/>
          <a:ln/>
        </p:spPr>
        <p:txBody>
          <a:bodyPr wrap="square" lIns="0" tIns="0" rIns="0" bIns="0" rtlCol="0" anchor="t"/>
          <a:lstStyle/>
          <a:p>
            <a:pPr indent="0" marL="0">
              <a:buNone/>
            </a:pPr>
            <a:r>
              <a:rPr lang="en-US" sz="1200" dirty="0">
                <a:solidFill>
                  <a:schemeClr val="accent6"/>
                </a:solidFill>
              </a:rPr>
              <a:t>7 min</a:t>
            </a:r>
            <a:endParaRPr lang="en-US" sz="1200" dirty="0"/>
          </a:p>
        </p:txBody>
      </p:sp>
      <p:sp>
        <p:nvSpPr>
          <p:cNvPr id="29" name="card"/>
          <p:cNvSpPr/>
          <p:nvPr/>
        </p:nvSpPr>
        <p:spPr>
          <a:xfrm>
            <a:off x="9144000" y="1417320"/>
            <a:ext cx="2496312" cy="4663440"/>
          </a:xfrm>
          <a:prstGeom prst="roundRect">
            <a:avLst>
              <a:gd name="adj" fmla="val 2930"/>
            </a:avLst>
          </a:prstGeom>
          <a:solidFill>
            <a:schemeClr val="tx2"/>
          </a:solidFill>
          <a:ln w="12700">
            <a:solidFill>
              <a:schemeClr val="tx2"/>
            </a:solidFill>
            <a:prstDash val="solid"/>
          </a:ln>
        </p:spPr>
      </p:sp>
      <p:sp>
        <p:nvSpPr>
          <p:cNvPr id="30" name="text"/>
          <p:cNvSpPr txBox="1"/>
          <p:nvPr/>
        </p:nvSpPr>
        <p:spPr>
          <a:xfrm>
            <a:off x="9372600" y="1645920"/>
            <a:ext cx="2103120" cy="320040"/>
          </a:xfrm>
          <a:prstGeom prst="rect">
            <a:avLst/>
          </a:prstGeom>
          <a:noFill/>
          <a:ln/>
        </p:spPr>
        <p:txBody>
          <a:bodyPr wrap="square" lIns="0" tIns="0" rIns="0" bIns="0" rtlCol="0" anchor="t"/>
          <a:lstStyle/>
          <a:p>
            <a:pPr indent="0" marL="0">
              <a:buNone/>
            </a:pPr>
            <a:r>
              <a:rPr lang="en-US" sz="1100" b="1" dirty="0">
                <a:solidFill>
                  <a:schemeClr val="accent4"/>
                </a:solidFill>
              </a:rPr>
              <a:t>THE CLAIM</a:t>
            </a:r>
            <a:endParaRPr lang="en-US" sz="1100" dirty="0"/>
          </a:p>
        </p:txBody>
      </p:sp>
      <p:sp>
        <p:nvSpPr>
          <p:cNvPr id="31" name="text"/>
          <p:cNvSpPr txBox="1"/>
          <p:nvPr/>
        </p:nvSpPr>
        <p:spPr>
          <a:xfrm>
            <a:off x="9372600" y="2011680"/>
            <a:ext cx="2103120" cy="914400"/>
          </a:xfrm>
          <a:prstGeom prst="rect">
            <a:avLst/>
          </a:prstGeom>
          <a:noFill/>
          <a:ln/>
        </p:spPr>
        <p:txBody>
          <a:bodyPr wrap="square" lIns="0" tIns="0" rIns="0" bIns="0" rtlCol="0" anchor="t"/>
          <a:lstStyle/>
          <a:p>
            <a:pPr indent="0" marL="0">
              <a:buNone/>
            </a:pPr>
            <a:r>
              <a:rPr lang="en-US" sz="1400" b="1" dirty="0">
                <a:solidFill>
                  <a:schemeClr val="bg1"/>
                </a:solidFill>
              </a:rPr>
              <a:t>Define the data once, with an owner for every meaning.</a:t>
            </a:r>
            <a:endParaRPr lang="en-US" sz="1400" dirty="0"/>
          </a:p>
        </p:txBody>
      </p:sp>
      <p:sp>
        <p:nvSpPr>
          <p:cNvPr id="32" name="text"/>
          <p:cNvSpPr txBox="1"/>
          <p:nvPr/>
        </p:nvSpPr>
        <p:spPr>
          <a:xfrm>
            <a:off x="9372600" y="2971800"/>
            <a:ext cx="2103120" cy="685800"/>
          </a:xfrm>
          <a:prstGeom prst="rect">
            <a:avLst/>
          </a:prstGeom>
          <a:noFill/>
          <a:ln/>
        </p:spPr>
        <p:txBody>
          <a:bodyPr wrap="square" lIns="0" tIns="0" rIns="0" bIns="0" rtlCol="0" anchor="t"/>
          <a:lstStyle/>
          <a:p>
            <a:pPr indent="0" marL="0">
              <a:buNone/>
            </a:pPr>
            <a:r>
              <a:rPr lang="en-US" sz="1300" dirty="0">
                <a:solidFill>
                  <a:schemeClr val="bg2"/>
                </a:solidFill>
              </a:rPr>
              <a:t>Map each source to that definition once.</a:t>
            </a:r>
            <a:endParaRPr lang="en-US" sz="1300" dirty="0"/>
          </a:p>
        </p:txBody>
      </p:sp>
      <p:sp>
        <p:nvSpPr>
          <p:cNvPr id="33" name="text"/>
          <p:cNvSpPr txBox="1"/>
          <p:nvPr/>
        </p:nvSpPr>
        <p:spPr>
          <a:xfrm>
            <a:off x="9372600" y="3703320"/>
            <a:ext cx="2103120" cy="1005840"/>
          </a:xfrm>
          <a:prstGeom prst="rect">
            <a:avLst/>
          </a:prstGeom>
          <a:noFill/>
          <a:ln/>
        </p:spPr>
        <p:txBody>
          <a:bodyPr wrap="square" lIns="0" tIns="0" rIns="0" bIns="0" rtlCol="0" anchor="t"/>
          <a:lstStyle/>
          <a:p>
            <a:pPr indent="0" marL="0">
              <a:buNone/>
            </a:pPr>
            <a:r>
              <a:rPr lang="en-US" sz="1300" dirty="0">
                <a:solidFill>
                  <a:schemeClr val="bg2"/>
                </a:solidFill>
              </a:rPr>
              <a:t>Everything above the mapping is generated: products, tests, metrics, answers.</a:t>
            </a:r>
            <a:endParaRPr lang="en-US" sz="1300" dirty="0"/>
          </a:p>
        </p:txBody>
      </p:sp>
      <p:sp>
        <p:nvSpPr>
          <p:cNvPr id="34" name="text"/>
          <p:cNvSpPr txBox="1"/>
          <p:nvPr/>
        </p:nvSpPr>
        <p:spPr>
          <a:xfrm>
            <a:off x="9372600" y="4754880"/>
            <a:ext cx="2103120" cy="1097280"/>
          </a:xfrm>
          <a:prstGeom prst="rect">
            <a:avLst/>
          </a:prstGeom>
          <a:noFill/>
          <a:ln/>
        </p:spPr>
        <p:txBody>
          <a:bodyPr wrap="square" lIns="0" tIns="0" rIns="0" bIns="0" rtlCol="0" anchor="t"/>
          <a:lstStyle/>
          <a:p>
            <a:pPr indent="0" marL="0">
              <a:buNone/>
            </a:pPr>
            <a:r>
              <a:rPr lang="en-US" sz="1300" dirty="0">
                <a:solidFill>
                  <a:schemeClr val="bg2"/>
                </a:solidFill>
              </a:rPr>
              <a:t>And when the answer is no, the reason and the gap are named.</a:t>
            </a:r>
            <a:endParaRPr lang="en-US" sz="13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148840"/>
            <a:ext cx="11094415" cy="457200"/>
          </a:xfrm>
          <a:prstGeom prst="rect">
            <a:avLst/>
          </a:prstGeom>
          <a:noFill/>
          <a:ln/>
        </p:spPr>
        <p:txBody>
          <a:bodyPr wrap="square" lIns="0" tIns="0" rIns="0" bIns="0" rtlCol="0"/>
          <a:lstStyle/>
          <a:p>
            <a:pPr indent="0" marL="0">
              <a:buNone/>
            </a:pPr>
            <a:r>
              <a:rPr lang="en-US" sz="1600" dirty="0">
                <a:solidFill>
                  <a:schemeClr val="bg2"/>
                </a:solidFill>
              </a:rPr>
              <a:t>PART 1</a:t>
            </a:r>
            <a:endParaRPr lang="en-US" sz="1600" dirty="0"/>
          </a:p>
        </p:txBody>
      </p:sp>
      <p:sp>
        <p:nvSpPr>
          <p:cNvPr id="3" name="Text 0"/>
          <p:cNvSpPr/>
          <p:nvPr>
            <p:ph idx="101" type="title" hasCustomPrompt="1"/>
          </p:nvPr>
        </p:nvSpPr>
        <p:spPr>
          <a:xfrm>
            <a:off x="548640" y="2606040"/>
            <a:ext cx="11094415" cy="1280160"/>
          </a:xfrm>
          <a:prstGeom prst="rect">
            <a:avLst/>
          </a:prstGeom>
          <a:noFill/>
          <a:ln/>
        </p:spPr>
        <p:txBody>
          <a:bodyPr wrap="square" lIns="0" tIns="0" rIns="0" bIns="0" rtlCol="0" anchor="t"/>
          <a:lstStyle/>
          <a:p>
            <a:pPr algn="l" indent="0" marL="0">
              <a:buNone/>
            </a:pPr>
            <a:r>
              <a:rPr lang="en-US" sz="4000" b="1" dirty="0">
                <a:solidFill>
                  <a:schemeClr val="bg1"/>
                </a:solidFill>
              </a:rPr>
              <a:t>Why most firms never got there</a:t>
            </a:r>
            <a:endParaRPr lang="en-US" sz="4000" dirty="0"/>
          </a:p>
        </p:txBody>
      </p:sp>
      <p:sp>
        <p:nvSpPr>
          <p:cNvPr id="4" name="Text 0"/>
          <p:cNvSpPr/>
          <p:nvPr>
            <p:ph idx="102" type="body" hasCustomPrompt="1"/>
          </p:nvPr>
        </p:nvSpPr>
        <p:spPr>
          <a:xfrm>
            <a:off x="548640" y="4023360"/>
            <a:ext cx="8686800" cy="1463040"/>
          </a:xfrm>
          <a:prstGeom prst="rect">
            <a:avLst/>
          </a:prstGeom>
          <a:noFill/>
          <a:ln/>
        </p:spPr>
        <p:txBody>
          <a:bodyPr wrap="square" lIns="0" tIns="0" rIns="0" bIns="0" rtlCol="0" anchor="t"/>
          <a:lstStyle/>
          <a:p>
            <a:pPr indent="0" marL="0">
              <a:buNone/>
            </a:pPr>
            <a:r>
              <a:rPr lang="en-US" sz="1800" dirty="0">
                <a:solidFill>
                  <a:schemeClr val="bg2"/>
                </a:solidFill>
              </a:rPr>
              <a:t>Most firms organized their systems. Few organized their data: what each term means, who owns the meaning, and how a new source joins the firm's definitions.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Most firms organized their systems. Few organized their data.</a:t>
            </a:r>
            <a:endParaRPr lang="en-US" sz="2800" dirty="0"/>
          </a:p>
        </p:txBody>
      </p:sp>
      <p:sp>
        <p:nvSpPr>
          <p:cNvPr id="4" name="card"/>
          <p:cNvSpPr/>
          <p:nvPr/>
        </p:nvSpPr>
        <p:spPr>
          <a:xfrm>
            <a:off x="548640" y="1417320"/>
            <a:ext cx="2651760" cy="2880360"/>
          </a:xfrm>
          <a:prstGeom prst="roundRect">
            <a:avLst>
              <a:gd name="adj" fmla="val 2759"/>
            </a:avLst>
          </a:prstGeom>
          <a:solidFill>
            <a:schemeClr val="bg2"/>
          </a:solidFill>
          <a:ln w="12700">
            <a:solidFill>
              <a:schemeClr val="bg2"/>
            </a:solidFill>
            <a:prstDash val="solid"/>
          </a:ln>
        </p:spPr>
      </p:sp>
      <p:sp>
        <p:nvSpPr>
          <p:cNvPr id="5" name="panel"/>
          <p:cNvSpPr/>
          <p:nvPr/>
        </p:nvSpPr>
        <p:spPr>
          <a:xfrm>
            <a:off x="548640" y="1417320"/>
            <a:ext cx="2651760" cy="73152"/>
          </a:xfrm>
          <a:prstGeom prst="rect">
            <a:avLst/>
          </a:prstGeom>
          <a:solidFill>
            <a:schemeClr val="accent6"/>
          </a:solidFill>
          <a:ln w="12700">
            <a:solidFill>
              <a:schemeClr val="accent6"/>
            </a:solidFill>
            <a:prstDash val="solid"/>
          </a:ln>
        </p:spPr>
      </p:sp>
      <p:sp>
        <p:nvSpPr>
          <p:cNvPr id="6" name="text"/>
          <p:cNvSpPr txBox="1"/>
          <p:nvPr/>
        </p:nvSpPr>
        <p:spPr>
          <a:xfrm>
            <a:off x="731520" y="1645920"/>
            <a:ext cx="2286000" cy="777240"/>
          </a:xfrm>
          <a:prstGeom prst="rect">
            <a:avLst/>
          </a:prstGeom>
          <a:noFill/>
          <a:ln/>
        </p:spPr>
        <p:txBody>
          <a:bodyPr wrap="square" lIns="0" tIns="0" rIns="0" bIns="0" rtlCol="0" anchor="t"/>
          <a:lstStyle/>
          <a:p>
            <a:pPr indent="0" marL="0">
              <a:buNone/>
            </a:pPr>
            <a:r>
              <a:rPr lang="en-US" sz="1350" b="1" dirty="0">
                <a:solidFill>
                  <a:schemeClr val="accent6"/>
                </a:solidFill>
              </a:rPr>
              <a:t>Dictionaries per system, not a definition per concept</a:t>
            </a:r>
            <a:endParaRPr lang="en-US" sz="1350" dirty="0"/>
          </a:p>
        </p:txBody>
      </p:sp>
      <p:sp>
        <p:nvSpPr>
          <p:cNvPr id="7" name="text"/>
          <p:cNvSpPr txBox="1"/>
          <p:nvPr/>
        </p:nvSpPr>
        <p:spPr>
          <a:xfrm>
            <a:off x="731520" y="2468880"/>
            <a:ext cx="2286000" cy="1737360"/>
          </a:xfrm>
          <a:prstGeom prst="rect">
            <a:avLst/>
          </a:prstGeom>
          <a:noFill/>
          <a:ln/>
        </p:spPr>
        <p:txBody>
          <a:bodyPr wrap="square" lIns="0" tIns="0" rIns="0" bIns="0" rtlCol="0" anchor="t"/>
          <a:lstStyle/>
          <a:p>
            <a:pPr indent="0" marL="0">
              <a:buNone/>
            </a:pPr>
            <a:r>
              <a:rPr lang="en-US" sz="1150" dirty="0">
                <a:solidFill>
                  <a:schemeClr val="tx1"/>
                </a:solidFill>
              </a:rPr>
              <a:t>Each platform documents its own fields in its own codes. The firm has a dozen data dictionaries and no statement of what a Client Asset is.</a:t>
            </a:r>
            <a:endParaRPr lang="en-US" sz="1150" dirty="0"/>
          </a:p>
        </p:txBody>
      </p:sp>
      <p:sp>
        <p:nvSpPr>
          <p:cNvPr id="8" name="card"/>
          <p:cNvSpPr/>
          <p:nvPr/>
        </p:nvSpPr>
        <p:spPr>
          <a:xfrm>
            <a:off x="3355848" y="1417320"/>
            <a:ext cx="2651760" cy="2880360"/>
          </a:xfrm>
          <a:prstGeom prst="roundRect">
            <a:avLst>
              <a:gd name="adj" fmla="val 2759"/>
            </a:avLst>
          </a:prstGeom>
          <a:solidFill>
            <a:schemeClr val="bg2"/>
          </a:solidFill>
          <a:ln w="12700">
            <a:solidFill>
              <a:schemeClr val="bg2"/>
            </a:solidFill>
            <a:prstDash val="solid"/>
          </a:ln>
        </p:spPr>
      </p:sp>
      <p:sp>
        <p:nvSpPr>
          <p:cNvPr id="9" name="panel"/>
          <p:cNvSpPr/>
          <p:nvPr/>
        </p:nvSpPr>
        <p:spPr>
          <a:xfrm>
            <a:off x="3355848" y="1417320"/>
            <a:ext cx="2651760" cy="73152"/>
          </a:xfrm>
          <a:prstGeom prst="rect">
            <a:avLst/>
          </a:prstGeom>
          <a:solidFill>
            <a:schemeClr val="accent5"/>
          </a:solidFill>
          <a:ln w="12700">
            <a:solidFill>
              <a:schemeClr val="accent5"/>
            </a:solidFill>
            <a:prstDash val="solid"/>
          </a:ln>
        </p:spPr>
      </p:sp>
      <p:sp>
        <p:nvSpPr>
          <p:cNvPr id="10" name="text"/>
          <p:cNvSpPr txBox="1"/>
          <p:nvPr/>
        </p:nvSpPr>
        <p:spPr>
          <a:xfrm>
            <a:off x="3538728" y="1645920"/>
            <a:ext cx="2286000" cy="777240"/>
          </a:xfrm>
          <a:prstGeom prst="rect">
            <a:avLst/>
          </a:prstGeom>
          <a:noFill/>
          <a:ln/>
        </p:spPr>
        <p:txBody>
          <a:bodyPr wrap="square" lIns="0" tIns="0" rIns="0" bIns="0" rtlCol="0" anchor="t"/>
          <a:lstStyle/>
          <a:p>
            <a:pPr indent="0" marL="0">
              <a:buNone/>
            </a:pPr>
            <a:r>
              <a:rPr lang="en-US" sz="1350" b="1" dirty="0">
                <a:solidFill>
                  <a:schemeClr val="accent5"/>
                </a:solidFill>
              </a:rPr>
              <a:t>Catalogs list tables, not meaning</a:t>
            </a:r>
            <a:endParaRPr lang="en-US" sz="1350" dirty="0"/>
          </a:p>
        </p:txBody>
      </p:sp>
      <p:sp>
        <p:nvSpPr>
          <p:cNvPr id="11" name="text"/>
          <p:cNvSpPr txBox="1"/>
          <p:nvPr/>
        </p:nvSpPr>
        <p:spPr>
          <a:xfrm>
            <a:off x="3538728" y="2468880"/>
            <a:ext cx="2286000" cy="1737360"/>
          </a:xfrm>
          <a:prstGeom prst="rect">
            <a:avLst/>
          </a:prstGeom>
          <a:noFill/>
          <a:ln/>
        </p:spPr>
        <p:txBody>
          <a:bodyPr wrap="square" lIns="0" tIns="0" rIns="0" bIns="0" rtlCol="0" anchor="t"/>
          <a:lstStyle/>
          <a:p>
            <a:pPr indent="0" marL="0">
              <a:buNone/>
            </a:pPr>
            <a:r>
              <a:rPr lang="en-US" sz="1150" dirty="0">
                <a:solidFill>
                  <a:schemeClr val="tx1"/>
                </a:solidFill>
              </a:rPr>
              <a:t>The catalog knows a column exists and who loads it. It does not know what the column means, which business concept it carries, or who may change that.</a:t>
            </a:r>
            <a:endParaRPr lang="en-US" sz="1150" dirty="0"/>
          </a:p>
        </p:txBody>
      </p:sp>
      <p:sp>
        <p:nvSpPr>
          <p:cNvPr id="12" name="card"/>
          <p:cNvSpPr/>
          <p:nvPr/>
        </p:nvSpPr>
        <p:spPr>
          <a:xfrm>
            <a:off x="6163056" y="1417320"/>
            <a:ext cx="2651760" cy="2880360"/>
          </a:xfrm>
          <a:prstGeom prst="roundRect">
            <a:avLst>
              <a:gd name="adj" fmla="val 2759"/>
            </a:avLst>
          </a:prstGeom>
          <a:solidFill>
            <a:schemeClr val="bg2"/>
          </a:solidFill>
          <a:ln w="12700">
            <a:solidFill>
              <a:schemeClr val="bg2"/>
            </a:solidFill>
            <a:prstDash val="solid"/>
          </a:ln>
        </p:spPr>
      </p:sp>
      <p:sp>
        <p:nvSpPr>
          <p:cNvPr id="13" name="panel"/>
          <p:cNvSpPr/>
          <p:nvPr/>
        </p:nvSpPr>
        <p:spPr>
          <a:xfrm>
            <a:off x="6163056" y="1417320"/>
            <a:ext cx="2651760" cy="73152"/>
          </a:xfrm>
          <a:prstGeom prst="rect">
            <a:avLst/>
          </a:prstGeom>
          <a:solidFill>
            <a:schemeClr val="accent3"/>
          </a:solidFill>
          <a:ln w="12700">
            <a:solidFill>
              <a:schemeClr val="accent3"/>
            </a:solidFill>
            <a:prstDash val="solid"/>
          </a:ln>
        </p:spPr>
      </p:sp>
      <p:sp>
        <p:nvSpPr>
          <p:cNvPr id="14" name="text"/>
          <p:cNvSpPr txBox="1"/>
          <p:nvPr/>
        </p:nvSpPr>
        <p:spPr>
          <a:xfrm>
            <a:off x="6345936" y="1645920"/>
            <a:ext cx="2286000" cy="777240"/>
          </a:xfrm>
          <a:prstGeom prst="rect">
            <a:avLst/>
          </a:prstGeom>
          <a:noFill/>
          <a:ln/>
        </p:spPr>
        <p:txBody>
          <a:bodyPr wrap="square" lIns="0" tIns="0" rIns="0" bIns="0" rtlCol="0" anchor="t"/>
          <a:lstStyle/>
          <a:p>
            <a:pPr indent="0" marL="0">
              <a:buNone/>
            </a:pPr>
            <a:r>
              <a:rPr lang="en-US" sz="1350" b="1" dirty="0">
                <a:solidFill>
                  <a:schemeClr val="accent3"/>
                </a:solidFill>
              </a:rPr>
              <a:t>Every report redefines the number</a:t>
            </a:r>
            <a:endParaRPr lang="en-US" sz="1350" dirty="0"/>
          </a:p>
        </p:txBody>
      </p:sp>
      <p:sp>
        <p:nvSpPr>
          <p:cNvPr id="15" name="text"/>
          <p:cNvSpPr txBox="1"/>
          <p:nvPr/>
        </p:nvSpPr>
        <p:spPr>
          <a:xfrm>
            <a:off x="6345936" y="2468880"/>
            <a:ext cx="2286000" cy="1737360"/>
          </a:xfrm>
          <a:prstGeom prst="rect">
            <a:avLst/>
          </a:prstGeom>
          <a:noFill/>
          <a:ln/>
        </p:spPr>
        <p:txBody>
          <a:bodyPr wrap="square" lIns="0" tIns="0" rIns="0" bIns="0" rtlCol="0" anchor="t"/>
          <a:lstStyle/>
          <a:p>
            <a:pPr indent="0" marL="0">
              <a:buNone/>
            </a:pPr>
            <a:r>
              <a:rPr lang="en-US" sz="1150" dirty="0">
                <a:solidFill>
                  <a:schemeClr val="tx1"/>
                </a:solidFill>
              </a:rPr>
              <a:t>Net new assets is computed in five places with five rules: which flows count, which date, which channel. The month-end argument is about definitions.</a:t>
            </a:r>
            <a:endParaRPr lang="en-US" sz="1150" dirty="0"/>
          </a:p>
        </p:txBody>
      </p:sp>
      <p:sp>
        <p:nvSpPr>
          <p:cNvPr id="16" name="card"/>
          <p:cNvSpPr/>
          <p:nvPr/>
        </p:nvSpPr>
        <p:spPr>
          <a:xfrm>
            <a:off x="8970264" y="1417320"/>
            <a:ext cx="2651760" cy="2880360"/>
          </a:xfrm>
          <a:prstGeom prst="roundRect">
            <a:avLst>
              <a:gd name="adj" fmla="val 2759"/>
            </a:avLst>
          </a:prstGeom>
          <a:solidFill>
            <a:schemeClr val="bg2"/>
          </a:solidFill>
          <a:ln w="12700">
            <a:solidFill>
              <a:schemeClr val="bg2"/>
            </a:solidFill>
            <a:prstDash val="solid"/>
          </a:ln>
        </p:spPr>
      </p:sp>
      <p:sp>
        <p:nvSpPr>
          <p:cNvPr id="17" name="panel"/>
          <p:cNvSpPr/>
          <p:nvPr/>
        </p:nvSpPr>
        <p:spPr>
          <a:xfrm>
            <a:off x="8970264" y="1417320"/>
            <a:ext cx="2651760" cy="73152"/>
          </a:xfrm>
          <a:prstGeom prst="rect">
            <a:avLst/>
          </a:prstGeom>
          <a:solidFill>
            <a:schemeClr val="accent4"/>
          </a:solidFill>
          <a:ln w="12700">
            <a:solidFill>
              <a:schemeClr val="accent4"/>
            </a:solidFill>
            <a:prstDash val="solid"/>
          </a:ln>
        </p:spPr>
      </p:sp>
      <p:sp>
        <p:nvSpPr>
          <p:cNvPr id="18" name="text"/>
          <p:cNvSpPr txBox="1"/>
          <p:nvPr/>
        </p:nvSpPr>
        <p:spPr>
          <a:xfrm>
            <a:off x="9153144" y="1645920"/>
            <a:ext cx="2286000" cy="777240"/>
          </a:xfrm>
          <a:prstGeom prst="rect">
            <a:avLst/>
          </a:prstGeom>
          <a:noFill/>
          <a:ln/>
        </p:spPr>
        <p:txBody>
          <a:bodyPr wrap="square" lIns="0" tIns="0" rIns="0" bIns="0" rtlCol="0" anchor="t"/>
          <a:lstStyle/>
          <a:p>
            <a:pPr indent="0" marL="0">
              <a:buNone/>
            </a:pPr>
            <a:r>
              <a:rPr lang="en-US" sz="1350" b="1" dirty="0">
                <a:solidFill>
                  <a:schemeClr val="accent4"/>
                </a:solidFill>
              </a:rPr>
              <a:t>AI over raw tables guesses</a:t>
            </a:r>
            <a:endParaRPr lang="en-US" sz="1350" dirty="0"/>
          </a:p>
        </p:txBody>
      </p:sp>
      <p:sp>
        <p:nvSpPr>
          <p:cNvPr id="19" name="text"/>
          <p:cNvSpPr txBox="1"/>
          <p:nvPr/>
        </p:nvSpPr>
        <p:spPr>
          <a:xfrm>
            <a:off x="9153144" y="2468880"/>
            <a:ext cx="2286000" cy="1737360"/>
          </a:xfrm>
          <a:prstGeom prst="rect">
            <a:avLst/>
          </a:prstGeom>
          <a:noFill/>
          <a:ln/>
        </p:spPr>
        <p:txBody>
          <a:bodyPr wrap="square" lIns="0" tIns="0" rIns="0" bIns="0" rtlCol="0" anchor="t"/>
          <a:lstStyle/>
          <a:p>
            <a:pPr indent="0" marL="0">
              <a:buNone/>
            </a:pPr>
            <a:r>
              <a:rPr lang="en-US" sz="1150" dirty="0">
                <a:solidFill>
                  <a:schemeClr val="tx1"/>
                </a:solidFill>
              </a:rPr>
              <a:t>An assistant pointed at the warehouse returns a plausible figure with no definition behind it, and cannot say why a question has no answer.</a:t>
            </a:r>
            <a:endParaRPr lang="en-US" sz="1150" dirty="0"/>
          </a:p>
        </p:txBody>
      </p:sp>
      <p:sp>
        <p:nvSpPr>
          <p:cNvPr id="20" name="card"/>
          <p:cNvSpPr/>
          <p:nvPr/>
        </p:nvSpPr>
        <p:spPr>
          <a:xfrm>
            <a:off x="548640" y="4572000"/>
            <a:ext cx="11094415" cy="1417320"/>
          </a:xfrm>
          <a:prstGeom prst="roundRect">
            <a:avLst>
              <a:gd name="adj" fmla="val 5161"/>
            </a:avLst>
          </a:prstGeom>
          <a:solidFill>
            <a:schemeClr val="tx2"/>
          </a:solidFill>
          <a:ln w="12700">
            <a:solidFill>
              <a:schemeClr val="tx2"/>
            </a:solidFill>
            <a:prstDash val="solid"/>
          </a:ln>
        </p:spPr>
      </p:sp>
      <p:sp>
        <p:nvSpPr>
          <p:cNvPr id="21" name="text"/>
          <p:cNvSpPr txBox="1"/>
          <p:nvPr/>
        </p:nvSpPr>
        <p:spPr>
          <a:xfrm>
            <a:off x="822960" y="4700016"/>
            <a:ext cx="4572000" cy="274320"/>
          </a:xfrm>
          <a:prstGeom prst="rect">
            <a:avLst/>
          </a:prstGeom>
          <a:noFill/>
          <a:ln/>
        </p:spPr>
        <p:txBody>
          <a:bodyPr wrap="square" lIns="0" tIns="0" rIns="0" bIns="0" rtlCol="0" anchor="t"/>
          <a:lstStyle/>
          <a:p>
            <a:pPr indent="0" marL="0">
              <a:buNone/>
            </a:pPr>
            <a:r>
              <a:rPr lang="en-US" sz="1100" b="1" dirty="0">
                <a:solidFill>
                  <a:schemeClr val="accent4"/>
                </a:solidFill>
              </a:rPr>
              <a:t>THE COMMON CAUSE</a:t>
            </a:r>
            <a:endParaRPr lang="en-US" sz="1100" dirty="0"/>
          </a:p>
        </p:txBody>
      </p:sp>
      <p:sp>
        <p:nvSpPr>
          <p:cNvPr id="22" name="text"/>
          <p:cNvSpPr txBox="1"/>
          <p:nvPr/>
        </p:nvSpPr>
        <p:spPr>
          <a:xfrm>
            <a:off x="822960" y="4956048"/>
            <a:ext cx="10545775" cy="960120"/>
          </a:xfrm>
          <a:prstGeom prst="rect">
            <a:avLst/>
          </a:prstGeom>
          <a:noFill/>
          <a:ln/>
        </p:spPr>
        <p:txBody>
          <a:bodyPr wrap="square" lIns="0" tIns="0" rIns="0" bIns="0" rtlCol="0" anchor="t"/>
          <a:lstStyle/>
          <a:p>
            <a:pPr indent="0" marL="0">
              <a:buNone/>
            </a:pPr>
            <a:r>
              <a:rPr lang="en-US" sz="1400" dirty="0">
                <a:solidFill>
                  <a:schemeClr val="bg1"/>
                </a:solidFill>
              </a:rPr>
              <a:t>No agreed statement of what the firm's data means and who owns each meaning. Everything built downstream inherits the ambiguity: the warehouse, the reports, the controls, and now the assistants.</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What it costs the two of you</a:t>
            </a:r>
            <a:endParaRPr lang="en-US" sz="2800" dirty="0"/>
          </a:p>
        </p:txBody>
      </p:sp>
      <p:sp>
        <p:nvSpPr>
          <p:cNvPr id="4" name="card"/>
          <p:cNvSpPr/>
          <p:nvPr/>
        </p:nvSpPr>
        <p:spPr>
          <a:xfrm>
            <a:off x="548640" y="1417320"/>
            <a:ext cx="5422392" cy="3291840"/>
          </a:xfrm>
          <a:prstGeom prst="roundRect">
            <a:avLst>
              <a:gd name="adj" fmla="val 2222"/>
            </a:avLst>
          </a:prstGeom>
          <a:solidFill>
            <a:schemeClr val="bg2"/>
          </a:solidFill>
          <a:ln w="12700">
            <a:solidFill>
              <a:schemeClr val="bg2"/>
            </a:solidFill>
            <a:prstDash val="solid"/>
          </a:ln>
        </p:spPr>
      </p:sp>
      <p:sp>
        <p:nvSpPr>
          <p:cNvPr id="5" name="text"/>
          <p:cNvSpPr txBox="1"/>
          <p:nvPr/>
        </p:nvSpPr>
        <p:spPr>
          <a:xfrm>
            <a:off x="713232" y="1563624"/>
            <a:ext cx="5093208" cy="548640"/>
          </a:xfrm>
          <a:prstGeom prst="rect">
            <a:avLst/>
          </a:prstGeom>
          <a:noFill/>
          <a:ln/>
        </p:spPr>
        <p:txBody>
          <a:bodyPr wrap="square" lIns="0" tIns="0" rIns="0" bIns="0" rtlCol="0" anchor="t"/>
          <a:lstStyle/>
          <a:p>
            <a:pPr indent="0" marL="0">
              <a:buNone/>
            </a:pPr>
            <a:r>
              <a:rPr lang="en-US" sz="1800" b="1" dirty="0">
                <a:solidFill>
                  <a:schemeClr val="accent4"/>
                </a:solidFill>
              </a:rPr>
              <a:t>Head of distribution</a:t>
            </a:r>
            <a:endParaRPr lang="en-US" sz="1800" dirty="0"/>
          </a:p>
        </p:txBody>
      </p:sp>
      <p:sp>
        <p:nvSpPr>
          <p:cNvPr id="6" name="card body"/>
          <p:cNvSpPr txBox="1"/>
          <p:nvPr/>
        </p:nvSpPr>
        <p:spPr>
          <a:xfrm>
            <a:off x="713232" y="2130552"/>
            <a:ext cx="5093208" cy="2414016"/>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The month-end hour spent deciding which net new assets figure is right</a:t>
            </a:r>
            <a:endParaRPr lang="en-US" sz="1300" dirty="0"/>
          </a:p>
          <a:p>
            <a:pPr marL="152400" indent="-152400">
              <a:spcAft>
                <a:spcPts val="400"/>
              </a:spcAft>
              <a:buSzPct val="100000"/>
              <a:buChar char="•"/>
            </a:pPr>
            <a:r>
              <a:rPr lang="en-US" sz="1300" dirty="0">
                <a:solidFill>
                  <a:schemeClr val="tx1"/>
                </a:solidFill>
              </a:rPr>
              <a:t>No way to tell a board or a regulator which definition a given report used</a:t>
            </a:r>
            <a:endParaRPr lang="en-US" sz="1300" dirty="0"/>
          </a:p>
          <a:p>
            <a:pPr marL="152400" indent="-152400">
              <a:spcAft>
                <a:spcPts val="400"/>
              </a:spcAft>
              <a:buSzPct val="100000"/>
              <a:buChar char="•"/>
            </a:pPr>
            <a:r>
              <a:rPr lang="en-US" sz="1300" dirty="0">
                <a:solidFill>
                  <a:schemeClr val="tx1"/>
                </a:solidFill>
              </a:rPr>
              <a:t>Initiatives wait on data nobody will sign; a new question is a project, not a query</a:t>
            </a:r>
            <a:endParaRPr lang="en-US" sz="1300" dirty="0"/>
          </a:p>
          <a:p>
            <a:pPr marL="152400" indent="-152400">
              <a:spcAft>
                <a:spcPts val="400"/>
              </a:spcAft>
              <a:buSzPct val="100000"/>
              <a:buChar char="•"/>
            </a:pPr>
            <a:r>
              <a:rPr lang="en-US" sz="1300" dirty="0">
                <a:solidFill>
                  <a:schemeClr val="tx1"/>
                </a:solidFill>
              </a:rPr>
              <a:t>Channel, offering and household are counted differently in every pack</a:t>
            </a:r>
            <a:endParaRPr lang="en-US" sz="1300" dirty="0"/>
          </a:p>
        </p:txBody>
      </p:sp>
      <p:sp>
        <p:nvSpPr>
          <p:cNvPr id="7" name="card"/>
          <p:cNvSpPr/>
          <p:nvPr/>
        </p:nvSpPr>
        <p:spPr>
          <a:xfrm>
            <a:off x="6217920" y="1417320"/>
            <a:ext cx="5422392" cy="3291840"/>
          </a:xfrm>
          <a:prstGeom prst="roundRect">
            <a:avLst>
              <a:gd name="adj" fmla="val 2222"/>
            </a:avLst>
          </a:prstGeom>
          <a:solidFill>
            <a:schemeClr val="bg2"/>
          </a:solidFill>
          <a:ln w="12700">
            <a:solidFill>
              <a:schemeClr val="bg2"/>
            </a:solidFill>
            <a:prstDash val="solid"/>
          </a:ln>
        </p:spPr>
      </p:sp>
      <p:sp>
        <p:nvSpPr>
          <p:cNvPr id="8" name="text"/>
          <p:cNvSpPr txBox="1"/>
          <p:nvPr/>
        </p:nvSpPr>
        <p:spPr>
          <a:xfrm>
            <a:off x="6382512" y="1563624"/>
            <a:ext cx="5093208" cy="548640"/>
          </a:xfrm>
          <a:prstGeom prst="rect">
            <a:avLst/>
          </a:prstGeom>
          <a:noFill/>
          <a:ln/>
        </p:spPr>
        <p:txBody>
          <a:bodyPr wrap="square" lIns="0" tIns="0" rIns="0" bIns="0" rtlCol="0" anchor="t"/>
          <a:lstStyle/>
          <a:p>
            <a:pPr indent="0" marL="0">
              <a:buNone/>
            </a:pPr>
            <a:r>
              <a:rPr lang="en-US" sz="1800" b="1" dirty="0">
                <a:solidFill>
                  <a:schemeClr val="accent1"/>
                </a:solidFill>
              </a:rPr>
              <a:t>Head of data management</a:t>
            </a:r>
            <a:endParaRPr lang="en-US" sz="1800" dirty="0"/>
          </a:p>
        </p:txBody>
      </p:sp>
      <p:sp>
        <p:nvSpPr>
          <p:cNvPr id="9" name="card body"/>
          <p:cNvSpPr txBox="1"/>
          <p:nvPr/>
        </p:nvSpPr>
        <p:spPr>
          <a:xfrm>
            <a:off x="6382512" y="2130552"/>
            <a:ext cx="5093208" cy="2414016"/>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Every new source is a bespoke integration with its own transformations</a:t>
            </a:r>
            <a:endParaRPr lang="en-US" sz="1300" dirty="0"/>
          </a:p>
          <a:p>
            <a:pPr marL="152400" indent="-152400">
              <a:spcAft>
                <a:spcPts val="400"/>
              </a:spcAft>
              <a:buSzPct val="100000"/>
              <a:buChar char="•"/>
            </a:pPr>
            <a:r>
              <a:rPr lang="en-US" sz="1300" dirty="0">
                <a:solidFill>
                  <a:schemeClr val="tx1"/>
                </a:solidFill>
              </a:rPr>
              <a:t>Quality rules are written per report and drift from each other</a:t>
            </a:r>
            <a:endParaRPr lang="en-US" sz="1300" dirty="0"/>
          </a:p>
          <a:p>
            <a:pPr marL="152400" indent="-152400">
              <a:spcAft>
                <a:spcPts val="400"/>
              </a:spcAft>
              <a:buSzPct val="100000"/>
              <a:buChar char="•"/>
            </a:pPr>
            <a:r>
              <a:rPr lang="en-US" sz="1300" dirty="0">
                <a:solidFill>
                  <a:schemeClr val="tx1"/>
                </a:solidFill>
              </a:rPr>
              <a:t>Lineage is reconstructed by hand when an auditor or examiner asks</a:t>
            </a:r>
            <a:endParaRPr lang="en-US" sz="1300" dirty="0"/>
          </a:p>
          <a:p>
            <a:pPr marL="152400" indent="-152400">
              <a:spcAft>
                <a:spcPts val="400"/>
              </a:spcAft>
              <a:buSzPct val="100000"/>
              <a:buChar char="•"/>
            </a:pPr>
            <a:r>
              <a:rPr lang="en-US" sz="1300" dirty="0">
                <a:solidFill>
                  <a:schemeClr val="tx1"/>
                </a:solidFill>
              </a:rPr>
              <a:t>No way to state what a source enables: which products, metrics and questions it switches on</a:t>
            </a:r>
            <a:endParaRPr lang="en-US" sz="1300" dirty="0"/>
          </a:p>
        </p:txBody>
      </p:sp>
      <p:sp>
        <p:nvSpPr>
          <p:cNvPr id="10" name="card"/>
          <p:cNvSpPr/>
          <p:nvPr/>
        </p:nvSpPr>
        <p:spPr>
          <a:xfrm>
            <a:off x="548640" y="4937760"/>
            <a:ext cx="11094415" cy="1051560"/>
          </a:xfrm>
          <a:prstGeom prst="roundRect">
            <a:avLst>
              <a:gd name="adj" fmla="val 6957"/>
            </a:avLst>
          </a:prstGeom>
          <a:solidFill>
            <a:schemeClr val="tx2"/>
          </a:solidFill>
          <a:ln w="12700">
            <a:solidFill>
              <a:schemeClr val="tx2"/>
            </a:solidFill>
            <a:prstDash val="solid"/>
          </a:ln>
        </p:spPr>
      </p:sp>
      <p:sp>
        <p:nvSpPr>
          <p:cNvPr id="11" name="text"/>
          <p:cNvSpPr txBox="1"/>
          <p:nvPr/>
        </p:nvSpPr>
        <p:spPr>
          <a:xfrm>
            <a:off x="822960" y="5065776"/>
            <a:ext cx="10545775" cy="795528"/>
          </a:xfrm>
          <a:prstGeom prst="rect">
            <a:avLst/>
          </a:prstGeom>
          <a:noFill/>
          <a:ln/>
        </p:spPr>
        <p:txBody>
          <a:bodyPr wrap="square" lIns="0" tIns="0" rIns="0" bIns="0" rtlCol="0" anchor="ctr"/>
          <a:lstStyle/>
          <a:p>
            <a:pPr indent="0" marL="0">
              <a:buNone/>
            </a:pPr>
            <a:r>
              <a:rPr lang="en-US" sz="1500" dirty="0">
                <a:solidFill>
                  <a:schemeClr val="bg1"/>
                </a:solidFill>
              </a:rPr>
              <a:t>Both lists have one fix: a definition per concept with an owner, and a mapping per source to that definition. The demo shows the fix running.</a:t>
            </a:r>
            <a:endParaRPr lang="en-US" sz="15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148840"/>
            <a:ext cx="11094415" cy="457200"/>
          </a:xfrm>
          <a:prstGeom prst="rect">
            <a:avLst/>
          </a:prstGeom>
          <a:noFill/>
          <a:ln/>
        </p:spPr>
        <p:txBody>
          <a:bodyPr wrap="square" lIns="0" tIns="0" rIns="0" bIns="0" rtlCol="0"/>
          <a:lstStyle/>
          <a:p>
            <a:pPr indent="0" marL="0">
              <a:buNone/>
            </a:pPr>
            <a:r>
              <a:rPr lang="en-US" sz="1600" dirty="0">
                <a:solidFill>
                  <a:schemeClr val="bg2"/>
                </a:solidFill>
              </a:rPr>
              <a:t>PART 2</a:t>
            </a:r>
            <a:endParaRPr lang="en-US" sz="1600" dirty="0"/>
          </a:p>
        </p:txBody>
      </p:sp>
      <p:sp>
        <p:nvSpPr>
          <p:cNvPr id="3" name="Text 0"/>
          <p:cNvSpPr/>
          <p:nvPr>
            <p:ph idx="101" type="title" hasCustomPrompt="1"/>
          </p:nvPr>
        </p:nvSpPr>
        <p:spPr>
          <a:xfrm>
            <a:off x="548640" y="2606040"/>
            <a:ext cx="11094415" cy="1280160"/>
          </a:xfrm>
          <a:prstGeom prst="rect">
            <a:avLst/>
          </a:prstGeom>
          <a:noFill/>
          <a:ln/>
        </p:spPr>
        <p:txBody>
          <a:bodyPr wrap="square" lIns="0" tIns="0" rIns="0" bIns="0" rtlCol="0" anchor="t"/>
          <a:lstStyle/>
          <a:p>
            <a:pPr algn="l" indent="0" marL="0">
              <a:buNone/>
            </a:pPr>
            <a:r>
              <a:rPr lang="en-US" sz="4000" b="1" dirty="0">
                <a:solidFill>
                  <a:schemeClr val="bg1"/>
                </a:solidFill>
              </a:rPr>
              <a:t>Why a taxonomy is crucially important</a:t>
            </a:r>
            <a:endParaRPr lang="en-US" sz="4000" dirty="0"/>
          </a:p>
        </p:txBody>
      </p:sp>
      <p:sp>
        <p:nvSpPr>
          <p:cNvPr id="4" name="Text 0"/>
          <p:cNvSpPr/>
          <p:nvPr>
            <p:ph idx="102" type="body" hasCustomPrompt="1"/>
          </p:nvPr>
        </p:nvSpPr>
        <p:spPr>
          <a:xfrm>
            <a:off x="548640" y="4023360"/>
            <a:ext cx="8686800" cy="1463040"/>
          </a:xfrm>
          <a:prstGeom prst="rect">
            <a:avLst/>
          </a:prstGeom>
          <a:noFill/>
          <a:ln/>
        </p:spPr>
        <p:txBody>
          <a:bodyPr wrap="square" lIns="0" tIns="0" rIns="0" bIns="0" rtlCol="0" anchor="t"/>
          <a:lstStyle/>
          <a:p>
            <a:pPr indent="0" marL="0">
              <a:buNone/>
            </a:pPr>
            <a:r>
              <a:rPr lang="en-US" sz="1800" dirty="0">
                <a:solidFill>
                  <a:schemeClr val="bg2"/>
                </a:solidFill>
              </a:rPr>
              <a:t>One hierarchy, one owner per concept, built and validated like code. It is the only layer that can say what a term means, who decides, and whether a machine can use it.</a:t>
            </a:r>
            <a:endParaRPr lang="en-US" sz="1800" dirty="0"/>
          </a:p>
        </p:txBody>
      </p:sp>
      <p:sp>
        <p:nvSpPr>
          <p:cNvPr id="5" name="chip"/>
          <p:cNvSpPr/>
          <p:nvPr/>
        </p:nvSpPr>
        <p:spPr>
          <a:xfrm>
            <a:off x="548640" y="1371600"/>
            <a:ext cx="384048" cy="384048"/>
          </a:xfrm>
          <a:prstGeom prst="ellipse">
            <a:avLst/>
          </a:prstGeom>
          <a:solidFill>
            <a:schemeClr val="accent1"/>
          </a:solidFill>
          <a:ln w="12700">
            <a:solidFill>
              <a:schemeClr val="accent1"/>
            </a:solidFill>
            <a:prstDash val="solid"/>
          </a:ln>
        </p:spPr>
      </p:sp>
      <p:sp>
        <p:nvSpPr>
          <p:cNvPr id="6" name="text"/>
          <p:cNvSpPr txBox="1"/>
          <p:nvPr/>
        </p:nvSpPr>
        <p:spPr>
          <a:xfrm>
            <a:off x="548640" y="13716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text"/>
          <p:cNvSpPr txBox="1"/>
          <p:nvPr/>
        </p:nvSpPr>
        <p:spPr>
          <a:xfrm>
            <a:off x="1042416" y="1353312"/>
            <a:ext cx="3657600" cy="420624"/>
          </a:xfrm>
          <a:prstGeom prst="rect">
            <a:avLst/>
          </a:prstGeom>
          <a:noFill/>
          <a:ln/>
        </p:spPr>
        <p:txBody>
          <a:bodyPr wrap="square" lIns="0" tIns="0" rIns="0" bIns="0" rtlCol="0" anchor="ctr"/>
          <a:lstStyle/>
          <a:p>
            <a:pPr indent="0" marL="0">
              <a:buNone/>
            </a:pPr>
            <a:r>
              <a:rPr lang="en-US" sz="1400" b="1" dirty="0">
                <a:solidFill>
                  <a:schemeClr val="bg1"/>
                </a:solidFill>
              </a:rPr>
              <a:t>Define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A taxonomy says what every term means and who owns the meaning</a:t>
            </a:r>
            <a:endParaRPr lang="en-US" sz="2800" dirty="0"/>
          </a:p>
        </p:txBody>
      </p:sp>
      <p:sp>
        <p:nvSpPr>
          <p:cNvPr id="4" name="card"/>
          <p:cNvSpPr/>
          <p:nvPr/>
        </p:nvSpPr>
        <p:spPr>
          <a:xfrm>
            <a:off x="548640" y="1417320"/>
            <a:ext cx="6766560" cy="749808"/>
          </a:xfrm>
          <a:prstGeom prst="roundRect">
            <a:avLst>
              <a:gd name="adj" fmla="val 9756"/>
            </a:avLst>
          </a:prstGeom>
          <a:solidFill>
            <a:schemeClr val="bg2"/>
          </a:solidFill>
          <a:ln w="12700">
            <a:solidFill>
              <a:schemeClr val="bg2"/>
            </a:solidFill>
            <a:prstDash val="solid"/>
          </a:ln>
        </p:spPr>
      </p:sp>
      <p:sp>
        <p:nvSpPr>
          <p:cNvPr id="5" name="text"/>
          <p:cNvSpPr txBox="1"/>
          <p:nvPr/>
        </p:nvSpPr>
        <p:spPr>
          <a:xfrm>
            <a:off x="713232" y="1508760"/>
            <a:ext cx="457200" cy="320040"/>
          </a:xfrm>
          <a:prstGeom prst="rect">
            <a:avLst/>
          </a:prstGeom>
          <a:noFill/>
          <a:ln/>
        </p:spPr>
        <p:txBody>
          <a:bodyPr wrap="square" lIns="0" tIns="0" rIns="0" bIns="0" rtlCol="0" anchor="t"/>
          <a:lstStyle/>
          <a:p>
            <a:pPr indent="0" marL="0">
              <a:buNone/>
            </a:pPr>
            <a:r>
              <a:rPr lang="en-US" sz="1100" b="1" dirty="0">
                <a:solidFill>
                  <a:schemeClr val="accent1"/>
                </a:solidFill>
              </a:rPr>
              <a:t>L1</a:t>
            </a:r>
            <a:endParaRPr lang="en-US" sz="1100" dirty="0"/>
          </a:p>
        </p:txBody>
      </p:sp>
      <p:sp>
        <p:nvSpPr>
          <p:cNvPr id="6" name="text"/>
          <p:cNvSpPr txBox="1"/>
          <p:nvPr/>
        </p:nvSpPr>
        <p:spPr>
          <a:xfrm>
            <a:off x="1143000" y="1490472"/>
            <a:ext cx="2103120" cy="320040"/>
          </a:xfrm>
          <a:prstGeom prst="rect">
            <a:avLst/>
          </a:prstGeom>
          <a:noFill/>
          <a:ln/>
        </p:spPr>
        <p:txBody>
          <a:bodyPr wrap="square" lIns="0" tIns="0" rIns="0" bIns="0" rtlCol="0" anchor="t"/>
          <a:lstStyle/>
          <a:p>
            <a:pPr indent="0" marL="0">
              <a:buNone/>
            </a:pPr>
            <a:r>
              <a:rPr lang="en-US" sz="1300" b="1" dirty="0">
                <a:solidFill>
                  <a:schemeClr val="tx2"/>
                </a:solidFill>
              </a:rPr>
              <a:t>Data Domain</a:t>
            </a:r>
            <a:endParaRPr lang="en-US" sz="1300" dirty="0"/>
          </a:p>
        </p:txBody>
      </p:sp>
      <p:sp>
        <p:nvSpPr>
          <p:cNvPr id="7" name="text"/>
          <p:cNvSpPr txBox="1"/>
          <p:nvPr/>
        </p:nvSpPr>
        <p:spPr>
          <a:xfrm>
            <a:off x="3246120" y="1490472"/>
            <a:ext cx="3931920" cy="320040"/>
          </a:xfrm>
          <a:prstGeom prst="rect">
            <a:avLst/>
          </a:prstGeom>
          <a:noFill/>
          <a:ln/>
        </p:spPr>
        <p:txBody>
          <a:bodyPr wrap="square" lIns="0" tIns="0" rIns="0" bIns="0" rtlCol="0" anchor="t"/>
          <a:lstStyle/>
          <a:p>
            <a:pPr indent="0" marL="0">
              <a:buNone/>
            </a:pPr>
            <a:r>
              <a:rPr lang="en-US" sz="1300" b="1" dirty="0">
                <a:solidFill>
                  <a:schemeClr val="accent1"/>
                </a:solidFill>
              </a:rPr>
              <a:t>06 Client Assets, Flows &amp; Channel Attribution</a:t>
            </a:r>
            <a:endParaRPr lang="en-US" sz="1300" dirty="0"/>
          </a:p>
        </p:txBody>
      </p:sp>
      <p:sp>
        <p:nvSpPr>
          <p:cNvPr id="8" name="text"/>
          <p:cNvSpPr txBox="1"/>
          <p:nvPr/>
        </p:nvSpPr>
        <p:spPr>
          <a:xfrm>
            <a:off x="1143000" y="1810512"/>
            <a:ext cx="6035040" cy="347472"/>
          </a:xfrm>
          <a:prstGeom prst="rect">
            <a:avLst/>
          </a:prstGeom>
          <a:noFill/>
          <a:ln/>
        </p:spPr>
        <p:txBody>
          <a:bodyPr wrap="square" lIns="0" tIns="0" rIns="0" bIns="0" rtlCol="0" anchor="t"/>
          <a:lstStyle/>
          <a:p>
            <a:pPr indent="0" marL="0">
              <a:buNone/>
            </a:pPr>
            <a:r>
              <a:rPr lang="en-US" sz="1050" dirty="0">
                <a:solidFill>
                  <a:schemeClr val="tx2"/>
                </a:solidFill>
              </a:rPr>
              <a:t>Masters the firm's certified client asset measures and the flows and attribution behind them</a:t>
            </a:r>
            <a:endParaRPr lang="en-US" sz="1050" dirty="0"/>
          </a:p>
        </p:txBody>
      </p:sp>
      <p:sp>
        <p:nvSpPr>
          <p:cNvPr id="9" name="card"/>
          <p:cNvSpPr/>
          <p:nvPr/>
        </p:nvSpPr>
        <p:spPr>
          <a:xfrm>
            <a:off x="822960" y="2286000"/>
            <a:ext cx="6492240" cy="749808"/>
          </a:xfrm>
          <a:prstGeom prst="roundRect">
            <a:avLst>
              <a:gd name="adj" fmla="val 9756"/>
            </a:avLst>
          </a:prstGeom>
          <a:solidFill>
            <a:schemeClr val="bg2"/>
          </a:solidFill>
          <a:ln w="12700">
            <a:solidFill>
              <a:schemeClr val="bg2"/>
            </a:solidFill>
            <a:prstDash val="solid"/>
          </a:ln>
        </p:spPr>
      </p:sp>
      <p:sp>
        <p:nvSpPr>
          <p:cNvPr id="10" name="text"/>
          <p:cNvSpPr txBox="1"/>
          <p:nvPr/>
        </p:nvSpPr>
        <p:spPr>
          <a:xfrm>
            <a:off x="987552" y="2377440"/>
            <a:ext cx="457200" cy="320040"/>
          </a:xfrm>
          <a:prstGeom prst="rect">
            <a:avLst/>
          </a:prstGeom>
          <a:noFill/>
          <a:ln/>
        </p:spPr>
        <p:txBody>
          <a:bodyPr wrap="square" lIns="0" tIns="0" rIns="0" bIns="0" rtlCol="0" anchor="t"/>
          <a:lstStyle/>
          <a:p>
            <a:pPr indent="0" marL="0">
              <a:buNone/>
            </a:pPr>
            <a:r>
              <a:rPr lang="en-US" sz="1100" b="1" dirty="0">
                <a:solidFill>
                  <a:schemeClr val="accent1"/>
                </a:solidFill>
              </a:rPr>
              <a:t>L2</a:t>
            </a:r>
            <a:endParaRPr lang="en-US" sz="1100" dirty="0"/>
          </a:p>
        </p:txBody>
      </p:sp>
      <p:sp>
        <p:nvSpPr>
          <p:cNvPr id="11" name="text"/>
          <p:cNvSpPr txBox="1"/>
          <p:nvPr/>
        </p:nvSpPr>
        <p:spPr>
          <a:xfrm>
            <a:off x="1417320" y="2359152"/>
            <a:ext cx="2103120" cy="320040"/>
          </a:xfrm>
          <a:prstGeom prst="rect">
            <a:avLst/>
          </a:prstGeom>
          <a:noFill/>
          <a:ln/>
        </p:spPr>
        <p:txBody>
          <a:bodyPr wrap="square" lIns="0" tIns="0" rIns="0" bIns="0" rtlCol="0" anchor="t"/>
          <a:lstStyle/>
          <a:p>
            <a:pPr indent="0" marL="0">
              <a:buNone/>
            </a:pPr>
            <a:r>
              <a:rPr lang="en-US" sz="1300" b="1" dirty="0">
                <a:solidFill>
                  <a:schemeClr val="tx2"/>
                </a:solidFill>
              </a:rPr>
              <a:t>Data Family</a:t>
            </a:r>
            <a:endParaRPr lang="en-US" sz="1300" dirty="0"/>
          </a:p>
        </p:txBody>
      </p:sp>
      <p:sp>
        <p:nvSpPr>
          <p:cNvPr id="12" name="text"/>
          <p:cNvSpPr txBox="1"/>
          <p:nvPr/>
        </p:nvSpPr>
        <p:spPr>
          <a:xfrm>
            <a:off x="3520440" y="2359152"/>
            <a:ext cx="3657600" cy="320040"/>
          </a:xfrm>
          <a:prstGeom prst="rect">
            <a:avLst/>
          </a:prstGeom>
          <a:noFill/>
          <a:ln/>
        </p:spPr>
        <p:txBody>
          <a:bodyPr wrap="square" lIns="0" tIns="0" rIns="0" bIns="0" rtlCol="0" anchor="t"/>
          <a:lstStyle/>
          <a:p>
            <a:pPr indent="0" marL="0">
              <a:buNone/>
            </a:pPr>
            <a:r>
              <a:rPr lang="en-US" sz="1300" b="1" dirty="0">
                <a:solidFill>
                  <a:schemeClr val="accent1"/>
                </a:solidFill>
              </a:rPr>
              <a:t>Client Asset Measures</a:t>
            </a:r>
            <a:endParaRPr lang="en-US" sz="1300" dirty="0"/>
          </a:p>
        </p:txBody>
      </p:sp>
      <p:sp>
        <p:nvSpPr>
          <p:cNvPr id="13" name="text"/>
          <p:cNvSpPr txBox="1"/>
          <p:nvPr/>
        </p:nvSpPr>
        <p:spPr>
          <a:xfrm>
            <a:off x="1417320" y="2679192"/>
            <a:ext cx="5760720" cy="347472"/>
          </a:xfrm>
          <a:prstGeom prst="rect">
            <a:avLst/>
          </a:prstGeom>
          <a:noFill/>
          <a:ln/>
        </p:spPr>
        <p:txBody>
          <a:bodyPr wrap="square" lIns="0" tIns="0" rIns="0" bIns="0" rtlCol="0" anchor="t"/>
          <a:lstStyle/>
          <a:p>
            <a:pPr indent="0" marL="0">
              <a:buNone/>
            </a:pPr>
            <a:r>
              <a:rPr lang="en-US" sz="1050" dirty="0">
                <a:solidFill>
                  <a:schemeClr val="tx2"/>
                </a:solidFill>
              </a:rPr>
              <a:t>The certified measure definitions and their published values</a:t>
            </a:r>
            <a:endParaRPr lang="en-US" sz="1050" dirty="0"/>
          </a:p>
        </p:txBody>
      </p:sp>
      <p:sp>
        <p:nvSpPr>
          <p:cNvPr id="14" name="card"/>
          <p:cNvSpPr/>
          <p:nvPr/>
        </p:nvSpPr>
        <p:spPr>
          <a:xfrm>
            <a:off x="1097280" y="3154680"/>
            <a:ext cx="6217920" cy="749808"/>
          </a:xfrm>
          <a:prstGeom prst="roundRect">
            <a:avLst>
              <a:gd name="adj" fmla="val 9756"/>
            </a:avLst>
          </a:prstGeom>
          <a:solidFill>
            <a:schemeClr val="bg2"/>
          </a:solidFill>
          <a:ln w="12700">
            <a:solidFill>
              <a:schemeClr val="bg2"/>
            </a:solidFill>
            <a:prstDash val="solid"/>
          </a:ln>
        </p:spPr>
      </p:sp>
      <p:sp>
        <p:nvSpPr>
          <p:cNvPr id="15" name="text"/>
          <p:cNvSpPr txBox="1"/>
          <p:nvPr/>
        </p:nvSpPr>
        <p:spPr>
          <a:xfrm>
            <a:off x="1261872" y="3246120"/>
            <a:ext cx="457200" cy="320040"/>
          </a:xfrm>
          <a:prstGeom prst="rect">
            <a:avLst/>
          </a:prstGeom>
          <a:noFill/>
          <a:ln/>
        </p:spPr>
        <p:txBody>
          <a:bodyPr wrap="square" lIns="0" tIns="0" rIns="0" bIns="0" rtlCol="0" anchor="t"/>
          <a:lstStyle/>
          <a:p>
            <a:pPr indent="0" marL="0">
              <a:buNone/>
            </a:pPr>
            <a:r>
              <a:rPr lang="en-US" sz="1100" b="1" dirty="0">
                <a:solidFill>
                  <a:schemeClr val="accent1"/>
                </a:solidFill>
              </a:rPr>
              <a:t>L3</a:t>
            </a:r>
            <a:endParaRPr lang="en-US" sz="1100" dirty="0"/>
          </a:p>
        </p:txBody>
      </p:sp>
      <p:sp>
        <p:nvSpPr>
          <p:cNvPr id="16" name="text"/>
          <p:cNvSpPr txBox="1"/>
          <p:nvPr/>
        </p:nvSpPr>
        <p:spPr>
          <a:xfrm>
            <a:off x="1691640" y="3227832"/>
            <a:ext cx="2103120" cy="320040"/>
          </a:xfrm>
          <a:prstGeom prst="rect">
            <a:avLst/>
          </a:prstGeom>
          <a:noFill/>
          <a:ln/>
        </p:spPr>
        <p:txBody>
          <a:bodyPr wrap="square" lIns="0" tIns="0" rIns="0" bIns="0" rtlCol="0" anchor="t"/>
          <a:lstStyle/>
          <a:p>
            <a:pPr indent="0" marL="0">
              <a:buNone/>
            </a:pPr>
            <a:r>
              <a:rPr lang="en-US" sz="1300" b="1" dirty="0">
                <a:solidFill>
                  <a:schemeClr val="tx2"/>
                </a:solidFill>
              </a:rPr>
              <a:t>Data Business Object</a:t>
            </a:r>
            <a:endParaRPr lang="en-US" sz="1300" dirty="0"/>
          </a:p>
        </p:txBody>
      </p:sp>
      <p:sp>
        <p:nvSpPr>
          <p:cNvPr id="17" name="text"/>
          <p:cNvSpPr txBox="1"/>
          <p:nvPr/>
        </p:nvSpPr>
        <p:spPr>
          <a:xfrm>
            <a:off x="3794760" y="3227832"/>
            <a:ext cx="3383280" cy="320040"/>
          </a:xfrm>
          <a:prstGeom prst="rect">
            <a:avLst/>
          </a:prstGeom>
          <a:noFill/>
          <a:ln/>
        </p:spPr>
        <p:txBody>
          <a:bodyPr wrap="square" lIns="0" tIns="0" rIns="0" bIns="0" rtlCol="0" anchor="t"/>
          <a:lstStyle/>
          <a:p>
            <a:pPr indent="0" marL="0">
              <a:buNone/>
            </a:pPr>
            <a:r>
              <a:rPr lang="en-US" sz="1300" b="1" dirty="0">
                <a:solidFill>
                  <a:schemeClr val="accent1"/>
                </a:solidFill>
              </a:rPr>
              <a:t>Measure Value</a:t>
            </a:r>
            <a:endParaRPr lang="en-US" sz="1300" dirty="0"/>
          </a:p>
        </p:txBody>
      </p:sp>
      <p:sp>
        <p:nvSpPr>
          <p:cNvPr id="18" name="text"/>
          <p:cNvSpPr txBox="1"/>
          <p:nvPr/>
        </p:nvSpPr>
        <p:spPr>
          <a:xfrm>
            <a:off x="1691640" y="3547872"/>
            <a:ext cx="5486400" cy="347472"/>
          </a:xfrm>
          <a:prstGeom prst="rect">
            <a:avLst/>
          </a:prstGeom>
          <a:noFill/>
          <a:ln/>
        </p:spPr>
        <p:txBody>
          <a:bodyPr wrap="square" lIns="0" tIns="0" rIns="0" bIns="0" rtlCol="0" anchor="t"/>
          <a:lstStyle/>
          <a:p>
            <a:pPr indent="0" marL="0">
              <a:buNone/>
            </a:pPr>
            <a:r>
              <a:rPr lang="en-US" sz="1050" dirty="0">
                <a:solidFill>
                  <a:schemeClr val="tx2"/>
                </a:solidFill>
              </a:rPr>
              <a:t>One certified measure value per period, dimension and snapshot; the grain is stated</a:t>
            </a:r>
            <a:endParaRPr lang="en-US" sz="1050" dirty="0"/>
          </a:p>
        </p:txBody>
      </p:sp>
      <p:sp>
        <p:nvSpPr>
          <p:cNvPr id="19" name="card"/>
          <p:cNvSpPr/>
          <p:nvPr/>
        </p:nvSpPr>
        <p:spPr>
          <a:xfrm>
            <a:off x="1371600" y="4023360"/>
            <a:ext cx="5943600" cy="749808"/>
          </a:xfrm>
          <a:prstGeom prst="roundRect">
            <a:avLst>
              <a:gd name="adj" fmla="val 9756"/>
            </a:avLst>
          </a:prstGeom>
          <a:solidFill>
            <a:schemeClr val="accent1"/>
          </a:solidFill>
          <a:ln w="12700">
            <a:solidFill>
              <a:schemeClr val="accent1"/>
            </a:solidFill>
            <a:prstDash val="solid"/>
          </a:ln>
        </p:spPr>
      </p:sp>
      <p:sp>
        <p:nvSpPr>
          <p:cNvPr id="20" name="text"/>
          <p:cNvSpPr txBox="1"/>
          <p:nvPr/>
        </p:nvSpPr>
        <p:spPr>
          <a:xfrm>
            <a:off x="1536192" y="4114800"/>
            <a:ext cx="457200" cy="320040"/>
          </a:xfrm>
          <a:prstGeom prst="rect">
            <a:avLst/>
          </a:prstGeom>
          <a:noFill/>
          <a:ln/>
        </p:spPr>
        <p:txBody>
          <a:bodyPr wrap="square" lIns="0" tIns="0" rIns="0" bIns="0" rtlCol="0" anchor="t"/>
          <a:lstStyle/>
          <a:p>
            <a:pPr indent="0" marL="0">
              <a:buNone/>
            </a:pPr>
            <a:r>
              <a:rPr lang="en-US" sz="1100" b="1" dirty="0">
                <a:solidFill>
                  <a:schemeClr val="bg1"/>
                </a:solidFill>
              </a:rPr>
              <a:t>L4</a:t>
            </a:r>
            <a:endParaRPr lang="en-US" sz="1100" dirty="0"/>
          </a:p>
        </p:txBody>
      </p:sp>
      <p:sp>
        <p:nvSpPr>
          <p:cNvPr id="21" name="text"/>
          <p:cNvSpPr txBox="1"/>
          <p:nvPr/>
        </p:nvSpPr>
        <p:spPr>
          <a:xfrm>
            <a:off x="1965960" y="4096512"/>
            <a:ext cx="2103120" cy="320040"/>
          </a:xfrm>
          <a:prstGeom prst="rect">
            <a:avLst/>
          </a:prstGeom>
          <a:noFill/>
          <a:ln/>
        </p:spPr>
        <p:txBody>
          <a:bodyPr wrap="square" lIns="0" tIns="0" rIns="0" bIns="0" rtlCol="0" anchor="t"/>
          <a:lstStyle/>
          <a:p>
            <a:pPr indent="0" marL="0">
              <a:buNone/>
            </a:pPr>
            <a:r>
              <a:rPr lang="en-US" sz="1300" b="1" dirty="0">
                <a:solidFill>
                  <a:schemeClr val="bg1"/>
                </a:solidFill>
              </a:rPr>
              <a:t>Data Business Attribute</a:t>
            </a:r>
            <a:endParaRPr lang="en-US" sz="1300" dirty="0"/>
          </a:p>
        </p:txBody>
      </p:sp>
      <p:sp>
        <p:nvSpPr>
          <p:cNvPr id="22" name="text"/>
          <p:cNvSpPr txBox="1"/>
          <p:nvPr/>
        </p:nvSpPr>
        <p:spPr>
          <a:xfrm>
            <a:off x="4069080" y="4096512"/>
            <a:ext cx="3108960" cy="320040"/>
          </a:xfrm>
          <a:prstGeom prst="rect">
            <a:avLst/>
          </a:prstGeom>
          <a:noFill/>
          <a:ln/>
        </p:spPr>
        <p:txBody>
          <a:bodyPr wrap="square" lIns="0" tIns="0" rIns="0" bIns="0" rtlCol="0" anchor="t"/>
          <a:lstStyle/>
          <a:p>
            <a:pPr indent="0" marL="0">
              <a:buNone/>
            </a:pPr>
            <a:r>
              <a:rPr lang="en-US" sz="1300" b="1" dirty="0">
                <a:solidFill>
                  <a:schemeClr val="bg1"/>
                </a:solidFill>
              </a:rPr>
              <a:t>Net New Assets</a:t>
            </a:r>
            <a:endParaRPr lang="en-US" sz="1300" dirty="0"/>
          </a:p>
        </p:txBody>
      </p:sp>
      <p:sp>
        <p:nvSpPr>
          <p:cNvPr id="23" name="text"/>
          <p:cNvSpPr txBox="1"/>
          <p:nvPr/>
        </p:nvSpPr>
        <p:spPr>
          <a:xfrm>
            <a:off x="1965960" y="4416552"/>
            <a:ext cx="5212080" cy="347472"/>
          </a:xfrm>
          <a:prstGeom prst="rect">
            <a:avLst/>
          </a:prstGeom>
          <a:noFill/>
          <a:ln/>
        </p:spPr>
        <p:txBody>
          <a:bodyPr wrap="square" lIns="0" tIns="0" rIns="0" bIns="0" rtlCol="0" anchor="t"/>
          <a:lstStyle/>
          <a:p>
            <a:pPr indent="0" marL="0">
              <a:buNone/>
            </a:pPr>
            <a:r>
              <a:rPr lang="en-US" sz="1050" dirty="0">
                <a:solidFill>
                  <a:schemeClr val="bg1"/>
                </a:solidFill>
              </a:rPr>
              <a:t>The signed sum of counted client flows under the flow treatment rules; a critical data element</a:t>
            </a:r>
            <a:endParaRPr lang="en-US" sz="1050" dirty="0"/>
          </a:p>
        </p:txBody>
      </p:sp>
      <p:sp>
        <p:nvSpPr>
          <p:cNvPr id="24" name="card"/>
          <p:cNvSpPr/>
          <p:nvPr/>
        </p:nvSpPr>
        <p:spPr>
          <a:xfrm>
            <a:off x="548640" y="4983480"/>
            <a:ext cx="6766560" cy="1143000"/>
          </a:xfrm>
          <a:prstGeom prst="roundRect">
            <a:avLst>
              <a:gd name="adj" fmla="val 6400"/>
            </a:avLst>
          </a:prstGeom>
          <a:solidFill>
            <a:schemeClr val="tx2"/>
          </a:solidFill>
          <a:ln w="12700">
            <a:solidFill>
              <a:schemeClr val="tx2"/>
            </a:solidFill>
            <a:prstDash val="solid"/>
          </a:ln>
        </p:spPr>
      </p:sp>
      <p:sp>
        <p:nvSpPr>
          <p:cNvPr id="25" name="text"/>
          <p:cNvSpPr txBox="1"/>
          <p:nvPr/>
        </p:nvSpPr>
        <p:spPr>
          <a:xfrm>
            <a:off x="777240" y="5093208"/>
            <a:ext cx="3657600" cy="274320"/>
          </a:xfrm>
          <a:prstGeom prst="rect">
            <a:avLst/>
          </a:prstGeom>
          <a:noFill/>
          <a:ln/>
        </p:spPr>
        <p:txBody>
          <a:bodyPr wrap="square" lIns="0" tIns="0" rIns="0" bIns="0" rtlCol="0" anchor="t"/>
          <a:lstStyle/>
          <a:p>
            <a:pPr indent="0" marL="0">
              <a:buNone/>
            </a:pPr>
            <a:r>
              <a:rPr lang="en-US" sz="1100" b="1" dirty="0">
                <a:solidFill>
                  <a:schemeClr val="accent4"/>
                </a:solidFill>
              </a:rPr>
              <a:t>THE OWNERSHIP RULE</a:t>
            </a:r>
            <a:endParaRPr lang="en-US" sz="1100" dirty="0"/>
          </a:p>
        </p:txBody>
      </p:sp>
      <p:sp>
        <p:nvSpPr>
          <p:cNvPr id="26" name="text"/>
          <p:cNvSpPr txBox="1"/>
          <p:nvPr/>
        </p:nvSpPr>
        <p:spPr>
          <a:xfrm>
            <a:off x="777240" y="5367528"/>
            <a:ext cx="6309360" cy="731520"/>
          </a:xfrm>
          <a:prstGeom prst="rect">
            <a:avLst/>
          </a:prstGeom>
          <a:noFill/>
          <a:ln/>
        </p:spPr>
        <p:txBody>
          <a:bodyPr wrap="square" lIns="0" tIns="0" rIns="0" bIns="0" rtlCol="0" anchor="t"/>
          <a:lstStyle/>
          <a:p>
            <a:pPr indent="0" marL="0">
              <a:buNone/>
            </a:pPr>
            <a:r>
              <a:rPr lang="en-US" sz="1150" dirty="0">
                <a:solidFill>
                  <a:schemeClr val="bg1"/>
                </a:solidFill>
              </a:rPr>
              <a:t>The domain that produces and maintains a concept masters it. Every other domain references it by enterprise ID. A data product assembles what the domains master; it never remasters them. A certified number is defined in one product and read from there everywhere else.</a:t>
            </a:r>
            <a:endParaRPr lang="en-US" sz="1150" dirty="0"/>
          </a:p>
        </p:txBody>
      </p:sp>
      <p:sp>
        <p:nvSpPr>
          <p:cNvPr id="27" name="text"/>
          <p:cNvSpPr txBox="1"/>
          <p:nvPr/>
        </p:nvSpPr>
        <p:spPr>
          <a:xfrm>
            <a:off x="7726680" y="1417320"/>
            <a:ext cx="3931920" cy="502920"/>
          </a:xfrm>
          <a:prstGeom prst="rect">
            <a:avLst/>
          </a:prstGeom>
          <a:noFill/>
          <a:ln/>
        </p:spPr>
        <p:txBody>
          <a:bodyPr wrap="square" lIns="0" tIns="0" rIns="0" bIns="0" rtlCol="0" anchor="t"/>
          <a:lstStyle/>
          <a:p>
            <a:pPr indent="0" marL="0">
              <a:buNone/>
            </a:pPr>
            <a:r>
              <a:rPr lang="en-US" sz="2800" b="1" dirty="0">
                <a:solidFill>
                  <a:schemeClr val="accent1"/>
                </a:solidFill>
              </a:rPr>
              <a:t>50</a:t>
            </a:r>
            <a:endParaRPr lang="en-US" sz="2800" dirty="0"/>
          </a:p>
        </p:txBody>
      </p:sp>
      <p:sp>
        <p:nvSpPr>
          <p:cNvPr id="28" name="text"/>
          <p:cNvSpPr txBox="1"/>
          <p:nvPr/>
        </p:nvSpPr>
        <p:spPr>
          <a:xfrm>
            <a:off x="7726680" y="1892808"/>
            <a:ext cx="3931920" cy="457200"/>
          </a:xfrm>
          <a:prstGeom prst="rect">
            <a:avLst/>
          </a:prstGeom>
          <a:noFill/>
          <a:ln/>
        </p:spPr>
        <p:txBody>
          <a:bodyPr wrap="square" lIns="0" tIns="0" rIns="0" bIns="0" rtlCol="0" anchor="t"/>
          <a:lstStyle/>
          <a:p>
            <a:pPr indent="0" marL="0">
              <a:buNone/>
            </a:pPr>
            <a:r>
              <a:rPr lang="en-US" sz="1050" dirty="0">
                <a:solidFill>
                  <a:schemeClr val="accent6"/>
                </a:solidFill>
              </a:rPr>
              <a:t>Data Domains</a:t>
            </a:r>
            <a:endParaRPr lang="en-US" sz="1050" dirty="0"/>
          </a:p>
        </p:txBody>
      </p:sp>
      <p:sp>
        <p:nvSpPr>
          <p:cNvPr id="29" name="text"/>
          <p:cNvSpPr txBox="1"/>
          <p:nvPr/>
        </p:nvSpPr>
        <p:spPr>
          <a:xfrm>
            <a:off x="7726680" y="2377440"/>
            <a:ext cx="3931920" cy="502920"/>
          </a:xfrm>
          <a:prstGeom prst="rect">
            <a:avLst/>
          </a:prstGeom>
          <a:noFill/>
          <a:ln/>
        </p:spPr>
        <p:txBody>
          <a:bodyPr wrap="square" lIns="0" tIns="0" rIns="0" bIns="0" rtlCol="0" anchor="t"/>
          <a:lstStyle/>
          <a:p>
            <a:pPr indent="0" marL="0">
              <a:buNone/>
            </a:pPr>
            <a:r>
              <a:rPr lang="en-US" sz="2800" b="1" dirty="0">
                <a:solidFill>
                  <a:schemeClr val="accent1"/>
                </a:solidFill>
              </a:rPr>
              <a:t>1,583</a:t>
            </a:r>
            <a:endParaRPr lang="en-US" sz="2800" dirty="0"/>
          </a:p>
        </p:txBody>
      </p:sp>
      <p:sp>
        <p:nvSpPr>
          <p:cNvPr id="30" name="text"/>
          <p:cNvSpPr txBox="1"/>
          <p:nvPr/>
        </p:nvSpPr>
        <p:spPr>
          <a:xfrm>
            <a:off x="7726680" y="2852928"/>
            <a:ext cx="3931920" cy="457200"/>
          </a:xfrm>
          <a:prstGeom prst="rect">
            <a:avLst/>
          </a:prstGeom>
          <a:noFill/>
          <a:ln/>
        </p:spPr>
        <p:txBody>
          <a:bodyPr wrap="square" lIns="0" tIns="0" rIns="0" bIns="0" rtlCol="0" anchor="t"/>
          <a:lstStyle/>
          <a:p>
            <a:pPr indent="0" marL="0">
              <a:buNone/>
            </a:pPr>
            <a:r>
              <a:rPr lang="en-US" sz="1050" dirty="0">
                <a:solidFill>
                  <a:schemeClr val="accent6"/>
                </a:solidFill>
              </a:rPr>
              <a:t>business objects</a:t>
            </a:r>
            <a:endParaRPr lang="en-US" sz="1050" dirty="0"/>
          </a:p>
        </p:txBody>
      </p:sp>
      <p:sp>
        <p:nvSpPr>
          <p:cNvPr id="31" name="text"/>
          <p:cNvSpPr txBox="1"/>
          <p:nvPr/>
        </p:nvSpPr>
        <p:spPr>
          <a:xfrm>
            <a:off x="7726680" y="3337560"/>
            <a:ext cx="3931920" cy="502920"/>
          </a:xfrm>
          <a:prstGeom prst="rect">
            <a:avLst/>
          </a:prstGeom>
          <a:noFill/>
          <a:ln/>
        </p:spPr>
        <p:txBody>
          <a:bodyPr wrap="square" lIns="0" tIns="0" rIns="0" bIns="0" rtlCol="0" anchor="t"/>
          <a:lstStyle/>
          <a:p>
            <a:pPr indent="0" marL="0">
              <a:buNone/>
            </a:pPr>
            <a:r>
              <a:rPr lang="en-US" sz="2800" b="1" dirty="0">
                <a:solidFill>
                  <a:schemeClr val="accent1"/>
                </a:solidFill>
              </a:rPr>
              <a:t>13,009</a:t>
            </a:r>
            <a:endParaRPr lang="en-US" sz="2800" dirty="0"/>
          </a:p>
        </p:txBody>
      </p:sp>
      <p:sp>
        <p:nvSpPr>
          <p:cNvPr id="32" name="text"/>
          <p:cNvSpPr txBox="1"/>
          <p:nvPr/>
        </p:nvSpPr>
        <p:spPr>
          <a:xfrm>
            <a:off x="7726680" y="3813048"/>
            <a:ext cx="3931920" cy="457200"/>
          </a:xfrm>
          <a:prstGeom prst="rect">
            <a:avLst/>
          </a:prstGeom>
          <a:noFill/>
          <a:ln/>
        </p:spPr>
        <p:txBody>
          <a:bodyPr wrap="square" lIns="0" tIns="0" rIns="0" bIns="0" rtlCol="0" anchor="t"/>
          <a:lstStyle/>
          <a:p>
            <a:pPr indent="0" marL="0">
              <a:buNone/>
            </a:pPr>
            <a:r>
              <a:rPr lang="en-US" sz="1050" dirty="0">
                <a:solidFill>
                  <a:schemeClr val="accent6"/>
                </a:solidFill>
              </a:rPr>
              <a:t>attributes, each with one definition and one owner</a:t>
            </a:r>
            <a:endParaRPr lang="en-US" sz="1050" dirty="0"/>
          </a:p>
        </p:txBody>
      </p:sp>
      <p:sp>
        <p:nvSpPr>
          <p:cNvPr id="33" name="text"/>
          <p:cNvSpPr txBox="1"/>
          <p:nvPr/>
        </p:nvSpPr>
        <p:spPr>
          <a:xfrm>
            <a:off x="7726680" y="4297680"/>
            <a:ext cx="3931920" cy="502920"/>
          </a:xfrm>
          <a:prstGeom prst="rect">
            <a:avLst/>
          </a:prstGeom>
          <a:noFill/>
          <a:ln/>
        </p:spPr>
        <p:txBody>
          <a:bodyPr wrap="square" lIns="0" tIns="0" rIns="0" bIns="0" rtlCol="0" anchor="t"/>
          <a:lstStyle/>
          <a:p>
            <a:pPr indent="0" marL="0">
              <a:buNone/>
            </a:pPr>
            <a:r>
              <a:rPr lang="en-US" sz="2800" b="1" dirty="0">
                <a:solidFill>
                  <a:schemeClr val="accent1"/>
                </a:solidFill>
              </a:rPr>
              <a:t>4,268</a:t>
            </a:r>
            <a:endParaRPr lang="en-US" sz="2800" dirty="0"/>
          </a:p>
        </p:txBody>
      </p:sp>
      <p:sp>
        <p:nvSpPr>
          <p:cNvPr id="34" name="text"/>
          <p:cNvSpPr txBox="1"/>
          <p:nvPr/>
        </p:nvSpPr>
        <p:spPr>
          <a:xfrm>
            <a:off x="7726680" y="4773168"/>
            <a:ext cx="3931920" cy="457200"/>
          </a:xfrm>
          <a:prstGeom prst="rect">
            <a:avLst/>
          </a:prstGeom>
          <a:noFill/>
          <a:ln/>
        </p:spPr>
        <p:txBody>
          <a:bodyPr wrap="square" lIns="0" tIns="0" rIns="0" bIns="0" rtlCol="0" anchor="t"/>
          <a:lstStyle/>
          <a:p>
            <a:pPr indent="0" marL="0">
              <a:buNone/>
            </a:pPr>
            <a:r>
              <a:rPr lang="en-US" sz="1050" dirty="0">
                <a:solidFill>
                  <a:schemeClr val="accent6"/>
                </a:solidFill>
              </a:rPr>
              <a:t>critical data elements</a:t>
            </a:r>
            <a:endParaRPr lang="en-US" sz="1050" dirty="0"/>
          </a:p>
        </p:txBody>
      </p:sp>
      <p:sp>
        <p:nvSpPr>
          <p:cNvPr id="35" name="text"/>
          <p:cNvSpPr txBox="1"/>
          <p:nvPr/>
        </p:nvSpPr>
        <p:spPr>
          <a:xfrm>
            <a:off x="7726680" y="5257800"/>
            <a:ext cx="3931920" cy="502920"/>
          </a:xfrm>
          <a:prstGeom prst="rect">
            <a:avLst/>
          </a:prstGeom>
          <a:noFill/>
          <a:ln/>
        </p:spPr>
        <p:txBody>
          <a:bodyPr wrap="square" lIns="0" tIns="0" rIns="0" bIns="0" rtlCol="0" anchor="t"/>
          <a:lstStyle/>
          <a:p>
            <a:pPr indent="0" marL="0">
              <a:buNone/>
            </a:pPr>
            <a:r>
              <a:rPr lang="en-US" sz="2200" b="1" dirty="0">
                <a:solidFill>
                  <a:schemeClr val="accent1"/>
                </a:solidFill>
              </a:rPr>
              <a:t>91 / 557 / 237</a:t>
            </a:r>
            <a:endParaRPr lang="en-US" sz="2200" dirty="0"/>
          </a:p>
        </p:txBody>
      </p:sp>
      <p:sp>
        <p:nvSpPr>
          <p:cNvPr id="36" name="text"/>
          <p:cNvSpPr txBox="1"/>
          <p:nvPr/>
        </p:nvSpPr>
        <p:spPr>
          <a:xfrm>
            <a:off x="7726680" y="5733288"/>
            <a:ext cx="3931920" cy="457200"/>
          </a:xfrm>
          <a:prstGeom prst="rect">
            <a:avLst/>
          </a:prstGeom>
          <a:noFill/>
          <a:ln/>
        </p:spPr>
        <p:txBody>
          <a:bodyPr wrap="square" lIns="0" tIns="0" rIns="0" bIns="0" rtlCol="0" anchor="t"/>
          <a:lstStyle/>
          <a:p>
            <a:pPr indent="0" marL="0">
              <a:buNone/>
            </a:pPr>
            <a:r>
              <a:rPr lang="en-US" sz="1050" dirty="0">
                <a:solidFill>
                  <a:schemeClr val="accent6"/>
                </a:solidFill>
              </a:rPr>
              <a:t>shared code lists / numbered decisions / resolved term conflicts</a:t>
            </a:r>
            <a:endParaRPr lang="en-US" sz="10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Why it has to be a taxonomy and not a glossary: a machine can compile it</a:t>
            </a:r>
            <a:endParaRPr lang="en-US" sz="2800" dirty="0"/>
          </a:p>
        </p:txBody>
      </p:sp>
      <p:sp>
        <p:nvSpPr>
          <p:cNvPr id="4" name="card"/>
          <p:cNvSpPr/>
          <p:nvPr/>
        </p:nvSpPr>
        <p:spPr>
          <a:xfrm>
            <a:off x="548640" y="1417320"/>
            <a:ext cx="3593592" cy="3429000"/>
          </a:xfrm>
          <a:prstGeom prst="roundRect">
            <a:avLst>
              <a:gd name="adj" fmla="val 2133"/>
            </a:avLst>
          </a:prstGeom>
          <a:solidFill>
            <a:schemeClr val="bg2"/>
          </a:solidFill>
          <a:ln w="12700">
            <a:solidFill>
              <a:schemeClr val="bg2"/>
            </a:solidFill>
            <a:prstDash val="solid"/>
          </a:ln>
        </p:spPr>
      </p:sp>
      <p:sp>
        <p:nvSpPr>
          <p:cNvPr id="5" name="panel"/>
          <p:cNvSpPr/>
          <p:nvPr/>
        </p:nvSpPr>
        <p:spPr>
          <a:xfrm>
            <a:off x="548640" y="1417320"/>
            <a:ext cx="3593592" cy="777240"/>
          </a:xfrm>
          <a:prstGeom prst="rect">
            <a:avLst/>
          </a:prstGeom>
          <a:solidFill>
            <a:schemeClr val="accent1"/>
          </a:solidFill>
          <a:ln w="12700">
            <a:solidFill>
              <a:schemeClr val="accent1"/>
            </a:solidFill>
            <a:prstDash val="solid"/>
          </a:ln>
        </p:spPr>
      </p:sp>
      <p:sp>
        <p:nvSpPr>
          <p:cNvPr id="6" name="text"/>
          <p:cNvSpPr txBox="1"/>
          <p:nvPr/>
        </p:nvSpPr>
        <p:spPr>
          <a:xfrm>
            <a:off x="749808" y="1527048"/>
            <a:ext cx="3191256" cy="566928"/>
          </a:xfrm>
          <a:prstGeom prst="rect">
            <a:avLst/>
          </a:prstGeom>
          <a:noFill/>
          <a:ln/>
        </p:spPr>
        <p:txBody>
          <a:bodyPr wrap="square" lIns="0" tIns="0" rIns="0" bIns="0" rtlCol="0" anchor="ctr"/>
          <a:lstStyle/>
          <a:p>
            <a:pPr indent="0" marL="0">
              <a:buNone/>
            </a:pPr>
            <a:r>
              <a:rPr lang="en-US" sz="1700" b="1" dirty="0">
                <a:solidFill>
                  <a:schemeClr val="bg1"/>
                </a:solidFill>
              </a:rPr>
              <a:t>Stated grain and keys</a:t>
            </a:r>
            <a:endParaRPr lang="en-US" sz="1700" dirty="0"/>
          </a:p>
        </p:txBody>
      </p:sp>
      <p:sp>
        <p:nvSpPr>
          <p:cNvPr id="7" name="text"/>
          <p:cNvSpPr txBox="1"/>
          <p:nvPr/>
        </p:nvSpPr>
        <p:spPr>
          <a:xfrm>
            <a:off x="749808" y="2331720"/>
            <a:ext cx="3191256" cy="1325880"/>
          </a:xfrm>
          <a:prstGeom prst="rect">
            <a:avLst/>
          </a:prstGeom>
          <a:noFill/>
          <a:ln/>
        </p:spPr>
        <p:txBody>
          <a:bodyPr wrap="square" lIns="0" tIns="0" rIns="0" bIns="0" rtlCol="0" anchor="t"/>
          <a:lstStyle/>
          <a:p>
            <a:pPr indent="0" marL="0">
              <a:buNone/>
            </a:pPr>
            <a:r>
              <a:rPr lang="en-US" sz="1150" dirty="0">
                <a:solidFill>
                  <a:schemeClr val="tx1"/>
                </a:solidFill>
              </a:rPr>
              <a:t>Every object says what one row is and how it is identified. So a conformed table, its primary key and its data-quality tests can be generated for it, not designed by hand.</a:t>
            </a:r>
            <a:endParaRPr lang="en-US" sz="1150" dirty="0"/>
          </a:p>
        </p:txBody>
      </p:sp>
      <p:sp>
        <p:nvSpPr>
          <p:cNvPr id="8" name="text"/>
          <p:cNvSpPr txBox="1"/>
          <p:nvPr/>
        </p:nvSpPr>
        <p:spPr>
          <a:xfrm>
            <a:off x="749808" y="3703320"/>
            <a:ext cx="3191256" cy="1051560"/>
          </a:xfrm>
          <a:prstGeom prst="rect">
            <a:avLst/>
          </a:prstGeom>
          <a:noFill/>
          <a:ln/>
        </p:spPr>
        <p:txBody>
          <a:bodyPr wrap="square" lIns="0" tIns="0" rIns="0" bIns="0" rtlCol="0" anchor="t"/>
          <a:lstStyle/>
          <a:p>
            <a:pPr indent="0" marL="0">
              <a:buNone/>
            </a:pPr>
            <a:r>
              <a:rPr lang="en-US" sz="1050" i="1" dirty="0">
                <a:solidFill>
                  <a:schemeClr val="accent1"/>
                </a:solidFill>
              </a:rPr>
              <a:t>In the demo: one conformed table per logical entity; 722 tests generated from the attributes' flags, code lists and references</a:t>
            </a:r>
            <a:endParaRPr lang="en-US" sz="1050" dirty="0"/>
          </a:p>
        </p:txBody>
      </p:sp>
      <p:sp>
        <p:nvSpPr>
          <p:cNvPr id="9" name="card"/>
          <p:cNvSpPr/>
          <p:nvPr/>
        </p:nvSpPr>
        <p:spPr>
          <a:xfrm>
            <a:off x="4297680" y="1417320"/>
            <a:ext cx="3593592" cy="3429000"/>
          </a:xfrm>
          <a:prstGeom prst="roundRect">
            <a:avLst>
              <a:gd name="adj" fmla="val 2133"/>
            </a:avLst>
          </a:prstGeom>
          <a:solidFill>
            <a:schemeClr val="bg2"/>
          </a:solidFill>
          <a:ln w="12700">
            <a:solidFill>
              <a:schemeClr val="bg2"/>
            </a:solidFill>
            <a:prstDash val="solid"/>
          </a:ln>
        </p:spPr>
      </p:sp>
      <p:sp>
        <p:nvSpPr>
          <p:cNvPr id="10" name="panel"/>
          <p:cNvSpPr/>
          <p:nvPr/>
        </p:nvSpPr>
        <p:spPr>
          <a:xfrm>
            <a:off x="4297680" y="1417320"/>
            <a:ext cx="3593592" cy="777240"/>
          </a:xfrm>
          <a:prstGeom prst="rect">
            <a:avLst/>
          </a:prstGeom>
          <a:solidFill>
            <a:schemeClr val="accent2"/>
          </a:solidFill>
          <a:ln w="12700">
            <a:solidFill>
              <a:schemeClr val="accent2"/>
            </a:solidFill>
            <a:prstDash val="solid"/>
          </a:ln>
        </p:spPr>
      </p:sp>
      <p:sp>
        <p:nvSpPr>
          <p:cNvPr id="11" name="text"/>
          <p:cNvSpPr txBox="1"/>
          <p:nvPr/>
        </p:nvSpPr>
        <p:spPr>
          <a:xfrm>
            <a:off x="4498848" y="1527048"/>
            <a:ext cx="3191256" cy="566928"/>
          </a:xfrm>
          <a:prstGeom prst="rect">
            <a:avLst/>
          </a:prstGeom>
          <a:noFill/>
          <a:ln/>
        </p:spPr>
        <p:txBody>
          <a:bodyPr wrap="square" lIns="0" tIns="0" rIns="0" bIns="0" rtlCol="0" anchor="ctr"/>
          <a:lstStyle/>
          <a:p>
            <a:pPr indent="0" marL="0">
              <a:buNone/>
            </a:pPr>
            <a:r>
              <a:rPr lang="en-US" sz="1700" b="1" dirty="0">
                <a:solidFill>
                  <a:schemeClr val="bg1"/>
                </a:solidFill>
              </a:rPr>
              <a:t>One owner per concept</a:t>
            </a:r>
            <a:endParaRPr lang="en-US" sz="1700" dirty="0"/>
          </a:p>
        </p:txBody>
      </p:sp>
      <p:sp>
        <p:nvSpPr>
          <p:cNvPr id="12" name="text"/>
          <p:cNvSpPr txBox="1"/>
          <p:nvPr/>
        </p:nvSpPr>
        <p:spPr>
          <a:xfrm>
            <a:off x="4498848" y="2331720"/>
            <a:ext cx="3191256" cy="1325880"/>
          </a:xfrm>
          <a:prstGeom prst="rect">
            <a:avLst/>
          </a:prstGeom>
          <a:noFill/>
          <a:ln/>
        </p:spPr>
        <p:txBody>
          <a:bodyPr wrap="square" lIns="0" tIns="0" rIns="0" bIns="0" rtlCol="0" anchor="t"/>
          <a:lstStyle/>
          <a:p>
            <a:pPr indent="0" marL="0">
              <a:buNone/>
            </a:pPr>
            <a:r>
              <a:rPr lang="en-US" sz="1150" dirty="0">
                <a:solidFill>
                  <a:schemeClr val="tx1"/>
                </a:solidFill>
              </a:rPr>
              <a:t>Every attribute is mastered by exactly one domain and owned by one role. So a missing or ambiguous concept has an address: a gap for a named owner, never a field invented in a report.</a:t>
            </a:r>
            <a:endParaRPr lang="en-US" sz="1150" dirty="0"/>
          </a:p>
        </p:txBody>
      </p:sp>
      <p:sp>
        <p:nvSpPr>
          <p:cNvPr id="13" name="text"/>
          <p:cNvSpPr txBox="1"/>
          <p:nvPr/>
        </p:nvSpPr>
        <p:spPr>
          <a:xfrm>
            <a:off x="4498848" y="3703320"/>
            <a:ext cx="3191256" cy="1051560"/>
          </a:xfrm>
          <a:prstGeom prst="rect">
            <a:avLst/>
          </a:prstGeom>
          <a:noFill/>
          <a:ln/>
        </p:spPr>
        <p:txBody>
          <a:bodyPr wrap="square" lIns="0" tIns="0" rIns="0" bIns="0" rtlCol="0" anchor="t"/>
          <a:lstStyle/>
          <a:p>
            <a:pPr indent="0" marL="0">
              <a:buNone/>
            </a:pPr>
            <a:r>
              <a:rPr lang="en-US" sz="1050" i="1" dirty="0">
                <a:solidFill>
                  <a:schemeClr val="accent2"/>
                </a:solidFill>
              </a:rPr>
              <a:t>In the demo: 118 gaps named; 22 declined questions, each carrying its reason and, where one exists, its gap id</a:t>
            </a:r>
            <a:endParaRPr lang="en-US" sz="1050" dirty="0"/>
          </a:p>
        </p:txBody>
      </p:sp>
      <p:sp>
        <p:nvSpPr>
          <p:cNvPr id="14" name="card"/>
          <p:cNvSpPr/>
          <p:nvPr/>
        </p:nvSpPr>
        <p:spPr>
          <a:xfrm>
            <a:off x="8046720" y="1417320"/>
            <a:ext cx="3593592" cy="3429000"/>
          </a:xfrm>
          <a:prstGeom prst="roundRect">
            <a:avLst>
              <a:gd name="adj" fmla="val 2133"/>
            </a:avLst>
          </a:prstGeom>
          <a:solidFill>
            <a:schemeClr val="bg2"/>
          </a:solidFill>
          <a:ln w="12700">
            <a:solidFill>
              <a:schemeClr val="bg2"/>
            </a:solidFill>
            <a:prstDash val="solid"/>
          </a:ln>
        </p:spPr>
      </p:sp>
      <p:sp>
        <p:nvSpPr>
          <p:cNvPr id="15" name="panel"/>
          <p:cNvSpPr/>
          <p:nvPr/>
        </p:nvSpPr>
        <p:spPr>
          <a:xfrm>
            <a:off x="8046720" y="1417320"/>
            <a:ext cx="3593592" cy="777240"/>
          </a:xfrm>
          <a:prstGeom prst="rect">
            <a:avLst/>
          </a:prstGeom>
          <a:solidFill>
            <a:schemeClr val="accent5"/>
          </a:solidFill>
          <a:ln w="12700">
            <a:solidFill>
              <a:schemeClr val="accent5"/>
            </a:solidFill>
            <a:prstDash val="solid"/>
          </a:ln>
        </p:spPr>
      </p:sp>
      <p:sp>
        <p:nvSpPr>
          <p:cNvPr id="16" name="text"/>
          <p:cNvSpPr txBox="1"/>
          <p:nvPr/>
        </p:nvSpPr>
        <p:spPr>
          <a:xfrm>
            <a:off x="8247888" y="1527048"/>
            <a:ext cx="3191256" cy="566928"/>
          </a:xfrm>
          <a:prstGeom prst="rect">
            <a:avLst/>
          </a:prstGeom>
          <a:noFill/>
          <a:ln/>
        </p:spPr>
        <p:txBody>
          <a:bodyPr wrap="square" lIns="0" tIns="0" rIns="0" bIns="0" rtlCol="0" anchor="ctr"/>
          <a:lstStyle/>
          <a:p>
            <a:pPr indent="0" marL="0">
              <a:buNone/>
            </a:pPr>
            <a:r>
              <a:rPr lang="en-US" sz="1700" b="1" dirty="0">
                <a:solidFill>
                  <a:schemeClr val="bg1"/>
                </a:solidFill>
              </a:rPr>
              <a:t>Built and validated like code</a:t>
            </a:r>
            <a:endParaRPr lang="en-US" sz="1700" dirty="0"/>
          </a:p>
        </p:txBody>
      </p:sp>
      <p:sp>
        <p:nvSpPr>
          <p:cNvPr id="17" name="text"/>
          <p:cNvSpPr txBox="1"/>
          <p:nvPr/>
        </p:nvSpPr>
        <p:spPr>
          <a:xfrm>
            <a:off x="8247888" y="2331720"/>
            <a:ext cx="3191256" cy="1325880"/>
          </a:xfrm>
          <a:prstGeom prst="rect">
            <a:avLst/>
          </a:prstGeom>
          <a:noFill/>
          <a:ln/>
        </p:spPr>
        <p:txBody>
          <a:bodyPr wrap="square" lIns="0" tIns="0" rIns="0" bIns="0" rtlCol="0" anchor="t"/>
          <a:lstStyle/>
          <a:p>
            <a:pPr indent="0" marL="0">
              <a:buNone/>
            </a:pPr>
            <a:r>
              <a:rPr lang="en-US" sz="1150" dirty="0">
                <a:solidFill>
                  <a:schemeClr val="tx1"/>
                </a:solidFill>
              </a:rPr>
              <a:t>Each domain is a module; workbooks, explorer and catalogs are generated. References, code lists, grain and ownership are checked before anything is written.</a:t>
            </a:r>
            <a:endParaRPr lang="en-US" sz="1150" dirty="0"/>
          </a:p>
        </p:txBody>
      </p:sp>
      <p:sp>
        <p:nvSpPr>
          <p:cNvPr id="18" name="text"/>
          <p:cNvSpPr txBox="1"/>
          <p:nvPr/>
        </p:nvSpPr>
        <p:spPr>
          <a:xfrm>
            <a:off x="8247888" y="3703320"/>
            <a:ext cx="3191256" cy="1051560"/>
          </a:xfrm>
          <a:prstGeom prst="rect">
            <a:avLst/>
          </a:prstGeom>
          <a:noFill/>
          <a:ln/>
        </p:spPr>
        <p:txBody>
          <a:bodyPr wrap="square" lIns="0" tIns="0" rIns="0" bIns="0" rtlCol="0" anchor="t"/>
          <a:lstStyle/>
          <a:p>
            <a:pPr indent="0" marL="0">
              <a:buNone/>
            </a:pPr>
            <a:r>
              <a:rPr lang="en-US" sz="1050" i="1" dirty="0">
                <a:solidFill>
                  <a:schemeClr val="accent5"/>
                </a:solidFill>
              </a:rPr>
              <a:t>In the demo: the mapping registry is checked against the taxonomy; the activation adds to the model and the baseline check passes unchanged</a:t>
            </a:r>
            <a:endParaRPr lang="en-US" sz="1050" dirty="0"/>
          </a:p>
        </p:txBody>
      </p:sp>
      <p:sp>
        <p:nvSpPr>
          <p:cNvPr id="19" name="card"/>
          <p:cNvSpPr/>
          <p:nvPr/>
        </p:nvSpPr>
        <p:spPr>
          <a:xfrm>
            <a:off x="548640" y="5074920"/>
            <a:ext cx="11094415" cy="914400"/>
          </a:xfrm>
          <a:prstGeom prst="roundRect">
            <a:avLst>
              <a:gd name="adj" fmla="val 8000"/>
            </a:avLst>
          </a:prstGeom>
          <a:solidFill>
            <a:schemeClr val="tx2"/>
          </a:solidFill>
          <a:ln w="12700">
            <a:solidFill>
              <a:schemeClr val="tx2"/>
            </a:solidFill>
            <a:prstDash val="solid"/>
          </a:ln>
        </p:spPr>
      </p:sp>
      <p:sp>
        <p:nvSpPr>
          <p:cNvPr id="20" name="text"/>
          <p:cNvSpPr txBox="1"/>
          <p:nvPr/>
        </p:nvSpPr>
        <p:spPr>
          <a:xfrm>
            <a:off x="822960" y="5202936"/>
            <a:ext cx="10545775" cy="658368"/>
          </a:xfrm>
          <a:prstGeom prst="rect">
            <a:avLst/>
          </a:prstGeom>
          <a:noFill/>
          <a:ln/>
        </p:spPr>
        <p:txBody>
          <a:bodyPr wrap="square" lIns="0" tIns="0" rIns="0" bIns="0" rtlCol="0" anchor="ctr"/>
          <a:lstStyle/>
          <a:p>
            <a:pPr indent="0" marL="0">
              <a:buNone/>
            </a:pPr>
            <a:r>
              <a:rPr lang="en-US" sz="1500" dirty="0">
                <a:solidFill>
                  <a:schemeClr val="bg1"/>
                </a:solidFill>
              </a:rPr>
              <a:t>The test: can a machine compile it into tables, tests, metrics and answers? If yes, it is a taxonomy. The demo is that test, run end to end.</a:t>
            </a:r>
            <a:endParaRPr lang="en-US" sz="15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148840"/>
            <a:ext cx="11094415" cy="457200"/>
          </a:xfrm>
          <a:prstGeom prst="rect">
            <a:avLst/>
          </a:prstGeom>
          <a:noFill/>
          <a:ln/>
        </p:spPr>
        <p:txBody>
          <a:bodyPr wrap="square" lIns="0" tIns="0" rIns="0" bIns="0" rtlCol="0"/>
          <a:lstStyle/>
          <a:p>
            <a:pPr indent="0" marL="0">
              <a:buNone/>
            </a:pPr>
            <a:r>
              <a:rPr lang="en-US" sz="1600" dirty="0">
                <a:solidFill>
                  <a:schemeClr val="bg2"/>
                </a:solidFill>
              </a:rPr>
              <a:t>PART 3</a:t>
            </a:r>
            <a:endParaRPr lang="en-US" sz="1600" dirty="0"/>
          </a:p>
        </p:txBody>
      </p:sp>
      <p:sp>
        <p:nvSpPr>
          <p:cNvPr id="3" name="Text 0"/>
          <p:cNvSpPr/>
          <p:nvPr>
            <p:ph idx="101" type="title" hasCustomPrompt="1"/>
          </p:nvPr>
        </p:nvSpPr>
        <p:spPr>
          <a:xfrm>
            <a:off x="548640" y="2606040"/>
            <a:ext cx="11094415" cy="1280160"/>
          </a:xfrm>
          <a:prstGeom prst="rect">
            <a:avLst/>
          </a:prstGeom>
          <a:noFill/>
          <a:ln/>
        </p:spPr>
        <p:txBody>
          <a:bodyPr wrap="square" lIns="0" tIns="0" rIns="0" bIns="0" rtlCol="0" anchor="t"/>
          <a:lstStyle/>
          <a:p>
            <a:pPr algn="l" indent="0" marL="0">
              <a:buNone/>
            </a:pPr>
            <a:r>
              <a:rPr lang="en-US" sz="4000" b="1" dirty="0">
                <a:solidFill>
                  <a:schemeClr val="bg1"/>
                </a:solidFill>
              </a:rPr>
              <a:t>From taxonomy to data products that manage themselves</a:t>
            </a:r>
            <a:endParaRPr lang="en-US" sz="4000" dirty="0"/>
          </a:p>
        </p:txBody>
      </p:sp>
      <p:sp>
        <p:nvSpPr>
          <p:cNvPr id="4" name="Text 0"/>
          <p:cNvSpPr/>
          <p:nvPr>
            <p:ph idx="102" type="body" hasCustomPrompt="1"/>
          </p:nvPr>
        </p:nvSpPr>
        <p:spPr>
          <a:xfrm>
            <a:off x="548640" y="4023360"/>
            <a:ext cx="8686800" cy="1463040"/>
          </a:xfrm>
          <a:prstGeom prst="rect">
            <a:avLst/>
          </a:prstGeom>
          <a:noFill/>
          <a:ln/>
        </p:spPr>
        <p:txBody>
          <a:bodyPr wrap="square" lIns="0" tIns="0" rIns="0" bIns="0" rtlCol="0" anchor="t"/>
          <a:lstStyle/>
          <a:p>
            <a:pPr indent="0" marL="0">
              <a:buNone/>
            </a:pPr>
            <a:r>
              <a:rPr lang="en-US" sz="1800" dirty="0">
                <a:solidFill>
                  <a:schemeClr val="bg2"/>
                </a:solidFill>
              </a:rPr>
              <a:t>Map a source to the taxonomy once. The data products, their tests, the semantic layer and the answers above it switch on without new definitions, and report what is enabled, partial and not started.</a:t>
            </a:r>
            <a:endParaRPr lang="en-US" sz="1800" dirty="0"/>
          </a:p>
        </p:txBody>
      </p:sp>
      <p:sp>
        <p:nvSpPr>
          <p:cNvPr id="5" name="chip"/>
          <p:cNvSpPr/>
          <p:nvPr/>
        </p:nvSpPr>
        <p:spPr>
          <a:xfrm>
            <a:off x="548640" y="1371600"/>
            <a:ext cx="384048" cy="384048"/>
          </a:xfrm>
          <a:prstGeom prst="ellipse">
            <a:avLst/>
          </a:prstGeom>
          <a:solidFill>
            <a:schemeClr val="accent2"/>
          </a:solidFill>
          <a:ln w="12700">
            <a:solidFill>
              <a:schemeClr val="accent2"/>
            </a:solidFill>
            <a:prstDash val="solid"/>
          </a:ln>
        </p:spPr>
      </p:sp>
      <p:sp>
        <p:nvSpPr>
          <p:cNvPr id="6" name="text"/>
          <p:cNvSpPr txBox="1"/>
          <p:nvPr/>
        </p:nvSpPr>
        <p:spPr>
          <a:xfrm>
            <a:off x="548640" y="13716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7" name="text"/>
          <p:cNvSpPr txBox="1"/>
          <p:nvPr/>
        </p:nvSpPr>
        <p:spPr>
          <a:xfrm>
            <a:off x="1042416" y="1353312"/>
            <a:ext cx="3657600" cy="420624"/>
          </a:xfrm>
          <a:prstGeom prst="rect">
            <a:avLst/>
          </a:prstGeom>
          <a:noFill/>
          <a:ln/>
        </p:spPr>
        <p:txBody>
          <a:bodyPr wrap="square" lIns="0" tIns="0" rIns="0" bIns="0" rtlCol="0" anchor="ctr"/>
          <a:lstStyle/>
          <a:p>
            <a:pPr indent="0" marL="0">
              <a:buNone/>
            </a:pPr>
            <a:r>
              <a:rPr lang="en-US" sz="1400" b="1" dirty="0">
                <a:solidFill>
                  <a:schemeClr val="bg1"/>
                </a:solidFill>
              </a:rPr>
              <a:t>Map</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The operating model: meaning moves down, data moves right</a:t>
            </a:r>
            <a:endParaRPr lang="en-US" sz="2800" dirty="0"/>
          </a:p>
        </p:txBody>
      </p:sp>
      <p:sp>
        <p:nvSpPr>
          <p:cNvPr id="4" name="card"/>
          <p:cNvSpPr/>
          <p:nvPr/>
        </p:nvSpPr>
        <p:spPr>
          <a:xfrm>
            <a:off x="548640" y="1417320"/>
            <a:ext cx="11094415" cy="777240"/>
          </a:xfrm>
          <a:prstGeom prst="roundRect">
            <a:avLst>
              <a:gd name="adj" fmla="val 9412"/>
            </a:avLst>
          </a:prstGeom>
          <a:solidFill>
            <a:schemeClr val="accent1"/>
          </a:solidFill>
          <a:ln w="12700">
            <a:solidFill>
              <a:schemeClr val="accent1"/>
            </a:solidFill>
            <a:prstDash val="solid"/>
          </a:ln>
        </p:spPr>
      </p:sp>
      <p:sp>
        <p:nvSpPr>
          <p:cNvPr id="5" name="text"/>
          <p:cNvSpPr txBox="1"/>
          <p:nvPr/>
        </p:nvSpPr>
        <p:spPr>
          <a:xfrm>
            <a:off x="777240" y="1490472"/>
            <a:ext cx="5486400" cy="320040"/>
          </a:xfrm>
          <a:prstGeom prst="rect">
            <a:avLst/>
          </a:prstGeom>
          <a:noFill/>
          <a:ln/>
        </p:spPr>
        <p:txBody>
          <a:bodyPr wrap="square" lIns="0" tIns="0" rIns="0" bIns="0" rtlCol="0" anchor="t"/>
          <a:lstStyle/>
          <a:p>
            <a:pPr indent="0" marL="0">
              <a:buNone/>
            </a:pPr>
            <a:r>
              <a:rPr lang="en-US" sz="1400" b="1" dirty="0">
                <a:solidFill>
                  <a:schemeClr val="bg1"/>
                </a:solidFill>
              </a:rPr>
              <a:t>Enterprise Data Taxonomy: meaning and accountability</a:t>
            </a:r>
            <a:endParaRPr lang="en-US" sz="1400" dirty="0"/>
          </a:p>
        </p:txBody>
      </p:sp>
      <p:sp>
        <p:nvSpPr>
          <p:cNvPr id="6" name="text"/>
          <p:cNvSpPr txBox="1"/>
          <p:nvPr/>
        </p:nvSpPr>
        <p:spPr>
          <a:xfrm>
            <a:off x="777240" y="1810512"/>
            <a:ext cx="10637215" cy="320040"/>
          </a:xfrm>
          <a:prstGeom prst="rect">
            <a:avLst/>
          </a:prstGeom>
          <a:noFill/>
          <a:ln/>
        </p:spPr>
        <p:txBody>
          <a:bodyPr wrap="square" lIns="0" tIns="0" rIns="0" bIns="0" rtlCol="0" anchor="t"/>
          <a:lstStyle/>
          <a:p>
            <a:pPr indent="0" marL="0">
              <a:buNone/>
            </a:pPr>
            <a:r>
              <a:rPr lang="en-US" sz="1100" dirty="0">
                <a:solidFill>
                  <a:schemeClr val="bg2"/>
                </a:solidFill>
              </a:rPr>
              <a:t>Data Domain  &gt;  Family  &gt;  Object  &gt;  Attribute, each with an owner; critical data elements; shared code lists; certified measure definitions</a:t>
            </a:r>
            <a:endParaRPr lang="en-US" sz="1100" dirty="0"/>
          </a:p>
        </p:txBody>
      </p:sp>
      <p:sp>
        <p:nvSpPr>
          <p:cNvPr id="7" name="arrow"/>
          <p:cNvSpPr/>
          <p:nvPr/>
        </p:nvSpPr>
        <p:spPr>
          <a:xfrm>
            <a:off x="2468880" y="2240280"/>
            <a:ext cx="274320" cy="411480"/>
          </a:xfrm>
          <a:prstGeom prst="downArrow">
            <a:avLst/>
          </a:prstGeom>
          <a:solidFill>
            <a:schemeClr val="accent1"/>
          </a:solidFill>
          <a:ln w="12700">
            <a:solidFill>
              <a:schemeClr val="accent1"/>
            </a:solidFill>
            <a:prstDash val="solid"/>
          </a:ln>
        </p:spPr>
      </p:sp>
      <p:sp>
        <p:nvSpPr>
          <p:cNvPr id="8" name="text"/>
          <p:cNvSpPr txBox="1"/>
          <p:nvPr/>
        </p:nvSpPr>
        <p:spPr>
          <a:xfrm>
            <a:off x="1508760" y="2670048"/>
            <a:ext cx="2194560" cy="274320"/>
          </a:xfrm>
          <a:prstGeom prst="rect">
            <a:avLst/>
          </a:prstGeom>
          <a:noFill/>
          <a:ln/>
        </p:spPr>
        <p:txBody>
          <a:bodyPr wrap="square" lIns="0" tIns="0" rIns="0" bIns="0" rtlCol="0" anchor="t"/>
          <a:lstStyle/>
          <a:p>
            <a:pPr algn="ctr" indent="0" marL="0">
              <a:buNone/>
            </a:pPr>
            <a:r>
              <a:rPr lang="en-US" sz="950" i="1" dirty="0">
                <a:solidFill>
                  <a:schemeClr val="accent1"/>
                </a:solidFill>
              </a:rPr>
              <a:t>mapped to sources</a:t>
            </a:r>
            <a:endParaRPr lang="en-US" sz="950" dirty="0"/>
          </a:p>
        </p:txBody>
      </p:sp>
      <p:sp>
        <p:nvSpPr>
          <p:cNvPr id="9" name="arrow"/>
          <p:cNvSpPr/>
          <p:nvPr/>
        </p:nvSpPr>
        <p:spPr>
          <a:xfrm>
            <a:off x="4846320" y="2240280"/>
            <a:ext cx="274320" cy="411480"/>
          </a:xfrm>
          <a:prstGeom prst="downArrow">
            <a:avLst/>
          </a:prstGeom>
          <a:solidFill>
            <a:schemeClr val="accent1"/>
          </a:solidFill>
          <a:ln w="12700">
            <a:solidFill>
              <a:schemeClr val="accent1"/>
            </a:solidFill>
            <a:prstDash val="solid"/>
          </a:ln>
        </p:spPr>
      </p:sp>
      <p:sp>
        <p:nvSpPr>
          <p:cNvPr id="10" name="text"/>
          <p:cNvSpPr txBox="1"/>
          <p:nvPr/>
        </p:nvSpPr>
        <p:spPr>
          <a:xfrm>
            <a:off x="3886200" y="2670048"/>
            <a:ext cx="2194560" cy="274320"/>
          </a:xfrm>
          <a:prstGeom prst="rect">
            <a:avLst/>
          </a:prstGeom>
          <a:noFill/>
          <a:ln/>
        </p:spPr>
        <p:txBody>
          <a:bodyPr wrap="square" lIns="0" tIns="0" rIns="0" bIns="0" rtlCol="0" anchor="t"/>
          <a:lstStyle/>
          <a:p>
            <a:pPr algn="ctr" indent="0" marL="0">
              <a:buNone/>
            </a:pPr>
            <a:r>
              <a:rPr lang="en-US" sz="950" i="1" dirty="0">
                <a:solidFill>
                  <a:schemeClr val="accent1"/>
                </a:solidFill>
              </a:rPr>
              <a:t>traced to definitions</a:t>
            </a:r>
            <a:endParaRPr lang="en-US" sz="950" dirty="0"/>
          </a:p>
        </p:txBody>
      </p:sp>
      <p:sp>
        <p:nvSpPr>
          <p:cNvPr id="11" name="arrow"/>
          <p:cNvSpPr/>
          <p:nvPr/>
        </p:nvSpPr>
        <p:spPr>
          <a:xfrm>
            <a:off x="7223760" y="2240280"/>
            <a:ext cx="274320" cy="411480"/>
          </a:xfrm>
          <a:prstGeom prst="downArrow">
            <a:avLst/>
          </a:prstGeom>
          <a:solidFill>
            <a:schemeClr val="accent1"/>
          </a:solidFill>
          <a:ln w="12700">
            <a:solidFill>
              <a:schemeClr val="accent1"/>
            </a:solidFill>
            <a:prstDash val="solid"/>
          </a:ln>
        </p:spPr>
      </p:sp>
      <p:sp>
        <p:nvSpPr>
          <p:cNvPr id="12" name="text"/>
          <p:cNvSpPr txBox="1"/>
          <p:nvPr/>
        </p:nvSpPr>
        <p:spPr>
          <a:xfrm>
            <a:off x="6263640" y="2670048"/>
            <a:ext cx="2194560" cy="274320"/>
          </a:xfrm>
          <a:prstGeom prst="rect">
            <a:avLst/>
          </a:prstGeom>
          <a:noFill/>
          <a:ln/>
        </p:spPr>
        <p:txBody>
          <a:bodyPr wrap="square" lIns="0" tIns="0" rIns="0" bIns="0" rtlCol="0" anchor="t"/>
          <a:lstStyle/>
          <a:p>
            <a:pPr algn="ctr" indent="0" marL="0">
              <a:buNone/>
            </a:pPr>
            <a:r>
              <a:rPr lang="en-US" sz="950" i="1" dirty="0">
                <a:solidFill>
                  <a:schemeClr val="accent1"/>
                </a:solidFill>
              </a:rPr>
              <a:t>metrics defined once</a:t>
            </a:r>
            <a:endParaRPr lang="en-US" sz="950" dirty="0"/>
          </a:p>
        </p:txBody>
      </p:sp>
      <p:sp>
        <p:nvSpPr>
          <p:cNvPr id="13" name="arrow"/>
          <p:cNvSpPr/>
          <p:nvPr/>
        </p:nvSpPr>
        <p:spPr>
          <a:xfrm>
            <a:off x="9601200" y="2240280"/>
            <a:ext cx="274320" cy="411480"/>
          </a:xfrm>
          <a:prstGeom prst="downArrow">
            <a:avLst/>
          </a:prstGeom>
          <a:solidFill>
            <a:schemeClr val="accent1"/>
          </a:solidFill>
          <a:ln w="12700">
            <a:solidFill>
              <a:schemeClr val="accent1"/>
            </a:solidFill>
            <a:prstDash val="solid"/>
          </a:ln>
        </p:spPr>
      </p:sp>
      <p:sp>
        <p:nvSpPr>
          <p:cNvPr id="14" name="text"/>
          <p:cNvSpPr txBox="1"/>
          <p:nvPr/>
        </p:nvSpPr>
        <p:spPr>
          <a:xfrm>
            <a:off x="8641080" y="2670048"/>
            <a:ext cx="2194560" cy="274320"/>
          </a:xfrm>
          <a:prstGeom prst="rect">
            <a:avLst/>
          </a:prstGeom>
          <a:noFill/>
          <a:ln/>
        </p:spPr>
        <p:txBody>
          <a:bodyPr wrap="square" lIns="0" tIns="0" rIns="0" bIns="0" rtlCol="0" anchor="t"/>
          <a:lstStyle/>
          <a:p>
            <a:pPr algn="ctr" indent="0" marL="0">
              <a:buNone/>
            </a:pPr>
            <a:r>
              <a:rPr lang="en-US" sz="950" i="1" dirty="0">
                <a:solidFill>
                  <a:schemeClr val="accent1"/>
                </a:solidFill>
              </a:rPr>
              <a:t>gaps sent back</a:t>
            </a:r>
            <a:endParaRPr lang="en-US" sz="950" dirty="0"/>
          </a:p>
        </p:txBody>
      </p:sp>
      <p:sp>
        <p:nvSpPr>
          <p:cNvPr id="15" name="card"/>
          <p:cNvSpPr/>
          <p:nvPr/>
        </p:nvSpPr>
        <p:spPr>
          <a:xfrm>
            <a:off x="548640" y="3017520"/>
            <a:ext cx="2514600" cy="2057400"/>
          </a:xfrm>
          <a:prstGeom prst="roundRect">
            <a:avLst>
              <a:gd name="adj" fmla="val 3556"/>
            </a:avLst>
          </a:prstGeom>
          <a:solidFill>
            <a:schemeClr val="bg2"/>
          </a:solidFill>
          <a:ln w="12700">
            <a:solidFill>
              <a:schemeClr val="bg2"/>
            </a:solidFill>
            <a:prstDash val="solid"/>
          </a:ln>
        </p:spPr>
      </p:sp>
      <p:sp>
        <p:nvSpPr>
          <p:cNvPr id="16" name="panel"/>
          <p:cNvSpPr/>
          <p:nvPr/>
        </p:nvSpPr>
        <p:spPr>
          <a:xfrm>
            <a:off x="548640" y="3017520"/>
            <a:ext cx="2514600" cy="502920"/>
          </a:xfrm>
          <a:prstGeom prst="rect">
            <a:avLst/>
          </a:prstGeom>
          <a:solidFill>
            <a:schemeClr val="accent6"/>
          </a:solidFill>
          <a:ln w="12700">
            <a:solidFill>
              <a:schemeClr val="accent6"/>
            </a:solidFill>
            <a:prstDash val="solid"/>
          </a:ln>
        </p:spPr>
      </p:sp>
      <p:sp>
        <p:nvSpPr>
          <p:cNvPr id="17" name="text"/>
          <p:cNvSpPr txBox="1"/>
          <p:nvPr/>
        </p:nvSpPr>
        <p:spPr>
          <a:xfrm>
            <a:off x="713232" y="3090672"/>
            <a:ext cx="2185416" cy="365760"/>
          </a:xfrm>
          <a:prstGeom prst="rect">
            <a:avLst/>
          </a:prstGeom>
          <a:noFill/>
          <a:ln/>
        </p:spPr>
        <p:txBody>
          <a:bodyPr wrap="square" lIns="0" tIns="0" rIns="0" bIns="0" rtlCol="0" anchor="ctr"/>
          <a:lstStyle/>
          <a:p>
            <a:pPr indent="0" marL="0">
              <a:buNone/>
            </a:pPr>
            <a:r>
              <a:rPr lang="en-US" sz="1400" b="1" dirty="0">
                <a:solidFill>
                  <a:schemeClr val="bg1"/>
                </a:solidFill>
              </a:rPr>
              <a:t>Source systems</a:t>
            </a:r>
            <a:endParaRPr lang="en-US" sz="1400" dirty="0"/>
          </a:p>
        </p:txBody>
      </p:sp>
      <p:sp>
        <p:nvSpPr>
          <p:cNvPr id="18" name="text"/>
          <p:cNvSpPr txBox="1"/>
          <p:nvPr/>
        </p:nvSpPr>
        <p:spPr>
          <a:xfrm>
            <a:off x="713232" y="3657600"/>
            <a:ext cx="2185416" cy="1325880"/>
          </a:xfrm>
          <a:prstGeom prst="rect">
            <a:avLst/>
          </a:prstGeom>
          <a:noFill/>
          <a:ln/>
        </p:spPr>
        <p:txBody>
          <a:bodyPr wrap="square" lIns="0" tIns="0" rIns="0" bIns="0" rtlCol="0" anchor="t"/>
          <a:lstStyle/>
          <a:p>
            <a:pPr indent="0" marL="0">
              <a:buNone/>
            </a:pPr>
            <a:r>
              <a:rPr lang="en-US" sz="1050" dirty="0">
                <a:solidFill>
                  <a:schemeClr val="tx1"/>
                </a:solidFill>
              </a:rPr>
              <a:t>Brokerage platform, CRM, transfer agent, institutional platform, portfolio book of record, billing engine, revenue sub-ledger, cost allocation</a:t>
            </a:r>
            <a:endParaRPr lang="en-US" sz="1050" dirty="0"/>
          </a:p>
        </p:txBody>
      </p:sp>
      <p:sp>
        <p:nvSpPr>
          <p:cNvPr id="19" name="arrow"/>
          <p:cNvSpPr/>
          <p:nvPr/>
        </p:nvSpPr>
        <p:spPr>
          <a:xfrm>
            <a:off x="3108960" y="3890772"/>
            <a:ext cx="253898" cy="310896"/>
          </a:xfrm>
          <a:prstGeom prst="rightArrow">
            <a:avLst/>
          </a:prstGeom>
          <a:solidFill>
            <a:schemeClr val="accent6"/>
          </a:solidFill>
          <a:ln w="12700">
            <a:solidFill>
              <a:schemeClr val="accent6"/>
            </a:solidFill>
            <a:prstDash val="solid"/>
          </a:ln>
        </p:spPr>
      </p:sp>
      <p:sp>
        <p:nvSpPr>
          <p:cNvPr id="20" name="card"/>
          <p:cNvSpPr/>
          <p:nvPr/>
        </p:nvSpPr>
        <p:spPr>
          <a:xfrm>
            <a:off x="3408578" y="3017520"/>
            <a:ext cx="2514600" cy="2057400"/>
          </a:xfrm>
          <a:prstGeom prst="roundRect">
            <a:avLst>
              <a:gd name="adj" fmla="val 3556"/>
            </a:avLst>
          </a:prstGeom>
          <a:solidFill>
            <a:schemeClr val="bg2"/>
          </a:solidFill>
          <a:ln w="12700">
            <a:solidFill>
              <a:schemeClr val="bg2"/>
            </a:solidFill>
            <a:prstDash val="solid"/>
          </a:ln>
        </p:spPr>
      </p:sp>
      <p:sp>
        <p:nvSpPr>
          <p:cNvPr id="21" name="panel"/>
          <p:cNvSpPr/>
          <p:nvPr/>
        </p:nvSpPr>
        <p:spPr>
          <a:xfrm>
            <a:off x="3408578" y="3017520"/>
            <a:ext cx="2514600" cy="502920"/>
          </a:xfrm>
          <a:prstGeom prst="rect">
            <a:avLst/>
          </a:prstGeom>
          <a:solidFill>
            <a:schemeClr val="accent2"/>
          </a:solidFill>
          <a:ln w="12700">
            <a:solidFill>
              <a:schemeClr val="accent2"/>
            </a:solidFill>
            <a:prstDash val="solid"/>
          </a:ln>
        </p:spPr>
      </p:sp>
      <p:sp>
        <p:nvSpPr>
          <p:cNvPr id="22" name="text"/>
          <p:cNvSpPr txBox="1"/>
          <p:nvPr/>
        </p:nvSpPr>
        <p:spPr>
          <a:xfrm>
            <a:off x="3573170" y="3090672"/>
            <a:ext cx="2185416" cy="365760"/>
          </a:xfrm>
          <a:prstGeom prst="rect">
            <a:avLst/>
          </a:prstGeom>
          <a:noFill/>
          <a:ln/>
        </p:spPr>
        <p:txBody>
          <a:bodyPr wrap="square" lIns="0" tIns="0" rIns="0" bIns="0" rtlCol="0" anchor="ctr"/>
          <a:lstStyle/>
          <a:p>
            <a:pPr indent="0" marL="0">
              <a:buNone/>
            </a:pPr>
            <a:r>
              <a:rPr lang="en-US" sz="1400" b="1" dirty="0">
                <a:solidFill>
                  <a:schemeClr val="bg1"/>
                </a:solidFill>
              </a:rPr>
              <a:t>Data products</a:t>
            </a:r>
            <a:endParaRPr lang="en-US" sz="1400" dirty="0"/>
          </a:p>
        </p:txBody>
      </p:sp>
      <p:sp>
        <p:nvSpPr>
          <p:cNvPr id="23" name="text"/>
          <p:cNvSpPr txBox="1"/>
          <p:nvPr/>
        </p:nvSpPr>
        <p:spPr>
          <a:xfrm>
            <a:off x="3573170" y="3657600"/>
            <a:ext cx="2185416" cy="1325880"/>
          </a:xfrm>
          <a:prstGeom prst="rect">
            <a:avLst/>
          </a:prstGeom>
          <a:noFill/>
          <a:ln/>
        </p:spPr>
        <p:txBody>
          <a:bodyPr wrap="square" lIns="0" tIns="0" rIns="0" bIns="0" rtlCol="0" anchor="t"/>
          <a:lstStyle/>
          <a:p>
            <a:pPr indent="0" marL="0">
              <a:buNone/>
            </a:pPr>
            <a:r>
              <a:rPr lang="en-US" sz="1050" dirty="0">
                <a:solidFill>
                  <a:schemeClr val="tx1"/>
                </a:solidFill>
              </a:rPr>
              <a:t>Foundational: conform once, certify, lock snapshots. Consumer: shaped for one function, built from the foundational products</a:t>
            </a:r>
            <a:endParaRPr lang="en-US" sz="1050" dirty="0"/>
          </a:p>
        </p:txBody>
      </p:sp>
      <p:sp>
        <p:nvSpPr>
          <p:cNvPr id="24" name="arrow"/>
          <p:cNvSpPr/>
          <p:nvPr/>
        </p:nvSpPr>
        <p:spPr>
          <a:xfrm>
            <a:off x="5968898" y="3890772"/>
            <a:ext cx="253898" cy="310896"/>
          </a:xfrm>
          <a:prstGeom prst="rightArrow">
            <a:avLst/>
          </a:prstGeom>
          <a:solidFill>
            <a:schemeClr val="accent6"/>
          </a:solidFill>
          <a:ln w="12700">
            <a:solidFill>
              <a:schemeClr val="accent6"/>
            </a:solidFill>
            <a:prstDash val="solid"/>
          </a:ln>
        </p:spPr>
      </p:sp>
      <p:sp>
        <p:nvSpPr>
          <p:cNvPr id="25" name="card"/>
          <p:cNvSpPr/>
          <p:nvPr/>
        </p:nvSpPr>
        <p:spPr>
          <a:xfrm>
            <a:off x="6268517" y="3017520"/>
            <a:ext cx="2514600" cy="2057400"/>
          </a:xfrm>
          <a:prstGeom prst="roundRect">
            <a:avLst>
              <a:gd name="adj" fmla="val 3556"/>
            </a:avLst>
          </a:prstGeom>
          <a:solidFill>
            <a:schemeClr val="bg2"/>
          </a:solidFill>
          <a:ln w="12700">
            <a:solidFill>
              <a:schemeClr val="bg2"/>
            </a:solidFill>
            <a:prstDash val="solid"/>
          </a:ln>
        </p:spPr>
      </p:sp>
      <p:sp>
        <p:nvSpPr>
          <p:cNvPr id="26" name="panel"/>
          <p:cNvSpPr/>
          <p:nvPr/>
        </p:nvSpPr>
        <p:spPr>
          <a:xfrm>
            <a:off x="6268517" y="3017520"/>
            <a:ext cx="2514600" cy="502920"/>
          </a:xfrm>
          <a:prstGeom prst="rect">
            <a:avLst/>
          </a:prstGeom>
          <a:solidFill>
            <a:schemeClr val="accent5"/>
          </a:solidFill>
          <a:ln w="12700">
            <a:solidFill>
              <a:schemeClr val="accent5"/>
            </a:solidFill>
            <a:prstDash val="solid"/>
          </a:ln>
        </p:spPr>
      </p:sp>
      <p:sp>
        <p:nvSpPr>
          <p:cNvPr id="27" name="text"/>
          <p:cNvSpPr txBox="1"/>
          <p:nvPr/>
        </p:nvSpPr>
        <p:spPr>
          <a:xfrm>
            <a:off x="6433109" y="3090672"/>
            <a:ext cx="2185416" cy="365760"/>
          </a:xfrm>
          <a:prstGeom prst="rect">
            <a:avLst/>
          </a:prstGeom>
          <a:noFill/>
          <a:ln/>
        </p:spPr>
        <p:txBody>
          <a:bodyPr wrap="square" lIns="0" tIns="0" rIns="0" bIns="0" rtlCol="0" anchor="ctr"/>
          <a:lstStyle/>
          <a:p>
            <a:pPr indent="0" marL="0">
              <a:buNone/>
            </a:pPr>
            <a:r>
              <a:rPr lang="en-US" sz="1400" b="1" dirty="0">
                <a:solidFill>
                  <a:schemeClr val="bg1"/>
                </a:solidFill>
              </a:rPr>
              <a:t>Semantic layer</a:t>
            </a:r>
            <a:endParaRPr lang="en-US" sz="1400" dirty="0"/>
          </a:p>
        </p:txBody>
      </p:sp>
      <p:sp>
        <p:nvSpPr>
          <p:cNvPr id="28" name="text"/>
          <p:cNvSpPr txBox="1"/>
          <p:nvPr/>
        </p:nvSpPr>
        <p:spPr>
          <a:xfrm>
            <a:off x="6433109" y="3657600"/>
            <a:ext cx="2185416" cy="1325880"/>
          </a:xfrm>
          <a:prstGeom prst="rect">
            <a:avLst/>
          </a:prstGeom>
          <a:noFill/>
          <a:ln/>
        </p:spPr>
        <p:txBody>
          <a:bodyPr wrap="square" lIns="0" tIns="0" rIns="0" bIns="0" rtlCol="0" anchor="t"/>
          <a:lstStyle/>
          <a:p>
            <a:pPr indent="0" marL="0">
              <a:buNone/>
            </a:pPr>
            <a:r>
              <a:rPr lang="en-US" sz="1050" dirty="0">
                <a:solidFill>
                  <a:schemeClr val="tx1"/>
                </a:solidFill>
              </a:rPr>
              <a:t>Subject-area models: views, joins and metrics in SQL, each certified metric defined in the model that owns it; the questions it cannot answer registered</a:t>
            </a:r>
            <a:endParaRPr lang="en-US" sz="1050" dirty="0"/>
          </a:p>
        </p:txBody>
      </p:sp>
      <p:sp>
        <p:nvSpPr>
          <p:cNvPr id="29" name="arrow"/>
          <p:cNvSpPr/>
          <p:nvPr/>
        </p:nvSpPr>
        <p:spPr>
          <a:xfrm>
            <a:off x="8828837" y="3890772"/>
            <a:ext cx="253898" cy="310896"/>
          </a:xfrm>
          <a:prstGeom prst="rightArrow">
            <a:avLst/>
          </a:prstGeom>
          <a:solidFill>
            <a:schemeClr val="accent6"/>
          </a:solidFill>
          <a:ln w="12700">
            <a:solidFill>
              <a:schemeClr val="accent6"/>
            </a:solidFill>
            <a:prstDash val="solid"/>
          </a:ln>
        </p:spPr>
      </p:sp>
      <p:sp>
        <p:nvSpPr>
          <p:cNvPr id="30" name="card"/>
          <p:cNvSpPr/>
          <p:nvPr/>
        </p:nvSpPr>
        <p:spPr>
          <a:xfrm>
            <a:off x="9128455" y="3017520"/>
            <a:ext cx="2514600" cy="2057400"/>
          </a:xfrm>
          <a:prstGeom prst="roundRect">
            <a:avLst>
              <a:gd name="adj" fmla="val 3556"/>
            </a:avLst>
          </a:prstGeom>
          <a:solidFill>
            <a:schemeClr val="bg2"/>
          </a:solidFill>
          <a:ln w="12700">
            <a:solidFill>
              <a:schemeClr val="bg2"/>
            </a:solidFill>
            <a:prstDash val="solid"/>
          </a:ln>
        </p:spPr>
      </p:sp>
      <p:sp>
        <p:nvSpPr>
          <p:cNvPr id="31" name="panel"/>
          <p:cNvSpPr/>
          <p:nvPr/>
        </p:nvSpPr>
        <p:spPr>
          <a:xfrm>
            <a:off x="9128455" y="3017520"/>
            <a:ext cx="2514600" cy="502920"/>
          </a:xfrm>
          <a:prstGeom prst="rect">
            <a:avLst/>
          </a:prstGeom>
          <a:solidFill>
            <a:schemeClr val="accent4"/>
          </a:solidFill>
          <a:ln w="12700">
            <a:solidFill>
              <a:schemeClr val="accent4"/>
            </a:solidFill>
            <a:prstDash val="solid"/>
          </a:ln>
        </p:spPr>
      </p:sp>
      <p:sp>
        <p:nvSpPr>
          <p:cNvPr id="32" name="text"/>
          <p:cNvSpPr txBox="1"/>
          <p:nvPr/>
        </p:nvSpPr>
        <p:spPr>
          <a:xfrm>
            <a:off x="9293047" y="3090672"/>
            <a:ext cx="2185416" cy="365760"/>
          </a:xfrm>
          <a:prstGeom prst="rect">
            <a:avLst/>
          </a:prstGeom>
          <a:noFill/>
          <a:ln/>
        </p:spPr>
        <p:txBody>
          <a:bodyPr wrap="square" lIns="0" tIns="0" rIns="0" bIns="0" rtlCol="0" anchor="ctr"/>
          <a:lstStyle/>
          <a:p>
            <a:pPr indent="0" marL="0">
              <a:buNone/>
            </a:pPr>
            <a:r>
              <a:rPr lang="en-US" sz="1400" b="1" dirty="0">
                <a:solidFill>
                  <a:schemeClr val="bg1"/>
                </a:solidFill>
              </a:rPr>
              <a:t>Uses</a:t>
            </a:r>
            <a:endParaRPr lang="en-US" sz="1400" dirty="0"/>
          </a:p>
        </p:txBody>
      </p:sp>
      <p:sp>
        <p:nvSpPr>
          <p:cNvPr id="33" name="text"/>
          <p:cNvSpPr txBox="1"/>
          <p:nvPr/>
        </p:nvSpPr>
        <p:spPr>
          <a:xfrm>
            <a:off x="9293047" y="3657600"/>
            <a:ext cx="2185416" cy="1325880"/>
          </a:xfrm>
          <a:prstGeom prst="rect">
            <a:avLst/>
          </a:prstGeom>
          <a:noFill/>
          <a:ln/>
        </p:spPr>
        <p:txBody>
          <a:bodyPr wrap="square" lIns="0" tIns="0" rIns="0" bIns="0" rtlCol="0" anchor="t"/>
          <a:lstStyle/>
          <a:p>
            <a:pPr indent="0" marL="0">
              <a:buNone/>
            </a:pPr>
            <a:r>
              <a:rPr lang="en-US" sz="1050" dirty="0">
                <a:solidFill>
                  <a:schemeClr val="tx1"/>
                </a:solidFill>
              </a:rPr>
              <a:t>Dashboards and Excel; an AI assistant through the same engine; workflow delivery into CRM and billing; control evidence for examiners</a:t>
            </a:r>
            <a:endParaRPr lang="en-US" sz="1050" dirty="0"/>
          </a:p>
        </p:txBody>
      </p:sp>
      <p:sp>
        <p:nvSpPr>
          <p:cNvPr id="34" name="text"/>
          <p:cNvSpPr txBox="1"/>
          <p:nvPr/>
        </p:nvSpPr>
        <p:spPr>
          <a:xfrm>
            <a:off x="2321509" y="5129784"/>
            <a:ext cx="1828800" cy="274320"/>
          </a:xfrm>
          <a:prstGeom prst="rect">
            <a:avLst/>
          </a:prstGeom>
          <a:noFill/>
          <a:ln/>
        </p:spPr>
        <p:txBody>
          <a:bodyPr wrap="square" lIns="0" tIns="0" rIns="0" bIns="0" rtlCol="0" anchor="t"/>
          <a:lstStyle/>
          <a:p>
            <a:pPr algn="ctr" indent="0" marL="0">
              <a:buNone/>
            </a:pPr>
            <a:r>
              <a:rPr lang="en-US" sz="1000" b="1" dirty="0">
                <a:solidFill>
                  <a:schemeClr val="accent6"/>
                </a:solidFill>
              </a:rPr>
              <a:t>MOMENT 1  MAP</a:t>
            </a:r>
            <a:endParaRPr lang="en-US" sz="1000" dirty="0"/>
          </a:p>
        </p:txBody>
      </p:sp>
      <p:sp>
        <p:nvSpPr>
          <p:cNvPr id="35" name="text"/>
          <p:cNvSpPr txBox="1"/>
          <p:nvPr/>
        </p:nvSpPr>
        <p:spPr>
          <a:xfrm>
            <a:off x="5181448" y="5129784"/>
            <a:ext cx="1828800" cy="274320"/>
          </a:xfrm>
          <a:prstGeom prst="rect">
            <a:avLst/>
          </a:prstGeom>
          <a:noFill/>
          <a:ln/>
        </p:spPr>
        <p:txBody>
          <a:bodyPr wrap="square" lIns="0" tIns="0" rIns="0" bIns="0" rtlCol="0" anchor="t"/>
          <a:lstStyle/>
          <a:p>
            <a:pPr algn="ctr" indent="0" marL="0">
              <a:buNone/>
            </a:pPr>
            <a:r>
              <a:rPr lang="en-US" sz="1000" b="1" dirty="0">
                <a:solidFill>
                  <a:schemeClr val="accent6"/>
                </a:solidFill>
              </a:rPr>
              <a:t>MOMENT 2  COMPILE</a:t>
            </a:r>
            <a:endParaRPr lang="en-US" sz="1000" dirty="0"/>
          </a:p>
        </p:txBody>
      </p:sp>
      <p:sp>
        <p:nvSpPr>
          <p:cNvPr id="36" name="text"/>
          <p:cNvSpPr txBox="1"/>
          <p:nvPr/>
        </p:nvSpPr>
        <p:spPr>
          <a:xfrm>
            <a:off x="8041386" y="5129784"/>
            <a:ext cx="1828800" cy="274320"/>
          </a:xfrm>
          <a:prstGeom prst="rect">
            <a:avLst/>
          </a:prstGeom>
          <a:noFill/>
          <a:ln/>
        </p:spPr>
        <p:txBody>
          <a:bodyPr wrap="square" lIns="0" tIns="0" rIns="0" bIns="0" rtlCol="0" anchor="t"/>
          <a:lstStyle/>
          <a:p>
            <a:pPr algn="ctr" indent="0" marL="0">
              <a:buNone/>
            </a:pPr>
            <a:r>
              <a:rPr lang="en-US" sz="1000" b="1" dirty="0">
                <a:solidFill>
                  <a:schemeClr val="accent6"/>
                </a:solidFill>
              </a:rPr>
              <a:t>MOMENT 3  ASK</a:t>
            </a:r>
            <a:endParaRPr lang="en-US" sz="1000" dirty="0"/>
          </a:p>
        </p:txBody>
      </p:sp>
      <p:sp>
        <p:nvSpPr>
          <p:cNvPr id="37" name="card"/>
          <p:cNvSpPr/>
          <p:nvPr/>
        </p:nvSpPr>
        <p:spPr>
          <a:xfrm>
            <a:off x="548640" y="5486400"/>
            <a:ext cx="11094415" cy="731520"/>
          </a:xfrm>
          <a:prstGeom prst="roundRect">
            <a:avLst>
              <a:gd name="adj" fmla="val 10000"/>
            </a:avLst>
          </a:prstGeom>
          <a:solidFill>
            <a:schemeClr val="tx2"/>
          </a:solidFill>
          <a:ln w="12700">
            <a:solidFill>
              <a:schemeClr val="tx2"/>
            </a:solidFill>
            <a:prstDash val="solid"/>
          </a:ln>
        </p:spPr>
      </p:sp>
      <p:sp>
        <p:nvSpPr>
          <p:cNvPr id="38" name="text"/>
          <p:cNvSpPr txBox="1"/>
          <p:nvPr/>
        </p:nvSpPr>
        <p:spPr>
          <a:xfrm>
            <a:off x="822960" y="5614416"/>
            <a:ext cx="10545775" cy="475488"/>
          </a:xfrm>
          <a:prstGeom prst="rect">
            <a:avLst/>
          </a:prstGeom>
          <a:noFill/>
          <a:ln/>
        </p:spPr>
        <p:txBody>
          <a:bodyPr wrap="square" lIns="0" tIns="0" rIns="0" bIns="0" rtlCol="0" anchor="ctr"/>
          <a:lstStyle/>
          <a:p>
            <a:pPr indent="0" marL="0">
              <a:buNone/>
            </a:pPr>
            <a:r>
              <a:rPr lang="en-US" sz="1400" dirty="0">
                <a:solidFill>
                  <a:schemeClr val="bg1"/>
                </a:solidFill>
              </a:rPr>
              <a:t>The mapping on the left is the only hand-written link between a source and the taxonomy. Map, compile and ask are the three arrows, and the three moments of the demo.</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Automated data product management: what is hand-written, what is generated</a:t>
            </a:r>
            <a:endParaRPr lang="en-US" sz="2800" dirty="0"/>
          </a:p>
        </p:txBody>
      </p:sp>
      <p:sp>
        <p:nvSpPr>
          <p:cNvPr id="4" name="card"/>
          <p:cNvSpPr/>
          <p:nvPr/>
        </p:nvSpPr>
        <p:spPr>
          <a:xfrm>
            <a:off x="548640" y="1417320"/>
            <a:ext cx="5422392" cy="3749040"/>
          </a:xfrm>
          <a:prstGeom prst="roundRect">
            <a:avLst>
              <a:gd name="adj" fmla="val 1951"/>
            </a:avLst>
          </a:prstGeom>
          <a:solidFill>
            <a:schemeClr val="bg2"/>
          </a:solidFill>
          <a:ln w="12700">
            <a:solidFill>
              <a:schemeClr val="bg2"/>
            </a:solidFill>
            <a:prstDash val="solid"/>
          </a:ln>
        </p:spPr>
      </p:sp>
      <p:sp>
        <p:nvSpPr>
          <p:cNvPr id="5" name="text"/>
          <p:cNvSpPr txBox="1"/>
          <p:nvPr/>
        </p:nvSpPr>
        <p:spPr>
          <a:xfrm>
            <a:off x="713232" y="1563624"/>
            <a:ext cx="5093208" cy="548640"/>
          </a:xfrm>
          <a:prstGeom prst="rect">
            <a:avLst/>
          </a:prstGeom>
          <a:noFill/>
          <a:ln/>
        </p:spPr>
        <p:txBody>
          <a:bodyPr wrap="square" lIns="0" tIns="0" rIns="0" bIns="0" rtlCol="0" anchor="t"/>
          <a:lstStyle/>
          <a:p>
            <a:pPr indent="0" marL="0">
              <a:buNone/>
            </a:pPr>
            <a:r>
              <a:rPr lang="en-US" sz="1800" b="1" dirty="0">
                <a:solidFill>
                  <a:schemeClr val="accent4"/>
                </a:solidFill>
              </a:rPr>
              <a:t>Hand-written</a:t>
            </a:r>
            <a:endParaRPr lang="en-US" sz="1800" dirty="0"/>
          </a:p>
        </p:txBody>
      </p:sp>
      <p:sp>
        <p:nvSpPr>
          <p:cNvPr id="6" name="card body"/>
          <p:cNvSpPr txBox="1"/>
          <p:nvPr/>
        </p:nvSpPr>
        <p:spPr>
          <a:xfrm>
            <a:off x="713232" y="2130552"/>
            <a:ext cx="5093208" cy="2871216"/>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The confirmed mappings: 606 registry rows over 8 sources, each naming a taxonomy object and attribute, with crosswalks for code values and identifier schemes for keys</a:t>
            </a:r>
            <a:endParaRPr lang="en-US" sz="1200" dirty="0"/>
          </a:p>
          <a:p>
            <a:pPr marL="152400" indent="-152400">
              <a:spcAft>
                <a:spcPts val="400"/>
              </a:spcAft>
              <a:buSzPct val="100000"/>
              <a:buChar char="•"/>
            </a:pPr>
            <a:r>
              <a:rPr lang="en-US" sz="1200" dirty="0">
                <a:solidFill>
                  <a:schemeClr val="tx1"/>
                </a:solidFill>
              </a:rPr>
              <a:t>The derivation rules of the certified family: DP-006 flow transactions, DP-007 positions, DP-008 client assets and net new assets, DP-320 household 360, DP-495 the match and suspense facts</a:t>
            </a:r>
            <a:endParaRPr lang="en-US" sz="1200" dirty="0"/>
          </a:p>
          <a:p>
            <a:pPr marL="152400" indent="-152400">
              <a:spcAft>
                <a:spcPts val="400"/>
              </a:spcAft>
              <a:buSzPct val="100000"/>
              <a:buChar char="•"/>
            </a:pPr>
            <a:r>
              <a:rPr lang="en-US" sz="1200" dirty="0">
                <a:solidFill>
                  <a:schemeClr val="tx1"/>
                </a:solidFill>
              </a:rPr>
              <a:t>The SQL of the 62 in-scope metrics whose definition in the model is a sentence</a:t>
            </a:r>
            <a:endParaRPr lang="en-US" sz="1200" dirty="0"/>
          </a:p>
        </p:txBody>
      </p:sp>
      <p:sp>
        <p:nvSpPr>
          <p:cNvPr id="7" name="card"/>
          <p:cNvSpPr/>
          <p:nvPr/>
        </p:nvSpPr>
        <p:spPr>
          <a:xfrm>
            <a:off x="6217920" y="1417320"/>
            <a:ext cx="5422392" cy="3749040"/>
          </a:xfrm>
          <a:prstGeom prst="roundRect">
            <a:avLst>
              <a:gd name="adj" fmla="val 1951"/>
            </a:avLst>
          </a:prstGeom>
          <a:solidFill>
            <a:schemeClr val="bg2"/>
          </a:solidFill>
          <a:ln w="12700">
            <a:solidFill>
              <a:schemeClr val="bg2"/>
            </a:solidFill>
            <a:prstDash val="solid"/>
          </a:ln>
        </p:spPr>
      </p:sp>
      <p:sp>
        <p:nvSpPr>
          <p:cNvPr id="8" name="text"/>
          <p:cNvSpPr txBox="1"/>
          <p:nvPr/>
        </p:nvSpPr>
        <p:spPr>
          <a:xfrm>
            <a:off x="6382512" y="1563624"/>
            <a:ext cx="5093208" cy="548640"/>
          </a:xfrm>
          <a:prstGeom prst="rect">
            <a:avLst/>
          </a:prstGeom>
          <a:noFill/>
          <a:ln/>
        </p:spPr>
        <p:txBody>
          <a:bodyPr wrap="square" lIns="0" tIns="0" rIns="0" bIns="0" rtlCol="0" anchor="t"/>
          <a:lstStyle/>
          <a:p>
            <a:pPr indent="0" marL="0">
              <a:buNone/>
            </a:pPr>
            <a:r>
              <a:rPr lang="en-US" sz="1800" b="1" dirty="0">
                <a:solidFill>
                  <a:schemeClr val="accent2"/>
                </a:solidFill>
              </a:rPr>
              <a:t>Generated from the model</a:t>
            </a:r>
            <a:endParaRPr lang="en-US" sz="1800" dirty="0"/>
          </a:p>
        </p:txBody>
      </p:sp>
      <p:sp>
        <p:nvSpPr>
          <p:cNvPr id="9" name="card body"/>
          <p:cNvSpPr txBox="1"/>
          <p:nvPr/>
        </p:nvSpPr>
        <p:spPr>
          <a:xfrm>
            <a:off x="6382512" y="2130552"/>
            <a:ext cx="5093208" cy="2871216"/>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The slice: 88 semantic tables, 84 logical entities, resolved from the semantic models' table bindings</a:t>
            </a:r>
            <a:endParaRPr lang="en-US" sz="1200" dirty="0"/>
          </a:p>
          <a:p>
            <a:pPr marL="152400" indent="-152400">
              <a:spcAft>
                <a:spcPts val="400"/>
              </a:spcAft>
              <a:buSzPct val="100000"/>
              <a:buChar char="•"/>
            </a:pPr>
            <a:r>
              <a:rPr lang="en-US" sz="1200" dirty="0">
                <a:solidFill>
                  <a:schemeClr val="tx1"/>
                </a:solidFill>
              </a:rPr>
              <a:t>The conformed tables and their keys, one per logical entity, minted and resolved through the identifier entities</a:t>
            </a:r>
            <a:endParaRPr lang="en-US" sz="1200" dirty="0"/>
          </a:p>
          <a:p>
            <a:pPr marL="152400" indent="-152400">
              <a:spcAft>
                <a:spcPts val="400"/>
              </a:spcAft>
              <a:buSzPct val="100000"/>
              <a:buChar char="•"/>
            </a:pPr>
            <a:r>
              <a:rPr lang="en-US" sz="1200" dirty="0">
                <a:solidFill>
                  <a:schemeClr val="tx1"/>
                </a:solidFill>
              </a:rPr>
              <a:t>722 data-quality tests from the attributes' CDE flags, code lists and references</a:t>
            </a:r>
            <a:endParaRPr lang="en-US" sz="1200" dirty="0"/>
          </a:p>
          <a:p>
            <a:pPr marL="152400" indent="-152400">
              <a:spcAft>
                <a:spcPts val="400"/>
              </a:spcAft>
              <a:buSzPct val="100000"/>
              <a:buChar char="•"/>
            </a:pPr>
            <a:r>
              <a:rPr lang="en-US" sz="1200" dirty="0">
                <a:solidFill>
                  <a:schemeClr val="tx1"/>
                </a:solidFill>
              </a:rPr>
              <a:t>88 views and 97 joins; the metric SQL of every metric whose model text is already an expression</a:t>
            </a:r>
            <a:endParaRPr lang="en-US" sz="1200" dirty="0"/>
          </a:p>
          <a:p>
            <a:pPr marL="152400" indent="-152400">
              <a:spcAft>
                <a:spcPts val="400"/>
              </a:spcAft>
              <a:buSzPct val="100000"/>
              <a:buChar char="•"/>
            </a:pPr>
            <a:r>
              <a:rPr lang="en-US" sz="1200" dirty="0">
                <a:solidFill>
                  <a:schemeClr val="tx1"/>
                </a:solidFill>
              </a:rPr>
              <a:t>The activation states of products, entities, tables, metrics and questions</a:t>
            </a:r>
            <a:endParaRPr lang="en-US" sz="1200" dirty="0"/>
          </a:p>
          <a:p>
            <a:pPr marL="152400" indent="-152400">
              <a:spcAft>
                <a:spcPts val="400"/>
              </a:spcAft>
              <a:buSzPct val="100000"/>
              <a:buChar char="•"/>
            </a:pPr>
            <a:r>
              <a:rPr lang="en-US" sz="1200" dirty="0">
                <a:solidFill>
                  <a:schemeClr val="tx1"/>
                </a:solidFill>
              </a:rPr>
              <a:t>The dbt Semantic Layer export, and the lineage of every answer back to the taxonomy</a:t>
            </a:r>
            <a:endParaRPr lang="en-US" sz="1200" dirty="0"/>
          </a:p>
        </p:txBody>
      </p:sp>
      <p:sp>
        <p:nvSpPr>
          <p:cNvPr id="10" name="card"/>
          <p:cNvSpPr/>
          <p:nvPr/>
        </p:nvSpPr>
        <p:spPr>
          <a:xfrm>
            <a:off x="548640" y="5349240"/>
            <a:ext cx="11094415" cy="685800"/>
          </a:xfrm>
          <a:prstGeom prst="roundRect">
            <a:avLst>
              <a:gd name="adj" fmla="val 10667"/>
            </a:avLst>
          </a:prstGeom>
          <a:solidFill>
            <a:schemeClr val="tx2"/>
          </a:solidFill>
          <a:ln w="12700">
            <a:solidFill>
              <a:schemeClr val="tx2"/>
            </a:solidFill>
            <a:prstDash val="solid"/>
          </a:ln>
        </p:spPr>
      </p:sp>
      <p:sp>
        <p:nvSpPr>
          <p:cNvPr id="11" name="text"/>
          <p:cNvSpPr txBox="1"/>
          <p:nvPr/>
        </p:nvSpPr>
        <p:spPr>
          <a:xfrm>
            <a:off x="822960" y="5477256"/>
            <a:ext cx="10545775" cy="429768"/>
          </a:xfrm>
          <a:prstGeom prst="rect">
            <a:avLst/>
          </a:prstGeom>
          <a:noFill/>
          <a:ln/>
        </p:spPr>
        <p:txBody>
          <a:bodyPr wrap="square" lIns="0" tIns="0" rIns="0" bIns="0" rtlCol="0" anchor="ctr"/>
          <a:lstStyle/>
          <a:p>
            <a:pPr indent="0" marL="0">
              <a:buNone/>
            </a:pPr>
            <a:r>
              <a:rPr lang="en-US" sz="1400" dirty="0">
                <a:solidFill>
                  <a:schemeClr val="bg1"/>
                </a:solidFill>
              </a:rPr>
              <a:t>Three kinds of input are owned by people: the mappings, the firm rules, the sentence metrics. Everything above them is derived from the model.</a:t>
            </a:r>
            <a:endParaRPr lang="en-US" sz="1400" dirty="0"/>
          </a:p>
        </p:txBody>
      </p:sp>
      <p:sp>
        <p:nvSpPr>
          <p:cNvPr id="12" name="text"/>
          <p:cNvSpPr txBox="1"/>
          <p:nvPr/>
        </p:nvSpPr>
        <p:spPr>
          <a:xfrm>
            <a:off x="548640" y="6108192"/>
            <a:ext cx="11094415" cy="256032"/>
          </a:xfrm>
          <a:prstGeom prst="rect">
            <a:avLst/>
          </a:prstGeom>
          <a:noFill/>
          <a:ln/>
        </p:spPr>
        <p:txBody>
          <a:bodyPr wrap="square" lIns="0" tIns="0" rIns="0" bIns="0" rtlCol="0" anchor="t"/>
          <a:lstStyle/>
          <a:p>
            <a:pPr indent="0" marL="0">
              <a:buNone/>
            </a:pPr>
            <a:r>
              <a:rPr lang="en-US" sz="950" i="1" dirty="0">
                <a:solidFill>
                  <a:schemeClr val="accent6"/>
                </a:solidFill>
              </a:rPr>
              <a:t>On the demo page: Overview › Hand-written and generated</a:t>
            </a:r>
            <a:endParaRPr lang="en-US" sz="9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The product manages itself: it reports what is switched on and what is missing</a:t>
            </a:r>
            <a:endParaRPr lang="en-US" sz="28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2194560"/>
                <a:gridCol w="1280160"/>
                <a:gridCol w="1280160"/>
                <a:gridCol w="1280160"/>
              </a:tblGrid>
              <a:tr h="0">
                <a:tc>
                  <a:txBody>
                    <a:bodyPr/>
                    <a:lstStyle/>
                    <a:p>
                      <a:pPr algn="l" indent="0" marL="0">
                        <a:buNone/>
                      </a:pPr>
                      <a:endParaRPr lang="en-US" sz="13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Enabled</a:t>
                      </a:r>
                      <a:endParaRPr lang="en-US" sz="13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Partial</a:t>
                      </a:r>
                      <a:endParaRPr lang="en-US" sz="13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Not started</a:t>
                      </a:r>
                      <a:endParaRPr lang="en-US" sz="13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r>
              <a:tr h="0">
                <a:tc>
                  <a:txBody>
                    <a:bodyPr/>
                    <a:lstStyle/>
                    <a:p>
                      <a:pPr algn="l" indent="0" marL="0">
                        <a:buNone/>
                      </a:pPr>
                      <a:r>
                        <a:rPr lang="en-US" sz="1300" dirty="0">
                          <a:solidFill>
                            <a:srgbClr val="1A2B3C"/>
                          </a:solidFill>
                          <a:latin typeface="Arial" pitchFamily="34" charset="0"/>
                          <a:ea typeface="Arial" pitchFamily="34" charset="-122"/>
                          <a:cs typeface="Arial" pitchFamily="34" charset="-120"/>
                        </a:rPr>
                        <a:t>Products</a:t>
                      </a:r>
                      <a:endParaRPr lang="en-US" sz="13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2B3C"/>
                          </a:solidFill>
                          <a:latin typeface="Arial" pitchFamily="34" charset="0"/>
                          <a:ea typeface="Arial" pitchFamily="34" charset="-122"/>
                          <a:cs typeface="Arial" pitchFamily="34" charset="-120"/>
                        </a:rPr>
                        <a:t>15</a:t>
                      </a:r>
                      <a:endParaRPr lang="en-US" sz="13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2B3C"/>
                          </a:solidFill>
                          <a:latin typeface="Arial" pitchFamily="34" charset="0"/>
                          <a:ea typeface="Arial" pitchFamily="34" charset="-122"/>
                          <a:cs typeface="Arial" pitchFamily="34" charset="-120"/>
                        </a:rPr>
                        <a:t>9</a:t>
                      </a:r>
                      <a:endParaRPr lang="en-US" sz="13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2B3C"/>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A2B3C"/>
                          </a:solidFill>
                          <a:latin typeface="Arial" pitchFamily="34" charset="0"/>
                          <a:ea typeface="Arial" pitchFamily="34" charset="-122"/>
                          <a:cs typeface="Arial" pitchFamily="34" charset="-120"/>
                        </a:rPr>
                        <a:t>Entities</a:t>
                      </a:r>
                      <a:endParaRPr lang="en-US" sz="13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300" dirty="0">
                          <a:solidFill>
                            <a:srgbClr val="1A2B3C"/>
                          </a:solidFill>
                          <a:latin typeface="Arial" pitchFamily="34" charset="0"/>
                          <a:ea typeface="Arial" pitchFamily="34" charset="-122"/>
                          <a:cs typeface="Arial" pitchFamily="34" charset="-120"/>
                        </a:rPr>
                        <a:t>55</a:t>
                      </a:r>
                      <a:endParaRPr lang="en-US" sz="13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300" dirty="0">
                          <a:solidFill>
                            <a:srgbClr val="1A2B3C"/>
                          </a:solidFill>
                          <a:latin typeface="Arial" pitchFamily="34" charset="0"/>
                          <a:ea typeface="Arial" pitchFamily="34" charset="-122"/>
                          <a:cs typeface="Arial" pitchFamily="34" charset="-120"/>
                        </a:rPr>
                        <a:t>21</a:t>
                      </a:r>
                      <a:endParaRPr lang="en-US" sz="13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300" dirty="0">
                          <a:solidFill>
                            <a:srgbClr val="1A2B3C"/>
                          </a:solidFill>
                          <a:latin typeface="Arial" pitchFamily="34" charset="0"/>
                          <a:ea typeface="Arial" pitchFamily="34" charset="-122"/>
                          <a:cs typeface="Arial" pitchFamily="34" charset="-120"/>
                        </a:rPr>
                        <a:t>8</a:t>
                      </a:r>
                      <a:endParaRPr lang="en-US" sz="13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300" dirty="0">
                          <a:solidFill>
                            <a:srgbClr val="1A2B3C"/>
                          </a:solidFill>
                          <a:latin typeface="Arial" pitchFamily="34" charset="0"/>
                          <a:ea typeface="Arial" pitchFamily="34" charset="-122"/>
                          <a:cs typeface="Arial" pitchFamily="34" charset="-120"/>
                        </a:rPr>
                        <a:t>Tables</a:t>
                      </a:r>
                      <a:endParaRPr lang="en-US" sz="13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2B3C"/>
                          </a:solidFill>
                          <a:latin typeface="Arial" pitchFamily="34" charset="0"/>
                          <a:ea typeface="Arial" pitchFamily="34" charset="-122"/>
                          <a:cs typeface="Arial" pitchFamily="34" charset="-120"/>
                        </a:rPr>
                        <a:t>26</a:t>
                      </a:r>
                      <a:endParaRPr lang="en-US" sz="13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2B3C"/>
                          </a:solidFill>
                          <a:latin typeface="Arial" pitchFamily="34" charset="0"/>
                          <a:ea typeface="Arial" pitchFamily="34" charset="-122"/>
                          <a:cs typeface="Arial" pitchFamily="34" charset="-120"/>
                        </a:rPr>
                        <a:t>60</a:t>
                      </a:r>
                      <a:endParaRPr lang="en-US" sz="13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2B3C"/>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A2B3C"/>
                          </a:solidFill>
                          <a:latin typeface="Arial" pitchFamily="34" charset="0"/>
                          <a:ea typeface="Arial" pitchFamily="34" charset="-122"/>
                          <a:cs typeface="Arial" pitchFamily="34" charset="-120"/>
                        </a:rPr>
                        <a:t>Metrics</a:t>
                      </a:r>
                      <a:endParaRPr lang="en-US" sz="13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300" dirty="0">
                          <a:solidFill>
                            <a:srgbClr val="1A2B3C"/>
                          </a:solidFill>
                          <a:latin typeface="Arial" pitchFamily="34" charset="0"/>
                          <a:ea typeface="Arial" pitchFamily="34" charset="-122"/>
                          <a:cs typeface="Arial" pitchFamily="34" charset="-120"/>
                        </a:rPr>
                        <a:t>81</a:t>
                      </a:r>
                      <a:endParaRPr lang="en-US" sz="13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300" dirty="0">
                          <a:solidFill>
                            <a:srgbClr val="1A2B3C"/>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300" dirty="0">
                          <a:solidFill>
                            <a:srgbClr val="1A2B3C"/>
                          </a:solidFill>
                          <a:latin typeface="Arial" pitchFamily="34" charset="0"/>
                          <a:ea typeface="Arial" pitchFamily="34" charset="-122"/>
                          <a:cs typeface="Arial" pitchFamily="34" charset="-120"/>
                        </a:rPr>
                        <a:t>25</a:t>
                      </a:r>
                      <a:endParaRPr lang="en-US" sz="13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300" dirty="0">
                          <a:solidFill>
                            <a:srgbClr val="1A2B3C"/>
                          </a:solidFill>
                          <a:latin typeface="Arial" pitchFamily="34" charset="0"/>
                          <a:ea typeface="Arial" pitchFamily="34" charset="-122"/>
                          <a:cs typeface="Arial" pitchFamily="34" charset="-120"/>
                        </a:rPr>
                        <a:t>Questions</a:t>
                      </a:r>
                      <a:endParaRPr lang="en-US" sz="13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2B3C"/>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2B3C"/>
                          </a:solidFill>
                          <a:latin typeface="Arial" pitchFamily="34" charset="0"/>
                          <a:ea typeface="Arial" pitchFamily="34" charset="-122"/>
                          <a:cs typeface="Arial" pitchFamily="34" charset="-120"/>
                        </a:rPr>
                        <a:t>13</a:t>
                      </a:r>
                      <a:endParaRPr lang="en-US" sz="13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2B3C"/>
                          </a:solidFill>
                          <a:latin typeface="Arial" pitchFamily="34" charset="0"/>
                          <a:ea typeface="Arial" pitchFamily="34" charset="-122"/>
                          <a:cs typeface="Arial" pitchFamily="34" charset="-120"/>
                        </a:rPr>
                        <a:t>6</a:t>
                      </a:r>
                      <a:endParaRPr lang="en-US" sz="13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bl>
          </a:graphicData>
        </a:graphic>
      </p:graphicFrame>
      <p:sp>
        <p:nvSpPr>
          <p:cNvPr id="5" name="dot"/>
          <p:cNvSpPr/>
          <p:nvPr/>
        </p:nvSpPr>
        <p:spPr>
          <a:xfrm>
            <a:off x="548640" y="3822192"/>
            <a:ext cx="201168" cy="201168"/>
          </a:xfrm>
          <a:prstGeom prst="ellipse">
            <a:avLst/>
          </a:prstGeom>
          <a:solidFill>
            <a:schemeClr val="accent2"/>
          </a:solidFill>
          <a:ln w="12700">
            <a:solidFill>
              <a:srgbClr val="333333"/>
            </a:solidFill>
            <a:prstDash val="solid"/>
          </a:ln>
        </p:spPr>
      </p:sp>
      <p:sp>
        <p:nvSpPr>
          <p:cNvPr id="6" name="text"/>
          <p:cNvSpPr txBox="1"/>
          <p:nvPr/>
        </p:nvSpPr>
        <p:spPr>
          <a:xfrm>
            <a:off x="868680" y="3749040"/>
            <a:ext cx="1188720" cy="365760"/>
          </a:xfrm>
          <a:prstGeom prst="rect">
            <a:avLst/>
          </a:prstGeom>
          <a:noFill/>
          <a:ln/>
        </p:spPr>
        <p:txBody>
          <a:bodyPr wrap="square" lIns="0" tIns="0" rIns="0" bIns="0" rtlCol="0" anchor="t"/>
          <a:lstStyle/>
          <a:p>
            <a:pPr indent="0" marL="0">
              <a:buNone/>
            </a:pPr>
            <a:r>
              <a:rPr lang="en-US" sz="1200" b="1" dirty="0">
                <a:solidFill>
                  <a:schemeClr val="accent2"/>
                </a:solidFill>
              </a:rPr>
              <a:t>Enabled</a:t>
            </a:r>
            <a:endParaRPr lang="en-US" sz="1200" dirty="0"/>
          </a:p>
        </p:txBody>
      </p:sp>
      <p:sp>
        <p:nvSpPr>
          <p:cNvPr id="7" name="text"/>
          <p:cNvSpPr txBox="1"/>
          <p:nvPr/>
        </p:nvSpPr>
        <p:spPr>
          <a:xfrm>
            <a:off x="2057400" y="3749040"/>
            <a:ext cx="4526280" cy="548640"/>
          </a:xfrm>
          <a:prstGeom prst="rect">
            <a:avLst/>
          </a:prstGeom>
          <a:noFill/>
          <a:ln/>
        </p:spPr>
        <p:txBody>
          <a:bodyPr wrap="square" lIns="0" tIns="0" rIns="0" bIns="0" rtlCol="0" anchor="t"/>
          <a:lstStyle/>
          <a:p>
            <a:pPr indent="0" marL="0">
              <a:buNone/>
            </a:pPr>
            <a:r>
              <a:rPr lang="en-US" sz="1050" dirty="0">
                <a:solidFill>
                  <a:schemeClr val="tx1"/>
                </a:solidFill>
              </a:rPr>
              <a:t>every attribute the slice reads is mapped or derived; a metric's SQL executes on populated columns</a:t>
            </a:r>
            <a:endParaRPr lang="en-US" sz="1050" dirty="0"/>
          </a:p>
        </p:txBody>
      </p:sp>
      <p:sp>
        <p:nvSpPr>
          <p:cNvPr id="8" name="dot"/>
          <p:cNvSpPr/>
          <p:nvPr/>
        </p:nvSpPr>
        <p:spPr>
          <a:xfrm>
            <a:off x="548640" y="4389120"/>
            <a:ext cx="201168" cy="201168"/>
          </a:xfrm>
          <a:prstGeom prst="ellipse">
            <a:avLst/>
          </a:prstGeom>
          <a:solidFill>
            <a:schemeClr val="accent5"/>
          </a:solidFill>
          <a:ln w="12700">
            <a:solidFill>
              <a:srgbClr val="333333"/>
            </a:solidFill>
            <a:prstDash val="solid"/>
          </a:ln>
        </p:spPr>
      </p:sp>
      <p:sp>
        <p:nvSpPr>
          <p:cNvPr id="9" name="text"/>
          <p:cNvSpPr txBox="1"/>
          <p:nvPr/>
        </p:nvSpPr>
        <p:spPr>
          <a:xfrm>
            <a:off x="868680" y="4315968"/>
            <a:ext cx="1188720" cy="365760"/>
          </a:xfrm>
          <a:prstGeom prst="rect">
            <a:avLst/>
          </a:prstGeom>
          <a:noFill/>
          <a:ln/>
        </p:spPr>
        <p:txBody>
          <a:bodyPr wrap="square" lIns="0" tIns="0" rIns="0" bIns="0" rtlCol="0" anchor="t"/>
          <a:lstStyle/>
          <a:p>
            <a:pPr indent="0" marL="0">
              <a:buNone/>
            </a:pPr>
            <a:r>
              <a:rPr lang="en-US" sz="1200" b="1" dirty="0">
                <a:solidFill>
                  <a:schemeClr val="accent5"/>
                </a:solidFill>
              </a:rPr>
              <a:t>Partial</a:t>
            </a:r>
            <a:endParaRPr lang="en-US" sz="1200" dirty="0"/>
          </a:p>
        </p:txBody>
      </p:sp>
      <p:sp>
        <p:nvSpPr>
          <p:cNvPr id="10" name="text"/>
          <p:cNvSpPr txBox="1"/>
          <p:nvPr/>
        </p:nvSpPr>
        <p:spPr>
          <a:xfrm>
            <a:off x="2057400" y="4315968"/>
            <a:ext cx="4526280" cy="548640"/>
          </a:xfrm>
          <a:prstGeom prst="rect">
            <a:avLst/>
          </a:prstGeom>
          <a:noFill/>
          <a:ln/>
        </p:spPr>
        <p:txBody>
          <a:bodyPr wrap="square" lIns="0" tIns="0" rIns="0" bIns="0" rtlCol="0" anchor="t"/>
          <a:lstStyle/>
          <a:p>
            <a:pPr indent="0" marL="0">
              <a:buNone/>
            </a:pPr>
            <a:r>
              <a:rPr lang="en-US" sz="1050" dirty="0">
                <a:solidFill>
                  <a:schemeClr val="tx1"/>
                </a:solidFill>
              </a:rPr>
              <a:t>keys mapped, some attributes missing; a metric runs but reads a column no source populates</a:t>
            </a:r>
            <a:endParaRPr lang="en-US" sz="1050" dirty="0"/>
          </a:p>
        </p:txBody>
      </p:sp>
      <p:sp>
        <p:nvSpPr>
          <p:cNvPr id="11" name="dot"/>
          <p:cNvSpPr/>
          <p:nvPr/>
        </p:nvSpPr>
        <p:spPr>
          <a:xfrm>
            <a:off x="548640" y="4956048"/>
            <a:ext cx="201168" cy="201168"/>
          </a:xfrm>
          <a:prstGeom prst="ellipse">
            <a:avLst/>
          </a:prstGeom>
          <a:solidFill>
            <a:schemeClr val="accent6"/>
          </a:solidFill>
          <a:ln w="12700">
            <a:solidFill>
              <a:srgbClr val="333333"/>
            </a:solidFill>
            <a:prstDash val="solid"/>
          </a:ln>
        </p:spPr>
      </p:sp>
      <p:sp>
        <p:nvSpPr>
          <p:cNvPr id="12" name="text"/>
          <p:cNvSpPr txBox="1"/>
          <p:nvPr/>
        </p:nvSpPr>
        <p:spPr>
          <a:xfrm>
            <a:off x="868680" y="4882896"/>
            <a:ext cx="1188720" cy="365760"/>
          </a:xfrm>
          <a:prstGeom prst="rect">
            <a:avLst/>
          </a:prstGeom>
          <a:noFill/>
          <a:ln/>
        </p:spPr>
        <p:txBody>
          <a:bodyPr wrap="square" lIns="0" tIns="0" rIns="0" bIns="0" rtlCol="0" anchor="t"/>
          <a:lstStyle/>
          <a:p>
            <a:pPr indent="0" marL="0">
              <a:buNone/>
            </a:pPr>
            <a:r>
              <a:rPr lang="en-US" sz="1200" b="1" dirty="0">
                <a:solidFill>
                  <a:schemeClr val="accent6"/>
                </a:solidFill>
              </a:rPr>
              <a:t>Not started</a:t>
            </a:r>
            <a:endParaRPr lang="en-US" sz="1200" dirty="0"/>
          </a:p>
        </p:txBody>
      </p:sp>
      <p:sp>
        <p:nvSpPr>
          <p:cNvPr id="13" name="text"/>
          <p:cNvSpPr txBox="1"/>
          <p:nvPr/>
        </p:nvSpPr>
        <p:spPr>
          <a:xfrm>
            <a:off x="2057400" y="4882896"/>
            <a:ext cx="4526280" cy="548640"/>
          </a:xfrm>
          <a:prstGeom prst="rect">
            <a:avLst/>
          </a:prstGeom>
          <a:noFill/>
          <a:ln/>
        </p:spPr>
        <p:txBody>
          <a:bodyPr wrap="square" lIns="0" tIns="0" rIns="0" bIns="0" rtlCol="0" anchor="t"/>
          <a:lstStyle/>
          <a:p>
            <a:pPr indent="0" marL="0">
              <a:buNone/>
            </a:pPr>
            <a:r>
              <a:rPr lang="en-US" sz="1050" dirty="0">
                <a:solidFill>
                  <a:schemeClr val="tx1"/>
                </a:solidFill>
              </a:rPr>
              <a:t>nothing maps to it; a metric does not compile and names the reason</a:t>
            </a:r>
            <a:endParaRPr lang="en-US" sz="1050" dirty="0"/>
          </a:p>
        </p:txBody>
      </p:sp>
      <p:sp>
        <p:nvSpPr>
          <p:cNvPr id="14" name="card"/>
          <p:cNvSpPr/>
          <p:nvPr/>
        </p:nvSpPr>
        <p:spPr>
          <a:xfrm>
            <a:off x="6949440" y="1417320"/>
            <a:ext cx="4690872" cy="4023360"/>
          </a:xfrm>
          <a:prstGeom prst="roundRect">
            <a:avLst>
              <a:gd name="adj" fmla="val 1818"/>
            </a:avLst>
          </a:prstGeom>
          <a:solidFill>
            <a:schemeClr val="bg2"/>
          </a:solidFill>
          <a:ln w="12700">
            <a:solidFill>
              <a:schemeClr val="bg2"/>
            </a:solidFill>
            <a:prstDash val="solid"/>
          </a:ln>
        </p:spPr>
      </p:sp>
      <p:sp>
        <p:nvSpPr>
          <p:cNvPr id="15" name="text"/>
          <p:cNvSpPr txBox="1"/>
          <p:nvPr/>
        </p:nvSpPr>
        <p:spPr>
          <a:xfrm>
            <a:off x="7178040" y="1600200"/>
            <a:ext cx="4206240" cy="274320"/>
          </a:xfrm>
          <a:prstGeom prst="rect">
            <a:avLst/>
          </a:prstGeom>
          <a:noFill/>
          <a:ln/>
        </p:spPr>
        <p:txBody>
          <a:bodyPr wrap="square" lIns="0" tIns="0" rIns="0" bIns="0" rtlCol="0" anchor="t"/>
          <a:lstStyle/>
          <a:p>
            <a:pPr indent="0" marL="0">
              <a:buNone/>
            </a:pPr>
            <a:r>
              <a:rPr lang="en-US" sz="1100" b="1" dirty="0">
                <a:solidFill>
                  <a:schemeClr val="accent6"/>
                </a:solidFill>
              </a:rPr>
              <a:t>WHAT THE BUILD NAMES</a:t>
            </a:r>
            <a:endParaRPr lang="en-US" sz="1100" dirty="0"/>
          </a:p>
        </p:txBody>
      </p:sp>
      <p:sp>
        <p:nvSpPr>
          <p:cNvPr id="16" name="text"/>
          <p:cNvSpPr txBox="1"/>
          <p:nvPr/>
        </p:nvSpPr>
        <p:spPr>
          <a:xfrm>
            <a:off x="7178040" y="1965960"/>
            <a:ext cx="1737360" cy="548640"/>
          </a:xfrm>
          <a:prstGeom prst="rect">
            <a:avLst/>
          </a:prstGeom>
          <a:noFill/>
          <a:ln/>
        </p:spPr>
        <p:txBody>
          <a:bodyPr wrap="square" lIns="0" tIns="0" rIns="0" bIns="0" rtlCol="0" anchor="t"/>
          <a:lstStyle/>
          <a:p>
            <a:pPr indent="0" marL="0">
              <a:buNone/>
            </a:pPr>
            <a:r>
              <a:rPr lang="en-US" sz="2800" b="1" dirty="0">
                <a:solidFill>
                  <a:schemeClr val="accent4"/>
                </a:solidFill>
              </a:rPr>
              <a:t>118</a:t>
            </a:r>
            <a:endParaRPr lang="en-US" sz="2800" dirty="0"/>
          </a:p>
        </p:txBody>
      </p:sp>
      <p:sp>
        <p:nvSpPr>
          <p:cNvPr id="17" name="text"/>
          <p:cNvSpPr txBox="1"/>
          <p:nvPr/>
        </p:nvSpPr>
        <p:spPr>
          <a:xfrm>
            <a:off x="8961120" y="2011680"/>
            <a:ext cx="2514600" cy="1005840"/>
          </a:xfrm>
          <a:prstGeom prst="rect">
            <a:avLst/>
          </a:prstGeom>
          <a:noFill/>
          <a:ln/>
        </p:spPr>
        <p:txBody>
          <a:bodyPr wrap="square" lIns="0" tIns="0" rIns="0" bIns="0" rtlCol="0" anchor="t"/>
          <a:lstStyle/>
          <a:p>
            <a:pPr indent="0" marL="0">
              <a:buNone/>
            </a:pPr>
            <a:r>
              <a:rPr lang="en-US" sz="1100" dirty="0">
                <a:solidFill>
                  <a:schemeClr val="tx1"/>
                </a:solidFill>
              </a:rPr>
              <a:t>gaps named, each with the source that would fill it or the owner who must rule</a:t>
            </a:r>
            <a:endParaRPr lang="en-US" sz="1100" dirty="0"/>
          </a:p>
        </p:txBody>
      </p:sp>
      <p:sp>
        <p:nvSpPr>
          <p:cNvPr id="18" name="text"/>
          <p:cNvSpPr txBox="1"/>
          <p:nvPr/>
        </p:nvSpPr>
        <p:spPr>
          <a:xfrm>
            <a:off x="7178040" y="3108960"/>
            <a:ext cx="1737360" cy="548640"/>
          </a:xfrm>
          <a:prstGeom prst="rect">
            <a:avLst/>
          </a:prstGeom>
          <a:noFill/>
          <a:ln/>
        </p:spPr>
        <p:txBody>
          <a:bodyPr wrap="square" lIns="0" tIns="0" rIns="0" bIns="0" rtlCol="0" anchor="t"/>
          <a:lstStyle/>
          <a:p>
            <a:pPr indent="0" marL="0">
              <a:buNone/>
            </a:pPr>
            <a:r>
              <a:rPr lang="en-US" sz="2800" b="1" dirty="0">
                <a:solidFill>
                  <a:schemeClr val="accent3"/>
                </a:solidFill>
              </a:rPr>
              <a:t>22</a:t>
            </a:r>
            <a:endParaRPr lang="en-US" sz="2800" dirty="0"/>
          </a:p>
        </p:txBody>
      </p:sp>
      <p:sp>
        <p:nvSpPr>
          <p:cNvPr id="19" name="text"/>
          <p:cNvSpPr txBox="1"/>
          <p:nvPr/>
        </p:nvSpPr>
        <p:spPr>
          <a:xfrm>
            <a:off x="8961120" y="3154680"/>
            <a:ext cx="2514600" cy="1005840"/>
          </a:xfrm>
          <a:prstGeom prst="rect">
            <a:avLst/>
          </a:prstGeom>
          <a:noFill/>
          <a:ln/>
        </p:spPr>
        <p:txBody>
          <a:bodyPr wrap="square" lIns="0" tIns="0" rIns="0" bIns="0" rtlCol="0" anchor="t"/>
          <a:lstStyle/>
          <a:p>
            <a:pPr indent="0" marL="0">
              <a:buNone/>
            </a:pPr>
            <a:r>
              <a:rPr lang="en-US" sz="1100" dirty="0">
                <a:solidFill>
                  <a:schemeClr val="tx1"/>
                </a:solidFill>
              </a:rPr>
              <a:t>questions declined with a reason and, where one exists, the gap id</a:t>
            </a:r>
            <a:endParaRPr lang="en-US" sz="1100" dirty="0"/>
          </a:p>
        </p:txBody>
      </p:sp>
      <p:sp>
        <p:nvSpPr>
          <p:cNvPr id="20" name="text"/>
          <p:cNvSpPr txBox="1"/>
          <p:nvPr/>
        </p:nvSpPr>
        <p:spPr>
          <a:xfrm>
            <a:off x="7178040" y="4251960"/>
            <a:ext cx="1737360" cy="548640"/>
          </a:xfrm>
          <a:prstGeom prst="rect">
            <a:avLst/>
          </a:prstGeom>
          <a:noFill/>
          <a:ln/>
        </p:spPr>
        <p:txBody>
          <a:bodyPr wrap="square" lIns="0" tIns="0" rIns="0" bIns="0" rtlCol="0" anchor="t"/>
          <a:lstStyle/>
          <a:p>
            <a:pPr indent="0" marL="0">
              <a:buNone/>
            </a:pPr>
            <a:r>
              <a:rPr lang="en-US" sz="2800" b="1" dirty="0">
                <a:solidFill>
                  <a:schemeClr val="accent5"/>
                </a:solidFill>
              </a:rPr>
              <a:t>33 of 722</a:t>
            </a:r>
            <a:endParaRPr lang="en-US" sz="2800" dirty="0"/>
          </a:p>
        </p:txBody>
      </p:sp>
      <p:sp>
        <p:nvSpPr>
          <p:cNvPr id="21" name="text"/>
          <p:cNvSpPr txBox="1"/>
          <p:nvPr/>
        </p:nvSpPr>
        <p:spPr>
          <a:xfrm>
            <a:off x="8961120" y="4297680"/>
            <a:ext cx="2514600" cy="1005840"/>
          </a:xfrm>
          <a:prstGeom prst="rect">
            <a:avLst/>
          </a:prstGeom>
          <a:noFill/>
          <a:ln/>
        </p:spPr>
        <p:txBody>
          <a:bodyPr wrap="square" lIns="0" tIns="0" rIns="0" bIns="0" rtlCol="0" anchor="t"/>
          <a:lstStyle/>
          <a:p>
            <a:pPr indent="0" marL="0">
              <a:buNone/>
            </a:pPr>
            <a:r>
              <a:rPr lang="en-US" sz="1100" dirty="0">
                <a:solidFill>
                  <a:schemeClr val="tx1"/>
                </a:solidFill>
              </a:rPr>
              <a:t>tests with failing rows, every one a declared gap, not a surprise</a:t>
            </a:r>
            <a:endParaRPr lang="en-US" sz="1100" dirty="0"/>
          </a:p>
        </p:txBody>
      </p:sp>
      <p:sp>
        <p:nvSpPr>
          <p:cNvPr id="22" name="card"/>
          <p:cNvSpPr/>
          <p:nvPr/>
        </p:nvSpPr>
        <p:spPr>
          <a:xfrm>
            <a:off x="548640" y="5577840"/>
            <a:ext cx="11094415" cy="457200"/>
          </a:xfrm>
          <a:prstGeom prst="roundRect">
            <a:avLst>
              <a:gd name="adj" fmla="val 16000"/>
            </a:avLst>
          </a:prstGeom>
          <a:solidFill>
            <a:schemeClr val="tx2"/>
          </a:solidFill>
          <a:ln w="12700">
            <a:solidFill>
              <a:schemeClr val="tx2"/>
            </a:solidFill>
            <a:prstDash val="solid"/>
          </a:ln>
        </p:spPr>
      </p:sp>
      <p:sp>
        <p:nvSpPr>
          <p:cNvPr id="23" name="text"/>
          <p:cNvSpPr txBox="1"/>
          <p:nvPr/>
        </p:nvSpPr>
        <p:spPr>
          <a:xfrm>
            <a:off x="822960" y="5705856"/>
            <a:ext cx="10545775" cy="201168"/>
          </a:xfrm>
          <a:prstGeom prst="rect">
            <a:avLst/>
          </a:prstGeom>
          <a:noFill/>
          <a:ln/>
        </p:spPr>
        <p:txBody>
          <a:bodyPr wrap="square" lIns="0" tIns="0" rIns="0" bIns="0" rtlCol="0" anchor="ctr"/>
          <a:lstStyle/>
          <a:p>
            <a:pPr indent="0" marL="0">
              <a:buNone/>
            </a:pPr>
            <a:r>
              <a:rPr lang="en-US" sz="1250" dirty="0">
                <a:solidFill>
                  <a:schemeClr val="bg1"/>
                </a:solidFill>
              </a:rPr>
              <a:t>A missing attribute is named with the source that would fill it. That list is the data management backlog, generated.</a:t>
            </a:r>
            <a:endParaRPr lang="en-US" sz="1250" dirty="0"/>
          </a:p>
        </p:txBody>
      </p:sp>
      <p:sp>
        <p:nvSpPr>
          <p:cNvPr id="24" name="text"/>
          <p:cNvSpPr txBox="1"/>
          <p:nvPr/>
        </p:nvSpPr>
        <p:spPr>
          <a:xfrm>
            <a:off x="548640" y="6108192"/>
            <a:ext cx="11094415" cy="256032"/>
          </a:xfrm>
          <a:prstGeom prst="rect">
            <a:avLst/>
          </a:prstGeom>
          <a:noFill/>
          <a:ln/>
        </p:spPr>
        <p:txBody>
          <a:bodyPr wrap="square" lIns="0" tIns="0" rIns="0" bIns="0" rtlCol="0" anchor="t"/>
          <a:lstStyle/>
          <a:p>
            <a:pPr indent="0" marL="0">
              <a:buNone/>
            </a:pPr>
            <a:r>
              <a:rPr lang="en-US" sz="950" i="1" dirty="0">
                <a:solidFill>
                  <a:schemeClr val="accent6"/>
                </a:solidFill>
              </a:rPr>
              <a:t>On the demo page: Overview › Activation summary (the table and its footer line)</a:t>
            </a:r>
            <a:endParaRPr lang="en-US" sz="9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148840"/>
            <a:ext cx="11094415" cy="457200"/>
          </a:xfrm>
          <a:prstGeom prst="rect">
            <a:avLst/>
          </a:prstGeom>
          <a:noFill/>
          <a:ln/>
        </p:spPr>
        <p:txBody>
          <a:bodyPr wrap="square" lIns="0" tIns="0" rIns="0" bIns="0" rtlCol="0"/>
          <a:lstStyle/>
          <a:p>
            <a:pPr indent="0" marL="0">
              <a:buNone/>
            </a:pPr>
            <a:r>
              <a:rPr lang="en-US" sz="1600" dirty="0">
                <a:solidFill>
                  <a:schemeClr val="bg2"/>
                </a:solidFill>
              </a:rPr>
              <a:t>PART 4</a:t>
            </a:r>
            <a:endParaRPr lang="en-US" sz="1600" dirty="0"/>
          </a:p>
        </p:txBody>
      </p:sp>
      <p:sp>
        <p:nvSpPr>
          <p:cNvPr id="3" name="Text 0"/>
          <p:cNvSpPr/>
          <p:nvPr>
            <p:ph idx="101" type="title" hasCustomPrompt="1"/>
          </p:nvPr>
        </p:nvSpPr>
        <p:spPr>
          <a:xfrm>
            <a:off x="548640" y="2606040"/>
            <a:ext cx="11094415" cy="1280160"/>
          </a:xfrm>
          <a:prstGeom prst="rect">
            <a:avLst/>
          </a:prstGeom>
          <a:noFill/>
          <a:ln/>
        </p:spPr>
        <p:txBody>
          <a:bodyPr wrap="square" lIns="0" tIns="0" rIns="0" bIns="0" rtlCol="0" anchor="t"/>
          <a:lstStyle/>
          <a:p>
            <a:pPr algn="l" indent="0" marL="0">
              <a:buNone/>
            </a:pPr>
            <a:r>
              <a:rPr lang="en-US" sz="4000" b="1" dirty="0">
                <a:solidFill>
                  <a:schemeClr val="bg1"/>
                </a:solidFill>
              </a:rPr>
              <a:t>The demo: map, compile, ask</a:t>
            </a:r>
            <a:endParaRPr lang="en-US" sz="4000" dirty="0"/>
          </a:p>
        </p:txBody>
      </p:sp>
      <p:sp>
        <p:nvSpPr>
          <p:cNvPr id="4" name="Text 0"/>
          <p:cNvSpPr/>
          <p:nvPr>
            <p:ph idx="102" type="body" hasCustomPrompt="1"/>
          </p:nvPr>
        </p:nvSpPr>
        <p:spPr>
          <a:xfrm>
            <a:off x="548640" y="4023360"/>
            <a:ext cx="8686800" cy="1463040"/>
          </a:xfrm>
          <a:prstGeom prst="rect">
            <a:avLst/>
          </a:prstGeom>
          <a:noFill/>
          <a:ln/>
        </p:spPr>
        <p:txBody>
          <a:bodyPr wrap="square" lIns="0" tIns="0" rIns="0" bIns="0" rtlCol="0" anchor="t"/>
          <a:lstStyle/>
          <a:p>
            <a:pPr indent="0" marL="0">
              <a:buNone/>
            </a:pPr>
            <a:r>
              <a:rPr lang="en-US" sz="1800" dirty="0">
                <a:solidFill>
                  <a:schemeClr val="bg2"/>
                </a:solidFill>
              </a:rPr>
              <a:t>Four semantic models, eight synthetic source systems, as of 2026-09-30. Built on DuckDB locally; the same layers on Spark in a Databricks shape. Every figure that follows is on the demo page.</a:t>
            </a:r>
            <a:endParaRPr lang="en-US" sz="1800" dirty="0"/>
          </a:p>
        </p:txBody>
      </p:sp>
      <p:sp>
        <p:nvSpPr>
          <p:cNvPr id="5" name="chip"/>
          <p:cNvSpPr/>
          <p:nvPr/>
        </p:nvSpPr>
        <p:spPr>
          <a:xfrm>
            <a:off x="548640" y="1371600"/>
            <a:ext cx="384048" cy="384048"/>
          </a:xfrm>
          <a:prstGeom prst="ellipse">
            <a:avLst/>
          </a:prstGeom>
          <a:solidFill>
            <a:schemeClr val="accent5"/>
          </a:solidFill>
          <a:ln w="12700">
            <a:solidFill>
              <a:schemeClr val="accent5"/>
            </a:solidFill>
            <a:prstDash val="solid"/>
          </a:ln>
        </p:spPr>
      </p:sp>
      <p:sp>
        <p:nvSpPr>
          <p:cNvPr id="6" name="text"/>
          <p:cNvSpPr txBox="1"/>
          <p:nvPr/>
        </p:nvSpPr>
        <p:spPr>
          <a:xfrm>
            <a:off x="548640" y="13716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7" name="text"/>
          <p:cNvSpPr txBox="1"/>
          <p:nvPr/>
        </p:nvSpPr>
        <p:spPr>
          <a:xfrm>
            <a:off x="1042416" y="1353312"/>
            <a:ext cx="3657600" cy="420624"/>
          </a:xfrm>
          <a:prstGeom prst="rect">
            <a:avLst/>
          </a:prstGeom>
          <a:noFill/>
          <a:ln/>
        </p:spPr>
        <p:txBody>
          <a:bodyPr wrap="square" lIns="0" tIns="0" rIns="0" bIns="0" rtlCol="0" anchor="ctr"/>
          <a:lstStyle/>
          <a:p>
            <a:pPr indent="0" marL="0">
              <a:buNone/>
            </a:pPr>
            <a:r>
              <a:rPr lang="en-US" sz="1400" b="1" dirty="0">
                <a:solidFill>
                  <a:schemeClr val="bg1"/>
                </a:solidFill>
              </a:rPr>
              <a:t>Compile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The demo in one picture: what three sentences of claim turned into</a:t>
            </a:r>
            <a:endParaRPr lang="en-US" sz="2800" dirty="0"/>
          </a:p>
        </p:txBody>
      </p:sp>
      <p:sp>
        <p:nvSpPr>
          <p:cNvPr id="4" name="card"/>
          <p:cNvSpPr/>
          <p:nvPr/>
        </p:nvSpPr>
        <p:spPr>
          <a:xfrm>
            <a:off x="548640" y="1417320"/>
            <a:ext cx="1737360" cy="1325880"/>
          </a:xfrm>
          <a:prstGeom prst="roundRect">
            <a:avLst>
              <a:gd name="adj" fmla="val 5517"/>
            </a:avLst>
          </a:prstGeom>
          <a:solidFill>
            <a:schemeClr val="bg2"/>
          </a:solidFill>
          <a:ln w="12700">
            <a:solidFill>
              <a:schemeClr val="bg2"/>
            </a:solidFill>
            <a:prstDash val="solid"/>
          </a:ln>
        </p:spPr>
      </p:sp>
      <p:sp>
        <p:nvSpPr>
          <p:cNvPr id="5" name="text"/>
          <p:cNvSpPr txBox="1"/>
          <p:nvPr/>
        </p:nvSpPr>
        <p:spPr>
          <a:xfrm>
            <a:off x="685800" y="1554480"/>
            <a:ext cx="1463040" cy="548640"/>
          </a:xfrm>
          <a:prstGeom prst="rect">
            <a:avLst/>
          </a:prstGeom>
          <a:noFill/>
          <a:ln/>
        </p:spPr>
        <p:txBody>
          <a:bodyPr wrap="square" lIns="0" tIns="0" rIns="0" bIns="0" rtlCol="0" anchor="t"/>
          <a:lstStyle/>
          <a:p>
            <a:pPr indent="0" marL="0">
              <a:buNone/>
            </a:pPr>
            <a:r>
              <a:rPr lang="en-US" sz="2400" b="1" dirty="0">
                <a:solidFill>
                  <a:schemeClr val="accent1"/>
                </a:solidFill>
              </a:rPr>
              <a:t>81 of 111</a:t>
            </a:r>
            <a:endParaRPr lang="en-US" sz="2400" dirty="0"/>
          </a:p>
        </p:txBody>
      </p:sp>
      <p:sp>
        <p:nvSpPr>
          <p:cNvPr id="6" name="text"/>
          <p:cNvSpPr txBox="1"/>
          <p:nvPr/>
        </p:nvSpPr>
        <p:spPr>
          <a:xfrm>
            <a:off x="685800" y="2130552"/>
            <a:ext cx="1463040" cy="548640"/>
          </a:xfrm>
          <a:prstGeom prst="rect">
            <a:avLst/>
          </a:prstGeom>
          <a:noFill/>
          <a:ln/>
        </p:spPr>
        <p:txBody>
          <a:bodyPr wrap="square" lIns="0" tIns="0" rIns="0" bIns="0" rtlCol="0" anchor="t"/>
          <a:lstStyle/>
          <a:p>
            <a:pPr indent="0" marL="0">
              <a:buNone/>
            </a:pPr>
            <a:r>
              <a:rPr lang="en-US" sz="1050" dirty="0">
                <a:solidFill>
                  <a:schemeClr val="accent6"/>
                </a:solidFill>
              </a:rPr>
              <a:t>in-scope metrics answer</a:t>
            </a:r>
            <a:endParaRPr lang="en-US" sz="1050" dirty="0"/>
          </a:p>
        </p:txBody>
      </p:sp>
      <p:sp>
        <p:nvSpPr>
          <p:cNvPr id="7" name="card"/>
          <p:cNvSpPr/>
          <p:nvPr/>
        </p:nvSpPr>
        <p:spPr>
          <a:xfrm>
            <a:off x="2404872" y="1417320"/>
            <a:ext cx="1737360" cy="1325880"/>
          </a:xfrm>
          <a:prstGeom prst="roundRect">
            <a:avLst>
              <a:gd name="adj" fmla="val 5517"/>
            </a:avLst>
          </a:prstGeom>
          <a:solidFill>
            <a:schemeClr val="bg2"/>
          </a:solidFill>
          <a:ln w="12700">
            <a:solidFill>
              <a:schemeClr val="bg2"/>
            </a:solidFill>
            <a:prstDash val="solid"/>
          </a:ln>
        </p:spPr>
      </p:sp>
      <p:sp>
        <p:nvSpPr>
          <p:cNvPr id="8" name="text"/>
          <p:cNvSpPr txBox="1"/>
          <p:nvPr/>
        </p:nvSpPr>
        <p:spPr>
          <a:xfrm>
            <a:off x="2542032" y="1554480"/>
            <a:ext cx="1463040" cy="548640"/>
          </a:xfrm>
          <a:prstGeom prst="rect">
            <a:avLst/>
          </a:prstGeom>
          <a:noFill/>
          <a:ln/>
        </p:spPr>
        <p:txBody>
          <a:bodyPr wrap="square" lIns="0" tIns="0" rIns="0" bIns="0" rtlCol="0" anchor="t"/>
          <a:lstStyle/>
          <a:p>
            <a:pPr indent="0" marL="0">
              <a:buNone/>
            </a:pPr>
            <a:r>
              <a:rPr lang="en-US" sz="2400" b="1" dirty="0">
                <a:solidFill>
                  <a:schemeClr val="accent2"/>
                </a:solidFill>
              </a:rPr>
              <a:t>504</a:t>
            </a:r>
            <a:endParaRPr lang="en-US" sz="2400" dirty="0"/>
          </a:p>
        </p:txBody>
      </p:sp>
      <p:sp>
        <p:nvSpPr>
          <p:cNvPr id="9" name="text"/>
          <p:cNvSpPr txBox="1"/>
          <p:nvPr/>
        </p:nvSpPr>
        <p:spPr>
          <a:xfrm>
            <a:off x="2542032" y="2130552"/>
            <a:ext cx="1463040" cy="548640"/>
          </a:xfrm>
          <a:prstGeom prst="rect">
            <a:avLst/>
          </a:prstGeom>
          <a:noFill/>
          <a:ln/>
        </p:spPr>
        <p:txBody>
          <a:bodyPr wrap="square" lIns="0" tIns="0" rIns="0" bIns="0" rtlCol="0" anchor="t"/>
          <a:lstStyle/>
          <a:p>
            <a:pPr indent="0" marL="0">
              <a:buNone/>
            </a:pPr>
            <a:r>
              <a:rPr lang="en-US" sz="1050" dirty="0">
                <a:solidFill>
                  <a:schemeClr val="accent6"/>
                </a:solidFill>
              </a:rPr>
              <a:t>certified rows proven to the cent</a:t>
            </a:r>
            <a:endParaRPr lang="en-US" sz="1050" dirty="0"/>
          </a:p>
        </p:txBody>
      </p:sp>
      <p:sp>
        <p:nvSpPr>
          <p:cNvPr id="10" name="card"/>
          <p:cNvSpPr/>
          <p:nvPr/>
        </p:nvSpPr>
        <p:spPr>
          <a:xfrm>
            <a:off x="4261104" y="1417320"/>
            <a:ext cx="1737360" cy="1325880"/>
          </a:xfrm>
          <a:prstGeom prst="roundRect">
            <a:avLst>
              <a:gd name="adj" fmla="val 5517"/>
            </a:avLst>
          </a:prstGeom>
          <a:solidFill>
            <a:schemeClr val="bg2"/>
          </a:solidFill>
          <a:ln w="12700">
            <a:solidFill>
              <a:schemeClr val="bg2"/>
            </a:solidFill>
            <a:prstDash val="solid"/>
          </a:ln>
        </p:spPr>
      </p:sp>
      <p:sp>
        <p:nvSpPr>
          <p:cNvPr id="11" name="text"/>
          <p:cNvSpPr txBox="1"/>
          <p:nvPr/>
        </p:nvSpPr>
        <p:spPr>
          <a:xfrm>
            <a:off x="4398264" y="1554480"/>
            <a:ext cx="1463040" cy="548640"/>
          </a:xfrm>
          <a:prstGeom prst="rect">
            <a:avLst/>
          </a:prstGeom>
          <a:noFill/>
          <a:ln/>
        </p:spPr>
        <p:txBody>
          <a:bodyPr wrap="square" lIns="0" tIns="0" rIns="0" bIns="0" rtlCol="0" anchor="t"/>
          <a:lstStyle/>
          <a:p>
            <a:pPr indent="0" marL="0">
              <a:buNone/>
            </a:pPr>
            <a:r>
              <a:rPr lang="en-US" sz="2400" b="1" dirty="0">
                <a:solidFill>
                  <a:schemeClr val="accent5"/>
                </a:solidFill>
              </a:rPr>
              <a:t>722</a:t>
            </a:r>
            <a:endParaRPr lang="en-US" sz="2400" dirty="0"/>
          </a:p>
        </p:txBody>
      </p:sp>
      <p:sp>
        <p:nvSpPr>
          <p:cNvPr id="12" name="text"/>
          <p:cNvSpPr txBox="1"/>
          <p:nvPr/>
        </p:nvSpPr>
        <p:spPr>
          <a:xfrm>
            <a:off x="4398264" y="2130552"/>
            <a:ext cx="1463040" cy="548640"/>
          </a:xfrm>
          <a:prstGeom prst="rect">
            <a:avLst/>
          </a:prstGeom>
          <a:noFill/>
          <a:ln/>
        </p:spPr>
        <p:txBody>
          <a:bodyPr wrap="square" lIns="0" tIns="0" rIns="0" bIns="0" rtlCol="0" anchor="t"/>
          <a:lstStyle/>
          <a:p>
            <a:pPr indent="0" marL="0">
              <a:buNone/>
            </a:pPr>
            <a:r>
              <a:rPr lang="en-US" sz="1050" dirty="0">
                <a:solidFill>
                  <a:schemeClr val="accent6"/>
                </a:solidFill>
              </a:rPr>
              <a:t>generated tests</a:t>
            </a:r>
            <a:endParaRPr lang="en-US" sz="1050" dirty="0"/>
          </a:p>
        </p:txBody>
      </p:sp>
      <p:sp>
        <p:nvSpPr>
          <p:cNvPr id="13" name="card"/>
          <p:cNvSpPr/>
          <p:nvPr/>
        </p:nvSpPr>
        <p:spPr>
          <a:xfrm>
            <a:off x="6117336" y="1417320"/>
            <a:ext cx="1737360" cy="1325880"/>
          </a:xfrm>
          <a:prstGeom prst="roundRect">
            <a:avLst>
              <a:gd name="adj" fmla="val 5517"/>
            </a:avLst>
          </a:prstGeom>
          <a:solidFill>
            <a:schemeClr val="bg2"/>
          </a:solidFill>
          <a:ln w="12700">
            <a:solidFill>
              <a:schemeClr val="bg2"/>
            </a:solidFill>
            <a:prstDash val="solid"/>
          </a:ln>
        </p:spPr>
      </p:sp>
      <p:sp>
        <p:nvSpPr>
          <p:cNvPr id="14" name="text"/>
          <p:cNvSpPr txBox="1"/>
          <p:nvPr/>
        </p:nvSpPr>
        <p:spPr>
          <a:xfrm>
            <a:off x="6254496" y="1554480"/>
            <a:ext cx="1463040" cy="548640"/>
          </a:xfrm>
          <a:prstGeom prst="rect">
            <a:avLst/>
          </a:prstGeom>
          <a:noFill/>
          <a:ln/>
        </p:spPr>
        <p:txBody>
          <a:bodyPr wrap="square" lIns="0" tIns="0" rIns="0" bIns="0" rtlCol="0" anchor="t"/>
          <a:lstStyle/>
          <a:p>
            <a:pPr indent="0" marL="0">
              <a:buNone/>
            </a:pPr>
            <a:r>
              <a:rPr lang="en-US" sz="2400" b="1" dirty="0">
                <a:solidFill>
                  <a:schemeClr val="accent2"/>
                </a:solidFill>
              </a:rPr>
              <a:t>3 of 3</a:t>
            </a:r>
            <a:endParaRPr lang="en-US" sz="2400" dirty="0"/>
          </a:p>
        </p:txBody>
      </p:sp>
      <p:sp>
        <p:nvSpPr>
          <p:cNvPr id="15" name="text"/>
          <p:cNvSpPr txBox="1"/>
          <p:nvPr/>
        </p:nvSpPr>
        <p:spPr>
          <a:xfrm>
            <a:off x="6254496" y="2130552"/>
            <a:ext cx="1463040" cy="548640"/>
          </a:xfrm>
          <a:prstGeom prst="rect">
            <a:avLst/>
          </a:prstGeom>
          <a:noFill/>
          <a:ln/>
        </p:spPr>
        <p:txBody>
          <a:bodyPr wrap="square" lIns="0" tIns="0" rIns="0" bIns="0" rtlCol="0" anchor="t"/>
          <a:lstStyle/>
          <a:p>
            <a:pPr indent="0" marL="0">
              <a:buNone/>
            </a:pPr>
            <a:r>
              <a:rPr lang="en-US" sz="1050" dirty="0">
                <a:solidFill>
                  <a:schemeClr val="accent6"/>
                </a:solidFill>
              </a:rPr>
              <a:t>planted gaps caught</a:t>
            </a:r>
            <a:endParaRPr lang="en-US" sz="1050" dirty="0"/>
          </a:p>
        </p:txBody>
      </p:sp>
      <p:sp>
        <p:nvSpPr>
          <p:cNvPr id="16" name="card"/>
          <p:cNvSpPr/>
          <p:nvPr/>
        </p:nvSpPr>
        <p:spPr>
          <a:xfrm>
            <a:off x="7973568" y="1417320"/>
            <a:ext cx="1737360" cy="1325880"/>
          </a:xfrm>
          <a:prstGeom prst="roundRect">
            <a:avLst>
              <a:gd name="adj" fmla="val 5517"/>
            </a:avLst>
          </a:prstGeom>
          <a:solidFill>
            <a:schemeClr val="bg2"/>
          </a:solidFill>
          <a:ln w="12700">
            <a:solidFill>
              <a:schemeClr val="bg2"/>
            </a:solidFill>
            <a:prstDash val="solid"/>
          </a:ln>
        </p:spPr>
      </p:sp>
      <p:sp>
        <p:nvSpPr>
          <p:cNvPr id="17" name="text"/>
          <p:cNvSpPr txBox="1"/>
          <p:nvPr/>
        </p:nvSpPr>
        <p:spPr>
          <a:xfrm>
            <a:off x="8110728" y="1554480"/>
            <a:ext cx="1463040" cy="548640"/>
          </a:xfrm>
          <a:prstGeom prst="rect">
            <a:avLst/>
          </a:prstGeom>
          <a:noFill/>
          <a:ln/>
        </p:spPr>
        <p:txBody>
          <a:bodyPr wrap="square" lIns="0" tIns="0" rIns="0" bIns="0" rtlCol="0" anchor="t"/>
          <a:lstStyle/>
          <a:p>
            <a:pPr indent="0" marL="0">
              <a:buNone/>
            </a:pPr>
            <a:r>
              <a:rPr lang="en-US" sz="2400" b="1" dirty="0">
                <a:solidFill>
                  <a:schemeClr val="accent4"/>
                </a:solidFill>
              </a:rPr>
              <a:t>118</a:t>
            </a:r>
            <a:endParaRPr lang="en-US" sz="2400" dirty="0"/>
          </a:p>
        </p:txBody>
      </p:sp>
      <p:sp>
        <p:nvSpPr>
          <p:cNvPr id="18" name="text"/>
          <p:cNvSpPr txBox="1"/>
          <p:nvPr/>
        </p:nvSpPr>
        <p:spPr>
          <a:xfrm>
            <a:off x="8110728" y="2130552"/>
            <a:ext cx="1463040" cy="548640"/>
          </a:xfrm>
          <a:prstGeom prst="rect">
            <a:avLst/>
          </a:prstGeom>
          <a:noFill/>
          <a:ln/>
        </p:spPr>
        <p:txBody>
          <a:bodyPr wrap="square" lIns="0" tIns="0" rIns="0" bIns="0" rtlCol="0" anchor="t"/>
          <a:lstStyle/>
          <a:p>
            <a:pPr indent="0" marL="0">
              <a:buNone/>
            </a:pPr>
            <a:r>
              <a:rPr lang="en-US" sz="1050" dirty="0">
                <a:solidFill>
                  <a:schemeClr val="accent6"/>
                </a:solidFill>
              </a:rPr>
              <a:t>gaps named</a:t>
            </a:r>
            <a:endParaRPr lang="en-US" sz="1050" dirty="0"/>
          </a:p>
        </p:txBody>
      </p:sp>
      <p:sp>
        <p:nvSpPr>
          <p:cNvPr id="19" name="card"/>
          <p:cNvSpPr/>
          <p:nvPr/>
        </p:nvSpPr>
        <p:spPr>
          <a:xfrm>
            <a:off x="9829800" y="1417320"/>
            <a:ext cx="1737360" cy="1325880"/>
          </a:xfrm>
          <a:prstGeom prst="roundRect">
            <a:avLst>
              <a:gd name="adj" fmla="val 5517"/>
            </a:avLst>
          </a:prstGeom>
          <a:solidFill>
            <a:schemeClr val="bg2"/>
          </a:solidFill>
          <a:ln w="12700">
            <a:solidFill>
              <a:schemeClr val="bg2"/>
            </a:solidFill>
            <a:prstDash val="solid"/>
          </a:ln>
        </p:spPr>
      </p:sp>
      <p:sp>
        <p:nvSpPr>
          <p:cNvPr id="20" name="text"/>
          <p:cNvSpPr txBox="1"/>
          <p:nvPr/>
        </p:nvSpPr>
        <p:spPr>
          <a:xfrm>
            <a:off x="9966960" y="1554480"/>
            <a:ext cx="1463040" cy="548640"/>
          </a:xfrm>
          <a:prstGeom prst="rect">
            <a:avLst/>
          </a:prstGeom>
          <a:noFill/>
          <a:ln/>
        </p:spPr>
        <p:txBody>
          <a:bodyPr wrap="square" lIns="0" tIns="0" rIns="0" bIns="0" rtlCol="0" anchor="t"/>
          <a:lstStyle/>
          <a:p>
            <a:pPr indent="0" marL="0">
              <a:buNone/>
            </a:pPr>
            <a:r>
              <a:rPr lang="en-US" sz="2400" b="1" dirty="0">
                <a:solidFill>
                  <a:schemeClr val="accent3"/>
                </a:solidFill>
              </a:rPr>
              <a:t>22</a:t>
            </a:r>
            <a:endParaRPr lang="en-US" sz="2400" dirty="0"/>
          </a:p>
        </p:txBody>
      </p:sp>
      <p:sp>
        <p:nvSpPr>
          <p:cNvPr id="21" name="text"/>
          <p:cNvSpPr txBox="1"/>
          <p:nvPr/>
        </p:nvSpPr>
        <p:spPr>
          <a:xfrm>
            <a:off x="9966960" y="2130552"/>
            <a:ext cx="1463040" cy="548640"/>
          </a:xfrm>
          <a:prstGeom prst="rect">
            <a:avLst/>
          </a:prstGeom>
          <a:noFill/>
          <a:ln/>
        </p:spPr>
        <p:txBody>
          <a:bodyPr wrap="square" lIns="0" tIns="0" rIns="0" bIns="0" rtlCol="0" anchor="t"/>
          <a:lstStyle/>
          <a:p>
            <a:pPr indent="0" marL="0">
              <a:buNone/>
            </a:pPr>
            <a:r>
              <a:rPr lang="en-US" sz="1050" dirty="0">
                <a:solidFill>
                  <a:schemeClr val="accent6"/>
                </a:solidFill>
              </a:rPr>
              <a:t>questions declined with a reason</a:t>
            </a:r>
            <a:endParaRPr lang="en-US" sz="105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3017520"/>
          <a:ext cx="7863840" cy="914400"/>
        </p:xfrm>
        <a:graphic>
          <a:graphicData uri="http://schemas.openxmlformats.org/drawingml/2006/table">
            <a:tbl>
              <a:tblPr/>
              <a:tblGrid>
                <a:gridCol w="3566160"/>
                <a:gridCol w="2834640"/>
                <a:gridCol w="731520"/>
                <a:gridCol w="731520"/>
              </a:tblGrid>
              <a:tr h="0">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Semantic model</a:t>
                      </a:r>
                      <a:endParaRPr lang="en-US" sz="11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Owner</a:t>
                      </a:r>
                      <a:endParaRPr lang="en-US" sz="11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r" indent="0" marL="0">
                        <a:buNone/>
                      </a:pPr>
                      <a:r>
                        <a:rPr lang="en-US" sz="1150" b="1" dirty="0">
                          <a:solidFill>
                            <a:srgbClr val="FFFFFF"/>
                          </a:solidFill>
                          <a:latin typeface="Arial" pitchFamily="34" charset="0"/>
                          <a:ea typeface="Arial" pitchFamily="34" charset="-122"/>
                          <a:cs typeface="Arial" pitchFamily="34" charset="-120"/>
                        </a:rPr>
                        <a:t>Tables kept</a:t>
                      </a:r>
                      <a:endParaRPr lang="en-US" sz="11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r" indent="0" marL="0">
                        <a:buNone/>
                      </a:pPr>
                      <a:r>
                        <a:rPr lang="en-US" sz="1150" b="1" dirty="0">
                          <a:solidFill>
                            <a:srgbClr val="FFFFFF"/>
                          </a:solidFill>
                          <a:latin typeface="Arial" pitchFamily="34" charset="0"/>
                          <a:ea typeface="Arial" pitchFamily="34" charset="-122"/>
                          <a:cs typeface="Arial" pitchFamily="34" charset="-120"/>
                        </a:rPr>
                        <a:t>Of</a:t>
                      </a:r>
                      <a:endParaRPr lang="en-US" sz="11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r>
              <a:tr h="0">
                <a:tc>
                  <a:txBody>
                    <a:bodyPr/>
                    <a:lstStyle/>
                    <a:p>
                      <a:pPr algn="l" indent="0" marL="0">
                        <a:buNone/>
                      </a:pPr>
                      <a:r>
                        <a:rPr lang="en-US" sz="1150" dirty="0">
                          <a:solidFill>
                            <a:srgbClr val="1A2B3C"/>
                          </a:solidFill>
                          <a:latin typeface="Arial" pitchFamily="34" charset="0"/>
                          <a:ea typeface="Arial" pitchFamily="34" charset="-122"/>
                          <a:cs typeface="Arial" pitchFamily="34" charset="-120"/>
                        </a:rPr>
                        <a:t>SM-20 Client Assets &amp; Flows</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2B3C"/>
                          </a:solidFill>
                          <a:latin typeface="Arial" pitchFamily="34" charset="0"/>
                          <a:ea typeface="Arial" pitchFamily="34" charset="-122"/>
                          <a:cs typeface="Arial" pitchFamily="34" charset="-120"/>
                        </a:rPr>
                        <a:t>Head of Client &amp; Channel Analytics</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A2B3C"/>
                          </a:solidFill>
                          <a:latin typeface="Arial" pitchFamily="34" charset="0"/>
                          <a:ea typeface="Arial" pitchFamily="34" charset="-122"/>
                          <a:cs typeface="Arial" pitchFamily="34" charset="-120"/>
                        </a:rPr>
                        <a:t>11</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A2B3C"/>
                          </a:solidFill>
                          <a:latin typeface="Arial" pitchFamily="34" charset="0"/>
                          <a:ea typeface="Arial" pitchFamily="34" charset="-122"/>
                          <a:cs typeface="Arial" pitchFamily="34" charset="-120"/>
                        </a:rPr>
                        <a:t>26</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150" dirty="0">
                          <a:solidFill>
                            <a:srgbClr val="1A2B3C"/>
                          </a:solidFill>
                          <a:latin typeface="Arial" pitchFamily="34" charset="0"/>
                          <a:ea typeface="Arial" pitchFamily="34" charset="-122"/>
                          <a:cs typeface="Arial" pitchFamily="34" charset="-120"/>
                        </a:rPr>
                        <a:t>SM-21 Client &amp; Household 360</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150" dirty="0">
                          <a:solidFill>
                            <a:srgbClr val="1A2B3C"/>
                          </a:solidFill>
                          <a:latin typeface="Arial" pitchFamily="34" charset="0"/>
                          <a:ea typeface="Arial" pitchFamily="34" charset="-122"/>
                          <a:cs typeface="Arial" pitchFamily="34" charset="-120"/>
                        </a:rPr>
                        <a:t>Head of Client Data</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150" dirty="0">
                          <a:solidFill>
                            <a:srgbClr val="1A2B3C"/>
                          </a:solidFill>
                          <a:latin typeface="Arial" pitchFamily="34" charset="0"/>
                          <a:ea typeface="Arial" pitchFamily="34" charset="-122"/>
                          <a:cs typeface="Arial" pitchFamily="34" charset="-120"/>
                        </a:rPr>
                        <a:t>7</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150" dirty="0">
                          <a:solidFill>
                            <a:srgbClr val="1A2B3C"/>
                          </a:solidFill>
                          <a:latin typeface="Arial" pitchFamily="34" charset="0"/>
                          <a:ea typeface="Arial" pitchFamily="34" charset="-122"/>
                          <a:cs typeface="Arial" pitchFamily="34" charset="-120"/>
                        </a:rPr>
                        <a:t>14</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150" dirty="0">
                          <a:solidFill>
                            <a:srgbClr val="1A2B3C"/>
                          </a:solidFill>
                          <a:latin typeface="Arial" pitchFamily="34" charset="0"/>
                          <a:ea typeface="Arial" pitchFamily="34" charset="-122"/>
                          <a:cs typeface="Arial" pitchFamily="34" charset="-120"/>
                        </a:rPr>
                        <a:t>SM-27 Intermediary &amp; Institutional Channel</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2B3C"/>
                          </a:solidFill>
                          <a:latin typeface="Arial" pitchFamily="34" charset="0"/>
                          <a:ea typeface="Arial" pitchFamily="34" charset="-122"/>
                          <a:cs typeface="Arial" pitchFamily="34" charset="-120"/>
                        </a:rPr>
                        <a:t>Head of Intermediary Distribution</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A2B3C"/>
                          </a:solidFill>
                          <a:latin typeface="Arial" pitchFamily="34" charset="0"/>
                          <a:ea typeface="Arial" pitchFamily="34" charset="-122"/>
                          <a:cs typeface="Arial" pitchFamily="34" charset="-120"/>
                        </a:rPr>
                        <a:t>7</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A2B3C"/>
                          </a:solidFill>
                          <a:latin typeface="Arial" pitchFamily="34" charset="0"/>
                          <a:ea typeface="Arial" pitchFamily="34" charset="-122"/>
                          <a:cs typeface="Arial" pitchFamily="34" charset="-120"/>
                        </a:rPr>
                        <a:t>96</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150" dirty="0">
                          <a:solidFill>
                            <a:srgbClr val="1A2B3C"/>
                          </a:solidFill>
                          <a:latin typeface="Arial" pitchFamily="34" charset="0"/>
                          <a:ea typeface="Arial" pitchFamily="34" charset="-122"/>
                          <a:cs typeface="Arial" pitchFamily="34" charset="-120"/>
                        </a:rPr>
                        <a:t>SM-28 Client Economics</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150" dirty="0">
                          <a:solidFill>
                            <a:srgbClr val="1A2B3C"/>
                          </a:solidFill>
                          <a:latin typeface="Arial" pitchFamily="34" charset="0"/>
                          <a:ea typeface="Arial" pitchFamily="34" charset="-122"/>
                          <a:cs typeface="Arial" pitchFamily="34" charset="-120"/>
                        </a:rPr>
                        <a:t>Head of Client Revenue Finance</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150" dirty="0">
                          <a:solidFill>
                            <a:srgbClr val="1A2B3C"/>
                          </a:solidFill>
                          <a:latin typeface="Arial" pitchFamily="34" charset="0"/>
                          <a:ea typeface="Arial" pitchFamily="34" charset="-122"/>
                          <a:cs typeface="Arial" pitchFamily="34" charset="-120"/>
                        </a:rPr>
                        <a:t>20</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150" dirty="0">
                          <a:solidFill>
                            <a:srgbClr val="1A2B3C"/>
                          </a:solidFill>
                          <a:latin typeface="Arial" pitchFamily="34" charset="0"/>
                          <a:ea typeface="Arial" pitchFamily="34" charset="-122"/>
                          <a:cs typeface="Arial" pitchFamily="34" charset="-120"/>
                        </a:rPr>
                        <a:t>33</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bl>
          </a:graphicData>
        </a:graphic>
      </p:graphicFrame>
      <p:sp>
        <p:nvSpPr>
          <p:cNvPr id="23" name="card"/>
          <p:cNvSpPr/>
          <p:nvPr/>
        </p:nvSpPr>
        <p:spPr>
          <a:xfrm>
            <a:off x="8686800" y="3017520"/>
            <a:ext cx="2953512" cy="3017520"/>
          </a:xfrm>
          <a:prstGeom prst="roundRect">
            <a:avLst>
              <a:gd name="adj" fmla="val 2477"/>
            </a:avLst>
          </a:prstGeom>
          <a:solidFill>
            <a:schemeClr val="tx2"/>
          </a:solidFill>
          <a:ln w="12700">
            <a:solidFill>
              <a:schemeClr val="tx2"/>
            </a:solidFill>
            <a:prstDash val="solid"/>
          </a:ln>
        </p:spPr>
      </p:sp>
      <p:sp>
        <p:nvSpPr>
          <p:cNvPr id="24" name="text"/>
          <p:cNvSpPr txBox="1"/>
          <p:nvPr/>
        </p:nvSpPr>
        <p:spPr>
          <a:xfrm>
            <a:off x="8887968" y="3182112"/>
            <a:ext cx="2560320" cy="274320"/>
          </a:xfrm>
          <a:prstGeom prst="rect">
            <a:avLst/>
          </a:prstGeom>
          <a:noFill/>
          <a:ln/>
        </p:spPr>
        <p:txBody>
          <a:bodyPr wrap="square" lIns="0" tIns="0" rIns="0" bIns="0" rtlCol="0" anchor="t"/>
          <a:lstStyle/>
          <a:p>
            <a:pPr indent="0" marL="0">
              <a:buNone/>
            </a:pPr>
            <a:r>
              <a:rPr lang="en-US" sz="1100" b="1" dirty="0">
                <a:solidFill>
                  <a:schemeClr val="accent4"/>
                </a:solidFill>
              </a:rPr>
              <a:t>THE SETUP</a:t>
            </a:r>
            <a:endParaRPr lang="en-US" sz="1100" dirty="0"/>
          </a:p>
        </p:txBody>
      </p:sp>
      <p:sp>
        <p:nvSpPr>
          <p:cNvPr id="25" name="text"/>
          <p:cNvSpPr txBox="1"/>
          <p:nvPr/>
        </p:nvSpPr>
        <p:spPr>
          <a:xfrm>
            <a:off x="8887968" y="3502152"/>
            <a:ext cx="2560320" cy="2468880"/>
          </a:xfrm>
          <a:prstGeom prst="rect">
            <a:avLst/>
          </a:prstGeom>
          <a:noFill/>
          <a:ln/>
        </p:spPr>
        <p:txBody>
          <a:bodyPr wrap="square" lIns="0" tIns="0" rIns="0" bIns="0" rtlCol="0" anchor="t"/>
          <a:lstStyle/>
          <a:p>
            <a:pPr indent="0" marL="0">
              <a:spcAft>
                <a:spcPts val="600"/>
              </a:spcAft>
              <a:buNone/>
            </a:pPr>
            <a:r>
              <a:rPr lang="en-US" sz="1050" dirty="0">
                <a:solidFill>
                  <a:schemeClr val="bg1"/>
                </a:solidFill>
              </a:rPr>
              <a:t>The slice is the one input: the semantic models to activate. Tables, entities, metrics, questions and the sources needed are resolved from their bindings.</a:t>
            </a:r>
            <a:endParaRPr lang="en-US" sz="1050" dirty="0"/>
          </a:p>
          <a:p>
            <a:pPr indent="0" marL="0">
              <a:spcAft>
                <a:spcPts val="600"/>
              </a:spcAft>
              <a:buNone/>
            </a:pPr>
            <a:r>
              <a:rPr lang="en-US" sz="1050" dirty="0">
                <a:solidFill>
                  <a:schemeClr val="bg1"/>
                </a:solidFill>
              </a:rPr>
              <a:t>Eight synthetic sources in their vendors' shapes and codes; nothing in them uses the taxonomy's names.</a:t>
            </a:r>
            <a:endParaRPr lang="en-US" sz="1050" dirty="0"/>
          </a:p>
          <a:p>
            <a:pPr indent="0" marL="0">
              <a:buNone/>
            </a:pPr>
            <a:r>
              <a:rPr lang="en-US" sz="1050" dirty="0">
                <a:solidFill>
                  <a:schemeClr val="bg1"/>
                </a:solidFill>
              </a:rPr>
              <a:t>As of 2026-09-30. DuckDB locally; the same layers on Spark, laid out as a Databricks workspace.</a:t>
            </a:r>
            <a:endParaRPr lang="en-US" sz="1050" dirty="0"/>
          </a:p>
        </p:txBody>
      </p:sp>
      <p:sp>
        <p:nvSpPr>
          <p:cNvPr id="26" name="text"/>
          <p:cNvSpPr txBox="1"/>
          <p:nvPr/>
        </p:nvSpPr>
        <p:spPr>
          <a:xfrm>
            <a:off x="548640" y="6108192"/>
            <a:ext cx="11094415" cy="256032"/>
          </a:xfrm>
          <a:prstGeom prst="rect">
            <a:avLst/>
          </a:prstGeom>
          <a:noFill/>
          <a:ln/>
        </p:spPr>
        <p:txBody>
          <a:bodyPr wrap="square" lIns="0" tIns="0" rIns="0" bIns="0" rtlCol="0" anchor="t"/>
          <a:lstStyle/>
          <a:p>
            <a:pPr indent="0" marL="0">
              <a:buNone/>
            </a:pPr>
            <a:r>
              <a:rPr lang="en-US" sz="950" i="1" dirty="0">
                <a:solidFill>
                  <a:schemeClr val="accent6"/>
                </a:solidFill>
              </a:rPr>
              <a:t>On the demo page: Overview › the six tiles, and The slice</a:t>
            </a:r>
            <a:endParaRPr lang="en-US" sz="9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Moment 1, Map: eight sources, one registry, confirmed by a steward</a:t>
            </a:r>
            <a:endParaRPr lang="en-US" sz="28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6492240" cy="914400"/>
        </p:xfrm>
        <a:graphic>
          <a:graphicData uri="http://schemas.openxmlformats.org/drawingml/2006/table">
            <a:tbl>
              <a:tblPr/>
              <a:tblGrid>
                <a:gridCol w="914400"/>
                <a:gridCol w="3931920"/>
                <a:gridCol w="731520"/>
                <a:gridCol w="914400"/>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Source</a:t>
                      </a:r>
                      <a:endParaRPr lang="en-US" sz="10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System</a:t>
                      </a:r>
                      <a:endParaRPr lang="en-US" sz="10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r" indent="0" marL="0">
                        <a:buNone/>
                      </a:pPr>
                      <a:r>
                        <a:rPr lang="en-US" sz="1050" b="1" dirty="0">
                          <a:solidFill>
                            <a:srgbClr val="FFFFFF"/>
                          </a:solidFill>
                          <a:latin typeface="Arial" pitchFamily="34" charset="0"/>
                          <a:ea typeface="Arial" pitchFamily="34" charset="-122"/>
                          <a:cs typeface="Arial" pitchFamily="34" charset="-120"/>
                        </a:rPr>
                        <a:t>Objects</a:t>
                      </a:r>
                      <a:endParaRPr lang="en-US" sz="10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r" indent="0" marL="0">
                        <a:buNone/>
                      </a:pPr>
                      <a:r>
                        <a:rPr lang="en-US" sz="1050" b="1" dirty="0">
                          <a:solidFill>
                            <a:srgbClr val="FFFFFF"/>
                          </a:solidFill>
                          <a:latin typeface="Arial" pitchFamily="34" charset="0"/>
                          <a:ea typeface="Arial" pitchFamily="34" charset="-122"/>
                          <a:cs typeface="Arial" pitchFamily="34" charset="-120"/>
                        </a:rPr>
                        <a:t>Registry rows</a:t>
                      </a:r>
                      <a:endParaRPr lang="en-US" sz="10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SRC-BRK</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Brokerage Clearing Platform</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19</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106</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SRC-CRM</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Client Relationship Management (Salesforce FSC shape)</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20</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114</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SRC-TA</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Transfer Agent Fund Share Register</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17</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87</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SRC-INST</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Institutional Client Platform</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15</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83</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SRC-PAB</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Portfolio Accounting Book of Record</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11</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76</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SRC-BIL</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Advisory Fee Billing Engine</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9</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92</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SRC-REV</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Revenue Sub-Ledger</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23</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SRC-CST</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Cost Allocation Engine</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25</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A2B3C"/>
                          </a:solidFill>
                          <a:latin typeface="Arial" pitchFamily="34" charset="0"/>
                          <a:ea typeface="Arial" pitchFamily="34" charset="-122"/>
                          <a:cs typeface="Arial" pitchFamily="34" charset="-120"/>
                        </a:rPr>
                        <a:t>Eight sources; 418 taxonomy attributes mapped; 0 errors</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A2B3C"/>
                          </a:solidFill>
                          <a:latin typeface="Arial" pitchFamily="34" charset="0"/>
                          <a:ea typeface="Arial" pitchFamily="34" charset="-122"/>
                          <a:cs typeface="Arial" pitchFamily="34" charset="-120"/>
                        </a:rPr>
                        <a:t>606</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bl>
          </a:graphicData>
        </a:graphic>
      </p:graphicFrame>
      <p:sp>
        <p:nvSpPr>
          <p:cNvPr id="5" name="card"/>
          <p:cNvSpPr/>
          <p:nvPr/>
        </p:nvSpPr>
        <p:spPr>
          <a:xfrm>
            <a:off x="7315200" y="1417320"/>
            <a:ext cx="4325112" cy="1920240"/>
          </a:xfrm>
          <a:prstGeom prst="roundRect">
            <a:avLst>
              <a:gd name="adj" fmla="val 3810"/>
            </a:avLst>
          </a:prstGeom>
          <a:solidFill>
            <a:schemeClr val="bg2"/>
          </a:solidFill>
          <a:ln w="12700">
            <a:solidFill>
              <a:schemeClr val="bg2"/>
            </a:solidFill>
            <a:prstDash val="solid"/>
          </a:ln>
        </p:spPr>
      </p:sp>
      <p:sp>
        <p:nvSpPr>
          <p:cNvPr id="6" name="text"/>
          <p:cNvSpPr txBox="1"/>
          <p:nvPr/>
        </p:nvSpPr>
        <p:spPr>
          <a:xfrm>
            <a:off x="7516368" y="1554480"/>
            <a:ext cx="3931920" cy="274320"/>
          </a:xfrm>
          <a:prstGeom prst="rect">
            <a:avLst/>
          </a:prstGeom>
          <a:noFill/>
          <a:ln/>
        </p:spPr>
        <p:txBody>
          <a:bodyPr wrap="square" lIns="0" tIns="0" rIns="0" bIns="0" rtlCol="0" anchor="t"/>
          <a:lstStyle/>
          <a:p>
            <a:pPr indent="0" marL="0">
              <a:buNone/>
            </a:pPr>
            <a:r>
              <a:rPr lang="en-US" sz="1050" b="1" dirty="0">
                <a:solidFill>
                  <a:schemeClr val="accent6"/>
                </a:solidFill>
              </a:rPr>
              <a:t>HOW A ROW READS</a:t>
            </a:r>
            <a:endParaRPr lang="en-US" sz="1050" dirty="0"/>
          </a:p>
        </p:txBody>
      </p:sp>
      <p:sp>
        <p:nvSpPr>
          <p:cNvPr id="7" name="text"/>
          <p:cNvSpPr txBox="1"/>
          <p:nvPr/>
        </p:nvSpPr>
        <p:spPr>
          <a:xfrm>
            <a:off x="7516368" y="1847088"/>
            <a:ext cx="3931920" cy="274320"/>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ACCT_MASTER . ACCT_CLASS_CD</a:t>
            </a:r>
            <a:endParaRPr lang="en-US" sz="1200" dirty="0"/>
          </a:p>
        </p:txBody>
      </p:sp>
      <p:sp>
        <p:nvSpPr>
          <p:cNvPr id="8" name="text"/>
          <p:cNvSpPr txBox="1"/>
          <p:nvPr/>
        </p:nvSpPr>
        <p:spPr>
          <a:xfrm>
            <a:off x="7516368" y="2148840"/>
            <a:ext cx="3931920" cy="274320"/>
          </a:xfrm>
          <a:prstGeom prst="rect">
            <a:avLst/>
          </a:prstGeom>
          <a:noFill/>
          <a:ln/>
        </p:spPr>
        <p:txBody>
          <a:bodyPr wrap="square" lIns="0" tIns="0" rIns="0" bIns="0" rtlCol="0" anchor="t"/>
          <a:lstStyle/>
          <a:p>
            <a:pPr indent="0" marL="0">
              <a:buNone/>
            </a:pPr>
            <a:r>
              <a:rPr lang="en-US" sz="1100" b="1" dirty="0">
                <a:solidFill>
                  <a:schemeClr val="accent2"/>
                </a:solidFill>
              </a:rPr>
              <a:t>becomes  15 Account · Account Type   kind: crosswalk</a:t>
            </a:r>
            <a:endParaRPr lang="en-US" sz="1100" dirty="0"/>
          </a:p>
        </p:txBody>
      </p:sp>
      <p:sp>
        <p:nvSpPr>
          <p:cNvPr id="9" name="text"/>
          <p:cNvSpPr txBox="1"/>
          <p:nvPr/>
        </p:nvSpPr>
        <p:spPr>
          <a:xfrm>
            <a:off x="7516368" y="2441448"/>
            <a:ext cx="3931920" cy="868680"/>
          </a:xfrm>
          <a:prstGeom prst="rect">
            <a:avLst/>
          </a:prstGeom>
          <a:noFill/>
          <a:ln/>
        </p:spPr>
        <p:txBody>
          <a:bodyPr wrap="square" lIns="0" tIns="0" rIns="0" bIns="0" rtlCol="0" anchor="t"/>
          <a:lstStyle/>
          <a:p>
            <a:pPr indent="0" marL="0">
              <a:buNone/>
            </a:pPr>
            <a:r>
              <a:rPr lang="en-US" sz="1000" dirty="0">
                <a:solidFill>
                  <a:schemeClr val="tx1"/>
                </a:solidFill>
              </a:rPr>
              <a:t>The platform's codes B (brokerage), A (managed advisory) and T (trust) are crosswalked to the taxonomy's account types. A code with no equivalent is recorded as such; a column with no home is unmapped with the reason, and that is a gap for the owning domain.</a:t>
            </a:r>
            <a:endParaRPr lang="en-US" sz="1000" dirty="0"/>
          </a:p>
        </p:txBody>
      </p:sp>
      <p:sp>
        <p:nvSpPr>
          <p:cNvPr id="10" name="card"/>
          <p:cNvSpPr/>
          <p:nvPr/>
        </p:nvSpPr>
        <p:spPr>
          <a:xfrm>
            <a:off x="7315200" y="3520440"/>
            <a:ext cx="4325112" cy="2514600"/>
          </a:xfrm>
          <a:prstGeom prst="roundRect">
            <a:avLst>
              <a:gd name="adj" fmla="val 2909"/>
            </a:avLst>
          </a:prstGeom>
          <a:solidFill>
            <a:schemeClr val="tx2"/>
          </a:solidFill>
          <a:ln w="12700">
            <a:solidFill>
              <a:schemeClr val="tx2"/>
            </a:solidFill>
            <a:prstDash val="solid"/>
          </a:ln>
        </p:spPr>
      </p:sp>
      <p:sp>
        <p:nvSpPr>
          <p:cNvPr id="11" name="text"/>
          <p:cNvSpPr txBox="1"/>
          <p:nvPr/>
        </p:nvSpPr>
        <p:spPr>
          <a:xfrm>
            <a:off x="7516368" y="3657600"/>
            <a:ext cx="3931920" cy="274320"/>
          </a:xfrm>
          <a:prstGeom prst="rect">
            <a:avLst/>
          </a:prstGeom>
          <a:noFill/>
          <a:ln/>
        </p:spPr>
        <p:txBody>
          <a:bodyPr wrap="square" lIns="0" tIns="0" rIns="0" bIns="0" rtlCol="0" anchor="t"/>
          <a:lstStyle/>
          <a:p>
            <a:pPr indent="0" marL="0">
              <a:buNone/>
            </a:pPr>
            <a:r>
              <a:rPr lang="en-US" sz="1050" b="1" dirty="0">
                <a:solidFill>
                  <a:schemeClr val="accent4"/>
                </a:solidFill>
              </a:rPr>
              <a:t>THE AI MAPPING ASSISTANT</a:t>
            </a:r>
            <a:endParaRPr lang="en-US" sz="1050" dirty="0"/>
          </a:p>
        </p:txBody>
      </p:sp>
      <p:sp>
        <p:nvSpPr>
          <p:cNvPr id="12" name="text"/>
          <p:cNvSpPr txBox="1"/>
          <p:nvPr/>
        </p:nvSpPr>
        <p:spPr>
          <a:xfrm>
            <a:off x="7516368" y="3950208"/>
            <a:ext cx="3931920" cy="640080"/>
          </a:xfrm>
          <a:prstGeom prst="rect">
            <a:avLst/>
          </a:prstGeom>
          <a:noFill/>
          <a:ln/>
        </p:spPr>
        <p:txBody>
          <a:bodyPr wrap="square" lIns="0" tIns="0" rIns="0" bIns="0" rtlCol="0" anchor="t"/>
          <a:lstStyle/>
          <a:p>
            <a:pPr indent="0" marL="0">
              <a:buNone/>
            </a:pPr>
            <a:r>
              <a:rPr lang="en-US" sz="1050" dirty="0">
                <a:solidFill>
                  <a:schemeClr val="bg1"/>
                </a:solidFill>
              </a:rPr>
              <a:t>It proposes a registry from the data dictionary and the taxonomy; the steward confirms; the check validates every target against the taxonomy.</a:t>
            </a:r>
            <a:endParaRPr lang="en-US" sz="1050" dirty="0"/>
          </a:p>
        </p:txBody>
      </p:sp>
      <p:sp>
        <p:nvSpPr>
          <p:cNvPr id="13" name="text"/>
          <p:cNvSpPr txBox="1"/>
          <p:nvPr/>
        </p:nvSpPr>
        <p:spPr>
          <a:xfrm>
            <a:off x="7516368" y="4617720"/>
            <a:ext cx="3931920" cy="411480"/>
          </a:xfrm>
          <a:prstGeom prst="rect">
            <a:avLst/>
          </a:prstGeom>
          <a:noFill/>
          <a:ln/>
        </p:spPr>
        <p:txBody>
          <a:bodyPr wrap="square" lIns="0" tIns="0" rIns="0" bIns="0" rtlCol="0" anchor="t"/>
          <a:lstStyle/>
          <a:p>
            <a:pPr indent="0" marL="0">
              <a:buNone/>
            </a:pPr>
            <a:r>
              <a:rPr lang="en-US" sz="1000" dirty="0">
                <a:solidFill>
                  <a:schemeClr val="bg2"/>
                </a:solidFill>
              </a:rPr>
              <a:t>Measured against the confirmed modules on three sources, with a small local model:</a:t>
            </a:r>
            <a:endParaRPr lang="en-US" sz="1000" dirty="0"/>
          </a:p>
        </p:txBody>
      </p:sp>
      <p:sp>
        <p:nvSpPr>
          <p:cNvPr id="14" name="text"/>
          <p:cNvSpPr txBox="1"/>
          <p:nvPr/>
        </p:nvSpPr>
        <p:spPr>
          <a:xfrm>
            <a:off x="7516368" y="4983480"/>
            <a:ext cx="1371600" cy="320040"/>
          </a:xfrm>
          <a:prstGeom prst="rect">
            <a:avLst/>
          </a:prstGeom>
          <a:noFill/>
          <a:ln/>
        </p:spPr>
        <p:txBody>
          <a:bodyPr wrap="square" lIns="0" tIns="0" rIns="0" bIns="0" rtlCol="0" anchor="t"/>
          <a:lstStyle/>
          <a:p>
            <a:pPr indent="0" marL="0">
              <a:buNone/>
            </a:pPr>
            <a:r>
              <a:rPr lang="en-US" sz="1200" b="1" dirty="0">
                <a:solidFill>
                  <a:schemeClr val="bg1"/>
                </a:solidFill>
              </a:rPr>
              <a:t>42% to 55%</a:t>
            </a:r>
            <a:endParaRPr lang="en-US" sz="1200" dirty="0"/>
          </a:p>
        </p:txBody>
      </p:sp>
      <p:sp>
        <p:nvSpPr>
          <p:cNvPr id="15" name="text"/>
          <p:cNvSpPr txBox="1"/>
          <p:nvPr/>
        </p:nvSpPr>
        <p:spPr>
          <a:xfrm>
            <a:off x="8915400" y="5001768"/>
            <a:ext cx="2651760" cy="320040"/>
          </a:xfrm>
          <a:prstGeom prst="rect">
            <a:avLst/>
          </a:prstGeom>
          <a:noFill/>
          <a:ln/>
        </p:spPr>
        <p:txBody>
          <a:bodyPr wrap="square" lIns="0" tIns="0" rIns="0" bIns="0" rtlCol="0" anchor="t"/>
          <a:lstStyle/>
          <a:p>
            <a:pPr indent="0" marL="0">
              <a:buNone/>
            </a:pPr>
            <a:r>
              <a:rPr lang="en-US" sz="1000" dirty="0">
                <a:solidFill>
                  <a:schemeClr val="bg2"/>
                </a:solidFill>
              </a:rPr>
              <a:t>precision on direct columns</a:t>
            </a:r>
            <a:endParaRPr lang="en-US" sz="1000" dirty="0"/>
          </a:p>
        </p:txBody>
      </p:sp>
      <p:sp>
        <p:nvSpPr>
          <p:cNvPr id="16" name="text"/>
          <p:cNvSpPr txBox="1"/>
          <p:nvPr/>
        </p:nvSpPr>
        <p:spPr>
          <a:xfrm>
            <a:off x="7516368" y="5312664"/>
            <a:ext cx="1371600" cy="320040"/>
          </a:xfrm>
          <a:prstGeom prst="rect">
            <a:avLst/>
          </a:prstGeom>
          <a:noFill/>
          <a:ln/>
        </p:spPr>
        <p:txBody>
          <a:bodyPr wrap="square" lIns="0" tIns="0" rIns="0" bIns="0" rtlCol="0" anchor="t"/>
          <a:lstStyle/>
          <a:p>
            <a:pPr indent="0" marL="0">
              <a:buNone/>
            </a:pPr>
            <a:r>
              <a:rPr lang="en-US" sz="1200" b="1" dirty="0">
                <a:solidFill>
                  <a:schemeClr val="bg1"/>
                </a:solidFill>
              </a:rPr>
              <a:t>50% to 68%</a:t>
            </a:r>
            <a:endParaRPr lang="en-US" sz="1200" dirty="0"/>
          </a:p>
        </p:txBody>
      </p:sp>
      <p:sp>
        <p:nvSpPr>
          <p:cNvPr id="17" name="text"/>
          <p:cNvSpPr txBox="1"/>
          <p:nvPr/>
        </p:nvSpPr>
        <p:spPr>
          <a:xfrm>
            <a:off x="8915400" y="5330952"/>
            <a:ext cx="2651760" cy="320040"/>
          </a:xfrm>
          <a:prstGeom prst="rect">
            <a:avLst/>
          </a:prstGeom>
          <a:noFill/>
          <a:ln/>
        </p:spPr>
        <p:txBody>
          <a:bodyPr wrap="square" lIns="0" tIns="0" rIns="0" bIns="0" rtlCol="0" anchor="t"/>
          <a:lstStyle/>
          <a:p>
            <a:pPr indent="0" marL="0">
              <a:buNone/>
            </a:pPr>
            <a:r>
              <a:rPr lang="en-US" sz="1000" dirty="0">
                <a:solidFill>
                  <a:schemeClr val="bg2"/>
                </a:solidFill>
              </a:rPr>
              <a:t>precision on code crosswalks</a:t>
            </a:r>
            <a:endParaRPr lang="en-US" sz="1000" dirty="0"/>
          </a:p>
        </p:txBody>
      </p:sp>
      <p:sp>
        <p:nvSpPr>
          <p:cNvPr id="18" name="text"/>
          <p:cNvSpPr txBox="1"/>
          <p:nvPr/>
        </p:nvSpPr>
        <p:spPr>
          <a:xfrm>
            <a:off x="7516368" y="5641848"/>
            <a:ext cx="1371600" cy="320040"/>
          </a:xfrm>
          <a:prstGeom prst="rect">
            <a:avLst/>
          </a:prstGeom>
          <a:noFill/>
          <a:ln/>
        </p:spPr>
        <p:txBody>
          <a:bodyPr wrap="square" lIns="0" tIns="0" rIns="0" bIns="0" rtlCol="0" anchor="t"/>
          <a:lstStyle/>
          <a:p>
            <a:pPr indent="0" marL="0">
              <a:buNone/>
            </a:pPr>
            <a:r>
              <a:rPr lang="en-US" sz="1200" b="1" dirty="0">
                <a:solidFill>
                  <a:schemeClr val="bg1"/>
                </a:solidFill>
              </a:rPr>
              <a:t>41% to 48%</a:t>
            </a:r>
            <a:endParaRPr lang="en-US" sz="1200" dirty="0"/>
          </a:p>
        </p:txBody>
      </p:sp>
      <p:sp>
        <p:nvSpPr>
          <p:cNvPr id="19" name="text"/>
          <p:cNvSpPr txBox="1"/>
          <p:nvPr/>
        </p:nvSpPr>
        <p:spPr>
          <a:xfrm>
            <a:off x="8915400" y="5660136"/>
            <a:ext cx="2651760" cy="320040"/>
          </a:xfrm>
          <a:prstGeom prst="rect">
            <a:avLst/>
          </a:prstGeom>
          <a:noFill/>
          <a:ln/>
        </p:spPr>
        <p:txBody>
          <a:bodyPr wrap="square" lIns="0" tIns="0" rIns="0" bIns="0" rtlCol="0" anchor="t"/>
          <a:lstStyle/>
          <a:p>
            <a:pPr indent="0" marL="0">
              <a:buNone/>
            </a:pPr>
            <a:r>
              <a:rPr lang="en-US" sz="1000" dirty="0">
                <a:solidFill>
                  <a:schemeClr val="bg2"/>
                </a:solidFill>
              </a:rPr>
              <a:t>overall precision; recall 25% to 33%</a:t>
            </a:r>
            <a:endParaRPr lang="en-US" sz="1000" dirty="0"/>
          </a:p>
        </p:txBody>
      </p:sp>
      <p:sp>
        <p:nvSpPr>
          <p:cNvPr id="20" name="text"/>
          <p:cNvSpPr txBox="1"/>
          <p:nvPr/>
        </p:nvSpPr>
        <p:spPr>
          <a:xfrm>
            <a:off x="548640" y="6108192"/>
            <a:ext cx="11094415" cy="256032"/>
          </a:xfrm>
          <a:prstGeom prst="rect">
            <a:avLst/>
          </a:prstGeom>
          <a:noFill/>
          <a:ln/>
        </p:spPr>
        <p:txBody>
          <a:bodyPr wrap="square" lIns="0" tIns="0" rIns="0" bIns="0" rtlCol="0" anchor="t"/>
          <a:lstStyle/>
          <a:p>
            <a:pPr indent="0" marL="0">
              <a:buNone/>
            </a:pPr>
            <a:r>
              <a:rPr lang="en-US" sz="950" i="1" dirty="0">
                <a:solidFill>
                  <a:schemeClr val="accent6"/>
                </a:solidFill>
              </a:rPr>
              <a:t>On the demo page: Map › The eight source systems, The mapping registry (objects and attribute rows per source), The AI mapping assistant</a:t>
            </a:r>
            <a:endParaRPr lang="en-US" sz="9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Moment 2, Compile: tables, firm rules, a proof to the cent, tests, SQL</a:t>
            </a:r>
            <a:endParaRPr lang="en-US" sz="2800" dirty="0"/>
          </a:p>
        </p:txBody>
      </p:sp>
      <p:sp>
        <p:nvSpPr>
          <p:cNvPr id="4" name="card"/>
          <p:cNvSpPr/>
          <p:nvPr/>
        </p:nvSpPr>
        <p:spPr>
          <a:xfrm>
            <a:off x="548640" y="1417320"/>
            <a:ext cx="3429000" cy="4617720"/>
          </a:xfrm>
          <a:prstGeom prst="roundRect">
            <a:avLst>
              <a:gd name="adj" fmla="val 2133"/>
            </a:avLst>
          </a:prstGeom>
          <a:solidFill>
            <a:schemeClr val="bg2"/>
          </a:solidFill>
          <a:ln w="12700">
            <a:solidFill>
              <a:schemeClr val="bg2"/>
            </a:solidFill>
            <a:prstDash val="solid"/>
          </a:ln>
        </p:spPr>
      </p:sp>
      <p:sp>
        <p:nvSpPr>
          <p:cNvPr id="5" name="text"/>
          <p:cNvSpPr txBox="1"/>
          <p:nvPr/>
        </p:nvSpPr>
        <p:spPr>
          <a:xfrm>
            <a:off x="731520" y="1554480"/>
            <a:ext cx="3108960" cy="274320"/>
          </a:xfrm>
          <a:prstGeom prst="rect">
            <a:avLst/>
          </a:prstGeom>
          <a:noFill/>
          <a:ln/>
        </p:spPr>
        <p:txBody>
          <a:bodyPr wrap="square" lIns="0" tIns="0" rIns="0" bIns="0" rtlCol="0" anchor="t"/>
          <a:lstStyle/>
          <a:p>
            <a:pPr indent="0" marL="0">
              <a:buNone/>
            </a:pPr>
            <a:r>
              <a:rPr lang="en-US" sz="1050" b="1" dirty="0">
                <a:solidFill>
                  <a:schemeClr val="accent6"/>
                </a:solidFill>
              </a:rPr>
              <a:t>BUILT BY FIRM RULES</a:t>
            </a:r>
            <a:endParaRPr lang="en-US" sz="1050" dirty="0"/>
          </a:p>
        </p:txBody>
      </p:sp>
      <p:sp>
        <p:nvSpPr>
          <p:cNvPr id="6" name="text"/>
          <p:cNvSpPr txBox="1"/>
          <p:nvPr/>
        </p:nvSpPr>
        <p:spPr>
          <a:xfrm>
            <a:off x="731520" y="1874520"/>
            <a:ext cx="868680" cy="411480"/>
          </a:xfrm>
          <a:prstGeom prst="rect">
            <a:avLst/>
          </a:prstGeom>
          <a:noFill/>
          <a:ln/>
        </p:spPr>
        <p:txBody>
          <a:bodyPr wrap="square" lIns="0" tIns="0" rIns="0" bIns="0" rtlCol="0" anchor="t"/>
          <a:lstStyle/>
          <a:p>
            <a:pPr indent="0" marL="0">
              <a:buNone/>
            </a:pPr>
            <a:r>
              <a:rPr lang="en-US" sz="1800" b="1" dirty="0">
                <a:solidFill>
                  <a:schemeClr val="accent5"/>
                </a:solidFill>
              </a:rPr>
              <a:t>504</a:t>
            </a:r>
            <a:endParaRPr lang="en-US" sz="1800" dirty="0"/>
          </a:p>
        </p:txBody>
      </p:sp>
      <p:sp>
        <p:nvSpPr>
          <p:cNvPr id="7" name="text"/>
          <p:cNvSpPr txBox="1"/>
          <p:nvPr/>
        </p:nvSpPr>
        <p:spPr>
          <a:xfrm>
            <a:off x="1600200" y="1901952"/>
            <a:ext cx="2240280" cy="640080"/>
          </a:xfrm>
          <a:prstGeom prst="rect">
            <a:avLst/>
          </a:prstGeom>
          <a:noFill/>
          <a:ln/>
        </p:spPr>
        <p:txBody>
          <a:bodyPr wrap="square" lIns="0" tIns="0" rIns="0" bIns="0" rtlCol="0" anchor="t"/>
          <a:lstStyle/>
          <a:p>
            <a:pPr indent="0" marL="0">
              <a:buNone/>
            </a:pPr>
            <a:r>
              <a:rPr lang="en-US" sz="1000" dirty="0">
                <a:solidFill>
                  <a:schemeClr val="tx1"/>
                </a:solidFill>
              </a:rPr>
              <a:t>certified measure rows (DP-008 Client Assets &amp; Net New Assets)</a:t>
            </a:r>
            <a:endParaRPr lang="en-US" sz="1000" dirty="0"/>
          </a:p>
        </p:txBody>
      </p:sp>
      <p:sp>
        <p:nvSpPr>
          <p:cNvPr id="8" name="text"/>
          <p:cNvSpPr txBox="1"/>
          <p:nvPr/>
        </p:nvSpPr>
        <p:spPr>
          <a:xfrm>
            <a:off x="731520" y="2551176"/>
            <a:ext cx="868680" cy="411480"/>
          </a:xfrm>
          <a:prstGeom prst="rect">
            <a:avLst/>
          </a:prstGeom>
          <a:noFill/>
          <a:ln/>
        </p:spPr>
        <p:txBody>
          <a:bodyPr wrap="square" lIns="0" tIns="0" rIns="0" bIns="0" rtlCol="0" anchor="t"/>
          <a:lstStyle/>
          <a:p>
            <a:pPr indent="0" marL="0">
              <a:buNone/>
            </a:pPr>
            <a:r>
              <a:rPr lang="en-US" sz="1800" b="1" dirty="0">
                <a:solidFill>
                  <a:schemeClr val="accent5"/>
                </a:solidFill>
              </a:rPr>
              <a:t>300</a:t>
            </a:r>
            <a:endParaRPr lang="en-US" sz="1800" dirty="0"/>
          </a:p>
        </p:txBody>
      </p:sp>
      <p:sp>
        <p:nvSpPr>
          <p:cNvPr id="9" name="text"/>
          <p:cNvSpPr txBox="1"/>
          <p:nvPr/>
        </p:nvSpPr>
        <p:spPr>
          <a:xfrm>
            <a:off x="1600200" y="2578608"/>
            <a:ext cx="2240280" cy="640080"/>
          </a:xfrm>
          <a:prstGeom prst="rect">
            <a:avLst/>
          </a:prstGeom>
          <a:noFill/>
          <a:ln/>
        </p:spPr>
        <p:txBody>
          <a:bodyPr wrap="square" lIns="0" tIns="0" rIns="0" bIns="0" rtlCol="0" anchor="t"/>
          <a:lstStyle/>
          <a:p>
            <a:pPr indent="0" marL="0">
              <a:buNone/>
            </a:pPr>
            <a:r>
              <a:rPr lang="en-US" sz="1000" dirty="0">
                <a:solidFill>
                  <a:schemeClr val="tx1"/>
                </a:solidFill>
              </a:rPr>
              <a:t>household 360 rows (DP-320)</a:t>
            </a:r>
            <a:endParaRPr lang="en-US" sz="1000" dirty="0"/>
          </a:p>
        </p:txBody>
      </p:sp>
      <p:sp>
        <p:nvSpPr>
          <p:cNvPr id="10" name="text"/>
          <p:cNvSpPr txBox="1"/>
          <p:nvPr/>
        </p:nvSpPr>
        <p:spPr>
          <a:xfrm>
            <a:off x="731520" y="3227832"/>
            <a:ext cx="868680" cy="411480"/>
          </a:xfrm>
          <a:prstGeom prst="rect">
            <a:avLst/>
          </a:prstGeom>
          <a:noFill/>
          <a:ln/>
        </p:spPr>
        <p:txBody>
          <a:bodyPr wrap="square" lIns="0" tIns="0" rIns="0" bIns="0" rtlCol="0" anchor="t"/>
          <a:lstStyle/>
          <a:p>
            <a:pPr indent="0" marL="0">
              <a:buNone/>
            </a:pPr>
            <a:r>
              <a:rPr lang="en-US" sz="1800" b="1" dirty="0">
                <a:solidFill>
                  <a:schemeClr val="accent5"/>
                </a:solidFill>
              </a:rPr>
              <a:t>192</a:t>
            </a:r>
            <a:endParaRPr lang="en-US" sz="1800" dirty="0"/>
          </a:p>
        </p:txBody>
      </p:sp>
      <p:sp>
        <p:nvSpPr>
          <p:cNvPr id="11" name="text"/>
          <p:cNvSpPr txBox="1"/>
          <p:nvPr/>
        </p:nvSpPr>
        <p:spPr>
          <a:xfrm>
            <a:off x="1600200" y="3255264"/>
            <a:ext cx="2240280" cy="640080"/>
          </a:xfrm>
          <a:prstGeom prst="rect">
            <a:avLst/>
          </a:prstGeom>
          <a:noFill/>
          <a:ln/>
        </p:spPr>
        <p:txBody>
          <a:bodyPr wrap="square" lIns="0" tIns="0" rIns="0" bIns="0" rtlCol="0" anchor="t"/>
          <a:lstStyle/>
          <a:p>
            <a:pPr indent="0" marL="0">
              <a:buNone/>
            </a:pPr>
            <a:r>
              <a:rPr lang="en-US" sz="1000" dirty="0">
                <a:solidFill>
                  <a:schemeClr val="tx1"/>
                </a:solidFill>
              </a:rPr>
              <a:t>relationship health rows (DP-510)</a:t>
            </a:r>
            <a:endParaRPr lang="en-US" sz="1000" dirty="0"/>
          </a:p>
        </p:txBody>
      </p:sp>
      <p:sp>
        <p:nvSpPr>
          <p:cNvPr id="12" name="text"/>
          <p:cNvSpPr txBox="1"/>
          <p:nvPr/>
        </p:nvSpPr>
        <p:spPr>
          <a:xfrm>
            <a:off x="731520" y="3904488"/>
            <a:ext cx="868680" cy="411480"/>
          </a:xfrm>
          <a:prstGeom prst="rect">
            <a:avLst/>
          </a:prstGeom>
          <a:noFill/>
          <a:ln/>
        </p:spPr>
        <p:txBody>
          <a:bodyPr wrap="square" lIns="0" tIns="0" rIns="0" bIns="0" rtlCol="0" anchor="t"/>
          <a:lstStyle/>
          <a:p>
            <a:pPr indent="0" marL="0">
              <a:buNone/>
            </a:pPr>
            <a:r>
              <a:rPr lang="en-US" sz="1800" b="1" dirty="0">
                <a:solidFill>
                  <a:schemeClr val="accent5"/>
                </a:solidFill>
              </a:rPr>
              <a:t>529</a:t>
            </a:r>
            <a:endParaRPr lang="en-US" sz="1800" dirty="0"/>
          </a:p>
        </p:txBody>
      </p:sp>
      <p:sp>
        <p:nvSpPr>
          <p:cNvPr id="13" name="text"/>
          <p:cNvSpPr txBox="1"/>
          <p:nvPr/>
        </p:nvSpPr>
        <p:spPr>
          <a:xfrm>
            <a:off x="1600200" y="3931920"/>
            <a:ext cx="2240280" cy="640080"/>
          </a:xfrm>
          <a:prstGeom prst="rect">
            <a:avLst/>
          </a:prstGeom>
          <a:noFill/>
          <a:ln/>
        </p:spPr>
        <p:txBody>
          <a:bodyPr wrap="square" lIns="0" tIns="0" rIns="0" bIns="0" rtlCol="0" anchor="t"/>
          <a:lstStyle/>
          <a:p>
            <a:pPr indent="0" marL="0">
              <a:buNone/>
            </a:pPr>
            <a:r>
              <a:rPr lang="en-US" sz="1000" dirty="0">
                <a:solidFill>
                  <a:schemeClr val="tx1"/>
                </a:solidFill>
              </a:rPr>
              <a:t>fee billing re-performance rows (DP-346)</a:t>
            </a:r>
            <a:endParaRPr lang="en-US" sz="1000" dirty="0"/>
          </a:p>
        </p:txBody>
      </p:sp>
      <p:sp>
        <p:nvSpPr>
          <p:cNvPr id="14" name="text"/>
          <p:cNvSpPr txBox="1"/>
          <p:nvPr/>
        </p:nvSpPr>
        <p:spPr>
          <a:xfrm>
            <a:off x="731520" y="4581144"/>
            <a:ext cx="868680" cy="411480"/>
          </a:xfrm>
          <a:prstGeom prst="rect">
            <a:avLst/>
          </a:prstGeom>
          <a:noFill/>
          <a:ln/>
        </p:spPr>
        <p:txBody>
          <a:bodyPr wrap="square" lIns="0" tIns="0" rIns="0" bIns="0" rtlCol="0" anchor="t"/>
          <a:lstStyle/>
          <a:p>
            <a:pPr indent="0" marL="0">
              <a:buNone/>
            </a:pPr>
            <a:r>
              <a:rPr lang="en-US" sz="1800" b="1" dirty="0">
                <a:solidFill>
                  <a:schemeClr val="accent5"/>
                </a:solidFill>
              </a:rPr>
              <a:t>360</a:t>
            </a:r>
            <a:endParaRPr lang="en-US" sz="1800" dirty="0"/>
          </a:p>
        </p:txBody>
      </p:sp>
      <p:sp>
        <p:nvSpPr>
          <p:cNvPr id="15" name="text"/>
          <p:cNvSpPr txBox="1"/>
          <p:nvPr/>
        </p:nvSpPr>
        <p:spPr>
          <a:xfrm>
            <a:off x="1600200" y="4608576"/>
            <a:ext cx="2240280" cy="640080"/>
          </a:xfrm>
          <a:prstGeom prst="rect">
            <a:avLst/>
          </a:prstGeom>
          <a:noFill/>
          <a:ln/>
        </p:spPr>
        <p:txBody>
          <a:bodyPr wrap="square" lIns="0" tIns="0" rIns="0" bIns="0" rtlCol="0" anchor="t"/>
          <a:lstStyle/>
          <a:p>
            <a:pPr indent="0" marL="0">
              <a:buNone/>
            </a:pPr>
            <a:r>
              <a:rPr lang="en-US" sz="1000" dirty="0">
                <a:solidFill>
                  <a:schemeClr val="tx1"/>
                </a:solidFill>
              </a:rPr>
              <a:t>cost to serve rows (DP-498)</a:t>
            </a:r>
            <a:endParaRPr lang="en-US" sz="1000" dirty="0"/>
          </a:p>
        </p:txBody>
      </p:sp>
      <p:sp>
        <p:nvSpPr>
          <p:cNvPr id="16" name="text"/>
          <p:cNvSpPr txBox="1"/>
          <p:nvPr/>
        </p:nvSpPr>
        <p:spPr>
          <a:xfrm>
            <a:off x="731520" y="5257800"/>
            <a:ext cx="868680" cy="411480"/>
          </a:xfrm>
          <a:prstGeom prst="rect">
            <a:avLst/>
          </a:prstGeom>
          <a:noFill/>
          <a:ln/>
        </p:spPr>
        <p:txBody>
          <a:bodyPr wrap="square" lIns="0" tIns="0" rIns="0" bIns="0" rtlCol="0" anchor="t"/>
          <a:lstStyle/>
          <a:p>
            <a:pPr indent="0" marL="0">
              <a:buNone/>
            </a:pPr>
            <a:r>
              <a:rPr lang="en-US" sz="1800" b="1" dirty="0">
                <a:solidFill>
                  <a:schemeClr val="accent5"/>
                </a:solidFill>
              </a:rPr>
              <a:t>336</a:t>
            </a:r>
            <a:endParaRPr lang="en-US" sz="1800" dirty="0"/>
          </a:p>
        </p:txBody>
      </p:sp>
      <p:sp>
        <p:nvSpPr>
          <p:cNvPr id="17" name="text"/>
          <p:cNvSpPr txBox="1"/>
          <p:nvPr/>
        </p:nvSpPr>
        <p:spPr>
          <a:xfrm>
            <a:off x="1600200" y="5285232"/>
            <a:ext cx="2240280" cy="640080"/>
          </a:xfrm>
          <a:prstGeom prst="rect">
            <a:avLst/>
          </a:prstGeom>
          <a:noFill/>
          <a:ln/>
        </p:spPr>
        <p:txBody>
          <a:bodyPr wrap="square" lIns="0" tIns="0" rIns="0" bIns="0" rtlCol="0" anchor="t"/>
          <a:lstStyle/>
          <a:p>
            <a:pPr indent="0" marL="0">
              <a:buNone/>
            </a:pPr>
            <a:r>
              <a:rPr lang="en-US" sz="1000" dirty="0">
                <a:solidFill>
                  <a:schemeClr val="tx1"/>
                </a:solidFill>
              </a:rPr>
              <a:t>profitability rows (DP-499)</a:t>
            </a:r>
            <a:endParaRPr lang="en-US" sz="1000" dirty="0"/>
          </a:p>
        </p:txBody>
      </p:sp>
      <p:sp>
        <p:nvSpPr>
          <p:cNvPr id="18" name="text"/>
          <p:cNvSpPr txBox="1"/>
          <p:nvPr/>
        </p:nvSpPr>
        <p:spPr>
          <a:xfrm>
            <a:off x="4160520" y="1417320"/>
            <a:ext cx="4572000" cy="274320"/>
          </a:xfrm>
          <a:prstGeom prst="rect">
            <a:avLst/>
          </a:prstGeom>
          <a:noFill/>
          <a:ln/>
        </p:spPr>
        <p:txBody>
          <a:bodyPr wrap="square" lIns="0" tIns="0" rIns="0" bIns="0" rtlCol="0" anchor="t"/>
          <a:lstStyle/>
          <a:p>
            <a:pPr indent="0" marL="0">
              <a:buNone/>
            </a:pPr>
            <a:r>
              <a:rPr lang="en-US" sz="1050" b="1" dirty="0">
                <a:solidFill>
                  <a:schemeClr val="accent6"/>
                </a:solidFill>
              </a:rPr>
              <a:t>THE PROOF: PIPELINE AGAINST AN INDEPENDENT COMPUTATION</a:t>
            </a:r>
            <a:endParaRPr lang="en-US" sz="105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4160520" y="1737360"/>
          <a:ext cx="4572000" cy="914400"/>
        </p:xfrm>
        <a:graphic>
          <a:graphicData uri="http://schemas.openxmlformats.org/drawingml/2006/table">
            <a:tbl>
              <a:tblPr/>
              <a:tblGrid>
                <a:gridCol w="1965960"/>
                <a:gridCol w="1051560"/>
                <a:gridCol w="1051560"/>
                <a:gridCol w="502920"/>
              </a:tblGrid>
              <a:tr h="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Measure (Total)</a:t>
                      </a:r>
                      <a:endParaRPr lang="en-US" sz="9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r" indent="0" marL="0">
                        <a:buNone/>
                      </a:pPr>
                      <a:r>
                        <a:rPr lang="en-US" sz="950" b="1" dirty="0">
                          <a:solidFill>
                            <a:srgbClr val="FFFFFF"/>
                          </a:solidFill>
                          <a:latin typeface="Arial" pitchFamily="34" charset="0"/>
                          <a:ea typeface="Arial" pitchFamily="34" charset="-122"/>
                          <a:cs typeface="Arial" pitchFamily="34" charset="-120"/>
                        </a:rPr>
                        <a:t>Pipeline</a:t>
                      </a:r>
                      <a:endParaRPr lang="en-US" sz="9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r" indent="0" marL="0">
                        <a:buNone/>
                      </a:pPr>
                      <a:r>
                        <a:rPr lang="en-US" sz="950" b="1" dirty="0">
                          <a:solidFill>
                            <a:srgbClr val="FFFFFF"/>
                          </a:solidFill>
                          <a:latin typeface="Arial" pitchFamily="34" charset="0"/>
                          <a:ea typeface="Arial" pitchFamily="34" charset="-122"/>
                          <a:cs typeface="Arial" pitchFamily="34" charset="-120"/>
                        </a:rPr>
                        <a:t>Truth</a:t>
                      </a:r>
                      <a:endParaRPr lang="en-US" sz="9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Match</a:t>
                      </a:r>
                      <a:endParaRPr lang="en-US" sz="9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r>
              <a:tr h="0">
                <a:tc>
                  <a:txBody>
                    <a:bodyPr/>
                    <a:lstStyle/>
                    <a:p>
                      <a:pPr algn="l" indent="0" marL="0">
                        <a:buNone/>
                      </a:pPr>
                      <a:r>
                        <a:rPr lang="en-US" sz="950" dirty="0">
                          <a:solidFill>
                            <a:srgbClr val="1A2B3C"/>
                          </a:solidFill>
                          <a:latin typeface="Arial" pitchFamily="34" charset="0"/>
                          <a:ea typeface="Arial" pitchFamily="34" charset="-122"/>
                          <a:cs typeface="Arial" pitchFamily="34" charset="-120"/>
                        </a:rPr>
                        <a:t>Ending client assets, 2026-09</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950" dirty="0">
                          <a:solidFill>
                            <a:srgbClr val="1A2B3C"/>
                          </a:solidFill>
                          <a:latin typeface="Arial" pitchFamily="34" charset="0"/>
                          <a:ea typeface="Arial" pitchFamily="34" charset="-122"/>
                          <a:cs typeface="Arial" pitchFamily="34" charset="-120"/>
                        </a:rPr>
                        <a:t>$11,226,521,378.45</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950" dirty="0">
                          <a:solidFill>
                            <a:srgbClr val="1A2B3C"/>
                          </a:solidFill>
                          <a:latin typeface="Arial" pitchFamily="34" charset="0"/>
                          <a:ea typeface="Arial" pitchFamily="34" charset="-122"/>
                          <a:cs typeface="Arial" pitchFamily="34" charset="-120"/>
                        </a:rPr>
                        <a:t>$11,226,521,378.45</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B3C"/>
                          </a:solidFill>
                          <a:latin typeface="Arial" pitchFamily="34" charset="0"/>
                          <a:ea typeface="Arial" pitchFamily="34" charset="-122"/>
                          <a:cs typeface="Arial" pitchFamily="34" charset="-120"/>
                        </a:rPr>
                        <a:t>yes</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A2B3C"/>
                          </a:solidFill>
                          <a:latin typeface="Arial" pitchFamily="34" charset="0"/>
                          <a:ea typeface="Arial" pitchFamily="34" charset="-122"/>
                          <a:cs typeface="Arial" pitchFamily="34" charset="-120"/>
                        </a:rPr>
                        <a:t>Net new assets, 2026-Q3</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950" dirty="0">
                          <a:solidFill>
                            <a:srgbClr val="1A2B3C"/>
                          </a:solidFill>
                          <a:latin typeface="Arial" pitchFamily="34" charset="0"/>
                          <a:ea typeface="Arial" pitchFamily="34" charset="-122"/>
                          <a:cs typeface="Arial" pitchFamily="34" charset="-120"/>
                        </a:rPr>
                        <a:t>$41,156,362.28</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950" dirty="0">
                          <a:solidFill>
                            <a:srgbClr val="1A2B3C"/>
                          </a:solidFill>
                          <a:latin typeface="Arial" pitchFamily="34" charset="0"/>
                          <a:ea typeface="Arial" pitchFamily="34" charset="-122"/>
                          <a:cs typeface="Arial" pitchFamily="34" charset="-120"/>
                        </a:rPr>
                        <a:t>$41,156,362.28</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ctr" indent="0" marL="0">
                        <a:buNone/>
                      </a:pPr>
                      <a:r>
                        <a:rPr lang="en-US" sz="950" dirty="0">
                          <a:solidFill>
                            <a:srgbClr val="1A2B3C"/>
                          </a:solidFill>
                          <a:latin typeface="Arial" pitchFamily="34" charset="0"/>
                          <a:ea typeface="Arial" pitchFamily="34" charset="-122"/>
                          <a:cs typeface="Arial" pitchFamily="34" charset="-120"/>
                        </a:rPr>
                        <a:t>yes</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950" dirty="0">
                          <a:solidFill>
                            <a:srgbClr val="1A2B3C"/>
                          </a:solidFill>
                          <a:latin typeface="Arial" pitchFamily="34" charset="0"/>
                          <a:ea typeface="Arial" pitchFamily="34" charset="-122"/>
                          <a:cs typeface="Arial" pitchFamily="34" charset="-120"/>
                        </a:rPr>
                        <a:t>Advised assets, 2026-09</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950" dirty="0">
                          <a:solidFill>
                            <a:srgbClr val="1A2B3C"/>
                          </a:solidFill>
                          <a:latin typeface="Arial" pitchFamily="34" charset="0"/>
                          <a:ea typeface="Arial" pitchFamily="34" charset="-122"/>
                          <a:cs typeface="Arial" pitchFamily="34" charset="-120"/>
                        </a:rPr>
                        <a:t>$69,323,377.73</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950" dirty="0">
                          <a:solidFill>
                            <a:srgbClr val="1A2B3C"/>
                          </a:solidFill>
                          <a:latin typeface="Arial" pitchFamily="34" charset="0"/>
                          <a:ea typeface="Arial" pitchFamily="34" charset="-122"/>
                          <a:cs typeface="Arial" pitchFamily="34" charset="-120"/>
                        </a:rPr>
                        <a:t>$69,323,377.73</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B3C"/>
                          </a:solidFill>
                          <a:latin typeface="Arial" pitchFamily="34" charset="0"/>
                          <a:ea typeface="Arial" pitchFamily="34" charset="-122"/>
                          <a:cs typeface="Arial" pitchFamily="34" charset="-120"/>
                        </a:rPr>
                        <a:t>yes</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A2B3C"/>
                          </a:solidFill>
                          <a:latin typeface="Arial" pitchFamily="34" charset="0"/>
                          <a:ea typeface="Arial" pitchFamily="34" charset="-122"/>
                          <a:cs typeface="Arial" pitchFamily="34" charset="-120"/>
                        </a:rPr>
                        <a:t>Funded accounts</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950" dirty="0">
                          <a:solidFill>
                            <a:srgbClr val="1A2B3C"/>
                          </a:solidFill>
                          <a:latin typeface="Arial" pitchFamily="34" charset="0"/>
                          <a:ea typeface="Arial" pitchFamily="34" charset="-122"/>
                          <a:cs typeface="Arial" pitchFamily="34" charset="-120"/>
                        </a:rPr>
                        <a:t>939</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950" dirty="0">
                          <a:solidFill>
                            <a:srgbClr val="1A2B3C"/>
                          </a:solidFill>
                          <a:latin typeface="Arial" pitchFamily="34" charset="0"/>
                          <a:ea typeface="Arial" pitchFamily="34" charset="-122"/>
                          <a:cs typeface="Arial" pitchFamily="34" charset="-120"/>
                        </a:rPr>
                        <a:t>939</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ctr" indent="0" marL="0">
                        <a:buNone/>
                      </a:pPr>
                      <a:r>
                        <a:rPr lang="en-US" sz="950" dirty="0">
                          <a:solidFill>
                            <a:srgbClr val="1A2B3C"/>
                          </a:solidFill>
                          <a:latin typeface="Arial" pitchFamily="34" charset="0"/>
                          <a:ea typeface="Arial" pitchFamily="34" charset="-122"/>
                          <a:cs typeface="Arial" pitchFamily="34" charset="-120"/>
                        </a:rPr>
                        <a:t>yes</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950" dirty="0">
                          <a:solidFill>
                            <a:srgbClr val="1A2B3C"/>
                          </a:solidFill>
                          <a:latin typeface="Arial" pitchFamily="34" charset="0"/>
                          <a:ea typeface="Arial" pitchFamily="34" charset="-122"/>
                          <a:cs typeface="Arial" pitchFamily="34" charset="-120"/>
                        </a:rPr>
                        <a:t>Clients</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950" dirty="0">
                          <a:solidFill>
                            <a:srgbClr val="1A2B3C"/>
                          </a:solidFill>
                          <a:latin typeface="Arial" pitchFamily="34" charset="0"/>
                          <a:ea typeface="Arial" pitchFamily="34" charset="-122"/>
                          <a:cs typeface="Arial" pitchFamily="34" charset="-120"/>
                        </a:rPr>
                        <a:t>539</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950" dirty="0">
                          <a:solidFill>
                            <a:srgbClr val="1A2B3C"/>
                          </a:solidFill>
                          <a:latin typeface="Arial" pitchFamily="34" charset="0"/>
                          <a:ea typeface="Arial" pitchFamily="34" charset="-122"/>
                          <a:cs typeface="Arial" pitchFamily="34" charset="-120"/>
                        </a:rPr>
                        <a:t>539</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B3C"/>
                          </a:solidFill>
                          <a:latin typeface="Arial" pitchFamily="34" charset="0"/>
                          <a:ea typeface="Arial" pitchFamily="34" charset="-122"/>
                          <a:cs typeface="Arial" pitchFamily="34" charset="-120"/>
                        </a:rPr>
                        <a:t>yes</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A2B3C"/>
                          </a:solidFill>
                          <a:latin typeface="Arial" pitchFamily="34" charset="0"/>
                          <a:ea typeface="Arial" pitchFamily="34" charset="-122"/>
                          <a:cs typeface="Arial" pitchFamily="34" charset="-120"/>
                        </a:rPr>
                        <a:t>Households</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950" dirty="0">
                          <a:solidFill>
                            <a:srgbClr val="1A2B3C"/>
                          </a:solidFill>
                          <a:latin typeface="Arial" pitchFamily="34" charset="0"/>
                          <a:ea typeface="Arial" pitchFamily="34" charset="-122"/>
                          <a:cs typeface="Arial" pitchFamily="34" charset="-120"/>
                        </a:rPr>
                        <a:t>297</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950" dirty="0">
                          <a:solidFill>
                            <a:srgbClr val="1A2B3C"/>
                          </a:solidFill>
                          <a:latin typeface="Arial" pitchFamily="34" charset="0"/>
                          <a:ea typeface="Arial" pitchFamily="34" charset="-122"/>
                          <a:cs typeface="Arial" pitchFamily="34" charset="-120"/>
                        </a:rPr>
                        <a:t>297</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ctr" indent="0" marL="0">
                        <a:buNone/>
                      </a:pPr>
                      <a:r>
                        <a:rPr lang="en-US" sz="950" dirty="0">
                          <a:solidFill>
                            <a:srgbClr val="1A2B3C"/>
                          </a:solidFill>
                          <a:latin typeface="Arial" pitchFamily="34" charset="0"/>
                          <a:ea typeface="Arial" pitchFamily="34" charset="-122"/>
                          <a:cs typeface="Arial" pitchFamily="34" charset="-120"/>
                        </a:rPr>
                        <a:t>yes</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950" dirty="0">
                          <a:solidFill>
                            <a:srgbClr val="1A2B3C"/>
                          </a:solidFill>
                          <a:latin typeface="Arial" pitchFamily="34" charset="0"/>
                          <a:ea typeface="Arial" pitchFamily="34" charset="-122"/>
                          <a:cs typeface="Arial" pitchFamily="34" charset="-120"/>
                        </a:rPr>
                        <a:t>Households without primary advisor (planted)</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950" dirty="0">
                          <a:solidFill>
                            <a:srgbClr val="1A2B3C"/>
                          </a:solidFill>
                          <a:latin typeface="Arial" pitchFamily="34" charset="0"/>
                          <a:ea typeface="Arial" pitchFamily="34" charset="-122"/>
                          <a:cs typeface="Arial" pitchFamily="34" charset="-120"/>
                        </a:rPr>
                        <a:t>35</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950" dirty="0">
                          <a:solidFill>
                            <a:srgbClr val="1A2B3C"/>
                          </a:solidFill>
                          <a:latin typeface="Arial" pitchFamily="34" charset="0"/>
                          <a:ea typeface="Arial" pitchFamily="34" charset="-122"/>
                          <a:cs typeface="Arial" pitchFamily="34" charset="-120"/>
                        </a:rPr>
                        <a:t>35</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B3C"/>
                          </a:solidFill>
                          <a:latin typeface="Arial" pitchFamily="34" charset="0"/>
                          <a:ea typeface="Arial" pitchFamily="34" charset="-122"/>
                          <a:cs typeface="Arial" pitchFamily="34" charset="-120"/>
                        </a:rPr>
                        <a:t>yes</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A2B3C"/>
                          </a:solidFill>
                          <a:latin typeface="Arial" pitchFamily="34" charset="0"/>
                          <a:ea typeface="Arial" pitchFamily="34" charset="-122"/>
                          <a:cs typeface="Arial" pitchFamily="34" charset="-120"/>
                        </a:rPr>
                        <a:t>At-risk relationships (planted)</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950" dirty="0">
                          <a:solidFill>
                            <a:srgbClr val="1A2B3C"/>
                          </a:solidFill>
                          <a:latin typeface="Arial" pitchFamily="34" charset="0"/>
                          <a:ea typeface="Arial" pitchFamily="34" charset="-122"/>
                          <a:cs typeface="Arial" pitchFamily="34" charset="-120"/>
                        </a:rPr>
                        <a:t>7</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950" dirty="0">
                          <a:solidFill>
                            <a:srgbClr val="1A2B3C"/>
                          </a:solidFill>
                          <a:latin typeface="Arial" pitchFamily="34" charset="0"/>
                          <a:ea typeface="Arial" pitchFamily="34" charset="-122"/>
                          <a:cs typeface="Arial" pitchFamily="34" charset="-120"/>
                        </a:rPr>
                        <a:t>7</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ctr" indent="0" marL="0">
                        <a:buNone/>
                      </a:pPr>
                      <a:r>
                        <a:rPr lang="en-US" sz="950" dirty="0">
                          <a:solidFill>
                            <a:srgbClr val="1A2B3C"/>
                          </a:solidFill>
                          <a:latin typeface="Arial" pitchFamily="34" charset="0"/>
                          <a:ea typeface="Arial" pitchFamily="34" charset="-122"/>
                          <a:cs typeface="Arial" pitchFamily="34" charset="-120"/>
                        </a:rPr>
                        <a:t>yes</a:t>
                      </a:r>
                      <a:endParaRPr lang="en-US" sz="9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bl>
          </a:graphicData>
        </a:graphic>
      </p:graphicFrame>
      <p:sp>
        <p:nvSpPr>
          <p:cNvPr id="20" name="card"/>
          <p:cNvSpPr/>
          <p:nvPr/>
        </p:nvSpPr>
        <p:spPr>
          <a:xfrm>
            <a:off x="4160520" y="5074920"/>
            <a:ext cx="4572000" cy="960120"/>
          </a:xfrm>
          <a:prstGeom prst="roundRect">
            <a:avLst>
              <a:gd name="adj" fmla="val 7619"/>
            </a:avLst>
          </a:prstGeom>
          <a:solidFill>
            <a:schemeClr val="accent2"/>
          </a:solidFill>
          <a:ln w="12700">
            <a:solidFill>
              <a:schemeClr val="accent2"/>
            </a:solidFill>
            <a:prstDash val="solid"/>
          </a:ln>
        </p:spPr>
      </p:sp>
      <p:sp>
        <p:nvSpPr>
          <p:cNvPr id="21" name="text"/>
          <p:cNvSpPr txBox="1"/>
          <p:nvPr/>
        </p:nvSpPr>
        <p:spPr>
          <a:xfrm>
            <a:off x="4343400" y="5166360"/>
            <a:ext cx="4206240" cy="777240"/>
          </a:xfrm>
          <a:prstGeom prst="rect">
            <a:avLst/>
          </a:prstGeom>
          <a:noFill/>
          <a:ln/>
        </p:spPr>
        <p:txBody>
          <a:bodyPr wrap="square" lIns="0" tIns="0" rIns="0" bIns="0" rtlCol="0" anchor="ctr"/>
          <a:lstStyle/>
          <a:p>
            <a:pPr indent="0" marL="0">
              <a:buNone/>
            </a:pPr>
            <a:r>
              <a:rPr lang="en-US" sz="1100" b="1" dirty="0">
                <a:solidFill>
                  <a:schemeClr val="bg1"/>
                </a:solidFill>
              </a:rPr>
              <a:t>check_truths: measure rows checked 504 (truths 504, pipeline 504); households 300; relationships 48; planted facts 48. RESULT: no differences.</a:t>
            </a:r>
            <a:endParaRPr lang="en-US" sz="1100" dirty="0"/>
          </a:p>
        </p:txBody>
      </p:sp>
      <p:sp>
        <p:nvSpPr>
          <p:cNvPr id="22" name="card"/>
          <p:cNvSpPr/>
          <p:nvPr/>
        </p:nvSpPr>
        <p:spPr>
          <a:xfrm>
            <a:off x="8915400" y="1417320"/>
            <a:ext cx="2727655" cy="2148840"/>
          </a:xfrm>
          <a:prstGeom prst="roundRect">
            <a:avLst>
              <a:gd name="adj" fmla="val 3404"/>
            </a:avLst>
          </a:prstGeom>
          <a:solidFill>
            <a:schemeClr val="bg2"/>
          </a:solidFill>
          <a:ln w="12700">
            <a:solidFill>
              <a:schemeClr val="bg2"/>
            </a:solidFill>
            <a:prstDash val="solid"/>
          </a:ln>
        </p:spPr>
      </p:sp>
      <p:sp>
        <p:nvSpPr>
          <p:cNvPr id="23" name="text"/>
          <p:cNvSpPr txBox="1"/>
          <p:nvPr/>
        </p:nvSpPr>
        <p:spPr>
          <a:xfrm>
            <a:off x="9098280" y="1554480"/>
            <a:ext cx="2361895" cy="274320"/>
          </a:xfrm>
          <a:prstGeom prst="rect">
            <a:avLst/>
          </a:prstGeom>
          <a:noFill/>
          <a:ln/>
        </p:spPr>
        <p:txBody>
          <a:bodyPr wrap="square" lIns="0" tIns="0" rIns="0" bIns="0" rtlCol="0" anchor="t"/>
          <a:lstStyle/>
          <a:p>
            <a:pPr indent="0" marL="0">
              <a:buNone/>
            </a:pPr>
            <a:r>
              <a:rPr lang="en-US" sz="1050" b="1" dirty="0">
                <a:solidFill>
                  <a:schemeClr val="accent6"/>
                </a:solidFill>
              </a:rPr>
              <a:t>GENERATED TESTS</a:t>
            </a:r>
            <a:endParaRPr lang="en-US" sz="1050" dirty="0"/>
          </a:p>
        </p:txBody>
      </p:sp>
      <p:sp>
        <p:nvSpPr>
          <p:cNvPr id="24" name="text"/>
          <p:cNvSpPr txBox="1"/>
          <p:nvPr/>
        </p:nvSpPr>
        <p:spPr>
          <a:xfrm>
            <a:off x="9098280" y="1828800"/>
            <a:ext cx="1097280" cy="502920"/>
          </a:xfrm>
          <a:prstGeom prst="rect">
            <a:avLst/>
          </a:prstGeom>
          <a:noFill/>
          <a:ln/>
        </p:spPr>
        <p:txBody>
          <a:bodyPr wrap="square" lIns="0" tIns="0" rIns="0" bIns="0" rtlCol="0" anchor="t"/>
          <a:lstStyle/>
          <a:p>
            <a:pPr indent="0" marL="0">
              <a:buNone/>
            </a:pPr>
            <a:r>
              <a:rPr lang="en-US" sz="2400" b="1" dirty="0">
                <a:solidFill>
                  <a:schemeClr val="accent5"/>
                </a:solidFill>
              </a:rPr>
              <a:t>722</a:t>
            </a:r>
            <a:endParaRPr lang="en-US" sz="2400" dirty="0"/>
          </a:p>
        </p:txBody>
      </p:sp>
      <p:sp>
        <p:nvSpPr>
          <p:cNvPr id="25" name="text"/>
          <p:cNvSpPr txBox="1"/>
          <p:nvPr/>
        </p:nvSpPr>
        <p:spPr>
          <a:xfrm>
            <a:off x="10149840" y="1892808"/>
            <a:ext cx="1310335" cy="457200"/>
          </a:xfrm>
          <a:prstGeom prst="rect">
            <a:avLst/>
          </a:prstGeom>
          <a:noFill/>
          <a:ln/>
        </p:spPr>
        <p:txBody>
          <a:bodyPr wrap="square" lIns="0" tIns="0" rIns="0" bIns="0" rtlCol="0" anchor="t"/>
          <a:lstStyle/>
          <a:p>
            <a:pPr indent="0" marL="0">
              <a:buNone/>
            </a:pPr>
            <a:r>
              <a:rPr lang="en-US" sz="1000" dirty="0">
                <a:solidFill>
                  <a:schemeClr val="tx1"/>
                </a:solidFill>
              </a:rPr>
              <a:t>from CDE flags, code lists and references</a:t>
            </a:r>
            <a:endParaRPr lang="en-US" sz="1000" dirty="0"/>
          </a:p>
        </p:txBody>
      </p:sp>
      <p:sp>
        <p:nvSpPr>
          <p:cNvPr id="26" name="text"/>
          <p:cNvSpPr txBox="1"/>
          <p:nvPr/>
        </p:nvSpPr>
        <p:spPr>
          <a:xfrm>
            <a:off x="9098280" y="2423160"/>
            <a:ext cx="2361895" cy="365760"/>
          </a:xfrm>
          <a:prstGeom prst="rect">
            <a:avLst/>
          </a:prstGeom>
          <a:noFill/>
          <a:ln/>
        </p:spPr>
        <p:txBody>
          <a:bodyPr wrap="square" lIns="0" tIns="0" rIns="0" bIns="0" rtlCol="0" anchor="t"/>
          <a:lstStyle/>
          <a:p>
            <a:pPr indent="0" marL="0">
              <a:buNone/>
            </a:pPr>
            <a:r>
              <a:rPr lang="en-US" sz="1050" dirty="0">
                <a:solidFill>
                  <a:schemeClr val="tx1"/>
                </a:solidFill>
              </a:rPr>
              <a:t>33 with failing rows, every one a declared gap</a:t>
            </a:r>
            <a:endParaRPr lang="en-US" sz="1050" dirty="0"/>
          </a:p>
        </p:txBody>
      </p:sp>
      <p:sp>
        <p:nvSpPr>
          <p:cNvPr id="27" name="text"/>
          <p:cNvSpPr txBox="1"/>
          <p:nvPr/>
        </p:nvSpPr>
        <p:spPr>
          <a:xfrm>
            <a:off x="9098280" y="2788920"/>
            <a:ext cx="2361895" cy="777240"/>
          </a:xfrm>
          <a:prstGeom prst="rect">
            <a:avLst/>
          </a:prstGeom>
          <a:noFill/>
          <a:ln/>
        </p:spPr>
        <p:txBody>
          <a:bodyPr wrap="square" lIns="0" tIns="0" rIns="0" bIns="0" rtlCol="0" anchor="t"/>
          <a:lstStyle/>
          <a:p>
            <a:pPr indent="0" marL="0">
              <a:buNone/>
            </a:pPr>
            <a:r>
              <a:rPr lang="en-US" sz="1000" dirty="0">
                <a:solidFill>
                  <a:schemeClr val="tx1"/>
                </a:solidFill>
              </a:rPr>
              <a:t>3 of 3 planted gaps caught: option positions with no holding type, the register's cash dividend code, the proposed customer-number scheme</a:t>
            </a:r>
            <a:endParaRPr lang="en-US" sz="1000" dirty="0"/>
          </a:p>
        </p:txBody>
      </p:sp>
      <p:sp>
        <p:nvSpPr>
          <p:cNvPr id="28" name="card"/>
          <p:cNvSpPr/>
          <p:nvPr/>
        </p:nvSpPr>
        <p:spPr>
          <a:xfrm>
            <a:off x="8915400" y="3749040"/>
            <a:ext cx="2727655" cy="2286000"/>
          </a:xfrm>
          <a:prstGeom prst="roundRect">
            <a:avLst>
              <a:gd name="adj" fmla="val 3200"/>
            </a:avLst>
          </a:prstGeom>
          <a:solidFill>
            <a:schemeClr val="bg2"/>
          </a:solidFill>
          <a:ln w="12700">
            <a:solidFill>
              <a:schemeClr val="bg2"/>
            </a:solidFill>
            <a:prstDash val="solid"/>
          </a:ln>
        </p:spPr>
      </p:sp>
      <p:sp>
        <p:nvSpPr>
          <p:cNvPr id="29" name="text"/>
          <p:cNvSpPr txBox="1"/>
          <p:nvPr/>
        </p:nvSpPr>
        <p:spPr>
          <a:xfrm>
            <a:off x="9098280" y="3886200"/>
            <a:ext cx="2361895" cy="274320"/>
          </a:xfrm>
          <a:prstGeom prst="rect">
            <a:avLst/>
          </a:prstGeom>
          <a:noFill/>
          <a:ln/>
        </p:spPr>
        <p:txBody>
          <a:bodyPr wrap="square" lIns="0" tIns="0" rIns="0" bIns="0" rtlCol="0" anchor="t"/>
          <a:lstStyle/>
          <a:p>
            <a:pPr indent="0" marL="0">
              <a:buNone/>
            </a:pPr>
            <a:r>
              <a:rPr lang="en-US" sz="1050" b="1" dirty="0">
                <a:solidFill>
                  <a:schemeClr val="accent6"/>
                </a:solidFill>
              </a:rPr>
              <a:t>SEMANTIC MODELS TO SQL</a:t>
            </a:r>
            <a:endParaRPr lang="en-US" sz="1050" dirty="0"/>
          </a:p>
        </p:txBody>
      </p:sp>
      <p:sp>
        <p:nvSpPr>
          <p:cNvPr id="30" name="text"/>
          <p:cNvSpPr txBox="1"/>
          <p:nvPr/>
        </p:nvSpPr>
        <p:spPr>
          <a:xfrm>
            <a:off x="9098280" y="4206240"/>
            <a:ext cx="1188720" cy="365760"/>
          </a:xfrm>
          <a:prstGeom prst="rect">
            <a:avLst/>
          </a:prstGeom>
          <a:noFill/>
          <a:ln/>
        </p:spPr>
        <p:txBody>
          <a:bodyPr wrap="square" lIns="0" tIns="0" rIns="0" bIns="0" rtlCol="0" anchor="t"/>
          <a:lstStyle/>
          <a:p>
            <a:pPr indent="0" marL="0">
              <a:buNone/>
            </a:pPr>
            <a:r>
              <a:rPr lang="en-US" sz="1500" b="1" dirty="0">
                <a:solidFill>
                  <a:schemeClr val="accent5"/>
                </a:solidFill>
              </a:rPr>
              <a:t>86 of 88</a:t>
            </a:r>
            <a:endParaRPr lang="en-US" sz="1500" dirty="0"/>
          </a:p>
        </p:txBody>
      </p:sp>
      <p:sp>
        <p:nvSpPr>
          <p:cNvPr id="31" name="text"/>
          <p:cNvSpPr txBox="1"/>
          <p:nvPr/>
        </p:nvSpPr>
        <p:spPr>
          <a:xfrm>
            <a:off x="10287000" y="4242816"/>
            <a:ext cx="1173175" cy="566928"/>
          </a:xfrm>
          <a:prstGeom prst="rect">
            <a:avLst/>
          </a:prstGeom>
          <a:noFill/>
          <a:ln/>
        </p:spPr>
        <p:txBody>
          <a:bodyPr wrap="square" lIns="0" tIns="0" rIns="0" bIns="0" rtlCol="0" anchor="t"/>
          <a:lstStyle/>
          <a:p>
            <a:pPr indent="0" marL="0">
              <a:buNone/>
            </a:pPr>
            <a:r>
              <a:rPr lang="en-US" sz="1000" dirty="0">
                <a:solidFill>
                  <a:schemeClr val="tx1"/>
                </a:solidFill>
              </a:rPr>
              <a:t>tables compile to views</a:t>
            </a:r>
            <a:endParaRPr lang="en-US" sz="1000" dirty="0"/>
          </a:p>
        </p:txBody>
      </p:sp>
      <p:sp>
        <p:nvSpPr>
          <p:cNvPr id="32" name="text"/>
          <p:cNvSpPr txBox="1"/>
          <p:nvPr/>
        </p:nvSpPr>
        <p:spPr>
          <a:xfrm>
            <a:off x="9098280" y="4809744"/>
            <a:ext cx="1188720" cy="365760"/>
          </a:xfrm>
          <a:prstGeom prst="rect">
            <a:avLst/>
          </a:prstGeom>
          <a:noFill/>
          <a:ln/>
        </p:spPr>
        <p:txBody>
          <a:bodyPr wrap="square" lIns="0" tIns="0" rIns="0" bIns="0" rtlCol="0" anchor="t"/>
          <a:lstStyle/>
          <a:p>
            <a:pPr indent="0" marL="0">
              <a:buNone/>
            </a:pPr>
            <a:r>
              <a:rPr lang="en-US" sz="1500" b="1" dirty="0">
                <a:solidFill>
                  <a:schemeClr val="accent5"/>
                </a:solidFill>
              </a:rPr>
              <a:t>91 of 97</a:t>
            </a:r>
            <a:endParaRPr lang="en-US" sz="1500" dirty="0"/>
          </a:p>
        </p:txBody>
      </p:sp>
      <p:sp>
        <p:nvSpPr>
          <p:cNvPr id="33" name="text"/>
          <p:cNvSpPr txBox="1"/>
          <p:nvPr/>
        </p:nvSpPr>
        <p:spPr>
          <a:xfrm>
            <a:off x="10287000" y="4846320"/>
            <a:ext cx="1173175" cy="566928"/>
          </a:xfrm>
          <a:prstGeom prst="rect">
            <a:avLst/>
          </a:prstGeom>
          <a:noFill/>
          <a:ln/>
        </p:spPr>
        <p:txBody>
          <a:bodyPr wrap="square" lIns="0" tIns="0" rIns="0" bIns="0" rtlCol="0" anchor="t"/>
          <a:lstStyle/>
          <a:p>
            <a:pPr indent="0" marL="0">
              <a:buNone/>
            </a:pPr>
            <a:r>
              <a:rPr lang="en-US" sz="1000" dirty="0">
                <a:solidFill>
                  <a:schemeClr val="tx1"/>
                </a:solidFill>
              </a:rPr>
              <a:t>joins execute</a:t>
            </a:r>
            <a:endParaRPr lang="en-US" sz="1000" dirty="0"/>
          </a:p>
        </p:txBody>
      </p:sp>
      <p:sp>
        <p:nvSpPr>
          <p:cNvPr id="34" name="text"/>
          <p:cNvSpPr txBox="1"/>
          <p:nvPr/>
        </p:nvSpPr>
        <p:spPr>
          <a:xfrm>
            <a:off x="9098280" y="5413248"/>
            <a:ext cx="1188720" cy="365760"/>
          </a:xfrm>
          <a:prstGeom prst="rect">
            <a:avLst/>
          </a:prstGeom>
          <a:noFill/>
          <a:ln/>
        </p:spPr>
        <p:txBody>
          <a:bodyPr wrap="square" lIns="0" tIns="0" rIns="0" bIns="0" rtlCol="0" anchor="t"/>
          <a:lstStyle/>
          <a:p>
            <a:pPr indent="0" marL="0">
              <a:buNone/>
            </a:pPr>
            <a:r>
              <a:rPr lang="en-US" sz="1500" b="1" dirty="0">
                <a:solidFill>
                  <a:schemeClr val="accent5"/>
                </a:solidFill>
              </a:rPr>
              <a:t>81 of 111</a:t>
            </a:r>
            <a:endParaRPr lang="en-US" sz="1500" dirty="0"/>
          </a:p>
        </p:txBody>
      </p:sp>
      <p:sp>
        <p:nvSpPr>
          <p:cNvPr id="35" name="text"/>
          <p:cNvSpPr txBox="1"/>
          <p:nvPr/>
        </p:nvSpPr>
        <p:spPr>
          <a:xfrm>
            <a:off x="10287000" y="5449824"/>
            <a:ext cx="1173175" cy="566928"/>
          </a:xfrm>
          <a:prstGeom prst="rect">
            <a:avLst/>
          </a:prstGeom>
          <a:noFill/>
          <a:ln/>
        </p:spPr>
        <p:txBody>
          <a:bodyPr wrap="square" lIns="0" tIns="0" rIns="0" bIns="0" rtlCol="0" anchor="t"/>
          <a:lstStyle/>
          <a:p>
            <a:pPr indent="0" marL="0">
              <a:buNone/>
            </a:pPr>
            <a:r>
              <a:rPr lang="en-US" sz="1000" dirty="0">
                <a:solidFill>
                  <a:schemeClr val="tx1"/>
                </a:solidFill>
              </a:rPr>
              <a:t>in-scope metrics answer; the rest name their reason</a:t>
            </a:r>
            <a:endParaRPr lang="en-US" sz="1000" dirty="0"/>
          </a:p>
        </p:txBody>
      </p:sp>
      <p:sp>
        <p:nvSpPr>
          <p:cNvPr id="36" name="text"/>
          <p:cNvSpPr txBox="1"/>
          <p:nvPr/>
        </p:nvSpPr>
        <p:spPr>
          <a:xfrm>
            <a:off x="548640" y="6108192"/>
            <a:ext cx="11094415" cy="256032"/>
          </a:xfrm>
          <a:prstGeom prst="rect">
            <a:avLst/>
          </a:prstGeom>
          <a:noFill/>
          <a:ln/>
        </p:spPr>
        <p:txBody>
          <a:bodyPr wrap="square" lIns="0" tIns="0" rIns="0" bIns="0" rtlCol="0" anchor="t"/>
          <a:lstStyle/>
          <a:p>
            <a:pPr indent="0" marL="0">
              <a:buNone/>
            </a:pPr>
            <a:r>
              <a:rPr lang="en-US" sz="950" i="1" dirty="0">
                <a:solidFill>
                  <a:schemeClr val="accent6"/>
                </a:solidFill>
              </a:rPr>
              <a:t>On the demo page: Compile › The derivation chain (Derived entity, Rows), The proof, The generated tests, and the 'tables compile to views' line</a:t>
            </a:r>
            <a:endParaRPr lang="en-US" sz="9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Moment 3, Ask: one question, its answer, its SQL and its lineage</a:t>
            </a:r>
            <a:endParaRPr lang="en-US" sz="2800" dirty="0"/>
          </a:p>
        </p:txBody>
      </p:sp>
      <p:sp>
        <p:nvSpPr>
          <p:cNvPr id="4" name="text"/>
          <p:cNvSpPr txBox="1"/>
          <p:nvPr/>
        </p:nvSpPr>
        <p:spPr>
          <a:xfrm>
            <a:off x="548640" y="1417320"/>
            <a:ext cx="4754880" cy="365760"/>
          </a:xfrm>
          <a:prstGeom prst="rect">
            <a:avLst/>
          </a:prstGeom>
          <a:noFill/>
          <a:ln/>
        </p:spPr>
        <p:txBody>
          <a:bodyPr wrap="square" lIns="0" tIns="0" rIns="0" bIns="0" rtlCol="0" anchor="t"/>
          <a:lstStyle/>
          <a:p>
            <a:pPr indent="0" marL="0">
              <a:buNone/>
            </a:pPr>
            <a:r>
              <a:rPr lang="en-US" sz="1500" b="1" i="1" dirty="0">
                <a:solidFill>
                  <a:schemeClr val="tx2"/>
                </a:solidFill>
              </a:rPr>
              <a:t>“What were net new assets in 2026-Q3 by channel?”</a:t>
            </a:r>
            <a:endParaRPr lang="en-US" sz="1500" dirty="0"/>
          </a:p>
        </p:txBody>
      </p:sp>
      <p:sp>
        <p:nvSpPr>
          <p:cNvPr id="5" name="text"/>
          <p:cNvSpPr txBox="1"/>
          <p:nvPr/>
        </p:nvSpPr>
        <p:spPr>
          <a:xfrm>
            <a:off x="548640" y="1801368"/>
            <a:ext cx="4754880" cy="320040"/>
          </a:xfrm>
          <a:prstGeom prst="rect">
            <a:avLst/>
          </a:prstGeom>
          <a:noFill/>
          <a:ln/>
        </p:spPr>
        <p:txBody>
          <a:bodyPr wrap="square" lIns="0" tIns="0" rIns="0" bIns="0" rtlCol="0" anchor="t"/>
          <a:lstStyle/>
          <a:p>
            <a:pPr indent="0" marL="0">
              <a:buNone/>
            </a:pPr>
            <a:r>
              <a:rPr lang="en-US" sz="950" dirty="0">
                <a:solidFill>
                  <a:schemeClr val="accent6"/>
                </a:solidFill>
              </a:rPr>
              <a:t>Net New Assets by client_assets_flows.dimension_key, dimension type Channel, period 2026-Q3</a:t>
            </a:r>
            <a:endParaRPr lang="en-US" sz="95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4754880" cy="914400"/>
        </p:xfrm>
        <a:graphic>
          <a:graphicData uri="http://schemas.openxmlformats.org/drawingml/2006/table">
            <a:tbl>
              <a:tblPr/>
              <a:tblGrid>
                <a:gridCol w="2834640"/>
                <a:gridCol w="1920240"/>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Channel</a:t>
                      </a:r>
                      <a:endParaRPr lang="en-US" sz="10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r" indent="0" marL="0">
                        <a:buNone/>
                      </a:pPr>
                      <a:r>
                        <a:rPr lang="en-US" sz="1050" b="1" dirty="0">
                          <a:solidFill>
                            <a:srgbClr val="FFFFFF"/>
                          </a:solidFill>
                          <a:latin typeface="Arial" pitchFamily="34" charset="0"/>
                          <a:ea typeface="Arial" pitchFamily="34" charset="-122"/>
                          <a:cs typeface="Arial" pitchFamily="34" charset="-120"/>
                        </a:rPr>
                        <a:t>Net New Assets</a:t>
                      </a:r>
                      <a:endParaRPr lang="en-US" sz="10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DIRECT_DIGITAL_ADVICE</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$566,501.93</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DIRECT_HUMAN_ADVICE</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$454,164.41</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DIRECT_SELF_DIRECTED</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$3,801,444.40</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DIRECT_TRUST</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$33,284.78</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INSTITUTIONAL_CONSULTANT</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$18,813,181.00</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INSTITUTIONAL_DIRECT</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$14,398,765.00</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INSTITUTIONAL_OCIO</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$0.00</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INTERMEDIARY</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50" dirty="0">
                          <a:solidFill>
                            <a:srgbClr val="1A2B3C"/>
                          </a:solidFill>
                          <a:latin typeface="Arial" pitchFamily="34" charset="0"/>
                          <a:ea typeface="Arial" pitchFamily="34" charset="-122"/>
                          <a:cs typeface="Arial" pitchFamily="34" charset="-120"/>
                        </a:rPr>
                        <a:t>$3,089,020.76</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50" b="1" dirty="0">
                          <a:solidFill>
                            <a:srgbClr val="1A2B3C"/>
                          </a:solidFill>
                          <a:latin typeface="Arial" pitchFamily="34" charset="0"/>
                          <a:ea typeface="Arial" pitchFamily="34" charset="-122"/>
                          <a:cs typeface="Arial" pitchFamily="34" charset="-120"/>
                        </a:rPr>
                        <a:t>Total (ties to the proof)</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A2B3C"/>
                          </a:solidFill>
                          <a:latin typeface="Arial" pitchFamily="34" charset="0"/>
                          <a:ea typeface="Arial" pitchFamily="34" charset="-122"/>
                          <a:cs typeface="Arial" pitchFamily="34" charset="-120"/>
                        </a:rPr>
                        <a:t>$41,156,362.28</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bl>
          </a:graphicData>
        </a:graphic>
      </p:graphicFrame>
      <p:sp>
        <p:nvSpPr>
          <p:cNvPr id="7" name="card"/>
          <p:cNvSpPr/>
          <p:nvPr/>
        </p:nvSpPr>
        <p:spPr>
          <a:xfrm>
            <a:off x="5669280" y="1417320"/>
            <a:ext cx="5973775" cy="2148840"/>
          </a:xfrm>
          <a:prstGeom prst="roundRect">
            <a:avLst>
              <a:gd name="adj" fmla="val 3404"/>
            </a:avLst>
          </a:prstGeom>
          <a:solidFill>
            <a:schemeClr val="tx2"/>
          </a:solidFill>
          <a:ln w="12700">
            <a:solidFill>
              <a:schemeClr val="tx2"/>
            </a:solidFill>
            <a:prstDash val="solid"/>
          </a:ln>
        </p:spPr>
      </p:sp>
      <p:sp>
        <p:nvSpPr>
          <p:cNvPr id="8" name="text"/>
          <p:cNvSpPr txBox="1"/>
          <p:nvPr/>
        </p:nvSpPr>
        <p:spPr>
          <a:xfrm>
            <a:off x="5852160" y="1527048"/>
            <a:ext cx="5608015" cy="274320"/>
          </a:xfrm>
          <a:prstGeom prst="rect">
            <a:avLst/>
          </a:prstGeom>
          <a:noFill/>
          <a:ln/>
        </p:spPr>
        <p:txBody>
          <a:bodyPr wrap="square" lIns="0" tIns="0" rIns="0" bIns="0" rtlCol="0" anchor="t"/>
          <a:lstStyle/>
          <a:p>
            <a:pPr indent="0" marL="0">
              <a:buNone/>
            </a:pPr>
            <a:r>
              <a:rPr lang="en-US" sz="1050" b="1" dirty="0">
                <a:solidFill>
                  <a:schemeClr val="accent4"/>
                </a:solidFill>
              </a:rPr>
              <a:t>THE SQL IT RAN</a:t>
            </a:r>
            <a:endParaRPr lang="en-US" sz="1050" dirty="0"/>
          </a:p>
        </p:txBody>
      </p:sp>
      <p:sp>
        <p:nvSpPr>
          <p:cNvPr id="9" name="text"/>
          <p:cNvSpPr txBox="1"/>
          <p:nvPr/>
        </p:nvSpPr>
        <p:spPr>
          <a:xfrm>
            <a:off x="5852160" y="1828800"/>
            <a:ext cx="5608015" cy="1691640"/>
          </a:xfrm>
          <a:prstGeom prst="rect">
            <a:avLst/>
          </a:prstGeom>
          <a:noFill/>
          <a:ln/>
        </p:spPr>
        <p:txBody>
          <a:bodyPr wrap="square" lIns="0" tIns="0" rIns="0" bIns="0" rtlCol="0" anchor="t"/>
          <a:lstStyle/>
          <a:p>
            <a:pPr indent="0" marL="0">
              <a:buNone/>
            </a:pPr>
            <a:r>
              <a:rPr lang="en-US" sz="950" dirty="0">
                <a:solidFill>
                  <a:schemeClr val="bg1"/>
                </a:solidFill>
                <a:latin typeface="Courier New" pitchFamily="34" charset="0"/>
                <a:ea typeface="Courier New" pitchFamily="34" charset="-122"/>
                <a:cs typeface="Courier New" pitchFamily="34" charset="-120"/>
              </a:rPr>
              <a:t>select dimension_key, sum(net_new_assets) as "Net New Assets"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from sem.sm20_client_assets_flows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where dimension_type = 'Channel' and period_type = 'Quarter'</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and period_end_date = (select max(period_end_date) from sem.sm20_client_assets_flows where period_end_date &lt;= date '2026-09-30')</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group by dimension_key order by dimension_key</a:t>
            </a:r>
            <a:endParaRPr lang="en-US" sz="950" dirty="0"/>
          </a:p>
        </p:txBody>
      </p:sp>
      <p:sp>
        <p:nvSpPr>
          <p:cNvPr id="10" name="card"/>
          <p:cNvSpPr/>
          <p:nvPr/>
        </p:nvSpPr>
        <p:spPr>
          <a:xfrm>
            <a:off x="5669280" y="3749040"/>
            <a:ext cx="5973775" cy="2286000"/>
          </a:xfrm>
          <a:prstGeom prst="roundRect">
            <a:avLst>
              <a:gd name="adj" fmla="val 3200"/>
            </a:avLst>
          </a:prstGeom>
          <a:solidFill>
            <a:schemeClr val="bg2"/>
          </a:solidFill>
          <a:ln w="12700">
            <a:solidFill>
              <a:schemeClr val="bg2"/>
            </a:solidFill>
            <a:prstDash val="solid"/>
          </a:ln>
        </p:spPr>
      </p:sp>
      <p:sp>
        <p:nvSpPr>
          <p:cNvPr id="11" name="text"/>
          <p:cNvSpPr txBox="1"/>
          <p:nvPr/>
        </p:nvSpPr>
        <p:spPr>
          <a:xfrm>
            <a:off x="5852160" y="3858768"/>
            <a:ext cx="5608015" cy="274320"/>
          </a:xfrm>
          <a:prstGeom prst="rect">
            <a:avLst/>
          </a:prstGeom>
          <a:noFill/>
          <a:ln/>
        </p:spPr>
        <p:txBody>
          <a:bodyPr wrap="square" lIns="0" tIns="0" rIns="0" bIns="0" rtlCol="0" anchor="t"/>
          <a:lstStyle/>
          <a:p>
            <a:pPr indent="0" marL="0">
              <a:buNone/>
            </a:pPr>
            <a:r>
              <a:rPr lang="en-US" sz="1050" b="1" dirty="0">
                <a:solidFill>
                  <a:schemeClr val="accent6"/>
                </a:solidFill>
              </a:rPr>
              <a:t>THE LINEAGE, BACK TO THE TAXONOMY</a:t>
            </a:r>
            <a:endParaRPr lang="en-US" sz="1050" dirty="0"/>
          </a:p>
        </p:txBody>
      </p:sp>
      <p:sp>
        <p:nvSpPr>
          <p:cNvPr id="12" name="dot"/>
          <p:cNvSpPr/>
          <p:nvPr/>
        </p:nvSpPr>
        <p:spPr>
          <a:xfrm>
            <a:off x="5870448" y="4261104"/>
            <a:ext cx="182880" cy="182880"/>
          </a:xfrm>
          <a:prstGeom prst="ellipse">
            <a:avLst/>
          </a:prstGeom>
          <a:solidFill>
            <a:schemeClr val="accent5"/>
          </a:solidFill>
          <a:ln w="12700">
            <a:solidFill>
              <a:srgbClr val="333333"/>
            </a:solidFill>
            <a:prstDash val="solid"/>
          </a:ln>
        </p:spPr>
      </p:sp>
      <p:sp>
        <p:nvSpPr>
          <p:cNvPr id="13" name="text"/>
          <p:cNvSpPr txBox="1"/>
          <p:nvPr/>
        </p:nvSpPr>
        <p:spPr>
          <a:xfrm>
            <a:off x="6172200" y="4178808"/>
            <a:ext cx="1463040" cy="365760"/>
          </a:xfrm>
          <a:prstGeom prst="rect">
            <a:avLst/>
          </a:prstGeom>
          <a:noFill/>
          <a:ln/>
        </p:spPr>
        <p:txBody>
          <a:bodyPr wrap="square" lIns="0" tIns="0" rIns="0" bIns="0" rtlCol="0" anchor="t"/>
          <a:lstStyle/>
          <a:p>
            <a:pPr indent="0" marL="0">
              <a:buNone/>
            </a:pPr>
            <a:r>
              <a:rPr lang="en-US" sz="1050" b="1" dirty="0">
                <a:solidFill>
                  <a:schemeClr val="accent6"/>
                </a:solidFill>
              </a:rPr>
              <a:t>Semantic model</a:t>
            </a:r>
            <a:endParaRPr lang="en-US" sz="1050" dirty="0"/>
          </a:p>
        </p:txBody>
      </p:sp>
      <p:sp>
        <p:nvSpPr>
          <p:cNvPr id="14" name="text"/>
          <p:cNvSpPr txBox="1"/>
          <p:nvPr/>
        </p:nvSpPr>
        <p:spPr>
          <a:xfrm>
            <a:off x="7635240" y="4178808"/>
            <a:ext cx="3824935" cy="411480"/>
          </a:xfrm>
          <a:prstGeom prst="rect">
            <a:avLst/>
          </a:prstGeom>
          <a:noFill/>
          <a:ln/>
        </p:spPr>
        <p:txBody>
          <a:bodyPr wrap="square" lIns="0" tIns="0" rIns="0" bIns="0" rtlCol="0" anchor="t"/>
          <a:lstStyle/>
          <a:p>
            <a:pPr indent="0" marL="0">
              <a:buNone/>
            </a:pPr>
            <a:r>
              <a:rPr lang="en-US" sz="1050" dirty="0">
                <a:solidFill>
                  <a:schemeClr val="tx1"/>
                </a:solidFill>
              </a:rPr>
              <a:t>SM-20 Client Assets &amp; Flows</a:t>
            </a:r>
            <a:endParaRPr lang="en-US" sz="1050" dirty="0"/>
          </a:p>
        </p:txBody>
      </p:sp>
      <p:sp>
        <p:nvSpPr>
          <p:cNvPr id="15" name="dot"/>
          <p:cNvSpPr/>
          <p:nvPr/>
        </p:nvSpPr>
        <p:spPr>
          <a:xfrm>
            <a:off x="5870448" y="4718304"/>
            <a:ext cx="182880" cy="182880"/>
          </a:xfrm>
          <a:prstGeom prst="ellipse">
            <a:avLst/>
          </a:prstGeom>
          <a:solidFill>
            <a:schemeClr val="accent2"/>
          </a:solidFill>
          <a:ln w="12700">
            <a:solidFill>
              <a:srgbClr val="333333"/>
            </a:solidFill>
            <a:prstDash val="solid"/>
          </a:ln>
        </p:spPr>
      </p:sp>
      <p:sp>
        <p:nvSpPr>
          <p:cNvPr id="16" name="text"/>
          <p:cNvSpPr txBox="1"/>
          <p:nvPr/>
        </p:nvSpPr>
        <p:spPr>
          <a:xfrm>
            <a:off x="6172200" y="4636008"/>
            <a:ext cx="1463040" cy="365760"/>
          </a:xfrm>
          <a:prstGeom prst="rect">
            <a:avLst/>
          </a:prstGeom>
          <a:noFill/>
          <a:ln/>
        </p:spPr>
        <p:txBody>
          <a:bodyPr wrap="square" lIns="0" tIns="0" rIns="0" bIns="0" rtlCol="0" anchor="t"/>
          <a:lstStyle/>
          <a:p>
            <a:pPr indent="0" marL="0">
              <a:buNone/>
            </a:pPr>
            <a:r>
              <a:rPr lang="en-US" sz="1050" b="1" dirty="0">
                <a:solidFill>
                  <a:schemeClr val="accent6"/>
                </a:solidFill>
              </a:rPr>
              <a:t>Product measure</a:t>
            </a:r>
            <a:endParaRPr lang="en-US" sz="1050" dirty="0"/>
          </a:p>
        </p:txBody>
      </p:sp>
      <p:sp>
        <p:nvSpPr>
          <p:cNvPr id="17" name="text"/>
          <p:cNvSpPr txBox="1"/>
          <p:nvPr/>
        </p:nvSpPr>
        <p:spPr>
          <a:xfrm>
            <a:off x="7635240" y="4636008"/>
            <a:ext cx="3824935" cy="411480"/>
          </a:xfrm>
          <a:prstGeom prst="rect">
            <a:avLst/>
          </a:prstGeom>
          <a:noFill/>
          <a:ln/>
        </p:spPr>
        <p:txBody>
          <a:bodyPr wrap="square" lIns="0" tIns="0" rIns="0" bIns="0" rtlCol="0" anchor="t"/>
          <a:lstStyle/>
          <a:p>
            <a:pPr indent="0" marL="0">
              <a:buNone/>
            </a:pPr>
            <a:r>
              <a:rPr lang="en-US" sz="1050" dirty="0">
                <a:solidFill>
                  <a:schemeClr val="tx1"/>
                </a:solidFill>
              </a:rPr>
              <a:t>DP-008 Net New Assets</a:t>
            </a:r>
            <a:endParaRPr lang="en-US" sz="1050" dirty="0"/>
          </a:p>
        </p:txBody>
      </p:sp>
      <p:sp>
        <p:nvSpPr>
          <p:cNvPr id="18" name="dot"/>
          <p:cNvSpPr/>
          <p:nvPr/>
        </p:nvSpPr>
        <p:spPr>
          <a:xfrm>
            <a:off x="5870448" y="5175504"/>
            <a:ext cx="182880" cy="182880"/>
          </a:xfrm>
          <a:prstGeom prst="ellipse">
            <a:avLst/>
          </a:prstGeom>
          <a:solidFill>
            <a:schemeClr val="accent1"/>
          </a:solidFill>
          <a:ln w="12700">
            <a:solidFill>
              <a:srgbClr val="333333"/>
            </a:solidFill>
            <a:prstDash val="solid"/>
          </a:ln>
        </p:spPr>
      </p:sp>
      <p:sp>
        <p:nvSpPr>
          <p:cNvPr id="19" name="text"/>
          <p:cNvSpPr txBox="1"/>
          <p:nvPr/>
        </p:nvSpPr>
        <p:spPr>
          <a:xfrm>
            <a:off x="6172200" y="5093208"/>
            <a:ext cx="1463040" cy="365760"/>
          </a:xfrm>
          <a:prstGeom prst="rect">
            <a:avLst/>
          </a:prstGeom>
          <a:noFill/>
          <a:ln/>
        </p:spPr>
        <p:txBody>
          <a:bodyPr wrap="square" lIns="0" tIns="0" rIns="0" bIns="0" rtlCol="0" anchor="t"/>
          <a:lstStyle/>
          <a:p>
            <a:pPr indent="0" marL="0">
              <a:buNone/>
            </a:pPr>
            <a:r>
              <a:rPr lang="en-US" sz="1050" b="1" dirty="0">
                <a:solidFill>
                  <a:schemeClr val="accent6"/>
                </a:solidFill>
              </a:rPr>
              <a:t>Taxonomy attribute</a:t>
            </a:r>
            <a:endParaRPr lang="en-US" sz="1050" dirty="0"/>
          </a:p>
        </p:txBody>
      </p:sp>
      <p:sp>
        <p:nvSpPr>
          <p:cNvPr id="20" name="text"/>
          <p:cNvSpPr txBox="1"/>
          <p:nvPr/>
        </p:nvSpPr>
        <p:spPr>
          <a:xfrm>
            <a:off x="7635240" y="5093208"/>
            <a:ext cx="3824935" cy="411480"/>
          </a:xfrm>
          <a:prstGeom prst="rect">
            <a:avLst/>
          </a:prstGeom>
          <a:noFill/>
          <a:ln/>
        </p:spPr>
        <p:txBody>
          <a:bodyPr wrap="square" lIns="0" tIns="0" rIns="0" bIns="0" rtlCol="0" anchor="t"/>
          <a:lstStyle/>
          <a:p>
            <a:pPr indent="0" marL="0">
              <a:buNone/>
            </a:pPr>
            <a:r>
              <a:rPr lang="en-US" sz="1050" dirty="0">
                <a:solidFill>
                  <a:schemeClr val="tx1"/>
                </a:solidFill>
              </a:rPr>
              <a:t>Net New Assets, 06 Client Asset Measures, a critical data element</a:t>
            </a:r>
            <a:endParaRPr lang="en-US" sz="1050" dirty="0"/>
          </a:p>
        </p:txBody>
      </p:sp>
      <p:sp>
        <p:nvSpPr>
          <p:cNvPr id="21" name="dot"/>
          <p:cNvSpPr/>
          <p:nvPr/>
        </p:nvSpPr>
        <p:spPr>
          <a:xfrm>
            <a:off x="5870448" y="5632704"/>
            <a:ext cx="182880" cy="182880"/>
          </a:xfrm>
          <a:prstGeom prst="ellipse">
            <a:avLst/>
          </a:prstGeom>
          <a:solidFill>
            <a:schemeClr val="accent4"/>
          </a:solidFill>
          <a:ln w="12700">
            <a:solidFill>
              <a:srgbClr val="333333"/>
            </a:solidFill>
            <a:prstDash val="solid"/>
          </a:ln>
        </p:spPr>
      </p:sp>
      <p:sp>
        <p:nvSpPr>
          <p:cNvPr id="22" name="text"/>
          <p:cNvSpPr txBox="1"/>
          <p:nvPr/>
        </p:nvSpPr>
        <p:spPr>
          <a:xfrm>
            <a:off x="6172200" y="5550408"/>
            <a:ext cx="1463040" cy="365760"/>
          </a:xfrm>
          <a:prstGeom prst="rect">
            <a:avLst/>
          </a:prstGeom>
          <a:noFill/>
          <a:ln/>
        </p:spPr>
        <p:txBody>
          <a:bodyPr wrap="square" lIns="0" tIns="0" rIns="0" bIns="0" rtlCol="0" anchor="t"/>
          <a:lstStyle/>
          <a:p>
            <a:pPr indent="0" marL="0">
              <a:buNone/>
            </a:pPr>
            <a:r>
              <a:rPr lang="en-US" sz="1050" b="1" dirty="0">
                <a:solidFill>
                  <a:schemeClr val="accent6"/>
                </a:solidFill>
              </a:rPr>
              <a:t>Owner</a:t>
            </a:r>
            <a:endParaRPr lang="en-US" sz="1050" dirty="0"/>
          </a:p>
        </p:txBody>
      </p:sp>
      <p:sp>
        <p:nvSpPr>
          <p:cNvPr id="23" name="text"/>
          <p:cNvSpPr txBox="1"/>
          <p:nvPr/>
        </p:nvSpPr>
        <p:spPr>
          <a:xfrm>
            <a:off x="7635240" y="5550408"/>
            <a:ext cx="3824935" cy="411480"/>
          </a:xfrm>
          <a:prstGeom prst="rect">
            <a:avLst/>
          </a:prstGeom>
          <a:noFill/>
          <a:ln/>
        </p:spPr>
        <p:txBody>
          <a:bodyPr wrap="square" lIns="0" tIns="0" rIns="0" bIns="0" rtlCol="0" anchor="t"/>
          <a:lstStyle/>
          <a:p>
            <a:pPr indent="0" marL="0">
              <a:buNone/>
            </a:pPr>
            <a:r>
              <a:rPr lang="en-US" sz="1050" dirty="0">
                <a:solidFill>
                  <a:schemeClr val="tx1"/>
                </a:solidFill>
              </a:rPr>
              <a:t>Head of Client &amp; Channel Analytics</a:t>
            </a:r>
            <a:endParaRPr lang="en-US" sz="1050" dirty="0"/>
          </a:p>
        </p:txBody>
      </p:sp>
      <p:sp>
        <p:nvSpPr>
          <p:cNvPr id="24" name="card"/>
          <p:cNvSpPr/>
          <p:nvPr/>
        </p:nvSpPr>
        <p:spPr>
          <a:xfrm>
            <a:off x="548640" y="5166360"/>
            <a:ext cx="4754880" cy="868680"/>
          </a:xfrm>
          <a:prstGeom prst="roundRect">
            <a:avLst>
              <a:gd name="adj" fmla="val 8421"/>
            </a:avLst>
          </a:prstGeom>
          <a:solidFill>
            <a:schemeClr val="tx2"/>
          </a:solidFill>
          <a:ln w="12700">
            <a:solidFill>
              <a:schemeClr val="tx2"/>
            </a:solidFill>
            <a:prstDash val="solid"/>
          </a:ln>
        </p:spPr>
      </p:sp>
      <p:sp>
        <p:nvSpPr>
          <p:cNvPr id="25" name="text"/>
          <p:cNvSpPr txBox="1"/>
          <p:nvPr/>
        </p:nvSpPr>
        <p:spPr>
          <a:xfrm>
            <a:off x="731520" y="5257800"/>
            <a:ext cx="4389120" cy="685800"/>
          </a:xfrm>
          <a:prstGeom prst="rect">
            <a:avLst/>
          </a:prstGeom>
          <a:noFill/>
          <a:ln/>
        </p:spPr>
        <p:txBody>
          <a:bodyPr wrap="square" lIns="0" tIns="0" rIns="0" bIns="0" rtlCol="0" anchor="ctr"/>
          <a:lstStyle/>
          <a:p>
            <a:pPr indent="0" marL="0">
              <a:buNone/>
            </a:pPr>
            <a:r>
              <a:rPr lang="en-US" sz="1200" dirty="0">
                <a:solidFill>
                  <a:schemeClr val="bg1"/>
                </a:solidFill>
              </a:rPr>
              <a:t>Every answer carries its rows, its SQL and its lineage. A figure without a definition and an owner is not an answer.</a:t>
            </a:r>
            <a:endParaRPr lang="en-US" sz="1200" dirty="0"/>
          </a:p>
        </p:txBody>
      </p:sp>
      <p:sp>
        <p:nvSpPr>
          <p:cNvPr id="26" name="text"/>
          <p:cNvSpPr txBox="1"/>
          <p:nvPr/>
        </p:nvSpPr>
        <p:spPr>
          <a:xfrm>
            <a:off x="548640" y="6108192"/>
            <a:ext cx="11094415" cy="256032"/>
          </a:xfrm>
          <a:prstGeom prst="rect">
            <a:avLst/>
          </a:prstGeom>
          <a:noFill/>
          <a:ln/>
        </p:spPr>
        <p:txBody>
          <a:bodyPr wrap="square" lIns="0" tIns="0" rIns="0" bIns="0" rtlCol="0" anchor="t"/>
          <a:lstStyle/>
          <a:p>
            <a:pPr indent="0" marL="0">
              <a:buNone/>
            </a:pPr>
            <a:r>
              <a:rPr lang="en-US" sz="950" i="1" dirty="0">
                <a:solidFill>
                  <a:schemeClr val="accent6"/>
                </a:solidFill>
              </a:rPr>
              <a:t>On the demo page: Ask › Answers, computed when this page was built (first answer), and Compile › The proof (Net new assets, 2026-Q3)</a:t>
            </a:r>
            <a:endParaRPr lang="en-US" sz="9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Answers for the head of distribution: assets, wallet share, relationships at risk</a:t>
            </a:r>
            <a:endParaRPr lang="en-US" sz="2800" dirty="0"/>
          </a:p>
        </p:txBody>
      </p:sp>
      <p:sp>
        <p:nvSpPr>
          <p:cNvPr id="4" name="text"/>
          <p:cNvSpPr txBox="1"/>
          <p:nvPr/>
        </p:nvSpPr>
        <p:spPr>
          <a:xfrm>
            <a:off x="548640" y="1417320"/>
            <a:ext cx="6035040" cy="365760"/>
          </a:xfrm>
          <a:prstGeom prst="rect">
            <a:avLst/>
          </a:prstGeom>
          <a:noFill/>
          <a:ln/>
        </p:spPr>
        <p:txBody>
          <a:bodyPr wrap="square" lIns="0" tIns="0" rIns="0" bIns="0" rtlCol="0" anchor="t"/>
          <a:lstStyle/>
          <a:p>
            <a:pPr indent="0" marL="0">
              <a:buNone/>
            </a:pPr>
            <a:r>
              <a:rPr lang="en-US" sz="1250" b="1" i="1" dirty="0">
                <a:solidFill>
                  <a:schemeClr val="tx2"/>
                </a:solidFill>
              </a:rPr>
              <a:t>“What were Client Assets at the month-end by channel, and what share is in our own funds?”</a:t>
            </a:r>
            <a:endParaRPr lang="en-US" sz="125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828800"/>
          <a:ext cx="6035040" cy="914400"/>
        </p:xfrm>
        <a:graphic>
          <a:graphicData uri="http://schemas.openxmlformats.org/drawingml/2006/table">
            <a:tbl>
              <a:tblPr/>
              <a:tblGrid>
                <a:gridCol w="2926080"/>
                <a:gridCol w="2011680"/>
                <a:gridCol w="109728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Channel</a:t>
                      </a:r>
                      <a:endParaRPr lang="en-US" sz="10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Client Assets</a:t>
                      </a:r>
                      <a:endParaRPr lang="en-US" sz="10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Own-fund share</a:t>
                      </a:r>
                      <a:endParaRPr lang="en-US" sz="10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Direct - Digital Advice</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$7,550,128.65</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44.8%</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Direct - Human Advice</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$20,212,896.71</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47.7%</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Direct - Self-Directed</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$156,505,164.44</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55.3%</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Direct - Trust</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$41,560,352.37</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40.7%</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Institutional - Consultant-Led</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$6,441,649,049.83</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12.4%</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Institutional - Direct</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$1,978,128,041.77</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6.1%</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Institutional - OCIO</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$2,484,965,457.48</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2.1%</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Intermediary</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$95,950,287.20</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00" b="1" dirty="0">
                          <a:solidFill>
                            <a:srgbClr val="1A2B3C"/>
                          </a:solidFill>
                          <a:latin typeface="Arial" pitchFamily="34" charset="0"/>
                          <a:ea typeface="Arial" pitchFamily="34" charset="-122"/>
                          <a:cs typeface="Arial" pitchFamily="34" charset="-120"/>
                        </a:rPr>
                        <a:t>Total, 2026-09-30 (ties to the proof)</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A2B3C"/>
                          </a:solidFill>
                          <a:latin typeface="Arial" pitchFamily="34" charset="0"/>
                          <a:ea typeface="Arial" pitchFamily="34" charset="-122"/>
                          <a:cs typeface="Arial" pitchFamily="34" charset="-120"/>
                        </a:rPr>
                        <a:t>$11,226,521,378.45</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bl>
          </a:graphicData>
        </a:graphic>
      </p:graphicFrame>
      <p:sp>
        <p:nvSpPr>
          <p:cNvPr id="6" name="card"/>
          <p:cNvSpPr/>
          <p:nvPr/>
        </p:nvSpPr>
        <p:spPr>
          <a:xfrm>
            <a:off x="6858000" y="1417320"/>
            <a:ext cx="4785055" cy="2514600"/>
          </a:xfrm>
          <a:prstGeom prst="roundRect">
            <a:avLst>
              <a:gd name="adj" fmla="val 2909"/>
            </a:avLst>
          </a:prstGeom>
          <a:solidFill>
            <a:schemeClr val="tx2"/>
          </a:solidFill>
          <a:ln w="12700">
            <a:solidFill>
              <a:schemeClr val="tx2"/>
            </a:solidFill>
            <a:prstDash val="solid"/>
          </a:ln>
        </p:spPr>
      </p:sp>
      <p:sp>
        <p:nvSpPr>
          <p:cNvPr id="7" name="text"/>
          <p:cNvSpPr txBox="1"/>
          <p:nvPr/>
        </p:nvSpPr>
        <p:spPr>
          <a:xfrm>
            <a:off x="7040880" y="1527048"/>
            <a:ext cx="4419295" cy="548640"/>
          </a:xfrm>
          <a:prstGeom prst="rect">
            <a:avLst/>
          </a:prstGeom>
          <a:noFill/>
          <a:ln/>
        </p:spPr>
        <p:txBody>
          <a:bodyPr wrap="square" lIns="0" tIns="0" rIns="0" bIns="0" rtlCol="0" anchor="t"/>
          <a:lstStyle/>
          <a:p>
            <a:pPr indent="0" marL="0">
              <a:buNone/>
            </a:pPr>
            <a:r>
              <a:rPr lang="en-US" sz="1150" b="1" i="1" dirty="0">
                <a:solidFill>
                  <a:schemeClr val="bg1"/>
                </a:solidFill>
              </a:rPr>
              <a:t>“How much of our AUM with public pension plans sits with clients whose relationship is at risk?”</a:t>
            </a:r>
            <a:endParaRPr lang="en-US" sz="1150" dirty="0"/>
          </a:p>
        </p:txBody>
      </p:sp>
      <p:sp>
        <p:nvSpPr>
          <p:cNvPr id="8" name="text"/>
          <p:cNvSpPr txBox="1"/>
          <p:nvPr/>
        </p:nvSpPr>
        <p:spPr>
          <a:xfrm>
            <a:off x="7040880" y="2130552"/>
            <a:ext cx="4419295" cy="502920"/>
          </a:xfrm>
          <a:prstGeom prst="rect">
            <a:avLst/>
          </a:prstGeom>
          <a:noFill/>
          <a:ln/>
        </p:spPr>
        <p:txBody>
          <a:bodyPr wrap="square" lIns="0" tIns="0" rIns="0" bIns="0" rtlCol="0" anchor="t"/>
          <a:lstStyle/>
          <a:p>
            <a:pPr indent="0" marL="0">
              <a:buNone/>
            </a:pPr>
            <a:r>
              <a:rPr lang="en-US" sz="2400" b="1" dirty="0">
                <a:solidFill>
                  <a:schemeClr val="accent4"/>
                </a:solidFill>
              </a:rPr>
              <a:t>$1,901,853,800.42</a:t>
            </a:r>
            <a:endParaRPr lang="en-US" sz="2400" dirty="0"/>
          </a:p>
        </p:txBody>
      </p:sp>
      <p:sp>
        <p:nvSpPr>
          <p:cNvPr id="9" name="text"/>
          <p:cNvSpPr txBox="1"/>
          <p:nvPr/>
        </p:nvSpPr>
        <p:spPr>
          <a:xfrm>
            <a:off x="7040880" y="2633472"/>
            <a:ext cx="4419295" cy="457200"/>
          </a:xfrm>
          <a:prstGeom prst="rect">
            <a:avLst/>
          </a:prstGeom>
          <a:noFill/>
          <a:ln/>
        </p:spPr>
        <p:txBody>
          <a:bodyPr wrap="square" lIns="0" tIns="0" rIns="0" bIns="0" rtlCol="0" anchor="t"/>
          <a:lstStyle/>
          <a:p>
            <a:pPr indent="0" marL="0">
              <a:buNone/>
            </a:pPr>
            <a:r>
              <a:rPr lang="en-US" sz="1050" dirty="0">
                <a:solidFill>
                  <a:schemeClr val="bg2"/>
                </a:solidFill>
              </a:rPr>
              <a:t>of $4,326,994,551.18 relationship client assets with public pension plans, about 44%</a:t>
            </a:r>
            <a:endParaRPr lang="en-US" sz="1050" dirty="0"/>
          </a:p>
        </p:txBody>
      </p:sp>
      <p:sp>
        <p:nvSpPr>
          <p:cNvPr id="10" name="text"/>
          <p:cNvSpPr txBox="1"/>
          <p:nvPr/>
        </p:nvSpPr>
        <p:spPr>
          <a:xfrm>
            <a:off x="7040880" y="3108960"/>
            <a:ext cx="4419295" cy="777240"/>
          </a:xfrm>
          <a:prstGeom prst="rect">
            <a:avLst/>
          </a:prstGeom>
          <a:noFill/>
          <a:ln/>
        </p:spPr>
        <p:txBody>
          <a:bodyPr wrap="square" lIns="0" tIns="0" rIns="0" bIns="0" rtlCol="0" anchor="t"/>
          <a:lstStyle/>
          <a:p>
            <a:pPr indent="0" marL="0">
              <a:buNone/>
            </a:pPr>
            <a:r>
              <a:rPr lang="en-US" sz="950" dirty="0">
                <a:solidFill>
                  <a:schemeClr val="bg2"/>
                </a:solidFill>
              </a:rPr>
              <a:t>7 relationships at risk in all: 6 institutional separate account, 1 OCIO. Fund-held assets from the transfer agent plus mandates valued from the portfolio book of record, attributed to the client's relationships and cut by the latest health score.</a:t>
            </a:r>
            <a:endParaRPr lang="en-US" sz="950" dirty="0"/>
          </a:p>
        </p:txBody>
      </p:sp>
      <p:sp>
        <p:nvSpPr>
          <p:cNvPr id="11" name="card"/>
          <p:cNvSpPr/>
          <p:nvPr/>
        </p:nvSpPr>
        <p:spPr>
          <a:xfrm>
            <a:off x="6858000" y="4114800"/>
            <a:ext cx="4785055" cy="1920240"/>
          </a:xfrm>
          <a:prstGeom prst="roundRect">
            <a:avLst>
              <a:gd name="adj" fmla="val 3810"/>
            </a:avLst>
          </a:prstGeom>
          <a:solidFill>
            <a:schemeClr val="bg2"/>
          </a:solidFill>
          <a:ln w="12700">
            <a:solidFill>
              <a:schemeClr val="bg2"/>
            </a:solidFill>
            <a:prstDash val="solid"/>
          </a:ln>
        </p:spPr>
      </p:sp>
      <p:sp>
        <p:nvSpPr>
          <p:cNvPr id="12" name="text"/>
          <p:cNvSpPr txBox="1"/>
          <p:nvPr/>
        </p:nvSpPr>
        <p:spPr>
          <a:xfrm>
            <a:off x="7040880" y="4224528"/>
            <a:ext cx="4419295" cy="274320"/>
          </a:xfrm>
          <a:prstGeom prst="rect">
            <a:avLst/>
          </a:prstGeom>
          <a:noFill/>
          <a:ln/>
        </p:spPr>
        <p:txBody>
          <a:bodyPr wrap="square" lIns="0" tIns="0" rIns="0" bIns="0" rtlCol="0" anchor="t"/>
          <a:lstStyle/>
          <a:p>
            <a:pPr indent="0" marL="0">
              <a:buNone/>
            </a:pPr>
            <a:r>
              <a:rPr lang="en-US" sz="1050" b="1" dirty="0">
                <a:solidFill>
                  <a:schemeClr val="accent6"/>
                </a:solidFill>
              </a:rPr>
              <a:t>FROM THE HOUSEHOLD VIEW</a:t>
            </a:r>
            <a:endParaRPr lang="en-US" sz="1050" dirty="0"/>
          </a:p>
        </p:txBody>
      </p:sp>
      <p:sp>
        <p:nvSpPr>
          <p:cNvPr id="13" name="text"/>
          <p:cNvSpPr txBox="1"/>
          <p:nvPr/>
        </p:nvSpPr>
        <p:spPr>
          <a:xfrm>
            <a:off x="7040880" y="4526280"/>
            <a:ext cx="731520" cy="411480"/>
          </a:xfrm>
          <a:prstGeom prst="rect">
            <a:avLst/>
          </a:prstGeom>
          <a:noFill/>
          <a:ln/>
        </p:spPr>
        <p:txBody>
          <a:bodyPr wrap="square" lIns="0" tIns="0" rIns="0" bIns="0" rtlCol="0" anchor="t"/>
          <a:lstStyle/>
          <a:p>
            <a:pPr indent="0" marL="0">
              <a:buNone/>
            </a:pPr>
            <a:r>
              <a:rPr lang="en-US" sz="1800" b="1" dirty="0">
                <a:solidFill>
                  <a:schemeClr val="accent3"/>
                </a:solidFill>
              </a:rPr>
              <a:t>35</a:t>
            </a:r>
            <a:endParaRPr lang="en-US" sz="1800" dirty="0"/>
          </a:p>
        </p:txBody>
      </p:sp>
      <p:sp>
        <p:nvSpPr>
          <p:cNvPr id="14" name="text"/>
          <p:cNvSpPr txBox="1"/>
          <p:nvPr/>
        </p:nvSpPr>
        <p:spPr>
          <a:xfrm>
            <a:off x="7772400" y="4581144"/>
            <a:ext cx="3687775" cy="457200"/>
          </a:xfrm>
          <a:prstGeom prst="rect">
            <a:avLst/>
          </a:prstGeom>
          <a:noFill/>
          <a:ln/>
        </p:spPr>
        <p:txBody>
          <a:bodyPr wrap="square" lIns="0" tIns="0" rIns="0" bIns="0" rtlCol="0" anchor="t"/>
          <a:lstStyle/>
          <a:p>
            <a:pPr indent="0" marL="0">
              <a:buNone/>
            </a:pPr>
            <a:r>
              <a:rPr lang="en-US" sz="1000" dirty="0">
                <a:solidFill>
                  <a:schemeClr val="tx1"/>
                </a:solidFill>
              </a:rPr>
              <a:t>households with advised assets and no primary advisor</a:t>
            </a:r>
            <a:endParaRPr lang="en-US" sz="1000" dirty="0"/>
          </a:p>
        </p:txBody>
      </p:sp>
      <p:sp>
        <p:nvSpPr>
          <p:cNvPr id="15" name="text"/>
          <p:cNvSpPr txBox="1"/>
          <p:nvPr/>
        </p:nvSpPr>
        <p:spPr>
          <a:xfrm>
            <a:off x="7040880" y="5010912"/>
            <a:ext cx="731520" cy="411480"/>
          </a:xfrm>
          <a:prstGeom prst="rect">
            <a:avLst/>
          </a:prstGeom>
          <a:noFill/>
          <a:ln/>
        </p:spPr>
        <p:txBody>
          <a:bodyPr wrap="square" lIns="0" tIns="0" rIns="0" bIns="0" rtlCol="0" anchor="t"/>
          <a:lstStyle/>
          <a:p>
            <a:pPr indent="0" marL="0">
              <a:buNone/>
            </a:pPr>
            <a:r>
              <a:rPr lang="en-US" sz="1800" b="1" dirty="0">
                <a:solidFill>
                  <a:schemeClr val="accent3"/>
                </a:solidFill>
              </a:rPr>
              <a:t>20</a:t>
            </a:r>
            <a:endParaRPr lang="en-US" sz="1800" dirty="0"/>
          </a:p>
        </p:txBody>
      </p:sp>
      <p:sp>
        <p:nvSpPr>
          <p:cNvPr id="16" name="text"/>
          <p:cNvSpPr txBox="1"/>
          <p:nvPr/>
        </p:nvSpPr>
        <p:spPr>
          <a:xfrm>
            <a:off x="7772400" y="5065776"/>
            <a:ext cx="3687775" cy="457200"/>
          </a:xfrm>
          <a:prstGeom prst="rect">
            <a:avLst/>
          </a:prstGeom>
          <a:noFill/>
          <a:ln/>
        </p:spPr>
        <p:txBody>
          <a:bodyPr wrap="square" lIns="0" tIns="0" rIns="0" bIns="0" rtlCol="0" anchor="t"/>
          <a:lstStyle/>
          <a:p>
            <a:pPr indent="0" marL="0">
              <a:buNone/>
            </a:pPr>
            <a:r>
              <a:rPr lang="en-US" sz="1000" dirty="0">
                <a:solidFill>
                  <a:schemeClr val="tx1"/>
                </a:solidFill>
              </a:rPr>
              <a:t>households in a service tier their assets do not qualify for</a:t>
            </a:r>
            <a:endParaRPr lang="en-US" sz="1000" dirty="0"/>
          </a:p>
        </p:txBody>
      </p:sp>
      <p:sp>
        <p:nvSpPr>
          <p:cNvPr id="17" name="text"/>
          <p:cNvSpPr txBox="1"/>
          <p:nvPr/>
        </p:nvSpPr>
        <p:spPr>
          <a:xfrm>
            <a:off x="7040880" y="5495544"/>
            <a:ext cx="731520" cy="411480"/>
          </a:xfrm>
          <a:prstGeom prst="rect">
            <a:avLst/>
          </a:prstGeom>
          <a:noFill/>
          <a:ln/>
        </p:spPr>
        <p:txBody>
          <a:bodyPr wrap="square" lIns="0" tIns="0" rIns="0" bIns="0" rtlCol="0" anchor="t"/>
          <a:lstStyle/>
          <a:p>
            <a:pPr indent="0" marL="0">
              <a:buNone/>
            </a:pPr>
            <a:r>
              <a:rPr lang="en-US" sz="1800" b="1" dirty="0">
                <a:solidFill>
                  <a:schemeClr val="accent3"/>
                </a:solidFill>
              </a:rPr>
              <a:t>12</a:t>
            </a:r>
            <a:endParaRPr lang="en-US" sz="1800" dirty="0"/>
          </a:p>
        </p:txBody>
      </p:sp>
      <p:sp>
        <p:nvSpPr>
          <p:cNvPr id="18" name="text"/>
          <p:cNvSpPr txBox="1"/>
          <p:nvPr/>
        </p:nvSpPr>
        <p:spPr>
          <a:xfrm>
            <a:off x="7772400" y="5550408"/>
            <a:ext cx="3687775" cy="457200"/>
          </a:xfrm>
          <a:prstGeom prst="rect">
            <a:avLst/>
          </a:prstGeom>
          <a:noFill/>
          <a:ln/>
        </p:spPr>
        <p:txBody>
          <a:bodyPr wrap="square" lIns="0" tIns="0" rIns="0" bIns="0" rtlCol="0" anchor="t"/>
          <a:lstStyle/>
          <a:p>
            <a:pPr indent="0" marL="0">
              <a:buNone/>
            </a:pPr>
            <a:r>
              <a:rPr lang="en-US" sz="1000" dirty="0">
                <a:solidFill>
                  <a:schemeClr val="tx1"/>
                </a:solidFill>
              </a:rPr>
              <a:t>suggested identity matches waiting for a steward</a:t>
            </a:r>
            <a:endParaRPr lang="en-US" sz="1000" dirty="0"/>
          </a:p>
        </p:txBody>
      </p:sp>
      <p:sp>
        <p:nvSpPr>
          <p:cNvPr id="19" name="text"/>
          <p:cNvSpPr txBox="1"/>
          <p:nvPr/>
        </p:nvSpPr>
        <p:spPr>
          <a:xfrm>
            <a:off x="548640" y="6108192"/>
            <a:ext cx="11094415" cy="256032"/>
          </a:xfrm>
          <a:prstGeom prst="rect">
            <a:avLst/>
          </a:prstGeom>
          <a:noFill/>
          <a:ln/>
        </p:spPr>
        <p:txBody>
          <a:bodyPr wrap="square" lIns="0" tIns="0" rIns="0" bIns="0" rtlCol="0" anchor="t"/>
          <a:lstStyle/>
          <a:p>
            <a:pPr indent="0" marL="0">
              <a:buNone/>
            </a:pPr>
            <a:r>
              <a:rPr lang="en-US" sz="950" i="1" dirty="0">
                <a:solidFill>
                  <a:schemeClr val="accent6"/>
                </a:solidFill>
              </a:rPr>
              <a:t>On the demo page: Ask › Answers: Client Assets by channel; Own-Fund Share of Client Assets %; the two public pension answers; At-Risk Relationships by segment; the three household counts</a:t>
            </a:r>
            <a:endParaRPr lang="en-US" sz="9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Answers for client economics: fees, billing control, cost to serve, contribution</a:t>
            </a:r>
            <a:endParaRPr lang="en-US" sz="2800" dirty="0"/>
          </a:p>
        </p:txBody>
      </p:sp>
      <p:sp>
        <p:nvSpPr>
          <p:cNvPr id="4" name="text"/>
          <p:cNvSpPr txBox="1"/>
          <p:nvPr/>
        </p:nvSpPr>
        <p:spPr>
          <a:xfrm>
            <a:off x="548640" y="1417320"/>
            <a:ext cx="5852160" cy="365760"/>
          </a:xfrm>
          <a:prstGeom prst="rect">
            <a:avLst/>
          </a:prstGeom>
          <a:noFill/>
          <a:ln/>
        </p:spPr>
        <p:txBody>
          <a:bodyPr wrap="square" lIns="0" tIns="0" rIns="0" bIns="0" rtlCol="0" anchor="t"/>
          <a:lstStyle/>
          <a:p>
            <a:pPr indent="0" marL="0">
              <a:buNone/>
            </a:pPr>
            <a:r>
              <a:rPr lang="en-US" sz="1200" b="1" i="1" dirty="0">
                <a:solidFill>
                  <a:schemeClr val="tx2"/>
                </a:solidFill>
              </a:rPr>
              <a:t>“How have fee revenue and the effective net fee rate moved by offering over the last four quarters?”</a:t>
            </a:r>
            <a:endParaRPr lang="en-US" sz="12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548640" y="1828800"/>
          <a:ext cx="5852160" cy="914400"/>
        </p:xfrm>
        <a:graphic>
          <a:graphicData uri="http://schemas.openxmlformats.org/drawingml/2006/table">
            <a:tbl>
              <a:tblPr/>
              <a:tblGrid>
                <a:gridCol w="2926080"/>
                <a:gridCol w="1737360"/>
                <a:gridCol w="118872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Offering</a:t>
                      </a:r>
                      <a:endParaRPr lang="en-US" sz="10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Client fee revenue, 4 quarters</a:t>
                      </a:r>
                      <a:endParaRPr lang="en-US" sz="10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Effective net fee rate</a:t>
                      </a:r>
                      <a:endParaRPr lang="en-US" sz="10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Digital Advice Program (OFF-DAP)</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$13,965.07</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20.71 bps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Personal Advisor Services (OFF-PAS)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$96,524.05</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70.00 bps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Trust Services (OFF-TRS)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$357,647.92</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90.39 bps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Wealth Management Program (OFF-WMP)</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$39,561.99</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85.96 bps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Self-Directed Brokerage (OFF-BRK)</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bl>
          </a:graphicData>
        </a:graphic>
      </p:graphicFrame>
      <p:sp>
        <p:nvSpPr>
          <p:cNvPr id="6" name="text"/>
          <p:cNvSpPr txBox="1"/>
          <p:nvPr/>
        </p:nvSpPr>
        <p:spPr>
          <a:xfrm>
            <a:off x="548640" y="4114800"/>
            <a:ext cx="5852160" cy="320040"/>
          </a:xfrm>
          <a:prstGeom prst="rect">
            <a:avLst/>
          </a:prstGeom>
          <a:noFill/>
          <a:ln/>
        </p:spPr>
        <p:txBody>
          <a:bodyPr wrap="square" lIns="0" tIns="0" rIns="0" bIns="0" rtlCol="0" anchor="t"/>
          <a:lstStyle/>
          <a:p>
            <a:pPr indent="0" marL="0">
              <a:buNone/>
            </a:pPr>
            <a:r>
              <a:rPr lang="en-US" sz="1200" b="1" i="1" dirty="0">
                <a:solidFill>
                  <a:schemeClr val="tx2"/>
                </a:solidFill>
              </a:rPr>
              <a:t>“What does it cost to serve each client segment this quarter?”</a:t>
            </a:r>
            <a:endParaRPr lang="en-US" sz="1200" dirty="0"/>
          </a:p>
        </p:txBody>
      </p:sp>
      <p:graphicFrame>
        <p:nvGraphicFramePr>
          <p:cNvPr id="39" name="table"/>
          <p:cNvGraphicFramePr>
            <a:graphicFrameLocks noGrp="1"/>
          </p:cNvGraphicFramePr>
          <p:nvPr>
            <p:extLst>
              <p:ext uri="{D42A27DB-BD31-4B8C-83A1-F6EECF244321}">
                <p14:modId xmlns:p14="http://schemas.microsoft.com/office/powerpoint/2010/main" val="1579011935"/>
              </p:ext>
            </p:extLst>
          </p:nvPr>
        </p:nvGraphicFramePr>
        <p:xfrm>
          <a:off x="548640" y="4480560"/>
          <a:ext cx="5852160" cy="914400"/>
        </p:xfrm>
        <a:graphic>
          <a:graphicData uri="http://schemas.openxmlformats.org/drawingml/2006/table">
            <a:tbl>
              <a:tblPr/>
              <a:tblGrid>
                <a:gridCol w="2377440"/>
                <a:gridCol w="2194560"/>
                <a:gridCol w="128016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Client segment</a:t>
                      </a:r>
                      <a:endParaRPr lang="en-US" sz="10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Cost to serve, 2026-Q3</a:t>
                      </a:r>
                      <a:endParaRPr lang="en-US" sz="10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Rate (bps)</a:t>
                      </a:r>
                      <a:endParaRPr lang="en-US" sz="10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Core</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$2,001,222.29</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1,666.9</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Select</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$1,348,514.40</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883.9</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Private</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$1,091,786.50</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814.5</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Flagship</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$746,456.06</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r" indent="0" marL="0">
                        <a:buNone/>
                      </a:pPr>
                      <a:r>
                        <a:rPr lang="en-US" sz="1000" dirty="0">
                          <a:solidFill>
                            <a:srgbClr val="1A2B3C"/>
                          </a:solidFill>
                          <a:latin typeface="Arial" pitchFamily="34" charset="0"/>
                          <a:ea typeface="Arial" pitchFamily="34" charset="-122"/>
                          <a:cs typeface="Arial" pitchFamily="34" charset="-120"/>
                        </a:rPr>
                        <a:t>455.8</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00" b="1" dirty="0">
                          <a:solidFill>
                            <a:srgbClr val="1A2B3C"/>
                          </a:solidFill>
                          <a:latin typeface="Arial" pitchFamily="34" charset="0"/>
                          <a:ea typeface="Arial" pitchFamily="34" charset="-122"/>
                          <a:cs typeface="Arial" pitchFamily="34" charset="-120"/>
                        </a:rPr>
                        <a:t>Total</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A2B3C"/>
                          </a:solidFill>
                          <a:latin typeface="Arial" pitchFamily="34" charset="0"/>
                          <a:ea typeface="Arial" pitchFamily="34" charset="-122"/>
                          <a:cs typeface="Arial" pitchFamily="34" charset="-120"/>
                        </a:rPr>
                        <a:t>$5,187,979.25</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r" indent="0" marL="0">
                        <a:buNone/>
                      </a:pP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bl>
          </a:graphicData>
        </a:graphic>
      </p:graphicFrame>
      <p:sp>
        <p:nvSpPr>
          <p:cNvPr id="8" name="card"/>
          <p:cNvSpPr/>
          <p:nvPr/>
        </p:nvSpPr>
        <p:spPr>
          <a:xfrm>
            <a:off x="6675120" y="1417320"/>
            <a:ext cx="4967935" cy="2240280"/>
          </a:xfrm>
          <a:prstGeom prst="roundRect">
            <a:avLst>
              <a:gd name="adj" fmla="val 3265"/>
            </a:avLst>
          </a:prstGeom>
          <a:solidFill>
            <a:schemeClr val="tx2"/>
          </a:solidFill>
          <a:ln w="12700">
            <a:solidFill>
              <a:schemeClr val="tx2"/>
            </a:solidFill>
            <a:prstDash val="solid"/>
          </a:ln>
        </p:spPr>
      </p:sp>
      <p:sp>
        <p:nvSpPr>
          <p:cNvPr id="9" name="text"/>
          <p:cNvSpPr txBox="1"/>
          <p:nvPr/>
        </p:nvSpPr>
        <p:spPr>
          <a:xfrm>
            <a:off x="6858000" y="1527048"/>
            <a:ext cx="4602175" cy="594360"/>
          </a:xfrm>
          <a:prstGeom prst="rect">
            <a:avLst/>
          </a:prstGeom>
          <a:noFill/>
          <a:ln/>
        </p:spPr>
        <p:txBody>
          <a:bodyPr wrap="square" lIns="0" tIns="0" rIns="0" bIns="0" rtlCol="0" anchor="t"/>
          <a:lstStyle/>
          <a:p>
            <a:pPr indent="0" marL="0">
              <a:buNone/>
            </a:pPr>
            <a:r>
              <a:rPr lang="en-US" sz="1100" b="1" i="1" dirty="0">
                <a:solidFill>
                  <a:schemeClr val="bg1"/>
                </a:solidFill>
              </a:rPr>
              <a:t>“Which advisory fee runs failed reconciliation this quarter, and which accounts were billed outside their schedule?”</a:t>
            </a:r>
            <a:endParaRPr lang="en-US" sz="1100" dirty="0"/>
          </a:p>
        </p:txBody>
      </p:sp>
      <p:sp>
        <p:nvSpPr>
          <p:cNvPr id="10" name="text"/>
          <p:cNvSpPr txBox="1"/>
          <p:nvPr/>
        </p:nvSpPr>
        <p:spPr>
          <a:xfrm>
            <a:off x="6858000" y="2148840"/>
            <a:ext cx="1280160" cy="457200"/>
          </a:xfrm>
          <a:prstGeom prst="rect">
            <a:avLst/>
          </a:prstGeom>
          <a:noFill/>
          <a:ln/>
        </p:spPr>
        <p:txBody>
          <a:bodyPr wrap="square" lIns="0" tIns="0" rIns="0" bIns="0" rtlCol="0" anchor="t"/>
          <a:lstStyle/>
          <a:p>
            <a:pPr indent="0" marL="0">
              <a:buNone/>
            </a:pPr>
            <a:r>
              <a:rPr lang="en-US" sz="2400" b="1" dirty="0">
                <a:solidFill>
                  <a:schemeClr val="accent4"/>
                </a:solidFill>
              </a:rPr>
              <a:t>1 of 2</a:t>
            </a:r>
            <a:endParaRPr lang="en-US" sz="2400" dirty="0"/>
          </a:p>
        </p:txBody>
      </p:sp>
      <p:sp>
        <p:nvSpPr>
          <p:cNvPr id="11" name="text"/>
          <p:cNvSpPr txBox="1"/>
          <p:nvPr/>
        </p:nvSpPr>
        <p:spPr>
          <a:xfrm>
            <a:off x="8183880" y="2240280"/>
            <a:ext cx="3276295" cy="411480"/>
          </a:xfrm>
          <a:prstGeom prst="rect">
            <a:avLst/>
          </a:prstGeom>
          <a:noFill/>
          <a:ln/>
        </p:spPr>
        <p:txBody>
          <a:bodyPr wrap="square" lIns="0" tIns="0" rIns="0" bIns="0" rtlCol="0" anchor="t"/>
          <a:lstStyle/>
          <a:p>
            <a:pPr indent="0" marL="0">
              <a:buNone/>
            </a:pPr>
            <a:r>
              <a:rPr lang="en-US" sz="1050" dirty="0">
                <a:solidFill>
                  <a:schemeClr val="bg2"/>
                </a:solidFill>
              </a:rPr>
              <a:t>fee runs tested in 2026-Q3 failed reconciliation</a:t>
            </a:r>
            <a:endParaRPr lang="en-US" sz="1050" dirty="0"/>
          </a:p>
        </p:txBody>
      </p:sp>
      <p:sp>
        <p:nvSpPr>
          <p:cNvPr id="12" name="text"/>
          <p:cNvSpPr txBox="1"/>
          <p:nvPr/>
        </p:nvSpPr>
        <p:spPr>
          <a:xfrm>
            <a:off x="6858000" y="2697480"/>
            <a:ext cx="1280160" cy="457200"/>
          </a:xfrm>
          <a:prstGeom prst="rect">
            <a:avLst/>
          </a:prstGeom>
          <a:noFill/>
          <a:ln/>
        </p:spPr>
        <p:txBody>
          <a:bodyPr wrap="square" lIns="0" tIns="0" rIns="0" bIns="0" rtlCol="0" anchor="t"/>
          <a:lstStyle/>
          <a:p>
            <a:pPr indent="0" marL="0">
              <a:buNone/>
            </a:pPr>
            <a:r>
              <a:rPr lang="en-US" sz="2400" b="1" dirty="0">
                <a:solidFill>
                  <a:schemeClr val="accent4"/>
                </a:solidFill>
              </a:rPr>
              <a:t>4</a:t>
            </a:r>
            <a:endParaRPr lang="en-US" sz="2400" dirty="0"/>
          </a:p>
        </p:txBody>
      </p:sp>
      <p:sp>
        <p:nvSpPr>
          <p:cNvPr id="13" name="text"/>
          <p:cNvSpPr txBox="1"/>
          <p:nvPr/>
        </p:nvSpPr>
        <p:spPr>
          <a:xfrm>
            <a:off x="8183880" y="2788920"/>
            <a:ext cx="3276295" cy="411480"/>
          </a:xfrm>
          <a:prstGeom prst="rect">
            <a:avLst/>
          </a:prstGeom>
          <a:noFill/>
          <a:ln/>
        </p:spPr>
        <p:txBody>
          <a:bodyPr wrap="square" lIns="0" tIns="0" rIns="0" bIns="0" rtlCol="0" anchor="t"/>
          <a:lstStyle/>
          <a:p>
            <a:pPr indent="0" marL="0">
              <a:buNone/>
            </a:pPr>
            <a:r>
              <a:rPr lang="en-US" sz="1050" dirty="0">
                <a:solidFill>
                  <a:schemeClr val="bg2"/>
                </a:solidFill>
              </a:rPr>
              <a:t>accounts billed outside their schedule</a:t>
            </a:r>
            <a:endParaRPr lang="en-US" sz="1050" dirty="0"/>
          </a:p>
        </p:txBody>
      </p:sp>
      <p:sp>
        <p:nvSpPr>
          <p:cNvPr id="14" name="text"/>
          <p:cNvSpPr txBox="1"/>
          <p:nvPr/>
        </p:nvSpPr>
        <p:spPr>
          <a:xfrm>
            <a:off x="6858000" y="3264408"/>
            <a:ext cx="4602175" cy="365760"/>
          </a:xfrm>
          <a:prstGeom prst="rect">
            <a:avLst/>
          </a:prstGeom>
          <a:noFill/>
          <a:ln/>
        </p:spPr>
        <p:txBody>
          <a:bodyPr wrap="square" lIns="0" tIns="0" rIns="0" bIns="0" rtlCol="0" anchor="t"/>
          <a:lstStyle/>
          <a:p>
            <a:pPr indent="0" marL="0">
              <a:buNone/>
            </a:pPr>
            <a:r>
              <a:rPr lang="en-US" sz="950" i="1" dirty="0">
                <a:solidFill>
                  <a:schemeClr val="bg2"/>
                </a:solidFill>
              </a:rPr>
              <a:t>Every released calculation re-performed on the schedule version its assignment names (DP-346).</a:t>
            </a:r>
            <a:endParaRPr lang="en-US" sz="950" dirty="0"/>
          </a:p>
        </p:txBody>
      </p:sp>
      <p:sp>
        <p:nvSpPr>
          <p:cNvPr id="15" name="card"/>
          <p:cNvSpPr/>
          <p:nvPr/>
        </p:nvSpPr>
        <p:spPr>
          <a:xfrm>
            <a:off x="6675120" y="3840480"/>
            <a:ext cx="4967935" cy="2194560"/>
          </a:xfrm>
          <a:prstGeom prst="roundRect">
            <a:avLst>
              <a:gd name="adj" fmla="val 3333"/>
            </a:avLst>
          </a:prstGeom>
          <a:solidFill>
            <a:schemeClr val="bg2"/>
          </a:solidFill>
          <a:ln w="12700">
            <a:solidFill>
              <a:schemeClr val="bg2"/>
            </a:solidFill>
            <a:prstDash val="solid"/>
          </a:ln>
        </p:spPr>
      </p:sp>
      <p:sp>
        <p:nvSpPr>
          <p:cNvPr id="16" name="text"/>
          <p:cNvSpPr txBox="1"/>
          <p:nvPr/>
        </p:nvSpPr>
        <p:spPr>
          <a:xfrm>
            <a:off x="6858000" y="3950208"/>
            <a:ext cx="4602175" cy="548640"/>
          </a:xfrm>
          <a:prstGeom prst="rect">
            <a:avLst/>
          </a:prstGeom>
          <a:noFill/>
          <a:ln/>
        </p:spPr>
        <p:txBody>
          <a:bodyPr wrap="square" lIns="0" tIns="0" rIns="0" bIns="0" rtlCol="0" anchor="t"/>
          <a:lstStyle/>
          <a:p>
            <a:pPr indent="0" marL="0">
              <a:buNone/>
            </a:pPr>
            <a:r>
              <a:rPr lang="en-US" sz="1100" b="1" i="1" dirty="0">
                <a:solidFill>
                  <a:schemeClr val="tx2"/>
                </a:solidFill>
              </a:rPr>
              <a:t>“Which offerings have negative contribution over the last four quarters?”</a:t>
            </a:r>
            <a:endParaRPr lang="en-US" sz="1100" dirty="0"/>
          </a:p>
        </p:txBody>
      </p:sp>
      <p:sp>
        <p:nvSpPr>
          <p:cNvPr id="17" name="text"/>
          <p:cNvSpPr txBox="1"/>
          <p:nvPr/>
        </p:nvSpPr>
        <p:spPr>
          <a:xfrm>
            <a:off x="6858000" y="4526280"/>
            <a:ext cx="4602175" cy="457200"/>
          </a:xfrm>
          <a:prstGeom prst="rect">
            <a:avLst/>
          </a:prstGeom>
          <a:noFill/>
          <a:ln/>
        </p:spPr>
        <p:txBody>
          <a:bodyPr wrap="square" lIns="0" tIns="0" rIns="0" bIns="0" rtlCol="0" anchor="t"/>
          <a:lstStyle/>
          <a:p>
            <a:pPr indent="0" marL="0">
              <a:buNone/>
            </a:pPr>
            <a:r>
              <a:rPr lang="en-US" sz="2200" b="1" dirty="0">
                <a:solidFill>
                  <a:schemeClr val="accent4"/>
                </a:solidFill>
              </a:rPr>
              <a:t>–$125,233.74</a:t>
            </a:r>
            <a:endParaRPr lang="en-US" sz="2200" dirty="0"/>
          </a:p>
        </p:txBody>
      </p:sp>
      <p:sp>
        <p:nvSpPr>
          <p:cNvPr id="18" name="text"/>
          <p:cNvSpPr txBox="1"/>
          <p:nvPr/>
        </p:nvSpPr>
        <p:spPr>
          <a:xfrm>
            <a:off x="6858000" y="4983480"/>
            <a:ext cx="4602175" cy="1005840"/>
          </a:xfrm>
          <a:prstGeom prst="rect">
            <a:avLst/>
          </a:prstGeom>
          <a:noFill/>
          <a:ln/>
        </p:spPr>
        <p:txBody>
          <a:bodyPr wrap="square" lIns="0" tIns="0" rIns="0" bIns="0" rtlCol="0" anchor="t"/>
          <a:lstStyle/>
          <a:p>
            <a:pPr indent="0" marL="0">
              <a:buNone/>
            </a:pPr>
            <a:r>
              <a:rPr lang="en-US" sz="1000" dirty="0">
                <a:solidFill>
                  <a:schemeClr val="tx1"/>
                </a:solidFill>
              </a:rPr>
              <a:t>Planning Only (OFF-PLN): the one offering with negative contribution margin. Trust Services leads at $468,875.40; Self-Directed Brokerage $1,164,542.46. Fund fee revenue not attributable to an offering sits in its own row.</a:t>
            </a:r>
            <a:endParaRPr lang="en-US" sz="1000" dirty="0"/>
          </a:p>
        </p:txBody>
      </p:sp>
      <p:sp>
        <p:nvSpPr>
          <p:cNvPr id="19" name="text"/>
          <p:cNvSpPr txBox="1"/>
          <p:nvPr/>
        </p:nvSpPr>
        <p:spPr>
          <a:xfrm>
            <a:off x="548640" y="6108192"/>
            <a:ext cx="11094415" cy="256032"/>
          </a:xfrm>
          <a:prstGeom prst="rect">
            <a:avLst/>
          </a:prstGeom>
          <a:noFill/>
          <a:ln/>
        </p:spPr>
        <p:txBody>
          <a:bodyPr wrap="square" lIns="0" tIns="0" rIns="0" bIns="0" rtlCol="0" anchor="t"/>
          <a:lstStyle/>
          <a:p>
            <a:pPr indent="0" marL="0">
              <a:buNone/>
            </a:pPr>
            <a:r>
              <a:rPr lang="en-US" sz="950" i="1" dirty="0">
                <a:solidFill>
                  <a:schemeClr val="accent6"/>
                </a:solidFill>
              </a:rPr>
              <a:t>On the demo page: Ask › Answers: Effective Net Fee Rate and Client Fee Revenue by offering; Failed Fee Runs; Accounts Billed Off Schedule; Contribution Margin by offering; Total Cost to Serve and Cost to Serve Rate by segment</a:t>
            </a:r>
            <a:endParaRPr lang="en-US" sz="9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An honest no: the questions the models decline, each with its reason</a:t>
            </a:r>
            <a:endParaRPr lang="en-US" sz="2800" dirty="0"/>
          </a:p>
        </p:txBody>
      </p:sp>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731520"/>
                <a:gridCol w="3749040"/>
                <a:gridCol w="5394960"/>
                <a:gridCol w="121615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Model</a:t>
                      </a:r>
                      <a:endParaRPr lang="en-US" sz="10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Question the model declines</a:t>
                      </a:r>
                      <a:endParaRPr lang="en-US" sz="10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Why</a:t>
                      </a:r>
                      <a:endParaRPr lang="en-US" sz="10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Gap</a:t>
                      </a:r>
                      <a:endParaRPr lang="en-US" sz="10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SM-21</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Which households have no current financial plan?</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No source in the slice populates households without a current plan; the planning product is outside the slice</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SM-20</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Client Assets by channel and holding type at once, as certified figures</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The certified family keeps one dimension per row; the channel by holding type cut is a decomposition that ties to the certified margins</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SM-20</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Which restatement explains the change in a given month?</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Restatement Affected Periods is free text, so a restatement cannot be tied to the periods it replaced</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GAP-06-005</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SM-28</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How much of the change in revenue yield is price versus mix?</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Yield drift needs the same period a year earlier; the demo's certified snapshots start in June 2026</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SM-27</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How quickly are institutional service requests resolved?</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Client Service Request has no resolved or closed timestamp</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GAP-12-001</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SM-27</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Certified client assets or fee yield by mandate</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The certified family has no mandate grain</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GAP-06-011</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bl>
          </a:graphicData>
        </a:graphic>
      </p:graphicFrame>
      <p:sp>
        <p:nvSpPr>
          <p:cNvPr id="5" name="card"/>
          <p:cNvSpPr/>
          <p:nvPr/>
        </p:nvSpPr>
        <p:spPr>
          <a:xfrm>
            <a:off x="548640" y="5349240"/>
            <a:ext cx="11094415" cy="685800"/>
          </a:xfrm>
          <a:prstGeom prst="roundRect">
            <a:avLst>
              <a:gd name="adj" fmla="val 10667"/>
            </a:avLst>
          </a:prstGeom>
          <a:solidFill>
            <a:schemeClr val="tx2"/>
          </a:solidFill>
          <a:ln w="12700">
            <a:solidFill>
              <a:schemeClr val="tx2"/>
            </a:solidFill>
            <a:prstDash val="solid"/>
          </a:ln>
        </p:spPr>
      </p:sp>
      <p:sp>
        <p:nvSpPr>
          <p:cNvPr id="6" name="text"/>
          <p:cNvSpPr txBox="1"/>
          <p:nvPr/>
        </p:nvSpPr>
        <p:spPr>
          <a:xfrm>
            <a:off x="822960" y="5477256"/>
            <a:ext cx="10545775" cy="429768"/>
          </a:xfrm>
          <a:prstGeom prst="rect">
            <a:avLst/>
          </a:prstGeom>
          <a:noFill/>
          <a:ln/>
        </p:spPr>
        <p:txBody>
          <a:bodyPr wrap="square" lIns="0" tIns="0" rIns="0" bIns="0" rtlCol="0" anchor="ctr"/>
          <a:lstStyle/>
          <a:p>
            <a:pPr indent="0" marL="0">
              <a:buNone/>
            </a:pPr>
            <a:r>
              <a:rPr lang="en-US" sz="1300" dirty="0">
                <a:solidFill>
                  <a:schemeClr val="bg1"/>
                </a:solidFill>
              </a:rPr>
              <a:t>22 declined questions, 118 named gaps. Every reason is a definition or a source gap with an owner, never a technology problem. This is how the gap register fills: from real questions.</a:t>
            </a:r>
            <a:endParaRPr lang="en-US" sz="1300" dirty="0"/>
          </a:p>
        </p:txBody>
      </p:sp>
      <p:sp>
        <p:nvSpPr>
          <p:cNvPr id="7" name="text"/>
          <p:cNvSpPr txBox="1"/>
          <p:nvPr/>
        </p:nvSpPr>
        <p:spPr>
          <a:xfrm>
            <a:off x="548640" y="6108192"/>
            <a:ext cx="11094415" cy="256032"/>
          </a:xfrm>
          <a:prstGeom prst="rect">
            <a:avLst/>
          </a:prstGeom>
          <a:noFill/>
          <a:ln/>
        </p:spPr>
        <p:txBody>
          <a:bodyPr wrap="square" lIns="0" tIns="0" rIns="0" bIns="0" rtlCol="0" anchor="t"/>
          <a:lstStyle/>
          <a:p>
            <a:pPr indent="0" marL="0">
              <a:buNone/>
            </a:pPr>
            <a:r>
              <a:rPr lang="en-US" sz="950" i="1" dirty="0">
                <a:solidFill>
                  <a:schemeClr val="accent6"/>
                </a:solidFill>
              </a:rPr>
              <a:t>On the demo page: Ask › Questions the models decline; Overview › Activation summary</a:t>
            </a:r>
            <a:endParaRPr lang="en-US" sz="9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The same engine behind an AI assistant: six tools, no guessing</a:t>
            </a:r>
            <a:endParaRPr lang="en-US" sz="2800" dirty="0"/>
          </a:p>
        </p:txBody>
      </p:sp>
      <p:graphicFrame>
        <p:nvGraphicFramePr>
          <p:cNvPr id="22"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6583680" cy="914400"/>
        </p:xfrm>
        <a:graphic>
          <a:graphicData uri="http://schemas.openxmlformats.org/drawingml/2006/table">
            <a:tbl>
              <a:tblPr/>
              <a:tblGrid>
                <a:gridCol w="1554480"/>
                <a:gridCol w="5029200"/>
              </a:tblGrid>
              <a:tr h="0">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Tool</a:t>
                      </a:r>
                      <a:endParaRPr lang="en-US" sz="11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What it does</a:t>
                      </a:r>
                      <a:endParaRPr lang="en-US" sz="11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r>
              <a:tr h="0">
                <a:tc>
                  <a:txBody>
                    <a:bodyPr/>
                    <a:lstStyle/>
                    <a:p>
                      <a:pPr algn="l" indent="0" marL="0">
                        <a:buNone/>
                      </a:pPr>
                      <a:r>
                        <a:rPr lang="en-US" sz="1150" dirty="0">
                          <a:solidFill>
                            <a:srgbClr val="1A2B3C"/>
                          </a:solidFill>
                          <a:latin typeface="Arial" pitchFamily="34" charset="0"/>
                          <a:ea typeface="Arial" pitchFamily="34" charset="-122"/>
                          <a:cs typeface="Arial" pitchFamily="34" charset="-120"/>
                        </a:rPr>
                        <a:t>list_metrics</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2B3C"/>
                          </a:solidFill>
                          <a:latin typeface="Arial" pitchFamily="34" charset="0"/>
                          <a:ea typeface="Arial" pitchFamily="34" charset="-122"/>
                          <a:cs typeface="Arial" pitchFamily="34" charset="-120"/>
                        </a:rPr>
                        <a:t>the metrics of the slice and whether each answers</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150" dirty="0">
                          <a:solidFill>
                            <a:srgbClr val="1A2B3C"/>
                          </a:solidFill>
                          <a:latin typeface="Arial" pitchFamily="34" charset="0"/>
                          <a:ea typeface="Arial" pitchFamily="34" charset="-122"/>
                          <a:cs typeface="Arial" pitchFamily="34" charset="-120"/>
                        </a:rPr>
                        <a:t>describe</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150" dirty="0">
                          <a:solidFill>
                            <a:srgbClr val="1A2B3C"/>
                          </a:solidFill>
                          <a:latin typeface="Arial" pitchFamily="34" charset="0"/>
                          <a:ea typeface="Arial" pitchFamily="34" charset="-122"/>
                          <a:cs typeface="Arial" pitchFamily="34" charset="-120"/>
                        </a:rPr>
                        <a:t>a metric's definition, SQL, time rule and lineage to the taxonomy</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150" dirty="0">
                          <a:solidFill>
                            <a:srgbClr val="1A2B3C"/>
                          </a:solidFill>
                          <a:latin typeface="Arial" pitchFamily="34" charset="0"/>
                          <a:ea typeface="Arial" pitchFamily="34" charset="-122"/>
                          <a:cs typeface="Arial" pitchFamily="34" charset="-120"/>
                        </a:rPr>
                        <a:t>query</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2B3C"/>
                          </a:solidFill>
                          <a:latin typeface="Arial" pitchFamily="34" charset="0"/>
                          <a:ea typeface="Arial" pitchFamily="34" charset="-122"/>
                          <a:cs typeface="Arial" pitchFamily="34" charset="-120"/>
                        </a:rPr>
                        <a:t>runs a metric with breakdowns, filters and a period; returns rows, SQL and lineage</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150" dirty="0">
                          <a:solidFill>
                            <a:srgbClr val="1A2B3C"/>
                          </a:solidFill>
                          <a:latin typeface="Arial" pitchFamily="34" charset="0"/>
                          <a:ea typeface="Arial" pitchFamily="34" charset="-122"/>
                          <a:cs typeface="Arial" pitchFamily="34" charset="-120"/>
                        </a:rPr>
                        <a:t>coverage</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150" dirty="0">
                          <a:solidFill>
                            <a:srgbClr val="1A2B3C"/>
                          </a:solidFill>
                          <a:latin typeface="Arial" pitchFamily="34" charset="0"/>
                          <a:ea typeface="Arial" pitchFamily="34" charset="-122"/>
                          <a:cs typeface="Arial" pitchFamily="34" charset="-120"/>
                        </a:rPr>
                        <a:t>the activation states of products, entities, tables, metrics and questions</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150" dirty="0">
                          <a:solidFill>
                            <a:srgbClr val="1A2B3C"/>
                          </a:solidFill>
                          <a:latin typeface="Arial" pitchFamily="34" charset="0"/>
                          <a:ea typeface="Arial" pitchFamily="34" charset="-122"/>
                          <a:cs typeface="Arial" pitchFamily="34" charset="-120"/>
                        </a:rPr>
                        <a:t>cannot_answer</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2B3C"/>
                          </a:solidFill>
                          <a:latin typeface="Arial" pitchFamily="34" charset="0"/>
                          <a:ea typeface="Arial" pitchFamily="34" charset="-122"/>
                          <a:cs typeface="Arial" pitchFamily="34" charset="-120"/>
                        </a:rPr>
                        <a:t>the questions the models decline, with the reason and the gap id</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150" dirty="0">
                          <a:solidFill>
                            <a:srgbClr val="1A2B3C"/>
                          </a:solidFill>
                          <a:latin typeface="Arial" pitchFamily="34" charset="0"/>
                          <a:ea typeface="Arial" pitchFamily="34" charset="-122"/>
                          <a:cs typeface="Arial" pitchFamily="34" charset="-120"/>
                        </a:rPr>
                        <a:t>ask</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150" dirty="0">
                          <a:solidFill>
                            <a:srgbClr val="1A2B3C"/>
                          </a:solidFill>
                          <a:latin typeface="Arial" pitchFamily="34" charset="0"/>
                          <a:ea typeface="Arial" pitchFamily="34" charset="-122"/>
                          <a:cs typeface="Arial" pitchFamily="34" charset="-120"/>
                        </a:rPr>
                        <a:t>a business question in plain words, routed to a verified question or a metric</a:t>
                      </a:r>
                      <a:endParaRPr lang="en-US" sz="11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bl>
          </a:graphicData>
        </a:graphic>
      </p:graphicFrame>
      <p:sp>
        <p:nvSpPr>
          <p:cNvPr id="5" name="card"/>
          <p:cNvSpPr/>
          <p:nvPr/>
        </p:nvSpPr>
        <p:spPr>
          <a:xfrm>
            <a:off x="7406640" y="1417320"/>
            <a:ext cx="4236415" cy="1188720"/>
          </a:xfrm>
          <a:prstGeom prst="roundRect">
            <a:avLst>
              <a:gd name="adj" fmla="val 6154"/>
            </a:avLst>
          </a:prstGeom>
          <a:solidFill>
            <a:schemeClr val="bg2"/>
          </a:solidFill>
          <a:ln w="12700">
            <a:solidFill>
              <a:schemeClr val="bg2"/>
            </a:solidFill>
            <a:prstDash val="solid"/>
          </a:ln>
        </p:spPr>
      </p:sp>
      <p:sp>
        <p:nvSpPr>
          <p:cNvPr id="6" name="panel"/>
          <p:cNvSpPr/>
          <p:nvPr/>
        </p:nvSpPr>
        <p:spPr>
          <a:xfrm>
            <a:off x="7406640" y="1417320"/>
            <a:ext cx="91440" cy="1188720"/>
          </a:xfrm>
          <a:prstGeom prst="rect">
            <a:avLst/>
          </a:prstGeom>
          <a:solidFill>
            <a:schemeClr val="accent1"/>
          </a:solidFill>
          <a:ln w="12700">
            <a:solidFill>
              <a:schemeClr val="accent1"/>
            </a:solidFill>
            <a:prstDash val="solid"/>
          </a:ln>
        </p:spPr>
      </p:sp>
      <p:sp>
        <p:nvSpPr>
          <p:cNvPr id="7" name="text"/>
          <p:cNvSpPr txBox="1"/>
          <p:nvPr/>
        </p:nvSpPr>
        <p:spPr>
          <a:xfrm>
            <a:off x="7680960" y="1527048"/>
            <a:ext cx="3779215" cy="365760"/>
          </a:xfrm>
          <a:prstGeom prst="rect">
            <a:avLst/>
          </a:prstGeom>
          <a:noFill/>
          <a:ln/>
        </p:spPr>
        <p:txBody>
          <a:bodyPr wrap="square" lIns="0" tIns="0" rIns="0" bIns="0" rtlCol="0" anchor="t"/>
          <a:lstStyle/>
          <a:p>
            <a:pPr indent="0" marL="0">
              <a:buNone/>
            </a:pPr>
            <a:r>
              <a:rPr lang="en-US" sz="1250" b="1" dirty="0">
                <a:solidFill>
                  <a:schemeClr val="accent1"/>
                </a:solidFill>
              </a:rPr>
              <a:t>It cannot invent a metric</a:t>
            </a:r>
            <a:endParaRPr lang="en-US" sz="1250" dirty="0"/>
          </a:p>
        </p:txBody>
      </p:sp>
      <p:sp>
        <p:nvSpPr>
          <p:cNvPr id="8" name="text"/>
          <p:cNvSpPr txBox="1"/>
          <p:nvPr/>
        </p:nvSpPr>
        <p:spPr>
          <a:xfrm>
            <a:off x="7680960" y="1892808"/>
            <a:ext cx="3779215" cy="685800"/>
          </a:xfrm>
          <a:prstGeom prst="rect">
            <a:avLst/>
          </a:prstGeom>
          <a:noFill/>
          <a:ln/>
        </p:spPr>
        <p:txBody>
          <a:bodyPr wrap="square" lIns="0" tIns="0" rIns="0" bIns="0" rtlCol="0" anchor="t"/>
          <a:lstStyle/>
          <a:p>
            <a:pPr indent="0" marL="0">
              <a:buNone/>
            </a:pPr>
            <a:r>
              <a:rPr lang="en-US" sz="1050" dirty="0">
                <a:solidFill>
                  <a:schemeClr val="tx1"/>
                </a:solidFill>
              </a:rPr>
              <a:t>It runs only what the model defines. A question that names no metric is routed to the nearest verified question or declined.</a:t>
            </a:r>
            <a:endParaRPr lang="en-US" sz="1050" dirty="0"/>
          </a:p>
        </p:txBody>
      </p:sp>
      <p:sp>
        <p:nvSpPr>
          <p:cNvPr id="9" name="card"/>
          <p:cNvSpPr/>
          <p:nvPr/>
        </p:nvSpPr>
        <p:spPr>
          <a:xfrm>
            <a:off x="7406640" y="2743200"/>
            <a:ext cx="4236415" cy="1188720"/>
          </a:xfrm>
          <a:prstGeom prst="roundRect">
            <a:avLst>
              <a:gd name="adj" fmla="val 6154"/>
            </a:avLst>
          </a:prstGeom>
          <a:solidFill>
            <a:schemeClr val="bg2"/>
          </a:solidFill>
          <a:ln w="12700">
            <a:solidFill>
              <a:schemeClr val="bg2"/>
            </a:solidFill>
            <a:prstDash val="solid"/>
          </a:ln>
        </p:spPr>
      </p:sp>
      <p:sp>
        <p:nvSpPr>
          <p:cNvPr id="10" name="panel"/>
          <p:cNvSpPr/>
          <p:nvPr/>
        </p:nvSpPr>
        <p:spPr>
          <a:xfrm>
            <a:off x="7406640" y="2743200"/>
            <a:ext cx="91440" cy="1188720"/>
          </a:xfrm>
          <a:prstGeom prst="rect">
            <a:avLst/>
          </a:prstGeom>
          <a:solidFill>
            <a:schemeClr val="accent4"/>
          </a:solidFill>
          <a:ln w="12700">
            <a:solidFill>
              <a:schemeClr val="accent4"/>
            </a:solidFill>
            <a:prstDash val="solid"/>
          </a:ln>
        </p:spPr>
      </p:sp>
      <p:sp>
        <p:nvSpPr>
          <p:cNvPr id="11" name="text"/>
          <p:cNvSpPr txBox="1"/>
          <p:nvPr/>
        </p:nvSpPr>
        <p:spPr>
          <a:xfrm>
            <a:off x="7680960" y="2852928"/>
            <a:ext cx="3779215" cy="365760"/>
          </a:xfrm>
          <a:prstGeom prst="rect">
            <a:avLst/>
          </a:prstGeom>
          <a:noFill/>
          <a:ln/>
        </p:spPr>
        <p:txBody>
          <a:bodyPr wrap="square" lIns="0" tIns="0" rIns="0" bIns="0" rtlCol="0" anchor="t"/>
          <a:lstStyle/>
          <a:p>
            <a:pPr indent="0" marL="0">
              <a:buNone/>
            </a:pPr>
            <a:r>
              <a:rPr lang="en-US" sz="1250" b="1" dirty="0">
                <a:solidFill>
                  <a:schemeClr val="accent4"/>
                </a:solidFill>
              </a:rPr>
              <a:t>It cannot answer a declined question</a:t>
            </a:r>
            <a:endParaRPr lang="en-US" sz="1250" dirty="0"/>
          </a:p>
        </p:txBody>
      </p:sp>
      <p:sp>
        <p:nvSpPr>
          <p:cNvPr id="12" name="text"/>
          <p:cNvSpPr txBox="1"/>
          <p:nvPr/>
        </p:nvSpPr>
        <p:spPr>
          <a:xfrm>
            <a:off x="7680960" y="3218688"/>
            <a:ext cx="3779215" cy="685800"/>
          </a:xfrm>
          <a:prstGeom prst="rect">
            <a:avLst/>
          </a:prstGeom>
          <a:noFill/>
          <a:ln/>
        </p:spPr>
        <p:txBody>
          <a:bodyPr wrap="square" lIns="0" tIns="0" rIns="0" bIns="0" rtlCol="0" anchor="t"/>
          <a:lstStyle/>
          <a:p>
            <a:pPr indent="0" marL="0">
              <a:buNone/>
            </a:pPr>
            <a:r>
              <a:rPr lang="en-US" sz="1050" dirty="0">
                <a:solidFill>
                  <a:schemeClr val="tx1"/>
                </a:solidFill>
              </a:rPr>
              <a:t>It returns the model's decline, with the reason and the gap id, in the model's words.</a:t>
            </a:r>
            <a:endParaRPr lang="en-US" sz="1050" dirty="0"/>
          </a:p>
        </p:txBody>
      </p:sp>
      <p:sp>
        <p:nvSpPr>
          <p:cNvPr id="13" name="card"/>
          <p:cNvSpPr/>
          <p:nvPr/>
        </p:nvSpPr>
        <p:spPr>
          <a:xfrm>
            <a:off x="7406640" y="4069080"/>
            <a:ext cx="4236415" cy="1188720"/>
          </a:xfrm>
          <a:prstGeom prst="roundRect">
            <a:avLst>
              <a:gd name="adj" fmla="val 6154"/>
            </a:avLst>
          </a:prstGeom>
          <a:solidFill>
            <a:schemeClr val="bg2"/>
          </a:solidFill>
          <a:ln w="12700">
            <a:solidFill>
              <a:schemeClr val="bg2"/>
            </a:solidFill>
            <a:prstDash val="solid"/>
          </a:ln>
        </p:spPr>
      </p:sp>
      <p:sp>
        <p:nvSpPr>
          <p:cNvPr id="14" name="panel"/>
          <p:cNvSpPr/>
          <p:nvPr/>
        </p:nvSpPr>
        <p:spPr>
          <a:xfrm>
            <a:off x="7406640" y="4069080"/>
            <a:ext cx="91440" cy="1188720"/>
          </a:xfrm>
          <a:prstGeom prst="rect">
            <a:avLst/>
          </a:prstGeom>
          <a:solidFill>
            <a:schemeClr val="accent2"/>
          </a:solidFill>
          <a:ln w="12700">
            <a:solidFill>
              <a:schemeClr val="accent2"/>
            </a:solidFill>
            <a:prstDash val="solid"/>
          </a:ln>
        </p:spPr>
      </p:sp>
      <p:sp>
        <p:nvSpPr>
          <p:cNvPr id="15" name="text"/>
          <p:cNvSpPr txBox="1"/>
          <p:nvPr/>
        </p:nvSpPr>
        <p:spPr>
          <a:xfrm>
            <a:off x="7680960" y="4178808"/>
            <a:ext cx="3779215" cy="365760"/>
          </a:xfrm>
          <a:prstGeom prst="rect">
            <a:avLst/>
          </a:prstGeom>
          <a:noFill/>
          <a:ln/>
        </p:spPr>
        <p:txBody>
          <a:bodyPr wrap="square" lIns="0" tIns="0" rIns="0" bIns="0" rtlCol="0" anchor="t"/>
          <a:lstStyle/>
          <a:p>
            <a:pPr indent="0" marL="0">
              <a:buNone/>
            </a:pPr>
            <a:r>
              <a:rPr lang="en-US" sz="1250" b="1" dirty="0">
                <a:solidFill>
                  <a:schemeClr val="accent2"/>
                </a:solidFill>
              </a:rPr>
              <a:t>Every answer carries its SQL and lineage</a:t>
            </a:r>
            <a:endParaRPr lang="en-US" sz="1250" dirty="0"/>
          </a:p>
        </p:txBody>
      </p:sp>
      <p:sp>
        <p:nvSpPr>
          <p:cNvPr id="16" name="text"/>
          <p:cNvSpPr txBox="1"/>
          <p:nvPr/>
        </p:nvSpPr>
        <p:spPr>
          <a:xfrm>
            <a:off x="7680960" y="4544568"/>
            <a:ext cx="3779215" cy="685800"/>
          </a:xfrm>
          <a:prstGeom prst="rect">
            <a:avLst/>
          </a:prstGeom>
          <a:noFill/>
          <a:ln/>
        </p:spPr>
        <p:txBody>
          <a:bodyPr wrap="square" lIns="0" tIns="0" rIns="0" bIns="0" rtlCol="0" anchor="t"/>
          <a:lstStyle/>
          <a:p>
            <a:pPr indent="0" marL="0">
              <a:buNone/>
            </a:pPr>
            <a:r>
              <a:rPr lang="en-US" sz="1050" dirty="0">
                <a:solidFill>
                  <a:schemeClr val="tx1"/>
                </a:solidFill>
              </a:rPr>
              <a:t>The same rows, SQL and taxonomy trail as the page. The model behind the tools is a lever: Claude, or a small local model.</a:t>
            </a:r>
            <a:endParaRPr lang="en-US" sz="1050" dirty="0"/>
          </a:p>
        </p:txBody>
      </p:sp>
      <p:sp>
        <p:nvSpPr>
          <p:cNvPr id="17" name="card"/>
          <p:cNvSpPr/>
          <p:nvPr/>
        </p:nvSpPr>
        <p:spPr>
          <a:xfrm>
            <a:off x="548640" y="5486400"/>
            <a:ext cx="11094415" cy="548640"/>
          </a:xfrm>
          <a:prstGeom prst="roundRect">
            <a:avLst>
              <a:gd name="adj" fmla="val 13333"/>
            </a:avLst>
          </a:prstGeom>
          <a:solidFill>
            <a:schemeClr val="tx2"/>
          </a:solidFill>
          <a:ln w="12700">
            <a:solidFill>
              <a:schemeClr val="tx2"/>
            </a:solidFill>
            <a:prstDash val="solid"/>
          </a:ln>
        </p:spPr>
      </p:sp>
      <p:sp>
        <p:nvSpPr>
          <p:cNvPr id="18" name="text"/>
          <p:cNvSpPr txBox="1"/>
          <p:nvPr/>
        </p:nvSpPr>
        <p:spPr>
          <a:xfrm>
            <a:off x="822960" y="5614416"/>
            <a:ext cx="10545775" cy="292608"/>
          </a:xfrm>
          <a:prstGeom prst="rect">
            <a:avLst/>
          </a:prstGeom>
          <a:noFill/>
          <a:ln/>
        </p:spPr>
        <p:txBody>
          <a:bodyPr wrap="square" lIns="0" tIns="0" rIns="0" bIns="0" rtlCol="0" anchor="ctr"/>
          <a:lstStyle/>
          <a:p>
            <a:pPr indent="0" marL="0">
              <a:buNone/>
            </a:pPr>
            <a:r>
              <a:rPr lang="en-US" sz="1300" dirty="0">
                <a:solidFill>
                  <a:schemeClr val="bg1"/>
                </a:solidFill>
              </a:rPr>
              <a:t>An assistant that resolves every question to a named metric with a known definition, or says no with the gap. Nothing new to govern.</a:t>
            </a:r>
            <a:endParaRPr lang="en-US" sz="1300" dirty="0"/>
          </a:p>
        </p:txBody>
      </p:sp>
      <p:sp>
        <p:nvSpPr>
          <p:cNvPr id="19" name="text"/>
          <p:cNvSpPr txBox="1"/>
          <p:nvPr/>
        </p:nvSpPr>
        <p:spPr>
          <a:xfrm>
            <a:off x="548640" y="6108192"/>
            <a:ext cx="11094415" cy="256032"/>
          </a:xfrm>
          <a:prstGeom prst="rect">
            <a:avLst/>
          </a:prstGeom>
          <a:noFill/>
          <a:ln/>
        </p:spPr>
        <p:txBody>
          <a:bodyPr wrap="square" lIns="0" tIns="0" rIns="0" bIns="0" rtlCol="0" anchor="t"/>
          <a:lstStyle/>
          <a:p>
            <a:pPr indent="0" marL="0">
              <a:buNone/>
            </a:pPr>
            <a:r>
              <a:rPr lang="en-US" sz="950" i="1" dirty="0">
                <a:solidFill>
                  <a:schemeClr val="accent6"/>
                </a:solidFill>
              </a:rPr>
              <a:t>On the demo page: Ask › The assistant's tools (MCP)</a:t>
            </a:r>
            <a:endParaRPr lang="en-US" sz="9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What the demo taught the taxonomy: six rulings</a:t>
            </a:r>
            <a:endParaRPr lang="en-US" sz="2800" dirty="0"/>
          </a:p>
        </p:txBody>
      </p:sp>
      <p:graphicFrame>
        <p:nvGraphicFramePr>
          <p:cNvPr id="23"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777240"/>
                <a:gridCol w="2194560"/>
                <a:gridCol w="5760720"/>
                <a:gridCol w="235915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Ruling</a:t>
                      </a:r>
                      <a:endParaRPr lang="en-US" sz="10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Subject</a:t>
                      </a:r>
                      <a:endParaRPr lang="en-US" sz="10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What the build found, and the resolution</a:t>
                      </a:r>
                      <a:endParaRPr lang="en-US" sz="10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Decision owner</a:t>
                      </a:r>
                      <a:endParaRPr lang="en-US" sz="10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CW-275</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Source mapping registry</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The first step of the operating model had no recorded form. A mapping module per source, in one standard, with kinds, crosswalks, identifier schemes and declared gaps; checked against the taxonomy</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Program lead</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CW-276</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Executable metric definitions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Metric formulas in the models are sentences, so a model could not be run. Certified metrics carry an SQL form beside the text, proven by execution on the built tables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Head of Client &amp; Channel Analytics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CW-277</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Activation states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One rule for what a mapped source switches on: enabled, partial and not started for products, entities, tables, metrics and questions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Program lead</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CW-278</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Certified measure value published wide</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The semantic model summed named measure columns, which only adds up with one row per period and dimension key. Published wide for now; open: wide or long form</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Head of Client &amp; Channel Analytics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CW-279</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Brokerage customer number scheme</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No identifier scheme exists for the customer number a clearing platform issues; both the brokerage and CRM mappings need one. Add it to the identifier schemes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Head of Client Data</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CW-280</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Held-away assets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Household 360 publishes held-away assets, read straight from the CRM because the account domain masters the firm's own accounts only. Decide the home</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Head of Client Data</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bl>
          </a:graphicData>
        </a:graphic>
      </p:graphicFrame>
      <p:sp>
        <p:nvSpPr>
          <p:cNvPr id="5" name="text"/>
          <p:cNvSpPr txBox="1"/>
          <p:nvPr/>
        </p:nvSpPr>
        <p:spPr>
          <a:xfrm>
            <a:off x="548640" y="6108192"/>
            <a:ext cx="11094415" cy="256032"/>
          </a:xfrm>
          <a:prstGeom prst="rect">
            <a:avLst/>
          </a:prstGeom>
          <a:noFill/>
          <a:ln/>
        </p:spPr>
        <p:txBody>
          <a:bodyPr wrap="square" lIns="0" tIns="0" rIns="0" bIns="0" rtlCol="0" anchor="t"/>
          <a:lstStyle/>
          <a:p>
            <a:pPr indent="0" marL="0">
              <a:buNone/>
            </a:pPr>
            <a:r>
              <a:rPr lang="en-US" sz="950" i="1" dirty="0">
                <a:solidFill>
                  <a:schemeClr val="accent6"/>
                </a:solidFill>
              </a:rPr>
              <a:t>On the demo page: Findings › CW-275 to CW-280</a:t>
            </a:r>
            <a:endParaRPr lang="en-US" sz="9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148840"/>
            <a:ext cx="11094415" cy="457200"/>
          </a:xfrm>
          <a:prstGeom prst="rect">
            <a:avLst/>
          </a:prstGeom>
          <a:noFill/>
          <a:ln/>
        </p:spPr>
        <p:txBody>
          <a:bodyPr wrap="square" lIns="0" tIns="0" rIns="0" bIns="0" rtlCol="0"/>
          <a:lstStyle/>
          <a:p>
            <a:pPr indent="0" marL="0">
              <a:buNone/>
            </a:pPr>
            <a:r>
              <a:rPr lang="en-US" sz="1600" dirty="0">
                <a:solidFill>
                  <a:schemeClr val="bg2"/>
                </a:solidFill>
              </a:rPr>
              <a:t>PART 5</a:t>
            </a:r>
            <a:endParaRPr lang="en-US" sz="1600" dirty="0"/>
          </a:p>
        </p:txBody>
      </p:sp>
      <p:sp>
        <p:nvSpPr>
          <p:cNvPr id="3" name="Text 0"/>
          <p:cNvSpPr/>
          <p:nvPr>
            <p:ph idx="101" type="title" hasCustomPrompt="1"/>
          </p:nvPr>
        </p:nvSpPr>
        <p:spPr>
          <a:xfrm>
            <a:off x="548640" y="2606040"/>
            <a:ext cx="11094415" cy="1280160"/>
          </a:xfrm>
          <a:prstGeom prst="rect">
            <a:avLst/>
          </a:prstGeom>
          <a:noFill/>
          <a:ln/>
        </p:spPr>
        <p:txBody>
          <a:bodyPr wrap="square" lIns="0" tIns="0" rIns="0" bIns="0" rtlCol="0" anchor="t"/>
          <a:lstStyle/>
          <a:p>
            <a:pPr algn="l" indent="0" marL="0">
              <a:buNone/>
            </a:pPr>
            <a:r>
              <a:rPr lang="en-US" sz="4000" b="1" dirty="0">
                <a:solidFill>
                  <a:schemeClr val="bg1"/>
                </a:solidFill>
              </a:rPr>
              <a:t>What it means for you</a:t>
            </a:r>
            <a:endParaRPr lang="en-US" sz="4000" dirty="0"/>
          </a:p>
        </p:txBody>
      </p:sp>
      <p:sp>
        <p:nvSpPr>
          <p:cNvPr id="4" name="Text 0"/>
          <p:cNvSpPr/>
          <p:nvPr>
            <p:ph idx="102" type="body" hasCustomPrompt="1"/>
          </p:nvPr>
        </p:nvSpPr>
        <p:spPr>
          <a:xfrm>
            <a:off x="548640" y="4023360"/>
            <a:ext cx="8686800" cy="1463040"/>
          </a:xfrm>
          <a:prstGeom prst="rect">
            <a:avLst/>
          </a:prstGeom>
          <a:noFill/>
          <a:ln/>
        </p:spPr>
        <p:txBody>
          <a:bodyPr wrap="square" lIns="0" tIns="0" rIns="0" bIns="0" rtlCol="0" anchor="t"/>
          <a:lstStyle/>
          <a:p>
            <a:pPr indent="0" marL="0">
              <a:buNone/>
            </a:pPr>
            <a:r>
              <a:rPr lang="en-US" sz="1800" dirty="0">
                <a:solidFill>
                  <a:schemeClr val="bg2"/>
                </a:solidFill>
              </a:rPr>
              <a:t>Everything in the demo is a tailoring lever. The slice chooses the subject areas; the sources are your dictionaries and extracts; the runtime is your warehouse. The asks are small and specific.</a:t>
            </a:r>
            <a:endParaRPr lang="en-US" sz="1800" dirty="0"/>
          </a:p>
        </p:txBody>
      </p:sp>
      <p:sp>
        <p:nvSpPr>
          <p:cNvPr id="5" name="chip"/>
          <p:cNvSpPr/>
          <p:nvPr/>
        </p:nvSpPr>
        <p:spPr>
          <a:xfrm>
            <a:off x="548640" y="1371600"/>
            <a:ext cx="384048" cy="384048"/>
          </a:xfrm>
          <a:prstGeom prst="ellipse">
            <a:avLst/>
          </a:prstGeom>
          <a:solidFill>
            <a:schemeClr val="accent4"/>
          </a:solidFill>
          <a:ln w="12700">
            <a:solidFill>
              <a:schemeClr val="accent4"/>
            </a:solidFill>
            <a:prstDash val="solid"/>
          </a:ln>
        </p:spPr>
      </p:sp>
      <p:sp>
        <p:nvSpPr>
          <p:cNvPr id="6" name="text"/>
          <p:cNvSpPr txBox="1"/>
          <p:nvPr/>
        </p:nvSpPr>
        <p:spPr>
          <a:xfrm>
            <a:off x="548640" y="13716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7" name="text"/>
          <p:cNvSpPr txBox="1"/>
          <p:nvPr/>
        </p:nvSpPr>
        <p:spPr>
          <a:xfrm>
            <a:off x="1042416" y="1353312"/>
            <a:ext cx="3657600" cy="420624"/>
          </a:xfrm>
          <a:prstGeom prst="rect">
            <a:avLst/>
          </a:prstGeom>
          <a:noFill/>
          <a:ln/>
        </p:spPr>
        <p:txBody>
          <a:bodyPr wrap="square" lIns="0" tIns="0" rIns="0" bIns="0" rtlCol="0" anchor="ctr"/>
          <a:lstStyle/>
          <a:p>
            <a:pPr indent="0" marL="0">
              <a:buNone/>
            </a:pPr>
            <a:r>
              <a:rPr lang="en-US" sz="1400" b="1" dirty="0">
                <a:solidFill>
                  <a:schemeClr val="bg1"/>
                </a:solidFill>
              </a:rPr>
              <a:t>Ask</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What it would take at your firm: five levers and a wave at a time</a:t>
            </a:r>
            <a:endParaRPr lang="en-US" sz="2800" dirty="0"/>
          </a:p>
        </p:txBody>
      </p:sp>
      <p:sp>
        <p:nvSpPr>
          <p:cNvPr id="4" name="card"/>
          <p:cNvSpPr/>
          <p:nvPr/>
        </p:nvSpPr>
        <p:spPr>
          <a:xfrm>
            <a:off x="548640" y="1417320"/>
            <a:ext cx="2103120" cy="2377440"/>
          </a:xfrm>
          <a:prstGeom prst="roundRect">
            <a:avLst>
              <a:gd name="adj" fmla="val 3478"/>
            </a:avLst>
          </a:prstGeom>
          <a:solidFill>
            <a:schemeClr val="bg2"/>
          </a:solidFill>
          <a:ln w="12700">
            <a:solidFill>
              <a:schemeClr val="bg2"/>
            </a:solidFill>
            <a:prstDash val="solid"/>
          </a:ln>
        </p:spPr>
      </p:sp>
      <p:sp>
        <p:nvSpPr>
          <p:cNvPr id="5" name="panel"/>
          <p:cNvSpPr/>
          <p:nvPr/>
        </p:nvSpPr>
        <p:spPr>
          <a:xfrm>
            <a:off x="548640" y="1417320"/>
            <a:ext cx="2103120" cy="73152"/>
          </a:xfrm>
          <a:prstGeom prst="rect">
            <a:avLst/>
          </a:prstGeom>
          <a:solidFill>
            <a:schemeClr val="accent1"/>
          </a:solidFill>
          <a:ln w="12700">
            <a:solidFill>
              <a:schemeClr val="accent1"/>
            </a:solidFill>
            <a:prstDash val="solid"/>
          </a:ln>
        </p:spPr>
      </p:sp>
      <p:sp>
        <p:nvSpPr>
          <p:cNvPr id="6" name="text"/>
          <p:cNvSpPr txBox="1"/>
          <p:nvPr/>
        </p:nvSpPr>
        <p:spPr>
          <a:xfrm>
            <a:off x="713232" y="1618488"/>
            <a:ext cx="1773936" cy="365760"/>
          </a:xfrm>
          <a:prstGeom prst="rect">
            <a:avLst/>
          </a:prstGeom>
          <a:noFill/>
          <a:ln/>
        </p:spPr>
        <p:txBody>
          <a:bodyPr wrap="square" lIns="0" tIns="0" rIns="0" bIns="0" rtlCol="0" anchor="t"/>
          <a:lstStyle/>
          <a:p>
            <a:pPr indent="0" marL="0">
              <a:buNone/>
            </a:pPr>
            <a:r>
              <a:rPr lang="en-US" sz="1400" b="1" dirty="0">
                <a:solidFill>
                  <a:schemeClr val="accent1"/>
                </a:solidFill>
              </a:rPr>
              <a:t>The slice</a:t>
            </a:r>
            <a:endParaRPr lang="en-US" sz="1400" dirty="0"/>
          </a:p>
        </p:txBody>
      </p:sp>
      <p:sp>
        <p:nvSpPr>
          <p:cNvPr id="7" name="text"/>
          <p:cNvSpPr txBox="1"/>
          <p:nvPr/>
        </p:nvSpPr>
        <p:spPr>
          <a:xfrm>
            <a:off x="713232" y="2011680"/>
            <a:ext cx="1773936" cy="1737360"/>
          </a:xfrm>
          <a:prstGeom prst="rect">
            <a:avLst/>
          </a:prstGeom>
          <a:noFill/>
          <a:ln/>
        </p:spPr>
        <p:txBody>
          <a:bodyPr wrap="square" lIns="0" tIns="0" rIns="0" bIns="0" rtlCol="0" anchor="t"/>
          <a:lstStyle/>
          <a:p>
            <a:pPr indent="0" marL="0">
              <a:buNone/>
            </a:pPr>
            <a:r>
              <a:rPr lang="en-US" sz="1100" dirty="0">
                <a:solidFill>
                  <a:schemeClr val="tx1"/>
                </a:solidFill>
              </a:rPr>
              <a:t>Any semantic models, narrowed to the tables you want. Everything else resolves from their bindings.</a:t>
            </a:r>
            <a:endParaRPr lang="en-US" sz="1100" dirty="0"/>
          </a:p>
        </p:txBody>
      </p:sp>
      <p:sp>
        <p:nvSpPr>
          <p:cNvPr id="8" name="card"/>
          <p:cNvSpPr/>
          <p:nvPr/>
        </p:nvSpPr>
        <p:spPr>
          <a:xfrm>
            <a:off x="2788920" y="1417320"/>
            <a:ext cx="2103120" cy="2377440"/>
          </a:xfrm>
          <a:prstGeom prst="roundRect">
            <a:avLst>
              <a:gd name="adj" fmla="val 3478"/>
            </a:avLst>
          </a:prstGeom>
          <a:solidFill>
            <a:schemeClr val="bg2"/>
          </a:solidFill>
          <a:ln w="12700">
            <a:solidFill>
              <a:schemeClr val="bg2"/>
            </a:solidFill>
            <a:prstDash val="solid"/>
          </a:ln>
        </p:spPr>
      </p:sp>
      <p:sp>
        <p:nvSpPr>
          <p:cNvPr id="9" name="panel"/>
          <p:cNvSpPr/>
          <p:nvPr/>
        </p:nvSpPr>
        <p:spPr>
          <a:xfrm>
            <a:off x="2788920" y="1417320"/>
            <a:ext cx="2103120" cy="73152"/>
          </a:xfrm>
          <a:prstGeom prst="rect">
            <a:avLst/>
          </a:prstGeom>
          <a:solidFill>
            <a:schemeClr val="accent2"/>
          </a:solidFill>
          <a:ln w="12700">
            <a:solidFill>
              <a:schemeClr val="accent2"/>
            </a:solidFill>
            <a:prstDash val="solid"/>
          </a:ln>
        </p:spPr>
      </p:sp>
      <p:sp>
        <p:nvSpPr>
          <p:cNvPr id="10" name="text"/>
          <p:cNvSpPr txBox="1"/>
          <p:nvPr/>
        </p:nvSpPr>
        <p:spPr>
          <a:xfrm>
            <a:off x="2953512" y="1618488"/>
            <a:ext cx="1773936" cy="365760"/>
          </a:xfrm>
          <a:prstGeom prst="rect">
            <a:avLst/>
          </a:prstGeom>
          <a:noFill/>
          <a:ln/>
        </p:spPr>
        <p:txBody>
          <a:bodyPr wrap="square" lIns="0" tIns="0" rIns="0" bIns="0" rtlCol="0" anchor="t"/>
          <a:lstStyle/>
          <a:p>
            <a:pPr indent="0" marL="0">
              <a:buNone/>
            </a:pPr>
            <a:r>
              <a:rPr lang="en-US" sz="1400" b="1" dirty="0">
                <a:solidFill>
                  <a:schemeClr val="accent2"/>
                </a:solidFill>
              </a:rPr>
              <a:t>The sources</a:t>
            </a:r>
            <a:endParaRPr lang="en-US" sz="1400" dirty="0"/>
          </a:p>
        </p:txBody>
      </p:sp>
      <p:sp>
        <p:nvSpPr>
          <p:cNvPr id="11" name="text"/>
          <p:cNvSpPr txBox="1"/>
          <p:nvPr/>
        </p:nvSpPr>
        <p:spPr>
          <a:xfrm>
            <a:off x="2953512" y="2011680"/>
            <a:ext cx="1773936" cy="1737360"/>
          </a:xfrm>
          <a:prstGeom prst="rect">
            <a:avLst/>
          </a:prstGeom>
          <a:noFill/>
          <a:ln/>
        </p:spPr>
        <p:txBody>
          <a:bodyPr wrap="square" lIns="0" tIns="0" rIns="0" bIns="0" rtlCol="0" anchor="t"/>
          <a:lstStyle/>
          <a:p>
            <a:pPr indent="0" marL="0">
              <a:buNone/>
            </a:pPr>
            <a:r>
              <a:rPr lang="en-US" sz="1100" dirty="0">
                <a:solidFill>
                  <a:schemeClr val="tx1"/>
                </a:solidFill>
              </a:rPr>
              <a:t>Your data dictionaries in place of the synthetic ones, in the same registry standard; your extracts in place of the generated ones.</a:t>
            </a:r>
            <a:endParaRPr lang="en-US" sz="1100" dirty="0"/>
          </a:p>
        </p:txBody>
      </p:sp>
      <p:sp>
        <p:nvSpPr>
          <p:cNvPr id="12" name="card"/>
          <p:cNvSpPr/>
          <p:nvPr/>
        </p:nvSpPr>
        <p:spPr>
          <a:xfrm>
            <a:off x="5029200" y="1417320"/>
            <a:ext cx="2103120" cy="2377440"/>
          </a:xfrm>
          <a:prstGeom prst="roundRect">
            <a:avLst>
              <a:gd name="adj" fmla="val 3478"/>
            </a:avLst>
          </a:prstGeom>
          <a:solidFill>
            <a:schemeClr val="bg2"/>
          </a:solidFill>
          <a:ln w="12700">
            <a:solidFill>
              <a:schemeClr val="bg2"/>
            </a:solidFill>
            <a:prstDash val="solid"/>
          </a:ln>
        </p:spPr>
      </p:sp>
      <p:sp>
        <p:nvSpPr>
          <p:cNvPr id="13" name="panel"/>
          <p:cNvSpPr/>
          <p:nvPr/>
        </p:nvSpPr>
        <p:spPr>
          <a:xfrm>
            <a:off x="5029200" y="1417320"/>
            <a:ext cx="2103120" cy="73152"/>
          </a:xfrm>
          <a:prstGeom prst="rect">
            <a:avLst/>
          </a:prstGeom>
          <a:solidFill>
            <a:schemeClr val="accent5"/>
          </a:solidFill>
          <a:ln w="12700">
            <a:solidFill>
              <a:schemeClr val="accent5"/>
            </a:solidFill>
            <a:prstDash val="solid"/>
          </a:ln>
        </p:spPr>
      </p:sp>
      <p:sp>
        <p:nvSpPr>
          <p:cNvPr id="14" name="text"/>
          <p:cNvSpPr txBox="1"/>
          <p:nvPr/>
        </p:nvSpPr>
        <p:spPr>
          <a:xfrm>
            <a:off x="5193792" y="1618488"/>
            <a:ext cx="1773936" cy="365760"/>
          </a:xfrm>
          <a:prstGeom prst="rect">
            <a:avLst/>
          </a:prstGeom>
          <a:noFill/>
          <a:ln/>
        </p:spPr>
        <p:txBody>
          <a:bodyPr wrap="square" lIns="0" tIns="0" rIns="0" bIns="0" rtlCol="0" anchor="t"/>
          <a:lstStyle/>
          <a:p>
            <a:pPr indent="0" marL="0">
              <a:buNone/>
            </a:pPr>
            <a:r>
              <a:rPr lang="en-US" sz="1400" b="1" dirty="0">
                <a:solidFill>
                  <a:schemeClr val="accent5"/>
                </a:solidFill>
              </a:rPr>
              <a:t>The runtime</a:t>
            </a:r>
            <a:endParaRPr lang="en-US" sz="1400" dirty="0"/>
          </a:p>
        </p:txBody>
      </p:sp>
      <p:sp>
        <p:nvSpPr>
          <p:cNvPr id="15" name="text"/>
          <p:cNvSpPr txBox="1"/>
          <p:nvPr/>
        </p:nvSpPr>
        <p:spPr>
          <a:xfrm>
            <a:off x="5193792" y="2011680"/>
            <a:ext cx="1773936" cy="1737360"/>
          </a:xfrm>
          <a:prstGeom prst="rect">
            <a:avLst/>
          </a:prstGeom>
          <a:noFill/>
          <a:ln/>
        </p:spPr>
        <p:txBody>
          <a:bodyPr wrap="square" lIns="0" tIns="0" rIns="0" bIns="0" rtlCol="0" anchor="t"/>
          <a:lstStyle/>
          <a:p>
            <a:pPr indent="0" marL="0">
              <a:buNone/>
            </a:pPr>
            <a:r>
              <a:rPr lang="en-US" sz="1100" dirty="0">
                <a:solidFill>
                  <a:schemeClr val="tx1"/>
                </a:solidFill>
              </a:rPr>
              <a:t>DuckDB locally; the same layers on Spark in a Databricks shape. The generated SQL ports to your warehouse.</a:t>
            </a:r>
            <a:endParaRPr lang="en-US" sz="1100" dirty="0"/>
          </a:p>
        </p:txBody>
      </p:sp>
      <p:sp>
        <p:nvSpPr>
          <p:cNvPr id="16" name="card"/>
          <p:cNvSpPr/>
          <p:nvPr/>
        </p:nvSpPr>
        <p:spPr>
          <a:xfrm>
            <a:off x="7269480" y="1417320"/>
            <a:ext cx="2103120" cy="2377440"/>
          </a:xfrm>
          <a:prstGeom prst="roundRect">
            <a:avLst>
              <a:gd name="adj" fmla="val 3478"/>
            </a:avLst>
          </a:prstGeom>
          <a:solidFill>
            <a:schemeClr val="bg2"/>
          </a:solidFill>
          <a:ln w="12700">
            <a:solidFill>
              <a:schemeClr val="bg2"/>
            </a:solidFill>
            <a:prstDash val="solid"/>
          </a:ln>
        </p:spPr>
      </p:sp>
      <p:sp>
        <p:nvSpPr>
          <p:cNvPr id="17" name="panel"/>
          <p:cNvSpPr/>
          <p:nvPr/>
        </p:nvSpPr>
        <p:spPr>
          <a:xfrm>
            <a:off x="7269480" y="1417320"/>
            <a:ext cx="2103120" cy="73152"/>
          </a:xfrm>
          <a:prstGeom prst="rect">
            <a:avLst/>
          </a:prstGeom>
          <a:solidFill>
            <a:schemeClr val="accent3"/>
          </a:solidFill>
          <a:ln w="12700">
            <a:solidFill>
              <a:schemeClr val="accent3"/>
            </a:solidFill>
            <a:prstDash val="solid"/>
          </a:ln>
        </p:spPr>
      </p:sp>
      <p:sp>
        <p:nvSpPr>
          <p:cNvPr id="18" name="text"/>
          <p:cNvSpPr txBox="1"/>
          <p:nvPr/>
        </p:nvSpPr>
        <p:spPr>
          <a:xfrm>
            <a:off x="7434072" y="1618488"/>
            <a:ext cx="1773936" cy="365760"/>
          </a:xfrm>
          <a:prstGeom prst="rect">
            <a:avLst/>
          </a:prstGeom>
          <a:noFill/>
          <a:ln/>
        </p:spPr>
        <p:txBody>
          <a:bodyPr wrap="square" lIns="0" tIns="0" rIns="0" bIns="0" rtlCol="0" anchor="t"/>
          <a:lstStyle/>
          <a:p>
            <a:pPr indent="0" marL="0">
              <a:buNone/>
            </a:pPr>
            <a:r>
              <a:rPr lang="en-US" sz="1400" b="1" dirty="0">
                <a:solidFill>
                  <a:schemeClr val="accent3"/>
                </a:solidFill>
              </a:rPr>
              <a:t>The semantic engine</a:t>
            </a:r>
            <a:endParaRPr lang="en-US" sz="1400" dirty="0"/>
          </a:p>
        </p:txBody>
      </p:sp>
      <p:sp>
        <p:nvSpPr>
          <p:cNvPr id="19" name="text"/>
          <p:cNvSpPr txBox="1"/>
          <p:nvPr/>
        </p:nvSpPr>
        <p:spPr>
          <a:xfrm>
            <a:off x="7434072" y="2011680"/>
            <a:ext cx="1773936" cy="1737360"/>
          </a:xfrm>
          <a:prstGeom prst="rect">
            <a:avLst/>
          </a:prstGeom>
          <a:noFill/>
          <a:ln/>
        </p:spPr>
        <p:txBody>
          <a:bodyPr wrap="square" lIns="0" tIns="0" rIns="0" bIns="0" rtlCol="0" anchor="t"/>
          <a:lstStyle/>
          <a:p>
            <a:pPr indent="0" marL="0">
              <a:buNone/>
            </a:pPr>
            <a:r>
              <a:rPr lang="en-US" sz="1100" dirty="0">
                <a:solidFill>
                  <a:schemeClr val="tx1"/>
                </a:solidFill>
              </a:rPr>
              <a:t>dbt Semantic Layer export in the demo; other engines are adapters over the compiled model.</a:t>
            </a:r>
            <a:endParaRPr lang="en-US" sz="1100" dirty="0"/>
          </a:p>
        </p:txBody>
      </p:sp>
      <p:sp>
        <p:nvSpPr>
          <p:cNvPr id="20" name="card"/>
          <p:cNvSpPr/>
          <p:nvPr/>
        </p:nvSpPr>
        <p:spPr>
          <a:xfrm>
            <a:off x="9509760" y="1417320"/>
            <a:ext cx="2103120" cy="2377440"/>
          </a:xfrm>
          <a:prstGeom prst="roundRect">
            <a:avLst>
              <a:gd name="adj" fmla="val 3478"/>
            </a:avLst>
          </a:prstGeom>
          <a:solidFill>
            <a:schemeClr val="bg2"/>
          </a:solidFill>
          <a:ln w="12700">
            <a:solidFill>
              <a:schemeClr val="bg2"/>
            </a:solidFill>
            <a:prstDash val="solid"/>
          </a:ln>
        </p:spPr>
      </p:sp>
      <p:sp>
        <p:nvSpPr>
          <p:cNvPr id="21" name="panel"/>
          <p:cNvSpPr/>
          <p:nvPr/>
        </p:nvSpPr>
        <p:spPr>
          <a:xfrm>
            <a:off x="9509760" y="1417320"/>
            <a:ext cx="2103120" cy="73152"/>
          </a:xfrm>
          <a:prstGeom prst="rect">
            <a:avLst/>
          </a:prstGeom>
          <a:solidFill>
            <a:schemeClr val="accent4"/>
          </a:solidFill>
          <a:ln w="12700">
            <a:solidFill>
              <a:schemeClr val="accent4"/>
            </a:solidFill>
            <a:prstDash val="solid"/>
          </a:ln>
        </p:spPr>
      </p:sp>
      <p:sp>
        <p:nvSpPr>
          <p:cNvPr id="22" name="text"/>
          <p:cNvSpPr txBox="1"/>
          <p:nvPr/>
        </p:nvSpPr>
        <p:spPr>
          <a:xfrm>
            <a:off x="9674352" y="1618488"/>
            <a:ext cx="1773936" cy="365760"/>
          </a:xfrm>
          <a:prstGeom prst="rect">
            <a:avLst/>
          </a:prstGeom>
          <a:noFill/>
          <a:ln/>
        </p:spPr>
        <p:txBody>
          <a:bodyPr wrap="square" lIns="0" tIns="0" rIns="0" bIns="0" rtlCol="0" anchor="t"/>
          <a:lstStyle/>
          <a:p>
            <a:pPr indent="0" marL="0">
              <a:buNone/>
            </a:pPr>
            <a:r>
              <a:rPr lang="en-US" sz="1400" b="1" dirty="0">
                <a:solidFill>
                  <a:schemeClr val="accent4"/>
                </a:solidFill>
              </a:rPr>
              <a:t>The assistant</a:t>
            </a:r>
            <a:endParaRPr lang="en-US" sz="1400" dirty="0"/>
          </a:p>
        </p:txBody>
      </p:sp>
      <p:sp>
        <p:nvSpPr>
          <p:cNvPr id="23" name="text"/>
          <p:cNvSpPr txBox="1"/>
          <p:nvPr/>
        </p:nvSpPr>
        <p:spPr>
          <a:xfrm>
            <a:off x="9674352" y="2011680"/>
            <a:ext cx="1773936" cy="1737360"/>
          </a:xfrm>
          <a:prstGeom prst="rect">
            <a:avLst/>
          </a:prstGeom>
          <a:noFill/>
          <a:ln/>
        </p:spPr>
        <p:txBody>
          <a:bodyPr wrap="square" lIns="0" tIns="0" rIns="0" bIns="0" rtlCol="0" anchor="t"/>
          <a:lstStyle/>
          <a:p>
            <a:pPr indent="0" marL="0">
              <a:buNone/>
            </a:pPr>
            <a:r>
              <a:rPr lang="en-US" sz="1100" dirty="0">
                <a:solidFill>
                  <a:schemeClr val="tx1"/>
                </a:solidFill>
              </a:rPr>
              <a:t>Claude through the six tools, or any model behind the same tools.</a:t>
            </a:r>
            <a:endParaRPr lang="en-US" sz="1100" dirty="0"/>
          </a:p>
        </p:txBody>
      </p:sp>
      <p:sp>
        <p:nvSpPr>
          <p:cNvPr id="24" name="card"/>
          <p:cNvSpPr/>
          <p:nvPr/>
        </p:nvSpPr>
        <p:spPr>
          <a:xfrm>
            <a:off x="548640" y="4023360"/>
            <a:ext cx="11094415" cy="2011680"/>
          </a:xfrm>
          <a:prstGeom prst="roundRect">
            <a:avLst>
              <a:gd name="adj" fmla="val 3636"/>
            </a:avLst>
          </a:prstGeom>
          <a:solidFill>
            <a:schemeClr val="tx2"/>
          </a:solidFill>
          <a:ln w="12700">
            <a:solidFill>
              <a:schemeClr val="tx2"/>
            </a:solidFill>
            <a:prstDash val="solid"/>
          </a:ln>
        </p:spPr>
      </p:sp>
      <p:sp>
        <p:nvSpPr>
          <p:cNvPr id="25" name="text"/>
          <p:cNvSpPr txBox="1"/>
          <p:nvPr/>
        </p:nvSpPr>
        <p:spPr>
          <a:xfrm>
            <a:off x="822960" y="4160520"/>
            <a:ext cx="4572000" cy="274320"/>
          </a:xfrm>
          <a:prstGeom prst="rect">
            <a:avLst/>
          </a:prstGeom>
          <a:noFill/>
          <a:ln/>
        </p:spPr>
        <p:txBody>
          <a:bodyPr wrap="square" lIns="0" tIns="0" rIns="0" bIns="0" rtlCol="0" anchor="t"/>
          <a:lstStyle/>
          <a:p>
            <a:pPr indent="0" marL="0">
              <a:buNone/>
            </a:pPr>
            <a:r>
              <a:rPr lang="en-US" sz="1100" b="1" dirty="0">
                <a:solidFill>
                  <a:schemeClr val="accent4"/>
                </a:solidFill>
              </a:rPr>
              <a:t>A WAVE AT A TIME</a:t>
            </a:r>
            <a:endParaRPr lang="en-US" sz="1100" dirty="0"/>
          </a:p>
        </p:txBody>
      </p:sp>
      <p:sp>
        <p:nvSpPr>
          <p:cNvPr id="26" name="text"/>
          <p:cNvSpPr txBox="1"/>
          <p:nvPr/>
        </p:nvSpPr>
        <p:spPr>
          <a:xfrm>
            <a:off x="822960" y="4434840"/>
            <a:ext cx="5669280" cy="1005840"/>
          </a:xfrm>
          <a:prstGeom prst="rect">
            <a:avLst/>
          </a:prstGeom>
          <a:noFill/>
          <a:ln/>
        </p:spPr>
        <p:txBody>
          <a:bodyPr wrap="square" lIns="0" tIns="0" rIns="0" bIns="0" rtlCol="0" anchor="t"/>
          <a:lstStyle/>
          <a:p>
            <a:pPr indent="0" marL="0">
              <a:buNone/>
            </a:pPr>
            <a:r>
              <a:rPr lang="en-US" sz="1200" dirty="0">
                <a:solidFill>
                  <a:schemeClr val="bg1"/>
                </a:solidFill>
              </a:rPr>
              <a:t>Each wave: map the subject area's sources, add the firm rules for its derived products, prove the certified numbers against an independent computation, publish. The demo's four models were built this way.</a:t>
            </a:r>
            <a:endParaRPr lang="en-US" sz="1200" dirty="0"/>
          </a:p>
        </p:txBody>
      </p:sp>
      <p:sp>
        <p:nvSpPr>
          <p:cNvPr id="27" name="text"/>
          <p:cNvSpPr txBox="1"/>
          <p:nvPr/>
        </p:nvSpPr>
        <p:spPr>
          <a:xfrm>
            <a:off x="6583680" y="4434840"/>
            <a:ext cx="640080" cy="320040"/>
          </a:xfrm>
          <a:prstGeom prst="rect">
            <a:avLst/>
          </a:prstGeom>
          <a:noFill/>
          <a:ln/>
        </p:spPr>
        <p:txBody>
          <a:bodyPr wrap="square" lIns="0" tIns="0" rIns="0" bIns="0" rtlCol="0" anchor="t"/>
          <a:lstStyle/>
          <a:p>
            <a:pPr indent="0" marL="0">
              <a:buNone/>
            </a:pPr>
            <a:r>
              <a:rPr lang="en-US" sz="1000" b="1" dirty="0">
                <a:solidFill>
                  <a:schemeClr val="accent4"/>
                </a:solidFill>
              </a:rPr>
              <a:t>Next</a:t>
            </a:r>
            <a:endParaRPr lang="en-US" sz="1000" dirty="0"/>
          </a:p>
        </p:txBody>
      </p:sp>
      <p:sp>
        <p:nvSpPr>
          <p:cNvPr id="28" name="text"/>
          <p:cNvSpPr txBox="1"/>
          <p:nvPr/>
        </p:nvSpPr>
        <p:spPr>
          <a:xfrm>
            <a:off x="7223760" y="4434840"/>
            <a:ext cx="2286000" cy="320040"/>
          </a:xfrm>
          <a:prstGeom prst="rect">
            <a:avLst/>
          </a:prstGeom>
          <a:noFill/>
          <a:ln/>
        </p:spPr>
        <p:txBody>
          <a:bodyPr wrap="square" lIns="0" tIns="0" rIns="0" bIns="0" rtlCol="0" anchor="t"/>
          <a:lstStyle/>
          <a:p>
            <a:pPr indent="0" marL="0">
              <a:buNone/>
            </a:pPr>
            <a:r>
              <a:rPr lang="en-US" sz="1150" b="1" dirty="0">
                <a:solidFill>
                  <a:schemeClr val="bg1"/>
                </a:solidFill>
              </a:rPr>
              <a:t>SM-22 Advice &amp; Planning</a:t>
            </a:r>
            <a:endParaRPr lang="en-US" sz="1150" dirty="0"/>
          </a:p>
        </p:txBody>
      </p:sp>
      <p:sp>
        <p:nvSpPr>
          <p:cNvPr id="29" name="text"/>
          <p:cNvSpPr txBox="1"/>
          <p:nvPr/>
        </p:nvSpPr>
        <p:spPr>
          <a:xfrm>
            <a:off x="9509760" y="4453128"/>
            <a:ext cx="2103120" cy="548640"/>
          </a:xfrm>
          <a:prstGeom prst="rect">
            <a:avLst/>
          </a:prstGeom>
          <a:noFill/>
          <a:ln/>
        </p:spPr>
        <p:txBody>
          <a:bodyPr wrap="square" lIns="0" tIns="0" rIns="0" bIns="0" rtlCol="0" anchor="t"/>
          <a:lstStyle/>
          <a:p>
            <a:pPr indent="0" marL="0">
              <a:buNone/>
            </a:pPr>
            <a:r>
              <a:rPr lang="en-US" sz="950" dirty="0">
                <a:solidFill>
                  <a:schemeClr val="bg2"/>
                </a:solidFill>
              </a:rPr>
              <a:t>closes the plan and goal questions the household view declines</a:t>
            </a:r>
            <a:endParaRPr lang="en-US" sz="950" dirty="0"/>
          </a:p>
        </p:txBody>
      </p:sp>
      <p:sp>
        <p:nvSpPr>
          <p:cNvPr id="30" name="text"/>
          <p:cNvSpPr txBox="1"/>
          <p:nvPr/>
        </p:nvSpPr>
        <p:spPr>
          <a:xfrm>
            <a:off x="6583680" y="5001768"/>
            <a:ext cx="640080" cy="320040"/>
          </a:xfrm>
          <a:prstGeom prst="rect">
            <a:avLst/>
          </a:prstGeom>
          <a:noFill/>
          <a:ln/>
        </p:spPr>
        <p:txBody>
          <a:bodyPr wrap="square" lIns="0" tIns="0" rIns="0" bIns="0" rtlCol="0" anchor="t"/>
          <a:lstStyle/>
          <a:p>
            <a:pPr indent="0" marL="0">
              <a:buNone/>
            </a:pPr>
            <a:r>
              <a:rPr lang="en-US" sz="1000" b="1" dirty="0">
                <a:solidFill>
                  <a:schemeClr val="accent4"/>
                </a:solidFill>
              </a:rPr>
              <a:t>Then</a:t>
            </a:r>
            <a:endParaRPr lang="en-US" sz="1000" dirty="0"/>
          </a:p>
        </p:txBody>
      </p:sp>
      <p:sp>
        <p:nvSpPr>
          <p:cNvPr id="31" name="text"/>
          <p:cNvSpPr txBox="1"/>
          <p:nvPr/>
        </p:nvSpPr>
        <p:spPr>
          <a:xfrm>
            <a:off x="7223760" y="5001768"/>
            <a:ext cx="2286000" cy="320040"/>
          </a:xfrm>
          <a:prstGeom prst="rect">
            <a:avLst/>
          </a:prstGeom>
          <a:noFill/>
          <a:ln/>
        </p:spPr>
        <p:txBody>
          <a:bodyPr wrap="square" lIns="0" tIns="0" rIns="0" bIns="0" rtlCol="0" anchor="t"/>
          <a:lstStyle/>
          <a:p>
            <a:pPr indent="0" marL="0">
              <a:buNone/>
            </a:pPr>
            <a:r>
              <a:rPr lang="en-US" sz="1150" b="1" dirty="0">
                <a:solidFill>
                  <a:schemeClr val="bg1"/>
                </a:solidFill>
              </a:rPr>
              <a:t>SM-23 Managed Portfolios</a:t>
            </a:r>
            <a:endParaRPr lang="en-US" sz="1150" dirty="0"/>
          </a:p>
        </p:txBody>
      </p:sp>
      <p:sp>
        <p:nvSpPr>
          <p:cNvPr id="32" name="text"/>
          <p:cNvSpPr txBox="1"/>
          <p:nvPr/>
        </p:nvSpPr>
        <p:spPr>
          <a:xfrm>
            <a:off x="9509760" y="5020056"/>
            <a:ext cx="2103120" cy="548640"/>
          </a:xfrm>
          <a:prstGeom prst="rect">
            <a:avLst/>
          </a:prstGeom>
          <a:noFill/>
          <a:ln/>
        </p:spPr>
        <p:txBody>
          <a:bodyPr wrap="square" lIns="0" tIns="0" rIns="0" bIns="0" rtlCol="0" anchor="t"/>
          <a:lstStyle/>
          <a:p>
            <a:pPr indent="0" marL="0">
              <a:buNone/>
            </a:pPr>
            <a:r>
              <a:rPr lang="en-US" sz="950" dirty="0">
                <a:solidFill>
                  <a:schemeClr val="bg2"/>
                </a:solidFill>
              </a:rPr>
              <a:t>model assignment, drift and rebalancing beside the account</a:t>
            </a:r>
            <a:endParaRPr lang="en-US" sz="950" dirty="0"/>
          </a:p>
        </p:txBody>
      </p:sp>
      <p:sp>
        <p:nvSpPr>
          <p:cNvPr id="33" name="text"/>
          <p:cNvSpPr txBox="1"/>
          <p:nvPr/>
        </p:nvSpPr>
        <p:spPr>
          <a:xfrm>
            <a:off x="6583680" y="5568696"/>
            <a:ext cx="640080" cy="320040"/>
          </a:xfrm>
          <a:prstGeom prst="rect">
            <a:avLst/>
          </a:prstGeom>
          <a:noFill/>
          <a:ln/>
        </p:spPr>
        <p:txBody>
          <a:bodyPr wrap="square" lIns="0" tIns="0" rIns="0" bIns="0" rtlCol="0" anchor="t"/>
          <a:lstStyle/>
          <a:p>
            <a:pPr indent="0" marL="0">
              <a:buNone/>
            </a:pPr>
            <a:r>
              <a:rPr lang="en-US" sz="1000" b="1" dirty="0">
                <a:solidFill>
                  <a:schemeClr val="accent4"/>
                </a:solidFill>
              </a:rPr>
              <a:t>Then</a:t>
            </a:r>
            <a:endParaRPr lang="en-US" sz="1000" dirty="0"/>
          </a:p>
        </p:txBody>
      </p:sp>
      <p:sp>
        <p:nvSpPr>
          <p:cNvPr id="34" name="text"/>
          <p:cNvSpPr txBox="1"/>
          <p:nvPr/>
        </p:nvSpPr>
        <p:spPr>
          <a:xfrm>
            <a:off x="7223760" y="5568696"/>
            <a:ext cx="2286000" cy="320040"/>
          </a:xfrm>
          <a:prstGeom prst="rect">
            <a:avLst/>
          </a:prstGeom>
          <a:noFill/>
          <a:ln/>
        </p:spPr>
        <p:txBody>
          <a:bodyPr wrap="square" lIns="0" tIns="0" rIns="0" bIns="0" rtlCol="0" anchor="t"/>
          <a:lstStyle/>
          <a:p>
            <a:pPr indent="0" marL="0">
              <a:buNone/>
            </a:pPr>
            <a:r>
              <a:rPr lang="en-US" sz="1150" b="1" dirty="0">
                <a:solidFill>
                  <a:schemeClr val="bg1"/>
                </a:solidFill>
              </a:rPr>
              <a:t>SM-24 Brokerage Activity</a:t>
            </a:r>
            <a:endParaRPr lang="en-US" sz="1150" dirty="0"/>
          </a:p>
        </p:txBody>
      </p:sp>
      <p:sp>
        <p:nvSpPr>
          <p:cNvPr id="35" name="text"/>
          <p:cNvSpPr txBox="1"/>
          <p:nvPr/>
        </p:nvSpPr>
        <p:spPr>
          <a:xfrm>
            <a:off x="9509760" y="5586984"/>
            <a:ext cx="2103120" cy="548640"/>
          </a:xfrm>
          <a:prstGeom prst="rect">
            <a:avLst/>
          </a:prstGeom>
          <a:noFill/>
          <a:ln/>
        </p:spPr>
        <p:txBody>
          <a:bodyPr wrap="square" lIns="0" tIns="0" rIns="0" bIns="0" rtlCol="0" anchor="t"/>
          <a:lstStyle/>
          <a:p>
            <a:pPr indent="0" marL="0">
              <a:buNone/>
            </a:pPr>
            <a:r>
              <a:rPr lang="en-US" sz="950" dirty="0">
                <a:solidFill>
                  <a:schemeClr val="bg2"/>
                </a:solidFill>
              </a:rPr>
              <a:t>orders, money movement and the flow components left out of the slice</a:t>
            </a:r>
            <a:endParaRPr lang="en-US" sz="950" dirty="0"/>
          </a:p>
        </p:txBody>
      </p:sp>
      <p:sp>
        <p:nvSpPr>
          <p:cNvPr id="36" name="text"/>
          <p:cNvSpPr txBox="1"/>
          <p:nvPr/>
        </p:nvSpPr>
        <p:spPr>
          <a:xfrm>
            <a:off x="548640" y="6108192"/>
            <a:ext cx="11094415" cy="256032"/>
          </a:xfrm>
          <a:prstGeom prst="rect">
            <a:avLst/>
          </a:prstGeom>
          <a:noFill/>
          <a:ln/>
        </p:spPr>
        <p:txBody>
          <a:bodyPr wrap="square" lIns="0" tIns="0" rIns="0" bIns="0" rtlCol="0" anchor="t"/>
          <a:lstStyle/>
          <a:p>
            <a:pPr indent="0" marL="0">
              <a:buNone/>
            </a:pPr>
            <a:r>
              <a:rPr lang="en-US" sz="950" i="1" dirty="0">
                <a:solidFill>
                  <a:schemeClr val="accent6"/>
                </a:solidFill>
              </a:rPr>
              <a:t>On the demo page: Overview › Tailoring levers</a:t>
            </a:r>
            <a:endParaRPr lang="en-US" sz="9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The asks of the two of you</a:t>
            </a:r>
            <a:endParaRPr lang="en-US" sz="2800" dirty="0"/>
          </a:p>
        </p:txBody>
      </p:sp>
      <p:sp>
        <p:nvSpPr>
          <p:cNvPr id="4" name="card"/>
          <p:cNvSpPr/>
          <p:nvPr/>
        </p:nvSpPr>
        <p:spPr>
          <a:xfrm>
            <a:off x="548640" y="1417320"/>
            <a:ext cx="5422392" cy="3703320"/>
          </a:xfrm>
          <a:prstGeom prst="roundRect">
            <a:avLst>
              <a:gd name="adj" fmla="val 1975"/>
            </a:avLst>
          </a:prstGeom>
          <a:solidFill>
            <a:schemeClr val="bg2"/>
          </a:solidFill>
          <a:ln w="12700">
            <a:solidFill>
              <a:schemeClr val="bg2"/>
            </a:solidFill>
            <a:prstDash val="solid"/>
          </a:ln>
        </p:spPr>
      </p:sp>
      <p:sp>
        <p:nvSpPr>
          <p:cNvPr id="5" name="text"/>
          <p:cNvSpPr txBox="1"/>
          <p:nvPr/>
        </p:nvSpPr>
        <p:spPr>
          <a:xfrm>
            <a:off x="713232" y="1563624"/>
            <a:ext cx="5093208" cy="548640"/>
          </a:xfrm>
          <a:prstGeom prst="rect">
            <a:avLst/>
          </a:prstGeom>
          <a:noFill/>
          <a:ln/>
        </p:spPr>
        <p:txBody>
          <a:bodyPr wrap="square" lIns="0" tIns="0" rIns="0" bIns="0" rtlCol="0" anchor="t"/>
          <a:lstStyle/>
          <a:p>
            <a:pPr indent="0" marL="0">
              <a:buNone/>
            </a:pPr>
            <a:r>
              <a:rPr lang="en-US" sz="1800" b="1" dirty="0">
                <a:solidFill>
                  <a:schemeClr val="accent4"/>
                </a:solidFill>
              </a:rPr>
              <a:t>Head of distribution</a:t>
            </a:r>
            <a:endParaRPr lang="en-US" sz="1800" dirty="0"/>
          </a:p>
        </p:txBody>
      </p:sp>
      <p:sp>
        <p:nvSpPr>
          <p:cNvPr id="6" name="card body"/>
          <p:cNvSpPr txBox="1"/>
          <p:nvPr/>
        </p:nvSpPr>
        <p:spPr>
          <a:xfrm>
            <a:off x="713232" y="2130552"/>
            <a:ext cx="5093208" cy="2825496"/>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Confirm the verified questions: are the questions in SM-20, SM-21, SM-27 and SM-28 the ones you would ask? Add the ones that are missing; each becomes a verified question or a named gap</a:t>
            </a:r>
            <a:endParaRPr lang="en-US" sz="1200" dirty="0"/>
          </a:p>
          <a:p>
            <a:pPr marL="152400" indent="-152400">
              <a:spcAft>
                <a:spcPts val="400"/>
              </a:spcAft>
              <a:buSzPct val="100000"/>
              <a:buChar char="•"/>
            </a:pPr>
            <a:r>
              <a:rPr lang="en-US" sz="1200" dirty="0">
                <a:solidFill>
                  <a:schemeClr val="tx1"/>
                </a:solidFill>
              </a:rPr>
              <a:t>Name the owner of each certified family: Client Assets and Net New Assets, the household measures, relationship health, fee revenue and profitability. Two rulings (CW-278, CW-280) are waiting on an owner</a:t>
            </a:r>
            <a:endParaRPr lang="en-US" sz="1200" dirty="0"/>
          </a:p>
          <a:p>
            <a:pPr marL="152400" indent="-152400">
              <a:spcAft>
                <a:spcPts val="400"/>
              </a:spcAft>
              <a:buSzPct val="100000"/>
              <a:buChar char="•"/>
            </a:pPr>
            <a:r>
              <a:rPr lang="en-US" sz="1200" dirty="0">
                <a:solidFill>
                  <a:schemeClr val="tx1"/>
                </a:solidFill>
              </a:rPr>
              <a:t>Choose the next wave: SM-22 Advice &amp; Planning closes the most declined questions; SM-23 and SM-24 follow</a:t>
            </a:r>
            <a:endParaRPr lang="en-US" sz="1200" dirty="0"/>
          </a:p>
        </p:txBody>
      </p:sp>
      <p:sp>
        <p:nvSpPr>
          <p:cNvPr id="7" name="card"/>
          <p:cNvSpPr/>
          <p:nvPr/>
        </p:nvSpPr>
        <p:spPr>
          <a:xfrm>
            <a:off x="6217920" y="1417320"/>
            <a:ext cx="5422392" cy="3703320"/>
          </a:xfrm>
          <a:prstGeom prst="roundRect">
            <a:avLst>
              <a:gd name="adj" fmla="val 1975"/>
            </a:avLst>
          </a:prstGeom>
          <a:solidFill>
            <a:schemeClr val="bg2"/>
          </a:solidFill>
          <a:ln w="12700">
            <a:solidFill>
              <a:schemeClr val="bg2"/>
            </a:solidFill>
            <a:prstDash val="solid"/>
          </a:ln>
        </p:spPr>
      </p:sp>
      <p:sp>
        <p:nvSpPr>
          <p:cNvPr id="8" name="text"/>
          <p:cNvSpPr txBox="1"/>
          <p:nvPr/>
        </p:nvSpPr>
        <p:spPr>
          <a:xfrm>
            <a:off x="6382512" y="1563624"/>
            <a:ext cx="5093208" cy="548640"/>
          </a:xfrm>
          <a:prstGeom prst="rect">
            <a:avLst/>
          </a:prstGeom>
          <a:noFill/>
          <a:ln/>
        </p:spPr>
        <p:txBody>
          <a:bodyPr wrap="square" lIns="0" tIns="0" rIns="0" bIns="0" rtlCol="0" anchor="t"/>
          <a:lstStyle/>
          <a:p>
            <a:pPr indent="0" marL="0">
              <a:buNone/>
            </a:pPr>
            <a:r>
              <a:rPr lang="en-US" sz="1800" b="1" dirty="0">
                <a:solidFill>
                  <a:schemeClr val="accent1"/>
                </a:solidFill>
              </a:rPr>
              <a:t>Head of data management</a:t>
            </a:r>
            <a:endParaRPr lang="en-US" sz="1800" dirty="0"/>
          </a:p>
        </p:txBody>
      </p:sp>
      <p:sp>
        <p:nvSpPr>
          <p:cNvPr id="9" name="card body"/>
          <p:cNvSpPr txBox="1"/>
          <p:nvPr/>
        </p:nvSpPr>
        <p:spPr>
          <a:xfrm>
            <a:off x="6382512" y="2130552"/>
            <a:ext cx="5093208" cy="2825496"/>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Data dictionaries and sample extracts for the sources behind the first wave, in whatever shape they come; the registry standard (CW-275) sets the target</a:t>
            </a:r>
            <a:endParaRPr lang="en-US" sz="1200" dirty="0"/>
          </a:p>
          <a:p>
            <a:pPr marL="152400" indent="-152400">
              <a:spcAft>
                <a:spcPts val="400"/>
              </a:spcAft>
              <a:buSzPct val="100000"/>
              <a:buChar char="•"/>
            </a:pPr>
            <a:r>
              <a:rPr lang="en-US" sz="1200" dirty="0">
                <a:solidFill>
                  <a:schemeClr val="tx1"/>
                </a:solidFill>
              </a:rPr>
              <a:t>A steward per source to confirm the registry the assistant drafts, and to own its declared gaps</a:t>
            </a:r>
            <a:endParaRPr lang="en-US" sz="1200" dirty="0"/>
          </a:p>
          <a:p>
            <a:pPr marL="152400" indent="-152400">
              <a:spcAft>
                <a:spcPts val="400"/>
              </a:spcAft>
              <a:buSzPct val="100000"/>
              <a:buChar char="•"/>
            </a:pPr>
            <a:r>
              <a:rPr lang="en-US" sz="1200" dirty="0">
                <a:solidFill>
                  <a:schemeClr val="tx1"/>
                </a:solidFill>
              </a:rPr>
              <a:t>Where it runs: the warehouse the generated SQL targets, and the semantic engine the export should feed; the demo shows DuckDB, Spark in a Databricks shape, and dbt</a:t>
            </a:r>
            <a:endParaRPr lang="en-US" sz="1200" dirty="0"/>
          </a:p>
        </p:txBody>
      </p:sp>
      <p:sp>
        <p:nvSpPr>
          <p:cNvPr id="10" name="card"/>
          <p:cNvSpPr/>
          <p:nvPr/>
        </p:nvSpPr>
        <p:spPr>
          <a:xfrm>
            <a:off x="548640" y="5349240"/>
            <a:ext cx="11094415" cy="868680"/>
          </a:xfrm>
          <a:prstGeom prst="roundRect">
            <a:avLst>
              <a:gd name="adj" fmla="val 8421"/>
            </a:avLst>
          </a:prstGeom>
          <a:solidFill>
            <a:schemeClr val="tx2"/>
          </a:solidFill>
          <a:ln w="12700">
            <a:solidFill>
              <a:schemeClr val="tx2"/>
            </a:solidFill>
            <a:prstDash val="solid"/>
          </a:ln>
        </p:spPr>
      </p:sp>
      <p:sp>
        <p:nvSpPr>
          <p:cNvPr id="11" name="text"/>
          <p:cNvSpPr txBox="1"/>
          <p:nvPr/>
        </p:nvSpPr>
        <p:spPr>
          <a:xfrm>
            <a:off x="822960" y="5477256"/>
            <a:ext cx="4572000" cy="274320"/>
          </a:xfrm>
          <a:prstGeom prst="rect">
            <a:avLst/>
          </a:prstGeom>
          <a:noFill/>
          <a:ln/>
        </p:spPr>
        <p:txBody>
          <a:bodyPr wrap="square" lIns="0" tIns="0" rIns="0" bIns="0" rtlCol="0" anchor="t"/>
          <a:lstStyle/>
          <a:p>
            <a:pPr indent="0" marL="0">
              <a:buNone/>
            </a:pPr>
            <a:r>
              <a:rPr lang="en-US" sz="1100" b="1" dirty="0">
                <a:solidFill>
                  <a:schemeClr val="accent4"/>
                </a:solidFill>
              </a:rPr>
              <a:t>ONE DECISION BETWEEN YOU</a:t>
            </a:r>
            <a:endParaRPr lang="en-US" sz="1100" dirty="0"/>
          </a:p>
        </p:txBody>
      </p:sp>
      <p:sp>
        <p:nvSpPr>
          <p:cNvPr id="12" name="text"/>
          <p:cNvSpPr txBox="1"/>
          <p:nvPr/>
        </p:nvSpPr>
        <p:spPr>
          <a:xfrm>
            <a:off x="822960" y="5733288"/>
            <a:ext cx="10545775" cy="411480"/>
          </a:xfrm>
          <a:prstGeom prst="rect">
            <a:avLst/>
          </a:prstGeom>
          <a:noFill/>
          <a:ln/>
        </p:spPr>
        <p:txBody>
          <a:bodyPr wrap="square" lIns="0" tIns="0" rIns="0" bIns="0" rtlCol="0" anchor="t"/>
          <a:lstStyle/>
          <a:p>
            <a:pPr indent="0" marL="0">
              <a:buNone/>
            </a:pPr>
            <a:r>
              <a:rPr lang="en-US" sz="1250" dirty="0">
                <a:solidFill>
                  <a:schemeClr val="bg1"/>
                </a:solidFill>
              </a:rPr>
              <a:t>Decide together: the three open rulings. Wide or long form for the certified measure value (CW-278), the brokerage customer number scheme (CW-279), and the home of held-away assets (CW-280).</a:t>
            </a:r>
            <a:endParaRPr lang="en-US" sz="12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Reading this deck beside the demo page</a:t>
            </a:r>
            <a:endParaRPr lang="en-US" sz="2800" dirty="0"/>
          </a:p>
        </p:txBody>
      </p:sp>
      <p:graphicFrame>
        <p:nvGraphicFramePr>
          <p:cNvPr id="27"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560320"/>
                <a:gridCol w="4572000"/>
                <a:gridCol w="395935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Slide</a:t>
                      </a:r>
                      <a:endParaRPr lang="en-US" sz="10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Figures</a:t>
                      </a:r>
                      <a:endParaRPr lang="en-US" sz="10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Where on the demo page</a:t>
                      </a:r>
                      <a:endParaRPr lang="en-US" sz="100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Cover, agenda, demo in one picture</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81 of 111 metrics; 504 certified rows; 722 tests; 3 of 3 planted gaps; 118 gaps; 22 declined; the four models and their tables kept</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Overview: the six tiles and The slice</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Hand-written and generated; the product manages itself</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606 registry rows over 8 sources; 62 sentence metrics; 88 semantic tables, 84 entities, 88 views, 97 joins; the enabled, partial and not started counts; 33 failing tests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Overview: Hand-written and generated; Activation summary</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Moment 1, Map</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Objects and registry rows per source; 418 attributes mapped, 0 errors; the assistant's precision and recall</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Map: The eight source systems; The mapping registry; The AI mapping assistant (check_mapping.py prints the 418 and 0)</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Moment 2, Compile</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Derived entity rows; the proof table; 722 tests, 33 with failures, 3 planted gaps; 86 of 88 views, 91 of 97 joins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Compile: The derivation chain; The proof; The generated tests; the 'tables compile to views' line</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Moment 3 and the two answer slides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Net new assets, client assets and own-fund share by channel; the public pension answers; household counts; fees, billing, cost to serve, contribution</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Ask: Answers, computed when this page was built (22 answered, 3 declined)</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An honest no; the assistant; six rulings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The declined questions and gap ids; the six tools; CW-275 to CW-280</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Ask: Questions the models decline; The assistant's tools; Findings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Why a taxonomy matters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50 domains, 1,583 objects, 13,009 attributes, 4,268 CDEs, 91 code lists, 557 decisions, 237 term conflicts</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B3C"/>
                          </a:solidFill>
                          <a:latin typeface="Arial" pitchFamily="34" charset="0"/>
                          <a:ea typeface="Arial" pitchFamily="34" charset="-122"/>
                          <a:cs typeface="Arial" pitchFamily="34" charset="-120"/>
                        </a:rPr>
                        <a:t>Not on the page: check_baseline.py --check wealth-v1.0, 2026-10-17</a:t>
                      </a:r>
                      <a:endParaRPr lang="en-US" sz="100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lIns="0" tIns="0" rIns="0" bIns="0" rtlCol="0" anchor="b"/>
          <a:lstStyle/>
          <a:p>
            <a:pPr algn="l" indent="0" marL="0">
              <a:buNone/>
            </a:pPr>
            <a:r>
              <a:rPr lang="en-US" sz="4000" b="1" dirty="0">
                <a:solidFill>
                  <a:schemeClr val="bg1"/>
                </a:solidFill>
              </a:rPr>
              <a:t>Define once. Map once. Everything above is generated, proven and explained.</a:t>
            </a:r>
            <a:endParaRPr lang="en-US" sz="4000" dirty="0"/>
          </a:p>
        </p:txBody>
      </p:sp>
      <p:sp>
        <p:nvSpPr>
          <p:cNvPr id="3" name="Text 0"/>
          <p:cNvSpPr/>
          <p:nvPr>
            <p:ph idx="101" type="body" hasCustomPrompt="1"/>
          </p:nvPr>
        </p:nvSpPr>
        <p:spPr>
          <a:xfrm>
            <a:off x="548640" y="3611880"/>
            <a:ext cx="11094415" cy="1463040"/>
          </a:xfrm>
          <a:prstGeom prst="rect">
            <a:avLst/>
          </a:prstGeom>
          <a:noFill/>
          <a:ln/>
        </p:spPr>
        <p:txBody>
          <a:bodyPr wrap="square" lIns="0" tIns="0" rIns="0" bIns="0" rtlCol="0" anchor="t"/>
          <a:lstStyle/>
          <a:p>
            <a:pPr indent="0" marL="0">
              <a:buNone/>
            </a:pPr>
            <a:r>
              <a:rPr lang="en-US" sz="1800" dirty="0">
                <a:solidFill>
                  <a:schemeClr val="bg2"/>
                </a:solidFill>
              </a:rPr>
              <a:t>Eight sources mapped, four semantic models switched on, 504 certified rows proven to the cent, 22 questions answered with their lineage, and every no with its reason. The next wave is yours to choose.</a:t>
            </a:r>
            <a:endParaRPr lang="en-US" sz="1800" dirty="0"/>
          </a:p>
        </p:txBody>
      </p:sp>
      <p:sp>
        <p:nvSpPr>
          <p:cNvPr id="4" name="chip"/>
          <p:cNvSpPr/>
          <p:nvPr/>
        </p:nvSpPr>
        <p:spPr>
          <a:xfrm>
            <a:off x="548640" y="5257800"/>
            <a:ext cx="384048" cy="384048"/>
          </a:xfrm>
          <a:prstGeom prst="ellipse">
            <a:avLst/>
          </a:prstGeom>
          <a:solidFill>
            <a:schemeClr val="accent1"/>
          </a:solidFill>
          <a:ln w="12700">
            <a:solidFill>
              <a:schemeClr val="accent1"/>
            </a:solidFill>
            <a:prstDash val="solid"/>
          </a:ln>
        </p:spPr>
      </p:sp>
      <p:sp>
        <p:nvSpPr>
          <p:cNvPr id="5" name="text"/>
          <p:cNvSpPr txBox="1"/>
          <p:nvPr/>
        </p:nvSpPr>
        <p:spPr>
          <a:xfrm>
            <a:off x="54864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
          <p:cNvSpPr txBox="1"/>
          <p:nvPr/>
        </p:nvSpPr>
        <p:spPr>
          <a:xfrm>
            <a:off x="1042416" y="5239512"/>
            <a:ext cx="1828800" cy="420624"/>
          </a:xfrm>
          <a:prstGeom prst="rect">
            <a:avLst/>
          </a:prstGeom>
          <a:noFill/>
          <a:ln/>
        </p:spPr>
        <p:txBody>
          <a:bodyPr wrap="square" lIns="0" tIns="0" rIns="0" bIns="0" rtlCol="0" anchor="ctr"/>
          <a:lstStyle/>
          <a:p>
            <a:pPr indent="0" marL="0">
              <a:buNone/>
            </a:pPr>
            <a:r>
              <a:rPr lang="en-US" sz="1200" b="1" dirty="0">
                <a:solidFill>
                  <a:schemeClr val="bg1"/>
                </a:solidFill>
              </a:rPr>
              <a:t>Define</a:t>
            </a:r>
            <a:endParaRPr lang="en-US" sz="1200" dirty="0"/>
          </a:p>
        </p:txBody>
      </p:sp>
      <p:sp>
        <p:nvSpPr>
          <p:cNvPr id="7" name="chip"/>
          <p:cNvSpPr/>
          <p:nvPr/>
        </p:nvSpPr>
        <p:spPr>
          <a:xfrm>
            <a:off x="2788920" y="5257800"/>
            <a:ext cx="384048" cy="384048"/>
          </a:xfrm>
          <a:prstGeom prst="ellipse">
            <a:avLst/>
          </a:prstGeom>
          <a:solidFill>
            <a:schemeClr val="accent2"/>
          </a:solidFill>
          <a:ln w="12700">
            <a:solidFill>
              <a:schemeClr val="accent2"/>
            </a:solidFill>
            <a:prstDash val="solid"/>
          </a:ln>
        </p:spPr>
      </p:sp>
      <p:sp>
        <p:nvSpPr>
          <p:cNvPr id="8" name="text"/>
          <p:cNvSpPr txBox="1"/>
          <p:nvPr/>
        </p:nvSpPr>
        <p:spPr>
          <a:xfrm>
            <a:off x="278892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text"/>
          <p:cNvSpPr txBox="1"/>
          <p:nvPr/>
        </p:nvSpPr>
        <p:spPr>
          <a:xfrm>
            <a:off x="3282696" y="5239512"/>
            <a:ext cx="1828800" cy="420624"/>
          </a:xfrm>
          <a:prstGeom prst="rect">
            <a:avLst/>
          </a:prstGeom>
          <a:noFill/>
          <a:ln/>
        </p:spPr>
        <p:txBody>
          <a:bodyPr wrap="square" lIns="0" tIns="0" rIns="0" bIns="0" rtlCol="0" anchor="ctr"/>
          <a:lstStyle/>
          <a:p>
            <a:pPr indent="0" marL="0">
              <a:buNone/>
            </a:pPr>
            <a:r>
              <a:rPr lang="en-US" sz="1200" b="1" dirty="0">
                <a:solidFill>
                  <a:schemeClr val="bg1"/>
                </a:solidFill>
              </a:rPr>
              <a:t>Map</a:t>
            </a:r>
            <a:endParaRPr lang="en-US" sz="1200" dirty="0"/>
          </a:p>
        </p:txBody>
      </p:sp>
      <p:sp>
        <p:nvSpPr>
          <p:cNvPr id="10" name="chip"/>
          <p:cNvSpPr/>
          <p:nvPr/>
        </p:nvSpPr>
        <p:spPr>
          <a:xfrm>
            <a:off x="5029200" y="5257800"/>
            <a:ext cx="384048" cy="384048"/>
          </a:xfrm>
          <a:prstGeom prst="ellipse">
            <a:avLst/>
          </a:prstGeom>
          <a:solidFill>
            <a:schemeClr val="accent5"/>
          </a:solidFill>
          <a:ln w="12700">
            <a:solidFill>
              <a:schemeClr val="accent5"/>
            </a:solidFill>
            <a:prstDash val="solid"/>
          </a:ln>
        </p:spPr>
      </p:sp>
      <p:sp>
        <p:nvSpPr>
          <p:cNvPr id="11" name="text"/>
          <p:cNvSpPr txBox="1"/>
          <p:nvPr/>
        </p:nvSpPr>
        <p:spPr>
          <a:xfrm>
            <a:off x="502920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text"/>
          <p:cNvSpPr txBox="1"/>
          <p:nvPr/>
        </p:nvSpPr>
        <p:spPr>
          <a:xfrm>
            <a:off x="5522976" y="5239512"/>
            <a:ext cx="1828800" cy="420624"/>
          </a:xfrm>
          <a:prstGeom prst="rect">
            <a:avLst/>
          </a:prstGeom>
          <a:noFill/>
          <a:ln/>
        </p:spPr>
        <p:txBody>
          <a:bodyPr wrap="square" lIns="0" tIns="0" rIns="0" bIns="0" rtlCol="0" anchor="ctr"/>
          <a:lstStyle/>
          <a:p>
            <a:pPr indent="0" marL="0">
              <a:buNone/>
            </a:pPr>
            <a:r>
              <a:rPr lang="en-US" sz="1200" b="1" dirty="0">
                <a:solidFill>
                  <a:schemeClr val="bg1"/>
                </a:solidFill>
              </a:rPr>
              <a:t>Compile</a:t>
            </a:r>
            <a:endParaRPr lang="en-US" sz="1200" dirty="0"/>
          </a:p>
        </p:txBody>
      </p:sp>
      <p:sp>
        <p:nvSpPr>
          <p:cNvPr id="13" name="chip"/>
          <p:cNvSpPr/>
          <p:nvPr/>
        </p:nvSpPr>
        <p:spPr>
          <a:xfrm>
            <a:off x="7269480" y="5257800"/>
            <a:ext cx="384048" cy="384048"/>
          </a:xfrm>
          <a:prstGeom prst="ellipse">
            <a:avLst/>
          </a:prstGeom>
          <a:solidFill>
            <a:schemeClr val="accent4"/>
          </a:solidFill>
          <a:ln w="12700">
            <a:solidFill>
              <a:schemeClr val="accent4"/>
            </a:solidFill>
            <a:prstDash val="solid"/>
          </a:ln>
        </p:spPr>
      </p:sp>
      <p:sp>
        <p:nvSpPr>
          <p:cNvPr id="14" name="text"/>
          <p:cNvSpPr txBox="1"/>
          <p:nvPr/>
        </p:nvSpPr>
        <p:spPr>
          <a:xfrm>
            <a:off x="726948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text"/>
          <p:cNvSpPr txBox="1"/>
          <p:nvPr/>
        </p:nvSpPr>
        <p:spPr>
          <a:xfrm>
            <a:off x="7763256" y="5239512"/>
            <a:ext cx="1828800" cy="420624"/>
          </a:xfrm>
          <a:prstGeom prst="rect">
            <a:avLst/>
          </a:prstGeom>
          <a:noFill/>
          <a:ln/>
        </p:spPr>
        <p:txBody>
          <a:bodyPr wrap="square" lIns="0" tIns="0" rIns="0" bIns="0" rtlCol="0" anchor="ctr"/>
          <a:lstStyle/>
          <a:p>
            <a:pPr indent="0" marL="0">
              <a:buNone/>
            </a:pPr>
            <a:r>
              <a:rPr lang="en-US" sz="1200" b="1" dirty="0">
                <a:solidFill>
                  <a:schemeClr val="bg1"/>
                </a:solidFill>
              </a:rPr>
              <a:t>Ask</a:t>
            </a:r>
            <a:endParaRPr lang="en-US" sz="1200" dirty="0"/>
          </a:p>
        </p:txBody>
      </p:sp>
      <p:sp>
        <p:nvSpPr>
          <p:cNvPr id="16" name="text"/>
          <p:cNvSpPr txBox="1"/>
          <p:nvPr/>
        </p:nvSpPr>
        <p:spPr>
          <a:xfrm>
            <a:off x="548640" y="6035040"/>
            <a:ext cx="11094415" cy="320040"/>
          </a:xfrm>
          <a:prstGeom prst="rect">
            <a:avLst/>
          </a:prstGeom>
          <a:noFill/>
          <a:ln/>
        </p:spPr>
        <p:txBody>
          <a:bodyPr wrap="square" lIns="0" tIns="0" rIns="0" bIns="0" rtlCol="0" anchor="t"/>
          <a:lstStyle/>
          <a:p>
            <a:pPr indent="0" marL="0">
              <a:buNone/>
            </a:pPr>
            <a:r>
              <a:rPr lang="en-US" sz="1200" dirty="0">
                <a:solidFill>
                  <a:schemeClr val="bg2"/>
                </a:solidFill>
              </a:rPr>
              <a:t>Wealth Manager Reference Model  |  Demo walkthrough, October 2026</a:t>
            </a:r>
            <a:endParaRPr lang="en-US" sz="1200" dirty="0"/>
          </a:p>
        </p:txBody>
      </p:sp>
    </p:spTree>
  </p:cSld>
  <p:clrMapOvr>
    <a:masterClrMapping/>
  </p:clrMapOvr>
</p:sld>
</file>

<file path=ppt/theme/theme1.xml><?xml version="1.0" encoding="utf-8"?>
<a:theme xmlns:a="http://schemas.openxmlformats.org/drawingml/2006/main" name="Wealth Reference Model">
  <a:themeElements>
    <a:clrScheme name="Wealth Reference Model">
      <a:dk1>
        <a:srgbClr val="1A2B3C"/>
      </a:dk1>
      <a:lt1>
        <a:srgbClr val="FFFFFF"/>
      </a:lt1>
      <a:dk2>
        <a:srgbClr val="0C233C"/>
      </a:dk2>
      <a:lt2>
        <a:srgbClr val="EEF1F8"/>
      </a:lt2>
      <a:accent1>
        <a:srgbClr val="1E49E2"/>
      </a:accent1>
      <a:accent2>
        <a:srgbClr val="00796F"/>
      </a:accent2>
      <a:accent3>
        <a:srgbClr val="7213EA"/>
      </a:accent3>
      <a:accent4>
        <a:srgbClr val="C8166F"/>
      </a:accent4>
      <a:accent5>
        <a:srgbClr val="0077A8"/>
      </a:accent5>
      <a:accent6>
        <a:srgbClr val="535E6C"/>
      </a:accent6>
      <a:hlink>
        <a:srgbClr val="1E49E2"/>
      </a:hlink>
      <a:folHlink>
        <a:srgbClr val="7213EA"/>
      </a:folHlink>
    </a:clrScheme>
    <a:fontScheme name="Wealth Reference Mode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taxonomy to trusted answers</dc:title>
  <dc:subject>A walkthrough of the source-to-semantic activation demo</dc:subject>
  <dc:creator>Program lead</dc:creator>
  <cp:lastModifiedBy>Program lead</cp:lastModifiedBy>
  <cp:revision>1</cp:revision>
  <dcterms:created xsi:type="dcterms:W3CDTF">2026-10-18T06:44:19Z</dcterms:created>
  <dcterms:modified xsi:type="dcterms:W3CDTF">2026-10-18T06:44:19Z</dcterms:modified>
</cp:coreProperties>
</file>