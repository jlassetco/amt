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af57032-c62a-cfc5-c681-d135585300b0}">
          <p14:sldIdLst>
            <p14:sldId id="256"/>
            <p14:sldId id="257"/>
            <p14:sldId id="258"/>
          </p14:sldIdLst>
        </p14:section>
        <p14:section name="1 Data foundations" id="{ecd2d6fd-b93e-207d-cd0e-c5f064dbcf58}">
          <p14:sldIdLst>
            <p14:sldId id="259"/>
            <p14:sldId id="260"/>
            <p14:sldId id="261"/>
            <p14:sldId id="262"/>
            <p14:sldId id="263"/>
          </p14:sldIdLst>
        </p14:section>
        <p14:section name="2 Management overview" id="{166eae1f-33b8-1865-1033-ff052b0b67f4}">
          <p14:sldIdLst>
            <p14:sldId id="264"/>
            <p14:sldId id="265"/>
            <p14:sldId id="266"/>
            <p14:sldId id="267"/>
            <p14:sldId id="268"/>
            <p14:sldId id="269"/>
            <p14:sldId id="270"/>
            <p14:sldId id="271"/>
          </p14:sldIdLst>
        </p14:section>
        <p14:section name="3 The wealth manager" id="{d3edac6e-b5a7-ae1c-d143-45998399d423}">
          <p14:sldIdLst>
            <p14:sldId id="272"/>
            <p14:sldId id="273"/>
            <p14:sldId id="274"/>
            <p14:sldId id="275"/>
            <p14:sldId id="276"/>
            <p14:sldId id="277"/>
            <p14:sldId id="278"/>
            <p14:sldId id="279"/>
          </p14:sldIdLst>
        </p14:section>
        <p14:section name="4 One question, end to end" id="{37f708fe-4cf4-a968-7828-bb22d0078452}">
          <p14:sldIdLst>
            <p14:sldId id="280"/>
            <p14:sldId id="281"/>
            <p14:sldId id="282"/>
            <p14:sldId id="283"/>
            <p14:sldId id="284"/>
            <p14:sldId id="285"/>
            <p14:sldId id="286"/>
            <p14:sldId id="287"/>
          </p14:sldIdLst>
        </p14:section>
        <p14:section name="5 What this means for you" id="{6aafd562-5f2e-530f-6e85-4ef190d54620}">
          <p14:sldIdLst>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session has one aim: to show how a data taxonomy becomes something the distribution business can run on, not a dictionary that sits on a shelf.
I will do that in four parts. First the foundations: what the taxonomy is and the rules it enforces. Second the management overview: how we build governed data products on it, publish them through a semantic layer, and hand them to dashboards, workflows and control evidence. Third, the wealth manager specifically: where the household, the account, the advice relationship and the brokerage book of record sit in the model. Fourth, one question from your seat, followed end to end through every layer.
Two caveats before I start. This is a reference model for a hypothetical direct wealth manager; no real firm's data or systems are in it. And every client name and dollar figure you see is illustrative. The five chips at the bottom are the five layers we will keep coming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about forty-five minutes with questions. Parts one and two are generic to any asset or wealth manager; three and four are specific to your business.
If you remember one sentence from today, make it the rule on the right. Every layer we build applies it. The taxonomy says what a concept means and which domain masters it. A data product assembles those concepts; it never redefines them. A certified number is defined in one product only and read from there everywhere else. When a product needs something the taxonomy does not have, that is a gap for the owning domain to fix, not a field to invent in a report.
That rule is why the same number cannot come out differently in two places, and it is what I will test in the use case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situation every distribution head recognizes. Ask five teams for net new assets last quarter and you get five numbers, each defensible, none reconcilable. The figures on the slide are illustrative, but the reasons are real and they recur everywhere: one team counts reinvested income, another does not; one treats a rollover from the firm's own plan as new money, another treats it as a transfer; one uses trade date, another settlement date; one includes intermediary-held fund assets, another does not.
The cost is not the arithmetic. It is the month-end hour spent arguing about which number is right, and the fact that no one can tell a regulator or a board which definition a given report used.
Notice that every one of the five differences is a definition question, not a technology question. That is exactly what a taxonomy settles.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I will keep this short because the taxonomy is the layer most of you have seen in some form. What matters is the four things it fixes: the hierarchy, the ownership rule, the scope, and the way it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and only four. A Data Domain is a business area that produces and maintains a set of concepts. Inside it, a Data Family groups related objects. A Data Business Object is one thing with its own identity and a stated grain, what one row represents. And a Data Business Attribute is one field with one definition.
Follow one attribute down. Domain 02 Client &amp; Household. Family: Households &amp; Relationships. Object: Household, the Client Household, a party of type Household, and the grain says so. Attribute: Primary Member, the member designated as the household's primary contact. It has a data type, a reference to the party master, an example value, a source we aligned it to, and a personal-data flag.
Every one of the thirteen thousand attributes carries that same record. That uniformity is what lets the later layers be validated by machine rather than by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ownership rule is the heart of the taxonomy. Every attribute is flagged one of three ways. Mastered here: this domain produces and maintains it. Reference: this domain points to a concept another domain masters, by its enterprise ID, and adds only what belongs to the relationship. Derived copy: a value copied from the owner for a stated reason, with the as-of date kept.
The advice domain shows all three at once. The investor profile, the client's objectives and risk tolerance, is mastered in 02. A recommendation in 45 references the profile version it relied on; it never copies the objective, because then two versions could disagree. The rollover amount on a rollover analysis is a derived copy of the vested balance that 16 Retirement Plan Administration masters, and the row rule says so.
Consumption never changes ownership. A report reading the investor profile does not make the report the owner. That one sentence removes most of the month-end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model on one page. Fifty Data Domains, grouped into eight areas. The areas are a presentation choice, not a second taxonomy; they decide which view of the explorer a team opens.
The Client &amp; Advice area is the center of gravity for a wealth manager, and it is where part four lives: the household, the account, planning and advice, managed portfolios, fees, the advisor organization, marketing, service, conduct, and the product and offering reference. Brokerage &amp; Workplace Operations holds the books of record for client assets, orders and money. Foundations runs along the bottom because every other area reads it: reference data, instruments, licensed data and governance.
The numbers on the right are the current build. Four thousand of the thirteen thousand attributes are flagged as critical data elements, which is where the quality effort concentrates.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taxonomy that lives in a spreadsheet dies in a spreadsheet. Ours is content as code. Every domain is a content module; the workbooks, the explorer and the catalogs are generated from it, never edited by hand. A builder validates each module before it writes anything: duplicate codes, undefined code lists, references that do not resolve, missing grain.
Three registers sit alongside. Shared code lists, so that channel, status and frequency mean the same thing in every domain. A decision log, so that every change to an owner or a definition traces to a numbered decision with a rationale. And a term-conflict list, because the same word means different things in different rooms: a plan is a financial plan in advice and a retirement plan in recordkeeping, and the glossary says which is which.
Personal data is flagged attribute by attribute with a tier, and every retail-conduct and customer-protection object cites the FINRA or SEC rule by number. For your data team, this is the part that makes the later layers cheap to keep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is the management overview. The question to hold in mind: if the taxonomy fixes meaning, what turns meaning into numbers people trust? The answer is three more layers, each with its own job, and a governance model that keeps them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operating model, drawn the same way it appears in the explorer's guide. Read it twice: data moves left to right, meaning moves top to bottom.
The taxonomy is not the first step in a pipeline; it is the plane across the top that governs every layer. Follow the blue arrows down. Source systems are mapped to its attributes. Foundational products trace their lineage to its definitions, and when a product needs something the taxonomy lacks, the gap goes back up to the owning domain, which is the dashed arrow. The semantic layer takes its business names and metric definitions from it. And the business glossary shows it to the people consuming the numbers.
Now left to right. Sources are ingested into data products, which have two tiers: foundational products conform a record or a number once, certify it and lock snapshots; consumer-aligned products build on them and are shaped for one function. From there, two paths. Products whose consumer is an analyst are published through the semantic layer, which exposes one governed set of certified metrics, conformed dimensions, hierarchies, synonyms and access rules to dashboards, Excel and AI assistants. Products whose consumer is a system or a process go straight into the workflow or the regulatory output: household and account data into the CRM and the advisor desktop, fee debits to the brokerage book of record, best-interest evidence to the compliance file.
The point of the two paths is the last line of the caption: both take their numbers from the same certified products. The semantic layer exposes certified numbers; it never defines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 product is not a table and not a dashboard. It is a governed, reusable data asset with a named owner, a defined grain, service levels and quality rules, built once for a set of consumers and traced to the exact taxonomy objects and attributes it uses.
Every product has the same specification. The left column is the standard. On the right is a real one, condensed: the advice record, DP-303. It belongs to the Head of Advice. Its grain is the recommendation by client by the moment it was presented, with the evidence components underneath. Its measures include recommendation acceptance rate, rollover recommendations without analysis and unattested evidence components, each with a formula that names the attributes it reads. It has six testable quality rules, which become its certification criteria.
Two things to notice for the data team. The measures' formulas name attributes, and the build checks that every one of them is among the product's inputs. And the quality rules are written as tests: a recommendation whose profile version was not active when it was presented fails the rule, full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has two tiers. Foundational products conform one core thing once: a master, a book of record, a certified number. They may depend only on other foundational products, and there are no cycles; the builder enforces both. Consumer products are shaped around one function's decisions and built from the foundational ones.
Across both tiers there are five types, and the type tells you what a product is for. Master and reference products are golden records with history. Conformed facts are reconciled transactions and time series. Analytical products carry aggregated measures for management decisions, and they are what dashboards read. Operational products deliver data into a workflow to drive daily action: a call list, an advisor worklist, a billing run, a supervisory queue. Regulatory and control products are evidence: they demonstrate that a rule was followed.
The point for this room: the analytical products are not the majority. Most of the value sits in operational and control products that never appear on a dashboard. When we talk about uses later, that is why there are three,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certified number is one the firm will sign its name to: the figure in the board pack, the regulatory filing and the client statement. The rule is simple and strict. Each certified family is defined in exactly one product, owned by one role, and every other product reads it from there and names its source. No consumer product ever recalculates it.
For a wealth manager the families are these. Client Assets, Net New Assets, Advised Assets and the household, client and account counts come from one product owned by client and channel analytics. Firm AUM, the manufacturing number, is reconciled against Client Assets in its own product. Personal rate of return belongs to performance measurement, not to the planning tool. Fee revenue reconciles to the general ledger.
What this buys you: when the dashboard, the advisor's screen and the finance pack all show net new assets, they show the same figure because none of them owns it. And when the definition has to change, it changes in one place, through a decision, with a restatement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trace that makes the whole thing auditable. Start at the top right: a metric someone sees on a dashboard, say Net New Assets by channel. The semantic model defines that metric once and points to the product measure it comes from. The product measure has a formula that names the taxonomy attributes it reads. Each attribute belongs to a Data Domain that masters it and an owner role that answers for it. Four hops, every one of them recorded and validated at build time.
Two more things sit underneath. Every product has a logical data model: the foundational ones are normalized entity models that publish the shared dimensions, Household, Client Account, Advisor, Offering and Channel among them; the consumer ones are star schemas that reuse those dimensions, so a household means the same thing in every product. And the semantic layer publishes the products to BI tools, Excel and AI assistants through subject-area models, each metric defined once and each certified metric defined only in the model that owns it.
For an AI assistant this is the difference between a plausible answer and a correct one: the assistant resolves the question to a named metric with a known definition, not to a guess over raw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hear 'data product' and picture a dashboard. That is one of three uses, and often the smallest.
Analytical use is the semantic layer: dashboards, Excel and AI assistants asking questions in plain English, all resolving to the same named metrics. Access follows the classification on the data, so leadership sees every household, an advisor sees the households they cover, and finance sees totals with no names.
Workflow use is operational products delivered into the tools people already work in: the advisor's worklist in the CRM, the rebalancer's trade proposals, the billing run, the supervisor's review queue. The product decides what needs action; the workflow tool is where the action is taken. No one re-keys a number.
Evidence use is regulatory and control products: the Reg BI file for every recommendation, the rollover documentation under PTE 2020-02, the daily customer reserve computation, fee billing against the custody rule. They exist so an examiner, a board or an auditor can be shown the control working, from the same data the business runs on.
All three read the same products. That is the point: there is no separate compliance copy of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roles. The product owner is accountable for the definition, the quality rules, service levels, access and the roadmap, and certifies each release. Domain data owners own the meaning and quality of the concepts the product consumes, and approve new uses of personal or licensed data. The Data Office keeps the catalog, the specification standard and the build, runs certification and arbitrates overlaps. Compliance and privacy review anything flagged as personal data, licensed or regulatory.
A product is certified when its owner signs that its quality rules pass and its service levels are met. The certified-number owners are the anchors; everyone else reads from them.
Change control is deliberately boring: edit the specification, rebuild, run the baseline check, log the material change as a decision. And the gap register is where anything the taxonomy cannot yet answer goes, with a priority, a decision owner and the products affected, so a limitation becomes a work item rather than a workaround.
For the head of distribution the ask is one thing: name the product owners for the products your function is the primary consumer of. Without a named owner, nothing gets certified.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Parts one and two apply to any firm that runs this model. Now the wealth manager specifically. The reference model was built for a direct wealth manager, and this part shows where your business lives in it: the firm it assumes, the four things it is built around, the Client &amp; Advice domains, the books of record and certified numbers, the advice domain, and the products and semantic models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firm is hypothetical but deliberately shaped. It serves investors directly, gives advice digitally and through people, manufactures the funds it recommends, recordkeeps workplace plans, and sells through intermediaries only as a secondary channel. It is US only.
Eight business lines, and each is a tailoring lever. Drop personal trust if you do not run a trust company. Thicken the intermediary channel if your advisor business is large. Every lever is a named change to a register, not a rebuild.
The legal entities and operating assumptions matter because they decide which books of record exist: a self-clearing broker-dealer means the firm keeps the brokerage book of record itself. If you clear through someone else, that book becomes oversight data received from the provider, and the specifications say how each product changes under that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built around four things, and everything in part four follows from them. The client household: the party master is the client, with members, authorized agents, trusted contacts and the versioned investor profile. The account: the brokerage and advisory account, with its registration types, features, agreements, beneficiaries and program enrollment. The advice relationship: goals, plans, recommendations and the best-interest evidence behind each one, as data in its own domain. And the brokerage book of record: what each client account owns, with tax lots, cost basis, cash and sweep, separate from the fund book.
Around them sit eight design rules, each a numbered decision with a rationale and a tailoring lever. Managed accounts and client orders are their own domains, distinct from fund portfolio management and the fund trading desk. Fees are an operational domain. Retail conduct is the compliance core. The intermediary and institutional business is a channel, kept thin by default. And the certified numbers are the wealth manager's: Client Assets as the headline, Firm AUM as the manufacturing number, reconciled and never summed.
If your firm differs on any of these, the lever is named: thicken the intermediary channel, drop trust, add a bank balance sheet. None of them is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twelve domains of the Client &amp; Advice area: the client and the account at the center, planning and advice and managed portfolios beside them, then fees, the advisor organization, marketing, service, conduct, the product and offering reference, product development and trust.
I want to point at three boundaries, because they are where arguments usually start. The investor profile is on the client in 02; what one account is for is on the account in 15; what the client wants to achieve is a goal in 45. Three records, three owners, and a recommendation references the profile version it relied on rather than copying it. Advice programs and service tiers are offerings in 01; enrolling an account in one is a 15 fact; the recommendation that led to it is 45. And fees are an operational domain, 47, with the revenue view staying in 10.
If your data team takes one thing from this slide, it is those boundary rules. They are the difference between a household view that reconciles and one that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wealth manager that clears its own trades keeps three books of record, and the taxonomy names them distinctly so a holding is never confused with a position. The fund book in 18 holds what the funds own. The brokerage book in 49 holds what each client account owns, with tax lots, cost basis, cash and sweep. The fund shareholder position in 06 holds who owns the funds: for brokerage accounts a view of the brokerage book, for directly registered accounts a view of the 29 transfer agency register.
The certified numbers follow. Client Assets, the headline, is the market value of every client account at the firm, by channel and holding type, built from the brokerage book and the register. Firm AUM, the manufacturing number, is own-fund net assets plus managed and institutional assets. They overlap by design: an own fund held in a client account is in both. So they are reconciled in one product and never summed. Net New Assets, Advised Assets, the household and client counts and personal rate of return round out the family.
The decision that matters for the head of distribution: Client Assets is the headline number. Firm AUM is what the fund business reports. If your firm defines the headline differently, the change is made in the owning product,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domain your business cannot run without. 45 Financial Planning &amp; Advice masters the record of what a client is trying to achieve, the plan built to get there, what the firm recommended, and why that recommendation was in the client's best interest.
It is service data and regulated evidence at the same time. Regulation Best Interest requires the care obligation to be met and recorded for each recommendation to a retail customer; the Advisers Act fiduciary duty applies to every advisory relationship; a rollover from a workplace plan needs the DOL PTE 2020-02 documentation: the fiduciary acknowledgment, the services and conflicts disclosure, the reasons, the impartial conduct attestation.
The boundary rules are what keep it clean. Digital and human advice are one domain with delivery channel as an attribute, so a robo recommendation and an advisor's recommendation carry the same evidence. The recommendation is mastered once here; supervision in 08 reviews it and holds no rationale of its own; enrollment in 15 and model assignment in 46 implement it and reference it. And the domain never computes a return and never copies a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set on the taxonomy. Fifty-eight foundational products conform the masters, the books of record and the certified numbers. The ones your business runs on are listed on the left: the party master with the household as its primary role, the account master, the offering reference, client holdings, client orders, money movement, the advice record, model assignments, fee schedules and billing runs, the certified Client Assets and Net New Assets product, client fee revenue, official returns with personal rate of return, service interactions, the client document record, and the recordkept plan and participant books.
On the right, a selection of the Client &amp; Advice consumer products, grouped by the three uses. You will recognize the acceptance questions in them: which recommendations lack evidence, which rollovers lack documentation, which households are due a review, what tax-loss harvesting saved.
Scale, for the data team: 271 live products, each specified to attribute level; 55 business functions, from Financial Planning &amp; Advice through Client &amp; Channel Analytics; 22 semantic models, twelve of them wealth subject areas, from Client Assets &amp; Flows to Manager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wealth business is published through twelve subject-area models, SM-20 to SM-31, alongside the ten shared and enterprise models for the investment book, fund operations and the corporate functions: twenty-two in all, with 44 certified metrics, each defined in the one model that owns it. The first, Client Assets &amp; Flows, owns the certified client-asset family. Client &amp; Household 360, Advice &amp; Planning and Managed Portfolios serve the advice business. Client Economics owns fee revenue. Retail Conduct &amp; Supervision gives the conduct evidence a home of its own. Offering, Product Range &amp; Market and Manager Oversight &amp; Due Diligence complete the set; question twelve resolves in the last of them.
On the right are the twelve acceptance questions. The model is accepted when each of them resolves, in the explorer, from a metric to a product measure to attributes to the mastering domain. They were chosen to cut across the business: assets and flows, advice evidence, managed accounts, execution quality, customer protection, cash holds, fee billing, personal returns, rollover capture, cost to serve and manager oversight.
Question three and question ten are the ones I will follow in part four, because they are the ones that sit on the head of distribution's desk: did the rollover come in, and is the file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One question from your seat, followed down through every layer and back up. I will use the rail on the left of each slide to show where we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comes from the head of distribution, and it sounds like one number: of the participants who left a plan we recordkeep this quarter, how much rolled into our advice business, and is every one of those rollover recommendations backed by the evidence the Department of Labor requires?
It is really four ideas, and each belongs to a different part of the business. A separated participant is a workplace fact in 16. A rollover recommendation and its documentation is advice in 45. The IRA it funded and its enrollment in an advice program is an account fact in 15. The money that moved, and whether it counts as new assets or a transfer between channels, is a certified measure in 06. The taxonomy gives each one definition and one owner, and everything I show next is those definitions carried through the layers without being rewritten.
We will follow one household. The Okafor household: Dana Okafor, fifty-eight, a participant in a 401(k) plan the firm recordkeeps, separating from her employer in April with a vested balance of six hundred and forty thousand dollars. Every figure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ideas start in five different systems. Dana's separation and vested balance are in the recordkeeping system. Her household and advisor of record are in the CRM. The recommendation, the rollover analysis and the PTE documentation are in the planning tool, or in the advice engine if it was digital. The new IRA and its program enrollment are in account opening and the brokerage account master. The money and the holdings are in clearing and the books-and-records platform; the fee is in the billing engine. And the supervisor's review is in the surveillance platform.
None of these systems agrees on what to call her. The recordkeeper has a participant number; the CRM has its own record; the brokerage account master has an account number. The taxonomy settles three things before any data moves. What each field means: a rollover amount is a copy of the vested balance, and the PTE 2020-02 documentation is four named attributes, three delivery dates and the attestation, each citing the exemption. Who is right when sources disagree: 02 masters the party, so Dana is one PTY identifier across every system, and the participant who opens a direct account keeps the same identifier and gains client roles. And how to keep the trail: source identifiers travel with the resolved one.
One thing to say plainly: the systems here are named by type. Mapping them to your actual systems is the Phase D work, and each product's lineage is the list of attributes to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Foundational products clean up each core thing once, so nobody downstream does it again. Our question needs eight of them.
The party master gives the Okafor household one record and Dana one identifier with her participant and client roles. The recordkept plan products give the separation event, the balance and the hand-off record that starts the rollover. The advice record holds the recommendation with its rationale, the rollover analysis and the PTE documentation, and one of its quality rules says the three delivery dates and the attestation must be populated on every rollover analysis presented as an acknowledged fiduciary; a missing date fails the rule rather than hiding. The account master holds the IRA and its enrollment in the hybrid advice program. The brokerage book of record holds what the IRA now owns.
Then the money. The client flow product records the rollover contribution. The certified client-assets product applies the measure definitions, and here is the rule that matters most to this room: under the rollover treatment, a rollover from a plan the firm recordkeeps into a firm IRA is an inter-channel transfer, not net new assets. The firm's total did not grow; six hundred and forty thousand dollars moved from the workplace channel to the advice channel, and the advised-assets figure went up by that amount. That is decided once, in one product, and every report inherits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Consumer products are shaped around one team's decisions and built from the foundational ones. This is where the four ideas first meet, and each product uses them for a different job.
The rollover evidence product belongs to workplace services. It joins every rollover recommendation to its analysis, the options compared, the PTE documentation and the receiving IRA, and defines one flag: the documentation gap, set when the analysis is missing, any of the three delivery dates is missing or late, or the attestation or the reasons are absent. Rollover Capture belongs to the same team and answers the other half of the question: how many participants separated, how much rolled out, and what share landed in the direct business. Those are operational funnel values, never labeled net new assets; the certified inter-channel transfer is read from the client-assets product and shown beside them, with the residual between the two published as its own measure rather than hidden. Household 360 puts the Okafor picture in front of the advisor: members, accounts, advised assets, personal return, protection flags, the open recommendation.
Then the workflow products. The advisor worklist takes the documentation gap and the review due date and puts them in the CRM as actions. The principal review queue puts the recommendation in front of the supervisor. The advice review cadence schedules the Rule 3a-4 annual contact that the program now owes Dana.
Notice what none of them does. None recalculates the transfer amount, none decides what 'documented' means, none copies the profile. They take all of it as given. So the workplace report, the advisor's screen and the supervisor's queue cannot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 answer questions about one household or one team. The head of distribution's question is across all participants and all households, so the numbers have to add up correctly, and that is the semantic model's job. Three models are involved.
Workplace &amp; Participants publishes Separations, Rollovers Into the Direct Business and the Direct Business Rollover Share, with Rollover Capture as its source. Advice &amp; Planning publishes Rollovers Without PTE 2020-02 Documentation and the gap rate; supervision and advice leadership see the rows, everyone else sees aggregates by channel, offering and month with small cells suppressed. Client Assets &amp; Flows owns the certified metrics, Net Inter-Channel Transfers and Advised Assets, defined once there and referenced by the other two.
Then the rules that stop a number being added wrongly. Only locked monthly rows at the channel grain are read, so the same money cannot be counted in two channels. Transfers are not summed across months into a stock figure. The rollover share is lined up by participant, not joined row to row, or a participant with two distributions would be double counted. And at the firm total, inter-channel transfers net to zero by definition, so a dashboard that filters to the total and sees nothing is correct, not broken.
Access follows the classification: leadership sees every household; the advisor sees the households they cover; finance and marketing see totals with no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head of distribution opens the dashboard, or asks an AI assistant in plain English. Either way the question resolves to the same named metrics with a filter on the quarter. The figures are illustrative.
Four thousand one hundred and twenty participants separated. One point four six billion dollars of their balances were paid out as rollovers, and six hundred and ten million of that landed in our direct business: a direct business rollover share of forty-two percent. Beside it sits the certified figure: five hundred and ninety-eight million of net inter-channel transfers from the workplace channel into the direct channels, three hundred and eighty of it into advice. The twelve million residual is timing and indirect rollovers in transit, and the model publishes it as its own measure rather than hiding it. One thousand nine hundred and forty rollover recommendations were presented; thirty-seven are missing at least one PTE 2020-02 element, a gap rate of one point nine percent. The Okafor rollover is in the six hundred and ten million, in the five hundred and ninety-eight, in the advised three hundred and eighty, and its file is complete.
Three things make the number usable. It shows its dates: assets as of the last locked month-end, the evidence flag as of last night's run. Anyone can click from the metric to the product, to the definition, to the owner. And the same thirty-seven appear, that morning, in each advisor's worklist and in the supervisor's queue, so the gap is being closed by the people who can close it, not read about in a report.
That is the three uses on one screen: the analytical answer, the workflow action and the evidence file, from the same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next question is: which campaign or nudge prompted Dana's hand-off into advice, so we can spend more on what works? The honest answer is: approximately, not exactly. The flow product attributes the funding flow to a campaign under the campaign-window rule, and the advice model matches a marketing lead to the engagement by party within ninety days. The exact link is missing twice over, and the model says so in both places. Advice &amp; Planning lists the lead-to-engagement link among the questions it cannot answer, because 04 Lead Conversion has no reference to an advice engagement. And the engagement event, the click or the nudge, cannot be joined to its campaign or tracking code at all: that is a registered gap in the marketing domain, GAP-04-001, high priority, owned by the head of marketing operations, with the six products it affects listed.
That is the last thing the taxonomy does. When a question cannot be answered, the reason shows up as a named change to a named domain, rather than as a workaround inside one team's report. Your marketing team does not build a side table; the owning domain adds the reference, the products read it, and every consumer inherits it.
The table is the summary of the whole journey. Keep it; it is the one-page version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have seen is a reference model for a hypothetical firm. Applying it means tailoring, and the levers are deliberate, so that a change is a named edit to a register rather than a rebuild.
Business lines: a line you do not run removes the products and inputs that serve only it. Operating model: an outsourced function keeps its products as oversight data received from the provider, and each affected specification already says how its grain changes. Certified numbers: if you define Client Assets, Advised Assets or personal return differently, the change is made in the owning product, never in a consumer. Systems of record: the Phase D mapping decides which inputs exist and at what grain. Areas and functions: where the lines sit between client service, workplace and advice is a presentation choice. The register: products are dropped, merged or added by decision, and the baseline check reports every difference.
The rule that holds through every lever is the one I opened with. A product assembles what the domains master and never remasters it, and a certified number is defined in one product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sit with the head of distribution, and three pieces of work sit with the data team.
Decisions. Confirm that Client Assets is the headline number and Firm AUM the manufacturing number, reconciled and never summed. Rule on the rollover treatment: a firm-plan to firm-IRA rollover as an inter-channel transfer is the reference default, and it changes your net new assets story, so it should be a conscious choice. Name the product owners for the products your function consumes first: the executive scorecard, net new assets by channel and advisor, rollover capture, Household 360. And confirm the business lines and which functions are outsourced, because they decide which products exist.
Work. Validate the foundational products first, with their certified-number owners; the review pack is the agenda. Run the Phase D source-mapping workshops, one per domain, using each product's lineage as the list of attributes to map. And triage the gap register, high items first, through the owning domains.
Then we come back with the same twelve questions answered from your systems rather than from the reference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list of the questions this talk tends to draw, with the honest answers. Keep this slide in reserve rather than presenting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sentence. One definition, one owner, every layer.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C23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1094415" cy="45720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3" name="Text 0"/>
          <p:cNvSpPr/>
          <p:nvPr>
            <p:ph idx="101" type="title" hasCustomPrompt="1"/>
          </p:nvPr>
        </p:nvSpPr>
        <p:spPr>
          <a:xfrm>
            <a:off x="548640" y="2606040"/>
            <a:ext cx="11094415"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4023360"/>
            <a:ext cx="868680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9601200" cy="274320"/>
          </a:xfrm>
          <a:prstGeom prst="rect">
            <a:avLst/>
          </a:prstGeom>
          <a:noFill/>
          <a:ln/>
        </p:spPr>
        <p:txBody>
          <a:bodyPr wrap="square" lIns="0" tIns="0" rIns="0" bIns="0" rtlCol="0" anchor="ctr"/>
          <a:lstStyle/>
          <a:p>
            <a:pPr indent="0" marL="0">
              <a:buNone/>
            </a:pPr>
            <a:r>
              <a:rPr lang="en-US" sz="900" dirty="0">
                <a:solidFill>
                  <a:schemeClr val="accent6"/>
                </a:solidFill>
              </a:rPr>
              <a:t>Wealth Manager Reference Model  |  Draft for rehearsal, October 2026  |  Client, household and dollar figures are illustrative</a:t>
            </a:r>
            <a:endParaRPr lang="en-US" sz="9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000" b="1" dirty="0">
                <a:solidFill>
                  <a:schemeClr val="bg1"/>
                </a:solidFill>
              </a:rPr>
              <a:t>From definitions to decisions</a:t>
            </a: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lIns="0" tIns="0" rIns="0" bIns="0" rtlCol="0" anchor="t"/>
          <a:lstStyle/>
          <a:p>
            <a:pPr indent="0" marL="0">
              <a:buNone/>
            </a:pPr>
            <a:r>
              <a:rPr lang="en-US" sz="1800" dirty="0">
                <a:solidFill>
                  <a:schemeClr val="bg2"/>
                </a:solidFill>
              </a:rPr>
              <a:t>The data taxonomy, the governed data products built on it, and what they do for client and advice at a wealth manager</a:t>
            </a:r>
            <a:endParaRPr lang="en-US" sz="1800" dirty="0"/>
          </a:p>
        </p:txBody>
      </p:sp>
      <p:sp>
        <p:nvSpPr>
          <p:cNvPr id="4" name="text"/>
          <p:cNvSpPr txBox="1"/>
          <p:nvPr/>
        </p:nvSpPr>
        <p:spPr>
          <a:xfrm>
            <a:off x="548640" y="1417320"/>
            <a:ext cx="11094415" cy="365760"/>
          </a:xfrm>
          <a:prstGeom prst="rect">
            <a:avLst/>
          </a:prstGeom>
          <a:noFill/>
          <a:ln/>
        </p:spPr>
        <p:txBody>
          <a:bodyPr wrap="square" lIns="0" tIns="0" rIns="0" bIns="0" rtlCol="0" anchor="t"/>
          <a:lstStyle/>
          <a:p>
            <a:pPr indent="0" marL="0">
              <a:buNone/>
            </a:pPr>
            <a:r>
              <a:rPr lang="en-US" sz="1200" b="1" spc="200" kern="0" dirty="0">
                <a:solidFill>
                  <a:schemeClr val="accent4"/>
                </a:solidFill>
              </a:rPr>
              <a:t>A TALKTRACK FOR THE HEAD OF DISTRIBUTION AND THE DATA MANAGEMENT TEAM</a:t>
            </a:r>
            <a:endParaRPr lang="en-US" sz="1200" dirty="0"/>
          </a:p>
        </p:txBody>
      </p:sp>
      <p:sp>
        <p:nvSpPr>
          <p:cNvPr id="5" name="text"/>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200" dirty="0">
                <a:solidFill>
                  <a:schemeClr val="bg2"/>
                </a:solidFill>
              </a:rPr>
              <a:t>Wealth Manager Reference Model  |  Draft for rehearsal, October 2026</a:t>
            </a:r>
            <a:endParaRPr lang="en-US" sz="1200" dirty="0"/>
          </a:p>
        </p:txBody>
      </p:sp>
      <p:sp>
        <p:nvSpPr>
          <p:cNvPr id="6" name="chip"/>
          <p:cNvSpPr/>
          <p:nvPr/>
        </p:nvSpPr>
        <p:spPr>
          <a:xfrm>
            <a:off x="548640" y="5257800"/>
            <a:ext cx="384048" cy="384048"/>
          </a:xfrm>
          <a:prstGeom prst="ellipse">
            <a:avLst/>
          </a:prstGeom>
          <a:solidFill>
            <a:schemeClr val="accent6"/>
          </a:solidFill>
          <a:ln w="12700">
            <a:solidFill>
              <a:schemeClr val="accent6"/>
            </a:solidFill>
            <a:prstDash val="solid"/>
          </a:ln>
        </p:spPr>
      </p:sp>
      <p:sp>
        <p:nvSpPr>
          <p:cNvPr id="7" name="text"/>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p:cNvSpPr txBox="1"/>
          <p:nvPr/>
        </p:nvSpPr>
        <p:spPr>
          <a:xfrm>
            <a:off x="1042416" y="52395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Source systems</a:t>
            </a:r>
            <a:endParaRPr lang="en-US" sz="1200" dirty="0"/>
          </a:p>
        </p:txBody>
      </p:sp>
      <p:sp>
        <p:nvSpPr>
          <p:cNvPr id="9" name="chip"/>
          <p:cNvSpPr/>
          <p:nvPr/>
        </p:nvSpPr>
        <p:spPr>
          <a:xfrm>
            <a:off x="2788920" y="5257800"/>
            <a:ext cx="384048" cy="384048"/>
          </a:xfrm>
          <a:prstGeom prst="ellipse">
            <a:avLst/>
          </a:prstGeom>
          <a:solidFill>
            <a:schemeClr val="accent1"/>
          </a:solidFill>
          <a:ln w="12700">
            <a:solidFill>
              <a:schemeClr val="accent1"/>
            </a:solidFill>
            <a:prstDash val="solid"/>
          </a:ln>
        </p:spPr>
      </p:sp>
      <p:sp>
        <p:nvSpPr>
          <p:cNvPr id="10" name="text"/>
          <p:cNvSpPr txBox="1"/>
          <p:nvPr/>
        </p:nvSpPr>
        <p:spPr>
          <a:xfrm>
            <a:off x="278892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p:cNvSpPr txBox="1"/>
          <p:nvPr/>
        </p:nvSpPr>
        <p:spPr>
          <a:xfrm>
            <a:off x="3282696" y="52395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Taxonomy</a:t>
            </a:r>
            <a:endParaRPr lang="en-US" sz="1200" dirty="0"/>
          </a:p>
        </p:txBody>
      </p:sp>
      <p:sp>
        <p:nvSpPr>
          <p:cNvPr id="12" name="chip"/>
          <p:cNvSpPr/>
          <p:nvPr/>
        </p:nvSpPr>
        <p:spPr>
          <a:xfrm>
            <a:off x="5029200" y="5257800"/>
            <a:ext cx="384048" cy="384048"/>
          </a:xfrm>
          <a:prstGeom prst="ellipse">
            <a:avLst/>
          </a:prstGeom>
          <a:solidFill>
            <a:schemeClr val="accent2"/>
          </a:solidFill>
          <a:ln w="12700">
            <a:solidFill>
              <a:schemeClr val="accent2"/>
            </a:solidFill>
            <a:prstDash val="solid"/>
          </a:ln>
        </p:spPr>
      </p:sp>
      <p:sp>
        <p:nvSpPr>
          <p:cNvPr id="13" name="text"/>
          <p:cNvSpPr txBox="1"/>
          <p:nvPr/>
        </p:nvSpPr>
        <p:spPr>
          <a:xfrm>
            <a:off x="502920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p:cNvSpPr txBox="1"/>
          <p:nvPr/>
        </p:nvSpPr>
        <p:spPr>
          <a:xfrm>
            <a:off x="5522976" y="52395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Foundational products</a:t>
            </a:r>
            <a:endParaRPr lang="en-US" sz="1200" dirty="0"/>
          </a:p>
        </p:txBody>
      </p:sp>
      <p:sp>
        <p:nvSpPr>
          <p:cNvPr id="15" name="chip"/>
          <p:cNvSpPr/>
          <p:nvPr/>
        </p:nvSpPr>
        <p:spPr>
          <a:xfrm>
            <a:off x="7269480" y="5257800"/>
            <a:ext cx="384048" cy="384048"/>
          </a:xfrm>
          <a:prstGeom prst="ellipse">
            <a:avLst/>
          </a:prstGeom>
          <a:solidFill>
            <a:schemeClr val="accent3"/>
          </a:solidFill>
          <a:ln w="12700">
            <a:solidFill>
              <a:schemeClr val="accent3"/>
            </a:solidFill>
            <a:prstDash val="solid"/>
          </a:ln>
        </p:spPr>
      </p:sp>
      <p:sp>
        <p:nvSpPr>
          <p:cNvPr id="16" name="text"/>
          <p:cNvSpPr txBox="1"/>
          <p:nvPr/>
        </p:nvSpPr>
        <p:spPr>
          <a:xfrm>
            <a:off x="726948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text"/>
          <p:cNvSpPr txBox="1"/>
          <p:nvPr/>
        </p:nvSpPr>
        <p:spPr>
          <a:xfrm>
            <a:off x="7763256" y="52395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Consumer products</a:t>
            </a:r>
            <a:endParaRPr lang="en-US" sz="1200" dirty="0"/>
          </a:p>
        </p:txBody>
      </p:sp>
      <p:sp>
        <p:nvSpPr>
          <p:cNvPr id="18" name="chip"/>
          <p:cNvSpPr/>
          <p:nvPr/>
        </p:nvSpPr>
        <p:spPr>
          <a:xfrm>
            <a:off x="9509760" y="5257800"/>
            <a:ext cx="384048" cy="384048"/>
          </a:xfrm>
          <a:prstGeom prst="ellipse">
            <a:avLst/>
          </a:prstGeom>
          <a:solidFill>
            <a:schemeClr val="accent4"/>
          </a:solidFill>
          <a:ln w="12700">
            <a:solidFill>
              <a:schemeClr val="accent4"/>
            </a:solidFill>
            <a:prstDash val="solid"/>
          </a:ln>
        </p:spPr>
      </p:sp>
      <p:sp>
        <p:nvSpPr>
          <p:cNvPr id="19" name="text"/>
          <p:cNvSpPr txBox="1"/>
          <p:nvPr/>
        </p:nvSpPr>
        <p:spPr>
          <a:xfrm>
            <a:off x="950976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0" name="text"/>
          <p:cNvSpPr txBox="1"/>
          <p:nvPr/>
        </p:nvSpPr>
        <p:spPr>
          <a:xfrm>
            <a:off x="10003536" y="52395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Semantic model and uses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What we will cover, and the one rule behind all of it</a:t>
            </a:r>
            <a:endParaRPr lang="en-US" sz="2800" dirty="0"/>
          </a:p>
        </p:txBody>
      </p:sp>
      <p:sp>
        <p:nvSpPr>
          <p:cNvPr id="4" name="chip"/>
          <p:cNvSpPr/>
          <p:nvPr/>
        </p:nvSpPr>
        <p:spPr>
          <a:xfrm>
            <a:off x="548640" y="1508760"/>
            <a:ext cx="384048" cy="384048"/>
          </a:xfrm>
          <a:prstGeom prst="ellipse">
            <a:avLst/>
          </a:prstGeom>
          <a:solidFill>
            <a:schemeClr val="accent1"/>
          </a:solidFill>
          <a:ln w="12700">
            <a:solidFill>
              <a:schemeClr val="accent1"/>
            </a:solidFill>
            <a:prstDash val="solid"/>
          </a:ln>
        </p:spPr>
      </p:sp>
      <p:sp>
        <p:nvSpPr>
          <p:cNvPr id="5" name="text"/>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p:cNvSpPr txBox="1"/>
          <p:nvPr/>
        </p:nvSpPr>
        <p:spPr>
          <a:xfrm>
            <a:off x="1042416" y="1490472"/>
            <a:ext cx="2377440" cy="420624"/>
          </a:xfrm>
          <a:prstGeom prst="rect">
            <a:avLst/>
          </a:prstGeom>
          <a:noFill/>
          <a:ln/>
        </p:spPr>
        <p:txBody>
          <a:bodyPr wrap="square" lIns="0" tIns="0" rIns="0" bIns="0" rtlCol="0" anchor="ctr"/>
          <a:lstStyle/>
          <a:p>
            <a:pPr indent="0" marL="0">
              <a:buNone/>
            </a:pPr>
            <a:r>
              <a:rPr lang="en-US" sz="1600" b="1" dirty="0">
                <a:solidFill>
                  <a:schemeClr val="tx1"/>
                </a:solidFill>
              </a:rPr>
              <a:t>Data foundations</a:t>
            </a:r>
            <a:endParaRPr lang="en-US" sz="1600" dirty="0"/>
          </a:p>
        </p:txBody>
      </p:sp>
      <p:sp>
        <p:nvSpPr>
          <p:cNvPr id="7" name="text"/>
          <p:cNvSpPr txBox="1"/>
          <p:nvPr/>
        </p:nvSpPr>
        <p:spPr>
          <a:xfrm>
            <a:off x="3566160" y="1435608"/>
            <a:ext cx="4480560" cy="914400"/>
          </a:xfrm>
          <a:prstGeom prst="rect">
            <a:avLst/>
          </a:prstGeom>
          <a:noFill/>
          <a:ln/>
        </p:spPr>
        <p:txBody>
          <a:bodyPr wrap="square" lIns="0" tIns="0" rIns="0" bIns="0" rtlCol="0" anchor="t"/>
          <a:lstStyle/>
          <a:p>
            <a:pPr indent="0" marL="0">
              <a:buNone/>
            </a:pPr>
            <a:r>
              <a:rPr lang="en-US" sz="1300" dirty="0">
                <a:solidFill>
                  <a:schemeClr val="tx1"/>
                </a:solidFill>
              </a:rPr>
              <a:t>The taxonomy: one hierarchy, one owner per concept, 50 Data Domains, built and validated like code</a:t>
            </a:r>
            <a:endParaRPr lang="en-US" sz="1300" dirty="0"/>
          </a:p>
        </p:txBody>
      </p:sp>
      <p:sp>
        <p:nvSpPr>
          <p:cNvPr id="8" name="text"/>
          <p:cNvSpPr txBox="1"/>
          <p:nvPr/>
        </p:nvSpPr>
        <p:spPr>
          <a:xfrm>
            <a:off x="8138160" y="1508760"/>
            <a:ext cx="731520" cy="365760"/>
          </a:xfrm>
          <a:prstGeom prst="rect">
            <a:avLst/>
          </a:prstGeom>
          <a:noFill/>
          <a:ln/>
        </p:spPr>
        <p:txBody>
          <a:bodyPr wrap="square" lIns="0" tIns="0" rIns="0" bIns="0" rtlCol="0" anchor="t"/>
          <a:lstStyle/>
          <a:p>
            <a:pPr indent="0" marL="0">
              <a:buNone/>
            </a:pPr>
            <a:r>
              <a:rPr lang="en-US" sz="1200" dirty="0">
                <a:solidFill>
                  <a:schemeClr val="accent6"/>
                </a:solidFill>
              </a:rPr>
              <a:t>10 min</a:t>
            </a:r>
            <a:endParaRPr lang="en-US" sz="1200" dirty="0"/>
          </a:p>
        </p:txBody>
      </p:sp>
      <p:sp>
        <p:nvSpPr>
          <p:cNvPr id="9" name="chip"/>
          <p:cNvSpPr/>
          <p:nvPr/>
        </p:nvSpPr>
        <p:spPr>
          <a:xfrm>
            <a:off x="548640" y="2670048"/>
            <a:ext cx="384048" cy="384048"/>
          </a:xfrm>
          <a:prstGeom prst="ellipse">
            <a:avLst/>
          </a:prstGeom>
          <a:solidFill>
            <a:schemeClr val="accent2"/>
          </a:solidFill>
          <a:ln w="12700">
            <a:solidFill>
              <a:schemeClr val="accent2"/>
            </a:solidFill>
            <a:prstDash val="solid"/>
          </a:ln>
        </p:spPr>
      </p:sp>
      <p:sp>
        <p:nvSpPr>
          <p:cNvPr id="10" name="text"/>
          <p:cNvSpPr txBox="1"/>
          <p:nvPr/>
        </p:nvSpPr>
        <p:spPr>
          <a:xfrm>
            <a:off x="548640" y="267004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p:cNvSpPr txBox="1"/>
          <p:nvPr/>
        </p:nvSpPr>
        <p:spPr>
          <a:xfrm>
            <a:off x="1042416" y="2651760"/>
            <a:ext cx="2377440" cy="420624"/>
          </a:xfrm>
          <a:prstGeom prst="rect">
            <a:avLst/>
          </a:prstGeom>
          <a:noFill/>
          <a:ln/>
        </p:spPr>
        <p:txBody>
          <a:bodyPr wrap="square" lIns="0" tIns="0" rIns="0" bIns="0" rtlCol="0" anchor="ctr"/>
          <a:lstStyle/>
          <a:p>
            <a:pPr indent="0" marL="0">
              <a:buNone/>
            </a:pPr>
            <a:r>
              <a:rPr lang="en-US" sz="1600" b="1" dirty="0">
                <a:solidFill>
                  <a:schemeClr val="tx1"/>
                </a:solidFill>
              </a:rPr>
              <a:t>Management overview</a:t>
            </a:r>
            <a:endParaRPr lang="en-US" sz="1600" dirty="0"/>
          </a:p>
        </p:txBody>
      </p:sp>
      <p:sp>
        <p:nvSpPr>
          <p:cNvPr id="12" name="text"/>
          <p:cNvSpPr txBox="1"/>
          <p:nvPr/>
        </p:nvSpPr>
        <p:spPr>
          <a:xfrm>
            <a:off x="3566160" y="2596896"/>
            <a:ext cx="4480560" cy="914400"/>
          </a:xfrm>
          <a:prstGeom prst="rect">
            <a:avLst/>
          </a:prstGeom>
          <a:noFill/>
          <a:ln/>
        </p:spPr>
        <p:txBody>
          <a:bodyPr wrap="square" lIns="0" tIns="0" rIns="0" bIns="0" rtlCol="0" anchor="t"/>
          <a:lstStyle/>
          <a:p>
            <a:pPr indent="0" marL="0">
              <a:buNone/>
            </a:pPr>
            <a:r>
              <a:rPr lang="en-US" sz="1300" dirty="0">
                <a:solidFill>
                  <a:schemeClr val="tx1"/>
                </a:solidFill>
              </a:rPr>
              <a:t>Data products, certified numbers, logical models, the semantic layer, and the three ways the business uses them</a:t>
            </a:r>
            <a:endParaRPr lang="en-US" sz="1300" dirty="0"/>
          </a:p>
        </p:txBody>
      </p:sp>
      <p:sp>
        <p:nvSpPr>
          <p:cNvPr id="13" name="text"/>
          <p:cNvSpPr txBox="1"/>
          <p:nvPr/>
        </p:nvSpPr>
        <p:spPr>
          <a:xfrm>
            <a:off x="8138160" y="2670048"/>
            <a:ext cx="731520" cy="365760"/>
          </a:xfrm>
          <a:prstGeom prst="rect">
            <a:avLst/>
          </a:prstGeom>
          <a:noFill/>
          <a:ln/>
        </p:spPr>
        <p:txBody>
          <a:bodyPr wrap="square" lIns="0" tIns="0" rIns="0" bIns="0" rtlCol="0" anchor="t"/>
          <a:lstStyle/>
          <a:p>
            <a:pPr indent="0" marL="0">
              <a:buNone/>
            </a:pPr>
            <a:r>
              <a:rPr lang="en-US" sz="1200" dirty="0">
                <a:solidFill>
                  <a:schemeClr val="accent6"/>
                </a:solidFill>
              </a:rPr>
              <a:t>12 min</a:t>
            </a:r>
            <a:endParaRPr lang="en-US" sz="1200" dirty="0"/>
          </a:p>
        </p:txBody>
      </p:sp>
      <p:sp>
        <p:nvSpPr>
          <p:cNvPr id="14" name="chip"/>
          <p:cNvSpPr/>
          <p:nvPr/>
        </p:nvSpPr>
        <p:spPr>
          <a:xfrm>
            <a:off x="548640" y="3831336"/>
            <a:ext cx="384048" cy="384048"/>
          </a:xfrm>
          <a:prstGeom prst="ellipse">
            <a:avLst/>
          </a:prstGeom>
          <a:solidFill>
            <a:schemeClr val="accent3"/>
          </a:solidFill>
          <a:ln w="12700">
            <a:solidFill>
              <a:schemeClr val="accent3"/>
            </a:solidFill>
            <a:prstDash val="solid"/>
          </a:ln>
        </p:spPr>
      </p:sp>
      <p:sp>
        <p:nvSpPr>
          <p:cNvPr id="15" name="text"/>
          <p:cNvSpPr txBox="1"/>
          <p:nvPr/>
        </p:nvSpPr>
        <p:spPr>
          <a:xfrm>
            <a:off x="548640" y="383133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p:cNvSpPr txBox="1"/>
          <p:nvPr/>
        </p:nvSpPr>
        <p:spPr>
          <a:xfrm>
            <a:off x="1042416" y="3813048"/>
            <a:ext cx="2377440" cy="420624"/>
          </a:xfrm>
          <a:prstGeom prst="rect">
            <a:avLst/>
          </a:prstGeom>
          <a:noFill/>
          <a:ln/>
        </p:spPr>
        <p:txBody>
          <a:bodyPr wrap="square" lIns="0" tIns="0" rIns="0" bIns="0" rtlCol="0" anchor="ctr"/>
          <a:lstStyle/>
          <a:p>
            <a:pPr indent="0" marL="0">
              <a:buNone/>
            </a:pPr>
            <a:r>
              <a:rPr lang="en-US" sz="1600" b="1" dirty="0">
                <a:solidFill>
                  <a:schemeClr val="tx1"/>
                </a:solidFill>
              </a:rPr>
              <a:t>The wealth manager</a:t>
            </a:r>
            <a:endParaRPr lang="en-US" sz="1600" dirty="0"/>
          </a:p>
        </p:txBody>
      </p:sp>
      <p:sp>
        <p:nvSpPr>
          <p:cNvPr id="17" name="text"/>
          <p:cNvSpPr txBox="1"/>
          <p:nvPr/>
        </p:nvSpPr>
        <p:spPr>
          <a:xfrm>
            <a:off x="3566160" y="3758184"/>
            <a:ext cx="4480560" cy="914400"/>
          </a:xfrm>
          <a:prstGeom prst="rect">
            <a:avLst/>
          </a:prstGeom>
          <a:noFill/>
          <a:ln/>
        </p:spPr>
        <p:txBody>
          <a:bodyPr wrap="square" lIns="0" tIns="0" rIns="0" bIns="0" rtlCol="0" anchor="t"/>
          <a:lstStyle/>
          <a:p>
            <a:pPr indent="0" marL="0">
              <a:buNone/>
            </a:pPr>
            <a:r>
              <a:rPr lang="en-US" sz="1300" dirty="0">
                <a:solidFill>
                  <a:schemeClr val="tx1"/>
                </a:solidFill>
              </a:rPr>
              <a:t>A model built for a direct wealth manager: the household, the account, the advice relationship and the brokerage book of record at its center</a:t>
            </a:r>
            <a:endParaRPr lang="en-US" sz="1300" dirty="0"/>
          </a:p>
        </p:txBody>
      </p:sp>
      <p:sp>
        <p:nvSpPr>
          <p:cNvPr id="18" name="text"/>
          <p:cNvSpPr txBox="1"/>
          <p:nvPr/>
        </p:nvSpPr>
        <p:spPr>
          <a:xfrm>
            <a:off x="8138160" y="3831336"/>
            <a:ext cx="731520" cy="365760"/>
          </a:xfrm>
          <a:prstGeom prst="rect">
            <a:avLst/>
          </a:prstGeom>
          <a:noFill/>
          <a:ln/>
        </p:spPr>
        <p:txBody>
          <a:bodyPr wrap="square" lIns="0" tIns="0" rIns="0" bIns="0" rtlCol="0" anchor="t"/>
          <a:lstStyle/>
          <a:p>
            <a:pPr indent="0" marL="0">
              <a:buNone/>
            </a:pPr>
            <a:r>
              <a:rPr lang="en-US" sz="1200" dirty="0">
                <a:solidFill>
                  <a:schemeClr val="accent6"/>
                </a:solidFill>
              </a:rPr>
              <a:t>12 min</a:t>
            </a:r>
            <a:endParaRPr lang="en-US" sz="1200" dirty="0"/>
          </a:p>
        </p:txBody>
      </p:sp>
      <p:sp>
        <p:nvSpPr>
          <p:cNvPr id="19" name="chip"/>
          <p:cNvSpPr/>
          <p:nvPr/>
        </p:nvSpPr>
        <p:spPr>
          <a:xfrm>
            <a:off x="548640" y="4992624"/>
            <a:ext cx="384048" cy="384048"/>
          </a:xfrm>
          <a:prstGeom prst="ellipse">
            <a:avLst/>
          </a:prstGeom>
          <a:solidFill>
            <a:schemeClr val="accent4"/>
          </a:solidFill>
          <a:ln w="12700">
            <a:solidFill>
              <a:schemeClr val="accent4"/>
            </a:solidFill>
            <a:prstDash val="solid"/>
          </a:ln>
        </p:spPr>
      </p:sp>
      <p:sp>
        <p:nvSpPr>
          <p:cNvPr id="20" name="text"/>
          <p:cNvSpPr txBox="1"/>
          <p:nvPr/>
        </p:nvSpPr>
        <p:spPr>
          <a:xfrm>
            <a:off x="548640" y="4992624"/>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1" name="text"/>
          <p:cNvSpPr txBox="1"/>
          <p:nvPr/>
        </p:nvSpPr>
        <p:spPr>
          <a:xfrm>
            <a:off x="1042416" y="4974336"/>
            <a:ext cx="2377440" cy="420624"/>
          </a:xfrm>
          <a:prstGeom prst="rect">
            <a:avLst/>
          </a:prstGeom>
          <a:noFill/>
          <a:ln/>
        </p:spPr>
        <p:txBody>
          <a:bodyPr wrap="square" lIns="0" tIns="0" rIns="0" bIns="0" rtlCol="0" anchor="ctr"/>
          <a:lstStyle/>
          <a:p>
            <a:pPr indent="0" marL="0">
              <a:buNone/>
            </a:pPr>
            <a:r>
              <a:rPr lang="en-US" sz="1600" b="1" dirty="0">
                <a:solidFill>
                  <a:schemeClr val="tx1"/>
                </a:solidFill>
              </a:rPr>
              <a:t>One question, end to end</a:t>
            </a:r>
            <a:endParaRPr lang="en-US" sz="1600" dirty="0"/>
          </a:p>
        </p:txBody>
      </p:sp>
      <p:sp>
        <p:nvSpPr>
          <p:cNvPr id="22" name="text"/>
          <p:cNvSpPr txBox="1"/>
          <p:nvPr/>
        </p:nvSpPr>
        <p:spPr>
          <a:xfrm>
            <a:off x="3566160" y="4919472"/>
            <a:ext cx="4480560" cy="914400"/>
          </a:xfrm>
          <a:prstGeom prst="rect">
            <a:avLst/>
          </a:prstGeom>
          <a:noFill/>
          <a:ln/>
        </p:spPr>
        <p:txBody>
          <a:bodyPr wrap="square" lIns="0" tIns="0" rIns="0" bIns="0" rtlCol="0" anchor="t"/>
          <a:lstStyle/>
          <a:p>
            <a:pPr indent="0" marL="0">
              <a:buNone/>
            </a:pPr>
            <a:r>
              <a:rPr lang="en-US" sz="1300" dirty="0">
                <a:solidFill>
                  <a:schemeClr val="tx1"/>
                </a:solidFill>
              </a:rPr>
              <a:t>A rollover from a recordkept plan into advice, traced from source system to answer, with the evidence the DOL requires</a:t>
            </a:r>
            <a:endParaRPr lang="en-US" sz="1300" dirty="0"/>
          </a:p>
        </p:txBody>
      </p:sp>
      <p:sp>
        <p:nvSpPr>
          <p:cNvPr id="23" name="text"/>
          <p:cNvSpPr txBox="1"/>
          <p:nvPr/>
        </p:nvSpPr>
        <p:spPr>
          <a:xfrm>
            <a:off x="8138160" y="4992624"/>
            <a:ext cx="731520" cy="365760"/>
          </a:xfrm>
          <a:prstGeom prst="rect">
            <a:avLst/>
          </a:prstGeom>
          <a:noFill/>
          <a:ln/>
        </p:spPr>
        <p:txBody>
          <a:bodyPr wrap="square" lIns="0" tIns="0" rIns="0" bIns="0" rtlCol="0" anchor="t"/>
          <a:lstStyle/>
          <a:p>
            <a:pPr indent="0" marL="0">
              <a:buNone/>
            </a:pPr>
            <a:r>
              <a:rPr lang="en-US" sz="1200" dirty="0">
                <a:solidFill>
                  <a:schemeClr val="accent6"/>
                </a:solidFill>
              </a:rPr>
              <a:t>10 min</a:t>
            </a:r>
            <a:endParaRPr lang="en-US" sz="1200" dirty="0"/>
          </a:p>
        </p:txBody>
      </p:sp>
      <p:sp>
        <p:nvSpPr>
          <p:cNvPr id="24" name="card"/>
          <p:cNvSpPr/>
          <p:nvPr/>
        </p:nvSpPr>
        <p:spPr>
          <a:xfrm>
            <a:off x="9144000" y="1417320"/>
            <a:ext cx="2496312" cy="4480560"/>
          </a:xfrm>
          <a:prstGeom prst="roundRect">
            <a:avLst>
              <a:gd name="adj" fmla="val 2930"/>
            </a:avLst>
          </a:prstGeom>
          <a:solidFill>
            <a:schemeClr val="tx2"/>
          </a:solidFill>
          <a:ln w="12700">
            <a:solidFill>
              <a:schemeClr val="tx2"/>
            </a:solidFill>
            <a:prstDash val="solid"/>
          </a:ln>
        </p:spPr>
      </p:sp>
      <p:sp>
        <p:nvSpPr>
          <p:cNvPr id="25" name="text"/>
          <p:cNvSpPr txBox="1"/>
          <p:nvPr/>
        </p:nvSpPr>
        <p:spPr>
          <a:xfrm>
            <a:off x="9372600" y="1645920"/>
            <a:ext cx="2103120" cy="320040"/>
          </a:xfrm>
          <a:prstGeom prst="rect">
            <a:avLst/>
          </a:prstGeom>
          <a:noFill/>
          <a:ln/>
        </p:spPr>
        <p:txBody>
          <a:bodyPr wrap="square" lIns="0" tIns="0" rIns="0" bIns="0" rtlCol="0" anchor="t"/>
          <a:lstStyle/>
          <a:p>
            <a:pPr indent="0" marL="0">
              <a:buNone/>
            </a:pPr>
            <a:r>
              <a:rPr lang="en-US" sz="1100" b="1" dirty="0">
                <a:solidFill>
                  <a:schemeClr val="accent4"/>
                </a:solidFill>
              </a:rPr>
              <a:t>THE ONE RULE</a:t>
            </a:r>
            <a:endParaRPr lang="en-US" sz="1100" dirty="0"/>
          </a:p>
        </p:txBody>
      </p:sp>
      <p:sp>
        <p:nvSpPr>
          <p:cNvPr id="26" name="text"/>
          <p:cNvSpPr txBox="1"/>
          <p:nvPr/>
        </p:nvSpPr>
        <p:spPr>
          <a:xfrm>
            <a:off x="9372600" y="2057400"/>
            <a:ext cx="2103120" cy="1463040"/>
          </a:xfrm>
          <a:prstGeom prst="rect">
            <a:avLst/>
          </a:prstGeom>
          <a:noFill/>
          <a:ln/>
        </p:spPr>
        <p:txBody>
          <a:bodyPr wrap="square" lIns="0" tIns="0" rIns="0" bIns="0" rtlCol="0" anchor="t"/>
          <a:lstStyle/>
          <a:p>
            <a:pPr indent="0" marL="0">
              <a:buNone/>
            </a:pPr>
            <a:r>
              <a:rPr lang="en-US" sz="1600" b="1" dirty="0">
                <a:solidFill>
                  <a:schemeClr val="bg1"/>
                </a:solidFill>
              </a:rPr>
              <a:t>A data product assembles what the Data Domains master. It never remasters them.</a:t>
            </a:r>
            <a:endParaRPr lang="en-US" sz="1600" dirty="0"/>
          </a:p>
        </p:txBody>
      </p:sp>
      <p:sp>
        <p:nvSpPr>
          <p:cNvPr id="27" name="text"/>
          <p:cNvSpPr txBox="1"/>
          <p:nvPr/>
        </p:nvSpPr>
        <p:spPr>
          <a:xfrm>
            <a:off x="9372600" y="3657600"/>
            <a:ext cx="2103120" cy="1280160"/>
          </a:xfrm>
          <a:prstGeom prst="rect">
            <a:avLst/>
          </a:prstGeom>
          <a:noFill/>
          <a:ln/>
        </p:spPr>
        <p:txBody>
          <a:bodyPr wrap="square" lIns="0" tIns="0" rIns="0" bIns="0" rtlCol="0" anchor="t"/>
          <a:lstStyle/>
          <a:p>
            <a:pPr indent="0" marL="0">
              <a:buNone/>
            </a:pPr>
            <a:r>
              <a:rPr lang="en-US" sz="1300" dirty="0">
                <a:solidFill>
                  <a:schemeClr val="bg2"/>
                </a:solidFill>
              </a:rPr>
              <a:t>A certified number is defined in one product only, and every other product reads it from there.</a:t>
            </a:r>
            <a:endParaRPr lang="en-US" sz="1300" dirty="0"/>
          </a:p>
        </p:txBody>
      </p:sp>
      <p:sp>
        <p:nvSpPr>
          <p:cNvPr id="28" name="text"/>
          <p:cNvSpPr txBox="1"/>
          <p:nvPr/>
        </p:nvSpPr>
        <p:spPr>
          <a:xfrm>
            <a:off x="9372600" y="4846320"/>
            <a:ext cx="2103120" cy="914400"/>
          </a:xfrm>
          <a:prstGeom prst="rect">
            <a:avLst/>
          </a:prstGeom>
          <a:noFill/>
          <a:ln/>
        </p:spPr>
        <p:txBody>
          <a:bodyPr wrap="square" lIns="0" tIns="0" rIns="0" bIns="0" rtlCol="0" anchor="t"/>
          <a:lstStyle/>
          <a:p>
            <a:pPr indent="0" marL="0">
              <a:buNone/>
            </a:pPr>
            <a:r>
              <a:rPr lang="en-US" sz="1200" dirty="0">
                <a:solidFill>
                  <a:schemeClr val="bg2"/>
                </a:solidFill>
              </a:rPr>
              <a:t>A missing concept is a taxonomy gap for the owning domain, never a field invented in a report.</a:t>
            </a:r>
            <a:endParaRPr lang="en-US" sz="12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problem we are solving: one number, five definitions</a:t>
            </a:r>
            <a:endParaRPr lang="en-US" sz="2800" dirty="0"/>
          </a:p>
        </p:txBody>
      </p:sp>
      <p:sp>
        <p:nvSpPr>
          <p:cNvPr id="4" name="card"/>
          <p:cNvSpPr/>
          <p:nvPr/>
        </p:nvSpPr>
        <p:spPr>
          <a:xfrm>
            <a:off x="548640" y="1417320"/>
            <a:ext cx="2103120" cy="2834640"/>
          </a:xfrm>
          <a:prstGeom prst="roundRect">
            <a:avLst>
              <a:gd name="adj" fmla="val 3478"/>
            </a:avLst>
          </a:prstGeom>
          <a:solidFill>
            <a:schemeClr val="bg2"/>
          </a:solidFill>
          <a:ln w="12700">
            <a:solidFill>
              <a:schemeClr val="bg2"/>
            </a:solidFill>
            <a:prstDash val="solid"/>
          </a:ln>
        </p:spPr>
      </p:sp>
      <p:sp>
        <p:nvSpPr>
          <p:cNvPr id="5" name="text"/>
          <p:cNvSpPr txBox="1"/>
          <p:nvPr/>
        </p:nvSpPr>
        <p:spPr>
          <a:xfrm>
            <a:off x="713232" y="1600200"/>
            <a:ext cx="1773936" cy="320040"/>
          </a:xfrm>
          <a:prstGeom prst="rect">
            <a:avLst/>
          </a:prstGeom>
          <a:noFill/>
          <a:ln/>
        </p:spPr>
        <p:txBody>
          <a:bodyPr wrap="square" lIns="0" tIns="0" rIns="0" bIns="0" rtlCol="0" anchor="t"/>
          <a:lstStyle/>
          <a:p>
            <a:pPr indent="0" marL="0">
              <a:buNone/>
            </a:pPr>
            <a:r>
              <a:rPr lang="en-US" sz="1200" b="1" dirty="0">
                <a:solidFill>
                  <a:schemeClr val="accent6"/>
                </a:solidFill>
              </a:rPr>
              <a:t>Advice leadership</a:t>
            </a:r>
            <a:endParaRPr lang="en-US" sz="1200" dirty="0"/>
          </a:p>
        </p:txBody>
      </p:sp>
      <p:sp>
        <p:nvSpPr>
          <p:cNvPr id="6" name="text"/>
          <p:cNvSpPr txBox="1"/>
          <p:nvPr/>
        </p:nvSpPr>
        <p:spPr>
          <a:xfrm>
            <a:off x="713232" y="1965960"/>
            <a:ext cx="1773936" cy="731520"/>
          </a:xfrm>
          <a:prstGeom prst="rect">
            <a:avLst/>
          </a:prstGeom>
          <a:noFill/>
          <a:ln/>
        </p:spPr>
        <p:txBody>
          <a:bodyPr wrap="square" lIns="0" tIns="0" rIns="0" bIns="0" rtlCol="0" anchor="t"/>
          <a:lstStyle/>
          <a:p>
            <a:pPr indent="0" marL="0">
              <a:buNone/>
            </a:pPr>
            <a:r>
              <a:rPr lang="en-US" sz="3200" b="1" dirty="0">
                <a:solidFill>
                  <a:schemeClr val="accent3"/>
                </a:solidFill>
              </a:rPr>
              <a:t>$1.42bn</a:t>
            </a:r>
            <a:endParaRPr lang="en-US" sz="3200" dirty="0"/>
          </a:p>
        </p:txBody>
      </p:sp>
      <p:sp>
        <p:nvSpPr>
          <p:cNvPr id="7" name="text"/>
          <p:cNvSpPr txBox="1"/>
          <p:nvPr/>
        </p:nvSpPr>
        <p:spPr>
          <a:xfrm>
            <a:off x="713232" y="2788920"/>
            <a:ext cx="1773936" cy="1371600"/>
          </a:xfrm>
          <a:prstGeom prst="rect">
            <a:avLst/>
          </a:prstGeom>
          <a:noFill/>
          <a:ln/>
        </p:spPr>
        <p:txBody>
          <a:bodyPr wrap="square" lIns="0" tIns="0" rIns="0" bIns="0" rtlCol="0" anchor="t"/>
          <a:lstStyle/>
          <a:p>
            <a:pPr indent="0" marL="0">
              <a:buNone/>
            </a:pPr>
            <a:r>
              <a:rPr lang="en-US" sz="1200" dirty="0">
                <a:solidFill>
                  <a:schemeClr val="tx1"/>
                </a:solidFill>
              </a:rPr>
              <a:t>Counts firm-plan rollovers into advice as new money; trade date</a:t>
            </a:r>
            <a:endParaRPr lang="en-US" sz="1200" dirty="0"/>
          </a:p>
        </p:txBody>
      </p:sp>
      <p:sp>
        <p:nvSpPr>
          <p:cNvPr id="8" name="card"/>
          <p:cNvSpPr/>
          <p:nvPr/>
        </p:nvSpPr>
        <p:spPr>
          <a:xfrm>
            <a:off x="2807208" y="1417320"/>
            <a:ext cx="2103120" cy="2834640"/>
          </a:xfrm>
          <a:prstGeom prst="roundRect">
            <a:avLst>
              <a:gd name="adj" fmla="val 3478"/>
            </a:avLst>
          </a:prstGeom>
          <a:solidFill>
            <a:schemeClr val="bg2"/>
          </a:solidFill>
          <a:ln w="12700">
            <a:solidFill>
              <a:schemeClr val="bg2"/>
            </a:solidFill>
            <a:prstDash val="solid"/>
          </a:ln>
        </p:spPr>
      </p:sp>
      <p:sp>
        <p:nvSpPr>
          <p:cNvPr id="9" name="text"/>
          <p:cNvSpPr txBox="1"/>
          <p:nvPr/>
        </p:nvSpPr>
        <p:spPr>
          <a:xfrm>
            <a:off x="2971800" y="1600200"/>
            <a:ext cx="1773936" cy="320040"/>
          </a:xfrm>
          <a:prstGeom prst="rect">
            <a:avLst/>
          </a:prstGeom>
          <a:noFill/>
          <a:ln/>
        </p:spPr>
        <p:txBody>
          <a:bodyPr wrap="square" lIns="0" tIns="0" rIns="0" bIns="0" rtlCol="0" anchor="t"/>
          <a:lstStyle/>
          <a:p>
            <a:pPr indent="0" marL="0">
              <a:buNone/>
            </a:pPr>
            <a:r>
              <a:rPr lang="en-US" sz="1200" b="1" dirty="0">
                <a:solidFill>
                  <a:schemeClr val="accent6"/>
                </a:solidFill>
              </a:rPr>
              <a:t>Finance</a:t>
            </a:r>
            <a:endParaRPr lang="en-US" sz="1200" dirty="0"/>
          </a:p>
        </p:txBody>
      </p:sp>
      <p:sp>
        <p:nvSpPr>
          <p:cNvPr id="10" name="text"/>
          <p:cNvSpPr txBox="1"/>
          <p:nvPr/>
        </p:nvSpPr>
        <p:spPr>
          <a:xfrm>
            <a:off x="2971800" y="1965960"/>
            <a:ext cx="1773936" cy="731520"/>
          </a:xfrm>
          <a:prstGeom prst="rect">
            <a:avLst/>
          </a:prstGeom>
          <a:noFill/>
          <a:ln/>
        </p:spPr>
        <p:txBody>
          <a:bodyPr wrap="square" lIns="0" tIns="0" rIns="0" bIns="0" rtlCol="0" anchor="t"/>
          <a:lstStyle/>
          <a:p>
            <a:pPr indent="0" marL="0">
              <a:buNone/>
            </a:pPr>
            <a:r>
              <a:rPr lang="en-US" sz="3200" b="1" dirty="0">
                <a:solidFill>
                  <a:schemeClr val="accent2"/>
                </a:solidFill>
              </a:rPr>
              <a:t>$1.18bn</a:t>
            </a:r>
            <a:endParaRPr lang="en-US" sz="3200" dirty="0"/>
          </a:p>
        </p:txBody>
      </p:sp>
      <p:sp>
        <p:nvSpPr>
          <p:cNvPr id="11" name="text"/>
          <p:cNvSpPr txBox="1"/>
          <p:nvPr/>
        </p:nvSpPr>
        <p:spPr>
          <a:xfrm>
            <a:off x="2971800" y="2788920"/>
            <a:ext cx="1773936" cy="1371600"/>
          </a:xfrm>
          <a:prstGeom prst="rect">
            <a:avLst/>
          </a:prstGeom>
          <a:noFill/>
          <a:ln/>
        </p:spPr>
        <p:txBody>
          <a:bodyPr wrap="square" lIns="0" tIns="0" rIns="0" bIns="0" rtlCol="0" anchor="t"/>
          <a:lstStyle/>
          <a:p>
            <a:pPr indent="0" marL="0">
              <a:buNone/>
            </a:pPr>
            <a:r>
              <a:rPr lang="en-US" sz="1200" dirty="0">
                <a:solidFill>
                  <a:schemeClr val="tx1"/>
                </a:solidFill>
              </a:rPr>
              <a:t>Excludes reinvested income; settlement date; net of fees</a:t>
            </a:r>
            <a:endParaRPr lang="en-US" sz="1200" dirty="0"/>
          </a:p>
        </p:txBody>
      </p:sp>
      <p:sp>
        <p:nvSpPr>
          <p:cNvPr id="12" name="card"/>
          <p:cNvSpPr/>
          <p:nvPr/>
        </p:nvSpPr>
        <p:spPr>
          <a:xfrm>
            <a:off x="5065776" y="1417320"/>
            <a:ext cx="2103120" cy="2834640"/>
          </a:xfrm>
          <a:prstGeom prst="roundRect">
            <a:avLst>
              <a:gd name="adj" fmla="val 3478"/>
            </a:avLst>
          </a:prstGeom>
          <a:solidFill>
            <a:schemeClr val="bg2"/>
          </a:solidFill>
          <a:ln w="12700">
            <a:solidFill>
              <a:schemeClr val="bg2"/>
            </a:solidFill>
            <a:prstDash val="solid"/>
          </a:ln>
        </p:spPr>
      </p:sp>
      <p:sp>
        <p:nvSpPr>
          <p:cNvPr id="13" name="text"/>
          <p:cNvSpPr txBox="1"/>
          <p:nvPr/>
        </p:nvSpPr>
        <p:spPr>
          <a:xfrm>
            <a:off x="5230368" y="1600200"/>
            <a:ext cx="1773936" cy="320040"/>
          </a:xfrm>
          <a:prstGeom prst="rect">
            <a:avLst/>
          </a:prstGeom>
          <a:noFill/>
          <a:ln/>
        </p:spPr>
        <p:txBody>
          <a:bodyPr wrap="square" lIns="0" tIns="0" rIns="0" bIns="0" rtlCol="0" anchor="t"/>
          <a:lstStyle/>
          <a:p>
            <a:pPr indent="0" marL="0">
              <a:buNone/>
            </a:pPr>
            <a:r>
              <a:rPr lang="en-US" sz="1200" b="1" dirty="0">
                <a:solidFill>
                  <a:schemeClr val="accent6"/>
                </a:solidFill>
              </a:rPr>
              <a:t>Workplace</a:t>
            </a:r>
            <a:endParaRPr lang="en-US" sz="1200" dirty="0"/>
          </a:p>
        </p:txBody>
      </p:sp>
      <p:sp>
        <p:nvSpPr>
          <p:cNvPr id="14" name="text"/>
          <p:cNvSpPr txBox="1"/>
          <p:nvPr/>
        </p:nvSpPr>
        <p:spPr>
          <a:xfrm>
            <a:off x="5230368" y="1965960"/>
            <a:ext cx="1773936" cy="731520"/>
          </a:xfrm>
          <a:prstGeom prst="rect">
            <a:avLst/>
          </a:prstGeom>
          <a:noFill/>
          <a:ln/>
        </p:spPr>
        <p:txBody>
          <a:bodyPr wrap="square" lIns="0" tIns="0" rIns="0" bIns="0" rtlCol="0" anchor="t"/>
          <a:lstStyle/>
          <a:p>
            <a:pPr indent="0" marL="0">
              <a:buNone/>
            </a:pPr>
            <a:r>
              <a:rPr lang="en-US" sz="3200" b="1" dirty="0">
                <a:solidFill>
                  <a:schemeClr val="accent5"/>
                </a:solidFill>
              </a:rPr>
              <a:t>$0.96bn</a:t>
            </a:r>
            <a:endParaRPr lang="en-US" sz="3200" dirty="0"/>
          </a:p>
        </p:txBody>
      </p:sp>
      <p:sp>
        <p:nvSpPr>
          <p:cNvPr id="15" name="text"/>
          <p:cNvSpPr txBox="1"/>
          <p:nvPr/>
        </p:nvSpPr>
        <p:spPr>
          <a:xfrm>
            <a:off x="5230368" y="2788920"/>
            <a:ext cx="1773936" cy="1371600"/>
          </a:xfrm>
          <a:prstGeom prst="rect">
            <a:avLst/>
          </a:prstGeom>
          <a:noFill/>
          <a:ln/>
        </p:spPr>
        <p:txBody>
          <a:bodyPr wrap="square" lIns="0" tIns="0" rIns="0" bIns="0" rtlCol="0" anchor="t"/>
          <a:lstStyle/>
          <a:p>
            <a:pPr indent="0" marL="0">
              <a:buNone/>
            </a:pPr>
            <a:r>
              <a:rPr lang="en-US" sz="1200" dirty="0">
                <a:solidFill>
                  <a:schemeClr val="tx1"/>
                </a:solidFill>
              </a:rPr>
              <a:t>Counts separated participants' balances only when the IRA funds</a:t>
            </a:r>
            <a:endParaRPr lang="en-US" sz="1200" dirty="0"/>
          </a:p>
        </p:txBody>
      </p:sp>
      <p:sp>
        <p:nvSpPr>
          <p:cNvPr id="16" name="card"/>
          <p:cNvSpPr/>
          <p:nvPr/>
        </p:nvSpPr>
        <p:spPr>
          <a:xfrm>
            <a:off x="7324344" y="1417320"/>
            <a:ext cx="2103120" cy="2834640"/>
          </a:xfrm>
          <a:prstGeom prst="roundRect">
            <a:avLst>
              <a:gd name="adj" fmla="val 3478"/>
            </a:avLst>
          </a:prstGeom>
          <a:solidFill>
            <a:schemeClr val="bg2"/>
          </a:solidFill>
          <a:ln w="12700">
            <a:solidFill>
              <a:schemeClr val="bg2"/>
            </a:solidFill>
            <a:prstDash val="solid"/>
          </a:ln>
        </p:spPr>
      </p:sp>
      <p:sp>
        <p:nvSpPr>
          <p:cNvPr id="17" name="text"/>
          <p:cNvSpPr txBox="1"/>
          <p:nvPr/>
        </p:nvSpPr>
        <p:spPr>
          <a:xfrm>
            <a:off x="7488936" y="1600200"/>
            <a:ext cx="1773936" cy="320040"/>
          </a:xfrm>
          <a:prstGeom prst="rect">
            <a:avLst/>
          </a:prstGeom>
          <a:noFill/>
          <a:ln/>
        </p:spPr>
        <p:txBody>
          <a:bodyPr wrap="square" lIns="0" tIns="0" rIns="0" bIns="0" rtlCol="0" anchor="t"/>
          <a:lstStyle/>
          <a:p>
            <a:pPr indent="0" marL="0">
              <a:buNone/>
            </a:pPr>
            <a:r>
              <a:rPr lang="en-US" sz="1200" b="1" dirty="0">
                <a:solidFill>
                  <a:schemeClr val="accent6"/>
                </a:solidFill>
              </a:rPr>
              <a:t>Marketing</a:t>
            </a:r>
            <a:endParaRPr lang="en-US" sz="1200" dirty="0"/>
          </a:p>
        </p:txBody>
      </p:sp>
      <p:sp>
        <p:nvSpPr>
          <p:cNvPr id="18" name="text"/>
          <p:cNvSpPr txBox="1"/>
          <p:nvPr/>
        </p:nvSpPr>
        <p:spPr>
          <a:xfrm>
            <a:off x="7488936" y="1965960"/>
            <a:ext cx="1773936" cy="731520"/>
          </a:xfrm>
          <a:prstGeom prst="rect">
            <a:avLst/>
          </a:prstGeom>
          <a:noFill/>
          <a:ln/>
        </p:spPr>
        <p:txBody>
          <a:bodyPr wrap="square" lIns="0" tIns="0" rIns="0" bIns="0" rtlCol="0" anchor="t"/>
          <a:lstStyle/>
          <a:p>
            <a:pPr indent="0" marL="0">
              <a:buNone/>
            </a:pPr>
            <a:r>
              <a:rPr lang="en-US" sz="3200" b="1" dirty="0">
                <a:solidFill>
                  <a:schemeClr val="accent4"/>
                </a:solidFill>
              </a:rPr>
              <a:t>$1.61bn</a:t>
            </a:r>
            <a:endParaRPr lang="en-US" sz="3200" dirty="0"/>
          </a:p>
        </p:txBody>
      </p:sp>
      <p:sp>
        <p:nvSpPr>
          <p:cNvPr id="19" name="text"/>
          <p:cNvSpPr txBox="1"/>
          <p:nvPr/>
        </p:nvSpPr>
        <p:spPr>
          <a:xfrm>
            <a:off x="7488936" y="2788920"/>
            <a:ext cx="1773936" cy="1371600"/>
          </a:xfrm>
          <a:prstGeom prst="rect">
            <a:avLst/>
          </a:prstGeom>
          <a:noFill/>
          <a:ln/>
        </p:spPr>
        <p:txBody>
          <a:bodyPr wrap="square" lIns="0" tIns="0" rIns="0" bIns="0" rtlCol="0" anchor="t"/>
          <a:lstStyle/>
          <a:p>
            <a:pPr indent="0" marL="0">
              <a:buNone/>
            </a:pPr>
            <a:r>
              <a:rPr lang="en-US" sz="1200" dirty="0">
                <a:solidFill>
                  <a:schemeClr val="tx1"/>
                </a:solidFill>
              </a:rPr>
              <a:t>Includes intermediary-held own-fund flows attributed to campaigns</a:t>
            </a:r>
            <a:endParaRPr lang="en-US" sz="1200" dirty="0"/>
          </a:p>
        </p:txBody>
      </p:sp>
      <p:sp>
        <p:nvSpPr>
          <p:cNvPr id="20" name="card"/>
          <p:cNvSpPr/>
          <p:nvPr/>
        </p:nvSpPr>
        <p:spPr>
          <a:xfrm>
            <a:off x="9582912" y="1417320"/>
            <a:ext cx="2103120" cy="2834640"/>
          </a:xfrm>
          <a:prstGeom prst="roundRect">
            <a:avLst>
              <a:gd name="adj" fmla="val 3478"/>
            </a:avLst>
          </a:prstGeom>
          <a:solidFill>
            <a:schemeClr val="bg2"/>
          </a:solidFill>
          <a:ln w="12700">
            <a:solidFill>
              <a:schemeClr val="bg2"/>
            </a:solidFill>
            <a:prstDash val="solid"/>
          </a:ln>
        </p:spPr>
      </p:sp>
      <p:sp>
        <p:nvSpPr>
          <p:cNvPr id="21" name="text"/>
          <p:cNvSpPr txBox="1"/>
          <p:nvPr/>
        </p:nvSpPr>
        <p:spPr>
          <a:xfrm>
            <a:off x="9747504" y="1600200"/>
            <a:ext cx="1773936" cy="320040"/>
          </a:xfrm>
          <a:prstGeom prst="rect">
            <a:avLst/>
          </a:prstGeom>
          <a:noFill/>
          <a:ln/>
        </p:spPr>
        <p:txBody>
          <a:bodyPr wrap="square" lIns="0" tIns="0" rIns="0" bIns="0" rtlCol="0" anchor="t"/>
          <a:lstStyle/>
          <a:p>
            <a:pPr indent="0" marL="0">
              <a:buNone/>
            </a:pPr>
            <a:r>
              <a:rPr lang="en-US" sz="1200" b="1" dirty="0">
                <a:solidFill>
                  <a:schemeClr val="accent6"/>
                </a:solidFill>
              </a:rPr>
              <a:t>Executive pack</a:t>
            </a:r>
            <a:endParaRPr lang="en-US" sz="1200" dirty="0"/>
          </a:p>
        </p:txBody>
      </p:sp>
      <p:sp>
        <p:nvSpPr>
          <p:cNvPr id="22" name="text"/>
          <p:cNvSpPr txBox="1"/>
          <p:nvPr/>
        </p:nvSpPr>
        <p:spPr>
          <a:xfrm>
            <a:off x="9747504" y="1965960"/>
            <a:ext cx="1773936" cy="731520"/>
          </a:xfrm>
          <a:prstGeom prst="rect">
            <a:avLst/>
          </a:prstGeom>
          <a:noFill/>
          <a:ln/>
        </p:spPr>
        <p:txBody>
          <a:bodyPr wrap="square" lIns="0" tIns="0" rIns="0" bIns="0" rtlCol="0" anchor="t"/>
          <a:lstStyle/>
          <a:p>
            <a:pPr indent="0" marL="0">
              <a:buNone/>
            </a:pPr>
            <a:r>
              <a:rPr lang="en-US" sz="3200" b="1" dirty="0">
                <a:solidFill>
                  <a:schemeClr val="accent1"/>
                </a:solidFill>
              </a:rPr>
              <a:t>$1.30bn</a:t>
            </a:r>
            <a:endParaRPr lang="en-US" sz="3200" dirty="0"/>
          </a:p>
        </p:txBody>
      </p:sp>
      <p:sp>
        <p:nvSpPr>
          <p:cNvPr id="23" name="text"/>
          <p:cNvSpPr txBox="1"/>
          <p:nvPr/>
        </p:nvSpPr>
        <p:spPr>
          <a:xfrm>
            <a:off x="9747504" y="2788920"/>
            <a:ext cx="1773936" cy="1371600"/>
          </a:xfrm>
          <a:prstGeom prst="rect">
            <a:avLst/>
          </a:prstGeom>
          <a:noFill/>
          <a:ln/>
        </p:spPr>
        <p:txBody>
          <a:bodyPr wrap="square" lIns="0" tIns="0" rIns="0" bIns="0" rtlCol="0" anchor="t"/>
          <a:lstStyle/>
          <a:p>
            <a:pPr indent="0" marL="0">
              <a:buNone/>
            </a:pPr>
            <a:r>
              <a:rPr lang="en-US" sz="1200" dirty="0">
                <a:solidFill>
                  <a:schemeClr val="tx1"/>
                </a:solidFill>
              </a:rPr>
              <a:t>Hand-adjusted from last quarter's method, with two restatements</a:t>
            </a:r>
            <a:endParaRPr lang="en-US" sz="1200" dirty="0"/>
          </a:p>
        </p:txBody>
      </p:sp>
      <p:sp>
        <p:nvSpPr>
          <p:cNvPr id="24" name="text"/>
          <p:cNvSpPr txBox="1"/>
          <p:nvPr/>
        </p:nvSpPr>
        <p:spPr>
          <a:xfrm>
            <a:off x="548640" y="4434840"/>
            <a:ext cx="5486400" cy="320040"/>
          </a:xfrm>
          <a:prstGeom prst="rect">
            <a:avLst/>
          </a:prstGeom>
          <a:noFill/>
          <a:ln/>
        </p:spPr>
        <p:txBody>
          <a:bodyPr wrap="square" lIns="0" tIns="0" rIns="0" bIns="0" rtlCol="0" anchor="t"/>
          <a:lstStyle/>
          <a:p>
            <a:pPr indent="0" marL="0">
              <a:buNone/>
            </a:pPr>
            <a:r>
              <a:rPr lang="en-US" sz="1200" i="1" dirty="0">
                <a:solidFill>
                  <a:schemeClr val="accent6"/>
                </a:solidFill>
              </a:rPr>
              <a:t>"Net new assets, last quarter"  (illustrative)</a:t>
            </a:r>
            <a:endParaRPr lang="en-US" sz="1200" dirty="0"/>
          </a:p>
        </p:txBody>
      </p:sp>
      <p:sp>
        <p:nvSpPr>
          <p:cNvPr id="25" name="card"/>
          <p:cNvSpPr/>
          <p:nvPr/>
        </p:nvSpPr>
        <p:spPr>
          <a:xfrm>
            <a:off x="548640" y="4937760"/>
            <a:ext cx="11094415" cy="1234440"/>
          </a:xfrm>
          <a:prstGeom prst="roundRect">
            <a:avLst>
              <a:gd name="adj" fmla="val 5926"/>
            </a:avLst>
          </a:prstGeom>
          <a:solidFill>
            <a:schemeClr val="tx2"/>
          </a:solidFill>
          <a:ln w="12700">
            <a:solidFill>
              <a:schemeClr val="tx2"/>
            </a:solidFill>
            <a:prstDash val="solid"/>
          </a:ln>
        </p:spPr>
      </p:sp>
      <p:sp>
        <p:nvSpPr>
          <p:cNvPr id="26" name="text"/>
          <p:cNvSpPr txBox="1"/>
          <p:nvPr/>
        </p:nvSpPr>
        <p:spPr>
          <a:xfrm>
            <a:off x="822960" y="5074920"/>
            <a:ext cx="10545775" cy="960120"/>
          </a:xfrm>
          <a:prstGeom prst="rect">
            <a:avLst/>
          </a:prstGeom>
          <a:noFill/>
          <a:ln/>
        </p:spPr>
        <p:txBody>
          <a:bodyPr wrap="square" lIns="0" tIns="0" rIns="0" bIns="0" rtlCol="0" anchor="ctr"/>
          <a:lstStyle/>
          <a:p>
            <a:pPr indent="0" marL="0">
              <a:buNone/>
            </a:pPr>
            <a:r>
              <a:rPr lang="en-US" sz="1500" dirty="0">
                <a:solidFill>
                  <a:schemeClr val="bg1"/>
                </a:solidFill>
              </a:rPr>
              <a:t>Every difference is a definition question: what counts as a flow, which date, which channel, who owns the rule. None of them is a technology question. A taxonomy settles definitions once, with an owner; data products carry them through without rewriting them.</a:t>
            </a:r>
            <a:endParaRPr lang="en-US" sz="15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1094415" cy="457200"/>
          </a:xfrm>
          <a:prstGeom prst="rect">
            <a:avLst/>
          </a:prstGeom>
          <a:noFill/>
          <a:ln/>
        </p:spPr>
        <p:txBody>
          <a:bodyPr wrap="square" lIns="0" tIns="0" rIns="0" bIns="0" rtlCol="0"/>
          <a:lstStyle/>
          <a:p>
            <a:pPr indent="0" marL="0">
              <a:buNone/>
            </a:pPr>
            <a:r>
              <a:rPr lang="en-US" sz="1600" dirty="0">
                <a:solidFill>
                  <a:schemeClr val="bg2"/>
                </a:solidFill>
              </a:rPr>
              <a:t>PART 1</a:t>
            </a:r>
            <a:endParaRPr lang="en-US" sz="1600" dirty="0"/>
          </a:p>
        </p:txBody>
      </p:sp>
      <p:sp>
        <p:nvSpPr>
          <p:cNvPr id="3" name="Text 0"/>
          <p:cNvSpPr/>
          <p:nvPr>
            <p:ph idx="101" type="title" hasCustomPrompt="1"/>
          </p:nvPr>
        </p:nvSpPr>
        <p:spPr>
          <a:xfrm>
            <a:off x="548640" y="2606040"/>
            <a:ext cx="11094415" cy="1280160"/>
          </a:xfrm>
          <a:prstGeom prst="rect">
            <a:avLst/>
          </a:prstGeom>
          <a:noFill/>
          <a:ln/>
        </p:spPr>
        <p:txBody>
          <a:bodyPr wrap="square" lIns="0" tIns="0" rIns="0" bIns="0" rtlCol="0" anchor="t"/>
          <a:lstStyle/>
          <a:p>
            <a:pPr algn="l" indent="0" marL="0">
              <a:buNone/>
            </a:pPr>
            <a:r>
              <a:rPr lang="en-US" sz="4000" b="1" dirty="0">
                <a:solidFill>
                  <a:schemeClr val="bg1"/>
                </a:solidFill>
              </a:rPr>
              <a:t>Data foundations: the taxonomy</a:t>
            </a:r>
            <a:endParaRPr lang="en-US" sz="4000" dirty="0"/>
          </a:p>
        </p:txBody>
      </p:sp>
      <p:sp>
        <p:nvSpPr>
          <p:cNvPr id="4" name="Text 0"/>
          <p:cNvSpPr/>
          <p:nvPr>
            <p:ph idx="102" type="body" hasCustomPrompt="1"/>
          </p:nvPr>
        </p:nvSpPr>
        <p:spPr>
          <a:xfrm>
            <a:off x="548640" y="4023360"/>
            <a:ext cx="8686800" cy="1463040"/>
          </a:xfrm>
          <a:prstGeom prst="rect">
            <a:avLst/>
          </a:prstGeom>
          <a:noFill/>
          <a:ln/>
        </p:spPr>
        <p:txBody>
          <a:bodyPr wrap="square" lIns="0" tIns="0" rIns="0" bIns="0" rtlCol="0" anchor="t"/>
          <a:lstStyle/>
          <a:p>
            <a:pPr indent="0" marL="0">
              <a:buNone/>
            </a:pPr>
            <a:r>
              <a:rPr lang="en-US" sz="1800" dirty="0">
                <a:solidFill>
                  <a:schemeClr val="bg2"/>
                </a:solidFill>
              </a:rPr>
              <a:t>One hierarchy. One owner per concept. Fifty Data Domains that say what every business term means, built and validated like code.</a:t>
            </a:r>
            <a:endParaRPr lang="en-US" sz="1800" dirty="0"/>
          </a:p>
        </p:txBody>
      </p:sp>
      <p:sp>
        <p:nvSpPr>
          <p:cNvPr id="5" name="chip"/>
          <p:cNvSpPr/>
          <p:nvPr/>
        </p:nvSpPr>
        <p:spPr>
          <a:xfrm>
            <a:off x="548640" y="1371600"/>
            <a:ext cx="384048" cy="384048"/>
          </a:xfrm>
          <a:prstGeom prst="ellipse">
            <a:avLst/>
          </a:prstGeom>
          <a:solidFill>
            <a:schemeClr val="accent1"/>
          </a:solidFill>
          <a:ln w="12700">
            <a:solidFill>
              <a:schemeClr val="accent1"/>
            </a:solidFill>
            <a:prstDash val="solid"/>
          </a:ln>
        </p:spPr>
      </p:sp>
      <p:sp>
        <p:nvSpPr>
          <p:cNvPr id="6" name="text"/>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7" name="text"/>
          <p:cNvSpPr txBox="1"/>
          <p:nvPr/>
        </p:nvSpPr>
        <p:spPr>
          <a:xfrm>
            <a:off x="1042416" y="1353312"/>
            <a:ext cx="2011680" cy="420624"/>
          </a:xfrm>
          <a:prstGeom prst="rect">
            <a:avLst/>
          </a:prstGeom>
          <a:noFill/>
          <a:ln/>
        </p:spPr>
        <p:txBody>
          <a:bodyPr wrap="square" lIns="0" tIns="0" rIns="0" bIns="0" rtlCol="0" anchor="ctr"/>
          <a:lstStyle/>
          <a:p>
            <a:pPr indent="0" marL="0">
              <a:buNone/>
            </a:pPr>
            <a:r>
              <a:rPr lang="en-US" sz="1400" b="1" dirty="0">
                <a:solidFill>
                  <a:schemeClr val="bg1"/>
                </a:solidFill>
              </a:rPr>
              <a:t>Taxonomy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One hierarchy, four levels, followed for one attribute</a:t>
            </a:r>
            <a:endParaRPr lang="en-US" sz="2800" dirty="0"/>
          </a:p>
        </p:txBody>
      </p:sp>
      <p:sp>
        <p:nvSpPr>
          <p:cNvPr id="4" name="card"/>
          <p:cNvSpPr/>
          <p:nvPr/>
        </p:nvSpPr>
        <p:spPr>
          <a:xfrm>
            <a:off x="548640" y="1417320"/>
            <a:ext cx="6583680" cy="960120"/>
          </a:xfrm>
          <a:prstGeom prst="roundRect">
            <a:avLst>
              <a:gd name="adj" fmla="val 7619"/>
            </a:avLst>
          </a:prstGeom>
          <a:solidFill>
            <a:schemeClr val="bg2"/>
          </a:solidFill>
          <a:ln w="12700">
            <a:solidFill>
              <a:schemeClr val="bg2"/>
            </a:solidFill>
            <a:prstDash val="solid"/>
          </a:ln>
        </p:spPr>
      </p:sp>
      <p:sp>
        <p:nvSpPr>
          <p:cNvPr id="5" name="text"/>
          <p:cNvSpPr txBox="1"/>
          <p:nvPr/>
        </p:nvSpPr>
        <p:spPr>
          <a:xfrm>
            <a:off x="731520" y="1554480"/>
            <a:ext cx="457200" cy="365760"/>
          </a:xfrm>
          <a:prstGeom prst="rect">
            <a:avLst/>
          </a:prstGeom>
          <a:noFill/>
          <a:ln/>
        </p:spPr>
        <p:txBody>
          <a:bodyPr wrap="square" lIns="0" tIns="0" rIns="0" bIns="0" rtlCol="0" anchor="t"/>
          <a:lstStyle/>
          <a:p>
            <a:pPr indent="0" marL="0">
              <a:buNone/>
            </a:pPr>
            <a:r>
              <a:rPr lang="en-US" sz="1100" b="1" dirty="0">
                <a:solidFill>
                  <a:schemeClr val="accent1"/>
                </a:solidFill>
              </a:rPr>
              <a:t>L1</a:t>
            </a:r>
            <a:endParaRPr lang="en-US" sz="1100" dirty="0"/>
          </a:p>
        </p:txBody>
      </p:sp>
      <p:sp>
        <p:nvSpPr>
          <p:cNvPr id="6" name="text"/>
          <p:cNvSpPr txBox="1"/>
          <p:nvPr/>
        </p:nvSpPr>
        <p:spPr>
          <a:xfrm>
            <a:off x="1188720" y="1527048"/>
            <a:ext cx="2103120" cy="365760"/>
          </a:xfrm>
          <a:prstGeom prst="rect">
            <a:avLst/>
          </a:prstGeom>
          <a:noFill/>
          <a:ln/>
        </p:spPr>
        <p:txBody>
          <a:bodyPr wrap="square" lIns="0" tIns="0" rIns="0" bIns="0" rtlCol="0" anchor="t"/>
          <a:lstStyle/>
          <a:p>
            <a:pPr indent="0" marL="0">
              <a:buNone/>
            </a:pPr>
            <a:r>
              <a:rPr lang="en-US" sz="1400" b="1" dirty="0">
                <a:solidFill>
                  <a:schemeClr val="tx2"/>
                </a:solidFill>
              </a:rPr>
              <a:t>Data Domain</a:t>
            </a:r>
            <a:endParaRPr lang="en-US" sz="1400" dirty="0"/>
          </a:p>
        </p:txBody>
      </p:sp>
      <p:sp>
        <p:nvSpPr>
          <p:cNvPr id="7" name="text"/>
          <p:cNvSpPr txBox="1"/>
          <p:nvPr/>
        </p:nvSpPr>
        <p:spPr>
          <a:xfrm>
            <a:off x="3291840" y="1527048"/>
            <a:ext cx="3657600" cy="365760"/>
          </a:xfrm>
          <a:prstGeom prst="rect">
            <a:avLst/>
          </a:prstGeom>
          <a:noFill/>
          <a:ln/>
        </p:spPr>
        <p:txBody>
          <a:bodyPr wrap="square" lIns="0" tIns="0" rIns="0" bIns="0" rtlCol="0" anchor="t"/>
          <a:lstStyle/>
          <a:p>
            <a:pPr indent="0" marL="0">
              <a:buNone/>
            </a:pPr>
            <a:r>
              <a:rPr lang="en-US" sz="1400" b="1" dirty="0">
                <a:solidFill>
                  <a:schemeClr val="accent1"/>
                </a:solidFill>
              </a:rPr>
              <a:t>02 Client &amp; Household</a:t>
            </a:r>
            <a:endParaRPr lang="en-US" sz="1400" dirty="0"/>
          </a:p>
        </p:txBody>
      </p:sp>
      <p:sp>
        <p:nvSpPr>
          <p:cNvPr id="8" name="text"/>
          <p:cNvSpPr txBox="1"/>
          <p:nvPr/>
        </p:nvSpPr>
        <p:spPr>
          <a:xfrm>
            <a:off x="1188720" y="1874520"/>
            <a:ext cx="5760720" cy="457200"/>
          </a:xfrm>
          <a:prstGeom prst="rect">
            <a:avLst/>
          </a:prstGeom>
          <a:noFill/>
          <a:ln/>
        </p:spPr>
        <p:txBody>
          <a:bodyPr wrap="square" lIns="0" tIns="0" rIns="0" bIns="0" rtlCol="0" anchor="t"/>
          <a:lstStyle/>
          <a:p>
            <a:pPr indent="0" marL="0">
              <a:buNone/>
            </a:pPr>
            <a:r>
              <a:rPr lang="en-US" sz="1100" dirty="0">
                <a:solidFill>
                  <a:schemeClr val="tx2"/>
                </a:solidFill>
              </a:rPr>
              <a:t>Masters the client master: who the client is, who acts for them, who they live and plan with, what they have told the firm, how identity was verified, what they consented to</a:t>
            </a:r>
            <a:endParaRPr lang="en-US" sz="1100" dirty="0"/>
          </a:p>
        </p:txBody>
      </p:sp>
      <p:sp>
        <p:nvSpPr>
          <p:cNvPr id="9" name="card"/>
          <p:cNvSpPr/>
          <p:nvPr/>
        </p:nvSpPr>
        <p:spPr>
          <a:xfrm>
            <a:off x="868680" y="2532888"/>
            <a:ext cx="6263640" cy="960120"/>
          </a:xfrm>
          <a:prstGeom prst="roundRect">
            <a:avLst>
              <a:gd name="adj" fmla="val 7619"/>
            </a:avLst>
          </a:prstGeom>
          <a:solidFill>
            <a:schemeClr val="bg2"/>
          </a:solidFill>
          <a:ln w="12700">
            <a:solidFill>
              <a:schemeClr val="bg2"/>
            </a:solidFill>
            <a:prstDash val="solid"/>
          </a:ln>
        </p:spPr>
      </p:sp>
      <p:sp>
        <p:nvSpPr>
          <p:cNvPr id="10" name="text"/>
          <p:cNvSpPr txBox="1"/>
          <p:nvPr/>
        </p:nvSpPr>
        <p:spPr>
          <a:xfrm>
            <a:off x="1051560" y="2670048"/>
            <a:ext cx="457200" cy="365760"/>
          </a:xfrm>
          <a:prstGeom prst="rect">
            <a:avLst/>
          </a:prstGeom>
          <a:noFill/>
          <a:ln/>
        </p:spPr>
        <p:txBody>
          <a:bodyPr wrap="square" lIns="0" tIns="0" rIns="0" bIns="0" rtlCol="0" anchor="t"/>
          <a:lstStyle/>
          <a:p>
            <a:pPr indent="0" marL="0">
              <a:buNone/>
            </a:pPr>
            <a:r>
              <a:rPr lang="en-US" sz="1100" b="1" dirty="0">
                <a:solidFill>
                  <a:schemeClr val="accent1"/>
                </a:solidFill>
              </a:rPr>
              <a:t>L2</a:t>
            </a:r>
            <a:endParaRPr lang="en-US" sz="1100" dirty="0"/>
          </a:p>
        </p:txBody>
      </p:sp>
      <p:sp>
        <p:nvSpPr>
          <p:cNvPr id="11" name="text"/>
          <p:cNvSpPr txBox="1"/>
          <p:nvPr/>
        </p:nvSpPr>
        <p:spPr>
          <a:xfrm>
            <a:off x="1508760" y="2642616"/>
            <a:ext cx="2103120" cy="365760"/>
          </a:xfrm>
          <a:prstGeom prst="rect">
            <a:avLst/>
          </a:prstGeom>
          <a:noFill/>
          <a:ln/>
        </p:spPr>
        <p:txBody>
          <a:bodyPr wrap="square" lIns="0" tIns="0" rIns="0" bIns="0" rtlCol="0" anchor="t"/>
          <a:lstStyle/>
          <a:p>
            <a:pPr indent="0" marL="0">
              <a:buNone/>
            </a:pPr>
            <a:r>
              <a:rPr lang="en-US" sz="1400" b="1" dirty="0">
                <a:solidFill>
                  <a:schemeClr val="tx2"/>
                </a:solidFill>
              </a:rPr>
              <a:t>Data Family</a:t>
            </a:r>
            <a:endParaRPr lang="en-US" sz="1400" dirty="0"/>
          </a:p>
        </p:txBody>
      </p:sp>
      <p:sp>
        <p:nvSpPr>
          <p:cNvPr id="12" name="text"/>
          <p:cNvSpPr txBox="1"/>
          <p:nvPr/>
        </p:nvSpPr>
        <p:spPr>
          <a:xfrm>
            <a:off x="3611880" y="2642616"/>
            <a:ext cx="3337560" cy="365760"/>
          </a:xfrm>
          <a:prstGeom prst="rect">
            <a:avLst/>
          </a:prstGeom>
          <a:noFill/>
          <a:ln/>
        </p:spPr>
        <p:txBody>
          <a:bodyPr wrap="square" lIns="0" tIns="0" rIns="0" bIns="0" rtlCol="0" anchor="t"/>
          <a:lstStyle/>
          <a:p>
            <a:pPr indent="0" marL="0">
              <a:buNone/>
            </a:pPr>
            <a:r>
              <a:rPr lang="en-US" sz="1400" b="1" dirty="0">
                <a:solidFill>
                  <a:schemeClr val="accent1"/>
                </a:solidFill>
              </a:rPr>
              <a:t>Households &amp; Relationships</a:t>
            </a:r>
            <a:endParaRPr lang="en-US" sz="1400" dirty="0"/>
          </a:p>
        </p:txBody>
      </p:sp>
      <p:sp>
        <p:nvSpPr>
          <p:cNvPr id="13" name="text"/>
          <p:cNvSpPr txBox="1"/>
          <p:nvPr/>
        </p:nvSpPr>
        <p:spPr>
          <a:xfrm>
            <a:off x="1508760" y="2990088"/>
            <a:ext cx="5440680" cy="457200"/>
          </a:xfrm>
          <a:prstGeom prst="rect">
            <a:avLst/>
          </a:prstGeom>
          <a:noFill/>
          <a:ln/>
        </p:spPr>
        <p:txBody>
          <a:bodyPr wrap="square" lIns="0" tIns="0" rIns="0" bIns="0" rtlCol="0" anchor="t"/>
          <a:lstStyle/>
          <a:p>
            <a:pPr indent="0" marL="0">
              <a:buNone/>
            </a:pPr>
            <a:r>
              <a:rPr lang="en-US" sz="1100" dirty="0">
                <a:solidFill>
                  <a:schemeClr val="tx2"/>
                </a:solidFill>
              </a:rPr>
              <a:t>Client Households, their effective-dated membership and the relationships between parties</a:t>
            </a:r>
            <a:endParaRPr lang="en-US" sz="1100" dirty="0"/>
          </a:p>
        </p:txBody>
      </p:sp>
      <p:sp>
        <p:nvSpPr>
          <p:cNvPr id="14" name="card"/>
          <p:cNvSpPr/>
          <p:nvPr/>
        </p:nvSpPr>
        <p:spPr>
          <a:xfrm>
            <a:off x="1188720" y="3648456"/>
            <a:ext cx="5943600" cy="960120"/>
          </a:xfrm>
          <a:prstGeom prst="roundRect">
            <a:avLst>
              <a:gd name="adj" fmla="val 7619"/>
            </a:avLst>
          </a:prstGeom>
          <a:solidFill>
            <a:schemeClr val="bg2"/>
          </a:solidFill>
          <a:ln w="12700">
            <a:solidFill>
              <a:schemeClr val="bg2"/>
            </a:solidFill>
            <a:prstDash val="solid"/>
          </a:ln>
        </p:spPr>
      </p:sp>
      <p:sp>
        <p:nvSpPr>
          <p:cNvPr id="15" name="text"/>
          <p:cNvSpPr txBox="1"/>
          <p:nvPr/>
        </p:nvSpPr>
        <p:spPr>
          <a:xfrm>
            <a:off x="1371600" y="3785616"/>
            <a:ext cx="457200" cy="365760"/>
          </a:xfrm>
          <a:prstGeom prst="rect">
            <a:avLst/>
          </a:prstGeom>
          <a:noFill/>
          <a:ln/>
        </p:spPr>
        <p:txBody>
          <a:bodyPr wrap="square" lIns="0" tIns="0" rIns="0" bIns="0" rtlCol="0" anchor="t"/>
          <a:lstStyle/>
          <a:p>
            <a:pPr indent="0" marL="0">
              <a:buNone/>
            </a:pPr>
            <a:r>
              <a:rPr lang="en-US" sz="1100" b="1" dirty="0">
                <a:solidFill>
                  <a:schemeClr val="accent1"/>
                </a:solidFill>
              </a:rPr>
              <a:t>L3</a:t>
            </a:r>
            <a:endParaRPr lang="en-US" sz="1100" dirty="0"/>
          </a:p>
        </p:txBody>
      </p:sp>
      <p:sp>
        <p:nvSpPr>
          <p:cNvPr id="16" name="text"/>
          <p:cNvSpPr txBox="1"/>
          <p:nvPr/>
        </p:nvSpPr>
        <p:spPr>
          <a:xfrm>
            <a:off x="1828800" y="3758184"/>
            <a:ext cx="2103120" cy="365760"/>
          </a:xfrm>
          <a:prstGeom prst="rect">
            <a:avLst/>
          </a:prstGeom>
          <a:noFill/>
          <a:ln/>
        </p:spPr>
        <p:txBody>
          <a:bodyPr wrap="square" lIns="0" tIns="0" rIns="0" bIns="0" rtlCol="0" anchor="t"/>
          <a:lstStyle/>
          <a:p>
            <a:pPr indent="0" marL="0">
              <a:buNone/>
            </a:pPr>
            <a:r>
              <a:rPr lang="en-US" sz="1400" b="1" dirty="0">
                <a:solidFill>
                  <a:schemeClr val="tx2"/>
                </a:solidFill>
              </a:rPr>
              <a:t>Data Business Object</a:t>
            </a:r>
            <a:endParaRPr lang="en-US" sz="1400" dirty="0"/>
          </a:p>
        </p:txBody>
      </p:sp>
      <p:sp>
        <p:nvSpPr>
          <p:cNvPr id="17" name="text"/>
          <p:cNvSpPr txBox="1"/>
          <p:nvPr/>
        </p:nvSpPr>
        <p:spPr>
          <a:xfrm>
            <a:off x="3931920" y="3758184"/>
            <a:ext cx="3017520" cy="365760"/>
          </a:xfrm>
          <a:prstGeom prst="rect">
            <a:avLst/>
          </a:prstGeom>
          <a:noFill/>
          <a:ln/>
        </p:spPr>
        <p:txBody>
          <a:bodyPr wrap="square" lIns="0" tIns="0" rIns="0" bIns="0" rtlCol="0" anchor="t"/>
          <a:lstStyle/>
          <a:p>
            <a:pPr indent="0" marL="0">
              <a:buNone/>
            </a:pPr>
            <a:r>
              <a:rPr lang="en-US" sz="1400" b="1" dirty="0">
                <a:solidFill>
                  <a:schemeClr val="accent1"/>
                </a:solidFill>
              </a:rPr>
              <a:t>Household</a:t>
            </a:r>
            <a:endParaRPr lang="en-US" sz="1400" dirty="0"/>
          </a:p>
        </p:txBody>
      </p:sp>
      <p:sp>
        <p:nvSpPr>
          <p:cNvPr id="18" name="text"/>
          <p:cNvSpPr txBox="1"/>
          <p:nvPr/>
        </p:nvSpPr>
        <p:spPr>
          <a:xfrm>
            <a:off x="1828800" y="4105656"/>
            <a:ext cx="5120640" cy="457200"/>
          </a:xfrm>
          <a:prstGeom prst="rect">
            <a:avLst/>
          </a:prstGeom>
          <a:noFill/>
          <a:ln/>
        </p:spPr>
        <p:txBody>
          <a:bodyPr wrap="square" lIns="0" tIns="0" rIns="0" bIns="0" rtlCol="0" anchor="t"/>
          <a:lstStyle/>
          <a:p>
            <a:pPr indent="0" marL="0">
              <a:buNone/>
            </a:pPr>
            <a:r>
              <a:rPr lang="en-US" sz="1100" dirty="0">
                <a:solidFill>
                  <a:schemeClr val="tx2"/>
                </a:solidFill>
              </a:rPr>
              <a:t>The Client Household: a party of type Household, key PTY-HH-. Carried as an attribute group of Party, as Individual and Organization are</a:t>
            </a:r>
            <a:endParaRPr lang="en-US" sz="1100" dirty="0"/>
          </a:p>
        </p:txBody>
      </p:sp>
      <p:sp>
        <p:nvSpPr>
          <p:cNvPr id="19" name="card"/>
          <p:cNvSpPr/>
          <p:nvPr/>
        </p:nvSpPr>
        <p:spPr>
          <a:xfrm>
            <a:off x="1508760" y="4764024"/>
            <a:ext cx="5623560" cy="960120"/>
          </a:xfrm>
          <a:prstGeom prst="roundRect">
            <a:avLst>
              <a:gd name="adj" fmla="val 7619"/>
            </a:avLst>
          </a:prstGeom>
          <a:solidFill>
            <a:schemeClr val="accent1"/>
          </a:solidFill>
          <a:ln w="12700">
            <a:solidFill>
              <a:schemeClr val="accent1"/>
            </a:solidFill>
            <a:prstDash val="solid"/>
          </a:ln>
        </p:spPr>
      </p:sp>
      <p:sp>
        <p:nvSpPr>
          <p:cNvPr id="20" name="text"/>
          <p:cNvSpPr txBox="1"/>
          <p:nvPr/>
        </p:nvSpPr>
        <p:spPr>
          <a:xfrm>
            <a:off x="1691640" y="4901184"/>
            <a:ext cx="457200" cy="365760"/>
          </a:xfrm>
          <a:prstGeom prst="rect">
            <a:avLst/>
          </a:prstGeom>
          <a:noFill/>
          <a:ln/>
        </p:spPr>
        <p:txBody>
          <a:bodyPr wrap="square" lIns="0" tIns="0" rIns="0" bIns="0" rtlCol="0" anchor="t"/>
          <a:lstStyle/>
          <a:p>
            <a:pPr indent="0" marL="0">
              <a:buNone/>
            </a:pPr>
            <a:r>
              <a:rPr lang="en-US" sz="1100" b="1" dirty="0">
                <a:solidFill>
                  <a:schemeClr val="bg1"/>
                </a:solidFill>
              </a:rPr>
              <a:t>L4</a:t>
            </a:r>
            <a:endParaRPr lang="en-US" sz="1100" dirty="0"/>
          </a:p>
        </p:txBody>
      </p:sp>
      <p:sp>
        <p:nvSpPr>
          <p:cNvPr id="21" name="text"/>
          <p:cNvSpPr txBox="1"/>
          <p:nvPr/>
        </p:nvSpPr>
        <p:spPr>
          <a:xfrm>
            <a:off x="2148840" y="4873752"/>
            <a:ext cx="2103120" cy="365760"/>
          </a:xfrm>
          <a:prstGeom prst="rect">
            <a:avLst/>
          </a:prstGeom>
          <a:noFill/>
          <a:ln/>
        </p:spPr>
        <p:txBody>
          <a:bodyPr wrap="square" lIns="0" tIns="0" rIns="0" bIns="0" rtlCol="0" anchor="t"/>
          <a:lstStyle/>
          <a:p>
            <a:pPr indent="0" marL="0">
              <a:buNone/>
            </a:pPr>
            <a:r>
              <a:rPr lang="en-US" sz="1400" b="1" dirty="0">
                <a:solidFill>
                  <a:schemeClr val="bg1"/>
                </a:solidFill>
              </a:rPr>
              <a:t>Data Business Attribute</a:t>
            </a:r>
            <a:endParaRPr lang="en-US" sz="1400" dirty="0"/>
          </a:p>
        </p:txBody>
      </p:sp>
      <p:sp>
        <p:nvSpPr>
          <p:cNvPr id="22" name="text"/>
          <p:cNvSpPr txBox="1"/>
          <p:nvPr/>
        </p:nvSpPr>
        <p:spPr>
          <a:xfrm>
            <a:off x="4251960" y="4873752"/>
            <a:ext cx="2697480" cy="365760"/>
          </a:xfrm>
          <a:prstGeom prst="rect">
            <a:avLst/>
          </a:prstGeom>
          <a:noFill/>
          <a:ln/>
        </p:spPr>
        <p:txBody>
          <a:bodyPr wrap="square" lIns="0" tIns="0" rIns="0" bIns="0" rtlCol="0" anchor="t"/>
          <a:lstStyle/>
          <a:p>
            <a:pPr indent="0" marL="0">
              <a:buNone/>
            </a:pPr>
            <a:r>
              <a:rPr lang="en-US" sz="1400" b="1" dirty="0">
                <a:solidFill>
                  <a:schemeClr val="bg1"/>
                </a:solidFill>
              </a:rPr>
              <a:t>Primary Member</a:t>
            </a:r>
            <a:endParaRPr lang="en-US" sz="1400" dirty="0"/>
          </a:p>
        </p:txBody>
      </p:sp>
      <p:sp>
        <p:nvSpPr>
          <p:cNvPr id="23" name="text"/>
          <p:cNvSpPr txBox="1"/>
          <p:nvPr/>
        </p:nvSpPr>
        <p:spPr>
          <a:xfrm>
            <a:off x="2148840" y="5221224"/>
            <a:ext cx="4800600" cy="457200"/>
          </a:xfrm>
          <a:prstGeom prst="rect">
            <a:avLst/>
          </a:prstGeom>
          <a:noFill/>
          <a:ln/>
        </p:spPr>
        <p:txBody>
          <a:bodyPr wrap="square" lIns="0" tIns="0" rIns="0" bIns="0" rtlCol="0" anchor="t"/>
          <a:lstStyle/>
          <a:p>
            <a:pPr indent="0" marL="0">
              <a:buNone/>
            </a:pPr>
            <a:r>
              <a:rPr lang="en-US" sz="1100" dirty="0">
                <a:solidFill>
                  <a:schemeClr val="bg1"/>
                </a:solidFill>
              </a:rPr>
              <a:t>The member designated as the household's primary contact</a:t>
            </a:r>
            <a:endParaRPr lang="en-US" sz="1100" dirty="0"/>
          </a:p>
        </p:txBody>
      </p:sp>
      <p:sp>
        <p:nvSpPr>
          <p:cNvPr id="24" name="card"/>
          <p:cNvSpPr/>
          <p:nvPr/>
        </p:nvSpPr>
        <p:spPr>
          <a:xfrm>
            <a:off x="7589520" y="1417320"/>
            <a:ext cx="4050792" cy="4434840"/>
          </a:xfrm>
          <a:prstGeom prst="roundRect">
            <a:avLst>
              <a:gd name="adj" fmla="val 1806"/>
            </a:avLst>
          </a:prstGeom>
          <a:solidFill>
            <a:schemeClr val="tx2"/>
          </a:solidFill>
          <a:ln w="12700">
            <a:solidFill>
              <a:schemeClr val="tx2"/>
            </a:solidFill>
            <a:prstDash val="solid"/>
          </a:ln>
        </p:spPr>
      </p:sp>
      <p:sp>
        <p:nvSpPr>
          <p:cNvPr id="25" name="text"/>
          <p:cNvSpPr txBox="1"/>
          <p:nvPr/>
        </p:nvSpPr>
        <p:spPr>
          <a:xfrm>
            <a:off x="7818120" y="1618488"/>
            <a:ext cx="3657600" cy="274320"/>
          </a:xfrm>
          <a:prstGeom prst="rect">
            <a:avLst/>
          </a:prstGeom>
          <a:noFill/>
          <a:ln/>
        </p:spPr>
        <p:txBody>
          <a:bodyPr wrap="square" lIns="0" tIns="0" rIns="0" bIns="0" rtlCol="0" anchor="t"/>
          <a:lstStyle/>
          <a:p>
            <a:pPr indent="0" marL="0">
              <a:buNone/>
            </a:pPr>
            <a:r>
              <a:rPr lang="en-US" sz="1100" b="1" dirty="0">
                <a:solidFill>
                  <a:schemeClr val="accent4"/>
                </a:solidFill>
              </a:rPr>
              <a:t>THE ATTRIBUTE RECORD</a:t>
            </a:r>
            <a:endParaRPr lang="en-US" sz="1100" dirty="0"/>
          </a:p>
        </p:txBody>
      </p:sp>
      <p:sp>
        <p:nvSpPr>
          <p:cNvPr id="26" name="text"/>
          <p:cNvSpPr txBox="1"/>
          <p:nvPr/>
        </p:nvSpPr>
        <p:spPr>
          <a:xfrm>
            <a:off x="7818120" y="2011680"/>
            <a:ext cx="1188720" cy="384048"/>
          </a:xfrm>
          <a:prstGeom prst="rect">
            <a:avLst/>
          </a:prstGeom>
          <a:noFill/>
          <a:ln/>
        </p:spPr>
        <p:txBody>
          <a:bodyPr wrap="square" lIns="0" tIns="0" rIns="0" bIns="0" rtlCol="0" anchor="t"/>
          <a:lstStyle/>
          <a:p>
            <a:pPr indent="0" marL="0">
              <a:buNone/>
            </a:pPr>
            <a:r>
              <a:rPr lang="en-US" sz="1100" b="1" dirty="0">
                <a:solidFill>
                  <a:schemeClr val="bg2"/>
                </a:solidFill>
              </a:rPr>
              <a:t>Attribute</a:t>
            </a:r>
            <a:endParaRPr lang="en-US" sz="1100" dirty="0"/>
          </a:p>
        </p:txBody>
      </p:sp>
      <p:sp>
        <p:nvSpPr>
          <p:cNvPr id="27" name="text"/>
          <p:cNvSpPr txBox="1"/>
          <p:nvPr/>
        </p:nvSpPr>
        <p:spPr>
          <a:xfrm>
            <a:off x="9052560" y="2011680"/>
            <a:ext cx="2468880" cy="384048"/>
          </a:xfrm>
          <a:prstGeom prst="rect">
            <a:avLst/>
          </a:prstGeom>
          <a:noFill/>
          <a:ln/>
        </p:spPr>
        <p:txBody>
          <a:bodyPr wrap="square" lIns="0" tIns="0" rIns="0" bIns="0" rtlCol="0" anchor="t"/>
          <a:lstStyle/>
          <a:p>
            <a:pPr indent="0" marL="0">
              <a:buNone/>
            </a:pPr>
            <a:r>
              <a:rPr lang="en-US" sz="1100" dirty="0">
                <a:solidFill>
                  <a:schemeClr val="bg1"/>
                </a:solidFill>
              </a:rPr>
              <a:t>Primary Member</a:t>
            </a:r>
            <a:endParaRPr lang="en-US" sz="1100" dirty="0"/>
          </a:p>
        </p:txBody>
      </p:sp>
      <p:sp>
        <p:nvSpPr>
          <p:cNvPr id="28" name="text"/>
          <p:cNvSpPr txBox="1"/>
          <p:nvPr/>
        </p:nvSpPr>
        <p:spPr>
          <a:xfrm>
            <a:off x="7818120" y="2423160"/>
            <a:ext cx="1188720" cy="384048"/>
          </a:xfrm>
          <a:prstGeom prst="rect">
            <a:avLst/>
          </a:prstGeom>
          <a:noFill/>
          <a:ln/>
        </p:spPr>
        <p:txBody>
          <a:bodyPr wrap="square" lIns="0" tIns="0" rIns="0" bIns="0" rtlCol="0" anchor="t"/>
          <a:lstStyle/>
          <a:p>
            <a:pPr indent="0" marL="0">
              <a:buNone/>
            </a:pPr>
            <a:r>
              <a:rPr lang="en-US" sz="1100" b="1" dirty="0">
                <a:solidFill>
                  <a:schemeClr val="bg2"/>
                </a:solidFill>
              </a:rPr>
              <a:t>Definition</a:t>
            </a:r>
            <a:endParaRPr lang="en-US" sz="1100" dirty="0"/>
          </a:p>
        </p:txBody>
      </p:sp>
      <p:sp>
        <p:nvSpPr>
          <p:cNvPr id="29" name="text"/>
          <p:cNvSpPr txBox="1"/>
          <p:nvPr/>
        </p:nvSpPr>
        <p:spPr>
          <a:xfrm>
            <a:off x="9052560" y="2423160"/>
            <a:ext cx="2468880" cy="384048"/>
          </a:xfrm>
          <a:prstGeom prst="rect">
            <a:avLst/>
          </a:prstGeom>
          <a:noFill/>
          <a:ln/>
        </p:spPr>
        <p:txBody>
          <a:bodyPr wrap="square" lIns="0" tIns="0" rIns="0" bIns="0" rtlCol="0" anchor="t"/>
          <a:lstStyle/>
          <a:p>
            <a:pPr indent="0" marL="0">
              <a:buNone/>
            </a:pPr>
            <a:r>
              <a:rPr lang="en-US" sz="1100" dirty="0">
                <a:solidFill>
                  <a:schemeClr val="bg1"/>
                </a:solidFill>
              </a:rPr>
              <a:t>Member designated as the household's primary contact</a:t>
            </a:r>
            <a:endParaRPr lang="en-US" sz="1100" dirty="0"/>
          </a:p>
        </p:txBody>
      </p:sp>
      <p:sp>
        <p:nvSpPr>
          <p:cNvPr id="30" name="text"/>
          <p:cNvSpPr txBox="1"/>
          <p:nvPr/>
        </p:nvSpPr>
        <p:spPr>
          <a:xfrm>
            <a:off x="7818120" y="2834640"/>
            <a:ext cx="1188720" cy="384048"/>
          </a:xfrm>
          <a:prstGeom prst="rect">
            <a:avLst/>
          </a:prstGeom>
          <a:noFill/>
          <a:ln/>
        </p:spPr>
        <p:txBody>
          <a:bodyPr wrap="square" lIns="0" tIns="0" rIns="0" bIns="0" rtlCol="0" anchor="t"/>
          <a:lstStyle/>
          <a:p>
            <a:pPr indent="0" marL="0">
              <a:buNone/>
            </a:pPr>
            <a:r>
              <a:rPr lang="en-US" sz="1100" b="1" dirty="0">
                <a:solidFill>
                  <a:schemeClr val="bg2"/>
                </a:solidFill>
              </a:rPr>
              <a:t>Applies to</a:t>
            </a:r>
            <a:endParaRPr lang="en-US" sz="1100" dirty="0"/>
          </a:p>
        </p:txBody>
      </p:sp>
      <p:sp>
        <p:nvSpPr>
          <p:cNvPr id="31" name="text"/>
          <p:cNvSpPr txBox="1"/>
          <p:nvPr/>
        </p:nvSpPr>
        <p:spPr>
          <a:xfrm>
            <a:off x="9052560" y="2834640"/>
            <a:ext cx="2468880" cy="384048"/>
          </a:xfrm>
          <a:prstGeom prst="rect">
            <a:avLst/>
          </a:prstGeom>
          <a:noFill/>
          <a:ln/>
        </p:spPr>
        <p:txBody>
          <a:bodyPr wrap="square" lIns="0" tIns="0" rIns="0" bIns="0" rtlCol="0" anchor="t"/>
          <a:lstStyle/>
          <a:p>
            <a:pPr indent="0" marL="0">
              <a:buNone/>
            </a:pPr>
            <a:r>
              <a:rPr lang="en-US" sz="1100" dirty="0">
                <a:solidFill>
                  <a:schemeClr val="bg1"/>
                </a:solidFill>
              </a:rPr>
              <a:t>Household</a:t>
            </a:r>
            <a:endParaRPr lang="en-US" sz="1100" dirty="0"/>
          </a:p>
        </p:txBody>
      </p:sp>
      <p:sp>
        <p:nvSpPr>
          <p:cNvPr id="32" name="text"/>
          <p:cNvSpPr txBox="1"/>
          <p:nvPr/>
        </p:nvSpPr>
        <p:spPr>
          <a:xfrm>
            <a:off x="7818120" y="3246120"/>
            <a:ext cx="1188720" cy="384048"/>
          </a:xfrm>
          <a:prstGeom prst="rect">
            <a:avLst/>
          </a:prstGeom>
          <a:noFill/>
          <a:ln/>
        </p:spPr>
        <p:txBody>
          <a:bodyPr wrap="square" lIns="0" tIns="0" rIns="0" bIns="0" rtlCol="0" anchor="t"/>
          <a:lstStyle/>
          <a:p>
            <a:pPr indent="0" marL="0">
              <a:buNone/>
            </a:pPr>
            <a:r>
              <a:rPr lang="en-US" sz="1100" b="1" dirty="0">
                <a:solidFill>
                  <a:schemeClr val="bg2"/>
                </a:solidFill>
              </a:rPr>
              <a:t>Data type</a:t>
            </a:r>
            <a:endParaRPr lang="en-US" sz="1100" dirty="0"/>
          </a:p>
        </p:txBody>
      </p:sp>
      <p:sp>
        <p:nvSpPr>
          <p:cNvPr id="33" name="text"/>
          <p:cNvSpPr txBox="1"/>
          <p:nvPr/>
        </p:nvSpPr>
        <p:spPr>
          <a:xfrm>
            <a:off x="9052560" y="3246120"/>
            <a:ext cx="2468880" cy="384048"/>
          </a:xfrm>
          <a:prstGeom prst="rect">
            <a:avLst/>
          </a:prstGeom>
          <a:noFill/>
          <a:ln/>
        </p:spPr>
        <p:txBody>
          <a:bodyPr wrap="square" lIns="0" tIns="0" rIns="0" bIns="0" rtlCol="0" anchor="t"/>
          <a:lstStyle/>
          <a:p>
            <a:pPr indent="0" marL="0">
              <a:buNone/>
            </a:pPr>
            <a:r>
              <a:rPr lang="en-US" sz="1100" dirty="0">
                <a:solidFill>
                  <a:schemeClr val="bg1"/>
                </a:solidFill>
              </a:rPr>
              <a:t>Reference (Party)</a:t>
            </a:r>
            <a:endParaRPr lang="en-US" sz="1100" dirty="0"/>
          </a:p>
        </p:txBody>
      </p:sp>
      <p:sp>
        <p:nvSpPr>
          <p:cNvPr id="34" name="text"/>
          <p:cNvSpPr txBox="1"/>
          <p:nvPr/>
        </p:nvSpPr>
        <p:spPr>
          <a:xfrm>
            <a:off x="7818120" y="3657600"/>
            <a:ext cx="1188720" cy="384048"/>
          </a:xfrm>
          <a:prstGeom prst="rect">
            <a:avLst/>
          </a:prstGeom>
          <a:noFill/>
          <a:ln/>
        </p:spPr>
        <p:txBody>
          <a:bodyPr wrap="square" lIns="0" tIns="0" rIns="0" bIns="0" rtlCol="0" anchor="t"/>
          <a:lstStyle/>
          <a:p>
            <a:pPr indent="0" marL="0">
              <a:buNone/>
            </a:pPr>
            <a:r>
              <a:rPr lang="en-US" sz="1100" b="1" dirty="0">
                <a:solidFill>
                  <a:schemeClr val="bg2"/>
                </a:solidFill>
              </a:rPr>
              <a:t>Example</a:t>
            </a:r>
            <a:endParaRPr lang="en-US" sz="1100" dirty="0"/>
          </a:p>
        </p:txBody>
      </p:sp>
      <p:sp>
        <p:nvSpPr>
          <p:cNvPr id="35" name="text"/>
          <p:cNvSpPr txBox="1"/>
          <p:nvPr/>
        </p:nvSpPr>
        <p:spPr>
          <a:xfrm>
            <a:off x="9052560" y="3657600"/>
            <a:ext cx="2468880" cy="384048"/>
          </a:xfrm>
          <a:prstGeom prst="rect">
            <a:avLst/>
          </a:prstGeom>
          <a:noFill/>
          <a:ln/>
        </p:spPr>
        <p:txBody>
          <a:bodyPr wrap="square" lIns="0" tIns="0" rIns="0" bIns="0" rtlCol="0" anchor="t"/>
          <a:lstStyle/>
          <a:p>
            <a:pPr indent="0" marL="0">
              <a:buNone/>
            </a:pPr>
            <a:r>
              <a:rPr lang="en-US" sz="1100" dirty="0">
                <a:solidFill>
                  <a:schemeClr val="bg1"/>
                </a:solidFill>
              </a:rPr>
              <a:t>PTY-104588</a:t>
            </a:r>
            <a:endParaRPr lang="en-US" sz="1100" dirty="0"/>
          </a:p>
        </p:txBody>
      </p:sp>
      <p:sp>
        <p:nvSpPr>
          <p:cNvPr id="36" name="text"/>
          <p:cNvSpPr txBox="1"/>
          <p:nvPr/>
        </p:nvSpPr>
        <p:spPr>
          <a:xfrm>
            <a:off x="7818120" y="4069080"/>
            <a:ext cx="1188720" cy="384048"/>
          </a:xfrm>
          <a:prstGeom prst="rect">
            <a:avLst/>
          </a:prstGeom>
          <a:noFill/>
          <a:ln/>
        </p:spPr>
        <p:txBody>
          <a:bodyPr wrap="square" lIns="0" tIns="0" rIns="0" bIns="0" rtlCol="0" anchor="t"/>
          <a:lstStyle/>
          <a:p>
            <a:pPr indent="0" marL="0">
              <a:buNone/>
            </a:pPr>
            <a:r>
              <a:rPr lang="en-US" sz="1100" b="1" dirty="0">
                <a:solidFill>
                  <a:schemeClr val="bg2"/>
                </a:solidFill>
              </a:rPr>
              <a:t>Ownership</a:t>
            </a:r>
            <a:endParaRPr lang="en-US" sz="1100" dirty="0"/>
          </a:p>
        </p:txBody>
      </p:sp>
      <p:sp>
        <p:nvSpPr>
          <p:cNvPr id="37" name="text"/>
          <p:cNvSpPr txBox="1"/>
          <p:nvPr/>
        </p:nvSpPr>
        <p:spPr>
          <a:xfrm>
            <a:off x="9052560" y="4069080"/>
            <a:ext cx="2468880" cy="384048"/>
          </a:xfrm>
          <a:prstGeom prst="rect">
            <a:avLst/>
          </a:prstGeom>
          <a:noFill/>
          <a:ln/>
        </p:spPr>
        <p:txBody>
          <a:bodyPr wrap="square" lIns="0" tIns="0" rIns="0" bIns="0" rtlCol="0" anchor="t"/>
          <a:lstStyle/>
          <a:p>
            <a:pPr indent="0" marL="0">
              <a:buNone/>
            </a:pPr>
            <a:r>
              <a:rPr lang="en-US" sz="1100" dirty="0">
                <a:solidFill>
                  <a:schemeClr val="bg1"/>
                </a:solidFill>
              </a:rPr>
              <a:t>Mastered here (02)</a:t>
            </a:r>
            <a:endParaRPr lang="en-US" sz="1100" dirty="0"/>
          </a:p>
        </p:txBody>
      </p:sp>
      <p:sp>
        <p:nvSpPr>
          <p:cNvPr id="38" name="text"/>
          <p:cNvSpPr txBox="1"/>
          <p:nvPr/>
        </p:nvSpPr>
        <p:spPr>
          <a:xfrm>
            <a:off x="7818120" y="4480560"/>
            <a:ext cx="1188720" cy="384048"/>
          </a:xfrm>
          <a:prstGeom prst="rect">
            <a:avLst/>
          </a:prstGeom>
          <a:noFill/>
          <a:ln/>
        </p:spPr>
        <p:txBody>
          <a:bodyPr wrap="square" lIns="0" tIns="0" rIns="0" bIns="0" rtlCol="0" anchor="t"/>
          <a:lstStyle/>
          <a:p>
            <a:pPr indent="0" marL="0">
              <a:buNone/>
            </a:pPr>
            <a:r>
              <a:rPr lang="en-US" sz="1100" b="1" dirty="0">
                <a:solidFill>
                  <a:schemeClr val="bg2"/>
                </a:solidFill>
              </a:rPr>
              <a:t>Aligned to</a:t>
            </a:r>
            <a:endParaRPr lang="en-US" sz="1100" dirty="0"/>
          </a:p>
        </p:txBody>
      </p:sp>
      <p:sp>
        <p:nvSpPr>
          <p:cNvPr id="39" name="text"/>
          <p:cNvSpPr txBox="1"/>
          <p:nvPr/>
        </p:nvSpPr>
        <p:spPr>
          <a:xfrm>
            <a:off x="9052560" y="4480560"/>
            <a:ext cx="2468880" cy="384048"/>
          </a:xfrm>
          <a:prstGeom prst="rect">
            <a:avLst/>
          </a:prstGeom>
          <a:noFill/>
          <a:ln/>
        </p:spPr>
        <p:txBody>
          <a:bodyPr wrap="square" lIns="0" tIns="0" rIns="0" bIns="0" rtlCol="0" anchor="t"/>
          <a:lstStyle/>
          <a:p>
            <a:pPr indent="0" marL="0">
              <a:buNone/>
            </a:pPr>
            <a:r>
              <a:rPr lang="en-US" sz="1100" dirty="0">
                <a:solidFill>
                  <a:schemeClr val="bg1"/>
                </a:solidFill>
              </a:rPr>
              <a:t>Salesforce FSC household model</a:t>
            </a:r>
            <a:endParaRPr lang="en-US" sz="1100" dirty="0"/>
          </a:p>
        </p:txBody>
      </p:sp>
      <p:sp>
        <p:nvSpPr>
          <p:cNvPr id="40" name="text"/>
          <p:cNvSpPr txBox="1"/>
          <p:nvPr/>
        </p:nvSpPr>
        <p:spPr>
          <a:xfrm>
            <a:off x="7818120" y="4892040"/>
            <a:ext cx="1188720" cy="384048"/>
          </a:xfrm>
          <a:prstGeom prst="rect">
            <a:avLst/>
          </a:prstGeom>
          <a:noFill/>
          <a:ln/>
        </p:spPr>
        <p:txBody>
          <a:bodyPr wrap="square" lIns="0" tIns="0" rIns="0" bIns="0" rtlCol="0" anchor="t"/>
          <a:lstStyle/>
          <a:p>
            <a:pPr indent="0" marL="0">
              <a:buNone/>
            </a:pPr>
            <a:r>
              <a:rPr lang="en-US" sz="1100" b="1" dirty="0">
                <a:solidFill>
                  <a:schemeClr val="bg2"/>
                </a:solidFill>
              </a:rPr>
              <a:t>CDE</a:t>
            </a:r>
            <a:endParaRPr lang="en-US" sz="1100" dirty="0"/>
          </a:p>
        </p:txBody>
      </p:sp>
      <p:sp>
        <p:nvSpPr>
          <p:cNvPr id="41" name="text"/>
          <p:cNvSpPr txBox="1"/>
          <p:nvPr/>
        </p:nvSpPr>
        <p:spPr>
          <a:xfrm>
            <a:off x="9052560" y="4892040"/>
            <a:ext cx="2468880" cy="384048"/>
          </a:xfrm>
          <a:prstGeom prst="rect">
            <a:avLst/>
          </a:prstGeom>
          <a:noFill/>
          <a:ln/>
        </p:spPr>
        <p:txBody>
          <a:bodyPr wrap="square" lIns="0" tIns="0" rIns="0" bIns="0" rtlCol="0" anchor="t"/>
          <a:lstStyle/>
          <a:p>
            <a:pPr indent="0" marL="0">
              <a:buNone/>
            </a:pPr>
            <a:r>
              <a:rPr lang="en-US" sz="1100" dirty="0">
                <a:solidFill>
                  <a:schemeClr val="bg1"/>
                </a:solidFill>
              </a:rPr>
              <a:t>Not a critical data element; the Household key is</a:t>
            </a:r>
            <a:endParaRPr lang="en-US" sz="1100" dirty="0"/>
          </a:p>
        </p:txBody>
      </p:sp>
      <p:sp>
        <p:nvSpPr>
          <p:cNvPr id="42" name="text"/>
          <p:cNvSpPr txBox="1"/>
          <p:nvPr/>
        </p:nvSpPr>
        <p:spPr>
          <a:xfrm>
            <a:off x="7818120" y="5303520"/>
            <a:ext cx="1188720" cy="384048"/>
          </a:xfrm>
          <a:prstGeom prst="rect">
            <a:avLst/>
          </a:prstGeom>
          <a:noFill/>
          <a:ln/>
        </p:spPr>
        <p:txBody>
          <a:bodyPr wrap="square" lIns="0" tIns="0" rIns="0" bIns="0" rtlCol="0" anchor="t"/>
          <a:lstStyle/>
          <a:p>
            <a:pPr indent="0" marL="0">
              <a:buNone/>
            </a:pPr>
            <a:r>
              <a:rPr lang="en-US" sz="1100" b="1" dirty="0">
                <a:solidFill>
                  <a:schemeClr val="bg2"/>
                </a:solidFill>
              </a:rPr>
              <a:t>Personal data</a:t>
            </a:r>
            <a:endParaRPr lang="en-US" sz="1100" dirty="0"/>
          </a:p>
        </p:txBody>
      </p:sp>
      <p:sp>
        <p:nvSpPr>
          <p:cNvPr id="43" name="text"/>
          <p:cNvSpPr txBox="1"/>
          <p:nvPr/>
        </p:nvSpPr>
        <p:spPr>
          <a:xfrm>
            <a:off x="9052560" y="5303520"/>
            <a:ext cx="2468880" cy="384048"/>
          </a:xfrm>
          <a:prstGeom prst="rect">
            <a:avLst/>
          </a:prstGeom>
          <a:noFill/>
          <a:ln/>
        </p:spPr>
        <p:txBody>
          <a:bodyPr wrap="square" lIns="0" tIns="0" rIns="0" bIns="0" rtlCol="0" anchor="t"/>
          <a:lstStyle/>
          <a:p>
            <a:pPr indent="0" marL="0">
              <a:buNone/>
            </a:pPr>
            <a:r>
              <a:rPr lang="en-US" sz="1100" dirty="0">
                <a:solidFill>
                  <a:schemeClr val="bg1"/>
                </a:solidFill>
              </a:rPr>
              <a:t>PII - identity tier</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One owner per concept: mastered, referenced or derived</a:t>
            </a:r>
            <a:endParaRPr lang="en-US" sz="2800" dirty="0"/>
          </a:p>
        </p:txBody>
      </p:sp>
      <p:sp>
        <p:nvSpPr>
          <p:cNvPr id="4" name="card"/>
          <p:cNvSpPr/>
          <p:nvPr/>
        </p:nvSpPr>
        <p:spPr>
          <a:xfrm>
            <a:off x="548640" y="1417320"/>
            <a:ext cx="3566160" cy="3291840"/>
          </a:xfrm>
          <a:prstGeom prst="roundRect">
            <a:avLst>
              <a:gd name="adj" fmla="val 2222"/>
            </a:avLst>
          </a:prstGeom>
          <a:solidFill>
            <a:schemeClr val="bg2"/>
          </a:solidFill>
          <a:ln w="12700">
            <a:solidFill>
              <a:schemeClr val="bg2"/>
            </a:solidFill>
            <a:prstDash val="solid"/>
          </a:ln>
        </p:spPr>
      </p:sp>
      <p:sp>
        <p:nvSpPr>
          <p:cNvPr id="5" name="panel"/>
          <p:cNvSpPr/>
          <p:nvPr/>
        </p:nvSpPr>
        <p:spPr>
          <a:xfrm>
            <a:off x="548640" y="1417320"/>
            <a:ext cx="3566160" cy="822960"/>
          </a:xfrm>
          <a:prstGeom prst="rect">
            <a:avLst/>
          </a:prstGeom>
          <a:solidFill>
            <a:schemeClr val="accent1"/>
          </a:solidFill>
          <a:ln w="12700">
            <a:solidFill>
              <a:schemeClr val="accent1"/>
            </a:solidFill>
            <a:prstDash val="solid"/>
          </a:ln>
        </p:spPr>
      </p:sp>
      <p:sp>
        <p:nvSpPr>
          <p:cNvPr id="6" name="text"/>
          <p:cNvSpPr txBox="1"/>
          <p:nvPr/>
        </p:nvSpPr>
        <p:spPr>
          <a:xfrm>
            <a:off x="749808" y="1527048"/>
            <a:ext cx="3163824" cy="603504"/>
          </a:xfrm>
          <a:prstGeom prst="rect">
            <a:avLst/>
          </a:prstGeom>
          <a:noFill/>
          <a:ln/>
        </p:spPr>
        <p:txBody>
          <a:bodyPr wrap="square" lIns="0" tIns="0" rIns="0" bIns="0" rtlCol="0" anchor="ctr"/>
          <a:lstStyle/>
          <a:p>
            <a:pPr indent="0" marL="0">
              <a:buNone/>
            </a:pPr>
            <a:r>
              <a:rPr lang="en-US" sz="1800" b="1" dirty="0">
                <a:solidFill>
                  <a:schemeClr val="bg1"/>
                </a:solidFill>
              </a:rPr>
              <a:t>Mastered here</a:t>
            </a:r>
            <a:endParaRPr lang="en-US" sz="1800" dirty="0"/>
          </a:p>
        </p:txBody>
      </p:sp>
      <p:sp>
        <p:nvSpPr>
          <p:cNvPr id="7" name="text"/>
          <p:cNvSpPr txBox="1"/>
          <p:nvPr/>
        </p:nvSpPr>
        <p:spPr>
          <a:xfrm>
            <a:off x="749808" y="2377440"/>
            <a:ext cx="3163824" cy="914400"/>
          </a:xfrm>
          <a:prstGeom prst="rect">
            <a:avLst/>
          </a:prstGeom>
          <a:noFill/>
          <a:ln/>
        </p:spPr>
        <p:txBody>
          <a:bodyPr wrap="square" lIns="0" tIns="0" rIns="0" bIns="0" rtlCol="0" anchor="t"/>
          <a:lstStyle/>
          <a:p>
            <a:pPr indent="0" marL="0">
              <a:buNone/>
            </a:pPr>
            <a:r>
              <a:rPr lang="en-US" sz="1200" dirty="0">
                <a:solidFill>
                  <a:schemeClr val="tx1"/>
                </a:solidFill>
              </a:rPr>
              <a:t>The domain that produces and maintains the concept owns its meaning and its quality.</a:t>
            </a:r>
            <a:endParaRPr lang="en-US" sz="1200" dirty="0"/>
          </a:p>
        </p:txBody>
      </p:sp>
      <p:sp>
        <p:nvSpPr>
          <p:cNvPr id="8" name="text"/>
          <p:cNvSpPr txBox="1"/>
          <p:nvPr/>
        </p:nvSpPr>
        <p:spPr>
          <a:xfrm>
            <a:off x="749808" y="3291840"/>
            <a:ext cx="3163824" cy="274320"/>
          </a:xfrm>
          <a:prstGeom prst="rect">
            <a:avLst/>
          </a:prstGeom>
          <a:noFill/>
          <a:ln/>
        </p:spPr>
        <p:txBody>
          <a:bodyPr wrap="square" lIns="0" tIns="0" rIns="0" bIns="0" rtlCol="0" anchor="t"/>
          <a:lstStyle/>
          <a:p>
            <a:pPr indent="0" marL="0">
              <a:buNone/>
            </a:pPr>
            <a:r>
              <a:rPr lang="en-US" sz="1000" b="1" dirty="0">
                <a:solidFill>
                  <a:schemeClr val="accent6"/>
                </a:solidFill>
              </a:rPr>
              <a:t>In the advice domain</a:t>
            </a:r>
            <a:endParaRPr lang="en-US" sz="1000" dirty="0"/>
          </a:p>
        </p:txBody>
      </p:sp>
      <p:sp>
        <p:nvSpPr>
          <p:cNvPr id="9" name="text"/>
          <p:cNvSpPr txBox="1"/>
          <p:nvPr/>
        </p:nvSpPr>
        <p:spPr>
          <a:xfrm>
            <a:off x="749808" y="3566160"/>
            <a:ext cx="3163824" cy="1097280"/>
          </a:xfrm>
          <a:prstGeom prst="rect">
            <a:avLst/>
          </a:prstGeom>
          <a:noFill/>
          <a:ln/>
        </p:spPr>
        <p:txBody>
          <a:bodyPr wrap="square" lIns="0" tIns="0" rIns="0" bIns="0" rtlCol="0" anchor="t"/>
          <a:lstStyle/>
          <a:p>
            <a:pPr indent="0" marL="0">
              <a:buNone/>
            </a:pPr>
            <a:r>
              <a:rPr lang="en-US" sz="1150" dirty="0">
                <a:solidFill>
                  <a:schemeClr val="tx1"/>
                </a:solidFill>
              </a:rPr>
              <a:t>02 Client &amp; Household masters the Investor Profile: objectives, risk tolerance, time horizon, financial situation, versioned each time it changes.</a:t>
            </a:r>
            <a:endParaRPr lang="en-US" sz="1150" dirty="0"/>
          </a:p>
        </p:txBody>
      </p:sp>
      <p:sp>
        <p:nvSpPr>
          <p:cNvPr id="10" name="card"/>
          <p:cNvSpPr/>
          <p:nvPr/>
        </p:nvSpPr>
        <p:spPr>
          <a:xfrm>
            <a:off x="4297680" y="1417320"/>
            <a:ext cx="3566160" cy="3291840"/>
          </a:xfrm>
          <a:prstGeom prst="roundRect">
            <a:avLst>
              <a:gd name="adj" fmla="val 2222"/>
            </a:avLst>
          </a:prstGeom>
          <a:solidFill>
            <a:schemeClr val="bg2"/>
          </a:solidFill>
          <a:ln w="12700">
            <a:solidFill>
              <a:schemeClr val="bg2"/>
            </a:solidFill>
            <a:prstDash val="solid"/>
          </a:ln>
        </p:spPr>
      </p:sp>
      <p:sp>
        <p:nvSpPr>
          <p:cNvPr id="11" name="panel"/>
          <p:cNvSpPr/>
          <p:nvPr/>
        </p:nvSpPr>
        <p:spPr>
          <a:xfrm>
            <a:off x="4297680" y="1417320"/>
            <a:ext cx="3566160" cy="822960"/>
          </a:xfrm>
          <a:prstGeom prst="rect">
            <a:avLst/>
          </a:prstGeom>
          <a:solidFill>
            <a:schemeClr val="accent2"/>
          </a:solidFill>
          <a:ln w="12700">
            <a:solidFill>
              <a:schemeClr val="accent2"/>
            </a:solidFill>
            <a:prstDash val="solid"/>
          </a:ln>
        </p:spPr>
      </p:sp>
      <p:sp>
        <p:nvSpPr>
          <p:cNvPr id="12" name="text"/>
          <p:cNvSpPr txBox="1"/>
          <p:nvPr/>
        </p:nvSpPr>
        <p:spPr>
          <a:xfrm>
            <a:off x="4498848" y="1527048"/>
            <a:ext cx="3163824" cy="603504"/>
          </a:xfrm>
          <a:prstGeom prst="rect">
            <a:avLst/>
          </a:prstGeom>
          <a:noFill/>
          <a:ln/>
        </p:spPr>
        <p:txBody>
          <a:bodyPr wrap="square" lIns="0" tIns="0" rIns="0" bIns="0" rtlCol="0" anchor="ctr"/>
          <a:lstStyle/>
          <a:p>
            <a:pPr indent="0" marL="0">
              <a:buNone/>
            </a:pPr>
            <a:r>
              <a:rPr lang="en-US" sz="1800" b="1" dirty="0">
                <a:solidFill>
                  <a:schemeClr val="bg1"/>
                </a:solidFill>
              </a:rPr>
              <a:t>Reference</a:t>
            </a:r>
            <a:endParaRPr lang="en-US" sz="1800" dirty="0"/>
          </a:p>
        </p:txBody>
      </p:sp>
      <p:sp>
        <p:nvSpPr>
          <p:cNvPr id="13" name="text"/>
          <p:cNvSpPr txBox="1"/>
          <p:nvPr/>
        </p:nvSpPr>
        <p:spPr>
          <a:xfrm>
            <a:off x="4498848" y="2377440"/>
            <a:ext cx="3163824" cy="914400"/>
          </a:xfrm>
          <a:prstGeom prst="rect">
            <a:avLst/>
          </a:prstGeom>
          <a:noFill/>
          <a:ln/>
        </p:spPr>
        <p:txBody>
          <a:bodyPr wrap="square" lIns="0" tIns="0" rIns="0" bIns="0" rtlCol="0" anchor="t"/>
          <a:lstStyle/>
          <a:p>
            <a:pPr indent="0" marL="0">
              <a:buNone/>
            </a:pPr>
            <a:r>
              <a:rPr lang="en-US" sz="1200" dirty="0">
                <a:solidFill>
                  <a:schemeClr val="tx1"/>
                </a:solidFill>
              </a:rPr>
              <a:t>Another domain points to the concept by its enterprise ID and adds only what belongs to the relationship.</a:t>
            </a:r>
            <a:endParaRPr lang="en-US" sz="1200" dirty="0"/>
          </a:p>
        </p:txBody>
      </p:sp>
      <p:sp>
        <p:nvSpPr>
          <p:cNvPr id="14" name="text"/>
          <p:cNvSpPr txBox="1"/>
          <p:nvPr/>
        </p:nvSpPr>
        <p:spPr>
          <a:xfrm>
            <a:off x="4498848" y="3291840"/>
            <a:ext cx="3163824" cy="274320"/>
          </a:xfrm>
          <a:prstGeom prst="rect">
            <a:avLst/>
          </a:prstGeom>
          <a:noFill/>
          <a:ln/>
        </p:spPr>
        <p:txBody>
          <a:bodyPr wrap="square" lIns="0" tIns="0" rIns="0" bIns="0" rtlCol="0" anchor="t"/>
          <a:lstStyle/>
          <a:p>
            <a:pPr indent="0" marL="0">
              <a:buNone/>
            </a:pPr>
            <a:r>
              <a:rPr lang="en-US" sz="1000" b="1" dirty="0">
                <a:solidFill>
                  <a:schemeClr val="accent6"/>
                </a:solidFill>
              </a:rPr>
              <a:t>In the advice domain</a:t>
            </a:r>
            <a:endParaRPr lang="en-US" sz="1000" dirty="0"/>
          </a:p>
        </p:txBody>
      </p:sp>
      <p:sp>
        <p:nvSpPr>
          <p:cNvPr id="15" name="text"/>
          <p:cNvSpPr txBox="1"/>
          <p:nvPr/>
        </p:nvSpPr>
        <p:spPr>
          <a:xfrm>
            <a:off x="4498848" y="3566160"/>
            <a:ext cx="3163824" cy="1097280"/>
          </a:xfrm>
          <a:prstGeom prst="rect">
            <a:avLst/>
          </a:prstGeom>
          <a:noFill/>
          <a:ln/>
        </p:spPr>
        <p:txBody>
          <a:bodyPr wrap="square" lIns="0" tIns="0" rIns="0" bIns="0" rtlCol="0" anchor="t"/>
          <a:lstStyle/>
          <a:p>
            <a:pPr indent="0" marL="0">
              <a:buNone/>
            </a:pPr>
            <a:r>
              <a:rPr lang="en-US" sz="1150" dirty="0">
                <a:solidFill>
                  <a:schemeClr val="tx1"/>
                </a:solidFill>
              </a:rPr>
              <a:t>45 Financial Planning &amp; Advice holds, on each Recommendation, the Investor Profile version it relied on. It never copies the objective or the risk score.</a:t>
            </a:r>
            <a:endParaRPr lang="en-US" sz="1150" dirty="0"/>
          </a:p>
        </p:txBody>
      </p:sp>
      <p:sp>
        <p:nvSpPr>
          <p:cNvPr id="16" name="card"/>
          <p:cNvSpPr/>
          <p:nvPr/>
        </p:nvSpPr>
        <p:spPr>
          <a:xfrm>
            <a:off x="8046720" y="1417320"/>
            <a:ext cx="3566160" cy="3291840"/>
          </a:xfrm>
          <a:prstGeom prst="roundRect">
            <a:avLst>
              <a:gd name="adj" fmla="val 2222"/>
            </a:avLst>
          </a:prstGeom>
          <a:solidFill>
            <a:schemeClr val="bg2"/>
          </a:solidFill>
          <a:ln w="12700">
            <a:solidFill>
              <a:schemeClr val="bg2"/>
            </a:solidFill>
            <a:prstDash val="solid"/>
          </a:ln>
        </p:spPr>
      </p:sp>
      <p:sp>
        <p:nvSpPr>
          <p:cNvPr id="17" name="panel"/>
          <p:cNvSpPr/>
          <p:nvPr/>
        </p:nvSpPr>
        <p:spPr>
          <a:xfrm>
            <a:off x="8046720" y="1417320"/>
            <a:ext cx="3566160" cy="822960"/>
          </a:xfrm>
          <a:prstGeom prst="rect">
            <a:avLst/>
          </a:prstGeom>
          <a:solidFill>
            <a:schemeClr val="accent3"/>
          </a:solidFill>
          <a:ln w="12700">
            <a:solidFill>
              <a:schemeClr val="accent3"/>
            </a:solidFill>
            <a:prstDash val="solid"/>
          </a:ln>
        </p:spPr>
      </p:sp>
      <p:sp>
        <p:nvSpPr>
          <p:cNvPr id="18" name="text"/>
          <p:cNvSpPr txBox="1"/>
          <p:nvPr/>
        </p:nvSpPr>
        <p:spPr>
          <a:xfrm>
            <a:off x="8247888" y="1527048"/>
            <a:ext cx="3163824" cy="603504"/>
          </a:xfrm>
          <a:prstGeom prst="rect">
            <a:avLst/>
          </a:prstGeom>
          <a:noFill/>
          <a:ln/>
        </p:spPr>
        <p:txBody>
          <a:bodyPr wrap="square" lIns="0" tIns="0" rIns="0" bIns="0" rtlCol="0" anchor="ctr"/>
          <a:lstStyle/>
          <a:p>
            <a:pPr indent="0" marL="0">
              <a:buNone/>
            </a:pPr>
            <a:r>
              <a:rPr lang="en-US" sz="1800" b="1" dirty="0">
                <a:solidFill>
                  <a:schemeClr val="bg1"/>
                </a:solidFill>
              </a:rPr>
              <a:t>Derived copy</a:t>
            </a:r>
            <a:endParaRPr lang="en-US" sz="1800" dirty="0"/>
          </a:p>
        </p:txBody>
      </p:sp>
      <p:sp>
        <p:nvSpPr>
          <p:cNvPr id="19" name="text"/>
          <p:cNvSpPr txBox="1"/>
          <p:nvPr/>
        </p:nvSpPr>
        <p:spPr>
          <a:xfrm>
            <a:off x="8247888" y="2377440"/>
            <a:ext cx="3163824" cy="914400"/>
          </a:xfrm>
          <a:prstGeom prst="rect">
            <a:avLst/>
          </a:prstGeom>
          <a:noFill/>
          <a:ln/>
        </p:spPr>
        <p:txBody>
          <a:bodyPr wrap="square" lIns="0" tIns="0" rIns="0" bIns="0" rtlCol="0" anchor="t"/>
          <a:lstStyle/>
          <a:p>
            <a:pPr indent="0" marL="0">
              <a:buNone/>
            </a:pPr>
            <a:r>
              <a:rPr lang="en-US" sz="1200" dirty="0">
                <a:solidFill>
                  <a:schemeClr val="tx1"/>
                </a:solidFill>
              </a:rPr>
              <a:t>A value copied from its owner for a stated reason, with the as-of date and the row rule recorded.</a:t>
            </a:r>
            <a:endParaRPr lang="en-US" sz="1200" dirty="0"/>
          </a:p>
        </p:txBody>
      </p:sp>
      <p:sp>
        <p:nvSpPr>
          <p:cNvPr id="20" name="text"/>
          <p:cNvSpPr txBox="1"/>
          <p:nvPr/>
        </p:nvSpPr>
        <p:spPr>
          <a:xfrm>
            <a:off x="8247888" y="3291840"/>
            <a:ext cx="3163824" cy="274320"/>
          </a:xfrm>
          <a:prstGeom prst="rect">
            <a:avLst/>
          </a:prstGeom>
          <a:noFill/>
          <a:ln/>
        </p:spPr>
        <p:txBody>
          <a:bodyPr wrap="square" lIns="0" tIns="0" rIns="0" bIns="0" rtlCol="0" anchor="t"/>
          <a:lstStyle/>
          <a:p>
            <a:pPr indent="0" marL="0">
              <a:buNone/>
            </a:pPr>
            <a:r>
              <a:rPr lang="en-US" sz="1000" b="1" dirty="0">
                <a:solidFill>
                  <a:schemeClr val="accent6"/>
                </a:solidFill>
              </a:rPr>
              <a:t>In the advice domain</a:t>
            </a:r>
            <a:endParaRPr lang="en-US" sz="1000" dirty="0"/>
          </a:p>
        </p:txBody>
      </p:sp>
      <p:sp>
        <p:nvSpPr>
          <p:cNvPr id="21" name="text"/>
          <p:cNvSpPr txBox="1"/>
          <p:nvPr/>
        </p:nvSpPr>
        <p:spPr>
          <a:xfrm>
            <a:off x="8247888" y="3566160"/>
            <a:ext cx="3163824" cy="1097280"/>
          </a:xfrm>
          <a:prstGeom prst="rect">
            <a:avLst/>
          </a:prstGeom>
          <a:noFill/>
          <a:ln/>
        </p:spPr>
        <p:txBody>
          <a:bodyPr wrap="square" lIns="0" tIns="0" rIns="0" bIns="0" rtlCol="0" anchor="t"/>
          <a:lstStyle/>
          <a:p>
            <a:pPr indent="0" marL="0">
              <a:buNone/>
            </a:pPr>
            <a:r>
              <a:rPr lang="en-US" sz="1150" dirty="0">
                <a:solidFill>
                  <a:schemeClr val="tx1"/>
                </a:solidFill>
              </a:rPr>
              <a:t>45 Rollover Analysis carries Rollover Amount as a copy of the vested balance mastered in 16 Retirement Plan Administration.</a:t>
            </a:r>
            <a:endParaRPr lang="en-US" sz="1150" dirty="0"/>
          </a:p>
        </p:txBody>
      </p:sp>
      <p:sp>
        <p:nvSpPr>
          <p:cNvPr id="22" name="card"/>
          <p:cNvSpPr/>
          <p:nvPr/>
        </p:nvSpPr>
        <p:spPr>
          <a:xfrm>
            <a:off x="548640" y="4937760"/>
            <a:ext cx="11094415" cy="1234440"/>
          </a:xfrm>
          <a:prstGeom prst="roundRect">
            <a:avLst>
              <a:gd name="adj" fmla="val 5926"/>
            </a:avLst>
          </a:prstGeom>
          <a:solidFill>
            <a:schemeClr val="tx2"/>
          </a:solidFill>
          <a:ln w="12700">
            <a:solidFill>
              <a:schemeClr val="tx2"/>
            </a:solidFill>
            <a:prstDash val="solid"/>
          </a:ln>
        </p:spPr>
      </p:sp>
      <p:sp>
        <p:nvSpPr>
          <p:cNvPr id="23" name="text"/>
          <p:cNvSpPr txBox="1"/>
          <p:nvPr/>
        </p:nvSpPr>
        <p:spPr>
          <a:xfrm>
            <a:off x="822960" y="5074920"/>
            <a:ext cx="2743200" cy="320040"/>
          </a:xfrm>
          <a:prstGeom prst="rect">
            <a:avLst/>
          </a:prstGeom>
          <a:noFill/>
          <a:ln/>
        </p:spPr>
        <p:txBody>
          <a:bodyPr wrap="square" lIns="0" tIns="0" rIns="0" bIns="0" rtlCol="0" anchor="t"/>
          <a:lstStyle/>
          <a:p>
            <a:pPr indent="0" marL="0">
              <a:buNone/>
            </a:pPr>
            <a:r>
              <a:rPr lang="en-US" sz="1100" b="1" dirty="0">
                <a:solidFill>
                  <a:schemeClr val="accent4"/>
                </a:solidFill>
              </a:rPr>
              <a:t>The ownership rule</a:t>
            </a:r>
            <a:endParaRPr lang="en-US" sz="1100" dirty="0"/>
          </a:p>
        </p:txBody>
      </p:sp>
      <p:sp>
        <p:nvSpPr>
          <p:cNvPr id="24" name="text"/>
          <p:cNvSpPr txBox="1"/>
          <p:nvPr/>
        </p:nvSpPr>
        <p:spPr>
          <a:xfrm>
            <a:off x="822960" y="5394960"/>
            <a:ext cx="10545775" cy="731520"/>
          </a:xfrm>
          <a:prstGeom prst="rect">
            <a:avLst/>
          </a:prstGeom>
          <a:noFill/>
          <a:ln/>
        </p:spPr>
        <p:txBody>
          <a:bodyPr wrap="square" lIns="0" tIns="0" rIns="0" bIns="0" rtlCol="0" anchor="t"/>
          <a:lstStyle/>
          <a:p>
            <a:pPr indent="0" marL="0">
              <a:buNone/>
            </a:pPr>
            <a:r>
              <a:rPr lang="en-US" sz="1400" dirty="0">
                <a:solidFill>
                  <a:schemeClr val="bg1"/>
                </a:solidFill>
              </a:rPr>
              <a:t>The Data Domain that produces and maintains a concept masters it. Every other domain references it by enterprise ID. Consumption never remasters ownership: a report that reads the investor profile does not become its owner.</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landscape: 50 Data Domains in eight areas</a:t>
            </a:r>
            <a:endParaRPr lang="en-US" sz="2800" dirty="0"/>
          </a:p>
        </p:txBody>
      </p:sp>
      <p:sp>
        <p:nvSpPr>
          <p:cNvPr id="4" name="card"/>
          <p:cNvSpPr/>
          <p:nvPr/>
        </p:nvSpPr>
        <p:spPr>
          <a:xfrm>
            <a:off x="548640" y="1417320"/>
            <a:ext cx="2103120" cy="3657600"/>
          </a:xfrm>
          <a:prstGeom prst="roundRect">
            <a:avLst>
              <a:gd name="adj" fmla="val 3478"/>
            </a:avLst>
          </a:prstGeom>
          <a:solidFill>
            <a:schemeClr val="bg2"/>
          </a:solidFill>
          <a:ln w="12700">
            <a:solidFill>
              <a:schemeClr val="bg2"/>
            </a:solidFill>
            <a:prstDash val="solid"/>
          </a:ln>
        </p:spPr>
      </p:sp>
      <p:sp>
        <p:nvSpPr>
          <p:cNvPr id="5" name="text"/>
          <p:cNvSpPr txBox="1"/>
          <p:nvPr/>
        </p:nvSpPr>
        <p:spPr>
          <a:xfrm>
            <a:off x="676656" y="1508760"/>
            <a:ext cx="1847088" cy="274320"/>
          </a:xfrm>
          <a:prstGeom prst="rect">
            <a:avLst/>
          </a:prstGeom>
          <a:noFill/>
          <a:ln/>
        </p:spPr>
        <p:txBody>
          <a:bodyPr wrap="square" lIns="0" tIns="0" rIns="0" bIns="0" rtlCol="0" anchor="t"/>
          <a:lstStyle/>
          <a:p>
            <a:pPr indent="0" marL="0">
              <a:buNone/>
            </a:pPr>
            <a:r>
              <a:rPr lang="en-US" sz="1100" b="1" dirty="0">
                <a:solidFill>
                  <a:schemeClr val="accent1"/>
                </a:solidFill>
              </a:rPr>
              <a:t>Client &amp; Advice</a:t>
            </a:r>
            <a:endParaRPr lang="en-US" sz="1100" dirty="0"/>
          </a:p>
        </p:txBody>
      </p:sp>
      <p:sp>
        <p:nvSpPr>
          <p:cNvPr id="6" name="text"/>
          <p:cNvSpPr txBox="1"/>
          <p:nvPr/>
        </p:nvSpPr>
        <p:spPr>
          <a:xfrm>
            <a:off x="676656" y="1801368"/>
            <a:ext cx="1847088" cy="3200400"/>
          </a:xfrm>
          <a:prstGeom prst="rect">
            <a:avLst/>
          </a:prstGeom>
          <a:noFill/>
          <a:ln/>
        </p:spPr>
        <p:txBody>
          <a:bodyPr wrap="square" lIns="0" tIns="0" rIns="0" bIns="0" rtlCol="0" anchor="t"/>
          <a:lstStyle/>
          <a:p>
            <a:pPr indent="0" marL="0">
              <a:lnSpc>
                <a:spcPct val="105000"/>
              </a:lnSpc>
              <a:buNone/>
            </a:pPr>
            <a:r>
              <a:rPr lang="en-US" sz="850" dirty="0">
                <a:solidFill>
                  <a:schemeClr val="tx1"/>
                </a:solidFill>
              </a:rPr>
              <a:t>01 Investment Product &amp; Service Offering</a:t>
            </a:r>
            <a:endParaRPr lang="en-US" sz="850" dirty="0"/>
          </a:p>
          <a:p>
            <a:pPr indent="0" marL="0">
              <a:lnSpc>
                <a:spcPct val="105000"/>
              </a:lnSpc>
              <a:buNone/>
            </a:pPr>
            <a:r>
              <a:rPr lang="en-US" sz="850" dirty="0">
                <a:solidFill>
                  <a:schemeClr val="tx1"/>
                </a:solidFill>
              </a:rPr>
              <a:t>02 Client &amp; Household</a:t>
            </a:r>
            <a:endParaRPr lang="en-US" sz="850" dirty="0"/>
          </a:p>
          <a:p>
            <a:pPr indent="0" marL="0">
              <a:lnSpc>
                <a:spcPct val="105000"/>
              </a:lnSpc>
              <a:buNone/>
            </a:pPr>
            <a:r>
              <a:rPr lang="en-US" sz="850" dirty="0">
                <a:solidFill>
                  <a:schemeClr val="tx1"/>
                </a:solidFill>
              </a:rPr>
              <a:t>03 Advisor Organization, Coverage &amp; Supervision</a:t>
            </a:r>
            <a:endParaRPr lang="en-US" sz="850" dirty="0"/>
          </a:p>
          <a:p>
            <a:pPr indent="0" marL="0">
              <a:lnSpc>
                <a:spcPct val="105000"/>
              </a:lnSpc>
              <a:buNone/>
            </a:pPr>
            <a:r>
              <a:rPr lang="en-US" sz="850" dirty="0">
                <a:solidFill>
                  <a:schemeClr val="tx1"/>
                </a:solidFill>
              </a:rPr>
              <a:t>04 Marketing, Digital &amp; Client Engagement</a:t>
            </a:r>
            <a:endParaRPr lang="en-US" sz="850" dirty="0"/>
          </a:p>
          <a:p>
            <a:pPr indent="0" marL="0">
              <a:lnSpc>
                <a:spcPct val="105000"/>
              </a:lnSpc>
              <a:buNone/>
            </a:pPr>
            <a:r>
              <a:rPr lang="en-US" sz="850" dirty="0">
                <a:solidFill>
                  <a:schemeClr val="tx1"/>
                </a:solidFill>
              </a:rPr>
              <a:t>08 Retail Conduct &amp; Supervision</a:t>
            </a:r>
            <a:endParaRPr lang="en-US" sz="850" dirty="0"/>
          </a:p>
          <a:p>
            <a:pPr indent="0" marL="0">
              <a:lnSpc>
                <a:spcPct val="105000"/>
              </a:lnSpc>
              <a:buNone/>
            </a:pPr>
            <a:r>
              <a:rPr lang="en-US" sz="850" dirty="0">
                <a:solidFill>
                  <a:schemeClr val="tx1"/>
                </a:solidFill>
              </a:rPr>
              <a:t>13 Client Service &amp; Communications</a:t>
            </a:r>
            <a:endParaRPr lang="en-US" sz="850" dirty="0"/>
          </a:p>
          <a:p>
            <a:pPr indent="0" marL="0">
              <a:lnSpc>
                <a:spcPct val="105000"/>
              </a:lnSpc>
              <a:buNone/>
            </a:pPr>
            <a:r>
              <a:rPr lang="en-US" sz="850" dirty="0">
                <a:solidFill>
                  <a:schemeClr val="tx1"/>
                </a:solidFill>
              </a:rPr>
              <a:t>15 Account</a:t>
            </a:r>
            <a:endParaRPr lang="en-US" sz="850" dirty="0"/>
          </a:p>
          <a:p>
            <a:pPr indent="0" marL="0">
              <a:lnSpc>
                <a:spcPct val="105000"/>
              </a:lnSpc>
              <a:buNone/>
            </a:pPr>
            <a:r>
              <a:rPr lang="en-US" sz="850" dirty="0">
                <a:solidFill>
                  <a:schemeClr val="tx1"/>
                </a:solidFill>
              </a:rPr>
              <a:t>36 Product Development &amp; Lifecycle</a:t>
            </a:r>
            <a:endParaRPr lang="en-US" sz="850" dirty="0"/>
          </a:p>
          <a:p>
            <a:pPr indent="0" marL="0">
              <a:lnSpc>
                <a:spcPct val="105000"/>
              </a:lnSpc>
              <a:buNone/>
            </a:pPr>
            <a:r>
              <a:rPr lang="en-US" sz="850" dirty="0">
                <a:solidFill>
                  <a:schemeClr val="tx1"/>
                </a:solidFill>
              </a:rPr>
              <a:t>45 Financial Planning &amp; Advice</a:t>
            </a:r>
            <a:endParaRPr lang="en-US" sz="850" dirty="0"/>
          </a:p>
          <a:p>
            <a:pPr indent="0" marL="0">
              <a:lnSpc>
                <a:spcPct val="105000"/>
              </a:lnSpc>
              <a:buNone/>
            </a:pPr>
            <a:r>
              <a:rPr lang="en-US" sz="850" dirty="0">
                <a:solidFill>
                  <a:schemeClr val="tx1"/>
                </a:solidFill>
              </a:rPr>
              <a:t>46 Managed Portfolios &amp; Rebalancing</a:t>
            </a:r>
            <a:endParaRPr lang="en-US" sz="850" dirty="0"/>
          </a:p>
          <a:p>
            <a:pPr indent="0" marL="0">
              <a:lnSpc>
                <a:spcPct val="105000"/>
              </a:lnSpc>
              <a:buNone/>
            </a:pPr>
            <a:r>
              <a:rPr lang="en-US" sz="850" dirty="0">
                <a:solidFill>
                  <a:schemeClr val="tx1"/>
                </a:solidFill>
              </a:rPr>
              <a:t>47 Pricing, Fees &amp; Billing</a:t>
            </a:r>
            <a:endParaRPr lang="en-US" sz="850" dirty="0"/>
          </a:p>
          <a:p>
            <a:pPr indent="0" marL="0">
              <a:lnSpc>
                <a:spcPct val="105000"/>
              </a:lnSpc>
              <a:buNone/>
            </a:pPr>
            <a:r>
              <a:rPr lang="en-US" sz="850" dirty="0">
                <a:solidFill>
                  <a:schemeClr val="tx1"/>
                </a:solidFill>
              </a:rPr>
              <a:t>51 Trust &amp; Estate Services</a:t>
            </a:r>
            <a:endParaRPr lang="en-US" sz="850" dirty="0"/>
          </a:p>
        </p:txBody>
      </p:sp>
      <p:sp>
        <p:nvSpPr>
          <p:cNvPr id="7" name="card"/>
          <p:cNvSpPr/>
          <p:nvPr/>
        </p:nvSpPr>
        <p:spPr>
          <a:xfrm>
            <a:off x="2798064" y="1417320"/>
            <a:ext cx="2103120" cy="1257300"/>
          </a:xfrm>
          <a:prstGeom prst="roundRect">
            <a:avLst>
              <a:gd name="adj" fmla="val 5818"/>
            </a:avLst>
          </a:prstGeom>
          <a:solidFill>
            <a:schemeClr val="bg2"/>
          </a:solidFill>
          <a:ln w="12700">
            <a:solidFill>
              <a:schemeClr val="bg2"/>
            </a:solidFill>
            <a:prstDash val="solid"/>
          </a:ln>
        </p:spPr>
      </p:sp>
      <p:sp>
        <p:nvSpPr>
          <p:cNvPr id="8" name="text"/>
          <p:cNvSpPr txBox="1"/>
          <p:nvPr/>
        </p:nvSpPr>
        <p:spPr>
          <a:xfrm>
            <a:off x="2926080" y="1508760"/>
            <a:ext cx="1847088" cy="274320"/>
          </a:xfrm>
          <a:prstGeom prst="rect">
            <a:avLst/>
          </a:prstGeom>
          <a:noFill/>
          <a:ln/>
        </p:spPr>
        <p:txBody>
          <a:bodyPr wrap="square" lIns="0" tIns="0" rIns="0" bIns="0" rtlCol="0" anchor="t"/>
          <a:lstStyle/>
          <a:p>
            <a:pPr indent="0" marL="0">
              <a:buNone/>
            </a:pPr>
            <a:r>
              <a:rPr lang="en-US" sz="1100" b="1" dirty="0">
                <a:solidFill>
                  <a:schemeClr val="accent5"/>
                </a:solidFill>
              </a:rPr>
              <a:t>Brokerage &amp; Workplace</a:t>
            </a:r>
            <a:endParaRPr lang="en-US" sz="1100" dirty="0"/>
          </a:p>
        </p:txBody>
      </p:sp>
      <p:sp>
        <p:nvSpPr>
          <p:cNvPr id="9" name="text"/>
          <p:cNvSpPr txBox="1"/>
          <p:nvPr/>
        </p:nvSpPr>
        <p:spPr>
          <a:xfrm>
            <a:off x="2926080" y="1801368"/>
            <a:ext cx="1847088" cy="800100"/>
          </a:xfrm>
          <a:prstGeom prst="rect">
            <a:avLst/>
          </a:prstGeom>
          <a:noFill/>
          <a:ln/>
        </p:spPr>
        <p:txBody>
          <a:bodyPr wrap="square" lIns="0" tIns="0" rIns="0" bIns="0" rtlCol="0" anchor="t"/>
          <a:lstStyle/>
          <a:p>
            <a:pPr indent="0" marL="0">
              <a:lnSpc>
                <a:spcPct val="105000"/>
              </a:lnSpc>
              <a:buNone/>
            </a:pPr>
            <a:r>
              <a:rPr lang="en-US" sz="850" dirty="0">
                <a:solidFill>
                  <a:schemeClr val="tx1"/>
                </a:solidFill>
              </a:rPr>
              <a:t>16 Retirement Plan Administration</a:t>
            </a:r>
            <a:endParaRPr lang="en-US" sz="850" dirty="0"/>
          </a:p>
          <a:p>
            <a:pPr indent="0" marL="0">
              <a:lnSpc>
                <a:spcPct val="105000"/>
              </a:lnSpc>
              <a:buNone/>
            </a:pPr>
            <a:r>
              <a:rPr lang="en-US" sz="850" dirty="0">
                <a:solidFill>
                  <a:schemeClr val="tx1"/>
                </a:solidFill>
              </a:rPr>
              <a:t>48 Brokerage Orders &amp; Execution</a:t>
            </a:r>
            <a:endParaRPr lang="en-US" sz="850" dirty="0"/>
          </a:p>
          <a:p>
            <a:pPr indent="0" marL="0">
              <a:lnSpc>
                <a:spcPct val="105000"/>
              </a:lnSpc>
              <a:buNone/>
            </a:pPr>
            <a:r>
              <a:rPr lang="en-US" sz="850" dirty="0">
                <a:solidFill>
                  <a:schemeClr val="tx1"/>
                </a:solidFill>
              </a:rPr>
              <a:t>49 Clearing, Settlement &amp; Client Asset Custody</a:t>
            </a:r>
            <a:endParaRPr lang="en-US" sz="850" dirty="0"/>
          </a:p>
          <a:p>
            <a:pPr indent="0" marL="0">
              <a:lnSpc>
                <a:spcPct val="105000"/>
              </a:lnSpc>
              <a:buNone/>
            </a:pPr>
            <a:r>
              <a:rPr lang="en-US" sz="850" dirty="0">
                <a:solidFill>
                  <a:schemeClr val="tx1"/>
                </a:solidFill>
              </a:rPr>
              <a:t>50 Money Movement, Cash &amp; Sweep</a:t>
            </a:r>
            <a:endParaRPr lang="en-US" sz="850" dirty="0"/>
          </a:p>
        </p:txBody>
      </p:sp>
      <p:sp>
        <p:nvSpPr>
          <p:cNvPr id="10" name="card"/>
          <p:cNvSpPr/>
          <p:nvPr/>
        </p:nvSpPr>
        <p:spPr>
          <a:xfrm>
            <a:off x="2798064" y="2811780"/>
            <a:ext cx="2103120" cy="1824228"/>
          </a:xfrm>
          <a:prstGeom prst="roundRect">
            <a:avLst>
              <a:gd name="adj" fmla="val 4010"/>
            </a:avLst>
          </a:prstGeom>
          <a:solidFill>
            <a:schemeClr val="bg2"/>
          </a:solidFill>
          <a:ln w="12700">
            <a:solidFill>
              <a:schemeClr val="bg2"/>
            </a:solidFill>
            <a:prstDash val="solid"/>
          </a:ln>
        </p:spPr>
      </p:sp>
      <p:sp>
        <p:nvSpPr>
          <p:cNvPr id="11" name="text"/>
          <p:cNvSpPr txBox="1"/>
          <p:nvPr/>
        </p:nvSpPr>
        <p:spPr>
          <a:xfrm>
            <a:off x="2926080" y="2903220"/>
            <a:ext cx="1847088" cy="274320"/>
          </a:xfrm>
          <a:prstGeom prst="rect">
            <a:avLst/>
          </a:prstGeom>
          <a:noFill/>
          <a:ln/>
        </p:spPr>
        <p:txBody>
          <a:bodyPr wrap="square" lIns="0" tIns="0" rIns="0" bIns="0" rtlCol="0" anchor="t"/>
          <a:lstStyle/>
          <a:p>
            <a:pPr indent="0" marL="0">
              <a:buNone/>
            </a:pPr>
            <a:r>
              <a:rPr lang="en-US" sz="1100" b="1" dirty="0">
                <a:solidFill>
                  <a:schemeClr val="accent3"/>
                </a:solidFill>
              </a:rPr>
              <a:t>Distribution &amp; Economics</a:t>
            </a:r>
            <a:endParaRPr lang="en-US" sz="1100" dirty="0"/>
          </a:p>
        </p:txBody>
      </p:sp>
      <p:sp>
        <p:nvSpPr>
          <p:cNvPr id="12" name="text"/>
          <p:cNvSpPr txBox="1"/>
          <p:nvPr/>
        </p:nvSpPr>
        <p:spPr>
          <a:xfrm>
            <a:off x="2926080" y="3195828"/>
            <a:ext cx="1847088" cy="1367028"/>
          </a:xfrm>
          <a:prstGeom prst="rect">
            <a:avLst/>
          </a:prstGeom>
          <a:noFill/>
          <a:ln/>
        </p:spPr>
        <p:txBody>
          <a:bodyPr wrap="square" lIns="0" tIns="0" rIns="0" bIns="0" rtlCol="0" anchor="t"/>
          <a:lstStyle/>
          <a:p>
            <a:pPr indent="0" marL="0">
              <a:lnSpc>
                <a:spcPct val="105000"/>
              </a:lnSpc>
              <a:buNone/>
            </a:pPr>
            <a:r>
              <a:rPr lang="en-US" sz="850" dirty="0">
                <a:solidFill>
                  <a:schemeClr val="tx1"/>
                </a:solidFill>
              </a:rPr>
              <a:t>05 Intermediary &amp; Institutional Distribution</a:t>
            </a:r>
            <a:endParaRPr lang="en-US" sz="850" dirty="0"/>
          </a:p>
          <a:p>
            <a:pPr indent="0" marL="0">
              <a:lnSpc>
                <a:spcPct val="105000"/>
              </a:lnSpc>
              <a:buNone/>
            </a:pPr>
            <a:r>
              <a:rPr lang="en-US" sz="850" dirty="0">
                <a:solidFill>
                  <a:schemeClr val="tx1"/>
                </a:solidFill>
              </a:rPr>
              <a:t>06 Client Assets, Flows &amp; Channel Attribution</a:t>
            </a:r>
            <a:endParaRPr lang="en-US" sz="850" dirty="0"/>
          </a:p>
          <a:p>
            <a:pPr indent="0" marL="0">
              <a:lnSpc>
                <a:spcPct val="105000"/>
              </a:lnSpc>
              <a:buNone/>
            </a:pPr>
            <a:r>
              <a:rPr lang="en-US" sz="850" dirty="0">
                <a:solidFill>
                  <a:schemeClr val="tx1"/>
                </a:solidFill>
              </a:rPr>
              <a:t>10 Client Revenue, Pricing Economics &amp; Profitability</a:t>
            </a:r>
            <a:endParaRPr lang="en-US" sz="850" dirty="0"/>
          </a:p>
          <a:p>
            <a:pPr indent="0" marL="0">
              <a:lnSpc>
                <a:spcPct val="105000"/>
              </a:lnSpc>
              <a:buNone/>
            </a:pPr>
            <a:r>
              <a:rPr lang="en-US" sz="850" dirty="0">
                <a:solidFill>
                  <a:schemeClr val="tx1"/>
                </a:solidFill>
              </a:rPr>
              <a:t>11 Market &amp; Competitive Intelligence</a:t>
            </a:r>
            <a:endParaRPr lang="en-US" sz="850" dirty="0"/>
          </a:p>
          <a:p>
            <a:pPr indent="0" marL="0">
              <a:lnSpc>
                <a:spcPct val="105000"/>
              </a:lnSpc>
              <a:buNone/>
            </a:pPr>
            <a:r>
              <a:rPr lang="en-US" sz="850" dirty="0">
                <a:solidFill>
                  <a:schemeClr val="tx1"/>
                </a:solidFill>
              </a:rPr>
              <a:t>12 Institutional Client Servicing &amp; Reporting</a:t>
            </a:r>
            <a:endParaRPr lang="en-US" sz="850" dirty="0"/>
          </a:p>
        </p:txBody>
      </p:sp>
      <p:sp>
        <p:nvSpPr>
          <p:cNvPr id="13" name="card"/>
          <p:cNvSpPr/>
          <p:nvPr/>
        </p:nvSpPr>
        <p:spPr>
          <a:xfrm>
            <a:off x="5047488" y="1417320"/>
            <a:ext cx="2103120" cy="1682496"/>
          </a:xfrm>
          <a:prstGeom prst="roundRect">
            <a:avLst>
              <a:gd name="adj" fmla="val 4348"/>
            </a:avLst>
          </a:prstGeom>
          <a:solidFill>
            <a:schemeClr val="bg2"/>
          </a:solidFill>
          <a:ln w="12700">
            <a:solidFill>
              <a:schemeClr val="bg2"/>
            </a:solidFill>
            <a:prstDash val="solid"/>
          </a:ln>
        </p:spPr>
      </p:sp>
      <p:sp>
        <p:nvSpPr>
          <p:cNvPr id="14" name="text"/>
          <p:cNvSpPr txBox="1"/>
          <p:nvPr/>
        </p:nvSpPr>
        <p:spPr>
          <a:xfrm>
            <a:off x="5175504" y="1508760"/>
            <a:ext cx="1847088" cy="274320"/>
          </a:xfrm>
          <a:prstGeom prst="rect">
            <a:avLst/>
          </a:prstGeom>
          <a:noFill/>
          <a:ln/>
        </p:spPr>
        <p:txBody>
          <a:bodyPr wrap="square" lIns="0" tIns="0" rIns="0" bIns="0" rtlCol="0" anchor="t"/>
          <a:lstStyle/>
          <a:p>
            <a:pPr indent="0" marL="0">
              <a:buNone/>
            </a:pPr>
            <a:r>
              <a:rPr lang="en-US" sz="1100" b="1" dirty="0">
                <a:solidFill>
                  <a:schemeClr val="accent2"/>
                </a:solidFill>
              </a:rPr>
              <a:t>Investment</a:t>
            </a:r>
            <a:endParaRPr lang="en-US" sz="1100" dirty="0"/>
          </a:p>
        </p:txBody>
      </p:sp>
      <p:sp>
        <p:nvSpPr>
          <p:cNvPr id="15" name="text"/>
          <p:cNvSpPr txBox="1"/>
          <p:nvPr/>
        </p:nvSpPr>
        <p:spPr>
          <a:xfrm>
            <a:off x="5175504" y="1801368"/>
            <a:ext cx="1847088" cy="1225296"/>
          </a:xfrm>
          <a:prstGeom prst="rect">
            <a:avLst/>
          </a:prstGeom>
          <a:noFill/>
          <a:ln/>
        </p:spPr>
        <p:txBody>
          <a:bodyPr wrap="square" lIns="0" tIns="0" rIns="0" bIns="0" rtlCol="0" anchor="t"/>
          <a:lstStyle/>
          <a:p>
            <a:pPr indent="0" marL="0">
              <a:lnSpc>
                <a:spcPct val="105000"/>
              </a:lnSpc>
              <a:buNone/>
            </a:pPr>
            <a:r>
              <a:rPr lang="en-US" sz="850" dirty="0">
                <a:solidFill>
                  <a:schemeClr val="tx1"/>
                </a:solidFill>
              </a:rPr>
              <a:t>23 Investment Research</a:t>
            </a:r>
            <a:endParaRPr lang="en-US" sz="850" dirty="0"/>
          </a:p>
          <a:p>
            <a:pPr indent="0" marL="0">
              <a:lnSpc>
                <a:spcPct val="105000"/>
              </a:lnSpc>
              <a:buNone/>
            </a:pPr>
            <a:r>
              <a:rPr lang="en-US" sz="850" dirty="0">
                <a:solidFill>
                  <a:schemeClr val="tx1"/>
                </a:solidFill>
              </a:rPr>
              <a:t>24 Portfolio Management &amp; Construction</a:t>
            </a:r>
            <a:endParaRPr lang="en-US" sz="850" dirty="0"/>
          </a:p>
          <a:p>
            <a:pPr indent="0" marL="0">
              <a:lnSpc>
                <a:spcPct val="105000"/>
              </a:lnSpc>
              <a:buNone/>
            </a:pPr>
            <a:r>
              <a:rPr lang="en-US" sz="850" dirty="0">
                <a:solidFill>
                  <a:schemeClr val="tx1"/>
                </a:solidFill>
              </a:rPr>
              <a:t>25 Portfolio Trading &amp; Execution</a:t>
            </a:r>
            <a:endParaRPr lang="en-US" sz="850" dirty="0"/>
          </a:p>
          <a:p>
            <a:pPr indent="0" marL="0">
              <a:lnSpc>
                <a:spcPct val="105000"/>
              </a:lnSpc>
              <a:buNone/>
            </a:pPr>
            <a:r>
              <a:rPr lang="en-US" sz="850" dirty="0">
                <a:solidFill>
                  <a:schemeClr val="tx1"/>
                </a:solidFill>
              </a:rPr>
              <a:t>34 Stewardship &amp; Sustainable Investing</a:t>
            </a:r>
            <a:endParaRPr lang="en-US" sz="850" dirty="0"/>
          </a:p>
          <a:p>
            <a:pPr indent="0" marL="0">
              <a:lnSpc>
                <a:spcPct val="105000"/>
              </a:lnSpc>
              <a:buNone/>
            </a:pPr>
            <a:r>
              <a:rPr lang="en-US" sz="850" dirty="0">
                <a:solidFill>
                  <a:schemeClr val="tx1"/>
                </a:solidFill>
              </a:rPr>
              <a:t>52 External Manager &amp; Sub-Adviser Oversight</a:t>
            </a:r>
            <a:endParaRPr lang="en-US" sz="850" dirty="0"/>
          </a:p>
        </p:txBody>
      </p:sp>
      <p:sp>
        <p:nvSpPr>
          <p:cNvPr id="16" name="card"/>
          <p:cNvSpPr/>
          <p:nvPr/>
        </p:nvSpPr>
        <p:spPr>
          <a:xfrm>
            <a:off x="5047488" y="3236976"/>
            <a:ext cx="2103120" cy="1682496"/>
          </a:xfrm>
          <a:prstGeom prst="roundRect">
            <a:avLst>
              <a:gd name="adj" fmla="val 4348"/>
            </a:avLst>
          </a:prstGeom>
          <a:solidFill>
            <a:schemeClr val="bg2"/>
          </a:solidFill>
          <a:ln w="12700">
            <a:solidFill>
              <a:schemeClr val="bg2"/>
            </a:solidFill>
            <a:prstDash val="solid"/>
          </a:ln>
        </p:spPr>
      </p:sp>
      <p:sp>
        <p:nvSpPr>
          <p:cNvPr id="17" name="text"/>
          <p:cNvSpPr txBox="1"/>
          <p:nvPr/>
        </p:nvSpPr>
        <p:spPr>
          <a:xfrm>
            <a:off x="5175504" y="3328416"/>
            <a:ext cx="1847088" cy="274320"/>
          </a:xfrm>
          <a:prstGeom prst="rect">
            <a:avLst/>
          </a:prstGeom>
          <a:noFill/>
          <a:ln/>
        </p:spPr>
        <p:txBody>
          <a:bodyPr wrap="square" lIns="0" tIns="0" rIns="0" bIns="0" rtlCol="0" anchor="t"/>
          <a:lstStyle/>
          <a:p>
            <a:pPr indent="0" marL="0">
              <a:buNone/>
            </a:pPr>
            <a:r>
              <a:rPr lang="en-US" sz="1100" b="1" dirty="0">
                <a:solidFill>
                  <a:schemeClr val="accent2"/>
                </a:solidFill>
              </a:rPr>
              <a:t>Investment Operations</a:t>
            </a:r>
            <a:endParaRPr lang="en-US" sz="1100" dirty="0"/>
          </a:p>
        </p:txBody>
      </p:sp>
      <p:sp>
        <p:nvSpPr>
          <p:cNvPr id="18" name="text"/>
          <p:cNvSpPr txBox="1"/>
          <p:nvPr/>
        </p:nvSpPr>
        <p:spPr>
          <a:xfrm>
            <a:off x="5175504" y="3621024"/>
            <a:ext cx="1847088" cy="1225296"/>
          </a:xfrm>
          <a:prstGeom prst="rect">
            <a:avLst/>
          </a:prstGeom>
          <a:noFill/>
          <a:ln/>
        </p:spPr>
        <p:txBody>
          <a:bodyPr wrap="square" lIns="0" tIns="0" rIns="0" bIns="0" rtlCol="0" anchor="t"/>
          <a:lstStyle/>
          <a:p>
            <a:pPr indent="0" marL="0">
              <a:lnSpc>
                <a:spcPct val="105000"/>
              </a:lnSpc>
              <a:buNone/>
            </a:pPr>
            <a:r>
              <a:rPr lang="en-US" sz="850" dirty="0">
                <a:solidFill>
                  <a:schemeClr val="tx1"/>
                </a:solidFill>
              </a:rPr>
              <a:t>18 Portfolio &amp; Investment Book of Record</a:t>
            </a:r>
            <a:endParaRPr lang="en-US" sz="850" dirty="0"/>
          </a:p>
          <a:p>
            <a:pPr indent="0" marL="0">
              <a:lnSpc>
                <a:spcPct val="105000"/>
              </a:lnSpc>
              <a:buNone/>
            </a:pPr>
            <a:r>
              <a:rPr lang="en-US" sz="850" dirty="0">
                <a:solidFill>
                  <a:schemeClr val="tx1"/>
                </a:solidFill>
              </a:rPr>
              <a:t>22 Market Data &amp; Pricing</a:t>
            </a:r>
            <a:endParaRPr lang="en-US" sz="850" dirty="0"/>
          </a:p>
          <a:p>
            <a:pPr indent="0" marL="0">
              <a:lnSpc>
                <a:spcPct val="105000"/>
              </a:lnSpc>
              <a:buNone/>
            </a:pPr>
            <a:r>
              <a:rPr lang="en-US" sz="850" dirty="0">
                <a:solidFill>
                  <a:schemeClr val="tx1"/>
                </a:solidFill>
              </a:rPr>
              <a:t>26 Trade Operations, Settlement &amp; Collateral</a:t>
            </a:r>
            <a:endParaRPr lang="en-US" sz="850" dirty="0"/>
          </a:p>
          <a:p>
            <a:pPr indent="0" marL="0">
              <a:lnSpc>
                <a:spcPct val="105000"/>
              </a:lnSpc>
              <a:buNone/>
            </a:pPr>
            <a:r>
              <a:rPr lang="en-US" sz="850" dirty="0">
                <a:solidFill>
                  <a:schemeClr val="tx1"/>
                </a:solidFill>
              </a:rPr>
              <a:t>31 Investment Risk</a:t>
            </a:r>
            <a:endParaRPr lang="en-US" sz="850" dirty="0"/>
          </a:p>
          <a:p>
            <a:pPr indent="0" marL="0">
              <a:lnSpc>
                <a:spcPct val="105000"/>
              </a:lnSpc>
              <a:buNone/>
            </a:pPr>
            <a:r>
              <a:rPr lang="en-US" sz="850" dirty="0">
                <a:solidFill>
                  <a:schemeClr val="tx1"/>
                </a:solidFill>
              </a:rPr>
              <a:t>32 Performance &amp; Attribution</a:t>
            </a:r>
            <a:endParaRPr lang="en-US" sz="850" dirty="0"/>
          </a:p>
          <a:p>
            <a:pPr indent="0" marL="0">
              <a:lnSpc>
                <a:spcPct val="105000"/>
              </a:lnSpc>
              <a:buNone/>
            </a:pPr>
            <a:r>
              <a:rPr lang="en-US" sz="850" dirty="0">
                <a:solidFill>
                  <a:schemeClr val="tx1"/>
                </a:solidFill>
              </a:rPr>
              <a:t>33 Investment Compliance</a:t>
            </a:r>
            <a:endParaRPr lang="en-US" sz="850" dirty="0"/>
          </a:p>
        </p:txBody>
      </p:sp>
      <p:sp>
        <p:nvSpPr>
          <p:cNvPr id="19" name="card"/>
          <p:cNvSpPr/>
          <p:nvPr/>
        </p:nvSpPr>
        <p:spPr>
          <a:xfrm>
            <a:off x="7296912" y="1417320"/>
            <a:ext cx="2103120" cy="1257300"/>
          </a:xfrm>
          <a:prstGeom prst="roundRect">
            <a:avLst>
              <a:gd name="adj" fmla="val 5818"/>
            </a:avLst>
          </a:prstGeom>
          <a:solidFill>
            <a:schemeClr val="bg2"/>
          </a:solidFill>
          <a:ln w="12700">
            <a:solidFill>
              <a:schemeClr val="bg2"/>
            </a:solidFill>
            <a:prstDash val="solid"/>
          </a:ln>
        </p:spPr>
      </p:sp>
      <p:sp>
        <p:nvSpPr>
          <p:cNvPr id="20" name="text"/>
          <p:cNvSpPr txBox="1"/>
          <p:nvPr/>
        </p:nvSpPr>
        <p:spPr>
          <a:xfrm>
            <a:off x="7424928" y="1508760"/>
            <a:ext cx="1847088" cy="274320"/>
          </a:xfrm>
          <a:prstGeom prst="rect">
            <a:avLst/>
          </a:prstGeom>
          <a:noFill/>
          <a:ln/>
        </p:spPr>
        <p:txBody>
          <a:bodyPr wrap="square" lIns="0" tIns="0" rIns="0" bIns="0" rtlCol="0" anchor="t"/>
          <a:lstStyle/>
          <a:p>
            <a:pPr indent="0" marL="0">
              <a:buNone/>
            </a:pPr>
            <a:r>
              <a:rPr lang="en-US" sz="1100" b="1" dirty="0">
                <a:solidFill>
                  <a:schemeClr val="accent2"/>
                </a:solidFill>
              </a:rPr>
              <a:t>Fund Operations</a:t>
            </a:r>
            <a:endParaRPr lang="en-US" sz="1100" dirty="0"/>
          </a:p>
        </p:txBody>
      </p:sp>
      <p:sp>
        <p:nvSpPr>
          <p:cNvPr id="21" name="text"/>
          <p:cNvSpPr txBox="1"/>
          <p:nvPr/>
        </p:nvSpPr>
        <p:spPr>
          <a:xfrm>
            <a:off x="7424928" y="1801368"/>
            <a:ext cx="1847088" cy="800100"/>
          </a:xfrm>
          <a:prstGeom prst="rect">
            <a:avLst/>
          </a:prstGeom>
          <a:noFill/>
          <a:ln/>
        </p:spPr>
        <p:txBody>
          <a:bodyPr wrap="square" lIns="0" tIns="0" rIns="0" bIns="0" rtlCol="0" anchor="t"/>
          <a:lstStyle/>
          <a:p>
            <a:pPr indent="0" marL="0">
              <a:lnSpc>
                <a:spcPct val="105000"/>
              </a:lnSpc>
              <a:buNone/>
            </a:pPr>
            <a:r>
              <a:rPr lang="en-US" sz="850" dirty="0">
                <a:solidFill>
                  <a:schemeClr val="tx1"/>
                </a:solidFill>
              </a:rPr>
              <a:t>27 Fund Accounting &amp; Valuation</a:t>
            </a:r>
            <a:endParaRPr lang="en-US" sz="850" dirty="0"/>
          </a:p>
          <a:p>
            <a:pPr indent="0" marL="0">
              <a:lnSpc>
                <a:spcPct val="105000"/>
              </a:lnSpc>
              <a:buNone/>
            </a:pPr>
            <a:r>
              <a:rPr lang="en-US" sz="850" dirty="0">
                <a:solidFill>
                  <a:schemeClr val="tx1"/>
                </a:solidFill>
              </a:rPr>
              <a:t>28 Fund Custody &amp; Asset Servicing</a:t>
            </a:r>
            <a:endParaRPr lang="en-US" sz="850" dirty="0"/>
          </a:p>
          <a:p>
            <a:pPr indent="0" marL="0">
              <a:lnSpc>
                <a:spcPct val="105000"/>
              </a:lnSpc>
              <a:buNone/>
            </a:pPr>
            <a:r>
              <a:rPr lang="en-US" sz="850" dirty="0">
                <a:solidFill>
                  <a:schemeClr val="tx1"/>
                </a:solidFill>
              </a:rPr>
              <a:t>29 Transfer Agency Operations</a:t>
            </a:r>
            <a:endParaRPr lang="en-US" sz="850" dirty="0"/>
          </a:p>
          <a:p>
            <a:pPr indent="0" marL="0">
              <a:lnSpc>
                <a:spcPct val="105000"/>
              </a:lnSpc>
              <a:buNone/>
            </a:pPr>
            <a:r>
              <a:rPr lang="en-US" sz="850" dirty="0">
                <a:solidFill>
                  <a:schemeClr val="tx1"/>
                </a:solidFill>
              </a:rPr>
              <a:t>35 Fund Governance &amp; Regulatory Reporting</a:t>
            </a:r>
            <a:endParaRPr lang="en-US" sz="850" dirty="0"/>
          </a:p>
        </p:txBody>
      </p:sp>
      <p:sp>
        <p:nvSpPr>
          <p:cNvPr id="22" name="card"/>
          <p:cNvSpPr/>
          <p:nvPr/>
        </p:nvSpPr>
        <p:spPr>
          <a:xfrm>
            <a:off x="7296912" y="2811780"/>
            <a:ext cx="2103120" cy="2249424"/>
          </a:xfrm>
          <a:prstGeom prst="roundRect">
            <a:avLst>
              <a:gd name="adj" fmla="val 3478"/>
            </a:avLst>
          </a:prstGeom>
          <a:solidFill>
            <a:schemeClr val="bg2"/>
          </a:solidFill>
          <a:ln w="12700">
            <a:solidFill>
              <a:schemeClr val="bg2"/>
            </a:solidFill>
            <a:prstDash val="solid"/>
          </a:ln>
        </p:spPr>
      </p:sp>
      <p:sp>
        <p:nvSpPr>
          <p:cNvPr id="23" name="text"/>
          <p:cNvSpPr txBox="1"/>
          <p:nvPr/>
        </p:nvSpPr>
        <p:spPr>
          <a:xfrm>
            <a:off x="7424928" y="2903220"/>
            <a:ext cx="1847088" cy="274320"/>
          </a:xfrm>
          <a:prstGeom prst="rect">
            <a:avLst/>
          </a:prstGeom>
          <a:noFill/>
          <a:ln/>
        </p:spPr>
        <p:txBody>
          <a:bodyPr wrap="square" lIns="0" tIns="0" rIns="0" bIns="0" rtlCol="0" anchor="t"/>
          <a:lstStyle/>
          <a:p>
            <a:pPr indent="0" marL="0">
              <a:buNone/>
            </a:pPr>
            <a:r>
              <a:rPr lang="en-US" sz="1100" b="1" dirty="0">
                <a:solidFill>
                  <a:schemeClr val="accent6"/>
                </a:solidFill>
              </a:rPr>
              <a:t>Corporate Functions</a:t>
            </a:r>
            <a:endParaRPr lang="en-US" sz="1100" dirty="0"/>
          </a:p>
        </p:txBody>
      </p:sp>
      <p:sp>
        <p:nvSpPr>
          <p:cNvPr id="24" name="text"/>
          <p:cNvSpPr txBox="1"/>
          <p:nvPr/>
        </p:nvSpPr>
        <p:spPr>
          <a:xfrm>
            <a:off x="7424928" y="3195828"/>
            <a:ext cx="1847088" cy="1792224"/>
          </a:xfrm>
          <a:prstGeom prst="rect">
            <a:avLst/>
          </a:prstGeom>
          <a:noFill/>
          <a:ln/>
        </p:spPr>
        <p:txBody>
          <a:bodyPr wrap="square" lIns="0" tIns="0" rIns="0" bIns="0" rtlCol="0" anchor="t"/>
          <a:lstStyle/>
          <a:p>
            <a:pPr indent="0" marL="0">
              <a:lnSpc>
                <a:spcPct val="105000"/>
              </a:lnSpc>
              <a:buNone/>
            </a:pPr>
            <a:r>
              <a:rPr lang="en-US" sz="850" dirty="0">
                <a:solidFill>
                  <a:schemeClr val="tx1"/>
                </a:solidFill>
              </a:rPr>
              <a:t>19 Finance &amp; Accounting</a:t>
            </a:r>
            <a:endParaRPr lang="en-US" sz="850" dirty="0"/>
          </a:p>
          <a:p>
            <a:pPr indent="0" marL="0">
              <a:lnSpc>
                <a:spcPct val="105000"/>
              </a:lnSpc>
              <a:buNone/>
            </a:pPr>
            <a:r>
              <a:rPr lang="en-US" sz="850" dirty="0">
                <a:solidFill>
                  <a:schemeClr val="tx1"/>
                </a:solidFill>
              </a:rPr>
              <a:t>20 Human Capital</a:t>
            </a:r>
            <a:endParaRPr lang="en-US" sz="850" dirty="0"/>
          </a:p>
          <a:p>
            <a:pPr indent="0" marL="0">
              <a:lnSpc>
                <a:spcPct val="105000"/>
              </a:lnSpc>
              <a:buNone/>
            </a:pPr>
            <a:r>
              <a:rPr lang="en-US" sz="850" dirty="0">
                <a:solidFill>
                  <a:schemeClr val="tx1"/>
                </a:solidFill>
              </a:rPr>
              <a:t>37 Enterprise &amp; Operational Risk</a:t>
            </a:r>
            <a:endParaRPr lang="en-US" sz="850" dirty="0"/>
          </a:p>
          <a:p>
            <a:pPr indent="0" marL="0">
              <a:lnSpc>
                <a:spcPct val="105000"/>
              </a:lnSpc>
              <a:buNone/>
            </a:pPr>
            <a:r>
              <a:rPr lang="en-US" sz="850" dirty="0">
                <a:solidFill>
                  <a:schemeClr val="tx1"/>
                </a:solidFill>
              </a:rPr>
              <a:t>38 Corporate Compliance &amp; Regulatory Affairs</a:t>
            </a:r>
            <a:endParaRPr lang="en-US" sz="850" dirty="0"/>
          </a:p>
          <a:p>
            <a:pPr indent="0" marL="0">
              <a:lnSpc>
                <a:spcPct val="105000"/>
              </a:lnSpc>
              <a:buNone/>
            </a:pPr>
            <a:r>
              <a:rPr lang="en-US" sz="850" dirty="0">
                <a:solidFill>
                  <a:schemeClr val="tx1"/>
                </a:solidFill>
              </a:rPr>
              <a:t>39 Legal &amp; Corporate Governance</a:t>
            </a:r>
            <a:endParaRPr lang="en-US" sz="850" dirty="0"/>
          </a:p>
          <a:p>
            <a:pPr indent="0" marL="0">
              <a:lnSpc>
                <a:spcPct val="105000"/>
              </a:lnSpc>
              <a:buNone/>
            </a:pPr>
            <a:r>
              <a:rPr lang="en-US" sz="850" dirty="0">
                <a:solidFill>
                  <a:schemeClr val="tx1"/>
                </a:solidFill>
              </a:rPr>
              <a:t>40 Procurement &amp; Vendor Management</a:t>
            </a:r>
            <a:endParaRPr lang="en-US" sz="850" dirty="0"/>
          </a:p>
          <a:p>
            <a:pPr indent="0" marL="0">
              <a:lnSpc>
                <a:spcPct val="105000"/>
              </a:lnSpc>
              <a:buNone/>
            </a:pPr>
            <a:r>
              <a:rPr lang="en-US" sz="850" dirty="0">
                <a:solidFill>
                  <a:schemeClr val="tx1"/>
                </a:solidFill>
              </a:rPr>
              <a:t>41 Technology &amp; Information Security</a:t>
            </a:r>
            <a:endParaRPr lang="en-US" sz="850" dirty="0"/>
          </a:p>
          <a:p>
            <a:pPr indent="0" marL="0">
              <a:lnSpc>
                <a:spcPct val="105000"/>
              </a:lnSpc>
              <a:buNone/>
            </a:pPr>
            <a:r>
              <a:rPr lang="en-US" sz="850" dirty="0">
                <a:solidFill>
                  <a:schemeClr val="tx1"/>
                </a:solidFill>
              </a:rPr>
              <a:t>42 Corporate Communications &amp; Public Affairs</a:t>
            </a:r>
            <a:endParaRPr lang="en-US" sz="850" dirty="0"/>
          </a:p>
          <a:p>
            <a:pPr indent="0" marL="0">
              <a:lnSpc>
                <a:spcPct val="105000"/>
              </a:lnSpc>
              <a:buNone/>
            </a:pPr>
            <a:r>
              <a:rPr lang="en-US" sz="850" dirty="0">
                <a:solidFill>
                  <a:schemeClr val="tx1"/>
                </a:solidFill>
              </a:rPr>
              <a:t>43 Corporate Treasury &amp; Capital</a:t>
            </a:r>
            <a:endParaRPr lang="en-US" sz="850" dirty="0"/>
          </a:p>
          <a:p>
            <a:pPr indent="0" marL="0">
              <a:lnSpc>
                <a:spcPct val="105000"/>
              </a:lnSpc>
              <a:buNone/>
            </a:pPr>
            <a:r>
              <a:rPr lang="en-US" sz="850" dirty="0">
                <a:solidFill>
                  <a:schemeClr val="tx1"/>
                </a:solidFill>
              </a:rPr>
              <a:t>44 Workplace &amp; Corporate Services</a:t>
            </a:r>
            <a:endParaRPr lang="en-US" sz="850" dirty="0"/>
          </a:p>
        </p:txBody>
      </p:sp>
      <p:sp>
        <p:nvSpPr>
          <p:cNvPr id="25" name="card"/>
          <p:cNvSpPr/>
          <p:nvPr/>
        </p:nvSpPr>
        <p:spPr>
          <a:xfrm>
            <a:off x="548640" y="5212080"/>
            <a:ext cx="8851392" cy="868680"/>
          </a:xfrm>
          <a:prstGeom prst="roundRect">
            <a:avLst>
              <a:gd name="adj" fmla="val 8421"/>
            </a:avLst>
          </a:prstGeom>
          <a:solidFill>
            <a:schemeClr val="tx2"/>
          </a:solidFill>
          <a:ln w="12700">
            <a:solidFill>
              <a:schemeClr val="tx2"/>
            </a:solidFill>
            <a:prstDash val="solid"/>
          </a:ln>
        </p:spPr>
      </p:sp>
      <p:sp>
        <p:nvSpPr>
          <p:cNvPr id="26" name="text"/>
          <p:cNvSpPr txBox="1"/>
          <p:nvPr/>
        </p:nvSpPr>
        <p:spPr>
          <a:xfrm>
            <a:off x="676656" y="5285232"/>
            <a:ext cx="3657600" cy="274320"/>
          </a:xfrm>
          <a:prstGeom prst="rect">
            <a:avLst/>
          </a:prstGeom>
          <a:noFill/>
          <a:ln/>
        </p:spPr>
        <p:txBody>
          <a:bodyPr wrap="square" lIns="0" tIns="0" rIns="0" bIns="0" rtlCol="0" anchor="t"/>
          <a:lstStyle/>
          <a:p>
            <a:pPr indent="0" marL="0">
              <a:buNone/>
            </a:pPr>
            <a:r>
              <a:rPr lang="en-US" sz="1100" b="1" dirty="0">
                <a:solidFill>
                  <a:schemeClr val="bg1"/>
                </a:solidFill>
              </a:rPr>
              <a:t>Foundations (a band every area reads)</a:t>
            </a:r>
            <a:endParaRPr lang="en-US" sz="1100" dirty="0"/>
          </a:p>
        </p:txBody>
      </p:sp>
      <p:sp>
        <p:nvSpPr>
          <p:cNvPr id="27" name="text"/>
          <p:cNvSpPr txBox="1"/>
          <p:nvPr/>
        </p:nvSpPr>
        <p:spPr>
          <a:xfrm>
            <a:off x="676656" y="5596128"/>
            <a:ext cx="9144000" cy="411480"/>
          </a:xfrm>
          <a:prstGeom prst="rect">
            <a:avLst/>
          </a:prstGeom>
          <a:noFill/>
          <a:ln/>
        </p:spPr>
        <p:txBody>
          <a:bodyPr wrap="square" lIns="0" tIns="0" rIns="0" bIns="0" rtlCol="0" anchor="t"/>
          <a:lstStyle/>
          <a:p>
            <a:pPr indent="0" marL="0">
              <a:buNone/>
            </a:pPr>
            <a:r>
              <a:rPr lang="en-US" sz="1000" dirty="0">
                <a:solidFill>
                  <a:schemeClr val="bg2"/>
                </a:solidFill>
              </a:rPr>
              <a:t>09 Shared &amp; Enterprise Reference Data   |   14 Third-Party Data &amp; Licensing   |   17 Instrument &amp; Issuer Reference   |   21 Data Governance &amp; Analytics</a:t>
            </a:r>
            <a:endParaRPr lang="en-US" sz="1000" dirty="0"/>
          </a:p>
        </p:txBody>
      </p:sp>
      <p:sp>
        <p:nvSpPr>
          <p:cNvPr id="28" name="text"/>
          <p:cNvSpPr txBox="1"/>
          <p:nvPr/>
        </p:nvSpPr>
        <p:spPr>
          <a:xfrm>
            <a:off x="9546336" y="1417320"/>
            <a:ext cx="2103120" cy="594360"/>
          </a:xfrm>
          <a:prstGeom prst="rect">
            <a:avLst/>
          </a:prstGeom>
          <a:noFill/>
          <a:ln/>
        </p:spPr>
        <p:txBody>
          <a:bodyPr wrap="square" lIns="0" tIns="0" rIns="0" bIns="0" rtlCol="0" anchor="t"/>
          <a:lstStyle/>
          <a:p>
            <a:pPr indent="0" marL="0">
              <a:buNone/>
            </a:pPr>
            <a:r>
              <a:rPr lang="en-US" sz="3000" b="1" dirty="0">
                <a:solidFill>
                  <a:schemeClr val="accent1"/>
                </a:solidFill>
              </a:rPr>
              <a:t>50</a:t>
            </a:r>
            <a:endParaRPr lang="en-US" sz="3000" dirty="0"/>
          </a:p>
        </p:txBody>
      </p:sp>
      <p:sp>
        <p:nvSpPr>
          <p:cNvPr id="29" name="text"/>
          <p:cNvSpPr txBox="1"/>
          <p:nvPr/>
        </p:nvSpPr>
        <p:spPr>
          <a:xfrm>
            <a:off x="9546336" y="1984248"/>
            <a:ext cx="2103120" cy="548640"/>
          </a:xfrm>
          <a:prstGeom prst="rect">
            <a:avLst/>
          </a:prstGeom>
          <a:noFill/>
          <a:ln/>
        </p:spPr>
        <p:txBody>
          <a:bodyPr wrap="square" lIns="0" tIns="0" rIns="0" bIns="0" rtlCol="0" anchor="t"/>
          <a:lstStyle/>
          <a:p>
            <a:pPr indent="0" marL="0">
              <a:buNone/>
            </a:pPr>
            <a:r>
              <a:rPr lang="en-US" sz="1050" dirty="0">
                <a:solidFill>
                  <a:schemeClr val="accent6"/>
                </a:solidFill>
              </a:rPr>
              <a:t>Data Domains</a:t>
            </a:r>
            <a:endParaRPr lang="en-US" sz="1050" dirty="0"/>
          </a:p>
        </p:txBody>
      </p:sp>
      <p:sp>
        <p:nvSpPr>
          <p:cNvPr id="30" name="text"/>
          <p:cNvSpPr txBox="1"/>
          <p:nvPr/>
        </p:nvSpPr>
        <p:spPr>
          <a:xfrm>
            <a:off x="9546336" y="2606040"/>
            <a:ext cx="2103120" cy="594360"/>
          </a:xfrm>
          <a:prstGeom prst="rect">
            <a:avLst/>
          </a:prstGeom>
          <a:noFill/>
          <a:ln/>
        </p:spPr>
        <p:txBody>
          <a:bodyPr wrap="square" lIns="0" tIns="0" rIns="0" bIns="0" rtlCol="0" anchor="t"/>
          <a:lstStyle/>
          <a:p>
            <a:pPr indent="0" marL="0">
              <a:buNone/>
            </a:pPr>
            <a:r>
              <a:rPr lang="en-US" sz="3000" b="1" dirty="0">
                <a:solidFill>
                  <a:schemeClr val="accent1"/>
                </a:solidFill>
              </a:rPr>
              <a:t>1,583</a:t>
            </a:r>
            <a:endParaRPr lang="en-US" sz="3000" dirty="0"/>
          </a:p>
        </p:txBody>
      </p:sp>
      <p:sp>
        <p:nvSpPr>
          <p:cNvPr id="31" name="text"/>
          <p:cNvSpPr txBox="1"/>
          <p:nvPr/>
        </p:nvSpPr>
        <p:spPr>
          <a:xfrm>
            <a:off x="9546336" y="3172968"/>
            <a:ext cx="2103120" cy="548640"/>
          </a:xfrm>
          <a:prstGeom prst="rect">
            <a:avLst/>
          </a:prstGeom>
          <a:noFill/>
          <a:ln/>
        </p:spPr>
        <p:txBody>
          <a:bodyPr wrap="square" lIns="0" tIns="0" rIns="0" bIns="0" rtlCol="0" anchor="t"/>
          <a:lstStyle/>
          <a:p>
            <a:pPr indent="0" marL="0">
              <a:buNone/>
            </a:pPr>
            <a:r>
              <a:rPr lang="en-US" sz="1050" dirty="0">
                <a:solidFill>
                  <a:schemeClr val="accent6"/>
                </a:solidFill>
              </a:rPr>
              <a:t>business objects</a:t>
            </a:r>
            <a:endParaRPr lang="en-US" sz="1050" dirty="0"/>
          </a:p>
        </p:txBody>
      </p:sp>
      <p:sp>
        <p:nvSpPr>
          <p:cNvPr id="32" name="text"/>
          <p:cNvSpPr txBox="1"/>
          <p:nvPr/>
        </p:nvSpPr>
        <p:spPr>
          <a:xfrm>
            <a:off x="9546336" y="3794760"/>
            <a:ext cx="2103120" cy="594360"/>
          </a:xfrm>
          <a:prstGeom prst="rect">
            <a:avLst/>
          </a:prstGeom>
          <a:noFill/>
          <a:ln/>
        </p:spPr>
        <p:txBody>
          <a:bodyPr wrap="square" lIns="0" tIns="0" rIns="0" bIns="0" rtlCol="0" anchor="t"/>
          <a:lstStyle/>
          <a:p>
            <a:pPr indent="0" marL="0">
              <a:buNone/>
            </a:pPr>
            <a:r>
              <a:rPr lang="en-US" sz="3000" b="1" dirty="0">
                <a:solidFill>
                  <a:schemeClr val="accent1"/>
                </a:solidFill>
              </a:rPr>
              <a:t>13,009</a:t>
            </a:r>
            <a:endParaRPr lang="en-US" sz="3000" dirty="0"/>
          </a:p>
        </p:txBody>
      </p:sp>
      <p:sp>
        <p:nvSpPr>
          <p:cNvPr id="33" name="text"/>
          <p:cNvSpPr txBox="1"/>
          <p:nvPr/>
        </p:nvSpPr>
        <p:spPr>
          <a:xfrm>
            <a:off x="9546336" y="4361688"/>
            <a:ext cx="2103120" cy="548640"/>
          </a:xfrm>
          <a:prstGeom prst="rect">
            <a:avLst/>
          </a:prstGeom>
          <a:noFill/>
          <a:ln/>
        </p:spPr>
        <p:txBody>
          <a:bodyPr wrap="square" lIns="0" tIns="0" rIns="0" bIns="0" rtlCol="0" anchor="t"/>
          <a:lstStyle/>
          <a:p>
            <a:pPr indent="0" marL="0">
              <a:buNone/>
            </a:pPr>
            <a:r>
              <a:rPr lang="en-US" sz="1050" dirty="0">
                <a:solidFill>
                  <a:schemeClr val="accent6"/>
                </a:solidFill>
              </a:rPr>
              <a:t>attributes, each with one definition and one owner</a:t>
            </a:r>
            <a:endParaRPr lang="en-US" sz="1050" dirty="0"/>
          </a:p>
        </p:txBody>
      </p:sp>
      <p:sp>
        <p:nvSpPr>
          <p:cNvPr id="34" name="text"/>
          <p:cNvSpPr txBox="1"/>
          <p:nvPr/>
        </p:nvSpPr>
        <p:spPr>
          <a:xfrm>
            <a:off x="9546336" y="4983480"/>
            <a:ext cx="2103120" cy="594360"/>
          </a:xfrm>
          <a:prstGeom prst="rect">
            <a:avLst/>
          </a:prstGeom>
          <a:noFill/>
          <a:ln/>
        </p:spPr>
        <p:txBody>
          <a:bodyPr wrap="square" lIns="0" tIns="0" rIns="0" bIns="0" rtlCol="0" anchor="t"/>
          <a:lstStyle/>
          <a:p>
            <a:pPr indent="0" marL="0">
              <a:buNone/>
            </a:pPr>
            <a:r>
              <a:rPr lang="en-US" sz="3000" b="1" dirty="0">
                <a:solidFill>
                  <a:schemeClr val="accent1"/>
                </a:solidFill>
              </a:rPr>
              <a:t>4,268</a:t>
            </a:r>
            <a:endParaRPr lang="en-US" sz="3000" dirty="0"/>
          </a:p>
        </p:txBody>
      </p:sp>
      <p:sp>
        <p:nvSpPr>
          <p:cNvPr id="35" name="text"/>
          <p:cNvSpPr txBox="1"/>
          <p:nvPr/>
        </p:nvSpPr>
        <p:spPr>
          <a:xfrm>
            <a:off x="9546336" y="5550408"/>
            <a:ext cx="2103120" cy="548640"/>
          </a:xfrm>
          <a:prstGeom prst="rect">
            <a:avLst/>
          </a:prstGeom>
          <a:noFill/>
          <a:ln/>
        </p:spPr>
        <p:txBody>
          <a:bodyPr wrap="square" lIns="0" tIns="0" rIns="0" bIns="0" rtlCol="0" anchor="t"/>
          <a:lstStyle/>
          <a:p>
            <a:pPr indent="0" marL="0">
              <a:buNone/>
            </a:pPr>
            <a:r>
              <a:rPr lang="en-US" sz="1050" dirty="0">
                <a:solidFill>
                  <a:schemeClr val="accent6"/>
                </a:solidFill>
              </a:rPr>
              <a:t>critical data elements</a:t>
            </a:r>
            <a:endParaRPr lang="en-US" sz="10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Built like code, so it can be trusted like a product</a:t>
            </a:r>
            <a:endParaRPr lang="en-US" sz="2800" dirty="0"/>
          </a:p>
        </p:txBody>
      </p:sp>
      <p:sp>
        <p:nvSpPr>
          <p:cNvPr id="4" name="card"/>
          <p:cNvSpPr/>
          <p:nvPr/>
        </p:nvSpPr>
        <p:spPr>
          <a:xfrm>
            <a:off x="548640" y="1417320"/>
            <a:ext cx="5440680" cy="1371600"/>
          </a:xfrm>
          <a:prstGeom prst="roundRect">
            <a:avLst>
              <a:gd name="adj" fmla="val 5333"/>
            </a:avLst>
          </a:prstGeom>
          <a:solidFill>
            <a:schemeClr val="bg2"/>
          </a:solidFill>
          <a:ln w="12700">
            <a:solidFill>
              <a:schemeClr val="bg2"/>
            </a:solidFill>
            <a:prstDash val="solid"/>
          </a:ln>
        </p:spPr>
      </p:sp>
      <p:sp>
        <p:nvSpPr>
          <p:cNvPr id="5" name="dot"/>
          <p:cNvSpPr/>
          <p:nvPr/>
        </p:nvSpPr>
        <p:spPr>
          <a:xfrm>
            <a:off x="731520" y="1600200"/>
            <a:ext cx="457200" cy="457200"/>
          </a:xfrm>
          <a:prstGeom prst="ellipse">
            <a:avLst/>
          </a:prstGeom>
          <a:solidFill>
            <a:schemeClr val="accent1"/>
          </a:solidFill>
          <a:ln w="12700">
            <a:solidFill>
              <a:srgbClr val="333333"/>
            </a:solidFill>
            <a:prstDash val="solid"/>
          </a:ln>
        </p:spPr>
      </p:sp>
      <p:sp>
        <p:nvSpPr>
          <p:cNvPr id="6" name="text"/>
          <p:cNvSpPr txBox="1"/>
          <p:nvPr/>
        </p:nvSpPr>
        <p:spPr>
          <a:xfrm>
            <a:off x="731520" y="16002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p:cNvSpPr txBox="1"/>
          <p:nvPr/>
        </p:nvSpPr>
        <p:spPr>
          <a:xfrm>
            <a:off x="1371600" y="1581912"/>
            <a:ext cx="4434840" cy="365760"/>
          </a:xfrm>
          <a:prstGeom prst="rect">
            <a:avLst/>
          </a:prstGeom>
          <a:noFill/>
          <a:ln/>
        </p:spPr>
        <p:txBody>
          <a:bodyPr wrap="square" lIns="0" tIns="0" rIns="0" bIns="0" rtlCol="0" anchor="t"/>
          <a:lstStyle/>
          <a:p>
            <a:pPr indent="0" marL="0">
              <a:buNone/>
            </a:pPr>
            <a:r>
              <a:rPr lang="en-US" sz="1400" b="1" dirty="0">
                <a:solidFill>
                  <a:schemeClr val="tx2"/>
                </a:solidFill>
              </a:rPr>
              <a:t>Content as code</a:t>
            </a:r>
            <a:endParaRPr lang="en-US" sz="1400" dirty="0"/>
          </a:p>
        </p:txBody>
      </p:sp>
      <p:sp>
        <p:nvSpPr>
          <p:cNvPr id="8" name="text"/>
          <p:cNvSpPr txBox="1"/>
          <p:nvPr/>
        </p:nvSpPr>
        <p:spPr>
          <a:xfrm>
            <a:off x="1371600" y="1947672"/>
            <a:ext cx="4434840" cy="822960"/>
          </a:xfrm>
          <a:prstGeom prst="rect">
            <a:avLst/>
          </a:prstGeom>
          <a:noFill/>
          <a:ln/>
        </p:spPr>
        <p:txBody>
          <a:bodyPr wrap="square" lIns="0" tIns="0" rIns="0" bIns="0" rtlCol="0" anchor="t"/>
          <a:lstStyle/>
          <a:p>
            <a:pPr indent="0" marL="0">
              <a:buNone/>
            </a:pPr>
            <a:r>
              <a:rPr lang="en-US" sz="1150" dirty="0">
                <a:solidFill>
                  <a:schemeClr val="tx1"/>
                </a:solidFill>
              </a:rPr>
              <a:t>Each Data Domain is a module; workbooks, explorer and catalogs are generated, never hand-edited. A renamed attribute breaks the build instead of leaving a stale report.</a:t>
            </a:r>
            <a:endParaRPr lang="en-US" sz="1150" dirty="0"/>
          </a:p>
        </p:txBody>
      </p:sp>
      <p:sp>
        <p:nvSpPr>
          <p:cNvPr id="9" name="card"/>
          <p:cNvSpPr/>
          <p:nvPr/>
        </p:nvSpPr>
        <p:spPr>
          <a:xfrm>
            <a:off x="6217920" y="1417320"/>
            <a:ext cx="5440680" cy="1371600"/>
          </a:xfrm>
          <a:prstGeom prst="roundRect">
            <a:avLst>
              <a:gd name="adj" fmla="val 5333"/>
            </a:avLst>
          </a:prstGeom>
          <a:solidFill>
            <a:schemeClr val="bg2"/>
          </a:solidFill>
          <a:ln w="12700">
            <a:solidFill>
              <a:schemeClr val="bg2"/>
            </a:solidFill>
            <a:prstDash val="solid"/>
          </a:ln>
        </p:spPr>
      </p:sp>
      <p:sp>
        <p:nvSpPr>
          <p:cNvPr id="10" name="dot"/>
          <p:cNvSpPr/>
          <p:nvPr/>
        </p:nvSpPr>
        <p:spPr>
          <a:xfrm>
            <a:off x="6400800" y="1600200"/>
            <a:ext cx="457200" cy="457200"/>
          </a:xfrm>
          <a:prstGeom prst="ellipse">
            <a:avLst/>
          </a:prstGeom>
          <a:solidFill>
            <a:schemeClr val="accent2"/>
          </a:solidFill>
          <a:ln w="12700">
            <a:solidFill>
              <a:srgbClr val="333333"/>
            </a:solidFill>
            <a:prstDash val="solid"/>
          </a:ln>
        </p:spPr>
      </p:sp>
      <p:sp>
        <p:nvSpPr>
          <p:cNvPr id="11" name="text"/>
          <p:cNvSpPr txBox="1"/>
          <p:nvPr/>
        </p:nvSpPr>
        <p:spPr>
          <a:xfrm>
            <a:off x="6400800" y="16002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p:cNvSpPr txBox="1"/>
          <p:nvPr/>
        </p:nvSpPr>
        <p:spPr>
          <a:xfrm>
            <a:off x="7040880" y="1581912"/>
            <a:ext cx="4434840" cy="365760"/>
          </a:xfrm>
          <a:prstGeom prst="rect">
            <a:avLst/>
          </a:prstGeom>
          <a:noFill/>
          <a:ln/>
        </p:spPr>
        <p:txBody>
          <a:bodyPr wrap="square" lIns="0" tIns="0" rIns="0" bIns="0" rtlCol="0" anchor="t"/>
          <a:lstStyle/>
          <a:p>
            <a:pPr indent="0" marL="0">
              <a:buNone/>
            </a:pPr>
            <a:r>
              <a:rPr lang="en-US" sz="1400" b="1" dirty="0">
                <a:solidFill>
                  <a:schemeClr val="tx2"/>
                </a:solidFill>
              </a:rPr>
              <a:t>Validated at build</a:t>
            </a:r>
            <a:endParaRPr lang="en-US" sz="1400" dirty="0"/>
          </a:p>
        </p:txBody>
      </p:sp>
      <p:sp>
        <p:nvSpPr>
          <p:cNvPr id="13" name="text"/>
          <p:cNvSpPr txBox="1"/>
          <p:nvPr/>
        </p:nvSpPr>
        <p:spPr>
          <a:xfrm>
            <a:off x="7040880" y="1947672"/>
            <a:ext cx="4434840" cy="822960"/>
          </a:xfrm>
          <a:prstGeom prst="rect">
            <a:avLst/>
          </a:prstGeom>
          <a:noFill/>
          <a:ln/>
        </p:spPr>
        <p:txBody>
          <a:bodyPr wrap="square" lIns="0" tIns="0" rIns="0" bIns="0" rtlCol="0" anchor="t"/>
          <a:lstStyle/>
          <a:p>
            <a:pPr indent="0" marL="0">
              <a:buNone/>
            </a:pPr>
            <a:r>
              <a:rPr lang="en-US" sz="1150" dirty="0">
                <a:solidFill>
                  <a:schemeClr val="tx1"/>
                </a:solidFill>
              </a:rPr>
              <a:t>Tuple shapes, duplicate codes, code lists, references, grain and ownership are checked before anything is written.</a:t>
            </a:r>
            <a:endParaRPr lang="en-US" sz="1150" dirty="0"/>
          </a:p>
        </p:txBody>
      </p:sp>
      <p:sp>
        <p:nvSpPr>
          <p:cNvPr id="14" name="card"/>
          <p:cNvSpPr/>
          <p:nvPr/>
        </p:nvSpPr>
        <p:spPr>
          <a:xfrm>
            <a:off x="548640" y="2926080"/>
            <a:ext cx="5440680" cy="1371600"/>
          </a:xfrm>
          <a:prstGeom prst="roundRect">
            <a:avLst>
              <a:gd name="adj" fmla="val 5333"/>
            </a:avLst>
          </a:prstGeom>
          <a:solidFill>
            <a:schemeClr val="bg2"/>
          </a:solidFill>
          <a:ln w="12700">
            <a:solidFill>
              <a:schemeClr val="bg2"/>
            </a:solidFill>
            <a:prstDash val="solid"/>
          </a:ln>
        </p:spPr>
      </p:sp>
      <p:sp>
        <p:nvSpPr>
          <p:cNvPr id="15" name="dot"/>
          <p:cNvSpPr/>
          <p:nvPr/>
        </p:nvSpPr>
        <p:spPr>
          <a:xfrm>
            <a:off x="731520" y="3108960"/>
            <a:ext cx="457200" cy="457200"/>
          </a:xfrm>
          <a:prstGeom prst="ellipse">
            <a:avLst/>
          </a:prstGeom>
          <a:solidFill>
            <a:schemeClr val="accent3"/>
          </a:solidFill>
          <a:ln w="12700">
            <a:solidFill>
              <a:srgbClr val="333333"/>
            </a:solidFill>
            <a:prstDash val="solid"/>
          </a:ln>
        </p:spPr>
      </p:sp>
      <p:sp>
        <p:nvSpPr>
          <p:cNvPr id="16" name="text"/>
          <p:cNvSpPr txBox="1"/>
          <p:nvPr/>
        </p:nvSpPr>
        <p:spPr>
          <a:xfrm>
            <a:off x="731520" y="310896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p:cNvSpPr txBox="1"/>
          <p:nvPr/>
        </p:nvSpPr>
        <p:spPr>
          <a:xfrm>
            <a:off x="1371600" y="3090672"/>
            <a:ext cx="4434840" cy="365760"/>
          </a:xfrm>
          <a:prstGeom prst="rect">
            <a:avLst/>
          </a:prstGeom>
          <a:noFill/>
          <a:ln/>
        </p:spPr>
        <p:txBody>
          <a:bodyPr wrap="square" lIns="0" tIns="0" rIns="0" bIns="0" rtlCol="0" anchor="t"/>
          <a:lstStyle/>
          <a:p>
            <a:pPr indent="0" marL="0">
              <a:buNone/>
            </a:pPr>
            <a:r>
              <a:rPr lang="en-US" sz="1400" b="1" dirty="0">
                <a:solidFill>
                  <a:schemeClr val="tx2"/>
                </a:solidFill>
              </a:rPr>
              <a:t>Shared code lists</a:t>
            </a:r>
            <a:endParaRPr lang="en-US" sz="1400" dirty="0"/>
          </a:p>
        </p:txBody>
      </p:sp>
      <p:sp>
        <p:nvSpPr>
          <p:cNvPr id="18" name="text"/>
          <p:cNvSpPr txBox="1"/>
          <p:nvPr/>
        </p:nvSpPr>
        <p:spPr>
          <a:xfrm>
            <a:off x="1371600" y="3456432"/>
            <a:ext cx="4434840" cy="822960"/>
          </a:xfrm>
          <a:prstGeom prst="rect">
            <a:avLst/>
          </a:prstGeom>
          <a:noFill/>
          <a:ln/>
        </p:spPr>
        <p:txBody>
          <a:bodyPr wrap="square" lIns="0" tIns="0" rIns="0" bIns="0" rtlCol="0" anchor="t"/>
          <a:lstStyle/>
          <a:p>
            <a:pPr indent="0" marL="0">
              <a:buNone/>
            </a:pPr>
            <a:r>
              <a:rPr lang="en-US" sz="1150" dirty="0">
                <a:solidFill>
                  <a:schemeClr val="tx1"/>
                </a:solidFill>
              </a:rPr>
              <a:t>91 enterprise code lists shared by every domain, so channel, status and frequency mean the same thing everywhere.</a:t>
            </a:r>
            <a:endParaRPr lang="en-US" sz="1150" dirty="0"/>
          </a:p>
        </p:txBody>
      </p:sp>
      <p:sp>
        <p:nvSpPr>
          <p:cNvPr id="19" name="card"/>
          <p:cNvSpPr/>
          <p:nvPr/>
        </p:nvSpPr>
        <p:spPr>
          <a:xfrm>
            <a:off x="6217920" y="2926080"/>
            <a:ext cx="5440680" cy="1371600"/>
          </a:xfrm>
          <a:prstGeom prst="roundRect">
            <a:avLst>
              <a:gd name="adj" fmla="val 5333"/>
            </a:avLst>
          </a:prstGeom>
          <a:solidFill>
            <a:schemeClr val="bg2"/>
          </a:solidFill>
          <a:ln w="12700">
            <a:solidFill>
              <a:schemeClr val="bg2"/>
            </a:solidFill>
            <a:prstDash val="solid"/>
          </a:ln>
        </p:spPr>
      </p:sp>
      <p:sp>
        <p:nvSpPr>
          <p:cNvPr id="20" name="dot"/>
          <p:cNvSpPr/>
          <p:nvPr/>
        </p:nvSpPr>
        <p:spPr>
          <a:xfrm>
            <a:off x="6400800" y="3108960"/>
            <a:ext cx="457200" cy="457200"/>
          </a:xfrm>
          <a:prstGeom prst="ellipse">
            <a:avLst/>
          </a:prstGeom>
          <a:solidFill>
            <a:schemeClr val="accent4"/>
          </a:solidFill>
          <a:ln w="12700">
            <a:solidFill>
              <a:srgbClr val="333333"/>
            </a:solidFill>
            <a:prstDash val="solid"/>
          </a:ln>
        </p:spPr>
      </p:sp>
      <p:sp>
        <p:nvSpPr>
          <p:cNvPr id="21" name="text"/>
          <p:cNvSpPr txBox="1"/>
          <p:nvPr/>
        </p:nvSpPr>
        <p:spPr>
          <a:xfrm>
            <a:off x="6400800" y="310896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2" name="text"/>
          <p:cNvSpPr txBox="1"/>
          <p:nvPr/>
        </p:nvSpPr>
        <p:spPr>
          <a:xfrm>
            <a:off x="7040880" y="3090672"/>
            <a:ext cx="4434840" cy="365760"/>
          </a:xfrm>
          <a:prstGeom prst="rect">
            <a:avLst/>
          </a:prstGeom>
          <a:noFill/>
          <a:ln/>
        </p:spPr>
        <p:txBody>
          <a:bodyPr wrap="square" lIns="0" tIns="0" rIns="0" bIns="0" rtlCol="0" anchor="t"/>
          <a:lstStyle/>
          <a:p>
            <a:pPr indent="0" marL="0">
              <a:buNone/>
            </a:pPr>
            <a:r>
              <a:rPr lang="en-US" sz="1400" b="1" dirty="0">
                <a:solidFill>
                  <a:schemeClr val="tx2"/>
                </a:solidFill>
              </a:rPr>
              <a:t>Decision log</a:t>
            </a:r>
            <a:endParaRPr lang="en-US" sz="1400" dirty="0"/>
          </a:p>
        </p:txBody>
      </p:sp>
      <p:sp>
        <p:nvSpPr>
          <p:cNvPr id="23" name="text"/>
          <p:cNvSpPr txBox="1"/>
          <p:nvPr/>
        </p:nvSpPr>
        <p:spPr>
          <a:xfrm>
            <a:off x="7040880" y="3456432"/>
            <a:ext cx="4434840" cy="822960"/>
          </a:xfrm>
          <a:prstGeom prst="rect">
            <a:avLst/>
          </a:prstGeom>
          <a:noFill/>
          <a:ln/>
        </p:spPr>
        <p:txBody>
          <a:bodyPr wrap="square" lIns="0" tIns="0" rIns="0" bIns="0" rtlCol="0" anchor="t"/>
          <a:lstStyle/>
          <a:p>
            <a:pPr indent="0" marL="0">
              <a:buNone/>
            </a:pPr>
            <a:r>
              <a:rPr lang="en-US" sz="1150" dirty="0">
                <a:solidFill>
                  <a:schemeClr val="tx1"/>
                </a:solidFill>
              </a:rPr>
              <a:t>551 numbered decisions, each with the issue, the resolution, the rationale and the owner role. Every ownership change traces to one.</a:t>
            </a:r>
            <a:endParaRPr lang="en-US" sz="1150" dirty="0"/>
          </a:p>
        </p:txBody>
      </p:sp>
      <p:sp>
        <p:nvSpPr>
          <p:cNvPr id="24" name="card"/>
          <p:cNvSpPr/>
          <p:nvPr/>
        </p:nvSpPr>
        <p:spPr>
          <a:xfrm>
            <a:off x="548640" y="4434840"/>
            <a:ext cx="5440680" cy="1371600"/>
          </a:xfrm>
          <a:prstGeom prst="roundRect">
            <a:avLst>
              <a:gd name="adj" fmla="val 5333"/>
            </a:avLst>
          </a:prstGeom>
          <a:solidFill>
            <a:schemeClr val="bg2"/>
          </a:solidFill>
          <a:ln w="12700">
            <a:solidFill>
              <a:schemeClr val="bg2"/>
            </a:solidFill>
            <a:prstDash val="solid"/>
          </a:ln>
        </p:spPr>
      </p:sp>
      <p:sp>
        <p:nvSpPr>
          <p:cNvPr id="25" name="dot"/>
          <p:cNvSpPr/>
          <p:nvPr/>
        </p:nvSpPr>
        <p:spPr>
          <a:xfrm>
            <a:off x="731520" y="4617720"/>
            <a:ext cx="457200" cy="457200"/>
          </a:xfrm>
          <a:prstGeom prst="ellipse">
            <a:avLst/>
          </a:prstGeom>
          <a:solidFill>
            <a:schemeClr val="accent5"/>
          </a:solidFill>
          <a:ln w="12700">
            <a:solidFill>
              <a:srgbClr val="333333"/>
            </a:solidFill>
            <a:prstDash val="solid"/>
          </a:ln>
        </p:spPr>
      </p:sp>
      <p:sp>
        <p:nvSpPr>
          <p:cNvPr id="26" name="text"/>
          <p:cNvSpPr txBox="1"/>
          <p:nvPr/>
        </p:nvSpPr>
        <p:spPr>
          <a:xfrm>
            <a:off x="731520" y="46177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7" name="text"/>
          <p:cNvSpPr txBox="1"/>
          <p:nvPr/>
        </p:nvSpPr>
        <p:spPr>
          <a:xfrm>
            <a:off x="1371600" y="4599432"/>
            <a:ext cx="4434840" cy="365760"/>
          </a:xfrm>
          <a:prstGeom prst="rect">
            <a:avLst/>
          </a:prstGeom>
          <a:noFill/>
          <a:ln/>
        </p:spPr>
        <p:txBody>
          <a:bodyPr wrap="square" lIns="0" tIns="0" rIns="0" bIns="0" rtlCol="0" anchor="t"/>
          <a:lstStyle/>
          <a:p>
            <a:pPr indent="0" marL="0">
              <a:buNone/>
            </a:pPr>
            <a:r>
              <a:rPr lang="en-US" sz="1400" b="1" dirty="0">
                <a:solidFill>
                  <a:schemeClr val="tx2"/>
                </a:solidFill>
              </a:rPr>
              <a:t>Term conflicts</a:t>
            </a:r>
            <a:endParaRPr lang="en-US" sz="1400" dirty="0"/>
          </a:p>
        </p:txBody>
      </p:sp>
      <p:sp>
        <p:nvSpPr>
          <p:cNvPr id="28" name="text"/>
          <p:cNvSpPr txBox="1"/>
          <p:nvPr/>
        </p:nvSpPr>
        <p:spPr>
          <a:xfrm>
            <a:off x="1371600" y="4965192"/>
            <a:ext cx="4434840" cy="822960"/>
          </a:xfrm>
          <a:prstGeom prst="rect">
            <a:avLst/>
          </a:prstGeom>
          <a:noFill/>
          <a:ln/>
        </p:spPr>
        <p:txBody>
          <a:bodyPr wrap="square" lIns="0" tIns="0" rIns="0" bIns="0" rtlCol="0" anchor="t"/>
          <a:lstStyle/>
          <a:p>
            <a:pPr indent="0" marL="0">
              <a:buNone/>
            </a:pPr>
            <a:r>
              <a:rPr lang="en-US" sz="1150" dirty="0">
                <a:solidFill>
                  <a:schemeClr val="tx1"/>
                </a:solidFill>
              </a:rPr>
              <a:t>237 words that mean different things in different rooms, resolved in the glossary: Plan, Order, Holding, Custody, Fee, Program, Transfer.</a:t>
            </a:r>
            <a:endParaRPr lang="en-US" sz="1150" dirty="0"/>
          </a:p>
        </p:txBody>
      </p:sp>
      <p:sp>
        <p:nvSpPr>
          <p:cNvPr id="29" name="card"/>
          <p:cNvSpPr/>
          <p:nvPr/>
        </p:nvSpPr>
        <p:spPr>
          <a:xfrm>
            <a:off x="6217920" y="4434840"/>
            <a:ext cx="5440680" cy="1371600"/>
          </a:xfrm>
          <a:prstGeom prst="roundRect">
            <a:avLst>
              <a:gd name="adj" fmla="val 5333"/>
            </a:avLst>
          </a:prstGeom>
          <a:solidFill>
            <a:schemeClr val="bg2"/>
          </a:solidFill>
          <a:ln w="12700">
            <a:solidFill>
              <a:schemeClr val="bg2"/>
            </a:solidFill>
            <a:prstDash val="solid"/>
          </a:ln>
        </p:spPr>
      </p:sp>
      <p:sp>
        <p:nvSpPr>
          <p:cNvPr id="30" name="dot"/>
          <p:cNvSpPr/>
          <p:nvPr/>
        </p:nvSpPr>
        <p:spPr>
          <a:xfrm>
            <a:off x="6400800" y="4617720"/>
            <a:ext cx="457200" cy="457200"/>
          </a:xfrm>
          <a:prstGeom prst="ellipse">
            <a:avLst/>
          </a:prstGeom>
          <a:solidFill>
            <a:schemeClr val="accent6"/>
          </a:solidFill>
          <a:ln w="12700">
            <a:solidFill>
              <a:srgbClr val="333333"/>
            </a:solidFill>
            <a:prstDash val="solid"/>
          </a:ln>
        </p:spPr>
      </p:sp>
      <p:sp>
        <p:nvSpPr>
          <p:cNvPr id="31" name="text"/>
          <p:cNvSpPr txBox="1"/>
          <p:nvPr/>
        </p:nvSpPr>
        <p:spPr>
          <a:xfrm>
            <a:off x="6400800" y="46177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2" name="text"/>
          <p:cNvSpPr txBox="1"/>
          <p:nvPr/>
        </p:nvSpPr>
        <p:spPr>
          <a:xfrm>
            <a:off x="7040880" y="4599432"/>
            <a:ext cx="4434840" cy="365760"/>
          </a:xfrm>
          <a:prstGeom prst="rect">
            <a:avLst/>
          </a:prstGeom>
          <a:noFill/>
          <a:ln/>
        </p:spPr>
        <p:txBody>
          <a:bodyPr wrap="square" lIns="0" tIns="0" rIns="0" bIns="0" rtlCol="0" anchor="t"/>
          <a:lstStyle/>
          <a:p>
            <a:pPr indent="0" marL="0">
              <a:buNone/>
            </a:pPr>
            <a:r>
              <a:rPr lang="en-US" sz="1400" b="1" dirty="0">
                <a:solidFill>
                  <a:schemeClr val="tx2"/>
                </a:solidFill>
              </a:rPr>
              <a:t>Personal data and regulation</a:t>
            </a:r>
            <a:endParaRPr lang="en-US" sz="1400" dirty="0"/>
          </a:p>
        </p:txBody>
      </p:sp>
      <p:sp>
        <p:nvSpPr>
          <p:cNvPr id="33" name="text"/>
          <p:cNvSpPr txBox="1"/>
          <p:nvPr/>
        </p:nvSpPr>
        <p:spPr>
          <a:xfrm>
            <a:off x="7040880" y="4965192"/>
            <a:ext cx="4434840" cy="822960"/>
          </a:xfrm>
          <a:prstGeom prst="rect">
            <a:avLst/>
          </a:prstGeom>
          <a:noFill/>
          <a:ln/>
        </p:spPr>
        <p:txBody>
          <a:bodyPr wrap="square" lIns="0" tIns="0" rIns="0" bIns="0" rtlCol="0" anchor="t"/>
          <a:lstStyle/>
          <a:p>
            <a:pPr indent="0" marL="0">
              <a:buNone/>
            </a:pPr>
            <a:r>
              <a:rPr lang="en-US" sz="1150" dirty="0">
                <a:solidFill>
                  <a:schemeClr val="tx1"/>
                </a:solidFill>
              </a:rPr>
              <a:t>Every attribute carries a PII tier; special-category data is aggregates only; every conduct object cites the rule by number.</a:t>
            </a:r>
            <a:endParaRPr lang="en-US" sz="11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1094415" cy="457200"/>
          </a:xfrm>
          <a:prstGeom prst="rect">
            <a:avLst/>
          </a:prstGeom>
          <a:noFill/>
          <a:ln/>
        </p:spPr>
        <p:txBody>
          <a:bodyPr wrap="square" lIns="0" tIns="0" rIns="0" bIns="0" rtlCol="0"/>
          <a:lstStyle/>
          <a:p>
            <a:pPr indent="0" marL="0">
              <a:buNone/>
            </a:pPr>
            <a:r>
              <a:rPr lang="en-US" sz="1600" dirty="0">
                <a:solidFill>
                  <a:schemeClr val="bg2"/>
                </a:solidFill>
              </a:rPr>
              <a:t>PART 2</a:t>
            </a:r>
            <a:endParaRPr lang="en-US" sz="1600" dirty="0"/>
          </a:p>
        </p:txBody>
      </p:sp>
      <p:sp>
        <p:nvSpPr>
          <p:cNvPr id="3" name="Text 0"/>
          <p:cNvSpPr/>
          <p:nvPr>
            <p:ph idx="101" type="title" hasCustomPrompt="1"/>
          </p:nvPr>
        </p:nvSpPr>
        <p:spPr>
          <a:xfrm>
            <a:off x="548640" y="2606040"/>
            <a:ext cx="11094415" cy="1280160"/>
          </a:xfrm>
          <a:prstGeom prst="rect">
            <a:avLst/>
          </a:prstGeom>
          <a:noFill/>
          <a:ln/>
        </p:spPr>
        <p:txBody>
          <a:bodyPr wrap="square" lIns="0" tIns="0" rIns="0" bIns="0" rtlCol="0" anchor="t"/>
          <a:lstStyle/>
          <a:p>
            <a:pPr algn="l" indent="0" marL="0">
              <a:buNone/>
            </a:pPr>
            <a:r>
              <a:rPr lang="en-US" sz="4000" b="1" dirty="0">
                <a:solidFill>
                  <a:schemeClr val="bg1"/>
                </a:solidFill>
              </a:rPr>
              <a:t>Building on it: products, models and uses</a:t>
            </a:r>
            <a:endParaRPr lang="en-US" sz="4000" dirty="0"/>
          </a:p>
        </p:txBody>
      </p:sp>
      <p:sp>
        <p:nvSpPr>
          <p:cNvPr id="4" name="Text 0"/>
          <p:cNvSpPr/>
          <p:nvPr>
            <p:ph idx="102" type="body" hasCustomPrompt="1"/>
          </p:nvPr>
        </p:nvSpPr>
        <p:spPr>
          <a:xfrm>
            <a:off x="548640" y="4023360"/>
            <a:ext cx="8686800" cy="1463040"/>
          </a:xfrm>
          <a:prstGeom prst="rect">
            <a:avLst/>
          </a:prstGeom>
          <a:noFill/>
          <a:ln/>
        </p:spPr>
        <p:txBody>
          <a:bodyPr wrap="square" lIns="0" tIns="0" rIns="0" bIns="0" rtlCol="0" anchor="t"/>
          <a:lstStyle/>
          <a:p>
            <a:pPr indent="0" marL="0">
              <a:buNone/>
            </a:pPr>
            <a:r>
              <a:rPr lang="en-US" sz="1800" dirty="0">
                <a:solidFill>
                  <a:schemeClr val="bg2"/>
                </a:solidFill>
              </a:rPr>
              <a:t>The taxonomy says what things mean. It does not say how the business consumes them. Data products, logical models and the semantic layer do that, without ever redefining a term.</a:t>
            </a:r>
            <a:endParaRPr lang="en-US" sz="1800" dirty="0"/>
          </a:p>
        </p:txBody>
      </p:sp>
      <p:sp>
        <p:nvSpPr>
          <p:cNvPr id="5" name="chip"/>
          <p:cNvSpPr/>
          <p:nvPr/>
        </p:nvSpPr>
        <p:spPr>
          <a:xfrm>
            <a:off x="548640" y="1371600"/>
            <a:ext cx="384048" cy="384048"/>
          </a:xfrm>
          <a:prstGeom prst="ellipse">
            <a:avLst/>
          </a:prstGeom>
          <a:solidFill>
            <a:schemeClr val="accent2"/>
          </a:solidFill>
          <a:ln w="12700">
            <a:solidFill>
              <a:schemeClr val="accent2"/>
            </a:solidFill>
            <a:prstDash val="solid"/>
          </a:ln>
        </p:spPr>
      </p:sp>
      <p:sp>
        <p:nvSpPr>
          <p:cNvPr id="6" name="text"/>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7" name="text"/>
          <p:cNvSpPr txBox="1"/>
          <p:nvPr/>
        </p:nvSpPr>
        <p:spPr>
          <a:xfrm>
            <a:off x="1042416" y="1353312"/>
            <a:ext cx="2377440" cy="420624"/>
          </a:xfrm>
          <a:prstGeom prst="rect">
            <a:avLst/>
          </a:prstGeom>
          <a:noFill/>
          <a:ln/>
        </p:spPr>
        <p:txBody>
          <a:bodyPr wrap="square" lIns="0" tIns="0" rIns="0" bIns="0" rtlCol="0" anchor="ctr"/>
          <a:lstStyle/>
          <a:p>
            <a:pPr indent="0" marL="0">
              <a:buNone/>
            </a:pPr>
            <a:r>
              <a:rPr lang="en-US" sz="1400" b="1" dirty="0">
                <a:solidFill>
                  <a:schemeClr val="bg1"/>
                </a:solidFill>
              </a:rPr>
              <a:t>Foundational products</a:t>
            </a:r>
            <a:endParaRPr lang="en-US" sz="1400" dirty="0"/>
          </a:p>
        </p:txBody>
      </p:sp>
      <p:sp>
        <p:nvSpPr>
          <p:cNvPr id="8" name="chip"/>
          <p:cNvSpPr/>
          <p:nvPr/>
        </p:nvSpPr>
        <p:spPr>
          <a:xfrm>
            <a:off x="3474720" y="1371600"/>
            <a:ext cx="384048" cy="384048"/>
          </a:xfrm>
          <a:prstGeom prst="ellipse">
            <a:avLst/>
          </a:prstGeom>
          <a:solidFill>
            <a:schemeClr val="accent3"/>
          </a:solidFill>
          <a:ln w="12700">
            <a:solidFill>
              <a:schemeClr val="accent3"/>
            </a:solidFill>
            <a:prstDash val="solid"/>
          </a:ln>
        </p:spPr>
      </p:sp>
      <p:sp>
        <p:nvSpPr>
          <p:cNvPr id="9" name="text"/>
          <p:cNvSpPr txBox="1"/>
          <p:nvPr/>
        </p:nvSpPr>
        <p:spPr>
          <a:xfrm>
            <a:off x="347472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0" name="text"/>
          <p:cNvSpPr txBox="1"/>
          <p:nvPr/>
        </p:nvSpPr>
        <p:spPr>
          <a:xfrm>
            <a:off x="3968496" y="1353312"/>
            <a:ext cx="2377440" cy="420624"/>
          </a:xfrm>
          <a:prstGeom prst="rect">
            <a:avLst/>
          </a:prstGeom>
          <a:noFill/>
          <a:ln/>
        </p:spPr>
        <p:txBody>
          <a:bodyPr wrap="square" lIns="0" tIns="0" rIns="0" bIns="0" rtlCol="0" anchor="ctr"/>
          <a:lstStyle/>
          <a:p>
            <a:pPr indent="0" marL="0">
              <a:buNone/>
            </a:pPr>
            <a:r>
              <a:rPr lang="en-US" sz="1400" b="1" dirty="0">
                <a:solidFill>
                  <a:schemeClr val="bg1"/>
                </a:solidFill>
              </a:rPr>
              <a:t>Consumer products</a:t>
            </a:r>
            <a:endParaRPr lang="en-US" sz="1400" dirty="0"/>
          </a:p>
        </p:txBody>
      </p:sp>
      <p:sp>
        <p:nvSpPr>
          <p:cNvPr id="11" name="chip"/>
          <p:cNvSpPr/>
          <p:nvPr/>
        </p:nvSpPr>
        <p:spPr>
          <a:xfrm>
            <a:off x="6400800" y="1371600"/>
            <a:ext cx="384048" cy="384048"/>
          </a:xfrm>
          <a:prstGeom prst="ellipse">
            <a:avLst/>
          </a:prstGeom>
          <a:solidFill>
            <a:schemeClr val="accent4"/>
          </a:solidFill>
          <a:ln w="12700">
            <a:solidFill>
              <a:schemeClr val="accent4"/>
            </a:solidFill>
            <a:prstDash val="solid"/>
          </a:ln>
        </p:spPr>
      </p:sp>
      <p:sp>
        <p:nvSpPr>
          <p:cNvPr id="12" name="text"/>
          <p:cNvSpPr txBox="1"/>
          <p:nvPr/>
        </p:nvSpPr>
        <p:spPr>
          <a:xfrm>
            <a:off x="640080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3" name="text"/>
          <p:cNvSpPr txBox="1"/>
          <p:nvPr/>
        </p:nvSpPr>
        <p:spPr>
          <a:xfrm>
            <a:off x="6894576" y="1353312"/>
            <a:ext cx="2377440" cy="420624"/>
          </a:xfrm>
          <a:prstGeom prst="rect">
            <a:avLst/>
          </a:prstGeom>
          <a:noFill/>
          <a:ln/>
        </p:spPr>
        <p:txBody>
          <a:bodyPr wrap="square" lIns="0" tIns="0" rIns="0" bIns="0" rtlCol="0" anchor="ctr"/>
          <a:lstStyle/>
          <a:p>
            <a:pPr indent="0" marL="0">
              <a:buNone/>
            </a:pPr>
            <a:r>
              <a:rPr lang="en-US" sz="1400" b="1" dirty="0">
                <a:solidFill>
                  <a:schemeClr val="bg1"/>
                </a:solidFill>
              </a:rPr>
              <a:t>Semantic model and uses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From taxonomy to consumption</a:t>
            </a:r>
            <a:endParaRPr lang="en-US" sz="2800" dirty="0"/>
          </a:p>
        </p:txBody>
      </p:sp>
      <p:sp>
        <p:nvSpPr>
          <p:cNvPr id="4" name="flow box"/>
          <p:cNvSpPr/>
          <p:nvPr/>
        </p:nvSpPr>
        <p:spPr>
          <a:xfrm>
            <a:off x="716737" y="1551798"/>
            <a:ext cx="10758221" cy="638769"/>
          </a:xfrm>
          <a:prstGeom prst="roundRect">
            <a:avLst>
              <a:gd name="adj" fmla="val 7158"/>
            </a:avLst>
          </a:prstGeom>
          <a:solidFill>
            <a:srgbClr val="E3E9FC"/>
          </a:solidFill>
          <a:ln w="12700">
            <a:solidFill>
              <a:srgbClr val="1E49E2"/>
            </a:solidFill>
            <a:prstDash val="solid"/>
          </a:ln>
        </p:spPr>
      </p:sp>
      <p:sp>
        <p:nvSpPr>
          <p:cNvPr id="5" name="text"/>
          <p:cNvSpPr txBox="1"/>
          <p:nvPr/>
        </p:nvSpPr>
        <p:spPr>
          <a:xfrm>
            <a:off x="884834" y="1635846"/>
            <a:ext cx="7564374" cy="201717"/>
          </a:xfrm>
          <a:prstGeom prst="rect">
            <a:avLst/>
          </a:prstGeom>
          <a:noFill/>
          <a:ln/>
        </p:spPr>
        <p:txBody>
          <a:bodyPr wrap="square" lIns="0" tIns="0" rIns="0" bIns="0" rtlCol="0" anchor="t"/>
          <a:lstStyle/>
          <a:p>
            <a:pPr indent="0" marL="0">
              <a:buNone/>
            </a:pPr>
            <a:r>
              <a:rPr lang="en-US" sz="1100" b="1" dirty="0">
                <a:solidFill>
                  <a:srgbClr val="1E49E2"/>
                </a:solidFill>
              </a:rPr>
              <a:t>Enterprise Data Taxonomy: meaning and accountability</a:t>
            </a:r>
            <a:endParaRPr lang="en-US" sz="1100" dirty="0"/>
          </a:p>
        </p:txBody>
      </p:sp>
      <p:sp>
        <p:nvSpPr>
          <p:cNvPr id="6" name="text"/>
          <p:cNvSpPr txBox="1"/>
          <p:nvPr/>
        </p:nvSpPr>
        <p:spPr>
          <a:xfrm>
            <a:off x="884834" y="1871182"/>
            <a:ext cx="8404860" cy="168097"/>
          </a:xfrm>
          <a:prstGeom prst="rect">
            <a:avLst/>
          </a:prstGeom>
          <a:noFill/>
          <a:ln/>
        </p:spPr>
        <p:txBody>
          <a:bodyPr wrap="square" lIns="0" tIns="0" rIns="0" bIns="0" rtlCol="0" anchor="t"/>
          <a:lstStyle/>
          <a:p>
            <a:pPr indent="0" marL="0">
              <a:buNone/>
            </a:pPr>
            <a:r>
              <a:rPr lang="en-US" sz="900" dirty="0">
                <a:solidFill>
                  <a:srgbClr val="1A2B3C"/>
                </a:solidFill>
              </a:rPr>
              <a:t>Data Domains  &gt;  Family  &gt;  Object  &gt;  Attribute, each with an owner; CDEs; shared code lists; certified measure definitions</a:t>
            </a:r>
            <a:endParaRPr lang="en-US" sz="900" dirty="0"/>
          </a:p>
        </p:txBody>
      </p:sp>
      <p:sp>
        <p:nvSpPr>
          <p:cNvPr id="7" name="number"/>
          <p:cNvSpPr/>
          <p:nvPr/>
        </p:nvSpPr>
        <p:spPr>
          <a:xfrm>
            <a:off x="11197598" y="1644251"/>
            <a:ext cx="184907" cy="184907"/>
          </a:xfrm>
          <a:prstGeom prst="ellipse">
            <a:avLst/>
          </a:prstGeom>
          <a:solidFill>
            <a:srgbClr val="1A2B3C"/>
          </a:solidFill>
          <a:ln w="12700">
            <a:solidFill>
              <a:srgbClr val="1A2B3C"/>
            </a:solidFill>
            <a:prstDash val="solid"/>
          </a:ln>
        </p:spPr>
      </p:sp>
      <p:sp>
        <p:nvSpPr>
          <p:cNvPr id="8" name="text"/>
          <p:cNvSpPr txBox="1"/>
          <p:nvPr/>
        </p:nvSpPr>
        <p:spPr>
          <a:xfrm>
            <a:off x="11197598" y="1644251"/>
            <a:ext cx="184907" cy="184907"/>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9" name="arrow"/>
          <p:cNvSpPr/>
          <p:nvPr/>
        </p:nvSpPr>
        <p:spPr>
          <a:xfrm>
            <a:off x="1641272" y="2190567"/>
            <a:ext cx="0" cy="453862"/>
          </a:xfrm>
          <a:prstGeom prst="line">
            <a:avLst/>
          </a:prstGeom>
          <a:noFill/>
          <a:ln w="15875">
            <a:solidFill>
              <a:srgbClr val="1E49E2"/>
            </a:solidFill>
            <a:prstDash val="solid"/>
            <a:tailEnd type="triangle"/>
          </a:ln>
        </p:spPr>
      </p:sp>
      <p:sp>
        <p:nvSpPr>
          <p:cNvPr id="10" name="text"/>
          <p:cNvSpPr txBox="1"/>
          <p:nvPr/>
        </p:nvSpPr>
        <p:spPr>
          <a:xfrm>
            <a:off x="1691701" y="2274616"/>
            <a:ext cx="1260729" cy="336194"/>
          </a:xfrm>
          <a:prstGeom prst="rect">
            <a:avLst/>
          </a:prstGeom>
          <a:noFill/>
          <a:ln/>
        </p:spPr>
        <p:txBody>
          <a:bodyPr wrap="square" lIns="0" tIns="0" rIns="0" bIns="0" rtlCol="0" anchor="t"/>
          <a:lstStyle/>
          <a:p>
            <a:pPr indent="0" marL="0">
              <a:buNone/>
            </a:pPr>
            <a:r>
              <a:rPr lang="en-US" sz="800" dirty="0">
                <a:solidFill>
                  <a:srgbClr val="1E49E2"/>
                </a:solidFill>
              </a:rPr>
              <a:t>mapped to sources</a:t>
            </a:r>
            <a:endParaRPr lang="en-US" sz="800" dirty="0"/>
          </a:p>
        </p:txBody>
      </p:sp>
      <p:sp>
        <p:nvSpPr>
          <p:cNvPr id="11" name="arrow"/>
          <p:cNvSpPr/>
          <p:nvPr/>
        </p:nvSpPr>
        <p:spPr>
          <a:xfrm>
            <a:off x="4078681" y="2190567"/>
            <a:ext cx="0" cy="453862"/>
          </a:xfrm>
          <a:prstGeom prst="line">
            <a:avLst/>
          </a:prstGeom>
          <a:noFill/>
          <a:ln w="15875">
            <a:solidFill>
              <a:srgbClr val="1E49E2"/>
            </a:solidFill>
            <a:prstDash val="solid"/>
            <a:tailEnd type="triangle"/>
          </a:ln>
        </p:spPr>
      </p:sp>
      <p:sp>
        <p:nvSpPr>
          <p:cNvPr id="12" name="text"/>
          <p:cNvSpPr txBox="1"/>
          <p:nvPr/>
        </p:nvSpPr>
        <p:spPr>
          <a:xfrm>
            <a:off x="4129110" y="2274616"/>
            <a:ext cx="1260729" cy="336194"/>
          </a:xfrm>
          <a:prstGeom prst="rect">
            <a:avLst/>
          </a:prstGeom>
          <a:noFill/>
          <a:ln/>
        </p:spPr>
        <p:txBody>
          <a:bodyPr wrap="square" lIns="0" tIns="0" rIns="0" bIns="0" rtlCol="0" anchor="t"/>
          <a:lstStyle/>
          <a:p>
            <a:pPr indent="0" marL="0">
              <a:buNone/>
            </a:pPr>
            <a:r>
              <a:rPr lang="en-US" sz="800" dirty="0">
                <a:solidFill>
                  <a:srgbClr val="1E49E2"/>
                </a:solidFill>
              </a:rPr>
              <a:t>traced to definitions</a:t>
            </a:r>
            <a:endParaRPr lang="en-US" sz="800" dirty="0"/>
          </a:p>
        </p:txBody>
      </p:sp>
      <p:sp>
        <p:nvSpPr>
          <p:cNvPr id="13" name="arrow"/>
          <p:cNvSpPr/>
          <p:nvPr/>
        </p:nvSpPr>
        <p:spPr>
          <a:xfrm>
            <a:off x="8146633" y="2190567"/>
            <a:ext cx="0" cy="453862"/>
          </a:xfrm>
          <a:prstGeom prst="line">
            <a:avLst/>
          </a:prstGeom>
          <a:noFill/>
          <a:ln w="15875">
            <a:solidFill>
              <a:srgbClr val="1E49E2"/>
            </a:solidFill>
            <a:prstDash val="solid"/>
            <a:tailEnd type="triangle"/>
          </a:ln>
        </p:spPr>
      </p:sp>
      <p:sp>
        <p:nvSpPr>
          <p:cNvPr id="14" name="text"/>
          <p:cNvSpPr txBox="1"/>
          <p:nvPr/>
        </p:nvSpPr>
        <p:spPr>
          <a:xfrm>
            <a:off x="8197063" y="2274616"/>
            <a:ext cx="924535" cy="336194"/>
          </a:xfrm>
          <a:prstGeom prst="rect">
            <a:avLst/>
          </a:prstGeom>
          <a:noFill/>
          <a:ln/>
        </p:spPr>
        <p:txBody>
          <a:bodyPr wrap="square" lIns="0" tIns="0" rIns="0" bIns="0" rtlCol="0" anchor="t"/>
          <a:lstStyle/>
          <a:p>
            <a:pPr indent="0" marL="0">
              <a:buNone/>
            </a:pPr>
            <a:r>
              <a:rPr lang="en-US" sz="800" dirty="0">
                <a:solidFill>
                  <a:srgbClr val="1E49E2"/>
                </a:solidFill>
              </a:rPr>
              <a:t>business names, metric definitions</a:t>
            </a:r>
            <a:endParaRPr lang="en-US" sz="800" dirty="0"/>
          </a:p>
        </p:txBody>
      </p:sp>
      <p:sp>
        <p:nvSpPr>
          <p:cNvPr id="15" name="arrow"/>
          <p:cNvSpPr/>
          <p:nvPr/>
        </p:nvSpPr>
        <p:spPr>
          <a:xfrm>
            <a:off x="10550423" y="2190567"/>
            <a:ext cx="0" cy="453862"/>
          </a:xfrm>
          <a:prstGeom prst="line">
            <a:avLst/>
          </a:prstGeom>
          <a:noFill/>
          <a:ln w="15875">
            <a:solidFill>
              <a:srgbClr val="1E49E2"/>
            </a:solidFill>
            <a:prstDash val="solid"/>
            <a:tailEnd type="triangle"/>
          </a:ln>
        </p:spPr>
      </p:sp>
      <p:sp>
        <p:nvSpPr>
          <p:cNvPr id="16" name="text"/>
          <p:cNvSpPr txBox="1"/>
          <p:nvPr/>
        </p:nvSpPr>
        <p:spPr>
          <a:xfrm>
            <a:off x="10600853" y="2274616"/>
            <a:ext cx="1260729" cy="336194"/>
          </a:xfrm>
          <a:prstGeom prst="rect">
            <a:avLst/>
          </a:prstGeom>
          <a:noFill/>
          <a:ln/>
        </p:spPr>
        <p:txBody>
          <a:bodyPr wrap="square" lIns="0" tIns="0" rIns="0" bIns="0" rtlCol="0" anchor="t"/>
          <a:lstStyle/>
          <a:p>
            <a:pPr indent="0" marL="0">
              <a:buNone/>
            </a:pPr>
            <a:r>
              <a:rPr lang="en-US" sz="800" dirty="0">
                <a:solidFill>
                  <a:srgbClr val="1E49E2"/>
                </a:solidFill>
              </a:rPr>
              <a:t>glossary</a:t>
            </a:r>
            <a:endParaRPr lang="en-US" sz="800" dirty="0"/>
          </a:p>
        </p:txBody>
      </p:sp>
      <p:sp>
        <p:nvSpPr>
          <p:cNvPr id="17" name="arrow"/>
          <p:cNvSpPr/>
          <p:nvPr/>
        </p:nvSpPr>
        <p:spPr>
          <a:xfrm flipV="1">
            <a:off x="5423459" y="2224187"/>
            <a:ext cx="0" cy="420243"/>
          </a:xfrm>
          <a:prstGeom prst="line">
            <a:avLst/>
          </a:prstGeom>
          <a:noFill/>
          <a:ln w="15875">
            <a:solidFill>
              <a:srgbClr val="1E49E2"/>
            </a:solidFill>
            <a:prstDash val="dash"/>
            <a:tailEnd type="triangle"/>
          </a:ln>
        </p:spPr>
      </p:sp>
      <p:sp>
        <p:nvSpPr>
          <p:cNvPr id="18" name="text"/>
          <p:cNvSpPr txBox="1"/>
          <p:nvPr/>
        </p:nvSpPr>
        <p:spPr>
          <a:xfrm>
            <a:off x="5473888" y="2274616"/>
            <a:ext cx="1008583" cy="168097"/>
          </a:xfrm>
          <a:prstGeom prst="rect">
            <a:avLst/>
          </a:prstGeom>
          <a:noFill/>
          <a:ln/>
        </p:spPr>
        <p:txBody>
          <a:bodyPr wrap="square" lIns="0" tIns="0" rIns="0" bIns="0" rtlCol="0" anchor="t"/>
          <a:lstStyle/>
          <a:p>
            <a:pPr indent="0" marL="0">
              <a:buNone/>
            </a:pPr>
            <a:r>
              <a:rPr lang="en-US" sz="800" dirty="0">
                <a:solidFill>
                  <a:srgbClr val="1E49E2"/>
                </a:solidFill>
              </a:rPr>
              <a:t>gaps sent back</a:t>
            </a:r>
            <a:endParaRPr lang="en-US" sz="800" dirty="0"/>
          </a:p>
        </p:txBody>
      </p:sp>
      <p:sp>
        <p:nvSpPr>
          <p:cNvPr id="19" name="flow box"/>
          <p:cNvSpPr/>
          <p:nvPr/>
        </p:nvSpPr>
        <p:spPr>
          <a:xfrm>
            <a:off x="716737" y="2678049"/>
            <a:ext cx="1849069" cy="2101215"/>
          </a:xfrm>
          <a:prstGeom prst="roundRect">
            <a:avLst>
              <a:gd name="adj" fmla="val 2473"/>
            </a:avLst>
          </a:prstGeom>
          <a:solidFill>
            <a:srgbClr val="EEF1F8"/>
          </a:solidFill>
          <a:ln w="12700">
            <a:solidFill>
              <a:srgbClr val="D5DBE7"/>
            </a:solidFill>
            <a:prstDash val="solid"/>
          </a:ln>
        </p:spPr>
      </p:sp>
      <p:sp>
        <p:nvSpPr>
          <p:cNvPr id="20" name="text"/>
          <p:cNvSpPr txBox="1"/>
          <p:nvPr/>
        </p:nvSpPr>
        <p:spPr>
          <a:xfrm>
            <a:off x="851215" y="2778907"/>
            <a:ext cx="1680972" cy="168097"/>
          </a:xfrm>
          <a:prstGeom prst="rect">
            <a:avLst/>
          </a:prstGeom>
          <a:noFill/>
          <a:ln/>
        </p:spPr>
        <p:txBody>
          <a:bodyPr wrap="square" lIns="0" tIns="0" rIns="0" bIns="0" rtlCol="0" anchor="t"/>
          <a:lstStyle/>
          <a:p>
            <a:pPr indent="0" marL="0">
              <a:buNone/>
            </a:pPr>
            <a:r>
              <a:rPr lang="en-US" sz="1100" b="1" dirty="0">
                <a:solidFill>
                  <a:srgbClr val="1A2B3C"/>
                </a:solidFill>
              </a:rPr>
              <a:t>Source systems</a:t>
            </a:r>
            <a:endParaRPr lang="en-US" sz="1100" dirty="0"/>
          </a:p>
        </p:txBody>
      </p:sp>
      <p:sp>
        <p:nvSpPr>
          <p:cNvPr id="21" name="text"/>
          <p:cNvSpPr txBox="1"/>
          <p:nvPr/>
        </p:nvSpPr>
        <p:spPr>
          <a:xfrm>
            <a:off x="851215" y="3031053"/>
            <a:ext cx="1680972" cy="168097"/>
          </a:xfrm>
          <a:prstGeom prst="rect">
            <a:avLst/>
          </a:prstGeom>
          <a:noFill/>
          <a:ln/>
        </p:spPr>
        <p:txBody>
          <a:bodyPr wrap="square" lIns="0" tIns="0" rIns="0" bIns="0" rtlCol="0" anchor="t"/>
          <a:lstStyle/>
          <a:p>
            <a:pPr indent="0" marL="0">
              <a:buNone/>
            </a:pPr>
            <a:r>
              <a:rPr lang="en-US" sz="900" dirty="0">
                <a:solidFill>
                  <a:srgbClr val="535E6C"/>
                </a:solidFill>
              </a:rPr>
              <a:t>CRM and onboarding</a:t>
            </a:r>
            <a:endParaRPr lang="en-US" sz="900" dirty="0"/>
          </a:p>
        </p:txBody>
      </p:sp>
      <p:sp>
        <p:nvSpPr>
          <p:cNvPr id="22" name="text"/>
          <p:cNvSpPr txBox="1"/>
          <p:nvPr/>
        </p:nvSpPr>
        <p:spPr>
          <a:xfrm>
            <a:off x="851215" y="3207555"/>
            <a:ext cx="1680972" cy="168097"/>
          </a:xfrm>
          <a:prstGeom prst="rect">
            <a:avLst/>
          </a:prstGeom>
          <a:noFill/>
          <a:ln/>
        </p:spPr>
        <p:txBody>
          <a:bodyPr wrap="square" lIns="0" tIns="0" rIns="0" bIns="0" rtlCol="0" anchor="t"/>
          <a:lstStyle/>
          <a:p>
            <a:pPr indent="0" marL="0">
              <a:buNone/>
            </a:pPr>
            <a:r>
              <a:rPr lang="en-US" sz="900" dirty="0">
                <a:solidFill>
                  <a:srgbClr val="535E6C"/>
                </a:solidFill>
              </a:rPr>
              <a:t>Brokerage books and records</a:t>
            </a:r>
            <a:endParaRPr lang="en-US" sz="900" dirty="0"/>
          </a:p>
        </p:txBody>
      </p:sp>
      <p:sp>
        <p:nvSpPr>
          <p:cNvPr id="23" name="text"/>
          <p:cNvSpPr txBox="1"/>
          <p:nvPr/>
        </p:nvSpPr>
        <p:spPr>
          <a:xfrm>
            <a:off x="851215" y="3384057"/>
            <a:ext cx="1680972" cy="168097"/>
          </a:xfrm>
          <a:prstGeom prst="rect">
            <a:avLst/>
          </a:prstGeom>
          <a:noFill/>
          <a:ln/>
        </p:spPr>
        <p:txBody>
          <a:bodyPr wrap="square" lIns="0" tIns="0" rIns="0" bIns="0" rtlCol="0" anchor="t"/>
          <a:lstStyle/>
          <a:p>
            <a:pPr indent="0" marL="0">
              <a:buNone/>
            </a:pPr>
            <a:r>
              <a:rPr lang="en-US" sz="900" dirty="0">
                <a:solidFill>
                  <a:srgbClr val="535E6C"/>
                </a:solidFill>
              </a:rPr>
              <a:t>Order management</a:t>
            </a:r>
            <a:endParaRPr lang="en-US" sz="900" dirty="0"/>
          </a:p>
        </p:txBody>
      </p:sp>
      <p:sp>
        <p:nvSpPr>
          <p:cNvPr id="24" name="text"/>
          <p:cNvSpPr txBox="1"/>
          <p:nvPr/>
        </p:nvSpPr>
        <p:spPr>
          <a:xfrm>
            <a:off x="851215" y="3560559"/>
            <a:ext cx="1680972" cy="168097"/>
          </a:xfrm>
          <a:prstGeom prst="rect">
            <a:avLst/>
          </a:prstGeom>
          <a:noFill/>
          <a:ln/>
        </p:spPr>
        <p:txBody>
          <a:bodyPr wrap="square" lIns="0" tIns="0" rIns="0" bIns="0" rtlCol="0" anchor="t"/>
          <a:lstStyle/>
          <a:p>
            <a:pPr indent="0" marL="0">
              <a:buNone/>
            </a:pPr>
            <a:r>
              <a:rPr lang="en-US" sz="900" dirty="0">
                <a:solidFill>
                  <a:srgbClr val="535E6C"/>
                </a:solidFill>
              </a:rPr>
              <a:t>Money movement hub</a:t>
            </a:r>
            <a:endParaRPr lang="en-US" sz="900" dirty="0"/>
          </a:p>
        </p:txBody>
      </p:sp>
      <p:sp>
        <p:nvSpPr>
          <p:cNvPr id="25" name="text"/>
          <p:cNvSpPr txBox="1"/>
          <p:nvPr/>
        </p:nvSpPr>
        <p:spPr>
          <a:xfrm>
            <a:off x="851215" y="3737061"/>
            <a:ext cx="1680972" cy="168097"/>
          </a:xfrm>
          <a:prstGeom prst="rect">
            <a:avLst/>
          </a:prstGeom>
          <a:noFill/>
          <a:ln/>
        </p:spPr>
        <p:txBody>
          <a:bodyPr wrap="square" lIns="0" tIns="0" rIns="0" bIns="0" rtlCol="0" anchor="t"/>
          <a:lstStyle/>
          <a:p>
            <a:pPr indent="0" marL="0">
              <a:buNone/>
            </a:pPr>
            <a:r>
              <a:rPr lang="en-US" sz="900" dirty="0">
                <a:solidFill>
                  <a:srgbClr val="535E6C"/>
                </a:solidFill>
              </a:rPr>
              <a:t>Transfer agent</a:t>
            </a:r>
            <a:endParaRPr lang="en-US" sz="900" dirty="0"/>
          </a:p>
        </p:txBody>
      </p:sp>
      <p:sp>
        <p:nvSpPr>
          <p:cNvPr id="26" name="text"/>
          <p:cNvSpPr txBox="1"/>
          <p:nvPr/>
        </p:nvSpPr>
        <p:spPr>
          <a:xfrm>
            <a:off x="851215" y="3913563"/>
            <a:ext cx="1680972" cy="168097"/>
          </a:xfrm>
          <a:prstGeom prst="rect">
            <a:avLst/>
          </a:prstGeom>
          <a:noFill/>
          <a:ln/>
        </p:spPr>
        <p:txBody>
          <a:bodyPr wrap="square" lIns="0" tIns="0" rIns="0" bIns="0" rtlCol="0" anchor="t"/>
          <a:lstStyle/>
          <a:p>
            <a:pPr indent="0" marL="0">
              <a:buNone/>
            </a:pPr>
            <a:r>
              <a:rPr lang="en-US" sz="900" dirty="0">
                <a:solidFill>
                  <a:srgbClr val="535E6C"/>
                </a:solidFill>
              </a:rPr>
              <a:t>Plan recordkeeping</a:t>
            </a:r>
            <a:endParaRPr lang="en-US" sz="900" dirty="0"/>
          </a:p>
        </p:txBody>
      </p:sp>
      <p:sp>
        <p:nvSpPr>
          <p:cNvPr id="27" name="text"/>
          <p:cNvSpPr txBox="1"/>
          <p:nvPr/>
        </p:nvSpPr>
        <p:spPr>
          <a:xfrm>
            <a:off x="851215" y="4090065"/>
            <a:ext cx="1680972" cy="168097"/>
          </a:xfrm>
          <a:prstGeom prst="rect">
            <a:avLst/>
          </a:prstGeom>
          <a:noFill/>
          <a:ln/>
        </p:spPr>
        <p:txBody>
          <a:bodyPr wrap="square" lIns="0" tIns="0" rIns="0" bIns="0" rtlCol="0" anchor="t"/>
          <a:lstStyle/>
          <a:p>
            <a:pPr indent="0" marL="0">
              <a:buNone/>
            </a:pPr>
            <a:r>
              <a:rPr lang="en-US" sz="900" dirty="0">
                <a:solidFill>
                  <a:srgbClr val="535E6C"/>
                </a:solidFill>
              </a:rPr>
              <a:t>Planning and billing engines</a:t>
            </a:r>
            <a:endParaRPr lang="en-US" sz="900" dirty="0"/>
          </a:p>
        </p:txBody>
      </p:sp>
      <p:sp>
        <p:nvSpPr>
          <p:cNvPr id="28" name="text"/>
          <p:cNvSpPr txBox="1"/>
          <p:nvPr/>
        </p:nvSpPr>
        <p:spPr>
          <a:xfrm>
            <a:off x="851215" y="4266568"/>
            <a:ext cx="1680972" cy="168097"/>
          </a:xfrm>
          <a:prstGeom prst="rect">
            <a:avLst/>
          </a:prstGeom>
          <a:noFill/>
          <a:ln/>
        </p:spPr>
        <p:txBody>
          <a:bodyPr wrap="square" lIns="0" tIns="0" rIns="0" bIns="0" rtlCol="0" anchor="t"/>
          <a:lstStyle/>
          <a:p>
            <a:pPr indent="0" marL="0">
              <a:buNone/>
            </a:pPr>
            <a:r>
              <a:rPr lang="en-US" sz="900" dirty="0">
                <a:solidFill>
                  <a:srgbClr val="535E6C"/>
                </a:solidFill>
              </a:rPr>
              <a:t>Contracts, compliance</a:t>
            </a:r>
            <a:endParaRPr lang="en-US" sz="900" dirty="0"/>
          </a:p>
        </p:txBody>
      </p:sp>
      <p:sp>
        <p:nvSpPr>
          <p:cNvPr id="29" name="flow box"/>
          <p:cNvSpPr/>
          <p:nvPr/>
        </p:nvSpPr>
        <p:spPr>
          <a:xfrm>
            <a:off x="3103717" y="2678049"/>
            <a:ext cx="3530041" cy="2101215"/>
          </a:xfrm>
          <a:prstGeom prst="roundRect">
            <a:avLst>
              <a:gd name="adj" fmla="val 2176"/>
            </a:avLst>
          </a:prstGeom>
          <a:solidFill>
            <a:srgbClr val="FFFFFF">
              <a:alpha val="0"/>
            </a:srgbClr>
          </a:solidFill>
          <a:ln w="12700">
            <a:solidFill>
              <a:srgbClr val="535E6C"/>
            </a:solidFill>
            <a:prstDash val="solid"/>
          </a:ln>
        </p:spPr>
      </p:sp>
      <p:sp>
        <p:nvSpPr>
          <p:cNvPr id="30" name="text"/>
          <p:cNvSpPr txBox="1"/>
          <p:nvPr/>
        </p:nvSpPr>
        <p:spPr>
          <a:xfrm>
            <a:off x="3238195" y="2778907"/>
            <a:ext cx="1680972" cy="168097"/>
          </a:xfrm>
          <a:prstGeom prst="rect">
            <a:avLst/>
          </a:prstGeom>
          <a:noFill/>
          <a:ln/>
        </p:spPr>
        <p:txBody>
          <a:bodyPr wrap="square" lIns="0" tIns="0" rIns="0" bIns="0" rtlCol="0" anchor="t"/>
          <a:lstStyle/>
          <a:p>
            <a:pPr indent="0" marL="0">
              <a:buNone/>
            </a:pPr>
            <a:r>
              <a:rPr lang="en-US" sz="1100" b="1" dirty="0">
                <a:solidFill>
                  <a:srgbClr val="1A2B3C"/>
                </a:solidFill>
              </a:rPr>
              <a:t>Data products</a:t>
            </a:r>
            <a:endParaRPr lang="en-US" sz="1100" dirty="0"/>
          </a:p>
        </p:txBody>
      </p:sp>
      <p:sp>
        <p:nvSpPr>
          <p:cNvPr id="31" name="number"/>
          <p:cNvSpPr/>
          <p:nvPr/>
        </p:nvSpPr>
        <p:spPr>
          <a:xfrm>
            <a:off x="6356398" y="2762098"/>
            <a:ext cx="184907" cy="184907"/>
          </a:xfrm>
          <a:prstGeom prst="ellipse">
            <a:avLst/>
          </a:prstGeom>
          <a:solidFill>
            <a:srgbClr val="1A2B3C"/>
          </a:solidFill>
          <a:ln w="12700">
            <a:solidFill>
              <a:srgbClr val="1A2B3C"/>
            </a:solidFill>
            <a:prstDash val="solid"/>
          </a:ln>
        </p:spPr>
      </p:sp>
      <p:sp>
        <p:nvSpPr>
          <p:cNvPr id="32" name="text"/>
          <p:cNvSpPr txBox="1"/>
          <p:nvPr/>
        </p:nvSpPr>
        <p:spPr>
          <a:xfrm>
            <a:off x="6356398" y="2762098"/>
            <a:ext cx="184907" cy="184907"/>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33" name="flow box"/>
          <p:cNvSpPr/>
          <p:nvPr/>
        </p:nvSpPr>
        <p:spPr>
          <a:xfrm>
            <a:off x="3238195" y="3031053"/>
            <a:ext cx="1428826" cy="1630543"/>
          </a:xfrm>
          <a:prstGeom prst="roundRect">
            <a:avLst>
              <a:gd name="adj" fmla="val 3200"/>
            </a:avLst>
          </a:prstGeom>
          <a:solidFill>
            <a:srgbClr val="FFFFFF"/>
          </a:solidFill>
          <a:ln w="12700">
            <a:solidFill>
              <a:srgbClr val="D5DBE7"/>
            </a:solidFill>
            <a:prstDash val="solid"/>
          </a:ln>
        </p:spPr>
      </p:sp>
      <p:sp>
        <p:nvSpPr>
          <p:cNvPr id="34" name="text"/>
          <p:cNvSpPr txBox="1"/>
          <p:nvPr/>
        </p:nvSpPr>
        <p:spPr>
          <a:xfrm>
            <a:off x="3355863" y="3098292"/>
            <a:ext cx="1680972" cy="168097"/>
          </a:xfrm>
          <a:prstGeom prst="rect">
            <a:avLst/>
          </a:prstGeom>
          <a:noFill/>
          <a:ln/>
        </p:spPr>
        <p:txBody>
          <a:bodyPr wrap="square" lIns="0" tIns="0" rIns="0" bIns="0" rtlCol="0" anchor="t"/>
          <a:lstStyle/>
          <a:p>
            <a:pPr indent="0" marL="0">
              <a:buNone/>
            </a:pPr>
            <a:r>
              <a:rPr lang="en-US" sz="900" b="1" dirty="0">
                <a:solidFill>
                  <a:srgbClr val="1A2B3C"/>
                </a:solidFill>
              </a:rPr>
              <a:t>Foundational</a:t>
            </a:r>
            <a:endParaRPr lang="en-US" sz="900" dirty="0"/>
          </a:p>
        </p:txBody>
      </p:sp>
      <p:sp>
        <p:nvSpPr>
          <p:cNvPr id="35" name="text"/>
          <p:cNvSpPr txBox="1"/>
          <p:nvPr/>
        </p:nvSpPr>
        <p:spPr>
          <a:xfrm>
            <a:off x="3355863" y="3257984"/>
            <a:ext cx="1680972" cy="168097"/>
          </a:xfrm>
          <a:prstGeom prst="rect">
            <a:avLst/>
          </a:prstGeom>
          <a:noFill/>
          <a:ln/>
        </p:spPr>
        <p:txBody>
          <a:bodyPr wrap="square" lIns="0" tIns="0" rIns="0" bIns="0" rtlCol="0" anchor="t"/>
          <a:lstStyle/>
          <a:p>
            <a:pPr indent="0" marL="0">
              <a:buNone/>
            </a:pPr>
            <a:r>
              <a:rPr lang="en-US" sz="800" dirty="0">
                <a:solidFill>
                  <a:srgbClr val="535E6C"/>
                </a:solidFill>
              </a:rPr>
              <a:t>Conform once, certify, lock</a:t>
            </a:r>
            <a:endParaRPr lang="en-US" sz="800" dirty="0"/>
          </a:p>
        </p:txBody>
      </p:sp>
      <p:sp>
        <p:nvSpPr>
          <p:cNvPr id="36" name="text"/>
          <p:cNvSpPr txBox="1"/>
          <p:nvPr/>
        </p:nvSpPr>
        <p:spPr>
          <a:xfrm>
            <a:off x="3355863" y="3518535"/>
            <a:ext cx="1260729" cy="134478"/>
          </a:xfrm>
          <a:prstGeom prst="rect">
            <a:avLst/>
          </a:prstGeom>
          <a:noFill/>
          <a:ln/>
        </p:spPr>
        <p:txBody>
          <a:bodyPr wrap="square" lIns="0" tIns="0" rIns="0" bIns="0" rtlCol="0" anchor="t"/>
          <a:lstStyle/>
          <a:p>
            <a:pPr indent="0" marL="0">
              <a:buNone/>
            </a:pPr>
            <a:r>
              <a:rPr lang="en-US" sz="800" b="1" dirty="0">
                <a:solidFill>
                  <a:srgbClr val="1A2B3C"/>
                </a:solidFill>
              </a:rPr>
              <a:t>DP-240</a:t>
            </a:r>
            <a:endParaRPr lang="en-US" sz="800" dirty="0"/>
          </a:p>
        </p:txBody>
      </p:sp>
      <p:sp>
        <p:nvSpPr>
          <p:cNvPr id="37" name="text"/>
          <p:cNvSpPr txBox="1"/>
          <p:nvPr/>
        </p:nvSpPr>
        <p:spPr>
          <a:xfrm>
            <a:off x="3355863" y="3636203"/>
            <a:ext cx="1302753" cy="134478"/>
          </a:xfrm>
          <a:prstGeom prst="rect">
            <a:avLst/>
          </a:prstGeom>
          <a:noFill/>
          <a:ln/>
        </p:spPr>
        <p:txBody>
          <a:bodyPr wrap="square" lIns="0" tIns="0" rIns="0" bIns="0" rtlCol="0" anchor="t"/>
          <a:lstStyle/>
          <a:p>
            <a:pPr indent="0" marL="0">
              <a:buNone/>
            </a:pPr>
            <a:r>
              <a:rPr lang="en-US" sz="800" dirty="0">
                <a:solidFill>
                  <a:srgbClr val="535E6C"/>
                </a:solidFill>
              </a:rPr>
              <a:t>Client &amp; Household Master</a:t>
            </a:r>
            <a:endParaRPr lang="en-US" sz="800" dirty="0"/>
          </a:p>
        </p:txBody>
      </p:sp>
      <p:sp>
        <p:nvSpPr>
          <p:cNvPr id="38" name="text"/>
          <p:cNvSpPr txBox="1"/>
          <p:nvPr/>
        </p:nvSpPr>
        <p:spPr>
          <a:xfrm>
            <a:off x="3355863" y="3854729"/>
            <a:ext cx="1260729" cy="134478"/>
          </a:xfrm>
          <a:prstGeom prst="rect">
            <a:avLst/>
          </a:prstGeom>
          <a:noFill/>
          <a:ln/>
        </p:spPr>
        <p:txBody>
          <a:bodyPr wrap="square" lIns="0" tIns="0" rIns="0" bIns="0" rtlCol="0" anchor="t"/>
          <a:lstStyle/>
          <a:p>
            <a:pPr indent="0" marL="0">
              <a:buNone/>
            </a:pPr>
            <a:r>
              <a:rPr lang="en-US" sz="800" b="1" dirty="0">
                <a:solidFill>
                  <a:srgbClr val="1A2B3C"/>
                </a:solidFill>
              </a:rPr>
              <a:t>DP-093</a:t>
            </a:r>
            <a:endParaRPr lang="en-US" sz="800" dirty="0"/>
          </a:p>
        </p:txBody>
      </p:sp>
      <p:sp>
        <p:nvSpPr>
          <p:cNvPr id="39" name="text"/>
          <p:cNvSpPr txBox="1"/>
          <p:nvPr/>
        </p:nvSpPr>
        <p:spPr>
          <a:xfrm>
            <a:off x="3355863" y="3972397"/>
            <a:ext cx="1302753" cy="134478"/>
          </a:xfrm>
          <a:prstGeom prst="rect">
            <a:avLst/>
          </a:prstGeom>
          <a:noFill/>
          <a:ln/>
        </p:spPr>
        <p:txBody>
          <a:bodyPr wrap="square" lIns="0" tIns="0" rIns="0" bIns="0" rtlCol="0" anchor="t"/>
          <a:lstStyle/>
          <a:p>
            <a:pPr indent="0" marL="0">
              <a:buNone/>
            </a:pPr>
            <a:r>
              <a:rPr lang="en-US" sz="800" dirty="0">
                <a:solidFill>
                  <a:srgbClr val="535E6C"/>
                </a:solidFill>
              </a:rPr>
              <a:t>Account Master</a:t>
            </a:r>
            <a:endParaRPr lang="en-US" sz="800" dirty="0"/>
          </a:p>
        </p:txBody>
      </p:sp>
      <p:sp>
        <p:nvSpPr>
          <p:cNvPr id="40" name="text"/>
          <p:cNvSpPr txBox="1"/>
          <p:nvPr/>
        </p:nvSpPr>
        <p:spPr>
          <a:xfrm>
            <a:off x="3355863" y="4190924"/>
            <a:ext cx="1260729" cy="134478"/>
          </a:xfrm>
          <a:prstGeom prst="rect">
            <a:avLst/>
          </a:prstGeom>
          <a:noFill/>
          <a:ln/>
        </p:spPr>
        <p:txBody>
          <a:bodyPr wrap="square" lIns="0" tIns="0" rIns="0" bIns="0" rtlCol="0" anchor="t"/>
          <a:lstStyle/>
          <a:p>
            <a:pPr indent="0" marL="0">
              <a:buNone/>
            </a:pPr>
            <a:r>
              <a:rPr lang="en-US" sz="800" b="1" dirty="0">
                <a:solidFill>
                  <a:srgbClr val="1A2B3C"/>
                </a:solidFill>
              </a:rPr>
              <a:t>DP-008</a:t>
            </a:r>
            <a:endParaRPr lang="en-US" sz="800" dirty="0"/>
          </a:p>
        </p:txBody>
      </p:sp>
      <p:sp>
        <p:nvSpPr>
          <p:cNvPr id="41" name="text"/>
          <p:cNvSpPr txBox="1"/>
          <p:nvPr/>
        </p:nvSpPr>
        <p:spPr>
          <a:xfrm>
            <a:off x="3355863" y="4308592"/>
            <a:ext cx="1302753" cy="134478"/>
          </a:xfrm>
          <a:prstGeom prst="rect">
            <a:avLst/>
          </a:prstGeom>
          <a:noFill/>
          <a:ln/>
        </p:spPr>
        <p:txBody>
          <a:bodyPr wrap="square" lIns="0" tIns="0" rIns="0" bIns="0" rtlCol="0" anchor="t"/>
          <a:lstStyle/>
          <a:p>
            <a:pPr indent="0" marL="0">
              <a:buNone/>
            </a:pPr>
            <a:r>
              <a:rPr lang="en-US" sz="800" dirty="0">
                <a:solidFill>
                  <a:srgbClr val="535E6C"/>
                </a:solidFill>
              </a:rPr>
              <a:t>Client Assets &amp; NNA</a:t>
            </a:r>
            <a:endParaRPr lang="en-US" sz="800" dirty="0"/>
          </a:p>
        </p:txBody>
      </p:sp>
      <p:sp>
        <p:nvSpPr>
          <p:cNvPr id="42" name="flow box"/>
          <p:cNvSpPr/>
          <p:nvPr/>
        </p:nvSpPr>
        <p:spPr>
          <a:xfrm>
            <a:off x="5070455" y="3031053"/>
            <a:ext cx="1428826" cy="1630543"/>
          </a:xfrm>
          <a:prstGeom prst="roundRect">
            <a:avLst>
              <a:gd name="adj" fmla="val 3200"/>
            </a:avLst>
          </a:prstGeom>
          <a:solidFill>
            <a:srgbClr val="FFFFFF"/>
          </a:solidFill>
          <a:ln w="12700">
            <a:solidFill>
              <a:srgbClr val="D5DBE7"/>
            </a:solidFill>
            <a:prstDash val="solid"/>
          </a:ln>
        </p:spPr>
      </p:sp>
      <p:sp>
        <p:nvSpPr>
          <p:cNvPr id="43" name="text"/>
          <p:cNvSpPr txBox="1"/>
          <p:nvPr/>
        </p:nvSpPr>
        <p:spPr>
          <a:xfrm>
            <a:off x="5188123" y="3098292"/>
            <a:ext cx="1680972" cy="168097"/>
          </a:xfrm>
          <a:prstGeom prst="rect">
            <a:avLst/>
          </a:prstGeom>
          <a:noFill/>
          <a:ln/>
        </p:spPr>
        <p:txBody>
          <a:bodyPr wrap="square" lIns="0" tIns="0" rIns="0" bIns="0" rtlCol="0" anchor="t"/>
          <a:lstStyle/>
          <a:p>
            <a:pPr indent="0" marL="0">
              <a:buNone/>
            </a:pPr>
            <a:r>
              <a:rPr lang="en-US" sz="900" b="1" dirty="0">
                <a:solidFill>
                  <a:srgbClr val="1A2B3C"/>
                </a:solidFill>
              </a:rPr>
              <a:t>Consumer-aligned</a:t>
            </a:r>
            <a:endParaRPr lang="en-US" sz="900" dirty="0"/>
          </a:p>
        </p:txBody>
      </p:sp>
      <p:sp>
        <p:nvSpPr>
          <p:cNvPr id="44" name="text"/>
          <p:cNvSpPr txBox="1"/>
          <p:nvPr/>
        </p:nvSpPr>
        <p:spPr>
          <a:xfrm>
            <a:off x="5188123" y="3257984"/>
            <a:ext cx="1680972" cy="168097"/>
          </a:xfrm>
          <a:prstGeom prst="rect">
            <a:avLst/>
          </a:prstGeom>
          <a:noFill/>
          <a:ln/>
        </p:spPr>
        <p:txBody>
          <a:bodyPr wrap="square" lIns="0" tIns="0" rIns="0" bIns="0" rtlCol="0" anchor="t"/>
          <a:lstStyle/>
          <a:p>
            <a:pPr indent="0" marL="0">
              <a:buNone/>
            </a:pPr>
            <a:r>
              <a:rPr lang="en-US" sz="800" dirty="0">
                <a:solidFill>
                  <a:srgbClr val="535E6C"/>
                </a:solidFill>
              </a:rPr>
              <a:t>Shaped for one function</a:t>
            </a:r>
            <a:endParaRPr lang="en-US" sz="800" dirty="0"/>
          </a:p>
        </p:txBody>
      </p:sp>
      <p:sp>
        <p:nvSpPr>
          <p:cNvPr id="45" name="text"/>
          <p:cNvSpPr txBox="1"/>
          <p:nvPr/>
        </p:nvSpPr>
        <p:spPr>
          <a:xfrm>
            <a:off x="5188123" y="3518535"/>
            <a:ext cx="1260729" cy="134478"/>
          </a:xfrm>
          <a:prstGeom prst="rect">
            <a:avLst/>
          </a:prstGeom>
          <a:noFill/>
          <a:ln/>
        </p:spPr>
        <p:txBody>
          <a:bodyPr wrap="square" lIns="0" tIns="0" rIns="0" bIns="0" rtlCol="0" anchor="t"/>
          <a:lstStyle/>
          <a:p>
            <a:pPr indent="0" marL="0">
              <a:buNone/>
            </a:pPr>
            <a:r>
              <a:rPr lang="en-US" sz="800" b="1" dirty="0">
                <a:solidFill>
                  <a:srgbClr val="1A2B3C"/>
                </a:solidFill>
              </a:rPr>
              <a:t>DP-320</a:t>
            </a:r>
            <a:endParaRPr lang="en-US" sz="800" dirty="0"/>
          </a:p>
        </p:txBody>
      </p:sp>
      <p:sp>
        <p:nvSpPr>
          <p:cNvPr id="46" name="text"/>
          <p:cNvSpPr txBox="1"/>
          <p:nvPr/>
        </p:nvSpPr>
        <p:spPr>
          <a:xfrm>
            <a:off x="5188123" y="3636203"/>
            <a:ext cx="1302753" cy="134478"/>
          </a:xfrm>
          <a:prstGeom prst="rect">
            <a:avLst/>
          </a:prstGeom>
          <a:noFill/>
          <a:ln/>
        </p:spPr>
        <p:txBody>
          <a:bodyPr wrap="square" lIns="0" tIns="0" rIns="0" bIns="0" rtlCol="0" anchor="t"/>
          <a:lstStyle/>
          <a:p>
            <a:pPr indent="0" marL="0">
              <a:buNone/>
            </a:pPr>
            <a:r>
              <a:rPr lang="en-US" sz="800" dirty="0">
                <a:solidFill>
                  <a:srgbClr val="535E6C"/>
                </a:solidFill>
              </a:rPr>
              <a:t>Household 360</a:t>
            </a:r>
            <a:endParaRPr lang="en-US" sz="800" dirty="0"/>
          </a:p>
        </p:txBody>
      </p:sp>
      <p:sp>
        <p:nvSpPr>
          <p:cNvPr id="47" name="text"/>
          <p:cNvSpPr txBox="1"/>
          <p:nvPr/>
        </p:nvSpPr>
        <p:spPr>
          <a:xfrm>
            <a:off x="5188123" y="3854729"/>
            <a:ext cx="1260729" cy="134478"/>
          </a:xfrm>
          <a:prstGeom prst="rect">
            <a:avLst/>
          </a:prstGeom>
          <a:noFill/>
          <a:ln/>
        </p:spPr>
        <p:txBody>
          <a:bodyPr wrap="square" lIns="0" tIns="0" rIns="0" bIns="0" rtlCol="0" anchor="t"/>
          <a:lstStyle/>
          <a:p>
            <a:pPr indent="0" marL="0">
              <a:buNone/>
            </a:pPr>
            <a:r>
              <a:rPr lang="en-US" sz="800" b="1" dirty="0">
                <a:solidFill>
                  <a:srgbClr val="1A2B3C"/>
                </a:solidFill>
              </a:rPr>
              <a:t>DP-335</a:t>
            </a:r>
            <a:endParaRPr lang="en-US" sz="800" dirty="0"/>
          </a:p>
        </p:txBody>
      </p:sp>
      <p:sp>
        <p:nvSpPr>
          <p:cNvPr id="48" name="text"/>
          <p:cNvSpPr txBox="1"/>
          <p:nvPr/>
        </p:nvSpPr>
        <p:spPr>
          <a:xfrm>
            <a:off x="5188123" y="3972397"/>
            <a:ext cx="1302753" cy="134478"/>
          </a:xfrm>
          <a:prstGeom prst="rect">
            <a:avLst/>
          </a:prstGeom>
          <a:noFill/>
          <a:ln/>
        </p:spPr>
        <p:txBody>
          <a:bodyPr wrap="square" lIns="0" tIns="0" rIns="0" bIns="0" rtlCol="0" anchor="t"/>
          <a:lstStyle/>
          <a:p>
            <a:pPr indent="0" marL="0">
              <a:buNone/>
            </a:pPr>
            <a:r>
              <a:rPr lang="en-US" sz="800" dirty="0">
                <a:solidFill>
                  <a:srgbClr val="535E6C"/>
                </a:solidFill>
              </a:rPr>
              <a:t>Rollover &amp; PTE Evidence</a:t>
            </a:r>
            <a:endParaRPr lang="en-US" sz="800" dirty="0"/>
          </a:p>
        </p:txBody>
      </p:sp>
      <p:sp>
        <p:nvSpPr>
          <p:cNvPr id="49" name="text"/>
          <p:cNvSpPr txBox="1"/>
          <p:nvPr/>
        </p:nvSpPr>
        <p:spPr>
          <a:xfrm>
            <a:off x="5188123" y="4190924"/>
            <a:ext cx="1260729" cy="134478"/>
          </a:xfrm>
          <a:prstGeom prst="rect">
            <a:avLst/>
          </a:prstGeom>
          <a:noFill/>
          <a:ln/>
        </p:spPr>
        <p:txBody>
          <a:bodyPr wrap="square" lIns="0" tIns="0" rIns="0" bIns="0" rtlCol="0" anchor="t"/>
          <a:lstStyle/>
          <a:p>
            <a:pPr indent="0" marL="0">
              <a:buNone/>
            </a:pPr>
            <a:r>
              <a:rPr lang="en-US" sz="800" b="1" dirty="0">
                <a:solidFill>
                  <a:srgbClr val="1A2B3C"/>
                </a:solidFill>
              </a:rPr>
              <a:t>DP-241</a:t>
            </a:r>
            <a:endParaRPr lang="en-US" sz="800" dirty="0"/>
          </a:p>
        </p:txBody>
      </p:sp>
      <p:sp>
        <p:nvSpPr>
          <p:cNvPr id="50" name="text"/>
          <p:cNvSpPr txBox="1"/>
          <p:nvPr/>
        </p:nvSpPr>
        <p:spPr>
          <a:xfrm>
            <a:off x="5188123" y="4308592"/>
            <a:ext cx="1302753" cy="134478"/>
          </a:xfrm>
          <a:prstGeom prst="rect">
            <a:avLst/>
          </a:prstGeom>
          <a:noFill/>
          <a:ln/>
        </p:spPr>
        <p:txBody>
          <a:bodyPr wrap="square" lIns="0" tIns="0" rIns="0" bIns="0" rtlCol="0" anchor="t"/>
          <a:lstStyle/>
          <a:p>
            <a:pPr indent="0" marL="0">
              <a:buNone/>
            </a:pPr>
            <a:r>
              <a:rPr lang="en-US" sz="800" dirty="0">
                <a:solidFill>
                  <a:srgbClr val="535E6C"/>
                </a:solidFill>
              </a:rPr>
              <a:t>Firm AUM Reconciliation</a:t>
            </a:r>
            <a:endParaRPr lang="en-US" sz="800" dirty="0"/>
          </a:p>
        </p:txBody>
      </p:sp>
      <p:sp>
        <p:nvSpPr>
          <p:cNvPr id="51" name="arrow"/>
          <p:cNvSpPr/>
          <p:nvPr/>
        </p:nvSpPr>
        <p:spPr>
          <a:xfrm>
            <a:off x="4667021" y="3846325"/>
            <a:ext cx="386624" cy="0"/>
          </a:xfrm>
          <a:prstGeom prst="line">
            <a:avLst/>
          </a:prstGeom>
          <a:noFill/>
          <a:ln w="15875">
            <a:solidFill>
              <a:srgbClr val="1A2B3C"/>
            </a:solidFill>
            <a:prstDash val="solid"/>
            <a:tailEnd type="triangle"/>
          </a:ln>
        </p:spPr>
      </p:sp>
      <p:sp>
        <p:nvSpPr>
          <p:cNvPr id="52" name="text"/>
          <p:cNvSpPr txBox="1"/>
          <p:nvPr/>
        </p:nvSpPr>
        <p:spPr>
          <a:xfrm>
            <a:off x="4667021" y="3669822"/>
            <a:ext cx="386624" cy="168097"/>
          </a:xfrm>
          <a:prstGeom prst="rect">
            <a:avLst/>
          </a:prstGeom>
          <a:noFill/>
          <a:ln/>
        </p:spPr>
        <p:txBody>
          <a:bodyPr wrap="square" lIns="0" tIns="0" rIns="0" bIns="0" rtlCol="0" anchor="t"/>
          <a:lstStyle/>
          <a:p>
            <a:pPr algn="ctr" indent="0" marL="0">
              <a:buNone/>
            </a:pPr>
            <a:r>
              <a:rPr lang="en-US" sz="800" dirty="0">
                <a:solidFill>
                  <a:srgbClr val="535E6C"/>
                </a:solidFill>
              </a:rPr>
              <a:t>builds</a:t>
            </a:r>
            <a:endParaRPr lang="en-US" sz="800" dirty="0"/>
          </a:p>
        </p:txBody>
      </p:sp>
      <p:sp>
        <p:nvSpPr>
          <p:cNvPr id="53" name="text"/>
          <p:cNvSpPr txBox="1"/>
          <p:nvPr/>
        </p:nvSpPr>
        <p:spPr>
          <a:xfrm>
            <a:off x="4667021" y="3879944"/>
            <a:ext cx="386624" cy="168097"/>
          </a:xfrm>
          <a:prstGeom prst="rect">
            <a:avLst/>
          </a:prstGeom>
          <a:noFill/>
          <a:ln/>
        </p:spPr>
        <p:txBody>
          <a:bodyPr wrap="square" lIns="0" tIns="0" rIns="0" bIns="0" rtlCol="0" anchor="t"/>
          <a:lstStyle/>
          <a:p>
            <a:pPr algn="ctr" indent="0" marL="0">
              <a:buNone/>
            </a:pPr>
            <a:r>
              <a:rPr lang="en-US" sz="800" dirty="0">
                <a:solidFill>
                  <a:srgbClr val="535E6C"/>
                </a:solidFill>
              </a:rPr>
              <a:t>on</a:t>
            </a:r>
            <a:endParaRPr lang="en-US" sz="800" dirty="0"/>
          </a:p>
        </p:txBody>
      </p:sp>
      <p:sp>
        <p:nvSpPr>
          <p:cNvPr id="54" name="flow box"/>
          <p:cNvSpPr/>
          <p:nvPr/>
        </p:nvSpPr>
        <p:spPr>
          <a:xfrm>
            <a:off x="7222099" y="2678049"/>
            <a:ext cx="1849069" cy="1344778"/>
          </a:xfrm>
          <a:prstGeom prst="roundRect">
            <a:avLst>
              <a:gd name="adj" fmla="val 3400"/>
            </a:avLst>
          </a:prstGeom>
          <a:solidFill>
            <a:srgbClr val="FFFFFF"/>
          </a:solidFill>
          <a:ln w="19050">
            <a:solidFill>
              <a:srgbClr val="1A2B3C"/>
            </a:solidFill>
            <a:prstDash val="solid"/>
          </a:ln>
        </p:spPr>
      </p:sp>
      <p:sp>
        <p:nvSpPr>
          <p:cNvPr id="55" name="text"/>
          <p:cNvSpPr txBox="1"/>
          <p:nvPr/>
        </p:nvSpPr>
        <p:spPr>
          <a:xfrm>
            <a:off x="7356577" y="2778907"/>
            <a:ext cx="1680972" cy="168097"/>
          </a:xfrm>
          <a:prstGeom prst="rect">
            <a:avLst/>
          </a:prstGeom>
          <a:noFill/>
          <a:ln/>
        </p:spPr>
        <p:txBody>
          <a:bodyPr wrap="square" lIns="0" tIns="0" rIns="0" bIns="0" rtlCol="0" anchor="t"/>
          <a:lstStyle/>
          <a:p>
            <a:pPr indent="0" marL="0">
              <a:buNone/>
            </a:pPr>
            <a:r>
              <a:rPr lang="en-US" sz="1100" b="1" dirty="0">
                <a:solidFill>
                  <a:srgbClr val="1A2B3C"/>
                </a:solidFill>
              </a:rPr>
              <a:t>Semantic layer</a:t>
            </a:r>
            <a:endParaRPr lang="en-US" sz="1100" dirty="0"/>
          </a:p>
        </p:txBody>
      </p:sp>
      <p:sp>
        <p:nvSpPr>
          <p:cNvPr id="56" name="number"/>
          <p:cNvSpPr/>
          <p:nvPr/>
        </p:nvSpPr>
        <p:spPr>
          <a:xfrm>
            <a:off x="8793808" y="2762098"/>
            <a:ext cx="184907" cy="184907"/>
          </a:xfrm>
          <a:prstGeom prst="ellipse">
            <a:avLst/>
          </a:prstGeom>
          <a:solidFill>
            <a:srgbClr val="1A2B3C"/>
          </a:solidFill>
          <a:ln w="12700">
            <a:solidFill>
              <a:srgbClr val="1A2B3C"/>
            </a:solidFill>
            <a:prstDash val="solid"/>
          </a:ln>
        </p:spPr>
      </p:sp>
      <p:sp>
        <p:nvSpPr>
          <p:cNvPr id="57" name="text"/>
          <p:cNvSpPr txBox="1"/>
          <p:nvPr/>
        </p:nvSpPr>
        <p:spPr>
          <a:xfrm>
            <a:off x="8793808" y="2762098"/>
            <a:ext cx="184907" cy="184907"/>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58" name="text"/>
          <p:cNvSpPr txBox="1"/>
          <p:nvPr/>
        </p:nvSpPr>
        <p:spPr>
          <a:xfrm>
            <a:off x="7356577" y="3031053"/>
            <a:ext cx="1680972" cy="168097"/>
          </a:xfrm>
          <a:prstGeom prst="rect">
            <a:avLst/>
          </a:prstGeom>
          <a:noFill/>
          <a:ln/>
        </p:spPr>
        <p:txBody>
          <a:bodyPr wrap="square" lIns="0" tIns="0" rIns="0" bIns="0" rtlCol="0" anchor="t"/>
          <a:lstStyle/>
          <a:p>
            <a:pPr indent="0" marL="0">
              <a:buNone/>
            </a:pPr>
            <a:r>
              <a:rPr lang="en-US" sz="900" dirty="0">
                <a:solidFill>
                  <a:srgbClr val="535E6C"/>
                </a:solidFill>
              </a:rPr>
              <a:t>Certified metrics</a:t>
            </a:r>
            <a:endParaRPr lang="en-US" sz="900" dirty="0"/>
          </a:p>
        </p:txBody>
      </p:sp>
      <p:sp>
        <p:nvSpPr>
          <p:cNvPr id="59" name="text"/>
          <p:cNvSpPr txBox="1"/>
          <p:nvPr/>
        </p:nvSpPr>
        <p:spPr>
          <a:xfrm>
            <a:off x="7356577" y="3207555"/>
            <a:ext cx="1680972" cy="168097"/>
          </a:xfrm>
          <a:prstGeom prst="rect">
            <a:avLst/>
          </a:prstGeom>
          <a:noFill/>
          <a:ln/>
        </p:spPr>
        <p:txBody>
          <a:bodyPr wrap="square" lIns="0" tIns="0" rIns="0" bIns="0" rtlCol="0" anchor="t"/>
          <a:lstStyle/>
          <a:p>
            <a:pPr indent="0" marL="0">
              <a:buNone/>
            </a:pPr>
            <a:r>
              <a:rPr lang="en-US" sz="900" dirty="0">
                <a:solidFill>
                  <a:srgbClr val="535E6C"/>
                </a:solidFill>
              </a:rPr>
              <a:t>Conformed dimensions</a:t>
            </a:r>
            <a:endParaRPr lang="en-US" sz="900" dirty="0"/>
          </a:p>
        </p:txBody>
      </p:sp>
      <p:sp>
        <p:nvSpPr>
          <p:cNvPr id="60" name="text"/>
          <p:cNvSpPr txBox="1"/>
          <p:nvPr/>
        </p:nvSpPr>
        <p:spPr>
          <a:xfrm>
            <a:off x="7356577" y="3384057"/>
            <a:ext cx="1680972" cy="168097"/>
          </a:xfrm>
          <a:prstGeom prst="rect">
            <a:avLst/>
          </a:prstGeom>
          <a:noFill/>
          <a:ln/>
        </p:spPr>
        <p:txBody>
          <a:bodyPr wrap="square" lIns="0" tIns="0" rIns="0" bIns="0" rtlCol="0" anchor="t"/>
          <a:lstStyle/>
          <a:p>
            <a:pPr indent="0" marL="0">
              <a:buNone/>
            </a:pPr>
            <a:r>
              <a:rPr lang="en-US" sz="900" dirty="0">
                <a:solidFill>
                  <a:srgbClr val="535E6C"/>
                </a:solidFill>
              </a:rPr>
              <a:t>Hierarchies</a:t>
            </a:r>
            <a:endParaRPr lang="en-US" sz="900" dirty="0"/>
          </a:p>
        </p:txBody>
      </p:sp>
      <p:sp>
        <p:nvSpPr>
          <p:cNvPr id="61" name="text"/>
          <p:cNvSpPr txBox="1"/>
          <p:nvPr/>
        </p:nvSpPr>
        <p:spPr>
          <a:xfrm>
            <a:off x="7356577" y="3560559"/>
            <a:ext cx="1680972" cy="168097"/>
          </a:xfrm>
          <a:prstGeom prst="rect">
            <a:avLst/>
          </a:prstGeom>
          <a:noFill/>
          <a:ln/>
        </p:spPr>
        <p:txBody>
          <a:bodyPr wrap="square" lIns="0" tIns="0" rIns="0" bIns="0" rtlCol="0" anchor="t"/>
          <a:lstStyle/>
          <a:p>
            <a:pPr indent="0" marL="0">
              <a:buNone/>
            </a:pPr>
            <a:r>
              <a:rPr lang="en-US" sz="900" dirty="0">
                <a:solidFill>
                  <a:srgbClr val="535E6C"/>
                </a:solidFill>
              </a:rPr>
              <a:t>Synonyms</a:t>
            </a:r>
            <a:endParaRPr lang="en-US" sz="900" dirty="0"/>
          </a:p>
        </p:txBody>
      </p:sp>
      <p:sp>
        <p:nvSpPr>
          <p:cNvPr id="62" name="text"/>
          <p:cNvSpPr txBox="1"/>
          <p:nvPr/>
        </p:nvSpPr>
        <p:spPr>
          <a:xfrm>
            <a:off x="7356577" y="3737061"/>
            <a:ext cx="1680972" cy="168097"/>
          </a:xfrm>
          <a:prstGeom prst="rect">
            <a:avLst/>
          </a:prstGeom>
          <a:noFill/>
          <a:ln/>
        </p:spPr>
        <p:txBody>
          <a:bodyPr wrap="square" lIns="0" tIns="0" rIns="0" bIns="0" rtlCol="0" anchor="t"/>
          <a:lstStyle/>
          <a:p>
            <a:pPr indent="0" marL="0">
              <a:buNone/>
            </a:pPr>
            <a:r>
              <a:rPr lang="en-US" sz="900" dirty="0">
                <a:solidFill>
                  <a:srgbClr val="535E6C"/>
                </a:solidFill>
              </a:rPr>
              <a:t>Row and column access</a:t>
            </a:r>
            <a:endParaRPr lang="en-US" sz="900" dirty="0"/>
          </a:p>
        </p:txBody>
      </p:sp>
      <p:sp>
        <p:nvSpPr>
          <p:cNvPr id="63" name="flow box"/>
          <p:cNvSpPr/>
          <p:nvPr/>
        </p:nvSpPr>
        <p:spPr>
          <a:xfrm>
            <a:off x="9625889" y="2678049"/>
            <a:ext cx="1849069" cy="1344778"/>
          </a:xfrm>
          <a:prstGeom prst="roundRect">
            <a:avLst>
              <a:gd name="adj" fmla="val 3400"/>
            </a:avLst>
          </a:prstGeom>
          <a:solidFill>
            <a:srgbClr val="EEF1F8"/>
          </a:solidFill>
          <a:ln w="12700">
            <a:solidFill>
              <a:srgbClr val="D5DBE7"/>
            </a:solidFill>
            <a:prstDash val="solid"/>
          </a:ln>
        </p:spPr>
      </p:sp>
      <p:sp>
        <p:nvSpPr>
          <p:cNvPr id="64" name="text"/>
          <p:cNvSpPr txBox="1"/>
          <p:nvPr/>
        </p:nvSpPr>
        <p:spPr>
          <a:xfrm>
            <a:off x="9760367" y="2778907"/>
            <a:ext cx="1680972" cy="168097"/>
          </a:xfrm>
          <a:prstGeom prst="rect">
            <a:avLst/>
          </a:prstGeom>
          <a:noFill/>
          <a:ln/>
        </p:spPr>
        <p:txBody>
          <a:bodyPr wrap="square" lIns="0" tIns="0" rIns="0" bIns="0" rtlCol="0" anchor="t"/>
          <a:lstStyle/>
          <a:p>
            <a:pPr indent="0" marL="0">
              <a:buNone/>
            </a:pPr>
            <a:r>
              <a:rPr lang="en-US" sz="1100" b="1" dirty="0">
                <a:solidFill>
                  <a:srgbClr val="1A2B3C"/>
                </a:solidFill>
              </a:rPr>
              <a:t>Analytical use</a:t>
            </a:r>
            <a:endParaRPr lang="en-US" sz="1100" dirty="0"/>
          </a:p>
        </p:txBody>
      </p:sp>
      <p:sp>
        <p:nvSpPr>
          <p:cNvPr id="65" name="text"/>
          <p:cNvSpPr txBox="1"/>
          <p:nvPr/>
        </p:nvSpPr>
        <p:spPr>
          <a:xfrm>
            <a:off x="9760367" y="3031053"/>
            <a:ext cx="1680972" cy="168097"/>
          </a:xfrm>
          <a:prstGeom prst="rect">
            <a:avLst/>
          </a:prstGeom>
          <a:noFill/>
          <a:ln/>
        </p:spPr>
        <p:txBody>
          <a:bodyPr wrap="square" lIns="0" tIns="0" rIns="0" bIns="0" rtlCol="0" anchor="t"/>
          <a:lstStyle/>
          <a:p>
            <a:pPr indent="0" marL="0">
              <a:buNone/>
            </a:pPr>
            <a:r>
              <a:rPr lang="en-US" sz="900" dirty="0">
                <a:solidFill>
                  <a:srgbClr val="535E6C"/>
                </a:solidFill>
              </a:rPr>
              <a:t>BI dashboards</a:t>
            </a:r>
            <a:endParaRPr lang="en-US" sz="900" dirty="0"/>
          </a:p>
        </p:txBody>
      </p:sp>
      <p:sp>
        <p:nvSpPr>
          <p:cNvPr id="66" name="text"/>
          <p:cNvSpPr txBox="1"/>
          <p:nvPr/>
        </p:nvSpPr>
        <p:spPr>
          <a:xfrm>
            <a:off x="9760367" y="3207555"/>
            <a:ext cx="1680972" cy="168097"/>
          </a:xfrm>
          <a:prstGeom prst="rect">
            <a:avLst/>
          </a:prstGeom>
          <a:noFill/>
          <a:ln/>
        </p:spPr>
        <p:txBody>
          <a:bodyPr wrap="square" lIns="0" tIns="0" rIns="0" bIns="0" rtlCol="0" anchor="t"/>
          <a:lstStyle/>
          <a:p>
            <a:pPr indent="0" marL="0">
              <a:buNone/>
            </a:pPr>
            <a:r>
              <a:rPr lang="en-US" sz="900" dirty="0">
                <a:solidFill>
                  <a:srgbClr val="535E6C"/>
                </a:solidFill>
              </a:rPr>
              <a:t>Self-service and Excel</a:t>
            </a:r>
            <a:endParaRPr lang="en-US" sz="900" dirty="0"/>
          </a:p>
        </p:txBody>
      </p:sp>
      <p:sp>
        <p:nvSpPr>
          <p:cNvPr id="67" name="text"/>
          <p:cNvSpPr txBox="1"/>
          <p:nvPr/>
        </p:nvSpPr>
        <p:spPr>
          <a:xfrm>
            <a:off x="9760367" y="3384057"/>
            <a:ext cx="1680972" cy="168097"/>
          </a:xfrm>
          <a:prstGeom prst="rect">
            <a:avLst/>
          </a:prstGeom>
          <a:noFill/>
          <a:ln/>
        </p:spPr>
        <p:txBody>
          <a:bodyPr wrap="square" lIns="0" tIns="0" rIns="0" bIns="0" rtlCol="0" anchor="t"/>
          <a:lstStyle/>
          <a:p>
            <a:pPr indent="0" marL="0">
              <a:buNone/>
            </a:pPr>
            <a:r>
              <a:rPr lang="en-US" sz="900" dirty="0">
                <a:solidFill>
                  <a:srgbClr val="535E6C"/>
                </a:solidFill>
              </a:rPr>
              <a:t>AI assistants and</a:t>
            </a:r>
            <a:endParaRPr lang="en-US" sz="900" dirty="0"/>
          </a:p>
        </p:txBody>
      </p:sp>
      <p:sp>
        <p:nvSpPr>
          <p:cNvPr id="68" name="text"/>
          <p:cNvSpPr txBox="1"/>
          <p:nvPr/>
        </p:nvSpPr>
        <p:spPr>
          <a:xfrm>
            <a:off x="9760367" y="3560559"/>
            <a:ext cx="1680972" cy="168097"/>
          </a:xfrm>
          <a:prstGeom prst="rect">
            <a:avLst/>
          </a:prstGeom>
          <a:noFill/>
          <a:ln/>
        </p:spPr>
        <p:txBody>
          <a:bodyPr wrap="square" lIns="0" tIns="0" rIns="0" bIns="0" rtlCol="0" anchor="t"/>
          <a:lstStyle/>
          <a:p>
            <a:pPr indent="0" marL="0">
              <a:buNone/>
            </a:pPr>
            <a:r>
              <a:rPr lang="en-US" sz="900" dirty="0">
                <a:solidFill>
                  <a:srgbClr val="535E6C"/>
                </a:solidFill>
              </a:rPr>
              <a:t>natural-language query</a:t>
            </a:r>
            <a:endParaRPr lang="en-US" sz="900" dirty="0"/>
          </a:p>
        </p:txBody>
      </p:sp>
      <p:sp>
        <p:nvSpPr>
          <p:cNvPr id="69" name="flow box"/>
          <p:cNvSpPr/>
          <p:nvPr/>
        </p:nvSpPr>
        <p:spPr>
          <a:xfrm>
            <a:off x="9625889" y="4190924"/>
            <a:ext cx="1849069" cy="1025393"/>
          </a:xfrm>
          <a:prstGeom prst="roundRect">
            <a:avLst>
              <a:gd name="adj" fmla="val 4459"/>
            </a:avLst>
          </a:prstGeom>
          <a:solidFill>
            <a:srgbClr val="F9E3EE"/>
          </a:solidFill>
          <a:ln w="12700">
            <a:solidFill>
              <a:srgbClr val="C8166F"/>
            </a:solidFill>
            <a:prstDash val="solid"/>
          </a:ln>
        </p:spPr>
      </p:sp>
      <p:sp>
        <p:nvSpPr>
          <p:cNvPr id="70" name="text"/>
          <p:cNvSpPr txBox="1"/>
          <p:nvPr/>
        </p:nvSpPr>
        <p:spPr>
          <a:xfrm>
            <a:off x="9760367" y="4258163"/>
            <a:ext cx="1680972" cy="336194"/>
          </a:xfrm>
          <a:prstGeom prst="rect">
            <a:avLst/>
          </a:prstGeom>
          <a:noFill/>
          <a:ln/>
        </p:spPr>
        <p:txBody>
          <a:bodyPr wrap="square" lIns="0" tIns="0" rIns="0" bIns="0" rtlCol="0" anchor="t"/>
          <a:lstStyle/>
          <a:p>
            <a:pPr indent="0" marL="0">
              <a:buNone/>
            </a:pPr>
            <a:r>
              <a:rPr lang="en-US" sz="1100" b="1" dirty="0">
                <a:solidFill>
                  <a:srgbClr val="C8166F"/>
                </a:solidFill>
              </a:rPr>
              <a:t>Workflow and regulatory use</a:t>
            </a:r>
            <a:endParaRPr lang="en-US" sz="1100" dirty="0"/>
          </a:p>
        </p:txBody>
      </p:sp>
      <p:sp>
        <p:nvSpPr>
          <p:cNvPr id="71" name="text"/>
          <p:cNvSpPr txBox="1"/>
          <p:nvPr/>
        </p:nvSpPr>
        <p:spPr>
          <a:xfrm>
            <a:off x="9760367" y="4611167"/>
            <a:ext cx="1638948" cy="336194"/>
          </a:xfrm>
          <a:prstGeom prst="rect">
            <a:avLst/>
          </a:prstGeom>
          <a:noFill/>
          <a:ln/>
        </p:spPr>
        <p:txBody>
          <a:bodyPr wrap="square" lIns="0" tIns="0" rIns="0" bIns="0" rtlCol="0" anchor="t"/>
          <a:lstStyle/>
          <a:p>
            <a:pPr indent="0" marL="0">
              <a:buNone/>
            </a:pPr>
            <a:r>
              <a:rPr lang="en-US" sz="900" dirty="0">
                <a:solidFill>
                  <a:srgbClr val="1A2B3C"/>
                </a:solidFill>
              </a:rPr>
              <a:t>CRM, advisor desktop, client statements, billing, regulators</a:t>
            </a:r>
            <a:endParaRPr lang="en-US" sz="900" dirty="0"/>
          </a:p>
        </p:txBody>
      </p:sp>
      <p:sp>
        <p:nvSpPr>
          <p:cNvPr id="72" name="text"/>
          <p:cNvSpPr txBox="1"/>
          <p:nvPr/>
        </p:nvSpPr>
        <p:spPr>
          <a:xfrm>
            <a:off x="9760367" y="4980981"/>
            <a:ext cx="1680972" cy="168097"/>
          </a:xfrm>
          <a:prstGeom prst="rect">
            <a:avLst/>
          </a:prstGeom>
          <a:noFill/>
          <a:ln/>
        </p:spPr>
        <p:txBody>
          <a:bodyPr wrap="square" lIns="0" tIns="0" rIns="0" bIns="0" rtlCol="0" anchor="t"/>
          <a:lstStyle/>
          <a:p>
            <a:pPr indent="0" marL="0">
              <a:buNone/>
            </a:pPr>
            <a:r>
              <a:rPr lang="en-US" sz="900" dirty="0">
                <a:solidFill>
                  <a:srgbClr val="535E6C"/>
                </a:solidFill>
              </a:rPr>
              <a:t>via API, file, event</a:t>
            </a:r>
            <a:endParaRPr lang="en-US" sz="900" dirty="0"/>
          </a:p>
        </p:txBody>
      </p:sp>
      <p:sp>
        <p:nvSpPr>
          <p:cNvPr id="73" name="arrow"/>
          <p:cNvSpPr/>
          <p:nvPr/>
        </p:nvSpPr>
        <p:spPr>
          <a:xfrm>
            <a:off x="2565806" y="3728657"/>
            <a:ext cx="521101" cy="0"/>
          </a:xfrm>
          <a:prstGeom prst="line">
            <a:avLst/>
          </a:prstGeom>
          <a:noFill/>
          <a:ln w="15875">
            <a:solidFill>
              <a:srgbClr val="1A2B3C"/>
            </a:solidFill>
            <a:prstDash val="solid"/>
            <a:tailEnd type="triangle"/>
          </a:ln>
        </p:spPr>
      </p:sp>
      <p:sp>
        <p:nvSpPr>
          <p:cNvPr id="74" name="text"/>
          <p:cNvSpPr txBox="1"/>
          <p:nvPr/>
        </p:nvSpPr>
        <p:spPr>
          <a:xfrm>
            <a:off x="2565806" y="3560559"/>
            <a:ext cx="521101" cy="168097"/>
          </a:xfrm>
          <a:prstGeom prst="rect">
            <a:avLst/>
          </a:prstGeom>
          <a:noFill/>
          <a:ln/>
        </p:spPr>
        <p:txBody>
          <a:bodyPr wrap="square" lIns="0" tIns="0" rIns="0" bIns="0" rtlCol="0" anchor="t"/>
          <a:lstStyle/>
          <a:p>
            <a:pPr algn="ctr" indent="0" marL="0">
              <a:buNone/>
            </a:pPr>
            <a:r>
              <a:rPr lang="en-US" sz="800" dirty="0">
                <a:solidFill>
                  <a:srgbClr val="535E6C"/>
                </a:solidFill>
              </a:rPr>
              <a:t>ingest</a:t>
            </a:r>
            <a:endParaRPr lang="en-US" sz="800" dirty="0"/>
          </a:p>
        </p:txBody>
      </p:sp>
      <p:sp>
        <p:nvSpPr>
          <p:cNvPr id="75" name="arrow"/>
          <p:cNvSpPr/>
          <p:nvPr/>
        </p:nvSpPr>
        <p:spPr>
          <a:xfrm>
            <a:off x="6633759" y="3350438"/>
            <a:ext cx="571530" cy="0"/>
          </a:xfrm>
          <a:prstGeom prst="line">
            <a:avLst/>
          </a:prstGeom>
          <a:noFill/>
          <a:ln w="15875">
            <a:solidFill>
              <a:srgbClr val="1A2B3C"/>
            </a:solidFill>
            <a:prstDash val="solid"/>
            <a:tailEnd type="triangle"/>
          </a:ln>
        </p:spPr>
      </p:sp>
      <p:sp>
        <p:nvSpPr>
          <p:cNvPr id="76" name="text"/>
          <p:cNvSpPr txBox="1"/>
          <p:nvPr/>
        </p:nvSpPr>
        <p:spPr>
          <a:xfrm>
            <a:off x="6633759" y="3182341"/>
            <a:ext cx="571530" cy="168097"/>
          </a:xfrm>
          <a:prstGeom prst="rect">
            <a:avLst/>
          </a:prstGeom>
          <a:noFill/>
          <a:ln/>
        </p:spPr>
        <p:txBody>
          <a:bodyPr wrap="square" lIns="0" tIns="0" rIns="0" bIns="0" rtlCol="0" anchor="t"/>
          <a:lstStyle/>
          <a:p>
            <a:pPr algn="ctr" indent="0" marL="0">
              <a:buNone/>
            </a:pPr>
            <a:r>
              <a:rPr lang="en-US" sz="800" dirty="0">
                <a:solidFill>
                  <a:srgbClr val="535E6C"/>
                </a:solidFill>
              </a:rPr>
              <a:t>publish</a:t>
            </a:r>
            <a:endParaRPr lang="en-US" sz="800" dirty="0"/>
          </a:p>
        </p:txBody>
      </p:sp>
      <p:sp>
        <p:nvSpPr>
          <p:cNvPr id="77" name="arrow"/>
          <p:cNvSpPr/>
          <p:nvPr/>
        </p:nvSpPr>
        <p:spPr>
          <a:xfrm>
            <a:off x="9071168" y="3350438"/>
            <a:ext cx="537911" cy="0"/>
          </a:xfrm>
          <a:prstGeom prst="line">
            <a:avLst/>
          </a:prstGeom>
          <a:noFill/>
          <a:ln w="15875">
            <a:solidFill>
              <a:srgbClr val="1A2B3C"/>
            </a:solidFill>
            <a:prstDash val="solid"/>
            <a:tailEnd type="triangle"/>
          </a:ln>
        </p:spPr>
      </p:sp>
      <p:sp>
        <p:nvSpPr>
          <p:cNvPr id="78" name="text"/>
          <p:cNvSpPr txBox="1"/>
          <p:nvPr/>
        </p:nvSpPr>
        <p:spPr>
          <a:xfrm>
            <a:off x="9071168" y="3182341"/>
            <a:ext cx="537911" cy="168097"/>
          </a:xfrm>
          <a:prstGeom prst="rect">
            <a:avLst/>
          </a:prstGeom>
          <a:noFill/>
          <a:ln/>
        </p:spPr>
        <p:txBody>
          <a:bodyPr wrap="square" lIns="0" tIns="0" rIns="0" bIns="0" rtlCol="0" anchor="t"/>
          <a:lstStyle/>
          <a:p>
            <a:pPr algn="ctr" indent="0" marL="0">
              <a:buNone/>
            </a:pPr>
            <a:r>
              <a:rPr lang="en-US" sz="800" dirty="0">
                <a:solidFill>
                  <a:srgbClr val="535E6C"/>
                </a:solidFill>
              </a:rPr>
              <a:t>query</a:t>
            </a:r>
            <a:endParaRPr lang="en-US" sz="800" dirty="0"/>
          </a:p>
        </p:txBody>
      </p:sp>
      <p:sp>
        <p:nvSpPr>
          <p:cNvPr id="79" name="direct delivery"/>
          <p:cNvSpPr/>
          <p:nvPr/>
        </p:nvSpPr>
        <p:spPr>
          <a:xfrm>
            <a:off x="6633759" y="4527118"/>
            <a:ext cx="1899498" cy="0"/>
          </a:xfrm>
          <a:prstGeom prst="line">
            <a:avLst/>
          </a:prstGeom>
          <a:noFill/>
          <a:ln w="19050">
            <a:solidFill>
              <a:srgbClr val="C8166F"/>
            </a:solidFill>
            <a:prstDash val="solid"/>
          </a:ln>
        </p:spPr>
      </p:sp>
      <p:sp>
        <p:nvSpPr>
          <p:cNvPr id="80" name="direct delivery"/>
          <p:cNvSpPr/>
          <p:nvPr/>
        </p:nvSpPr>
        <p:spPr>
          <a:xfrm>
            <a:off x="8533257" y="4527118"/>
            <a:ext cx="0" cy="126073"/>
          </a:xfrm>
          <a:prstGeom prst="line">
            <a:avLst/>
          </a:prstGeom>
          <a:noFill/>
          <a:ln w="19050">
            <a:solidFill>
              <a:srgbClr val="C8166F"/>
            </a:solidFill>
            <a:prstDash val="solid"/>
          </a:ln>
        </p:spPr>
      </p:sp>
      <p:sp>
        <p:nvSpPr>
          <p:cNvPr id="81" name="arrow"/>
          <p:cNvSpPr/>
          <p:nvPr/>
        </p:nvSpPr>
        <p:spPr>
          <a:xfrm>
            <a:off x="8533257" y="4653191"/>
            <a:ext cx="1075822" cy="0"/>
          </a:xfrm>
          <a:prstGeom prst="line">
            <a:avLst/>
          </a:prstGeom>
          <a:noFill/>
          <a:ln w="19050">
            <a:solidFill>
              <a:srgbClr val="C8166F"/>
            </a:solidFill>
            <a:prstDash val="solid"/>
            <a:tailEnd type="triangle"/>
          </a:ln>
        </p:spPr>
      </p:sp>
      <p:sp>
        <p:nvSpPr>
          <p:cNvPr id="82" name="text"/>
          <p:cNvSpPr txBox="1"/>
          <p:nvPr/>
        </p:nvSpPr>
        <p:spPr>
          <a:xfrm>
            <a:off x="6768236" y="4359021"/>
            <a:ext cx="1008583" cy="168097"/>
          </a:xfrm>
          <a:prstGeom prst="rect">
            <a:avLst/>
          </a:prstGeom>
          <a:noFill/>
          <a:ln/>
        </p:spPr>
        <p:txBody>
          <a:bodyPr wrap="square" lIns="0" tIns="0" rIns="0" bIns="0" rtlCol="0" anchor="t"/>
          <a:lstStyle/>
          <a:p>
            <a:pPr indent="0" marL="0">
              <a:buNone/>
            </a:pPr>
            <a:r>
              <a:rPr lang="en-US" sz="800" dirty="0">
                <a:solidFill>
                  <a:srgbClr val="C8166F"/>
                </a:solidFill>
              </a:rPr>
              <a:t>direct delivery</a:t>
            </a:r>
            <a:endParaRPr lang="en-US" sz="800" dirty="0"/>
          </a:p>
        </p:txBody>
      </p:sp>
      <p:sp>
        <p:nvSpPr>
          <p:cNvPr id="83" name="number"/>
          <p:cNvSpPr/>
          <p:nvPr/>
        </p:nvSpPr>
        <p:spPr>
          <a:xfrm>
            <a:off x="8440804" y="4224543"/>
            <a:ext cx="184907" cy="184907"/>
          </a:xfrm>
          <a:prstGeom prst="ellipse">
            <a:avLst/>
          </a:prstGeom>
          <a:solidFill>
            <a:srgbClr val="1A2B3C"/>
          </a:solidFill>
          <a:ln w="12700">
            <a:solidFill>
              <a:srgbClr val="1A2B3C"/>
            </a:solidFill>
            <a:prstDash val="solid"/>
          </a:ln>
        </p:spPr>
      </p:sp>
      <p:sp>
        <p:nvSpPr>
          <p:cNvPr id="84" name="text"/>
          <p:cNvSpPr txBox="1"/>
          <p:nvPr/>
        </p:nvSpPr>
        <p:spPr>
          <a:xfrm>
            <a:off x="8440804" y="4224543"/>
            <a:ext cx="184907" cy="184907"/>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85" name="text"/>
          <p:cNvSpPr txBox="1"/>
          <p:nvPr/>
        </p:nvSpPr>
        <p:spPr>
          <a:xfrm>
            <a:off x="548640" y="5459044"/>
            <a:ext cx="11094415" cy="685800"/>
          </a:xfrm>
          <a:prstGeom prst="rect">
            <a:avLst/>
          </a:prstGeom>
          <a:noFill/>
          <a:ln/>
        </p:spPr>
        <p:txBody>
          <a:bodyPr wrap="square" lIns="0" tIns="0" rIns="0" bIns="0" rtlCol="0" anchor="t"/>
          <a:lstStyle/>
          <a:p>
            <a:pPr indent="0" marL="0">
              <a:buNone/>
            </a:pPr>
            <a:r>
              <a:rPr lang="en-US" sz="1050" i="1" dirty="0">
                <a:solidFill>
                  <a:schemeClr val="accent6"/>
                </a:solidFill>
              </a:rPr>
              <a:t>Data moves left to right; meaning moves top to bottom. Products used for analysis are published through the semantic layer. Others go straight into a workflow or a regulatory output, because their consumer is a system or a process rather than an analyst. Both paths take their numbers from the same certified products.</a:t>
            </a:r>
            <a:endParaRPr lang="en-US" sz="10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A data product: a governed asset with a specification</a:t>
            </a:r>
            <a:endParaRPr lang="en-US" sz="2800" dirty="0"/>
          </a:p>
        </p:txBody>
      </p:sp>
      <p:sp>
        <p:nvSpPr>
          <p:cNvPr id="4" name="text"/>
          <p:cNvSpPr txBox="1"/>
          <p:nvPr/>
        </p:nvSpPr>
        <p:spPr>
          <a:xfrm>
            <a:off x="548640" y="1417320"/>
            <a:ext cx="5029200" cy="274320"/>
          </a:xfrm>
          <a:prstGeom prst="rect">
            <a:avLst/>
          </a:prstGeom>
          <a:noFill/>
          <a:ln/>
        </p:spPr>
        <p:txBody>
          <a:bodyPr wrap="square" lIns="0" tIns="0" rIns="0" bIns="0" rtlCol="0" anchor="t"/>
          <a:lstStyle/>
          <a:p>
            <a:pPr indent="0" marL="0">
              <a:buNone/>
            </a:pPr>
            <a:r>
              <a:rPr lang="en-US" sz="1100" b="1" dirty="0">
                <a:solidFill>
                  <a:schemeClr val="accent6"/>
                </a:solidFill>
              </a:rPr>
              <a:t>THE SPECIFICATION STANDARD</a:t>
            </a:r>
            <a:endParaRPr lang="en-US" sz="1100" dirty="0"/>
          </a:p>
        </p:txBody>
      </p:sp>
      <p:sp>
        <p:nvSpPr>
          <p:cNvPr id="5" name="panel"/>
          <p:cNvSpPr/>
          <p:nvPr/>
        </p:nvSpPr>
        <p:spPr>
          <a:xfrm>
            <a:off x="548640" y="2167128"/>
            <a:ext cx="5120640" cy="9144"/>
          </a:xfrm>
          <a:prstGeom prst="rect">
            <a:avLst/>
          </a:prstGeom>
          <a:solidFill>
            <a:srgbClr val="D5DBE7"/>
          </a:solidFill>
          <a:ln w="12700">
            <a:solidFill>
              <a:srgbClr val="D5DBE7"/>
            </a:solidFill>
            <a:prstDash val="solid"/>
          </a:ln>
        </p:spPr>
      </p:sp>
      <p:sp>
        <p:nvSpPr>
          <p:cNvPr id="6" name="text"/>
          <p:cNvSpPr txBox="1"/>
          <p:nvPr/>
        </p:nvSpPr>
        <p:spPr>
          <a:xfrm>
            <a:off x="548640" y="1783080"/>
            <a:ext cx="1463040" cy="384048"/>
          </a:xfrm>
          <a:prstGeom prst="rect">
            <a:avLst/>
          </a:prstGeom>
          <a:noFill/>
          <a:ln/>
        </p:spPr>
        <p:txBody>
          <a:bodyPr wrap="square" lIns="0" tIns="0" rIns="0" bIns="0" rtlCol="0" anchor="ctr"/>
          <a:lstStyle/>
          <a:p>
            <a:pPr indent="0" marL="0">
              <a:buNone/>
            </a:pPr>
            <a:r>
              <a:rPr lang="en-US" sz="1200" b="1" dirty="0">
                <a:solidFill>
                  <a:schemeClr val="tx2"/>
                </a:solidFill>
              </a:rPr>
              <a:t>Identity</a:t>
            </a:r>
            <a:endParaRPr lang="en-US" sz="1200" dirty="0"/>
          </a:p>
        </p:txBody>
      </p:sp>
      <p:sp>
        <p:nvSpPr>
          <p:cNvPr id="7" name="text"/>
          <p:cNvSpPr txBox="1"/>
          <p:nvPr/>
        </p:nvSpPr>
        <p:spPr>
          <a:xfrm>
            <a:off x="2057400" y="1783080"/>
            <a:ext cx="3611880" cy="384048"/>
          </a:xfrm>
          <a:prstGeom prst="rect">
            <a:avLst/>
          </a:prstGeom>
          <a:noFill/>
          <a:ln/>
        </p:spPr>
        <p:txBody>
          <a:bodyPr wrap="square" lIns="0" tIns="0" rIns="0" bIns="0" rtlCol="0" anchor="ctr"/>
          <a:lstStyle/>
          <a:p>
            <a:pPr indent="0" marL="0">
              <a:buNone/>
            </a:pPr>
            <a:r>
              <a:rPr lang="en-US" sz="1100" dirty="0">
                <a:solidFill>
                  <a:schemeClr val="tx1"/>
                </a:solidFill>
              </a:rPr>
              <a:t>ID, name, tier, type</a:t>
            </a:r>
            <a:endParaRPr lang="en-US" sz="1100" dirty="0"/>
          </a:p>
        </p:txBody>
      </p:sp>
      <p:sp>
        <p:nvSpPr>
          <p:cNvPr id="8" name="panel"/>
          <p:cNvSpPr/>
          <p:nvPr/>
        </p:nvSpPr>
        <p:spPr>
          <a:xfrm>
            <a:off x="548640" y="2615184"/>
            <a:ext cx="5120640" cy="9144"/>
          </a:xfrm>
          <a:prstGeom prst="rect">
            <a:avLst/>
          </a:prstGeom>
          <a:solidFill>
            <a:srgbClr val="D5DBE7"/>
          </a:solidFill>
          <a:ln w="12700">
            <a:solidFill>
              <a:srgbClr val="D5DBE7"/>
            </a:solidFill>
            <a:prstDash val="solid"/>
          </a:ln>
        </p:spPr>
      </p:sp>
      <p:sp>
        <p:nvSpPr>
          <p:cNvPr id="9" name="text"/>
          <p:cNvSpPr txBox="1"/>
          <p:nvPr/>
        </p:nvSpPr>
        <p:spPr>
          <a:xfrm>
            <a:off x="548640" y="2231136"/>
            <a:ext cx="1463040" cy="384048"/>
          </a:xfrm>
          <a:prstGeom prst="rect">
            <a:avLst/>
          </a:prstGeom>
          <a:noFill/>
          <a:ln/>
        </p:spPr>
        <p:txBody>
          <a:bodyPr wrap="square" lIns="0" tIns="0" rIns="0" bIns="0" rtlCol="0" anchor="ctr"/>
          <a:lstStyle/>
          <a:p>
            <a:pPr indent="0" marL="0">
              <a:buNone/>
            </a:pPr>
            <a:r>
              <a:rPr lang="en-US" sz="1200" b="1" dirty="0">
                <a:solidFill>
                  <a:schemeClr val="tx2"/>
                </a:solidFill>
              </a:rPr>
              <a:t>Accountability</a:t>
            </a:r>
            <a:endParaRPr lang="en-US" sz="1200" dirty="0"/>
          </a:p>
        </p:txBody>
      </p:sp>
      <p:sp>
        <p:nvSpPr>
          <p:cNvPr id="10" name="text"/>
          <p:cNvSpPr txBox="1"/>
          <p:nvPr/>
        </p:nvSpPr>
        <p:spPr>
          <a:xfrm>
            <a:off x="2057400" y="2231136"/>
            <a:ext cx="3611880" cy="384048"/>
          </a:xfrm>
          <a:prstGeom prst="rect">
            <a:avLst/>
          </a:prstGeom>
          <a:noFill/>
          <a:ln/>
        </p:spPr>
        <p:txBody>
          <a:bodyPr wrap="square" lIns="0" tIns="0" rIns="0" bIns="0" rtlCol="0" anchor="ctr"/>
          <a:lstStyle/>
          <a:p>
            <a:pPr indent="0" marL="0">
              <a:buNone/>
            </a:pPr>
            <a:r>
              <a:rPr lang="en-US" sz="1100" dirty="0">
                <a:solidFill>
                  <a:schemeClr val="tx1"/>
                </a:solidFill>
              </a:rPr>
              <a:t>Owning Data Domain, accountable owner role</a:t>
            </a:r>
            <a:endParaRPr lang="en-US" sz="1100" dirty="0"/>
          </a:p>
        </p:txBody>
      </p:sp>
      <p:sp>
        <p:nvSpPr>
          <p:cNvPr id="11" name="panel"/>
          <p:cNvSpPr/>
          <p:nvPr/>
        </p:nvSpPr>
        <p:spPr>
          <a:xfrm>
            <a:off x="548640" y="3063240"/>
            <a:ext cx="5120640" cy="9144"/>
          </a:xfrm>
          <a:prstGeom prst="rect">
            <a:avLst/>
          </a:prstGeom>
          <a:solidFill>
            <a:srgbClr val="D5DBE7"/>
          </a:solidFill>
          <a:ln w="12700">
            <a:solidFill>
              <a:srgbClr val="D5DBE7"/>
            </a:solidFill>
            <a:prstDash val="solid"/>
          </a:ln>
        </p:spPr>
      </p:sp>
      <p:sp>
        <p:nvSpPr>
          <p:cNvPr id="12" name="text"/>
          <p:cNvSpPr txBox="1"/>
          <p:nvPr/>
        </p:nvSpPr>
        <p:spPr>
          <a:xfrm>
            <a:off x="548640" y="2679192"/>
            <a:ext cx="1463040" cy="384048"/>
          </a:xfrm>
          <a:prstGeom prst="rect">
            <a:avLst/>
          </a:prstGeom>
          <a:noFill/>
          <a:ln/>
        </p:spPr>
        <p:txBody>
          <a:bodyPr wrap="square" lIns="0" tIns="0" rIns="0" bIns="0" rtlCol="0" anchor="ctr"/>
          <a:lstStyle/>
          <a:p>
            <a:pPr indent="0" marL="0">
              <a:buNone/>
            </a:pPr>
            <a:r>
              <a:rPr lang="en-US" sz="1200" b="1" dirty="0">
                <a:solidFill>
                  <a:schemeClr val="tx2"/>
                </a:solidFill>
              </a:rPr>
              <a:t>Consumers</a:t>
            </a:r>
            <a:endParaRPr lang="en-US" sz="1200" dirty="0"/>
          </a:p>
        </p:txBody>
      </p:sp>
      <p:sp>
        <p:nvSpPr>
          <p:cNvPr id="13" name="text"/>
          <p:cNvSpPr txBox="1"/>
          <p:nvPr/>
        </p:nvSpPr>
        <p:spPr>
          <a:xfrm>
            <a:off x="2057400" y="2679192"/>
            <a:ext cx="3611880" cy="384048"/>
          </a:xfrm>
          <a:prstGeom prst="rect">
            <a:avLst/>
          </a:prstGeom>
          <a:noFill/>
          <a:ln/>
        </p:spPr>
        <p:txBody>
          <a:bodyPr wrap="square" lIns="0" tIns="0" rIns="0" bIns="0" rtlCol="0" anchor="ctr"/>
          <a:lstStyle/>
          <a:p>
            <a:pPr indent="0" marL="0">
              <a:buNone/>
            </a:pPr>
            <a:r>
              <a:rPr lang="en-US" sz="1100" dirty="0">
                <a:solidFill>
                  <a:schemeClr val="tx1"/>
                </a:solidFill>
              </a:rPr>
              <a:t>Primary and supporting functions, the questions it answers</a:t>
            </a:r>
            <a:endParaRPr lang="en-US" sz="1100" dirty="0"/>
          </a:p>
        </p:txBody>
      </p:sp>
      <p:sp>
        <p:nvSpPr>
          <p:cNvPr id="14" name="panel"/>
          <p:cNvSpPr/>
          <p:nvPr/>
        </p:nvSpPr>
        <p:spPr>
          <a:xfrm>
            <a:off x="548640" y="3511296"/>
            <a:ext cx="5120640" cy="9144"/>
          </a:xfrm>
          <a:prstGeom prst="rect">
            <a:avLst/>
          </a:prstGeom>
          <a:solidFill>
            <a:srgbClr val="D5DBE7"/>
          </a:solidFill>
          <a:ln w="12700">
            <a:solidFill>
              <a:srgbClr val="D5DBE7"/>
            </a:solidFill>
            <a:prstDash val="solid"/>
          </a:ln>
        </p:spPr>
      </p:sp>
      <p:sp>
        <p:nvSpPr>
          <p:cNvPr id="15" name="text"/>
          <p:cNvSpPr txBox="1"/>
          <p:nvPr/>
        </p:nvSpPr>
        <p:spPr>
          <a:xfrm>
            <a:off x="548640" y="3127248"/>
            <a:ext cx="1463040" cy="384048"/>
          </a:xfrm>
          <a:prstGeom prst="rect">
            <a:avLst/>
          </a:prstGeom>
          <a:noFill/>
          <a:ln/>
        </p:spPr>
        <p:txBody>
          <a:bodyPr wrap="square" lIns="0" tIns="0" rIns="0" bIns="0" rtlCol="0" anchor="ctr"/>
          <a:lstStyle/>
          <a:p>
            <a:pPr indent="0" marL="0">
              <a:buNone/>
            </a:pPr>
            <a:r>
              <a:rPr lang="en-US" sz="1200" b="1" dirty="0">
                <a:solidFill>
                  <a:schemeClr val="tx2"/>
                </a:solidFill>
              </a:rPr>
              <a:t>Shape</a:t>
            </a:r>
            <a:endParaRPr lang="en-US" sz="1200" dirty="0"/>
          </a:p>
        </p:txBody>
      </p:sp>
      <p:sp>
        <p:nvSpPr>
          <p:cNvPr id="16" name="text"/>
          <p:cNvSpPr txBox="1"/>
          <p:nvPr/>
        </p:nvSpPr>
        <p:spPr>
          <a:xfrm>
            <a:off x="2057400" y="3127248"/>
            <a:ext cx="3611880" cy="384048"/>
          </a:xfrm>
          <a:prstGeom prst="rect">
            <a:avLst/>
          </a:prstGeom>
          <a:noFill/>
          <a:ln/>
        </p:spPr>
        <p:txBody>
          <a:bodyPr wrap="square" lIns="0" tIns="0" rIns="0" bIns="0" rtlCol="0" anchor="ctr"/>
          <a:lstStyle/>
          <a:p>
            <a:pPr indent="0" marL="0">
              <a:buNone/>
            </a:pPr>
            <a:r>
              <a:rPr lang="en-US" sz="1100" dirty="0">
                <a:solidFill>
                  <a:schemeClr val="tx1"/>
                </a:solidFill>
              </a:rPr>
              <a:t>Grain, dimensions, measures with explicit formulas naming the attributes read</a:t>
            </a:r>
            <a:endParaRPr lang="en-US" sz="1100" dirty="0"/>
          </a:p>
        </p:txBody>
      </p:sp>
      <p:sp>
        <p:nvSpPr>
          <p:cNvPr id="17" name="panel"/>
          <p:cNvSpPr/>
          <p:nvPr/>
        </p:nvSpPr>
        <p:spPr>
          <a:xfrm>
            <a:off x="548640" y="3959352"/>
            <a:ext cx="5120640" cy="9144"/>
          </a:xfrm>
          <a:prstGeom prst="rect">
            <a:avLst/>
          </a:prstGeom>
          <a:solidFill>
            <a:srgbClr val="D5DBE7"/>
          </a:solidFill>
          <a:ln w="12700">
            <a:solidFill>
              <a:srgbClr val="D5DBE7"/>
            </a:solidFill>
            <a:prstDash val="solid"/>
          </a:ln>
        </p:spPr>
      </p:sp>
      <p:sp>
        <p:nvSpPr>
          <p:cNvPr id="18" name="text"/>
          <p:cNvSpPr txBox="1"/>
          <p:nvPr/>
        </p:nvSpPr>
        <p:spPr>
          <a:xfrm>
            <a:off x="548640" y="3575304"/>
            <a:ext cx="1463040" cy="384048"/>
          </a:xfrm>
          <a:prstGeom prst="rect">
            <a:avLst/>
          </a:prstGeom>
          <a:noFill/>
          <a:ln/>
        </p:spPr>
        <p:txBody>
          <a:bodyPr wrap="square" lIns="0" tIns="0" rIns="0" bIns="0" rtlCol="0" anchor="ctr"/>
          <a:lstStyle/>
          <a:p>
            <a:pPr indent="0" marL="0">
              <a:buNone/>
            </a:pPr>
            <a:r>
              <a:rPr lang="en-US" sz="1200" b="1" dirty="0">
                <a:solidFill>
                  <a:schemeClr val="tx2"/>
                </a:solidFill>
              </a:rPr>
              <a:t>Lineage</a:t>
            </a:r>
            <a:endParaRPr lang="en-US" sz="1200" dirty="0"/>
          </a:p>
        </p:txBody>
      </p:sp>
      <p:sp>
        <p:nvSpPr>
          <p:cNvPr id="19" name="text"/>
          <p:cNvSpPr txBox="1"/>
          <p:nvPr/>
        </p:nvSpPr>
        <p:spPr>
          <a:xfrm>
            <a:off x="2057400" y="3575304"/>
            <a:ext cx="3611880" cy="384048"/>
          </a:xfrm>
          <a:prstGeom prst="rect">
            <a:avLst/>
          </a:prstGeom>
          <a:noFill/>
          <a:ln/>
        </p:spPr>
        <p:txBody>
          <a:bodyPr wrap="square" lIns="0" tIns="0" rIns="0" bIns="0" rtlCol="0" anchor="ctr"/>
          <a:lstStyle/>
          <a:p>
            <a:pPr indent="0" marL="0">
              <a:buNone/>
            </a:pPr>
            <a:r>
              <a:rPr lang="en-US" sz="1100" dirty="0">
                <a:solidFill>
                  <a:schemeClr val="tx1"/>
                </a:solidFill>
              </a:rPr>
              <a:t>The exact objects and attributes, from the mastering domain</a:t>
            </a:r>
            <a:endParaRPr lang="en-US" sz="1100" dirty="0"/>
          </a:p>
        </p:txBody>
      </p:sp>
      <p:sp>
        <p:nvSpPr>
          <p:cNvPr id="20" name="panel"/>
          <p:cNvSpPr/>
          <p:nvPr/>
        </p:nvSpPr>
        <p:spPr>
          <a:xfrm>
            <a:off x="548640" y="4407408"/>
            <a:ext cx="5120640" cy="9144"/>
          </a:xfrm>
          <a:prstGeom prst="rect">
            <a:avLst/>
          </a:prstGeom>
          <a:solidFill>
            <a:srgbClr val="D5DBE7"/>
          </a:solidFill>
          <a:ln w="12700">
            <a:solidFill>
              <a:srgbClr val="D5DBE7"/>
            </a:solidFill>
            <a:prstDash val="solid"/>
          </a:ln>
        </p:spPr>
      </p:sp>
      <p:sp>
        <p:nvSpPr>
          <p:cNvPr id="21" name="text"/>
          <p:cNvSpPr txBox="1"/>
          <p:nvPr/>
        </p:nvSpPr>
        <p:spPr>
          <a:xfrm>
            <a:off x="548640" y="4023360"/>
            <a:ext cx="1463040" cy="384048"/>
          </a:xfrm>
          <a:prstGeom prst="rect">
            <a:avLst/>
          </a:prstGeom>
          <a:noFill/>
          <a:ln/>
        </p:spPr>
        <p:txBody>
          <a:bodyPr wrap="square" lIns="0" tIns="0" rIns="0" bIns="0" rtlCol="0" anchor="ctr"/>
          <a:lstStyle/>
          <a:p>
            <a:pPr indent="0" marL="0">
              <a:buNone/>
            </a:pPr>
            <a:r>
              <a:rPr lang="en-US" sz="1200" b="1" dirty="0">
                <a:solidFill>
                  <a:schemeClr val="tx2"/>
                </a:solidFill>
              </a:rPr>
              <a:t>Dependencies</a:t>
            </a:r>
            <a:endParaRPr lang="en-US" sz="1200" dirty="0"/>
          </a:p>
        </p:txBody>
      </p:sp>
      <p:sp>
        <p:nvSpPr>
          <p:cNvPr id="22" name="text"/>
          <p:cNvSpPr txBox="1"/>
          <p:nvPr/>
        </p:nvSpPr>
        <p:spPr>
          <a:xfrm>
            <a:off x="2057400" y="4023360"/>
            <a:ext cx="3611880" cy="384048"/>
          </a:xfrm>
          <a:prstGeom prst="rect">
            <a:avLst/>
          </a:prstGeom>
          <a:noFill/>
          <a:ln/>
        </p:spPr>
        <p:txBody>
          <a:bodyPr wrap="square" lIns="0" tIns="0" rIns="0" bIns="0" rtlCol="0" anchor="ctr"/>
          <a:lstStyle/>
          <a:p>
            <a:pPr indent="0" marL="0">
              <a:buNone/>
            </a:pPr>
            <a:r>
              <a:rPr lang="en-US" sz="1100" dirty="0">
                <a:solidFill>
                  <a:schemeClr val="tx1"/>
                </a:solidFill>
              </a:rPr>
              <a:t>The upstream products it is built from</a:t>
            </a:r>
            <a:endParaRPr lang="en-US" sz="1100" dirty="0"/>
          </a:p>
        </p:txBody>
      </p:sp>
      <p:sp>
        <p:nvSpPr>
          <p:cNvPr id="23" name="panel"/>
          <p:cNvSpPr/>
          <p:nvPr/>
        </p:nvSpPr>
        <p:spPr>
          <a:xfrm>
            <a:off x="548640" y="4855464"/>
            <a:ext cx="5120640" cy="9144"/>
          </a:xfrm>
          <a:prstGeom prst="rect">
            <a:avLst/>
          </a:prstGeom>
          <a:solidFill>
            <a:srgbClr val="D5DBE7"/>
          </a:solidFill>
          <a:ln w="12700">
            <a:solidFill>
              <a:srgbClr val="D5DBE7"/>
            </a:solidFill>
            <a:prstDash val="solid"/>
          </a:ln>
        </p:spPr>
      </p:sp>
      <p:sp>
        <p:nvSpPr>
          <p:cNvPr id="24" name="text"/>
          <p:cNvSpPr txBox="1"/>
          <p:nvPr/>
        </p:nvSpPr>
        <p:spPr>
          <a:xfrm>
            <a:off x="548640" y="4471416"/>
            <a:ext cx="1463040" cy="384048"/>
          </a:xfrm>
          <a:prstGeom prst="rect">
            <a:avLst/>
          </a:prstGeom>
          <a:noFill/>
          <a:ln/>
        </p:spPr>
        <p:txBody>
          <a:bodyPr wrap="square" lIns="0" tIns="0" rIns="0" bIns="0" rtlCol="0" anchor="ctr"/>
          <a:lstStyle/>
          <a:p>
            <a:pPr indent="0" marL="0">
              <a:buNone/>
            </a:pPr>
            <a:r>
              <a:rPr lang="en-US" sz="1200" b="1" dirty="0">
                <a:solidFill>
                  <a:schemeClr val="tx2"/>
                </a:solidFill>
              </a:rPr>
              <a:t>Service levels</a:t>
            </a:r>
            <a:endParaRPr lang="en-US" sz="1200" dirty="0"/>
          </a:p>
        </p:txBody>
      </p:sp>
      <p:sp>
        <p:nvSpPr>
          <p:cNvPr id="25" name="text"/>
          <p:cNvSpPr txBox="1"/>
          <p:nvPr/>
        </p:nvSpPr>
        <p:spPr>
          <a:xfrm>
            <a:off x="2057400" y="4471416"/>
            <a:ext cx="3611880" cy="384048"/>
          </a:xfrm>
          <a:prstGeom prst="rect">
            <a:avLst/>
          </a:prstGeom>
          <a:noFill/>
          <a:ln/>
        </p:spPr>
        <p:txBody>
          <a:bodyPr wrap="square" lIns="0" tIns="0" rIns="0" bIns="0" rtlCol="0" anchor="ctr"/>
          <a:lstStyle/>
          <a:p>
            <a:pPr indent="0" marL="0">
              <a:buNone/>
            </a:pPr>
            <a:r>
              <a:rPr lang="en-US" sz="1100" dirty="0">
                <a:solidFill>
                  <a:schemeClr val="tx1"/>
                </a:solidFill>
              </a:rPr>
              <a:t>Refresh, timeliness, history</a:t>
            </a:r>
            <a:endParaRPr lang="en-US" sz="1100" dirty="0"/>
          </a:p>
        </p:txBody>
      </p:sp>
      <p:sp>
        <p:nvSpPr>
          <p:cNvPr id="26" name="panel"/>
          <p:cNvSpPr/>
          <p:nvPr/>
        </p:nvSpPr>
        <p:spPr>
          <a:xfrm>
            <a:off x="548640" y="5303520"/>
            <a:ext cx="5120640" cy="9144"/>
          </a:xfrm>
          <a:prstGeom prst="rect">
            <a:avLst/>
          </a:prstGeom>
          <a:solidFill>
            <a:srgbClr val="D5DBE7"/>
          </a:solidFill>
          <a:ln w="12700">
            <a:solidFill>
              <a:srgbClr val="D5DBE7"/>
            </a:solidFill>
            <a:prstDash val="solid"/>
          </a:ln>
        </p:spPr>
      </p:sp>
      <p:sp>
        <p:nvSpPr>
          <p:cNvPr id="27" name="text"/>
          <p:cNvSpPr txBox="1"/>
          <p:nvPr/>
        </p:nvSpPr>
        <p:spPr>
          <a:xfrm>
            <a:off x="548640" y="4919472"/>
            <a:ext cx="1463040" cy="384048"/>
          </a:xfrm>
          <a:prstGeom prst="rect">
            <a:avLst/>
          </a:prstGeom>
          <a:noFill/>
          <a:ln/>
        </p:spPr>
        <p:txBody>
          <a:bodyPr wrap="square" lIns="0" tIns="0" rIns="0" bIns="0" rtlCol="0" anchor="ctr"/>
          <a:lstStyle/>
          <a:p>
            <a:pPr indent="0" marL="0">
              <a:buNone/>
            </a:pPr>
            <a:r>
              <a:rPr lang="en-US" sz="1200" b="1" dirty="0">
                <a:solidFill>
                  <a:schemeClr val="tx2"/>
                </a:solidFill>
              </a:rPr>
              <a:t>Protection</a:t>
            </a:r>
            <a:endParaRPr lang="en-US" sz="1200" dirty="0"/>
          </a:p>
        </p:txBody>
      </p:sp>
      <p:sp>
        <p:nvSpPr>
          <p:cNvPr id="28" name="text"/>
          <p:cNvSpPr txBox="1"/>
          <p:nvPr/>
        </p:nvSpPr>
        <p:spPr>
          <a:xfrm>
            <a:off x="2057400" y="4919472"/>
            <a:ext cx="3611880" cy="384048"/>
          </a:xfrm>
          <a:prstGeom prst="rect">
            <a:avLst/>
          </a:prstGeom>
          <a:noFill/>
          <a:ln/>
        </p:spPr>
        <p:txBody>
          <a:bodyPr wrap="square" lIns="0" tIns="0" rIns="0" bIns="0" rtlCol="0" anchor="ctr"/>
          <a:lstStyle/>
          <a:p>
            <a:pPr indent="0" marL="0">
              <a:buNone/>
            </a:pPr>
            <a:r>
              <a:rPr lang="en-US" sz="1100" dirty="0">
                <a:solidFill>
                  <a:schemeClr val="tx1"/>
                </a:solidFill>
              </a:rPr>
              <a:t>Information classification, personal data flag</a:t>
            </a:r>
            <a:endParaRPr lang="en-US" sz="1100" dirty="0"/>
          </a:p>
        </p:txBody>
      </p:sp>
      <p:sp>
        <p:nvSpPr>
          <p:cNvPr id="29" name="panel"/>
          <p:cNvSpPr/>
          <p:nvPr/>
        </p:nvSpPr>
        <p:spPr>
          <a:xfrm>
            <a:off x="548640" y="5751576"/>
            <a:ext cx="5120640" cy="9144"/>
          </a:xfrm>
          <a:prstGeom prst="rect">
            <a:avLst/>
          </a:prstGeom>
          <a:solidFill>
            <a:srgbClr val="D5DBE7"/>
          </a:solidFill>
          <a:ln w="12700">
            <a:solidFill>
              <a:srgbClr val="D5DBE7"/>
            </a:solidFill>
            <a:prstDash val="solid"/>
          </a:ln>
        </p:spPr>
      </p:sp>
      <p:sp>
        <p:nvSpPr>
          <p:cNvPr id="30" name="text"/>
          <p:cNvSpPr txBox="1"/>
          <p:nvPr/>
        </p:nvSpPr>
        <p:spPr>
          <a:xfrm>
            <a:off x="548640" y="5367528"/>
            <a:ext cx="1463040" cy="384048"/>
          </a:xfrm>
          <a:prstGeom prst="rect">
            <a:avLst/>
          </a:prstGeom>
          <a:noFill/>
          <a:ln/>
        </p:spPr>
        <p:txBody>
          <a:bodyPr wrap="square" lIns="0" tIns="0" rIns="0" bIns="0" rtlCol="0" anchor="ctr"/>
          <a:lstStyle/>
          <a:p>
            <a:pPr indent="0" marL="0">
              <a:buNone/>
            </a:pPr>
            <a:r>
              <a:rPr lang="en-US" sz="1200" b="1" dirty="0">
                <a:solidFill>
                  <a:schemeClr val="tx2"/>
                </a:solidFill>
              </a:rPr>
              <a:t>Delivery</a:t>
            </a:r>
            <a:endParaRPr lang="en-US" sz="1200" dirty="0"/>
          </a:p>
        </p:txBody>
      </p:sp>
      <p:sp>
        <p:nvSpPr>
          <p:cNvPr id="31" name="text"/>
          <p:cNvSpPr txBox="1"/>
          <p:nvPr/>
        </p:nvSpPr>
        <p:spPr>
          <a:xfrm>
            <a:off x="2057400" y="5367528"/>
            <a:ext cx="3611880" cy="384048"/>
          </a:xfrm>
          <a:prstGeom prst="rect">
            <a:avLst/>
          </a:prstGeom>
          <a:noFill/>
          <a:ln/>
        </p:spPr>
        <p:txBody>
          <a:bodyPr wrap="square" lIns="0" tIns="0" rIns="0" bIns="0" rtlCol="0" anchor="ctr"/>
          <a:lstStyle/>
          <a:p>
            <a:pPr indent="0" marL="0">
              <a:buNone/>
            </a:pPr>
            <a:r>
              <a:rPr lang="en-US" sz="1100" dirty="0">
                <a:solidFill>
                  <a:schemeClr val="tx1"/>
                </a:solidFill>
              </a:rPr>
              <a:t>Warehouse table, BI model, CRM embed, API, file, filing</a:t>
            </a:r>
            <a:endParaRPr lang="en-US" sz="1100" dirty="0"/>
          </a:p>
        </p:txBody>
      </p:sp>
      <p:sp>
        <p:nvSpPr>
          <p:cNvPr id="32" name="panel"/>
          <p:cNvSpPr/>
          <p:nvPr/>
        </p:nvSpPr>
        <p:spPr>
          <a:xfrm>
            <a:off x="548640" y="6199632"/>
            <a:ext cx="5120640" cy="9144"/>
          </a:xfrm>
          <a:prstGeom prst="rect">
            <a:avLst/>
          </a:prstGeom>
          <a:solidFill>
            <a:srgbClr val="D5DBE7"/>
          </a:solidFill>
          <a:ln w="12700">
            <a:solidFill>
              <a:srgbClr val="D5DBE7"/>
            </a:solidFill>
            <a:prstDash val="solid"/>
          </a:ln>
        </p:spPr>
      </p:sp>
      <p:sp>
        <p:nvSpPr>
          <p:cNvPr id="33" name="text"/>
          <p:cNvSpPr txBox="1"/>
          <p:nvPr/>
        </p:nvSpPr>
        <p:spPr>
          <a:xfrm>
            <a:off x="548640" y="5815584"/>
            <a:ext cx="1463040" cy="384048"/>
          </a:xfrm>
          <a:prstGeom prst="rect">
            <a:avLst/>
          </a:prstGeom>
          <a:noFill/>
          <a:ln/>
        </p:spPr>
        <p:txBody>
          <a:bodyPr wrap="square" lIns="0" tIns="0" rIns="0" bIns="0" rtlCol="0" anchor="ctr"/>
          <a:lstStyle/>
          <a:p>
            <a:pPr indent="0" marL="0">
              <a:buNone/>
            </a:pPr>
            <a:r>
              <a:rPr lang="en-US" sz="1200" b="1" dirty="0">
                <a:solidFill>
                  <a:schemeClr val="tx2"/>
                </a:solidFill>
              </a:rPr>
              <a:t>Quality</a:t>
            </a:r>
            <a:endParaRPr lang="en-US" sz="1200" dirty="0"/>
          </a:p>
        </p:txBody>
      </p:sp>
      <p:sp>
        <p:nvSpPr>
          <p:cNvPr id="34" name="text"/>
          <p:cNvSpPr txBox="1"/>
          <p:nvPr/>
        </p:nvSpPr>
        <p:spPr>
          <a:xfrm>
            <a:off x="2057400" y="5815584"/>
            <a:ext cx="3611880" cy="384048"/>
          </a:xfrm>
          <a:prstGeom prst="rect">
            <a:avLst/>
          </a:prstGeom>
          <a:noFill/>
          <a:ln/>
        </p:spPr>
        <p:txBody>
          <a:bodyPr wrap="square" lIns="0" tIns="0" rIns="0" bIns="0" rtlCol="0" anchor="ctr"/>
          <a:lstStyle/>
          <a:p>
            <a:pPr indent="0" marL="0">
              <a:buNone/>
            </a:pPr>
            <a:r>
              <a:rPr lang="en-US" sz="1100" dirty="0">
                <a:solidFill>
                  <a:schemeClr val="tx1"/>
                </a:solidFill>
              </a:rPr>
              <a:t>3 to 6 testable rules: the certification criteria</a:t>
            </a:r>
            <a:endParaRPr lang="en-US" sz="1100" dirty="0"/>
          </a:p>
        </p:txBody>
      </p:sp>
      <p:sp>
        <p:nvSpPr>
          <p:cNvPr id="35" name="card"/>
          <p:cNvSpPr/>
          <p:nvPr/>
        </p:nvSpPr>
        <p:spPr>
          <a:xfrm>
            <a:off x="6126480" y="1417320"/>
            <a:ext cx="5513832" cy="4800600"/>
          </a:xfrm>
          <a:prstGeom prst="roundRect">
            <a:avLst>
              <a:gd name="adj" fmla="val 1524"/>
            </a:avLst>
          </a:prstGeom>
          <a:solidFill>
            <a:schemeClr val="bg2"/>
          </a:solidFill>
          <a:ln w="12700">
            <a:solidFill>
              <a:schemeClr val="bg2"/>
            </a:solidFill>
            <a:prstDash val="solid"/>
          </a:ln>
        </p:spPr>
      </p:sp>
      <p:sp>
        <p:nvSpPr>
          <p:cNvPr id="36" name="panel"/>
          <p:cNvSpPr/>
          <p:nvPr/>
        </p:nvSpPr>
        <p:spPr>
          <a:xfrm>
            <a:off x="6126480" y="1417320"/>
            <a:ext cx="5513832" cy="640080"/>
          </a:xfrm>
          <a:prstGeom prst="rect">
            <a:avLst/>
          </a:prstGeom>
          <a:solidFill>
            <a:schemeClr val="accent2"/>
          </a:solidFill>
          <a:ln w="12700">
            <a:solidFill>
              <a:schemeClr val="accent2"/>
            </a:solidFill>
            <a:prstDash val="solid"/>
          </a:ln>
        </p:spPr>
      </p:sp>
      <p:sp>
        <p:nvSpPr>
          <p:cNvPr id="37" name="text"/>
          <p:cNvSpPr txBox="1"/>
          <p:nvPr/>
        </p:nvSpPr>
        <p:spPr>
          <a:xfrm>
            <a:off x="6327648" y="1490472"/>
            <a:ext cx="5111496" cy="502920"/>
          </a:xfrm>
          <a:prstGeom prst="rect">
            <a:avLst/>
          </a:prstGeom>
          <a:noFill/>
          <a:ln/>
        </p:spPr>
        <p:txBody>
          <a:bodyPr wrap="square" lIns="0" tIns="0" rIns="0" bIns="0" rtlCol="0" anchor="ctr"/>
          <a:lstStyle/>
          <a:p>
            <a:pPr indent="0" marL="0">
              <a:buNone/>
            </a:pPr>
            <a:r>
              <a:rPr lang="en-US" sz="1500" b="1" dirty="0">
                <a:solidFill>
                  <a:schemeClr val="bg1"/>
                </a:solidFill>
              </a:rPr>
              <a:t>DP-303  Advice Plans &amp; Recommendations</a:t>
            </a:r>
            <a:endParaRPr lang="en-US" sz="1500" dirty="0"/>
          </a:p>
        </p:txBody>
      </p:sp>
      <p:sp>
        <p:nvSpPr>
          <p:cNvPr id="38" name="text"/>
          <p:cNvSpPr txBox="1"/>
          <p:nvPr/>
        </p:nvSpPr>
        <p:spPr>
          <a:xfrm>
            <a:off x="6327648" y="2194560"/>
            <a:ext cx="1143000" cy="548640"/>
          </a:xfrm>
          <a:prstGeom prst="rect">
            <a:avLst/>
          </a:prstGeom>
          <a:noFill/>
          <a:ln/>
        </p:spPr>
        <p:txBody>
          <a:bodyPr wrap="square" lIns="0" tIns="0" rIns="0" bIns="0" rtlCol="0" anchor="t"/>
          <a:lstStyle/>
          <a:p>
            <a:pPr indent="0" marL="0">
              <a:buNone/>
            </a:pPr>
            <a:r>
              <a:rPr lang="en-US" sz="1050" b="1" dirty="0">
                <a:solidFill>
                  <a:schemeClr val="accent2"/>
                </a:solidFill>
              </a:rPr>
              <a:t>Tier, type</a:t>
            </a:r>
            <a:endParaRPr lang="en-US" sz="1050" dirty="0"/>
          </a:p>
        </p:txBody>
      </p:sp>
      <p:sp>
        <p:nvSpPr>
          <p:cNvPr id="39" name="text"/>
          <p:cNvSpPr txBox="1"/>
          <p:nvPr/>
        </p:nvSpPr>
        <p:spPr>
          <a:xfrm>
            <a:off x="7498080" y="2194560"/>
            <a:ext cx="3941064" cy="384048"/>
          </a:xfrm>
          <a:prstGeom prst="rect">
            <a:avLst/>
          </a:prstGeom>
          <a:noFill/>
          <a:ln/>
        </p:spPr>
        <p:txBody>
          <a:bodyPr wrap="square" lIns="0" tIns="0" rIns="0" bIns="0" rtlCol="0" anchor="t"/>
          <a:lstStyle/>
          <a:p>
            <a:pPr indent="0" marL="0">
              <a:buNone/>
            </a:pPr>
            <a:r>
              <a:rPr lang="en-US" sz="950" dirty="0">
                <a:solidFill>
                  <a:schemeClr val="tx1"/>
                </a:solidFill>
              </a:rPr>
              <a:t>Foundational; Master &amp; Reference. Owner: Head of Advice. Domain 45.</a:t>
            </a:r>
            <a:endParaRPr lang="en-US" sz="950" dirty="0"/>
          </a:p>
        </p:txBody>
      </p:sp>
      <p:sp>
        <p:nvSpPr>
          <p:cNvPr id="40" name="text"/>
          <p:cNvSpPr txBox="1"/>
          <p:nvPr/>
        </p:nvSpPr>
        <p:spPr>
          <a:xfrm>
            <a:off x="6327648" y="2578608"/>
            <a:ext cx="1143000" cy="548640"/>
          </a:xfrm>
          <a:prstGeom prst="rect">
            <a:avLst/>
          </a:prstGeom>
          <a:noFill/>
          <a:ln/>
        </p:spPr>
        <p:txBody>
          <a:bodyPr wrap="square" lIns="0" tIns="0" rIns="0" bIns="0" rtlCol="0" anchor="t"/>
          <a:lstStyle/>
          <a:p>
            <a:pPr indent="0" marL="0">
              <a:buNone/>
            </a:pPr>
            <a:r>
              <a:rPr lang="en-US" sz="1050" b="1" dirty="0">
                <a:solidFill>
                  <a:schemeClr val="accent2"/>
                </a:solidFill>
              </a:rPr>
              <a:t>Grain</a:t>
            </a:r>
            <a:endParaRPr lang="en-US" sz="1050" dirty="0"/>
          </a:p>
        </p:txBody>
      </p:sp>
      <p:sp>
        <p:nvSpPr>
          <p:cNvPr id="41" name="text"/>
          <p:cNvSpPr txBox="1"/>
          <p:nvPr/>
        </p:nvSpPr>
        <p:spPr>
          <a:xfrm>
            <a:off x="7498080" y="2578608"/>
            <a:ext cx="3941064" cy="658368"/>
          </a:xfrm>
          <a:prstGeom prst="rect">
            <a:avLst/>
          </a:prstGeom>
          <a:noFill/>
          <a:ln/>
        </p:spPr>
        <p:txBody>
          <a:bodyPr wrap="square" lIns="0" tIns="0" rIns="0" bIns="0" rtlCol="0" anchor="t"/>
          <a:lstStyle/>
          <a:p>
            <a:pPr indent="0" marL="0">
              <a:buNone/>
            </a:pPr>
            <a:r>
              <a:rPr lang="en-US" sz="950" dirty="0">
                <a:solidFill>
                  <a:schemeClr val="tx1"/>
                </a:solidFill>
              </a:rPr>
              <a:t>Recommendation x client x presented timestamp, with the best-interest evidence components, rollover analysis and PTE 2020-02 documentation beneath it; plus engagements, goals, plans and versions</a:t>
            </a:r>
            <a:endParaRPr lang="en-US" sz="950" dirty="0"/>
          </a:p>
        </p:txBody>
      </p:sp>
      <p:sp>
        <p:nvSpPr>
          <p:cNvPr id="42" name="text"/>
          <p:cNvSpPr txBox="1"/>
          <p:nvPr/>
        </p:nvSpPr>
        <p:spPr>
          <a:xfrm>
            <a:off x="6327648" y="3236976"/>
            <a:ext cx="1143000" cy="548640"/>
          </a:xfrm>
          <a:prstGeom prst="rect">
            <a:avLst/>
          </a:prstGeom>
          <a:noFill/>
          <a:ln/>
        </p:spPr>
        <p:txBody>
          <a:bodyPr wrap="square" lIns="0" tIns="0" rIns="0" bIns="0" rtlCol="0" anchor="t"/>
          <a:lstStyle/>
          <a:p>
            <a:pPr indent="0" marL="0">
              <a:buNone/>
            </a:pPr>
            <a:r>
              <a:rPr lang="en-US" sz="1050" b="1" dirty="0">
                <a:solidFill>
                  <a:schemeClr val="accent2"/>
                </a:solidFill>
              </a:rPr>
              <a:t>Measures</a:t>
            </a:r>
            <a:endParaRPr lang="en-US" sz="1050" dirty="0"/>
          </a:p>
        </p:txBody>
      </p:sp>
      <p:sp>
        <p:nvSpPr>
          <p:cNvPr id="43" name="text"/>
          <p:cNvSpPr txBox="1"/>
          <p:nvPr/>
        </p:nvSpPr>
        <p:spPr>
          <a:xfrm>
            <a:off x="7498080" y="3236976"/>
            <a:ext cx="3941064" cy="731520"/>
          </a:xfrm>
          <a:prstGeom prst="rect">
            <a:avLst/>
          </a:prstGeom>
          <a:noFill/>
          <a:ln/>
        </p:spPr>
        <p:txBody>
          <a:bodyPr wrap="square" lIns="0" tIns="0" rIns="0" bIns="0" rtlCol="0" anchor="t"/>
          <a:lstStyle/>
          <a:p>
            <a:pPr indent="0" marL="0">
              <a:buNone/>
            </a:pPr>
            <a:r>
              <a:rPr lang="en-US" sz="950" dirty="0">
                <a:solidFill>
                  <a:schemeClr val="tx1"/>
                </a:solidFill>
              </a:rPr>
              <a:t>Recommendations Presented; Recommendation Acceptance Rate; Accepted Recommendations Implemented %; Unattested Evidence Components; Rollover Recommendations Without Analysis; Rule 3a-4 Annual Contacts On Time %</a:t>
            </a:r>
            <a:endParaRPr lang="en-US" sz="950" dirty="0"/>
          </a:p>
        </p:txBody>
      </p:sp>
      <p:sp>
        <p:nvSpPr>
          <p:cNvPr id="44" name="text"/>
          <p:cNvSpPr txBox="1"/>
          <p:nvPr/>
        </p:nvSpPr>
        <p:spPr>
          <a:xfrm>
            <a:off x="6327648" y="3968496"/>
            <a:ext cx="1143000" cy="548640"/>
          </a:xfrm>
          <a:prstGeom prst="rect">
            <a:avLst/>
          </a:prstGeom>
          <a:noFill/>
          <a:ln/>
        </p:spPr>
        <p:txBody>
          <a:bodyPr wrap="square" lIns="0" tIns="0" rIns="0" bIns="0" rtlCol="0" anchor="t"/>
          <a:lstStyle/>
          <a:p>
            <a:pPr indent="0" marL="0">
              <a:buNone/>
            </a:pPr>
            <a:r>
              <a:rPr lang="en-US" sz="1050" b="1" dirty="0">
                <a:solidFill>
                  <a:schemeClr val="accent2"/>
                </a:solidFill>
              </a:rPr>
              <a:t>Reads</a:t>
            </a:r>
            <a:endParaRPr lang="en-US" sz="1050" dirty="0"/>
          </a:p>
        </p:txBody>
      </p:sp>
      <p:sp>
        <p:nvSpPr>
          <p:cNvPr id="45" name="text"/>
          <p:cNvSpPr txBox="1"/>
          <p:nvPr/>
        </p:nvSpPr>
        <p:spPr>
          <a:xfrm>
            <a:off x="7498080" y="3968496"/>
            <a:ext cx="3941064" cy="658368"/>
          </a:xfrm>
          <a:prstGeom prst="rect">
            <a:avLst/>
          </a:prstGeom>
          <a:noFill/>
          <a:ln/>
        </p:spPr>
        <p:txBody>
          <a:bodyPr wrap="square" lIns="0" tIns="0" rIns="0" bIns="0" rtlCol="0" anchor="t"/>
          <a:lstStyle/>
          <a:p>
            <a:pPr indent="0" marL="0">
              <a:buNone/>
            </a:pPr>
            <a:r>
              <a:rPr lang="en-US" sz="950" dirty="0">
                <a:solidFill>
                  <a:schemeClr val="tx1"/>
                </a:solidFill>
              </a:rPr>
              <a:t>45 Recommendation, Rationale, Alternative, Best Interest Evidence, Rollover Analysis, PTE 2020-02 Documentation; 02 Party and Investor Profile (by version); 03 Advisor; 24 Capital Market Assumption Set</a:t>
            </a:r>
            <a:endParaRPr lang="en-US" sz="950" dirty="0"/>
          </a:p>
        </p:txBody>
      </p:sp>
      <p:sp>
        <p:nvSpPr>
          <p:cNvPr id="46" name="text"/>
          <p:cNvSpPr txBox="1"/>
          <p:nvPr/>
        </p:nvSpPr>
        <p:spPr>
          <a:xfrm>
            <a:off x="6327648" y="4626864"/>
            <a:ext cx="1143000" cy="548640"/>
          </a:xfrm>
          <a:prstGeom prst="rect">
            <a:avLst/>
          </a:prstGeom>
          <a:noFill/>
          <a:ln/>
        </p:spPr>
        <p:txBody>
          <a:bodyPr wrap="square" lIns="0" tIns="0" rIns="0" bIns="0" rtlCol="0" anchor="t"/>
          <a:lstStyle/>
          <a:p>
            <a:pPr indent="0" marL="0">
              <a:buNone/>
            </a:pPr>
            <a:r>
              <a:rPr lang="en-US" sz="1050" b="1" dirty="0">
                <a:solidFill>
                  <a:schemeClr val="accent2"/>
                </a:solidFill>
              </a:rPr>
              <a:t>Depends on</a:t>
            </a:r>
            <a:endParaRPr lang="en-US" sz="1050" dirty="0"/>
          </a:p>
        </p:txBody>
      </p:sp>
      <p:sp>
        <p:nvSpPr>
          <p:cNvPr id="47" name="text"/>
          <p:cNvSpPr txBox="1"/>
          <p:nvPr/>
        </p:nvSpPr>
        <p:spPr>
          <a:xfrm>
            <a:off x="7498080" y="4626864"/>
            <a:ext cx="3941064" cy="457200"/>
          </a:xfrm>
          <a:prstGeom prst="rect">
            <a:avLst/>
          </a:prstGeom>
          <a:noFill/>
          <a:ln/>
        </p:spPr>
        <p:txBody>
          <a:bodyPr wrap="square" lIns="0" tIns="0" rIns="0" bIns="0" rtlCol="0" anchor="t"/>
          <a:lstStyle/>
          <a:p>
            <a:pPr indent="0" marL="0">
              <a:buNone/>
            </a:pPr>
            <a:r>
              <a:rPr lang="en-US" sz="950" dirty="0">
                <a:solidFill>
                  <a:schemeClr val="tx1"/>
                </a:solidFill>
              </a:rPr>
              <a:t>DP-240 party and household master, DP-093 account master, DP-004 offerings, DP-009 advisor organization, DP-530 capital market assumptions; nine foundational products in all</a:t>
            </a:r>
            <a:endParaRPr lang="en-US" sz="950" dirty="0"/>
          </a:p>
        </p:txBody>
      </p:sp>
      <p:sp>
        <p:nvSpPr>
          <p:cNvPr id="48" name="text"/>
          <p:cNvSpPr txBox="1"/>
          <p:nvPr/>
        </p:nvSpPr>
        <p:spPr>
          <a:xfrm>
            <a:off x="6327648" y="5084064"/>
            <a:ext cx="1143000" cy="548640"/>
          </a:xfrm>
          <a:prstGeom prst="rect">
            <a:avLst/>
          </a:prstGeom>
          <a:noFill/>
          <a:ln/>
        </p:spPr>
        <p:txBody>
          <a:bodyPr wrap="square" lIns="0" tIns="0" rIns="0" bIns="0" rtlCol="0" anchor="t"/>
          <a:lstStyle/>
          <a:p>
            <a:pPr indent="0" marL="0">
              <a:buNone/>
            </a:pPr>
            <a:r>
              <a:rPr lang="en-US" sz="1050" b="1" dirty="0">
                <a:solidFill>
                  <a:schemeClr val="accent2"/>
                </a:solidFill>
              </a:rPr>
              <a:t>Quality rule 4</a:t>
            </a:r>
            <a:endParaRPr lang="en-US" sz="1050" dirty="0"/>
          </a:p>
        </p:txBody>
      </p:sp>
      <p:sp>
        <p:nvSpPr>
          <p:cNvPr id="49" name="text"/>
          <p:cNvSpPr txBox="1"/>
          <p:nvPr/>
        </p:nvSpPr>
        <p:spPr>
          <a:xfrm>
            <a:off x="7498080" y="5084064"/>
            <a:ext cx="3941064" cy="713232"/>
          </a:xfrm>
          <a:prstGeom prst="rect">
            <a:avLst/>
          </a:prstGeom>
          <a:noFill/>
          <a:ln/>
        </p:spPr>
        <p:txBody>
          <a:bodyPr wrap="square" lIns="0" tIns="0" rIns="0" bIns="0" rtlCol="0" anchor="t"/>
          <a:lstStyle/>
          <a:p>
            <a:pPr indent="0" marL="0">
              <a:buNone/>
            </a:pPr>
            <a:r>
              <a:rPr lang="en-US" sz="950" dirty="0">
                <a:solidFill>
                  <a:schemeClr val="tx1"/>
                </a:solidFill>
              </a:rPr>
              <a:t>Type, capacity, source, profile version, presented timestamp and client decision populated on every presented recommendation; fiduciary status basis, reasons and completion date on every completed rollover analysis; the three PTE 2020-02 delivery dates and the attestation on every analysis presented as an acknowledged fiduciary</a:t>
            </a:r>
            <a:endParaRPr lang="en-US" sz="950" dirty="0"/>
          </a:p>
        </p:txBody>
      </p:sp>
      <p:sp>
        <p:nvSpPr>
          <p:cNvPr id="50" name="text"/>
          <p:cNvSpPr txBox="1"/>
          <p:nvPr/>
        </p:nvSpPr>
        <p:spPr>
          <a:xfrm>
            <a:off x="6327648" y="5797296"/>
            <a:ext cx="1143000" cy="548640"/>
          </a:xfrm>
          <a:prstGeom prst="rect">
            <a:avLst/>
          </a:prstGeom>
          <a:noFill/>
          <a:ln/>
        </p:spPr>
        <p:txBody>
          <a:bodyPr wrap="square" lIns="0" tIns="0" rIns="0" bIns="0" rtlCol="0" anchor="t"/>
          <a:lstStyle/>
          <a:p>
            <a:pPr indent="0" marL="0">
              <a:buNone/>
            </a:pPr>
            <a:r>
              <a:rPr lang="en-US" sz="1050" b="1" dirty="0">
                <a:solidFill>
                  <a:schemeClr val="accent2"/>
                </a:solidFill>
              </a:rPr>
              <a:t>Protection</a:t>
            </a:r>
            <a:endParaRPr lang="en-US" sz="1050" dirty="0"/>
          </a:p>
        </p:txBody>
      </p:sp>
      <p:sp>
        <p:nvSpPr>
          <p:cNvPr id="51" name="text"/>
          <p:cNvSpPr txBox="1"/>
          <p:nvPr/>
        </p:nvSpPr>
        <p:spPr>
          <a:xfrm>
            <a:off x="7498080" y="5797296"/>
            <a:ext cx="3941064" cy="457200"/>
          </a:xfrm>
          <a:prstGeom prst="rect">
            <a:avLst/>
          </a:prstGeom>
          <a:noFill/>
          <a:ln/>
        </p:spPr>
        <p:txBody>
          <a:bodyPr wrap="square" lIns="0" tIns="0" rIns="0" bIns="0" rtlCol="0" anchor="t"/>
          <a:lstStyle/>
          <a:p>
            <a:pPr indent="0" marL="0">
              <a:buNone/>
            </a:pPr>
            <a:r>
              <a:rPr lang="en-US" sz="950" dirty="0">
                <a:solidFill>
                  <a:schemeClr val="tx1"/>
                </a:solidFill>
              </a:rPr>
              <a:t>Confidential - Personal Data at account and client grain; the BI model carries counts by dimension only</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Two tiers, five types: the type tells you what the product is for</a:t>
            </a:r>
            <a:endParaRPr lang="en-US" sz="2800" dirty="0"/>
          </a:p>
        </p:txBody>
      </p:sp>
      <p:sp>
        <p:nvSpPr>
          <p:cNvPr id="4" name="panel"/>
          <p:cNvSpPr/>
          <p:nvPr/>
        </p:nvSpPr>
        <p:spPr>
          <a:xfrm>
            <a:off x="548640" y="1417320"/>
            <a:ext cx="11094415" cy="502920"/>
          </a:xfrm>
          <a:prstGeom prst="rect">
            <a:avLst/>
          </a:prstGeom>
          <a:solidFill>
            <a:schemeClr val="accent2"/>
          </a:solidFill>
          <a:ln w="12700">
            <a:solidFill>
              <a:schemeClr val="accent2"/>
            </a:solidFill>
            <a:prstDash val="solid"/>
          </a:ln>
        </p:spPr>
      </p:sp>
      <p:sp>
        <p:nvSpPr>
          <p:cNvPr id="5" name="text"/>
          <p:cNvSpPr txBox="1"/>
          <p:nvPr/>
        </p:nvSpPr>
        <p:spPr>
          <a:xfrm>
            <a:off x="777240" y="1417320"/>
            <a:ext cx="10637215" cy="502920"/>
          </a:xfrm>
          <a:prstGeom prst="rect">
            <a:avLst/>
          </a:prstGeom>
          <a:noFill/>
          <a:ln/>
        </p:spPr>
        <p:txBody>
          <a:bodyPr wrap="square" lIns="0" tIns="0" rIns="0" bIns="0" rtlCol="0" anchor="ctr"/>
          <a:lstStyle/>
          <a:p>
            <a:pPr indent="0" marL="0">
              <a:buNone/>
            </a:pPr>
            <a:r>
              <a:rPr lang="en-US" sz="1300" b="1" dirty="0">
                <a:solidFill>
                  <a:schemeClr val="bg1"/>
                </a:solidFill>
              </a:rPr>
              <a:t>FOUNDATIONAL   conform one core thing once; depend only on each other; no cycles</a:t>
            </a:r>
            <a:endParaRPr lang="en-US" sz="1300" dirty="0"/>
          </a:p>
        </p:txBody>
      </p:sp>
      <p:sp>
        <p:nvSpPr>
          <p:cNvPr id="6" name="panel"/>
          <p:cNvSpPr/>
          <p:nvPr/>
        </p:nvSpPr>
        <p:spPr>
          <a:xfrm>
            <a:off x="548640" y="3886200"/>
            <a:ext cx="11094415" cy="502920"/>
          </a:xfrm>
          <a:prstGeom prst="rect">
            <a:avLst/>
          </a:prstGeom>
          <a:solidFill>
            <a:schemeClr val="accent3"/>
          </a:solidFill>
          <a:ln w="12700">
            <a:solidFill>
              <a:schemeClr val="accent3"/>
            </a:solidFill>
            <a:prstDash val="solid"/>
          </a:ln>
        </p:spPr>
      </p:sp>
      <p:sp>
        <p:nvSpPr>
          <p:cNvPr id="7" name="text"/>
          <p:cNvSpPr txBox="1"/>
          <p:nvPr/>
        </p:nvSpPr>
        <p:spPr>
          <a:xfrm>
            <a:off x="777240" y="3886200"/>
            <a:ext cx="10637215" cy="502920"/>
          </a:xfrm>
          <a:prstGeom prst="rect">
            <a:avLst/>
          </a:prstGeom>
          <a:noFill/>
          <a:ln/>
        </p:spPr>
        <p:txBody>
          <a:bodyPr wrap="square" lIns="0" tIns="0" rIns="0" bIns="0" rtlCol="0" anchor="ctr"/>
          <a:lstStyle/>
          <a:p>
            <a:pPr indent="0" marL="0">
              <a:buNone/>
            </a:pPr>
            <a:r>
              <a:rPr lang="en-US" sz="1300" b="1" dirty="0">
                <a:solidFill>
                  <a:schemeClr val="bg1"/>
                </a:solidFill>
              </a:rPr>
              <a:t>CONSUMER-ALIGNED   shaped around one function's decisions; built from foundational products</a:t>
            </a:r>
            <a:endParaRPr lang="en-US" sz="1300" dirty="0"/>
          </a:p>
        </p:txBody>
      </p:sp>
      <p:sp>
        <p:nvSpPr>
          <p:cNvPr id="8" name="card"/>
          <p:cNvSpPr/>
          <p:nvPr/>
        </p:nvSpPr>
        <p:spPr>
          <a:xfrm>
            <a:off x="548640" y="2057400"/>
            <a:ext cx="2194560" cy="1691640"/>
          </a:xfrm>
          <a:prstGeom prst="roundRect">
            <a:avLst>
              <a:gd name="adj" fmla="val 4324"/>
            </a:avLst>
          </a:prstGeom>
          <a:solidFill>
            <a:schemeClr val="bg2"/>
          </a:solidFill>
          <a:ln w="12700">
            <a:solidFill>
              <a:schemeClr val="bg2"/>
            </a:solidFill>
            <a:prstDash val="solid"/>
          </a:ln>
        </p:spPr>
      </p:sp>
      <p:sp>
        <p:nvSpPr>
          <p:cNvPr id="9" name="text"/>
          <p:cNvSpPr txBox="1"/>
          <p:nvPr/>
        </p:nvSpPr>
        <p:spPr>
          <a:xfrm>
            <a:off x="685800" y="2167128"/>
            <a:ext cx="1920240" cy="320040"/>
          </a:xfrm>
          <a:prstGeom prst="rect">
            <a:avLst/>
          </a:prstGeom>
          <a:noFill/>
          <a:ln/>
        </p:spPr>
        <p:txBody>
          <a:bodyPr wrap="square" lIns="0" tIns="0" rIns="0" bIns="0" rtlCol="0" anchor="t"/>
          <a:lstStyle/>
          <a:p>
            <a:pPr indent="0" marL="0">
              <a:buNone/>
            </a:pPr>
            <a:r>
              <a:rPr lang="en-US" sz="1300" b="1" dirty="0">
                <a:solidFill>
                  <a:schemeClr val="tx2"/>
                </a:solidFill>
              </a:rPr>
              <a:t>Master &amp; Reference</a:t>
            </a:r>
            <a:endParaRPr lang="en-US" sz="1300" dirty="0"/>
          </a:p>
        </p:txBody>
      </p:sp>
      <p:sp>
        <p:nvSpPr>
          <p:cNvPr id="10" name="text"/>
          <p:cNvSpPr txBox="1"/>
          <p:nvPr/>
        </p:nvSpPr>
        <p:spPr>
          <a:xfrm>
            <a:off x="685800" y="2487168"/>
            <a:ext cx="1920240" cy="502920"/>
          </a:xfrm>
          <a:prstGeom prst="rect">
            <a:avLst/>
          </a:prstGeom>
          <a:noFill/>
          <a:ln/>
        </p:spPr>
        <p:txBody>
          <a:bodyPr wrap="square" lIns="0" tIns="0" rIns="0" bIns="0" rtlCol="0" anchor="t"/>
          <a:lstStyle/>
          <a:p>
            <a:pPr indent="0" marL="0">
              <a:buNone/>
            </a:pPr>
            <a:r>
              <a:rPr lang="en-US" sz="1050" dirty="0">
                <a:solidFill>
                  <a:schemeClr val="accent6"/>
                </a:solidFill>
              </a:rPr>
              <a:t>Golden records and hierarchies, with history</a:t>
            </a:r>
            <a:endParaRPr lang="en-US" sz="1050" dirty="0"/>
          </a:p>
        </p:txBody>
      </p:sp>
      <p:sp>
        <p:nvSpPr>
          <p:cNvPr id="11" name="text"/>
          <p:cNvSpPr txBox="1"/>
          <p:nvPr/>
        </p:nvSpPr>
        <p:spPr>
          <a:xfrm>
            <a:off x="685800" y="2971800"/>
            <a:ext cx="1920240" cy="777240"/>
          </a:xfrm>
          <a:prstGeom prst="rect">
            <a:avLst/>
          </a:prstGeom>
          <a:noFill/>
          <a:ln/>
        </p:spPr>
        <p:txBody>
          <a:bodyPr wrap="square" lIns="0" tIns="0" rIns="0" bIns="0" rtlCol="0" anchor="t"/>
          <a:lstStyle/>
          <a:p>
            <a:pPr indent="0" marL="0">
              <a:buNone/>
            </a:pPr>
            <a:r>
              <a:rPr lang="en-US" sz="850" dirty="0">
                <a:solidFill>
                  <a:schemeClr val="tx1"/>
                </a:solidFill>
              </a:rPr>
              <a:t>DP-240 Client, Household &amp; Party Master</a:t>
            </a:r>
            <a:endParaRPr lang="en-US" sz="850" dirty="0"/>
          </a:p>
          <a:p>
            <a:pPr indent="0" marL="0">
              <a:buNone/>
            </a:pPr>
            <a:r>
              <a:rPr lang="en-US" sz="850" dirty="0">
                <a:solidFill>
                  <a:schemeClr val="tx1"/>
                </a:solidFill>
              </a:rPr>
              <a:t>DP-093 Account Master</a:t>
            </a:r>
            <a:endParaRPr lang="en-US" sz="850" dirty="0"/>
          </a:p>
          <a:p>
            <a:pPr indent="0" marL="0">
              <a:buNone/>
            </a:pPr>
            <a:r>
              <a:rPr lang="en-US" sz="850" dirty="0">
                <a:solidFill>
                  <a:schemeClr val="tx1"/>
                </a:solidFill>
              </a:rPr>
              <a:t>DP-303 Advice Plans &amp; Recommendations</a:t>
            </a:r>
            <a:endParaRPr lang="en-US" sz="850" dirty="0"/>
          </a:p>
        </p:txBody>
      </p:sp>
      <p:sp>
        <p:nvSpPr>
          <p:cNvPr id="12" name="card"/>
          <p:cNvSpPr/>
          <p:nvPr/>
        </p:nvSpPr>
        <p:spPr>
          <a:xfrm>
            <a:off x="2880360" y="2057400"/>
            <a:ext cx="2194560" cy="1691640"/>
          </a:xfrm>
          <a:prstGeom prst="roundRect">
            <a:avLst>
              <a:gd name="adj" fmla="val 4324"/>
            </a:avLst>
          </a:prstGeom>
          <a:solidFill>
            <a:schemeClr val="bg2"/>
          </a:solidFill>
          <a:ln w="12700">
            <a:solidFill>
              <a:schemeClr val="bg2"/>
            </a:solidFill>
            <a:prstDash val="solid"/>
          </a:ln>
        </p:spPr>
      </p:sp>
      <p:sp>
        <p:nvSpPr>
          <p:cNvPr id="13" name="text"/>
          <p:cNvSpPr txBox="1"/>
          <p:nvPr/>
        </p:nvSpPr>
        <p:spPr>
          <a:xfrm>
            <a:off x="3017520" y="2167128"/>
            <a:ext cx="1920240" cy="320040"/>
          </a:xfrm>
          <a:prstGeom prst="rect">
            <a:avLst/>
          </a:prstGeom>
          <a:noFill/>
          <a:ln/>
        </p:spPr>
        <p:txBody>
          <a:bodyPr wrap="square" lIns="0" tIns="0" rIns="0" bIns="0" rtlCol="0" anchor="t"/>
          <a:lstStyle/>
          <a:p>
            <a:pPr indent="0" marL="0">
              <a:buNone/>
            </a:pPr>
            <a:r>
              <a:rPr lang="en-US" sz="1300" b="1" dirty="0">
                <a:solidFill>
                  <a:schemeClr val="tx2"/>
                </a:solidFill>
              </a:rPr>
              <a:t>Conformed Facts</a:t>
            </a:r>
            <a:endParaRPr lang="en-US" sz="1300" dirty="0"/>
          </a:p>
        </p:txBody>
      </p:sp>
      <p:sp>
        <p:nvSpPr>
          <p:cNvPr id="14" name="text"/>
          <p:cNvSpPr txBox="1"/>
          <p:nvPr/>
        </p:nvSpPr>
        <p:spPr>
          <a:xfrm>
            <a:off x="3017520" y="2487168"/>
            <a:ext cx="1920240" cy="502920"/>
          </a:xfrm>
          <a:prstGeom prst="rect">
            <a:avLst/>
          </a:prstGeom>
          <a:noFill/>
          <a:ln/>
        </p:spPr>
        <p:txBody>
          <a:bodyPr wrap="square" lIns="0" tIns="0" rIns="0" bIns="0" rtlCol="0" anchor="t"/>
          <a:lstStyle/>
          <a:p>
            <a:pPr indent="0" marL="0">
              <a:buNone/>
            </a:pPr>
            <a:r>
              <a:rPr lang="en-US" sz="1050" dirty="0">
                <a:solidFill>
                  <a:schemeClr val="accent6"/>
                </a:solidFill>
              </a:rPr>
              <a:t>Reconciled, attributed transactions and time series</a:t>
            </a:r>
            <a:endParaRPr lang="en-US" sz="1050" dirty="0"/>
          </a:p>
        </p:txBody>
      </p:sp>
      <p:sp>
        <p:nvSpPr>
          <p:cNvPr id="15" name="text"/>
          <p:cNvSpPr txBox="1"/>
          <p:nvPr/>
        </p:nvSpPr>
        <p:spPr>
          <a:xfrm>
            <a:off x="3017520" y="2971800"/>
            <a:ext cx="1920240" cy="777240"/>
          </a:xfrm>
          <a:prstGeom prst="rect">
            <a:avLst/>
          </a:prstGeom>
          <a:noFill/>
          <a:ln/>
        </p:spPr>
        <p:txBody>
          <a:bodyPr wrap="square" lIns="0" tIns="0" rIns="0" bIns="0" rtlCol="0" anchor="t"/>
          <a:lstStyle/>
          <a:p>
            <a:pPr indent="0" marL="0">
              <a:buNone/>
            </a:pPr>
            <a:r>
              <a:rPr lang="en-US" sz="850" dirty="0">
                <a:solidFill>
                  <a:schemeClr val="tx1"/>
                </a:solidFill>
              </a:rPr>
              <a:t>DP-300 Client Holdings, Lots &amp; Cost Basis</a:t>
            </a:r>
            <a:endParaRPr lang="en-US" sz="850" dirty="0"/>
          </a:p>
          <a:p>
            <a:pPr indent="0" marL="0">
              <a:buNone/>
            </a:pPr>
            <a:r>
              <a:rPr lang="en-US" sz="850" dirty="0">
                <a:solidFill>
                  <a:schemeClr val="tx1"/>
                </a:solidFill>
              </a:rPr>
              <a:t>DP-006 Client Flow Transactions</a:t>
            </a:r>
            <a:endParaRPr lang="en-US" sz="850" dirty="0"/>
          </a:p>
          <a:p>
            <a:pPr indent="0" marL="0">
              <a:buNone/>
            </a:pPr>
            <a:r>
              <a:rPr lang="en-US" sz="850" dirty="0">
                <a:solidFill>
                  <a:schemeClr val="tx1"/>
                </a:solidFill>
              </a:rPr>
              <a:t>DP-008 Client Assets &amp; Net New Assets</a:t>
            </a:r>
            <a:endParaRPr lang="en-US" sz="850" dirty="0"/>
          </a:p>
        </p:txBody>
      </p:sp>
      <p:sp>
        <p:nvSpPr>
          <p:cNvPr id="16" name="card"/>
          <p:cNvSpPr/>
          <p:nvPr/>
        </p:nvSpPr>
        <p:spPr>
          <a:xfrm>
            <a:off x="548640" y="4526280"/>
            <a:ext cx="3566160" cy="1691640"/>
          </a:xfrm>
          <a:prstGeom prst="roundRect">
            <a:avLst>
              <a:gd name="adj" fmla="val 4324"/>
            </a:avLst>
          </a:prstGeom>
          <a:solidFill>
            <a:schemeClr val="bg2"/>
          </a:solidFill>
          <a:ln w="12700">
            <a:solidFill>
              <a:schemeClr val="bg2"/>
            </a:solidFill>
            <a:prstDash val="solid"/>
          </a:ln>
        </p:spPr>
      </p:sp>
      <p:sp>
        <p:nvSpPr>
          <p:cNvPr id="17" name="text"/>
          <p:cNvSpPr txBox="1"/>
          <p:nvPr/>
        </p:nvSpPr>
        <p:spPr>
          <a:xfrm>
            <a:off x="685800" y="4636008"/>
            <a:ext cx="3291840" cy="320040"/>
          </a:xfrm>
          <a:prstGeom prst="rect">
            <a:avLst/>
          </a:prstGeom>
          <a:noFill/>
          <a:ln/>
        </p:spPr>
        <p:txBody>
          <a:bodyPr wrap="square" lIns="0" tIns="0" rIns="0" bIns="0" rtlCol="0" anchor="t"/>
          <a:lstStyle/>
          <a:p>
            <a:pPr indent="0" marL="0">
              <a:buNone/>
            </a:pPr>
            <a:r>
              <a:rPr lang="en-US" sz="1300" b="1" dirty="0">
                <a:solidFill>
                  <a:schemeClr val="tx2"/>
                </a:solidFill>
              </a:rPr>
              <a:t>Analytical</a:t>
            </a:r>
            <a:endParaRPr lang="en-US" sz="1300" dirty="0"/>
          </a:p>
        </p:txBody>
      </p:sp>
      <p:sp>
        <p:nvSpPr>
          <p:cNvPr id="18" name="text"/>
          <p:cNvSpPr txBox="1"/>
          <p:nvPr/>
        </p:nvSpPr>
        <p:spPr>
          <a:xfrm>
            <a:off x="685800" y="4956048"/>
            <a:ext cx="3291840" cy="502920"/>
          </a:xfrm>
          <a:prstGeom prst="rect">
            <a:avLst/>
          </a:prstGeom>
          <a:noFill/>
          <a:ln/>
        </p:spPr>
        <p:txBody>
          <a:bodyPr wrap="square" lIns="0" tIns="0" rIns="0" bIns="0" rtlCol="0" anchor="t"/>
          <a:lstStyle/>
          <a:p>
            <a:pPr indent="0" marL="0">
              <a:buNone/>
            </a:pPr>
            <a:r>
              <a:rPr lang="en-US" sz="1050" dirty="0">
                <a:solidFill>
                  <a:schemeClr val="accent6"/>
                </a:solidFill>
              </a:rPr>
              <a:t>Aggregated measures, scores and comparisons for management decisions</a:t>
            </a:r>
            <a:endParaRPr lang="en-US" sz="1050" dirty="0"/>
          </a:p>
        </p:txBody>
      </p:sp>
      <p:sp>
        <p:nvSpPr>
          <p:cNvPr id="19" name="text"/>
          <p:cNvSpPr txBox="1"/>
          <p:nvPr/>
        </p:nvSpPr>
        <p:spPr>
          <a:xfrm>
            <a:off x="685800" y="5440680"/>
            <a:ext cx="3291840" cy="777240"/>
          </a:xfrm>
          <a:prstGeom prst="rect">
            <a:avLst/>
          </a:prstGeom>
          <a:noFill/>
          <a:ln/>
        </p:spPr>
        <p:txBody>
          <a:bodyPr wrap="square" lIns="0" tIns="0" rIns="0" bIns="0" rtlCol="0" anchor="t"/>
          <a:lstStyle/>
          <a:p>
            <a:pPr indent="0" marL="0">
              <a:buNone/>
            </a:pPr>
            <a:r>
              <a:rPr lang="en-US" sz="850" dirty="0">
                <a:solidFill>
                  <a:schemeClr val="tx1"/>
                </a:solidFill>
              </a:rPr>
              <a:t>DP-320 Household 360</a:t>
            </a:r>
            <a:endParaRPr lang="en-US" sz="850" dirty="0"/>
          </a:p>
          <a:p>
            <a:pPr indent="0" marL="0">
              <a:buNone/>
            </a:pPr>
            <a:r>
              <a:rPr lang="en-US" sz="850" dirty="0">
                <a:solidFill>
                  <a:schemeClr val="tx1"/>
                </a:solidFill>
              </a:rPr>
              <a:t>DP-333 Advice Funnel &amp; Conversion</a:t>
            </a:r>
            <a:endParaRPr lang="en-US" sz="850" dirty="0"/>
          </a:p>
          <a:p>
            <a:pPr indent="0" marL="0">
              <a:buNone/>
            </a:pPr>
            <a:r>
              <a:rPr lang="en-US" sz="850" dirty="0">
                <a:solidFill>
                  <a:schemeClr val="tx1"/>
                </a:solidFill>
              </a:rPr>
              <a:t>DP-491 Net New Assets by Channel, Offering &amp; Advisor</a:t>
            </a:r>
            <a:endParaRPr lang="en-US" sz="850" dirty="0"/>
          </a:p>
        </p:txBody>
      </p:sp>
      <p:sp>
        <p:nvSpPr>
          <p:cNvPr id="20" name="card"/>
          <p:cNvSpPr/>
          <p:nvPr/>
        </p:nvSpPr>
        <p:spPr>
          <a:xfrm>
            <a:off x="4297680" y="4526280"/>
            <a:ext cx="3566160" cy="1691640"/>
          </a:xfrm>
          <a:prstGeom prst="roundRect">
            <a:avLst>
              <a:gd name="adj" fmla="val 4324"/>
            </a:avLst>
          </a:prstGeom>
          <a:solidFill>
            <a:schemeClr val="bg2"/>
          </a:solidFill>
          <a:ln w="12700">
            <a:solidFill>
              <a:schemeClr val="bg2"/>
            </a:solidFill>
            <a:prstDash val="solid"/>
          </a:ln>
        </p:spPr>
      </p:sp>
      <p:sp>
        <p:nvSpPr>
          <p:cNvPr id="21" name="text"/>
          <p:cNvSpPr txBox="1"/>
          <p:nvPr/>
        </p:nvSpPr>
        <p:spPr>
          <a:xfrm>
            <a:off x="4434840" y="4636008"/>
            <a:ext cx="3291840" cy="320040"/>
          </a:xfrm>
          <a:prstGeom prst="rect">
            <a:avLst/>
          </a:prstGeom>
          <a:noFill/>
          <a:ln/>
        </p:spPr>
        <p:txBody>
          <a:bodyPr wrap="square" lIns="0" tIns="0" rIns="0" bIns="0" rtlCol="0" anchor="t"/>
          <a:lstStyle/>
          <a:p>
            <a:pPr indent="0" marL="0">
              <a:buNone/>
            </a:pPr>
            <a:r>
              <a:rPr lang="en-US" sz="1300" b="1" dirty="0">
                <a:solidFill>
                  <a:schemeClr val="tx2"/>
                </a:solidFill>
              </a:rPr>
              <a:t>Operational</a:t>
            </a:r>
            <a:endParaRPr lang="en-US" sz="1300" dirty="0"/>
          </a:p>
        </p:txBody>
      </p:sp>
      <p:sp>
        <p:nvSpPr>
          <p:cNvPr id="22" name="text"/>
          <p:cNvSpPr txBox="1"/>
          <p:nvPr/>
        </p:nvSpPr>
        <p:spPr>
          <a:xfrm>
            <a:off x="4434840" y="4956048"/>
            <a:ext cx="3291840" cy="502920"/>
          </a:xfrm>
          <a:prstGeom prst="rect">
            <a:avLst/>
          </a:prstGeom>
          <a:noFill/>
          <a:ln/>
        </p:spPr>
        <p:txBody>
          <a:bodyPr wrap="square" lIns="0" tIns="0" rIns="0" bIns="0" rtlCol="0" anchor="t"/>
          <a:lstStyle/>
          <a:p>
            <a:pPr indent="0" marL="0">
              <a:buNone/>
            </a:pPr>
            <a:r>
              <a:rPr lang="en-US" sz="1050" dirty="0">
                <a:solidFill>
                  <a:schemeClr val="accent6"/>
                </a:solidFill>
              </a:rPr>
              <a:t>Data delivered into a workflow to drive daily action</a:t>
            </a:r>
            <a:endParaRPr lang="en-US" sz="1050" dirty="0"/>
          </a:p>
        </p:txBody>
      </p:sp>
      <p:sp>
        <p:nvSpPr>
          <p:cNvPr id="23" name="text"/>
          <p:cNvSpPr txBox="1"/>
          <p:nvPr/>
        </p:nvSpPr>
        <p:spPr>
          <a:xfrm>
            <a:off x="4434840" y="5440680"/>
            <a:ext cx="3291840" cy="777240"/>
          </a:xfrm>
          <a:prstGeom prst="rect">
            <a:avLst/>
          </a:prstGeom>
          <a:noFill/>
          <a:ln/>
        </p:spPr>
        <p:txBody>
          <a:bodyPr wrap="square" lIns="0" tIns="0" rIns="0" bIns="0" rtlCol="0" anchor="t"/>
          <a:lstStyle/>
          <a:p>
            <a:pPr indent="0" marL="0">
              <a:buNone/>
            </a:pPr>
            <a:r>
              <a:rPr lang="en-US" sz="850" dirty="0">
                <a:solidFill>
                  <a:schemeClr val="tx1"/>
                </a:solidFill>
              </a:rPr>
              <a:t>DP-340 Advisor Client Action Worklist</a:t>
            </a:r>
            <a:endParaRPr lang="en-US" sz="850" dirty="0"/>
          </a:p>
          <a:p>
            <a:pPr indent="0" marL="0">
              <a:buNone/>
            </a:pPr>
            <a:r>
              <a:rPr lang="en-US" sz="850" dirty="0">
                <a:solidFill>
                  <a:schemeClr val="tx1"/>
                </a:solidFill>
              </a:rPr>
              <a:t>DP-336 Advice Review Cadence &amp; Plan Currency</a:t>
            </a:r>
            <a:endParaRPr lang="en-US" sz="850" dirty="0"/>
          </a:p>
          <a:p>
            <a:pPr indent="0" marL="0">
              <a:buNone/>
            </a:pPr>
            <a:r>
              <a:rPr lang="en-US" sz="850" dirty="0">
                <a:solidFill>
                  <a:schemeClr val="tx1"/>
                </a:solidFill>
              </a:rPr>
              <a:t>DP-398 Principal Review Queue</a:t>
            </a:r>
            <a:endParaRPr lang="en-US" sz="850" dirty="0"/>
          </a:p>
        </p:txBody>
      </p:sp>
      <p:sp>
        <p:nvSpPr>
          <p:cNvPr id="24" name="card"/>
          <p:cNvSpPr/>
          <p:nvPr/>
        </p:nvSpPr>
        <p:spPr>
          <a:xfrm>
            <a:off x="8046720" y="4526280"/>
            <a:ext cx="3566160" cy="1691640"/>
          </a:xfrm>
          <a:prstGeom prst="roundRect">
            <a:avLst>
              <a:gd name="adj" fmla="val 4324"/>
            </a:avLst>
          </a:prstGeom>
          <a:solidFill>
            <a:schemeClr val="bg2"/>
          </a:solidFill>
          <a:ln w="12700">
            <a:solidFill>
              <a:schemeClr val="bg2"/>
            </a:solidFill>
            <a:prstDash val="solid"/>
          </a:ln>
        </p:spPr>
      </p:sp>
      <p:sp>
        <p:nvSpPr>
          <p:cNvPr id="25" name="text"/>
          <p:cNvSpPr txBox="1"/>
          <p:nvPr/>
        </p:nvSpPr>
        <p:spPr>
          <a:xfrm>
            <a:off x="8183880" y="4636008"/>
            <a:ext cx="3291840" cy="320040"/>
          </a:xfrm>
          <a:prstGeom prst="rect">
            <a:avLst/>
          </a:prstGeom>
          <a:noFill/>
          <a:ln/>
        </p:spPr>
        <p:txBody>
          <a:bodyPr wrap="square" lIns="0" tIns="0" rIns="0" bIns="0" rtlCol="0" anchor="t"/>
          <a:lstStyle/>
          <a:p>
            <a:pPr indent="0" marL="0">
              <a:buNone/>
            </a:pPr>
            <a:r>
              <a:rPr lang="en-US" sz="1300" b="1" dirty="0">
                <a:solidFill>
                  <a:schemeClr val="tx2"/>
                </a:solidFill>
              </a:rPr>
              <a:t>Regulatory &amp; Control</a:t>
            </a:r>
            <a:endParaRPr lang="en-US" sz="1300" dirty="0"/>
          </a:p>
        </p:txBody>
      </p:sp>
      <p:sp>
        <p:nvSpPr>
          <p:cNvPr id="26" name="text"/>
          <p:cNvSpPr txBox="1"/>
          <p:nvPr/>
        </p:nvSpPr>
        <p:spPr>
          <a:xfrm>
            <a:off x="8183880" y="4956048"/>
            <a:ext cx="3291840" cy="502920"/>
          </a:xfrm>
          <a:prstGeom prst="rect">
            <a:avLst/>
          </a:prstGeom>
          <a:noFill/>
          <a:ln/>
        </p:spPr>
        <p:txBody>
          <a:bodyPr wrap="square" lIns="0" tIns="0" rIns="0" bIns="0" rtlCol="0" anchor="t"/>
          <a:lstStyle/>
          <a:p>
            <a:pPr indent="0" marL="0">
              <a:buNone/>
            </a:pPr>
            <a:r>
              <a:rPr lang="en-US" sz="1050" dirty="0">
                <a:solidFill>
                  <a:schemeClr val="accent6"/>
                </a:solidFill>
              </a:rPr>
              <a:t>Evidence and monitoring that demonstrate compliance or control</a:t>
            </a:r>
            <a:endParaRPr lang="en-US" sz="1050" dirty="0"/>
          </a:p>
        </p:txBody>
      </p:sp>
      <p:sp>
        <p:nvSpPr>
          <p:cNvPr id="27" name="text"/>
          <p:cNvSpPr txBox="1"/>
          <p:nvPr/>
        </p:nvSpPr>
        <p:spPr>
          <a:xfrm>
            <a:off x="8183880" y="5440680"/>
            <a:ext cx="3291840" cy="777240"/>
          </a:xfrm>
          <a:prstGeom prst="rect">
            <a:avLst/>
          </a:prstGeom>
          <a:noFill/>
          <a:ln/>
        </p:spPr>
        <p:txBody>
          <a:bodyPr wrap="square" lIns="0" tIns="0" rIns="0" bIns="0" rtlCol="0" anchor="t"/>
          <a:lstStyle/>
          <a:p>
            <a:pPr indent="0" marL="0">
              <a:buNone/>
            </a:pPr>
            <a:r>
              <a:rPr lang="en-US" sz="850" dirty="0">
                <a:solidFill>
                  <a:schemeClr val="tx1"/>
                </a:solidFill>
              </a:rPr>
              <a:t>DP-334 Recommendation Evidence (Reg BI File)</a:t>
            </a:r>
            <a:endParaRPr lang="en-US" sz="850" dirty="0"/>
          </a:p>
          <a:p>
            <a:pPr indent="0" marL="0">
              <a:buNone/>
            </a:pPr>
            <a:r>
              <a:rPr lang="en-US" sz="850" dirty="0">
                <a:solidFill>
                  <a:schemeClr val="tx1"/>
                </a:solidFill>
              </a:rPr>
              <a:t>DP-335 Rollover Recommendations &amp; PTE 2020-02 Evidence</a:t>
            </a:r>
            <a:endParaRPr lang="en-US" sz="850" dirty="0"/>
          </a:p>
          <a:p>
            <a:pPr indent="0" marL="0">
              <a:buNone/>
            </a:pPr>
            <a:r>
              <a:rPr lang="en-US" sz="850" dirty="0">
                <a:solidFill>
                  <a:schemeClr val="tx1"/>
                </a:solidFill>
              </a:rPr>
              <a:t>DP-346 Fee Billing Accuracy &amp; Custody-Rule Evidence</a:t>
            </a:r>
            <a:endParaRPr lang="en-US" sz="850" dirty="0"/>
          </a:p>
        </p:txBody>
      </p:sp>
      <p:sp>
        <p:nvSpPr>
          <p:cNvPr id="28" name="card"/>
          <p:cNvSpPr/>
          <p:nvPr/>
        </p:nvSpPr>
        <p:spPr>
          <a:xfrm>
            <a:off x="5303520" y="2057400"/>
            <a:ext cx="6339535" cy="1691640"/>
          </a:xfrm>
          <a:prstGeom prst="roundRect">
            <a:avLst>
              <a:gd name="adj" fmla="val 4324"/>
            </a:avLst>
          </a:prstGeom>
          <a:solidFill>
            <a:schemeClr val="tx2"/>
          </a:solidFill>
          <a:ln w="12700">
            <a:solidFill>
              <a:schemeClr val="tx2"/>
            </a:solidFill>
            <a:prstDash val="solid"/>
          </a:ln>
        </p:spPr>
      </p:sp>
      <p:sp>
        <p:nvSpPr>
          <p:cNvPr id="29" name="text"/>
          <p:cNvSpPr txBox="1"/>
          <p:nvPr/>
        </p:nvSpPr>
        <p:spPr>
          <a:xfrm>
            <a:off x="5532120" y="2194560"/>
            <a:ext cx="5943600" cy="274320"/>
          </a:xfrm>
          <a:prstGeom prst="rect">
            <a:avLst/>
          </a:prstGeom>
          <a:noFill/>
          <a:ln/>
        </p:spPr>
        <p:txBody>
          <a:bodyPr wrap="square" lIns="0" tIns="0" rIns="0" bIns="0" rtlCol="0" anchor="t"/>
          <a:lstStyle/>
          <a:p>
            <a:pPr indent="0" marL="0">
              <a:buNone/>
            </a:pPr>
            <a:r>
              <a:rPr lang="en-US" sz="1000" b="1" dirty="0">
                <a:solidFill>
                  <a:schemeClr val="accent4"/>
                </a:solidFill>
              </a:rPr>
              <a:t>HOW TO READ THE CATALOG</a:t>
            </a:r>
            <a:endParaRPr lang="en-US" sz="1000" dirty="0"/>
          </a:p>
        </p:txBody>
      </p:sp>
      <p:sp>
        <p:nvSpPr>
          <p:cNvPr id="30" name="text"/>
          <p:cNvSpPr txBox="1"/>
          <p:nvPr/>
        </p:nvSpPr>
        <p:spPr>
          <a:xfrm>
            <a:off x="5532120" y="2496312"/>
            <a:ext cx="5882335" cy="1188720"/>
          </a:xfrm>
          <a:prstGeom prst="rect">
            <a:avLst/>
          </a:prstGeom>
          <a:noFill/>
          <a:ln/>
        </p:spPr>
        <p:txBody>
          <a:bodyPr wrap="square" lIns="0" tIns="0" rIns="0" bIns="0" rtlCol="0" anchor="t"/>
          <a:lstStyle/>
          <a:p>
            <a:pPr indent="0" marL="0">
              <a:buNone/>
            </a:pPr>
            <a:r>
              <a:rPr lang="en-US" sz="1100" dirty="0">
                <a:solidFill>
                  <a:schemeClr val="bg1"/>
                </a:solidFill>
              </a:rPr>
              <a:t>Master &amp; Reference and Conformed Facts appear in both tiers. Analytical, Operational and Regulatory &amp; Control are consumer-aligned, and the type decides the delivery: Analytical to the BI semantic model, Excel and AI assistants; Operational into CRM, worklists, billing and supervision queues; Regulatory &amp; Control into evidence packs and filings.</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Certified numbers: defined in one product, read everywhere else</a:t>
            </a:r>
            <a:endParaRPr lang="en-US" sz="28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931920"/>
                <a:gridCol w="2743200"/>
                <a:gridCol w="2011680"/>
                <a:gridCol w="2404872"/>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Certified family</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Defined once in</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Owner role</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Read by, for example</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indent="0" marL="0">
                        <a:buNone/>
                      </a:pPr>
                      <a:r>
                        <a:rPr lang="en-US" sz="1000" dirty="0">
                          <a:solidFill>
                            <a:srgbClr val="1A2B3C"/>
                          </a:solidFill>
                          <a:latin typeface="Arial" pitchFamily="34" charset="0"/>
                          <a:ea typeface="Arial" pitchFamily="34" charset="-122"/>
                          <a:cs typeface="Arial" pitchFamily="34" charset="-120"/>
                        </a:rPr>
                        <a:t>Client Assets (beginning, ending, average); Net New Assets; Advised Assets; Net Inter-Channel Transfers; Households, Clients, Funded Accounts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DP-008 Client Assets &amp; Net New Assets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Head of Client &amp; Channel Analytics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Household 360, executive scorecard, NNA by channel and advisor, rollover capture, cost to serve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2B3C"/>
                          </a:solidFill>
                          <a:latin typeface="Arial" pitchFamily="34" charset="0"/>
                          <a:ea typeface="Arial" pitchFamily="34" charset="-122"/>
                          <a:cs typeface="Arial" pitchFamily="34" charset="-120"/>
                        </a:rPr>
                        <a:t>Firm AUM and its three slices (own funds at NAV, managed accounts, institutional)</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DP-241 Firm AUM &amp; Client Assets Reconciliation</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Head of Fund Accounting</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Board pack, Form ADV, fund board reporting</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indent="0" marL="0">
                        <a:buNone/>
                      </a:pPr>
                      <a:r>
                        <a:rPr lang="en-US" sz="1000" dirty="0">
                          <a:solidFill>
                            <a:srgbClr val="1A2B3C"/>
                          </a:solidFill>
                          <a:latin typeface="Arial" pitchFamily="34" charset="0"/>
                          <a:ea typeface="Arial" pitchFamily="34" charset="-122"/>
                          <a:cs typeface="Arial" pitchFamily="34" charset="-120"/>
                        </a:rPr>
                        <a:t>Fund and class net assets, NAV per share, shares outstanding, expense ratios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DP-165 NAV &amp; Fund Financials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Head of Fund Accounting</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Fund 360, product P&amp;L, shareholder reports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2B3C"/>
                          </a:solidFill>
                          <a:latin typeface="Arial" pitchFamily="34" charset="0"/>
                          <a:ea typeface="Arial" pitchFamily="34" charset="-122"/>
                          <a:cs typeface="Arial" pitchFamily="34" charset="-120"/>
                        </a:rPr>
                        <a:t>Official and benchmark returns; Personal Rate of Return (time- and money-weighted, account and household)</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DP-145 Official Returns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Head of Performance Measurement</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Goal progress, household performance view, client statements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indent="0" marL="0">
                        <a:buNone/>
                      </a:pPr>
                      <a:r>
                        <a:rPr lang="en-US" sz="1000" dirty="0">
                          <a:solidFill>
                            <a:srgbClr val="1A2B3C"/>
                          </a:solidFill>
                          <a:latin typeface="Arial" pitchFamily="34" charset="0"/>
                          <a:ea typeface="Arial" pitchFamily="34" charset="-122"/>
                          <a:cs typeface="Arial" pitchFamily="34" charset="-120"/>
                        </a:rPr>
                        <a:t>Gross and net fee revenue; effective net fee rate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DP-012 Client Fee Revenue (reconciles to DP-191)</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Head of Client Revenue Finance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Client economics, pricing realization, profitability</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2B3C"/>
                          </a:solidFill>
                          <a:latin typeface="Arial" pitchFamily="34" charset="0"/>
                          <a:ea typeface="Arial" pitchFamily="34" charset="-122"/>
                          <a:cs typeface="Arial" pitchFamily="34" charset="-120"/>
                        </a:rPr>
                        <a:t>Revenue, operating expense, operating income; headcount and FTE; pay</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DP-191 General Ledger Journals &amp; Balances; DP-192 Employee &amp; Position Master; DP-198 Pay, Payroll &amp; Benefits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Finance Controller; Head of HR Data &amp; People Analytics; Head of Reward</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1000" dirty="0">
                          <a:solidFill>
                            <a:srgbClr val="1A2B3C"/>
                          </a:solidFill>
                          <a:latin typeface="Arial" pitchFamily="34" charset="0"/>
                          <a:ea typeface="Arial" pitchFamily="34" charset="-122"/>
                          <a:cs typeface="Arial" pitchFamily="34" charset="-120"/>
                        </a:rPr>
                        <a:t>Cost to serve, advisor capacity, management reporting</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bl>
          </a:graphicData>
        </a:graphic>
      </p:graphicFrame>
      <p:sp>
        <p:nvSpPr>
          <p:cNvPr id="5" name="card"/>
          <p:cNvSpPr/>
          <p:nvPr/>
        </p:nvSpPr>
        <p:spPr>
          <a:xfrm>
            <a:off x="548640" y="5532120"/>
            <a:ext cx="11094415" cy="594360"/>
          </a:xfrm>
          <a:prstGeom prst="roundRect">
            <a:avLst>
              <a:gd name="adj" fmla="val 12308"/>
            </a:avLst>
          </a:prstGeom>
          <a:solidFill>
            <a:schemeClr val="tx2"/>
          </a:solidFill>
          <a:ln w="12700">
            <a:solidFill>
              <a:schemeClr val="tx2"/>
            </a:solidFill>
            <a:prstDash val="solid"/>
          </a:ln>
        </p:spPr>
      </p:sp>
      <p:sp>
        <p:nvSpPr>
          <p:cNvPr id="6" name="text"/>
          <p:cNvSpPr txBox="1"/>
          <p:nvPr/>
        </p:nvSpPr>
        <p:spPr>
          <a:xfrm>
            <a:off x="822960" y="5532120"/>
            <a:ext cx="10545775" cy="594360"/>
          </a:xfrm>
          <a:prstGeom prst="rect">
            <a:avLst/>
          </a:prstGeom>
          <a:noFill/>
          <a:ln/>
        </p:spPr>
        <p:txBody>
          <a:bodyPr wrap="square" lIns="0" tIns="0" rIns="0" bIns="0" rtlCol="0" anchor="ctr"/>
          <a:lstStyle/>
          <a:p>
            <a:pPr indent="0" marL="0">
              <a:buNone/>
            </a:pPr>
            <a:r>
              <a:rPr lang="en-US" sz="1200" dirty="0">
                <a:solidFill>
                  <a:schemeClr val="bg1"/>
                </a:solidFill>
              </a:rPr>
              <a:t>Rule: a consumer product never recalculates a certified number. It reads it from the owning product and names it. Client Assets and Firm AUM overlap by design and are reconciled in DP-241, never summed.</a:t>
            </a:r>
            <a:endParaRPr lang="en-US" sz="12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From a published metric back to its meaning, in four hops</a:t>
            </a:r>
            <a:endParaRPr lang="en-US" sz="2800" dirty="0"/>
          </a:p>
        </p:txBody>
      </p:sp>
      <p:sp>
        <p:nvSpPr>
          <p:cNvPr id="4" name="panel"/>
          <p:cNvSpPr/>
          <p:nvPr/>
        </p:nvSpPr>
        <p:spPr>
          <a:xfrm>
            <a:off x="548640" y="1417320"/>
            <a:ext cx="1463040" cy="960120"/>
          </a:xfrm>
          <a:prstGeom prst="rect">
            <a:avLst/>
          </a:prstGeom>
          <a:solidFill>
            <a:schemeClr val="accent4"/>
          </a:solidFill>
          <a:ln w="12700">
            <a:solidFill>
              <a:schemeClr val="accent4"/>
            </a:solidFill>
            <a:prstDash val="solid"/>
          </a:ln>
        </p:spPr>
      </p:sp>
      <p:sp>
        <p:nvSpPr>
          <p:cNvPr id="5" name="text"/>
          <p:cNvSpPr txBox="1"/>
          <p:nvPr/>
        </p:nvSpPr>
        <p:spPr>
          <a:xfrm>
            <a:off x="685800" y="1417320"/>
            <a:ext cx="1280160" cy="960120"/>
          </a:xfrm>
          <a:prstGeom prst="rect">
            <a:avLst/>
          </a:prstGeom>
          <a:noFill/>
          <a:ln/>
        </p:spPr>
        <p:txBody>
          <a:bodyPr wrap="square" lIns="0" tIns="0" rIns="0" bIns="0" rtlCol="0" anchor="ctr"/>
          <a:lstStyle/>
          <a:p>
            <a:pPr indent="0" marL="0">
              <a:buNone/>
            </a:pPr>
            <a:r>
              <a:rPr lang="en-US" sz="1400" b="1" dirty="0">
                <a:solidFill>
                  <a:schemeClr val="bg1"/>
                </a:solidFill>
              </a:rPr>
              <a:t>Metric</a:t>
            </a:r>
            <a:endParaRPr lang="en-US" sz="1400" dirty="0"/>
          </a:p>
        </p:txBody>
      </p:sp>
      <p:sp>
        <p:nvSpPr>
          <p:cNvPr id="6" name="card"/>
          <p:cNvSpPr/>
          <p:nvPr/>
        </p:nvSpPr>
        <p:spPr>
          <a:xfrm>
            <a:off x="2103120" y="1417320"/>
            <a:ext cx="4937760" cy="960120"/>
          </a:xfrm>
          <a:prstGeom prst="roundRect">
            <a:avLst>
              <a:gd name="adj" fmla="val 7619"/>
            </a:avLst>
          </a:prstGeom>
          <a:solidFill>
            <a:schemeClr val="bg2"/>
          </a:solidFill>
          <a:ln w="12700">
            <a:solidFill>
              <a:schemeClr val="bg2"/>
            </a:solidFill>
            <a:prstDash val="solid"/>
          </a:ln>
        </p:spPr>
      </p:sp>
      <p:sp>
        <p:nvSpPr>
          <p:cNvPr id="7" name="text"/>
          <p:cNvSpPr txBox="1"/>
          <p:nvPr/>
        </p:nvSpPr>
        <p:spPr>
          <a:xfrm>
            <a:off x="2286000" y="1490472"/>
            <a:ext cx="4572000" cy="365760"/>
          </a:xfrm>
          <a:prstGeom prst="rect">
            <a:avLst/>
          </a:prstGeom>
          <a:noFill/>
          <a:ln/>
        </p:spPr>
        <p:txBody>
          <a:bodyPr wrap="square" lIns="0" tIns="0" rIns="0" bIns="0" rtlCol="0" anchor="t"/>
          <a:lstStyle/>
          <a:p>
            <a:pPr indent="0" marL="0">
              <a:buNone/>
            </a:pPr>
            <a:r>
              <a:rPr lang="en-US" sz="1250" b="1" dirty="0">
                <a:solidFill>
                  <a:schemeClr val="tx2"/>
                </a:solidFill>
              </a:rPr>
              <a:t>Net New Assets, by channel</a:t>
            </a:r>
            <a:endParaRPr lang="en-US" sz="1250" dirty="0"/>
          </a:p>
        </p:txBody>
      </p:sp>
      <p:sp>
        <p:nvSpPr>
          <p:cNvPr id="8" name="text"/>
          <p:cNvSpPr txBox="1"/>
          <p:nvPr/>
        </p:nvSpPr>
        <p:spPr>
          <a:xfrm>
            <a:off x="2286000" y="1874520"/>
            <a:ext cx="4572000" cy="502920"/>
          </a:xfrm>
          <a:prstGeom prst="rect">
            <a:avLst/>
          </a:prstGeom>
          <a:noFill/>
          <a:ln/>
        </p:spPr>
        <p:txBody>
          <a:bodyPr wrap="square" lIns="0" tIns="0" rIns="0" bIns="0" rtlCol="0" anchor="t"/>
          <a:lstStyle/>
          <a:p>
            <a:pPr indent="0" marL="0">
              <a:buNone/>
            </a:pPr>
            <a:r>
              <a:rPr lang="en-US" sz="1050" dirty="0">
                <a:solidFill>
                  <a:schemeClr val="tx1"/>
                </a:solidFill>
              </a:rPr>
              <a:t>Semantic model SM-20 Client Assets &amp; Flows: defined once, with the grain, the filters and the access rule</a:t>
            </a:r>
            <a:endParaRPr lang="en-US" sz="1050" dirty="0"/>
          </a:p>
        </p:txBody>
      </p:sp>
      <p:sp>
        <p:nvSpPr>
          <p:cNvPr id="9" name="arrow"/>
          <p:cNvSpPr/>
          <p:nvPr/>
        </p:nvSpPr>
        <p:spPr>
          <a:xfrm>
            <a:off x="1097280" y="2377440"/>
            <a:ext cx="365760" cy="182880"/>
          </a:xfrm>
          <a:prstGeom prst="downArrow">
            <a:avLst/>
          </a:prstGeom>
          <a:solidFill>
            <a:schemeClr val="accent6"/>
          </a:solidFill>
          <a:ln w="12700">
            <a:solidFill>
              <a:srgbClr val="333333"/>
            </a:solidFill>
            <a:prstDash val="solid"/>
          </a:ln>
        </p:spPr>
      </p:sp>
      <p:sp>
        <p:nvSpPr>
          <p:cNvPr id="10" name="panel"/>
          <p:cNvSpPr/>
          <p:nvPr/>
        </p:nvSpPr>
        <p:spPr>
          <a:xfrm>
            <a:off x="548640" y="2560320"/>
            <a:ext cx="1463040" cy="960120"/>
          </a:xfrm>
          <a:prstGeom prst="rect">
            <a:avLst/>
          </a:prstGeom>
          <a:solidFill>
            <a:schemeClr val="accent3"/>
          </a:solidFill>
          <a:ln w="12700">
            <a:solidFill>
              <a:schemeClr val="accent3"/>
            </a:solidFill>
            <a:prstDash val="solid"/>
          </a:ln>
        </p:spPr>
      </p:sp>
      <p:sp>
        <p:nvSpPr>
          <p:cNvPr id="11" name="text"/>
          <p:cNvSpPr txBox="1"/>
          <p:nvPr/>
        </p:nvSpPr>
        <p:spPr>
          <a:xfrm>
            <a:off x="685800" y="2560320"/>
            <a:ext cx="1280160" cy="960120"/>
          </a:xfrm>
          <a:prstGeom prst="rect">
            <a:avLst/>
          </a:prstGeom>
          <a:noFill/>
          <a:ln/>
        </p:spPr>
        <p:txBody>
          <a:bodyPr wrap="square" lIns="0" tIns="0" rIns="0" bIns="0" rtlCol="0" anchor="ctr"/>
          <a:lstStyle/>
          <a:p>
            <a:pPr indent="0" marL="0">
              <a:buNone/>
            </a:pPr>
            <a:r>
              <a:rPr lang="en-US" sz="1400" b="1" dirty="0">
                <a:solidFill>
                  <a:schemeClr val="bg1"/>
                </a:solidFill>
              </a:rPr>
              <a:t>Measure</a:t>
            </a:r>
            <a:endParaRPr lang="en-US" sz="1400" dirty="0"/>
          </a:p>
        </p:txBody>
      </p:sp>
      <p:sp>
        <p:nvSpPr>
          <p:cNvPr id="12" name="card"/>
          <p:cNvSpPr/>
          <p:nvPr/>
        </p:nvSpPr>
        <p:spPr>
          <a:xfrm>
            <a:off x="2103120" y="2560320"/>
            <a:ext cx="4937760" cy="960120"/>
          </a:xfrm>
          <a:prstGeom prst="roundRect">
            <a:avLst>
              <a:gd name="adj" fmla="val 7619"/>
            </a:avLst>
          </a:prstGeom>
          <a:solidFill>
            <a:schemeClr val="bg2"/>
          </a:solidFill>
          <a:ln w="12700">
            <a:solidFill>
              <a:schemeClr val="bg2"/>
            </a:solidFill>
            <a:prstDash val="solid"/>
          </a:ln>
        </p:spPr>
      </p:sp>
      <p:sp>
        <p:nvSpPr>
          <p:cNvPr id="13" name="text"/>
          <p:cNvSpPr txBox="1"/>
          <p:nvPr/>
        </p:nvSpPr>
        <p:spPr>
          <a:xfrm>
            <a:off x="2286000" y="2633472"/>
            <a:ext cx="4572000" cy="365760"/>
          </a:xfrm>
          <a:prstGeom prst="rect">
            <a:avLst/>
          </a:prstGeom>
          <a:noFill/>
          <a:ln/>
        </p:spPr>
        <p:txBody>
          <a:bodyPr wrap="square" lIns="0" tIns="0" rIns="0" bIns="0" rtlCol="0" anchor="t"/>
          <a:lstStyle/>
          <a:p>
            <a:pPr indent="0" marL="0">
              <a:buNone/>
            </a:pPr>
            <a:r>
              <a:rPr lang="en-US" sz="1250" b="1" dirty="0">
                <a:solidFill>
                  <a:schemeClr val="tx2"/>
                </a:solidFill>
              </a:rPr>
              <a:t>DP-008 Net New Assets</a:t>
            </a:r>
            <a:endParaRPr lang="en-US" sz="1250" dirty="0"/>
          </a:p>
        </p:txBody>
      </p:sp>
      <p:sp>
        <p:nvSpPr>
          <p:cNvPr id="14" name="text"/>
          <p:cNvSpPr txBox="1"/>
          <p:nvPr/>
        </p:nvSpPr>
        <p:spPr>
          <a:xfrm>
            <a:off x="2286000" y="3017520"/>
            <a:ext cx="4572000" cy="502920"/>
          </a:xfrm>
          <a:prstGeom prst="rect">
            <a:avLst/>
          </a:prstGeom>
          <a:noFill/>
          <a:ln/>
        </p:spPr>
        <p:txBody>
          <a:bodyPr wrap="square" lIns="0" tIns="0" rIns="0" bIns="0" rtlCol="0" anchor="t"/>
          <a:lstStyle/>
          <a:p>
            <a:pPr indent="0" marL="0">
              <a:buNone/>
            </a:pPr>
            <a:r>
              <a:rPr lang="en-US" sz="1050" dirty="0">
                <a:solidFill>
                  <a:schemeClr val="tx1"/>
                </a:solidFill>
              </a:rPr>
              <a:t>Product measure with a formula: signed sum of current client-asset flows under the flow treatment rules, by trade date</a:t>
            </a:r>
            <a:endParaRPr lang="en-US" sz="1050" dirty="0"/>
          </a:p>
        </p:txBody>
      </p:sp>
      <p:sp>
        <p:nvSpPr>
          <p:cNvPr id="15" name="arrow"/>
          <p:cNvSpPr/>
          <p:nvPr/>
        </p:nvSpPr>
        <p:spPr>
          <a:xfrm>
            <a:off x="1097280" y="3520440"/>
            <a:ext cx="365760" cy="182880"/>
          </a:xfrm>
          <a:prstGeom prst="downArrow">
            <a:avLst/>
          </a:prstGeom>
          <a:solidFill>
            <a:schemeClr val="accent6"/>
          </a:solidFill>
          <a:ln w="12700">
            <a:solidFill>
              <a:srgbClr val="333333"/>
            </a:solidFill>
            <a:prstDash val="solid"/>
          </a:ln>
        </p:spPr>
      </p:sp>
      <p:sp>
        <p:nvSpPr>
          <p:cNvPr id="16" name="panel"/>
          <p:cNvSpPr/>
          <p:nvPr/>
        </p:nvSpPr>
        <p:spPr>
          <a:xfrm>
            <a:off x="548640" y="3703320"/>
            <a:ext cx="1463040" cy="960120"/>
          </a:xfrm>
          <a:prstGeom prst="rect">
            <a:avLst/>
          </a:prstGeom>
          <a:solidFill>
            <a:schemeClr val="accent2"/>
          </a:solidFill>
          <a:ln w="12700">
            <a:solidFill>
              <a:schemeClr val="accent2"/>
            </a:solidFill>
            <a:prstDash val="solid"/>
          </a:ln>
        </p:spPr>
      </p:sp>
      <p:sp>
        <p:nvSpPr>
          <p:cNvPr id="17" name="text"/>
          <p:cNvSpPr txBox="1"/>
          <p:nvPr/>
        </p:nvSpPr>
        <p:spPr>
          <a:xfrm>
            <a:off x="685800" y="3703320"/>
            <a:ext cx="1280160" cy="960120"/>
          </a:xfrm>
          <a:prstGeom prst="rect">
            <a:avLst/>
          </a:prstGeom>
          <a:noFill/>
          <a:ln/>
        </p:spPr>
        <p:txBody>
          <a:bodyPr wrap="square" lIns="0" tIns="0" rIns="0" bIns="0" rtlCol="0" anchor="ctr"/>
          <a:lstStyle/>
          <a:p>
            <a:pPr indent="0" marL="0">
              <a:buNone/>
            </a:pPr>
            <a:r>
              <a:rPr lang="en-US" sz="1400" b="1" dirty="0">
                <a:solidFill>
                  <a:schemeClr val="bg1"/>
                </a:solidFill>
              </a:rPr>
              <a:t>Attributes</a:t>
            </a:r>
            <a:endParaRPr lang="en-US" sz="1400" dirty="0"/>
          </a:p>
        </p:txBody>
      </p:sp>
      <p:sp>
        <p:nvSpPr>
          <p:cNvPr id="18" name="card"/>
          <p:cNvSpPr/>
          <p:nvPr/>
        </p:nvSpPr>
        <p:spPr>
          <a:xfrm>
            <a:off x="2103120" y="3703320"/>
            <a:ext cx="4937760" cy="960120"/>
          </a:xfrm>
          <a:prstGeom prst="roundRect">
            <a:avLst>
              <a:gd name="adj" fmla="val 7619"/>
            </a:avLst>
          </a:prstGeom>
          <a:solidFill>
            <a:schemeClr val="bg2"/>
          </a:solidFill>
          <a:ln w="12700">
            <a:solidFill>
              <a:schemeClr val="bg2"/>
            </a:solidFill>
            <a:prstDash val="solid"/>
          </a:ln>
        </p:spPr>
      </p:sp>
      <p:sp>
        <p:nvSpPr>
          <p:cNvPr id="19" name="text"/>
          <p:cNvSpPr txBox="1"/>
          <p:nvPr/>
        </p:nvSpPr>
        <p:spPr>
          <a:xfrm>
            <a:off x="2286000" y="3776472"/>
            <a:ext cx="4572000" cy="457200"/>
          </a:xfrm>
          <a:prstGeom prst="rect">
            <a:avLst/>
          </a:prstGeom>
          <a:noFill/>
          <a:ln/>
        </p:spPr>
        <p:txBody>
          <a:bodyPr wrap="square" lIns="0" tIns="0" rIns="0" bIns="0" rtlCol="0" anchor="t"/>
          <a:lstStyle/>
          <a:p>
            <a:pPr indent="0" marL="0">
              <a:buNone/>
            </a:pPr>
            <a:r>
              <a:rPr lang="en-US" sz="1100" b="1" dirty="0">
                <a:solidFill>
                  <a:schemeClr val="tx2"/>
                </a:solidFill>
              </a:rPr>
              <a:t>06 Transaction: Flow Scope, Flow Direction, Reporting Currency Amount, Trade Date; 06 Measure Definition: Rollover Treatment; 06 Account Channel Assignment (from 15 Program Enrollment)</a:t>
            </a:r>
            <a:endParaRPr lang="en-US" sz="1100" dirty="0"/>
          </a:p>
        </p:txBody>
      </p:sp>
      <p:sp>
        <p:nvSpPr>
          <p:cNvPr id="20" name="text"/>
          <p:cNvSpPr txBox="1"/>
          <p:nvPr/>
        </p:nvSpPr>
        <p:spPr>
          <a:xfrm>
            <a:off x="2286000" y="4233672"/>
            <a:ext cx="4572000" cy="429768"/>
          </a:xfrm>
          <a:prstGeom prst="rect">
            <a:avLst/>
          </a:prstGeom>
          <a:noFill/>
          <a:ln/>
        </p:spPr>
        <p:txBody>
          <a:bodyPr wrap="square" lIns="0" tIns="0" rIns="0" bIns="0" rtlCol="0" anchor="t"/>
          <a:lstStyle/>
          <a:p>
            <a:pPr indent="0" marL="0">
              <a:buNone/>
            </a:pPr>
            <a:r>
              <a:rPr lang="en-US" sz="1050" dirty="0">
                <a:solidFill>
                  <a:schemeClr val="tx1"/>
                </a:solidFill>
              </a:rPr>
              <a:t>Every attribute the formula reads is among the product's inputs; the build fails otherwise</a:t>
            </a:r>
            <a:endParaRPr lang="en-US" sz="1050" dirty="0"/>
          </a:p>
        </p:txBody>
      </p:sp>
      <p:sp>
        <p:nvSpPr>
          <p:cNvPr id="21" name="arrow"/>
          <p:cNvSpPr/>
          <p:nvPr/>
        </p:nvSpPr>
        <p:spPr>
          <a:xfrm>
            <a:off x="1097280" y="4663440"/>
            <a:ext cx="365760" cy="182880"/>
          </a:xfrm>
          <a:prstGeom prst="downArrow">
            <a:avLst/>
          </a:prstGeom>
          <a:solidFill>
            <a:schemeClr val="accent6"/>
          </a:solidFill>
          <a:ln w="12700">
            <a:solidFill>
              <a:srgbClr val="333333"/>
            </a:solidFill>
            <a:prstDash val="solid"/>
          </a:ln>
        </p:spPr>
      </p:sp>
      <p:sp>
        <p:nvSpPr>
          <p:cNvPr id="22" name="panel"/>
          <p:cNvSpPr/>
          <p:nvPr/>
        </p:nvSpPr>
        <p:spPr>
          <a:xfrm>
            <a:off x="548640" y="4846320"/>
            <a:ext cx="1463040" cy="960120"/>
          </a:xfrm>
          <a:prstGeom prst="rect">
            <a:avLst/>
          </a:prstGeom>
          <a:solidFill>
            <a:schemeClr val="accent1"/>
          </a:solidFill>
          <a:ln w="12700">
            <a:solidFill>
              <a:schemeClr val="accent1"/>
            </a:solidFill>
            <a:prstDash val="solid"/>
          </a:ln>
        </p:spPr>
      </p:sp>
      <p:sp>
        <p:nvSpPr>
          <p:cNvPr id="23" name="text"/>
          <p:cNvSpPr txBox="1"/>
          <p:nvPr/>
        </p:nvSpPr>
        <p:spPr>
          <a:xfrm>
            <a:off x="685800" y="4846320"/>
            <a:ext cx="1280160" cy="960120"/>
          </a:xfrm>
          <a:prstGeom prst="rect">
            <a:avLst/>
          </a:prstGeom>
          <a:noFill/>
          <a:ln/>
        </p:spPr>
        <p:txBody>
          <a:bodyPr wrap="square" lIns="0" tIns="0" rIns="0" bIns="0" rtlCol="0" anchor="ctr"/>
          <a:lstStyle/>
          <a:p>
            <a:pPr indent="0" marL="0">
              <a:buNone/>
            </a:pPr>
            <a:r>
              <a:rPr lang="en-US" sz="1400" b="1" dirty="0">
                <a:solidFill>
                  <a:schemeClr val="bg1"/>
                </a:solidFill>
              </a:rPr>
              <a:t>Data Domain</a:t>
            </a:r>
            <a:endParaRPr lang="en-US" sz="1400" dirty="0"/>
          </a:p>
        </p:txBody>
      </p:sp>
      <p:sp>
        <p:nvSpPr>
          <p:cNvPr id="24" name="card"/>
          <p:cNvSpPr/>
          <p:nvPr/>
        </p:nvSpPr>
        <p:spPr>
          <a:xfrm>
            <a:off x="2103120" y="4846320"/>
            <a:ext cx="4937760" cy="960120"/>
          </a:xfrm>
          <a:prstGeom prst="roundRect">
            <a:avLst>
              <a:gd name="adj" fmla="val 7619"/>
            </a:avLst>
          </a:prstGeom>
          <a:solidFill>
            <a:schemeClr val="bg2"/>
          </a:solidFill>
          <a:ln w="12700">
            <a:solidFill>
              <a:schemeClr val="bg2"/>
            </a:solidFill>
            <a:prstDash val="solid"/>
          </a:ln>
        </p:spPr>
      </p:sp>
      <p:sp>
        <p:nvSpPr>
          <p:cNvPr id="25" name="text"/>
          <p:cNvSpPr txBox="1"/>
          <p:nvPr/>
        </p:nvSpPr>
        <p:spPr>
          <a:xfrm>
            <a:off x="2286000" y="4919472"/>
            <a:ext cx="4572000" cy="365760"/>
          </a:xfrm>
          <a:prstGeom prst="rect">
            <a:avLst/>
          </a:prstGeom>
          <a:noFill/>
          <a:ln/>
        </p:spPr>
        <p:txBody>
          <a:bodyPr wrap="square" lIns="0" tIns="0" rIns="0" bIns="0" rtlCol="0" anchor="t"/>
          <a:lstStyle/>
          <a:p>
            <a:pPr indent="0" marL="0">
              <a:buNone/>
            </a:pPr>
            <a:r>
              <a:rPr lang="en-US" sz="1250" b="1" dirty="0">
                <a:solidFill>
                  <a:schemeClr val="tx2"/>
                </a:solidFill>
              </a:rPr>
              <a:t>06 Client Assets, Flows &amp; Channel Attribution</a:t>
            </a:r>
            <a:endParaRPr lang="en-US" sz="1250" dirty="0"/>
          </a:p>
        </p:txBody>
      </p:sp>
      <p:sp>
        <p:nvSpPr>
          <p:cNvPr id="26" name="text"/>
          <p:cNvSpPr txBox="1"/>
          <p:nvPr/>
        </p:nvSpPr>
        <p:spPr>
          <a:xfrm>
            <a:off x="2286000" y="5303520"/>
            <a:ext cx="4572000" cy="502920"/>
          </a:xfrm>
          <a:prstGeom prst="rect">
            <a:avLst/>
          </a:prstGeom>
          <a:noFill/>
          <a:ln/>
        </p:spPr>
        <p:txBody>
          <a:bodyPr wrap="square" lIns="0" tIns="0" rIns="0" bIns="0" rtlCol="0" anchor="t"/>
          <a:lstStyle/>
          <a:p>
            <a:pPr indent="0" marL="0">
              <a:buNone/>
            </a:pPr>
            <a:r>
              <a:rPr lang="en-US" sz="1050" dirty="0">
                <a:solidFill>
                  <a:schemeClr val="tx1"/>
                </a:solidFill>
              </a:rPr>
              <a:t>Mastering domain and owner role, with the definition and the decision that set it</a:t>
            </a:r>
            <a:endParaRPr lang="en-US" sz="1050" dirty="0"/>
          </a:p>
        </p:txBody>
      </p:sp>
      <p:sp>
        <p:nvSpPr>
          <p:cNvPr id="27" name="card"/>
          <p:cNvSpPr/>
          <p:nvPr/>
        </p:nvSpPr>
        <p:spPr>
          <a:xfrm>
            <a:off x="7315200" y="1417320"/>
            <a:ext cx="4325112" cy="2148840"/>
          </a:xfrm>
          <a:prstGeom prst="roundRect">
            <a:avLst>
              <a:gd name="adj" fmla="val 3404"/>
            </a:avLst>
          </a:prstGeom>
          <a:solidFill>
            <a:schemeClr val="bg2"/>
          </a:solidFill>
          <a:ln w="12700">
            <a:solidFill>
              <a:schemeClr val="bg2"/>
            </a:solidFill>
            <a:prstDash val="solid"/>
          </a:ln>
        </p:spPr>
      </p:sp>
      <p:sp>
        <p:nvSpPr>
          <p:cNvPr id="28" name="text"/>
          <p:cNvSpPr txBox="1"/>
          <p:nvPr/>
        </p:nvSpPr>
        <p:spPr>
          <a:xfrm>
            <a:off x="7498080" y="1554480"/>
            <a:ext cx="3959352" cy="320040"/>
          </a:xfrm>
          <a:prstGeom prst="rect">
            <a:avLst/>
          </a:prstGeom>
          <a:noFill/>
          <a:ln/>
        </p:spPr>
        <p:txBody>
          <a:bodyPr wrap="square" lIns="0" tIns="0" rIns="0" bIns="0" rtlCol="0" anchor="t"/>
          <a:lstStyle/>
          <a:p>
            <a:pPr indent="0" marL="0">
              <a:buNone/>
            </a:pPr>
            <a:r>
              <a:rPr lang="en-US" sz="1400" b="1" dirty="0">
                <a:solidFill>
                  <a:schemeClr val="accent2"/>
                </a:solidFill>
              </a:rPr>
              <a:t>Logical data models</a:t>
            </a:r>
            <a:endParaRPr lang="en-US" sz="1400" dirty="0"/>
          </a:p>
        </p:txBody>
      </p:sp>
      <p:sp>
        <p:nvSpPr>
          <p:cNvPr id="29" name="text"/>
          <p:cNvSpPr txBox="1"/>
          <p:nvPr/>
        </p:nvSpPr>
        <p:spPr>
          <a:xfrm>
            <a:off x="7498080" y="1920240"/>
            <a:ext cx="3959352" cy="1600200"/>
          </a:xfrm>
          <a:prstGeom prst="rect">
            <a:avLst/>
          </a:prstGeom>
          <a:noFill/>
          <a:ln/>
        </p:spPr>
        <p:txBody>
          <a:bodyPr wrap="square" lIns="0" tIns="0" rIns="0" bIns="0" rtlCol="0" anchor="t"/>
          <a:lstStyle/>
          <a:p>
            <a:pPr indent="0" marL="0">
              <a:buNone/>
            </a:pPr>
            <a:r>
              <a:rPr lang="en-US" sz="1050" dirty="0">
                <a:solidFill>
                  <a:schemeClr val="tx1"/>
                </a:solidFill>
              </a:rPr>
              <a:t>One per product. Foundational products are normalized entity models that publish the shared dimensions: Household, Client Account, Advisor, Offering and Program, Channel, Instrument, Calendar. Consumer products are star schemas that reuse them, so the same Household means the same thing in every product. Keys, links and connectivity are checked against the taxonomy at build.</a:t>
            </a:r>
            <a:endParaRPr lang="en-US" sz="1050" dirty="0"/>
          </a:p>
        </p:txBody>
      </p:sp>
      <p:sp>
        <p:nvSpPr>
          <p:cNvPr id="30" name="card"/>
          <p:cNvSpPr/>
          <p:nvPr/>
        </p:nvSpPr>
        <p:spPr>
          <a:xfrm>
            <a:off x="7315200" y="3749040"/>
            <a:ext cx="4325112" cy="2468880"/>
          </a:xfrm>
          <a:prstGeom prst="roundRect">
            <a:avLst>
              <a:gd name="adj" fmla="val 2963"/>
            </a:avLst>
          </a:prstGeom>
          <a:solidFill>
            <a:schemeClr val="bg2"/>
          </a:solidFill>
          <a:ln w="12700">
            <a:solidFill>
              <a:schemeClr val="bg2"/>
            </a:solidFill>
            <a:prstDash val="solid"/>
          </a:ln>
        </p:spPr>
      </p:sp>
      <p:sp>
        <p:nvSpPr>
          <p:cNvPr id="31" name="text"/>
          <p:cNvSpPr txBox="1"/>
          <p:nvPr/>
        </p:nvSpPr>
        <p:spPr>
          <a:xfrm>
            <a:off x="7498080" y="3886200"/>
            <a:ext cx="3959352" cy="320040"/>
          </a:xfrm>
          <a:prstGeom prst="rect">
            <a:avLst/>
          </a:prstGeom>
          <a:noFill/>
          <a:ln/>
        </p:spPr>
        <p:txBody>
          <a:bodyPr wrap="square" lIns="0" tIns="0" rIns="0" bIns="0" rtlCol="0" anchor="t"/>
          <a:lstStyle/>
          <a:p>
            <a:pPr indent="0" marL="0">
              <a:buNone/>
            </a:pPr>
            <a:r>
              <a:rPr lang="en-US" sz="1400" b="1" dirty="0">
                <a:solidFill>
                  <a:schemeClr val="accent4"/>
                </a:solidFill>
              </a:rPr>
              <a:t>Semantic layer</a:t>
            </a:r>
            <a:endParaRPr lang="en-US" sz="1400" dirty="0"/>
          </a:p>
        </p:txBody>
      </p:sp>
      <p:sp>
        <p:nvSpPr>
          <p:cNvPr id="32" name="text"/>
          <p:cNvSpPr txBox="1"/>
          <p:nvPr/>
        </p:nvSpPr>
        <p:spPr>
          <a:xfrm>
            <a:off x="7498080" y="4251960"/>
            <a:ext cx="3959352" cy="1920240"/>
          </a:xfrm>
          <a:prstGeom prst="rect">
            <a:avLst/>
          </a:prstGeom>
          <a:noFill/>
          <a:ln/>
        </p:spPr>
        <p:txBody>
          <a:bodyPr wrap="square" lIns="0" tIns="0" rIns="0" bIns="0" rtlCol="0" anchor="t"/>
          <a:lstStyle/>
          <a:p>
            <a:pPr indent="0" marL="0">
              <a:buNone/>
            </a:pPr>
            <a:r>
              <a:rPr lang="en-US" sz="1050" dirty="0">
                <a:solidFill>
                  <a:schemeClr val="tx1"/>
                </a:solidFill>
              </a:rPr>
              <a:t>Subject-area models publish the products to BI tools, Excel and AI assistants. Each metric is defined once. Each certified metric is defined only in the model that owns it and referenced everywhere else. Every model states which questions it cannot answer, and why, as registered gaps. Products that run workflows, filings and files are delivered directly and are not in the layer.</a:t>
            </a:r>
            <a:endParaRPr lang="en-US" sz="10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Three ways the business uses it: analytical, workflow, evidence</a:t>
            </a:r>
            <a:endParaRPr lang="en-US" sz="2800" dirty="0"/>
          </a:p>
        </p:txBody>
      </p:sp>
      <p:sp>
        <p:nvSpPr>
          <p:cNvPr id="4" name="card"/>
          <p:cNvSpPr/>
          <p:nvPr/>
        </p:nvSpPr>
        <p:spPr>
          <a:xfrm>
            <a:off x="548640" y="1417320"/>
            <a:ext cx="3566160" cy="4800600"/>
          </a:xfrm>
          <a:prstGeom prst="roundRect">
            <a:avLst>
              <a:gd name="adj" fmla="val 2051"/>
            </a:avLst>
          </a:prstGeom>
          <a:solidFill>
            <a:schemeClr val="bg2"/>
          </a:solidFill>
          <a:ln w="12700">
            <a:solidFill>
              <a:schemeClr val="bg2"/>
            </a:solidFill>
            <a:prstDash val="solid"/>
          </a:ln>
        </p:spPr>
      </p:sp>
      <p:sp>
        <p:nvSpPr>
          <p:cNvPr id="5" name="panel"/>
          <p:cNvSpPr/>
          <p:nvPr/>
        </p:nvSpPr>
        <p:spPr>
          <a:xfrm>
            <a:off x="548640" y="1417320"/>
            <a:ext cx="3566160" cy="914400"/>
          </a:xfrm>
          <a:prstGeom prst="rect">
            <a:avLst/>
          </a:prstGeom>
          <a:solidFill>
            <a:schemeClr val="accent4"/>
          </a:solidFill>
          <a:ln w="12700">
            <a:solidFill>
              <a:schemeClr val="accent4"/>
            </a:solidFill>
            <a:prstDash val="solid"/>
          </a:ln>
        </p:spPr>
      </p:sp>
      <p:sp>
        <p:nvSpPr>
          <p:cNvPr id="6" name="text"/>
          <p:cNvSpPr txBox="1"/>
          <p:nvPr/>
        </p:nvSpPr>
        <p:spPr>
          <a:xfrm>
            <a:off x="749808" y="1508760"/>
            <a:ext cx="3163824" cy="457200"/>
          </a:xfrm>
          <a:prstGeom prst="rect">
            <a:avLst/>
          </a:prstGeom>
          <a:noFill/>
          <a:ln/>
        </p:spPr>
        <p:txBody>
          <a:bodyPr wrap="square" lIns="0" tIns="0" rIns="0" bIns="0" rtlCol="0" anchor="t"/>
          <a:lstStyle/>
          <a:p>
            <a:pPr indent="0" marL="0">
              <a:buNone/>
            </a:pPr>
            <a:r>
              <a:rPr lang="en-US" sz="2000" b="1" dirty="0">
                <a:solidFill>
                  <a:schemeClr val="bg1"/>
                </a:solidFill>
              </a:rPr>
              <a:t>Analytical</a:t>
            </a:r>
            <a:endParaRPr lang="en-US" sz="2000" dirty="0"/>
          </a:p>
        </p:txBody>
      </p:sp>
      <p:sp>
        <p:nvSpPr>
          <p:cNvPr id="7" name="text"/>
          <p:cNvSpPr txBox="1"/>
          <p:nvPr/>
        </p:nvSpPr>
        <p:spPr>
          <a:xfrm>
            <a:off x="749808" y="1947672"/>
            <a:ext cx="3163824" cy="320040"/>
          </a:xfrm>
          <a:prstGeom prst="rect">
            <a:avLst/>
          </a:prstGeom>
          <a:noFill/>
          <a:ln/>
        </p:spPr>
        <p:txBody>
          <a:bodyPr wrap="square" lIns="0" tIns="0" rIns="0" bIns="0" rtlCol="0" anchor="t"/>
          <a:lstStyle/>
          <a:p>
            <a:pPr indent="0" marL="0">
              <a:buNone/>
            </a:pPr>
            <a:r>
              <a:rPr lang="en-US" sz="1200" i="1" dirty="0">
                <a:solidFill>
                  <a:schemeClr val="bg1"/>
                </a:solidFill>
              </a:rPr>
              <a:t>Decide and steer</a:t>
            </a:r>
            <a:endParaRPr lang="en-US" sz="1200" dirty="0"/>
          </a:p>
        </p:txBody>
      </p:sp>
      <p:sp>
        <p:nvSpPr>
          <p:cNvPr id="8" name="text"/>
          <p:cNvSpPr txBox="1"/>
          <p:nvPr/>
        </p:nvSpPr>
        <p:spPr>
          <a:xfrm>
            <a:off x="749808" y="2468880"/>
            <a:ext cx="3163824" cy="1828800"/>
          </a:xfrm>
          <a:prstGeom prst="rect">
            <a:avLst/>
          </a:prstGeom>
          <a:noFill/>
          <a:ln/>
        </p:spPr>
        <p:txBody>
          <a:bodyPr wrap="square" lIns="0" tIns="0" rIns="0" bIns="0" rtlCol="0" anchor="t"/>
          <a:lstStyle/>
          <a:p>
            <a:pPr indent="0" marL="0">
              <a:buNone/>
            </a:pPr>
            <a:r>
              <a:rPr lang="en-US" sz="1100" dirty="0">
                <a:solidFill>
                  <a:schemeClr val="tx1"/>
                </a:solidFill>
              </a:rPr>
              <a:t>Dashboards, Excel and AI assistants read the semantic model. Questions resolve to named metrics with known definitions. Access follows the data's classification: leadership sees every household; an advisor sees the households they cover; finance sees totals with no names.</a:t>
            </a:r>
            <a:endParaRPr lang="en-US" sz="1100" dirty="0"/>
          </a:p>
        </p:txBody>
      </p:sp>
      <p:sp>
        <p:nvSpPr>
          <p:cNvPr id="9" name="text"/>
          <p:cNvSpPr txBox="1"/>
          <p:nvPr/>
        </p:nvSpPr>
        <p:spPr>
          <a:xfrm>
            <a:off x="749808" y="4343400"/>
            <a:ext cx="3163824" cy="274320"/>
          </a:xfrm>
          <a:prstGeom prst="rect">
            <a:avLst/>
          </a:prstGeom>
          <a:noFill/>
          <a:ln/>
        </p:spPr>
        <p:txBody>
          <a:bodyPr wrap="square" lIns="0" tIns="0" rIns="0" bIns="0" rtlCol="0" anchor="t"/>
          <a:lstStyle/>
          <a:p>
            <a:pPr indent="0" marL="0">
              <a:buNone/>
            </a:pPr>
            <a:r>
              <a:rPr lang="en-US" sz="900" b="1" dirty="0">
                <a:solidFill>
                  <a:schemeClr val="accent6"/>
                </a:solidFill>
              </a:rPr>
              <a:t>PRODUCTS, FOR EXAMPLE</a:t>
            </a:r>
            <a:endParaRPr lang="en-US" sz="900" dirty="0"/>
          </a:p>
        </p:txBody>
      </p:sp>
      <p:sp>
        <p:nvSpPr>
          <p:cNvPr id="10" name="examples"/>
          <p:cNvSpPr txBox="1"/>
          <p:nvPr/>
        </p:nvSpPr>
        <p:spPr>
          <a:xfrm>
            <a:off x="749808" y="4617720"/>
            <a:ext cx="3163824" cy="150876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chemeClr val="tx1"/>
                </a:solidFill>
              </a:rPr>
              <a:t>DP-490 Client Assets &amp; Flows Executive Scorecard</a:t>
            </a:r>
            <a:endParaRPr lang="en-US" sz="1050" dirty="0"/>
          </a:p>
          <a:p>
            <a:pPr marL="127000" indent="-127000">
              <a:spcAft>
                <a:spcPts val="300"/>
              </a:spcAft>
              <a:buSzPct val="100000"/>
              <a:buChar char="•"/>
            </a:pPr>
            <a:r>
              <a:rPr lang="en-US" sz="1050" dirty="0">
                <a:solidFill>
                  <a:schemeClr val="tx1"/>
                </a:solidFill>
              </a:rPr>
              <a:t>DP-320 Household 360</a:t>
            </a:r>
            <a:endParaRPr lang="en-US" sz="1050" dirty="0"/>
          </a:p>
          <a:p>
            <a:pPr marL="127000" indent="-127000">
              <a:spcAft>
                <a:spcPts val="300"/>
              </a:spcAft>
              <a:buSzPct val="100000"/>
              <a:buChar char="•"/>
            </a:pPr>
            <a:r>
              <a:rPr lang="en-US" sz="1050" dirty="0">
                <a:solidFill>
                  <a:schemeClr val="tx1"/>
                </a:solidFill>
              </a:rPr>
              <a:t>DP-333 Advice Funnel &amp; Conversion</a:t>
            </a:r>
            <a:endParaRPr lang="en-US" sz="1050" dirty="0"/>
          </a:p>
          <a:p>
            <a:pPr marL="127000" indent="-127000">
              <a:spcAft>
                <a:spcPts val="300"/>
              </a:spcAft>
              <a:buSzPct val="100000"/>
              <a:buChar char="•"/>
            </a:pPr>
            <a:r>
              <a:rPr lang="en-US" sz="1050" dirty="0">
                <a:solidFill>
                  <a:schemeClr val="tx1"/>
                </a:solidFill>
              </a:rPr>
              <a:t>DP-467 Rollover Capture</a:t>
            </a:r>
            <a:endParaRPr lang="en-US" sz="1050" dirty="0"/>
          </a:p>
        </p:txBody>
      </p:sp>
      <p:sp>
        <p:nvSpPr>
          <p:cNvPr id="11" name="card"/>
          <p:cNvSpPr/>
          <p:nvPr/>
        </p:nvSpPr>
        <p:spPr>
          <a:xfrm>
            <a:off x="4297680" y="1417320"/>
            <a:ext cx="3566160" cy="4800600"/>
          </a:xfrm>
          <a:prstGeom prst="roundRect">
            <a:avLst>
              <a:gd name="adj" fmla="val 2051"/>
            </a:avLst>
          </a:prstGeom>
          <a:solidFill>
            <a:schemeClr val="bg2"/>
          </a:solidFill>
          <a:ln w="12700">
            <a:solidFill>
              <a:schemeClr val="bg2"/>
            </a:solidFill>
            <a:prstDash val="solid"/>
          </a:ln>
        </p:spPr>
      </p:sp>
      <p:sp>
        <p:nvSpPr>
          <p:cNvPr id="12" name="panel"/>
          <p:cNvSpPr/>
          <p:nvPr/>
        </p:nvSpPr>
        <p:spPr>
          <a:xfrm>
            <a:off x="4297680" y="1417320"/>
            <a:ext cx="3566160" cy="914400"/>
          </a:xfrm>
          <a:prstGeom prst="rect">
            <a:avLst/>
          </a:prstGeom>
          <a:solidFill>
            <a:schemeClr val="accent5"/>
          </a:solidFill>
          <a:ln w="12700">
            <a:solidFill>
              <a:schemeClr val="accent5"/>
            </a:solidFill>
            <a:prstDash val="solid"/>
          </a:ln>
        </p:spPr>
      </p:sp>
      <p:sp>
        <p:nvSpPr>
          <p:cNvPr id="13" name="text"/>
          <p:cNvSpPr txBox="1"/>
          <p:nvPr/>
        </p:nvSpPr>
        <p:spPr>
          <a:xfrm>
            <a:off x="4498848" y="1508760"/>
            <a:ext cx="3163824" cy="457200"/>
          </a:xfrm>
          <a:prstGeom prst="rect">
            <a:avLst/>
          </a:prstGeom>
          <a:noFill/>
          <a:ln/>
        </p:spPr>
        <p:txBody>
          <a:bodyPr wrap="square" lIns="0" tIns="0" rIns="0" bIns="0" rtlCol="0" anchor="t"/>
          <a:lstStyle/>
          <a:p>
            <a:pPr indent="0" marL="0">
              <a:buNone/>
            </a:pPr>
            <a:r>
              <a:rPr lang="en-US" sz="2000" b="1" dirty="0">
                <a:solidFill>
                  <a:schemeClr val="bg1"/>
                </a:solidFill>
              </a:rPr>
              <a:t>Workflow</a:t>
            </a:r>
            <a:endParaRPr lang="en-US" sz="2000" dirty="0"/>
          </a:p>
        </p:txBody>
      </p:sp>
      <p:sp>
        <p:nvSpPr>
          <p:cNvPr id="14" name="text"/>
          <p:cNvSpPr txBox="1"/>
          <p:nvPr/>
        </p:nvSpPr>
        <p:spPr>
          <a:xfrm>
            <a:off x="4498848" y="1947672"/>
            <a:ext cx="3163824" cy="320040"/>
          </a:xfrm>
          <a:prstGeom prst="rect">
            <a:avLst/>
          </a:prstGeom>
          <a:noFill/>
          <a:ln/>
        </p:spPr>
        <p:txBody>
          <a:bodyPr wrap="square" lIns="0" tIns="0" rIns="0" bIns="0" rtlCol="0" anchor="t"/>
          <a:lstStyle/>
          <a:p>
            <a:pPr indent="0" marL="0">
              <a:buNone/>
            </a:pPr>
            <a:r>
              <a:rPr lang="en-US" sz="1200" i="1" dirty="0">
                <a:solidFill>
                  <a:schemeClr val="bg1"/>
                </a:solidFill>
              </a:rPr>
              <a:t>Act today</a:t>
            </a:r>
            <a:endParaRPr lang="en-US" sz="1200" dirty="0"/>
          </a:p>
        </p:txBody>
      </p:sp>
      <p:sp>
        <p:nvSpPr>
          <p:cNvPr id="15" name="text"/>
          <p:cNvSpPr txBox="1"/>
          <p:nvPr/>
        </p:nvSpPr>
        <p:spPr>
          <a:xfrm>
            <a:off x="4498848" y="2468880"/>
            <a:ext cx="3163824" cy="1828800"/>
          </a:xfrm>
          <a:prstGeom prst="rect">
            <a:avLst/>
          </a:prstGeom>
          <a:noFill/>
          <a:ln/>
        </p:spPr>
        <p:txBody>
          <a:bodyPr wrap="square" lIns="0" tIns="0" rIns="0" bIns="0" rtlCol="0" anchor="t"/>
          <a:lstStyle/>
          <a:p>
            <a:pPr indent="0" marL="0">
              <a:buNone/>
            </a:pPr>
            <a:r>
              <a:rPr lang="en-US" sz="1100" dirty="0">
                <a:solidFill>
                  <a:schemeClr val="tx1"/>
                </a:solidFill>
              </a:rPr>
              <a:t>Operational products are delivered into the tools people already work in: CRM, the rebalancer, the billing engine, the supervision platform. The product decides what needs action and carries the facts; the tool is where the action is taken.</a:t>
            </a:r>
            <a:endParaRPr lang="en-US" sz="1100" dirty="0"/>
          </a:p>
        </p:txBody>
      </p:sp>
      <p:sp>
        <p:nvSpPr>
          <p:cNvPr id="16" name="text"/>
          <p:cNvSpPr txBox="1"/>
          <p:nvPr/>
        </p:nvSpPr>
        <p:spPr>
          <a:xfrm>
            <a:off x="4498848" y="4343400"/>
            <a:ext cx="3163824" cy="274320"/>
          </a:xfrm>
          <a:prstGeom prst="rect">
            <a:avLst/>
          </a:prstGeom>
          <a:noFill/>
          <a:ln/>
        </p:spPr>
        <p:txBody>
          <a:bodyPr wrap="square" lIns="0" tIns="0" rIns="0" bIns="0" rtlCol="0" anchor="t"/>
          <a:lstStyle/>
          <a:p>
            <a:pPr indent="0" marL="0">
              <a:buNone/>
            </a:pPr>
            <a:r>
              <a:rPr lang="en-US" sz="900" b="1" dirty="0">
                <a:solidFill>
                  <a:schemeClr val="accent6"/>
                </a:solidFill>
              </a:rPr>
              <a:t>PRODUCTS, FOR EXAMPLE</a:t>
            </a:r>
            <a:endParaRPr lang="en-US" sz="900" dirty="0"/>
          </a:p>
        </p:txBody>
      </p:sp>
      <p:sp>
        <p:nvSpPr>
          <p:cNvPr id="17" name="examples"/>
          <p:cNvSpPr txBox="1"/>
          <p:nvPr/>
        </p:nvSpPr>
        <p:spPr>
          <a:xfrm>
            <a:off x="4498848" y="4617720"/>
            <a:ext cx="3163824" cy="150876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chemeClr val="tx1"/>
                </a:solidFill>
              </a:rPr>
              <a:t>DP-340 Advisor Client Action Worklist</a:t>
            </a:r>
            <a:endParaRPr lang="en-US" sz="1050" dirty="0"/>
          </a:p>
          <a:p>
            <a:pPr marL="127000" indent="-127000">
              <a:spcAft>
                <a:spcPts val="300"/>
              </a:spcAft>
              <a:buSzPct val="100000"/>
              <a:buChar char="•"/>
            </a:pPr>
            <a:r>
              <a:rPr lang="en-US" sz="1050" dirty="0">
                <a:solidFill>
                  <a:schemeClr val="tx1"/>
                </a:solidFill>
              </a:rPr>
              <a:t>DP-336 Advice Review Cadence &amp; Plan Currency</a:t>
            </a:r>
            <a:endParaRPr lang="en-US" sz="1050" dirty="0"/>
          </a:p>
          <a:p>
            <a:pPr marL="127000" indent="-127000">
              <a:spcAft>
                <a:spcPts val="300"/>
              </a:spcAft>
              <a:buSzPct val="100000"/>
              <a:buChar char="•"/>
            </a:pPr>
            <a:r>
              <a:rPr lang="en-US" sz="1050" dirty="0">
                <a:solidFill>
                  <a:schemeClr val="tx1"/>
                </a:solidFill>
              </a:rPr>
              <a:t>DP-344 Trade Proposals, Cash Raises &amp; Pre-Trade Exceptions</a:t>
            </a:r>
            <a:endParaRPr lang="en-US" sz="1050" dirty="0"/>
          </a:p>
          <a:p>
            <a:pPr marL="127000" indent="-127000">
              <a:spcAft>
                <a:spcPts val="300"/>
              </a:spcAft>
              <a:buSzPct val="100000"/>
              <a:buChar char="•"/>
            </a:pPr>
            <a:r>
              <a:rPr lang="en-US" sz="1050" dirty="0">
                <a:solidFill>
                  <a:schemeClr val="tx1"/>
                </a:solidFill>
              </a:rPr>
              <a:t>DP-398 Principal Review Queue &amp; Supervisory Approvals</a:t>
            </a:r>
            <a:endParaRPr lang="en-US" sz="1050" dirty="0"/>
          </a:p>
        </p:txBody>
      </p:sp>
      <p:sp>
        <p:nvSpPr>
          <p:cNvPr id="18" name="card"/>
          <p:cNvSpPr/>
          <p:nvPr/>
        </p:nvSpPr>
        <p:spPr>
          <a:xfrm>
            <a:off x="8046720" y="1417320"/>
            <a:ext cx="3566160" cy="4800600"/>
          </a:xfrm>
          <a:prstGeom prst="roundRect">
            <a:avLst>
              <a:gd name="adj" fmla="val 2051"/>
            </a:avLst>
          </a:prstGeom>
          <a:solidFill>
            <a:schemeClr val="bg2"/>
          </a:solidFill>
          <a:ln w="12700">
            <a:solidFill>
              <a:schemeClr val="bg2"/>
            </a:solidFill>
            <a:prstDash val="solid"/>
          </a:ln>
        </p:spPr>
      </p:sp>
      <p:sp>
        <p:nvSpPr>
          <p:cNvPr id="19" name="panel"/>
          <p:cNvSpPr/>
          <p:nvPr/>
        </p:nvSpPr>
        <p:spPr>
          <a:xfrm>
            <a:off x="8046720" y="1417320"/>
            <a:ext cx="3566160" cy="914400"/>
          </a:xfrm>
          <a:prstGeom prst="rect">
            <a:avLst/>
          </a:prstGeom>
          <a:solidFill>
            <a:schemeClr val="accent1"/>
          </a:solidFill>
          <a:ln w="12700">
            <a:solidFill>
              <a:schemeClr val="accent1"/>
            </a:solidFill>
            <a:prstDash val="solid"/>
          </a:ln>
        </p:spPr>
      </p:sp>
      <p:sp>
        <p:nvSpPr>
          <p:cNvPr id="20" name="text"/>
          <p:cNvSpPr txBox="1"/>
          <p:nvPr/>
        </p:nvSpPr>
        <p:spPr>
          <a:xfrm>
            <a:off x="8247888" y="1508760"/>
            <a:ext cx="3163824" cy="457200"/>
          </a:xfrm>
          <a:prstGeom prst="rect">
            <a:avLst/>
          </a:prstGeom>
          <a:noFill/>
          <a:ln/>
        </p:spPr>
        <p:txBody>
          <a:bodyPr wrap="square" lIns="0" tIns="0" rIns="0" bIns="0" rtlCol="0" anchor="t"/>
          <a:lstStyle/>
          <a:p>
            <a:pPr indent="0" marL="0">
              <a:buNone/>
            </a:pPr>
            <a:r>
              <a:rPr lang="en-US" sz="2000" b="1" dirty="0">
                <a:solidFill>
                  <a:schemeClr val="bg1"/>
                </a:solidFill>
              </a:rPr>
              <a:t>Evidence</a:t>
            </a:r>
            <a:endParaRPr lang="en-US" sz="2000" dirty="0"/>
          </a:p>
        </p:txBody>
      </p:sp>
      <p:sp>
        <p:nvSpPr>
          <p:cNvPr id="21" name="text"/>
          <p:cNvSpPr txBox="1"/>
          <p:nvPr/>
        </p:nvSpPr>
        <p:spPr>
          <a:xfrm>
            <a:off x="8247888" y="1947672"/>
            <a:ext cx="3163824" cy="320040"/>
          </a:xfrm>
          <a:prstGeom prst="rect">
            <a:avLst/>
          </a:prstGeom>
          <a:noFill/>
          <a:ln/>
        </p:spPr>
        <p:txBody>
          <a:bodyPr wrap="square" lIns="0" tIns="0" rIns="0" bIns="0" rtlCol="0" anchor="t"/>
          <a:lstStyle/>
          <a:p>
            <a:pPr indent="0" marL="0">
              <a:buNone/>
            </a:pPr>
            <a:r>
              <a:rPr lang="en-US" sz="1200" i="1" dirty="0">
                <a:solidFill>
                  <a:schemeClr val="bg1"/>
                </a:solidFill>
              </a:rPr>
              <a:t>Prove the control</a:t>
            </a:r>
            <a:endParaRPr lang="en-US" sz="1200" dirty="0"/>
          </a:p>
        </p:txBody>
      </p:sp>
      <p:sp>
        <p:nvSpPr>
          <p:cNvPr id="22" name="text"/>
          <p:cNvSpPr txBox="1"/>
          <p:nvPr/>
        </p:nvSpPr>
        <p:spPr>
          <a:xfrm>
            <a:off x="8247888" y="2468880"/>
            <a:ext cx="3163824" cy="1828800"/>
          </a:xfrm>
          <a:prstGeom prst="rect">
            <a:avLst/>
          </a:prstGeom>
          <a:noFill/>
          <a:ln/>
        </p:spPr>
        <p:txBody>
          <a:bodyPr wrap="square" lIns="0" tIns="0" rIns="0" bIns="0" rtlCol="0" anchor="t"/>
          <a:lstStyle/>
          <a:p>
            <a:pPr indent="0" marL="0">
              <a:buNone/>
            </a:pPr>
            <a:r>
              <a:rPr lang="en-US" sz="1100" dirty="0">
                <a:solidFill>
                  <a:schemeClr val="tx1"/>
                </a:solidFill>
              </a:rPr>
              <a:t>Regulatory and control products show a rule was followed, from the same data the business runs on. Examiners, boards and auditors see the control working, not a reconstruction.</a:t>
            </a:r>
            <a:endParaRPr lang="en-US" sz="1100" dirty="0"/>
          </a:p>
        </p:txBody>
      </p:sp>
      <p:sp>
        <p:nvSpPr>
          <p:cNvPr id="23" name="text"/>
          <p:cNvSpPr txBox="1"/>
          <p:nvPr/>
        </p:nvSpPr>
        <p:spPr>
          <a:xfrm>
            <a:off x="8247888" y="4343400"/>
            <a:ext cx="3163824" cy="274320"/>
          </a:xfrm>
          <a:prstGeom prst="rect">
            <a:avLst/>
          </a:prstGeom>
          <a:noFill/>
          <a:ln/>
        </p:spPr>
        <p:txBody>
          <a:bodyPr wrap="square" lIns="0" tIns="0" rIns="0" bIns="0" rtlCol="0" anchor="t"/>
          <a:lstStyle/>
          <a:p>
            <a:pPr indent="0" marL="0">
              <a:buNone/>
            </a:pPr>
            <a:r>
              <a:rPr lang="en-US" sz="900" b="1" dirty="0">
                <a:solidFill>
                  <a:schemeClr val="accent6"/>
                </a:solidFill>
              </a:rPr>
              <a:t>PRODUCTS, FOR EXAMPLE</a:t>
            </a:r>
            <a:endParaRPr lang="en-US" sz="900" dirty="0"/>
          </a:p>
        </p:txBody>
      </p:sp>
      <p:sp>
        <p:nvSpPr>
          <p:cNvPr id="24" name="examples"/>
          <p:cNvSpPr txBox="1"/>
          <p:nvPr/>
        </p:nvSpPr>
        <p:spPr>
          <a:xfrm>
            <a:off x="8247888" y="4617720"/>
            <a:ext cx="3163824" cy="150876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chemeClr val="tx1"/>
                </a:solidFill>
              </a:rPr>
              <a:t>DP-334 Plan Quality &amp; Recommendation Evidence (Reg BI File)</a:t>
            </a:r>
            <a:endParaRPr lang="en-US" sz="1050" dirty="0"/>
          </a:p>
          <a:p>
            <a:pPr marL="127000" indent="-127000">
              <a:spcAft>
                <a:spcPts val="300"/>
              </a:spcAft>
              <a:buSzPct val="100000"/>
              <a:buChar char="•"/>
            </a:pPr>
            <a:r>
              <a:rPr lang="en-US" sz="1050" dirty="0">
                <a:solidFill>
                  <a:schemeClr val="tx1"/>
                </a:solidFill>
              </a:rPr>
              <a:t>DP-335 Rollover Recommendations &amp; PTE 2020-02 Evidence</a:t>
            </a:r>
            <a:endParaRPr lang="en-US" sz="1050" dirty="0"/>
          </a:p>
          <a:p>
            <a:pPr marL="127000" indent="-127000">
              <a:spcAft>
                <a:spcPts val="300"/>
              </a:spcAft>
              <a:buSzPct val="100000"/>
              <a:buChar char="•"/>
            </a:pPr>
            <a:r>
              <a:rPr lang="en-US" sz="1050" dirty="0">
                <a:solidFill>
                  <a:schemeClr val="tx1"/>
                </a:solidFill>
              </a:rPr>
              <a:t>DP-346 Fee Billing Accuracy &amp; Custody-Rule Evidence</a:t>
            </a:r>
            <a:endParaRPr lang="en-US" sz="1050" dirty="0"/>
          </a:p>
          <a:p>
            <a:pPr marL="127000" indent="-127000">
              <a:spcAft>
                <a:spcPts val="300"/>
              </a:spcAft>
              <a:buSzPct val="100000"/>
              <a:buChar char="•"/>
            </a:pPr>
            <a:r>
              <a:rPr lang="en-US" sz="1050" dirty="0">
                <a:solidFill>
                  <a:schemeClr val="tx1"/>
                </a:solidFill>
              </a:rPr>
              <a:t>DP-445 Customer Reserve &amp; Possession-and-Control Control Pack</a:t>
            </a:r>
            <a:endParaRPr lang="en-US" sz="10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Governance: who owns what, and what certified means</a:t>
            </a:r>
            <a:endParaRPr lang="en-US" sz="2800" dirty="0"/>
          </a:p>
        </p:txBody>
      </p:sp>
      <p:sp>
        <p:nvSpPr>
          <p:cNvPr id="4" name="card"/>
          <p:cNvSpPr/>
          <p:nvPr/>
        </p:nvSpPr>
        <p:spPr>
          <a:xfrm>
            <a:off x="548640" y="1417320"/>
            <a:ext cx="3474720" cy="1463040"/>
          </a:xfrm>
          <a:prstGeom prst="roundRect">
            <a:avLst>
              <a:gd name="adj" fmla="val 5000"/>
            </a:avLst>
          </a:prstGeom>
          <a:solidFill>
            <a:schemeClr val="bg2"/>
          </a:solidFill>
          <a:ln w="12700">
            <a:solidFill>
              <a:schemeClr val="bg2"/>
            </a:solidFill>
            <a:prstDash val="solid"/>
          </a:ln>
        </p:spPr>
      </p:sp>
      <p:sp>
        <p:nvSpPr>
          <p:cNvPr id="5" name="text"/>
          <p:cNvSpPr txBox="1"/>
          <p:nvPr/>
        </p:nvSpPr>
        <p:spPr>
          <a:xfrm>
            <a:off x="731520" y="1554480"/>
            <a:ext cx="3108960" cy="320040"/>
          </a:xfrm>
          <a:prstGeom prst="rect">
            <a:avLst/>
          </a:prstGeom>
          <a:noFill/>
          <a:ln/>
        </p:spPr>
        <p:txBody>
          <a:bodyPr wrap="square" lIns="0" tIns="0" rIns="0" bIns="0" rtlCol="0" anchor="t"/>
          <a:lstStyle/>
          <a:p>
            <a:pPr indent="0" marL="0">
              <a:buNone/>
            </a:pPr>
            <a:r>
              <a:rPr lang="en-US" sz="1400" b="1" dirty="0">
                <a:solidFill>
                  <a:schemeClr val="accent1"/>
                </a:solidFill>
              </a:rPr>
              <a:t>Product owner</a:t>
            </a:r>
            <a:endParaRPr lang="en-US" sz="1400" dirty="0"/>
          </a:p>
        </p:txBody>
      </p:sp>
      <p:sp>
        <p:nvSpPr>
          <p:cNvPr id="6" name="text"/>
          <p:cNvSpPr txBox="1"/>
          <p:nvPr/>
        </p:nvSpPr>
        <p:spPr>
          <a:xfrm>
            <a:off x="731520" y="1920240"/>
            <a:ext cx="3108960" cy="914400"/>
          </a:xfrm>
          <a:prstGeom prst="rect">
            <a:avLst/>
          </a:prstGeom>
          <a:noFill/>
          <a:ln/>
        </p:spPr>
        <p:txBody>
          <a:bodyPr wrap="square" lIns="0" tIns="0" rIns="0" bIns="0" rtlCol="0" anchor="t"/>
          <a:lstStyle/>
          <a:p>
            <a:pPr indent="0" marL="0">
              <a:buNone/>
            </a:pPr>
            <a:r>
              <a:rPr lang="en-US" sz="1100" dirty="0">
                <a:solidFill>
                  <a:schemeClr val="tx1"/>
                </a:solidFill>
              </a:rPr>
              <a:t>Accountable for the product's definition, quality rules, service levels, access and roadmap. Certifies each release against its DQ rules.</a:t>
            </a:r>
            <a:endParaRPr lang="en-US" sz="1100" dirty="0"/>
          </a:p>
        </p:txBody>
      </p:sp>
      <p:sp>
        <p:nvSpPr>
          <p:cNvPr id="7" name="card"/>
          <p:cNvSpPr/>
          <p:nvPr/>
        </p:nvSpPr>
        <p:spPr>
          <a:xfrm>
            <a:off x="4160520" y="1417320"/>
            <a:ext cx="3474720" cy="1463040"/>
          </a:xfrm>
          <a:prstGeom prst="roundRect">
            <a:avLst>
              <a:gd name="adj" fmla="val 5000"/>
            </a:avLst>
          </a:prstGeom>
          <a:solidFill>
            <a:schemeClr val="bg2"/>
          </a:solidFill>
          <a:ln w="12700">
            <a:solidFill>
              <a:schemeClr val="bg2"/>
            </a:solidFill>
            <a:prstDash val="solid"/>
          </a:ln>
        </p:spPr>
      </p:sp>
      <p:sp>
        <p:nvSpPr>
          <p:cNvPr id="8" name="text"/>
          <p:cNvSpPr txBox="1"/>
          <p:nvPr/>
        </p:nvSpPr>
        <p:spPr>
          <a:xfrm>
            <a:off x="4343400" y="1554480"/>
            <a:ext cx="3108960" cy="320040"/>
          </a:xfrm>
          <a:prstGeom prst="rect">
            <a:avLst/>
          </a:prstGeom>
          <a:noFill/>
          <a:ln/>
        </p:spPr>
        <p:txBody>
          <a:bodyPr wrap="square" lIns="0" tIns="0" rIns="0" bIns="0" rtlCol="0" anchor="t"/>
          <a:lstStyle/>
          <a:p>
            <a:pPr indent="0" marL="0">
              <a:buNone/>
            </a:pPr>
            <a:r>
              <a:rPr lang="en-US" sz="1400" b="1" dirty="0">
                <a:solidFill>
                  <a:schemeClr val="accent2"/>
                </a:solidFill>
              </a:rPr>
              <a:t>Domain data owners</a:t>
            </a:r>
            <a:endParaRPr lang="en-US" sz="1400" dirty="0"/>
          </a:p>
        </p:txBody>
      </p:sp>
      <p:sp>
        <p:nvSpPr>
          <p:cNvPr id="9" name="text"/>
          <p:cNvSpPr txBox="1"/>
          <p:nvPr/>
        </p:nvSpPr>
        <p:spPr>
          <a:xfrm>
            <a:off x="4343400" y="1920240"/>
            <a:ext cx="3108960" cy="914400"/>
          </a:xfrm>
          <a:prstGeom prst="rect">
            <a:avLst/>
          </a:prstGeom>
          <a:noFill/>
          <a:ln/>
        </p:spPr>
        <p:txBody>
          <a:bodyPr wrap="square" lIns="0" tIns="0" rIns="0" bIns="0" rtlCol="0" anchor="t"/>
          <a:lstStyle/>
          <a:p>
            <a:pPr indent="0" marL="0">
              <a:buNone/>
            </a:pPr>
            <a:r>
              <a:rPr lang="en-US" sz="1100" dirty="0">
                <a:solidFill>
                  <a:schemeClr val="tx1"/>
                </a:solidFill>
              </a:rPr>
              <a:t>Own the meaning and quality of the concepts the product consumes. Approve new uses of personal or licensed data from their domain.</a:t>
            </a:r>
            <a:endParaRPr lang="en-US" sz="1100" dirty="0"/>
          </a:p>
        </p:txBody>
      </p:sp>
      <p:sp>
        <p:nvSpPr>
          <p:cNvPr id="10" name="card"/>
          <p:cNvSpPr/>
          <p:nvPr/>
        </p:nvSpPr>
        <p:spPr>
          <a:xfrm>
            <a:off x="548640" y="3017520"/>
            <a:ext cx="3474720" cy="1463040"/>
          </a:xfrm>
          <a:prstGeom prst="roundRect">
            <a:avLst>
              <a:gd name="adj" fmla="val 5000"/>
            </a:avLst>
          </a:prstGeom>
          <a:solidFill>
            <a:schemeClr val="bg2"/>
          </a:solidFill>
          <a:ln w="12700">
            <a:solidFill>
              <a:schemeClr val="bg2"/>
            </a:solidFill>
            <a:prstDash val="solid"/>
          </a:ln>
        </p:spPr>
      </p:sp>
      <p:sp>
        <p:nvSpPr>
          <p:cNvPr id="11" name="text"/>
          <p:cNvSpPr txBox="1"/>
          <p:nvPr/>
        </p:nvSpPr>
        <p:spPr>
          <a:xfrm>
            <a:off x="731520" y="3154680"/>
            <a:ext cx="3108960" cy="320040"/>
          </a:xfrm>
          <a:prstGeom prst="rect">
            <a:avLst/>
          </a:prstGeom>
          <a:noFill/>
          <a:ln/>
        </p:spPr>
        <p:txBody>
          <a:bodyPr wrap="square" lIns="0" tIns="0" rIns="0" bIns="0" rtlCol="0" anchor="t"/>
          <a:lstStyle/>
          <a:p>
            <a:pPr indent="0" marL="0">
              <a:buNone/>
            </a:pPr>
            <a:r>
              <a:rPr lang="en-US" sz="1400" b="1" dirty="0">
                <a:solidFill>
                  <a:schemeClr val="accent3"/>
                </a:solidFill>
              </a:rPr>
              <a:t>Data Office</a:t>
            </a:r>
            <a:endParaRPr lang="en-US" sz="1400" dirty="0"/>
          </a:p>
        </p:txBody>
      </p:sp>
      <p:sp>
        <p:nvSpPr>
          <p:cNvPr id="12" name="text"/>
          <p:cNvSpPr txBox="1"/>
          <p:nvPr/>
        </p:nvSpPr>
        <p:spPr>
          <a:xfrm>
            <a:off x="731520" y="3520440"/>
            <a:ext cx="3108960" cy="914400"/>
          </a:xfrm>
          <a:prstGeom prst="rect">
            <a:avLst/>
          </a:prstGeom>
          <a:noFill/>
          <a:ln/>
        </p:spPr>
        <p:txBody>
          <a:bodyPr wrap="square" lIns="0" tIns="0" rIns="0" bIns="0" rtlCol="0" anchor="t"/>
          <a:lstStyle/>
          <a:p>
            <a:pPr indent="0" marL="0">
              <a:buNone/>
            </a:pPr>
            <a:r>
              <a:rPr lang="en-US" sz="1100" dirty="0">
                <a:solidFill>
                  <a:schemeClr val="tx1"/>
                </a:solidFill>
              </a:rPr>
              <a:t>Maintains the catalog, the specification standard and the build. Runs product certification. Arbitrates where two products overlap.</a:t>
            </a:r>
            <a:endParaRPr lang="en-US" sz="1100" dirty="0"/>
          </a:p>
        </p:txBody>
      </p:sp>
      <p:sp>
        <p:nvSpPr>
          <p:cNvPr id="13" name="card"/>
          <p:cNvSpPr/>
          <p:nvPr/>
        </p:nvSpPr>
        <p:spPr>
          <a:xfrm>
            <a:off x="4160520" y="3017520"/>
            <a:ext cx="3474720" cy="1463040"/>
          </a:xfrm>
          <a:prstGeom prst="roundRect">
            <a:avLst>
              <a:gd name="adj" fmla="val 5000"/>
            </a:avLst>
          </a:prstGeom>
          <a:solidFill>
            <a:schemeClr val="bg2"/>
          </a:solidFill>
          <a:ln w="12700">
            <a:solidFill>
              <a:schemeClr val="bg2"/>
            </a:solidFill>
            <a:prstDash val="solid"/>
          </a:ln>
        </p:spPr>
      </p:sp>
      <p:sp>
        <p:nvSpPr>
          <p:cNvPr id="14" name="text"/>
          <p:cNvSpPr txBox="1"/>
          <p:nvPr/>
        </p:nvSpPr>
        <p:spPr>
          <a:xfrm>
            <a:off x="4343400" y="3154680"/>
            <a:ext cx="3108960" cy="320040"/>
          </a:xfrm>
          <a:prstGeom prst="rect">
            <a:avLst/>
          </a:prstGeom>
          <a:noFill/>
          <a:ln/>
        </p:spPr>
        <p:txBody>
          <a:bodyPr wrap="square" lIns="0" tIns="0" rIns="0" bIns="0" rtlCol="0" anchor="t"/>
          <a:lstStyle/>
          <a:p>
            <a:pPr indent="0" marL="0">
              <a:buNone/>
            </a:pPr>
            <a:r>
              <a:rPr lang="en-US" sz="1400" b="1" dirty="0">
                <a:solidFill>
                  <a:schemeClr val="accent4"/>
                </a:solidFill>
              </a:rPr>
              <a:t>Compliance and privacy</a:t>
            </a:r>
            <a:endParaRPr lang="en-US" sz="1400" dirty="0"/>
          </a:p>
        </p:txBody>
      </p:sp>
      <p:sp>
        <p:nvSpPr>
          <p:cNvPr id="15" name="text"/>
          <p:cNvSpPr txBox="1"/>
          <p:nvPr/>
        </p:nvSpPr>
        <p:spPr>
          <a:xfrm>
            <a:off x="4343400" y="3520440"/>
            <a:ext cx="3108960" cy="914400"/>
          </a:xfrm>
          <a:prstGeom prst="rect">
            <a:avLst/>
          </a:prstGeom>
          <a:noFill/>
          <a:ln/>
        </p:spPr>
        <p:txBody>
          <a:bodyPr wrap="square" lIns="0" tIns="0" rIns="0" bIns="0" rtlCol="0" anchor="t"/>
          <a:lstStyle/>
          <a:p>
            <a:pPr indent="0" marL="0">
              <a:buNone/>
            </a:pPr>
            <a:r>
              <a:rPr lang="en-US" sz="1100" dirty="0">
                <a:solidFill>
                  <a:schemeClr val="tx1"/>
                </a:solidFill>
              </a:rPr>
              <a:t>Review products flagged personal data or licensed, and every Regulatory &amp; Control product.</a:t>
            </a:r>
            <a:endParaRPr lang="en-US" sz="1100" dirty="0"/>
          </a:p>
        </p:txBody>
      </p:sp>
      <p:sp>
        <p:nvSpPr>
          <p:cNvPr id="16" name="card"/>
          <p:cNvSpPr/>
          <p:nvPr/>
        </p:nvSpPr>
        <p:spPr>
          <a:xfrm>
            <a:off x="7863840" y="1417320"/>
            <a:ext cx="3776472" cy="1463040"/>
          </a:xfrm>
          <a:prstGeom prst="roundRect">
            <a:avLst>
              <a:gd name="adj" fmla="val 5000"/>
            </a:avLst>
          </a:prstGeom>
          <a:solidFill>
            <a:schemeClr val="tx2"/>
          </a:solidFill>
          <a:ln w="12700">
            <a:solidFill>
              <a:schemeClr val="tx2"/>
            </a:solidFill>
            <a:prstDash val="solid"/>
          </a:ln>
        </p:spPr>
      </p:sp>
      <p:sp>
        <p:nvSpPr>
          <p:cNvPr id="17" name="text"/>
          <p:cNvSpPr txBox="1"/>
          <p:nvPr/>
        </p:nvSpPr>
        <p:spPr>
          <a:xfrm>
            <a:off x="8046720" y="1527048"/>
            <a:ext cx="3410712" cy="320040"/>
          </a:xfrm>
          <a:prstGeom prst="rect">
            <a:avLst/>
          </a:prstGeom>
          <a:noFill/>
          <a:ln/>
        </p:spPr>
        <p:txBody>
          <a:bodyPr wrap="square" lIns="0" tIns="0" rIns="0" bIns="0" rtlCol="0" anchor="t"/>
          <a:lstStyle/>
          <a:p>
            <a:pPr indent="0" marL="0">
              <a:buNone/>
            </a:pPr>
            <a:r>
              <a:rPr lang="en-US" sz="1400" b="1" dirty="0">
                <a:solidFill>
                  <a:schemeClr val="bg1"/>
                </a:solidFill>
              </a:rPr>
              <a:t>Certification</a:t>
            </a:r>
            <a:endParaRPr lang="en-US" sz="1400" dirty="0"/>
          </a:p>
        </p:txBody>
      </p:sp>
      <p:sp>
        <p:nvSpPr>
          <p:cNvPr id="18" name="text"/>
          <p:cNvSpPr txBox="1"/>
          <p:nvPr/>
        </p:nvSpPr>
        <p:spPr>
          <a:xfrm>
            <a:off x="8046720" y="1874520"/>
            <a:ext cx="3410712" cy="960120"/>
          </a:xfrm>
          <a:prstGeom prst="rect">
            <a:avLst/>
          </a:prstGeom>
          <a:noFill/>
          <a:ln/>
        </p:spPr>
        <p:txBody>
          <a:bodyPr wrap="square" lIns="0" tIns="0" rIns="0" bIns="0" rtlCol="0" anchor="t"/>
          <a:lstStyle/>
          <a:p>
            <a:pPr indent="0" marL="0">
              <a:buNone/>
            </a:pPr>
            <a:r>
              <a:rPr lang="en-US" sz="1100" dirty="0">
                <a:solidFill>
                  <a:schemeClr val="bg2"/>
                </a:solidFill>
              </a:rPr>
              <a:t>A product is Certified when its owner signs that its DQ rules pass and its service levels are met. The certified-number owners are the anchors every other product reads from.</a:t>
            </a:r>
            <a:endParaRPr lang="en-US" sz="1100" dirty="0"/>
          </a:p>
        </p:txBody>
      </p:sp>
      <p:sp>
        <p:nvSpPr>
          <p:cNvPr id="19" name="card"/>
          <p:cNvSpPr/>
          <p:nvPr/>
        </p:nvSpPr>
        <p:spPr>
          <a:xfrm>
            <a:off x="7863840" y="3017520"/>
            <a:ext cx="3776472" cy="1463040"/>
          </a:xfrm>
          <a:prstGeom prst="roundRect">
            <a:avLst>
              <a:gd name="adj" fmla="val 5000"/>
            </a:avLst>
          </a:prstGeom>
          <a:solidFill>
            <a:schemeClr val="tx2"/>
          </a:solidFill>
          <a:ln w="12700">
            <a:solidFill>
              <a:schemeClr val="tx2"/>
            </a:solidFill>
            <a:prstDash val="solid"/>
          </a:ln>
        </p:spPr>
      </p:sp>
      <p:sp>
        <p:nvSpPr>
          <p:cNvPr id="20" name="text"/>
          <p:cNvSpPr txBox="1"/>
          <p:nvPr/>
        </p:nvSpPr>
        <p:spPr>
          <a:xfrm>
            <a:off x="8046720" y="3127248"/>
            <a:ext cx="3410712" cy="320040"/>
          </a:xfrm>
          <a:prstGeom prst="rect">
            <a:avLst/>
          </a:prstGeom>
          <a:noFill/>
          <a:ln/>
        </p:spPr>
        <p:txBody>
          <a:bodyPr wrap="square" lIns="0" tIns="0" rIns="0" bIns="0" rtlCol="0" anchor="t"/>
          <a:lstStyle/>
          <a:p>
            <a:pPr indent="0" marL="0">
              <a:buNone/>
            </a:pPr>
            <a:r>
              <a:rPr lang="en-US" sz="1400" b="1" dirty="0">
                <a:solidFill>
                  <a:schemeClr val="bg1"/>
                </a:solidFill>
              </a:rPr>
              <a:t>Change control</a:t>
            </a:r>
            <a:endParaRPr lang="en-US" sz="1400" dirty="0"/>
          </a:p>
        </p:txBody>
      </p:sp>
      <p:sp>
        <p:nvSpPr>
          <p:cNvPr id="21" name="text"/>
          <p:cNvSpPr txBox="1"/>
          <p:nvPr/>
        </p:nvSpPr>
        <p:spPr>
          <a:xfrm>
            <a:off x="8046720" y="3474720"/>
            <a:ext cx="3410712" cy="960120"/>
          </a:xfrm>
          <a:prstGeom prst="rect">
            <a:avLst/>
          </a:prstGeom>
          <a:noFill/>
          <a:ln/>
        </p:spPr>
        <p:txBody>
          <a:bodyPr wrap="square" lIns="0" tIns="0" rIns="0" bIns="0" rtlCol="0" anchor="t"/>
          <a:lstStyle/>
          <a:p>
            <a:pPr indent="0" marL="0">
              <a:buNone/>
            </a:pPr>
            <a:r>
              <a:rPr lang="en-US" sz="1100" dirty="0">
                <a:solidFill>
                  <a:schemeClr val="bg2"/>
                </a:solidFill>
              </a:rPr>
              <a:t>1. Edit the specification.  2. Rebuild; run the baseline check.  3. Log any material change (new product, changed grain or measure, new personal data) as a numbered decision.</a:t>
            </a:r>
            <a:endParaRPr lang="en-US" sz="1100" dirty="0"/>
          </a:p>
        </p:txBody>
      </p:sp>
      <p:sp>
        <p:nvSpPr>
          <p:cNvPr id="22" name="card"/>
          <p:cNvSpPr/>
          <p:nvPr/>
        </p:nvSpPr>
        <p:spPr>
          <a:xfrm>
            <a:off x="548640" y="4709160"/>
            <a:ext cx="11094415" cy="1508760"/>
          </a:xfrm>
          <a:prstGeom prst="roundRect">
            <a:avLst>
              <a:gd name="adj" fmla="val 4848"/>
            </a:avLst>
          </a:prstGeom>
          <a:solidFill>
            <a:schemeClr val="bg2"/>
          </a:solidFill>
          <a:ln w="12700">
            <a:solidFill>
              <a:schemeClr val="bg2"/>
            </a:solidFill>
            <a:prstDash val="solid"/>
          </a:ln>
        </p:spPr>
      </p:sp>
      <p:sp>
        <p:nvSpPr>
          <p:cNvPr id="23" name="text"/>
          <p:cNvSpPr txBox="1"/>
          <p:nvPr/>
        </p:nvSpPr>
        <p:spPr>
          <a:xfrm>
            <a:off x="777240" y="4818888"/>
            <a:ext cx="3657600" cy="320040"/>
          </a:xfrm>
          <a:prstGeom prst="rect">
            <a:avLst/>
          </a:prstGeom>
          <a:noFill/>
          <a:ln/>
        </p:spPr>
        <p:txBody>
          <a:bodyPr wrap="square" lIns="0" tIns="0" rIns="0" bIns="0" rtlCol="0" anchor="t"/>
          <a:lstStyle/>
          <a:p>
            <a:pPr indent="0" marL="0">
              <a:buNone/>
            </a:pPr>
            <a:r>
              <a:rPr lang="en-US" sz="1400" b="1" dirty="0">
                <a:solidFill>
                  <a:schemeClr val="accent5"/>
                </a:solidFill>
              </a:rPr>
              <a:t>The gap register</a:t>
            </a:r>
            <a:endParaRPr lang="en-US" sz="1400" dirty="0"/>
          </a:p>
        </p:txBody>
      </p:sp>
      <p:sp>
        <p:nvSpPr>
          <p:cNvPr id="24" name="text"/>
          <p:cNvSpPr txBox="1"/>
          <p:nvPr/>
        </p:nvSpPr>
        <p:spPr>
          <a:xfrm>
            <a:off x="777240" y="5166360"/>
            <a:ext cx="10637215" cy="1005840"/>
          </a:xfrm>
          <a:prstGeom prst="rect">
            <a:avLst/>
          </a:prstGeom>
          <a:noFill/>
          <a:ln/>
        </p:spPr>
        <p:txBody>
          <a:bodyPr wrap="square" lIns="0" tIns="0" rIns="0" bIns="0" rtlCol="0" anchor="t"/>
          <a:lstStyle/>
          <a:p>
            <a:pPr indent="0" marL="0">
              <a:buNone/>
            </a:pPr>
            <a:r>
              <a:rPr lang="en-US" sz="1150" dirty="0">
                <a:solidFill>
                  <a:schemeClr val="tx1"/>
                </a:solidFill>
              </a:rPr>
              <a:t>Every limitation found while specifying and modeling products is one issue: a category, a change type, a priority, a decision owner and the products affected. Missing dates and statuses, missing links between objects, missing objects for analytical content. A question the model cannot answer becomes a named change to a named domain, never a workaround inside one team's report. Triage views by domain, product and decision owner are the agenda for the workshops.</a:t>
            </a:r>
            <a:endParaRPr lang="en-US" sz="11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1094415" cy="457200"/>
          </a:xfrm>
          <a:prstGeom prst="rect">
            <a:avLst/>
          </a:prstGeom>
          <a:noFill/>
          <a:ln/>
        </p:spPr>
        <p:txBody>
          <a:bodyPr wrap="square" lIns="0" tIns="0" rIns="0" bIns="0" rtlCol="0"/>
          <a:lstStyle/>
          <a:p>
            <a:pPr indent="0" marL="0">
              <a:buNone/>
            </a:pPr>
            <a:r>
              <a:rPr lang="en-US" sz="1600" dirty="0">
                <a:solidFill>
                  <a:schemeClr val="bg2"/>
                </a:solidFill>
              </a:rPr>
              <a:t>PART 3</a:t>
            </a:r>
            <a:endParaRPr lang="en-US" sz="1600" dirty="0"/>
          </a:p>
        </p:txBody>
      </p:sp>
      <p:sp>
        <p:nvSpPr>
          <p:cNvPr id="3" name="Text 0"/>
          <p:cNvSpPr/>
          <p:nvPr>
            <p:ph idx="101" type="title" hasCustomPrompt="1"/>
          </p:nvPr>
        </p:nvSpPr>
        <p:spPr>
          <a:xfrm>
            <a:off x="548640" y="2606040"/>
            <a:ext cx="11094415" cy="1280160"/>
          </a:xfrm>
          <a:prstGeom prst="rect">
            <a:avLst/>
          </a:prstGeom>
          <a:noFill/>
          <a:ln/>
        </p:spPr>
        <p:txBody>
          <a:bodyPr wrap="square" lIns="0" tIns="0" rIns="0" bIns="0" rtlCol="0" anchor="t"/>
          <a:lstStyle/>
          <a:p>
            <a:pPr algn="l" indent="0" marL="0">
              <a:buNone/>
            </a:pPr>
            <a:r>
              <a:rPr lang="en-US" sz="4000" b="1" dirty="0">
                <a:solidFill>
                  <a:schemeClr val="bg1"/>
                </a:solidFill>
              </a:rPr>
              <a:t>The wealth manager</a:t>
            </a:r>
            <a:endParaRPr lang="en-US" sz="4000" dirty="0"/>
          </a:p>
        </p:txBody>
      </p:sp>
      <p:sp>
        <p:nvSpPr>
          <p:cNvPr id="4" name="Text 0"/>
          <p:cNvSpPr/>
          <p:nvPr>
            <p:ph idx="102" type="body" hasCustomPrompt="1"/>
          </p:nvPr>
        </p:nvSpPr>
        <p:spPr>
          <a:xfrm>
            <a:off x="548640" y="4023360"/>
            <a:ext cx="8686800" cy="1463040"/>
          </a:xfrm>
          <a:prstGeom prst="rect">
            <a:avLst/>
          </a:prstGeom>
          <a:noFill/>
          <a:ln/>
        </p:spPr>
        <p:txBody>
          <a:bodyPr wrap="square" lIns="0" tIns="0" rIns="0" bIns="0" rtlCol="0" anchor="t"/>
          <a:lstStyle/>
          <a:p>
            <a:pPr indent="0" marL="0">
              <a:buNone/>
            </a:pPr>
            <a:r>
              <a:rPr lang="en-US" sz="1800" dirty="0">
                <a:solidFill>
                  <a:schemeClr val="bg2"/>
                </a:solidFill>
              </a:rPr>
              <a:t>A reference model built for a direct wealth manager: the same rules and layers, with the household, the account, the advice relationship and the brokerage book of record at its center.</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target firm: direct, advice-led, own funds, US only</a:t>
            </a:r>
            <a:endParaRPr lang="en-US" sz="2800" dirty="0"/>
          </a:p>
        </p:txBody>
      </p:sp>
      <p:sp>
        <p:nvSpPr>
          <p:cNvPr id="4" name="card"/>
          <p:cNvSpPr/>
          <p:nvPr/>
        </p:nvSpPr>
        <p:spPr>
          <a:xfrm>
            <a:off x="548640" y="1417320"/>
            <a:ext cx="3657600" cy="896112"/>
          </a:xfrm>
          <a:prstGeom prst="roundRect">
            <a:avLst>
              <a:gd name="adj" fmla="val 8163"/>
            </a:avLst>
          </a:prstGeom>
          <a:solidFill>
            <a:schemeClr val="bg2"/>
          </a:solidFill>
          <a:ln w="12700">
            <a:solidFill>
              <a:schemeClr val="bg2"/>
            </a:solidFill>
            <a:prstDash val="solid"/>
          </a:ln>
        </p:spPr>
      </p:sp>
      <p:sp>
        <p:nvSpPr>
          <p:cNvPr id="5" name="panel"/>
          <p:cNvSpPr/>
          <p:nvPr/>
        </p:nvSpPr>
        <p:spPr>
          <a:xfrm>
            <a:off x="548640" y="1417320"/>
            <a:ext cx="685800" cy="896112"/>
          </a:xfrm>
          <a:prstGeom prst="rect">
            <a:avLst/>
          </a:prstGeom>
          <a:solidFill>
            <a:schemeClr val="accent5"/>
          </a:solidFill>
          <a:ln w="12700">
            <a:solidFill>
              <a:schemeClr val="accent5"/>
            </a:solidFill>
            <a:prstDash val="solid"/>
          </a:ln>
        </p:spPr>
      </p:sp>
      <p:sp>
        <p:nvSpPr>
          <p:cNvPr id="6" name="text"/>
          <p:cNvSpPr txBox="1"/>
          <p:nvPr/>
        </p:nvSpPr>
        <p:spPr>
          <a:xfrm>
            <a:off x="548640" y="1417320"/>
            <a:ext cx="685800" cy="896112"/>
          </a:xfrm>
          <a:prstGeom prst="rect">
            <a:avLst/>
          </a:prstGeom>
          <a:noFill/>
          <a:ln/>
        </p:spPr>
        <p:txBody>
          <a:bodyPr wrap="square" lIns="0" tIns="0" rIns="0" bIns="0" rtlCol="0" anchor="ctr"/>
          <a:lstStyle/>
          <a:p>
            <a:pPr algn="ctr" indent="0" marL="0">
              <a:buNone/>
            </a:pPr>
            <a:r>
              <a:rPr lang="en-US" sz="1600" b="1" dirty="0">
                <a:solidFill>
                  <a:schemeClr val="bg1"/>
                </a:solidFill>
              </a:rPr>
              <a:t>DB</a:t>
            </a:r>
            <a:endParaRPr lang="en-US" sz="1600" dirty="0"/>
          </a:p>
        </p:txBody>
      </p:sp>
      <p:sp>
        <p:nvSpPr>
          <p:cNvPr id="7" name="text"/>
          <p:cNvSpPr txBox="1"/>
          <p:nvPr/>
        </p:nvSpPr>
        <p:spPr>
          <a:xfrm>
            <a:off x="1371600" y="1508760"/>
            <a:ext cx="2697480" cy="292608"/>
          </a:xfrm>
          <a:prstGeom prst="rect">
            <a:avLst/>
          </a:prstGeom>
          <a:noFill/>
          <a:ln/>
        </p:spPr>
        <p:txBody>
          <a:bodyPr wrap="square" lIns="0" tIns="0" rIns="0" bIns="0" rtlCol="0" anchor="t"/>
          <a:lstStyle/>
          <a:p>
            <a:pPr indent="0" marL="0">
              <a:buNone/>
            </a:pPr>
            <a:r>
              <a:rPr lang="en-US" sz="1200" b="1" dirty="0">
                <a:solidFill>
                  <a:schemeClr val="tx2"/>
                </a:solidFill>
              </a:rPr>
              <a:t>Direct brokerage and self-directed</a:t>
            </a:r>
            <a:endParaRPr lang="en-US" sz="1200" dirty="0"/>
          </a:p>
        </p:txBody>
      </p:sp>
      <p:sp>
        <p:nvSpPr>
          <p:cNvPr id="8" name="text"/>
          <p:cNvSpPr txBox="1"/>
          <p:nvPr/>
        </p:nvSpPr>
        <p:spPr>
          <a:xfrm>
            <a:off x="1371600" y="1801368"/>
            <a:ext cx="2697480" cy="502920"/>
          </a:xfrm>
          <a:prstGeom prst="rect">
            <a:avLst/>
          </a:prstGeom>
          <a:noFill/>
          <a:ln/>
        </p:spPr>
        <p:txBody>
          <a:bodyPr wrap="square" lIns="0" tIns="0" rIns="0" bIns="0" rtlCol="0" anchor="t"/>
          <a:lstStyle/>
          <a:p>
            <a:pPr indent="0" marL="0">
              <a:buNone/>
            </a:pPr>
            <a:r>
              <a:rPr lang="en-US" sz="950" dirty="0">
                <a:solidFill>
                  <a:schemeClr val="tx1"/>
                </a:solidFill>
              </a:rPr>
              <a:t>Brokerage accounts, client orders, cash sweep, margin, fully paid lending</a:t>
            </a:r>
            <a:endParaRPr lang="en-US" sz="950" dirty="0"/>
          </a:p>
        </p:txBody>
      </p:sp>
      <p:sp>
        <p:nvSpPr>
          <p:cNvPr id="9" name="card"/>
          <p:cNvSpPr/>
          <p:nvPr/>
        </p:nvSpPr>
        <p:spPr>
          <a:xfrm>
            <a:off x="4343400" y="1417320"/>
            <a:ext cx="3657600" cy="896112"/>
          </a:xfrm>
          <a:prstGeom prst="roundRect">
            <a:avLst>
              <a:gd name="adj" fmla="val 8163"/>
            </a:avLst>
          </a:prstGeom>
          <a:solidFill>
            <a:schemeClr val="bg2"/>
          </a:solidFill>
          <a:ln w="12700">
            <a:solidFill>
              <a:schemeClr val="bg2"/>
            </a:solidFill>
            <a:prstDash val="solid"/>
          </a:ln>
        </p:spPr>
      </p:sp>
      <p:sp>
        <p:nvSpPr>
          <p:cNvPr id="10" name="panel"/>
          <p:cNvSpPr/>
          <p:nvPr/>
        </p:nvSpPr>
        <p:spPr>
          <a:xfrm>
            <a:off x="4343400" y="1417320"/>
            <a:ext cx="685800" cy="896112"/>
          </a:xfrm>
          <a:prstGeom prst="rect">
            <a:avLst/>
          </a:prstGeom>
          <a:solidFill>
            <a:schemeClr val="accent1"/>
          </a:solidFill>
          <a:ln w="12700">
            <a:solidFill>
              <a:schemeClr val="accent1"/>
            </a:solidFill>
            <a:prstDash val="solid"/>
          </a:ln>
        </p:spPr>
      </p:sp>
      <p:sp>
        <p:nvSpPr>
          <p:cNvPr id="11" name="text"/>
          <p:cNvSpPr txBox="1"/>
          <p:nvPr/>
        </p:nvSpPr>
        <p:spPr>
          <a:xfrm>
            <a:off x="4343400" y="1417320"/>
            <a:ext cx="685800" cy="896112"/>
          </a:xfrm>
          <a:prstGeom prst="rect">
            <a:avLst/>
          </a:prstGeom>
          <a:noFill/>
          <a:ln/>
        </p:spPr>
        <p:txBody>
          <a:bodyPr wrap="square" lIns="0" tIns="0" rIns="0" bIns="0" rtlCol="0" anchor="ctr"/>
          <a:lstStyle/>
          <a:p>
            <a:pPr algn="ctr" indent="0" marL="0">
              <a:buNone/>
            </a:pPr>
            <a:r>
              <a:rPr lang="en-US" sz="1600" b="1" dirty="0">
                <a:solidFill>
                  <a:schemeClr val="bg1"/>
                </a:solidFill>
              </a:rPr>
              <a:t>DA</a:t>
            </a:r>
            <a:endParaRPr lang="en-US" sz="1600" dirty="0"/>
          </a:p>
        </p:txBody>
      </p:sp>
      <p:sp>
        <p:nvSpPr>
          <p:cNvPr id="12" name="text"/>
          <p:cNvSpPr txBox="1"/>
          <p:nvPr/>
        </p:nvSpPr>
        <p:spPr>
          <a:xfrm>
            <a:off x="5166360" y="1508760"/>
            <a:ext cx="2697480" cy="292608"/>
          </a:xfrm>
          <a:prstGeom prst="rect">
            <a:avLst/>
          </a:prstGeom>
          <a:noFill/>
          <a:ln/>
        </p:spPr>
        <p:txBody>
          <a:bodyPr wrap="square" lIns="0" tIns="0" rIns="0" bIns="0" rtlCol="0" anchor="t"/>
          <a:lstStyle/>
          <a:p>
            <a:pPr indent="0" marL="0">
              <a:buNone/>
            </a:pPr>
            <a:r>
              <a:rPr lang="en-US" sz="1200" b="1" dirty="0">
                <a:solidFill>
                  <a:schemeClr val="tx2"/>
                </a:solidFill>
              </a:rPr>
              <a:t>Digital advice</a:t>
            </a:r>
            <a:endParaRPr lang="en-US" sz="1200" dirty="0"/>
          </a:p>
        </p:txBody>
      </p:sp>
      <p:sp>
        <p:nvSpPr>
          <p:cNvPr id="13" name="text"/>
          <p:cNvSpPr txBox="1"/>
          <p:nvPr/>
        </p:nvSpPr>
        <p:spPr>
          <a:xfrm>
            <a:off x="5166360" y="1801368"/>
            <a:ext cx="2697480" cy="502920"/>
          </a:xfrm>
          <a:prstGeom prst="rect">
            <a:avLst/>
          </a:prstGeom>
          <a:noFill/>
          <a:ln/>
        </p:spPr>
        <p:txBody>
          <a:bodyPr wrap="square" lIns="0" tIns="0" rIns="0" bIns="0" rtlCol="0" anchor="t"/>
          <a:lstStyle/>
          <a:p>
            <a:pPr indent="0" marL="0">
              <a:buNone/>
            </a:pPr>
            <a:r>
              <a:rPr lang="en-US" sz="950" dirty="0">
                <a:solidFill>
                  <a:schemeClr val="tx1"/>
                </a:solidFill>
              </a:rPr>
              <a:t>Algorithmic advice at scale, goals-based planning, digital onboarding, Rule 3a-4 programs</a:t>
            </a:r>
            <a:endParaRPr lang="en-US" sz="950" dirty="0"/>
          </a:p>
        </p:txBody>
      </p:sp>
      <p:sp>
        <p:nvSpPr>
          <p:cNvPr id="14" name="card"/>
          <p:cNvSpPr/>
          <p:nvPr/>
        </p:nvSpPr>
        <p:spPr>
          <a:xfrm>
            <a:off x="548640" y="2423160"/>
            <a:ext cx="3657600" cy="896112"/>
          </a:xfrm>
          <a:prstGeom prst="roundRect">
            <a:avLst>
              <a:gd name="adj" fmla="val 8163"/>
            </a:avLst>
          </a:prstGeom>
          <a:solidFill>
            <a:schemeClr val="bg2"/>
          </a:solidFill>
          <a:ln w="12700">
            <a:solidFill>
              <a:schemeClr val="bg2"/>
            </a:solidFill>
            <a:prstDash val="solid"/>
          </a:ln>
        </p:spPr>
      </p:sp>
      <p:sp>
        <p:nvSpPr>
          <p:cNvPr id="15" name="panel"/>
          <p:cNvSpPr/>
          <p:nvPr/>
        </p:nvSpPr>
        <p:spPr>
          <a:xfrm>
            <a:off x="548640" y="2423160"/>
            <a:ext cx="685800" cy="896112"/>
          </a:xfrm>
          <a:prstGeom prst="rect">
            <a:avLst/>
          </a:prstGeom>
          <a:solidFill>
            <a:schemeClr val="accent1"/>
          </a:solidFill>
          <a:ln w="12700">
            <a:solidFill>
              <a:schemeClr val="accent1"/>
            </a:solidFill>
            <a:prstDash val="solid"/>
          </a:ln>
        </p:spPr>
      </p:sp>
      <p:sp>
        <p:nvSpPr>
          <p:cNvPr id="16" name="text"/>
          <p:cNvSpPr txBox="1"/>
          <p:nvPr/>
        </p:nvSpPr>
        <p:spPr>
          <a:xfrm>
            <a:off x="548640" y="2423160"/>
            <a:ext cx="685800" cy="896112"/>
          </a:xfrm>
          <a:prstGeom prst="rect">
            <a:avLst/>
          </a:prstGeom>
          <a:noFill/>
          <a:ln/>
        </p:spPr>
        <p:txBody>
          <a:bodyPr wrap="square" lIns="0" tIns="0" rIns="0" bIns="0" rtlCol="0" anchor="ctr"/>
          <a:lstStyle/>
          <a:p>
            <a:pPr algn="ctr" indent="0" marL="0">
              <a:buNone/>
            </a:pPr>
            <a:r>
              <a:rPr lang="en-US" sz="1600" b="1" dirty="0">
                <a:solidFill>
                  <a:schemeClr val="bg1"/>
                </a:solidFill>
              </a:rPr>
              <a:t>HA</a:t>
            </a:r>
            <a:endParaRPr lang="en-US" sz="1600" dirty="0"/>
          </a:p>
        </p:txBody>
      </p:sp>
      <p:sp>
        <p:nvSpPr>
          <p:cNvPr id="17" name="text"/>
          <p:cNvSpPr txBox="1"/>
          <p:nvPr/>
        </p:nvSpPr>
        <p:spPr>
          <a:xfrm>
            <a:off x="1371600" y="2514600"/>
            <a:ext cx="2697480" cy="292608"/>
          </a:xfrm>
          <a:prstGeom prst="rect">
            <a:avLst/>
          </a:prstGeom>
          <a:noFill/>
          <a:ln/>
        </p:spPr>
        <p:txBody>
          <a:bodyPr wrap="square" lIns="0" tIns="0" rIns="0" bIns="0" rtlCol="0" anchor="t"/>
          <a:lstStyle/>
          <a:p>
            <a:pPr indent="0" marL="0">
              <a:buNone/>
            </a:pPr>
            <a:r>
              <a:rPr lang="en-US" sz="1200" b="1" dirty="0">
                <a:solidFill>
                  <a:schemeClr val="tx2"/>
                </a:solidFill>
              </a:rPr>
              <a:t>Human and hybrid advice</a:t>
            </a:r>
            <a:endParaRPr lang="en-US" sz="1200" dirty="0"/>
          </a:p>
        </p:txBody>
      </p:sp>
      <p:sp>
        <p:nvSpPr>
          <p:cNvPr id="18" name="text"/>
          <p:cNvSpPr txBox="1"/>
          <p:nvPr/>
        </p:nvSpPr>
        <p:spPr>
          <a:xfrm>
            <a:off x="1371600" y="2807208"/>
            <a:ext cx="2697480" cy="502920"/>
          </a:xfrm>
          <a:prstGeom prst="rect">
            <a:avLst/>
          </a:prstGeom>
          <a:noFill/>
          <a:ln/>
        </p:spPr>
        <p:txBody>
          <a:bodyPr wrap="square" lIns="0" tIns="0" rIns="0" bIns="0" rtlCol="0" anchor="t"/>
          <a:lstStyle/>
          <a:p>
            <a:pPr indent="0" marL="0">
              <a:buNone/>
            </a:pPr>
            <a:r>
              <a:rPr lang="en-US" sz="950" dirty="0">
                <a:solidFill>
                  <a:schemeClr val="tx1"/>
                </a:solidFill>
              </a:rPr>
              <a:t>Financial plans, advisor relationships, ongoing advice fees, household-level management, tax-aware strategies</a:t>
            </a:r>
            <a:endParaRPr lang="en-US" sz="950" dirty="0"/>
          </a:p>
        </p:txBody>
      </p:sp>
      <p:sp>
        <p:nvSpPr>
          <p:cNvPr id="19" name="card"/>
          <p:cNvSpPr/>
          <p:nvPr/>
        </p:nvSpPr>
        <p:spPr>
          <a:xfrm>
            <a:off x="4343400" y="2423160"/>
            <a:ext cx="3657600" cy="896112"/>
          </a:xfrm>
          <a:prstGeom prst="roundRect">
            <a:avLst>
              <a:gd name="adj" fmla="val 8163"/>
            </a:avLst>
          </a:prstGeom>
          <a:solidFill>
            <a:schemeClr val="bg2"/>
          </a:solidFill>
          <a:ln w="12700">
            <a:solidFill>
              <a:schemeClr val="bg2"/>
            </a:solidFill>
            <a:prstDash val="solid"/>
          </a:ln>
        </p:spPr>
      </p:sp>
      <p:sp>
        <p:nvSpPr>
          <p:cNvPr id="20" name="panel"/>
          <p:cNvSpPr/>
          <p:nvPr/>
        </p:nvSpPr>
        <p:spPr>
          <a:xfrm>
            <a:off x="4343400" y="2423160"/>
            <a:ext cx="685800" cy="896112"/>
          </a:xfrm>
          <a:prstGeom prst="rect">
            <a:avLst/>
          </a:prstGeom>
          <a:solidFill>
            <a:schemeClr val="accent2"/>
          </a:solidFill>
          <a:ln w="12700">
            <a:solidFill>
              <a:schemeClr val="accent2"/>
            </a:solidFill>
            <a:prstDash val="solid"/>
          </a:ln>
        </p:spPr>
      </p:sp>
      <p:sp>
        <p:nvSpPr>
          <p:cNvPr id="21" name="text"/>
          <p:cNvSpPr txBox="1"/>
          <p:nvPr/>
        </p:nvSpPr>
        <p:spPr>
          <a:xfrm>
            <a:off x="4343400" y="2423160"/>
            <a:ext cx="685800" cy="896112"/>
          </a:xfrm>
          <a:prstGeom prst="rect">
            <a:avLst/>
          </a:prstGeom>
          <a:noFill/>
          <a:ln/>
        </p:spPr>
        <p:txBody>
          <a:bodyPr wrap="square" lIns="0" tIns="0" rIns="0" bIns="0" rtlCol="0" anchor="ctr"/>
          <a:lstStyle/>
          <a:p>
            <a:pPr algn="ctr" indent="0" marL="0">
              <a:buNone/>
            </a:pPr>
            <a:r>
              <a:rPr lang="en-US" sz="1600" b="1" dirty="0">
                <a:solidFill>
                  <a:schemeClr val="bg1"/>
                </a:solidFill>
              </a:rPr>
              <a:t>PF</a:t>
            </a:r>
            <a:endParaRPr lang="en-US" sz="1600" dirty="0"/>
          </a:p>
        </p:txBody>
      </p:sp>
      <p:sp>
        <p:nvSpPr>
          <p:cNvPr id="22" name="text"/>
          <p:cNvSpPr txBox="1"/>
          <p:nvPr/>
        </p:nvSpPr>
        <p:spPr>
          <a:xfrm>
            <a:off x="5166360" y="2514600"/>
            <a:ext cx="2697480" cy="292608"/>
          </a:xfrm>
          <a:prstGeom prst="rect">
            <a:avLst/>
          </a:prstGeom>
          <a:noFill/>
          <a:ln/>
        </p:spPr>
        <p:txBody>
          <a:bodyPr wrap="square" lIns="0" tIns="0" rIns="0" bIns="0" rtlCol="0" anchor="t"/>
          <a:lstStyle/>
          <a:p>
            <a:pPr indent="0" marL="0">
              <a:buNone/>
            </a:pPr>
            <a:r>
              <a:rPr lang="en-US" sz="1200" b="1" dirty="0">
                <a:solidFill>
                  <a:schemeClr val="tx2"/>
                </a:solidFill>
              </a:rPr>
              <a:t>Proprietary funds and ETFs</a:t>
            </a:r>
            <a:endParaRPr lang="en-US" sz="1200" dirty="0"/>
          </a:p>
        </p:txBody>
      </p:sp>
      <p:sp>
        <p:nvSpPr>
          <p:cNvPr id="23" name="text"/>
          <p:cNvSpPr txBox="1"/>
          <p:nvPr/>
        </p:nvSpPr>
        <p:spPr>
          <a:xfrm>
            <a:off x="5166360" y="2807208"/>
            <a:ext cx="2697480" cy="502920"/>
          </a:xfrm>
          <a:prstGeom prst="rect">
            <a:avLst/>
          </a:prstGeom>
          <a:noFill/>
          <a:ln/>
        </p:spPr>
        <p:txBody>
          <a:bodyPr wrap="square" lIns="0" tIns="0" rIns="0" bIns="0" rtlCol="0" anchor="t"/>
          <a:lstStyle/>
          <a:p>
            <a:pPr indent="0" marL="0">
              <a:buNone/>
            </a:pPr>
            <a:r>
              <a:rPr lang="en-US" sz="950" dirty="0">
                <a:solidFill>
                  <a:schemeClr val="tx1"/>
                </a:solidFill>
              </a:rPr>
              <a:t>Own mutual funds, ETFs and CITs; in-house and sub-advised management; the fund complex</a:t>
            </a:r>
            <a:endParaRPr lang="en-US" sz="950" dirty="0"/>
          </a:p>
        </p:txBody>
      </p:sp>
      <p:sp>
        <p:nvSpPr>
          <p:cNvPr id="24" name="card"/>
          <p:cNvSpPr/>
          <p:nvPr/>
        </p:nvSpPr>
        <p:spPr>
          <a:xfrm>
            <a:off x="548640" y="3429000"/>
            <a:ext cx="3657600" cy="896112"/>
          </a:xfrm>
          <a:prstGeom prst="roundRect">
            <a:avLst>
              <a:gd name="adj" fmla="val 8163"/>
            </a:avLst>
          </a:prstGeom>
          <a:solidFill>
            <a:schemeClr val="bg2"/>
          </a:solidFill>
          <a:ln w="12700">
            <a:solidFill>
              <a:schemeClr val="bg2"/>
            </a:solidFill>
            <a:prstDash val="solid"/>
          </a:ln>
        </p:spPr>
      </p:sp>
      <p:sp>
        <p:nvSpPr>
          <p:cNvPr id="25" name="panel"/>
          <p:cNvSpPr/>
          <p:nvPr/>
        </p:nvSpPr>
        <p:spPr>
          <a:xfrm>
            <a:off x="548640" y="3429000"/>
            <a:ext cx="685800" cy="896112"/>
          </a:xfrm>
          <a:prstGeom prst="rect">
            <a:avLst/>
          </a:prstGeom>
          <a:solidFill>
            <a:schemeClr val="accent3"/>
          </a:solidFill>
          <a:ln w="12700">
            <a:solidFill>
              <a:schemeClr val="accent3"/>
            </a:solidFill>
            <a:prstDash val="solid"/>
          </a:ln>
        </p:spPr>
      </p:sp>
      <p:sp>
        <p:nvSpPr>
          <p:cNvPr id="26" name="text"/>
          <p:cNvSpPr txBox="1"/>
          <p:nvPr/>
        </p:nvSpPr>
        <p:spPr>
          <a:xfrm>
            <a:off x="548640" y="3429000"/>
            <a:ext cx="685800" cy="896112"/>
          </a:xfrm>
          <a:prstGeom prst="rect">
            <a:avLst/>
          </a:prstGeom>
          <a:noFill/>
          <a:ln/>
        </p:spPr>
        <p:txBody>
          <a:bodyPr wrap="square" lIns="0" tIns="0" rIns="0" bIns="0" rtlCol="0" anchor="ctr"/>
          <a:lstStyle/>
          <a:p>
            <a:pPr algn="ctr" indent="0" marL="0">
              <a:buNone/>
            </a:pPr>
            <a:r>
              <a:rPr lang="en-US" sz="1600" b="1" dirty="0">
                <a:solidFill>
                  <a:schemeClr val="bg1"/>
                </a:solidFill>
              </a:rPr>
              <a:t>WR</a:t>
            </a:r>
            <a:endParaRPr lang="en-US" sz="1600" dirty="0"/>
          </a:p>
        </p:txBody>
      </p:sp>
      <p:sp>
        <p:nvSpPr>
          <p:cNvPr id="27" name="text"/>
          <p:cNvSpPr txBox="1"/>
          <p:nvPr/>
        </p:nvSpPr>
        <p:spPr>
          <a:xfrm>
            <a:off x="1371600" y="3520440"/>
            <a:ext cx="2697480" cy="292608"/>
          </a:xfrm>
          <a:prstGeom prst="rect">
            <a:avLst/>
          </a:prstGeom>
          <a:noFill/>
          <a:ln/>
        </p:spPr>
        <p:txBody>
          <a:bodyPr wrap="square" lIns="0" tIns="0" rIns="0" bIns="0" rtlCol="0" anchor="t"/>
          <a:lstStyle/>
          <a:p>
            <a:pPr indent="0" marL="0">
              <a:buNone/>
            </a:pPr>
            <a:r>
              <a:rPr lang="en-US" sz="1200" b="1" dirty="0">
                <a:solidFill>
                  <a:schemeClr val="tx2"/>
                </a:solidFill>
              </a:rPr>
              <a:t>Workplace retirement recordkeeping</a:t>
            </a:r>
            <a:endParaRPr lang="en-US" sz="1200" dirty="0"/>
          </a:p>
        </p:txBody>
      </p:sp>
      <p:sp>
        <p:nvSpPr>
          <p:cNvPr id="28" name="text"/>
          <p:cNvSpPr txBox="1"/>
          <p:nvPr/>
        </p:nvSpPr>
        <p:spPr>
          <a:xfrm>
            <a:off x="1371600" y="3813048"/>
            <a:ext cx="2697480" cy="502920"/>
          </a:xfrm>
          <a:prstGeom prst="rect">
            <a:avLst/>
          </a:prstGeom>
          <a:noFill/>
          <a:ln/>
        </p:spPr>
        <p:txBody>
          <a:bodyPr wrap="square" lIns="0" tIns="0" rIns="0" bIns="0" rtlCol="0" anchor="t"/>
          <a:lstStyle/>
          <a:p>
            <a:pPr indent="0" marL="0">
              <a:buNone/>
            </a:pPr>
            <a:r>
              <a:rPr lang="en-US" sz="950" dirty="0">
                <a:solidFill>
                  <a:schemeClr val="tx1"/>
                </a:solidFill>
              </a:rPr>
              <a:t>DC plan recordkeeping, participant services, sponsor relationships, rollover capture into the direct business</a:t>
            </a:r>
            <a:endParaRPr lang="en-US" sz="950" dirty="0"/>
          </a:p>
        </p:txBody>
      </p:sp>
      <p:sp>
        <p:nvSpPr>
          <p:cNvPr id="29" name="card"/>
          <p:cNvSpPr/>
          <p:nvPr/>
        </p:nvSpPr>
        <p:spPr>
          <a:xfrm>
            <a:off x="4343400" y="3429000"/>
            <a:ext cx="3657600" cy="896112"/>
          </a:xfrm>
          <a:prstGeom prst="roundRect">
            <a:avLst>
              <a:gd name="adj" fmla="val 8163"/>
            </a:avLst>
          </a:prstGeom>
          <a:solidFill>
            <a:schemeClr val="bg2"/>
          </a:solidFill>
          <a:ln w="12700">
            <a:solidFill>
              <a:schemeClr val="bg2"/>
            </a:solidFill>
            <a:prstDash val="solid"/>
          </a:ln>
        </p:spPr>
      </p:sp>
      <p:sp>
        <p:nvSpPr>
          <p:cNvPr id="30" name="panel"/>
          <p:cNvSpPr/>
          <p:nvPr/>
        </p:nvSpPr>
        <p:spPr>
          <a:xfrm>
            <a:off x="4343400" y="3429000"/>
            <a:ext cx="685800" cy="896112"/>
          </a:xfrm>
          <a:prstGeom prst="rect">
            <a:avLst/>
          </a:prstGeom>
          <a:solidFill>
            <a:schemeClr val="accent6"/>
          </a:solidFill>
          <a:ln w="12700">
            <a:solidFill>
              <a:schemeClr val="accent6"/>
            </a:solidFill>
            <a:prstDash val="solid"/>
          </a:ln>
        </p:spPr>
      </p:sp>
      <p:sp>
        <p:nvSpPr>
          <p:cNvPr id="31" name="text"/>
          <p:cNvSpPr txBox="1"/>
          <p:nvPr/>
        </p:nvSpPr>
        <p:spPr>
          <a:xfrm>
            <a:off x="4343400" y="3429000"/>
            <a:ext cx="685800" cy="896112"/>
          </a:xfrm>
          <a:prstGeom prst="rect">
            <a:avLst/>
          </a:prstGeom>
          <a:noFill/>
          <a:ln/>
        </p:spPr>
        <p:txBody>
          <a:bodyPr wrap="square" lIns="0" tIns="0" rIns="0" bIns="0" rtlCol="0" anchor="ctr"/>
          <a:lstStyle/>
          <a:p>
            <a:pPr algn="ctr" indent="0" marL="0">
              <a:buNone/>
            </a:pPr>
            <a:r>
              <a:rPr lang="en-US" sz="1600" b="1" dirty="0">
                <a:solidFill>
                  <a:schemeClr val="bg1"/>
                </a:solidFill>
              </a:rPr>
              <a:t>IA</a:t>
            </a:r>
            <a:endParaRPr lang="en-US" sz="1600" dirty="0"/>
          </a:p>
        </p:txBody>
      </p:sp>
      <p:sp>
        <p:nvSpPr>
          <p:cNvPr id="32" name="text"/>
          <p:cNvSpPr txBox="1"/>
          <p:nvPr/>
        </p:nvSpPr>
        <p:spPr>
          <a:xfrm>
            <a:off x="5166360" y="3520440"/>
            <a:ext cx="2697480" cy="292608"/>
          </a:xfrm>
          <a:prstGeom prst="rect">
            <a:avLst/>
          </a:prstGeom>
          <a:noFill/>
          <a:ln/>
        </p:spPr>
        <p:txBody>
          <a:bodyPr wrap="square" lIns="0" tIns="0" rIns="0" bIns="0" rtlCol="0" anchor="t"/>
          <a:lstStyle/>
          <a:p>
            <a:pPr indent="0" marL="0">
              <a:buNone/>
            </a:pPr>
            <a:r>
              <a:rPr lang="en-US" sz="1200" b="1" dirty="0">
                <a:solidFill>
                  <a:schemeClr val="tx2"/>
                </a:solidFill>
              </a:rPr>
              <a:t>Institutional advisory</a:t>
            </a:r>
            <a:endParaRPr lang="en-US" sz="1200" dirty="0"/>
          </a:p>
        </p:txBody>
      </p:sp>
      <p:sp>
        <p:nvSpPr>
          <p:cNvPr id="33" name="text"/>
          <p:cNvSpPr txBox="1"/>
          <p:nvPr/>
        </p:nvSpPr>
        <p:spPr>
          <a:xfrm>
            <a:off x="5166360" y="3813048"/>
            <a:ext cx="2697480" cy="502920"/>
          </a:xfrm>
          <a:prstGeom prst="rect">
            <a:avLst/>
          </a:prstGeom>
          <a:noFill/>
          <a:ln/>
        </p:spPr>
        <p:txBody>
          <a:bodyPr wrap="square" lIns="0" tIns="0" rIns="0" bIns="0" rtlCol="0" anchor="t"/>
          <a:lstStyle/>
          <a:p>
            <a:pPr indent="0" marL="0">
              <a:buNone/>
            </a:pPr>
            <a:r>
              <a:rPr lang="en-US" sz="950" dirty="0">
                <a:solidFill>
                  <a:schemeClr val="tx1"/>
                </a:solidFill>
              </a:rPr>
              <a:t>OCIO and institutional advice; mandates in own funds and separate accounts</a:t>
            </a:r>
            <a:endParaRPr lang="en-US" sz="950" dirty="0"/>
          </a:p>
        </p:txBody>
      </p:sp>
      <p:sp>
        <p:nvSpPr>
          <p:cNvPr id="34" name="card"/>
          <p:cNvSpPr/>
          <p:nvPr/>
        </p:nvSpPr>
        <p:spPr>
          <a:xfrm>
            <a:off x="548640" y="4434840"/>
            <a:ext cx="3657600" cy="896112"/>
          </a:xfrm>
          <a:prstGeom prst="roundRect">
            <a:avLst>
              <a:gd name="adj" fmla="val 8163"/>
            </a:avLst>
          </a:prstGeom>
          <a:solidFill>
            <a:schemeClr val="bg2"/>
          </a:solidFill>
          <a:ln w="12700">
            <a:solidFill>
              <a:schemeClr val="bg2"/>
            </a:solidFill>
            <a:prstDash val="solid"/>
          </a:ln>
        </p:spPr>
      </p:sp>
      <p:sp>
        <p:nvSpPr>
          <p:cNvPr id="35" name="panel"/>
          <p:cNvSpPr/>
          <p:nvPr/>
        </p:nvSpPr>
        <p:spPr>
          <a:xfrm>
            <a:off x="548640" y="4434840"/>
            <a:ext cx="685800" cy="896112"/>
          </a:xfrm>
          <a:prstGeom prst="rect">
            <a:avLst/>
          </a:prstGeom>
          <a:solidFill>
            <a:schemeClr val="accent6"/>
          </a:solidFill>
          <a:ln w="12700">
            <a:solidFill>
              <a:schemeClr val="accent6"/>
            </a:solidFill>
            <a:prstDash val="solid"/>
          </a:ln>
        </p:spPr>
      </p:sp>
      <p:sp>
        <p:nvSpPr>
          <p:cNvPr id="36" name="text"/>
          <p:cNvSpPr txBox="1"/>
          <p:nvPr/>
        </p:nvSpPr>
        <p:spPr>
          <a:xfrm>
            <a:off x="548640" y="4434840"/>
            <a:ext cx="685800" cy="896112"/>
          </a:xfrm>
          <a:prstGeom prst="rect">
            <a:avLst/>
          </a:prstGeom>
          <a:noFill/>
          <a:ln/>
        </p:spPr>
        <p:txBody>
          <a:bodyPr wrap="square" lIns="0" tIns="0" rIns="0" bIns="0" rtlCol="0" anchor="ctr"/>
          <a:lstStyle/>
          <a:p>
            <a:pPr algn="ctr" indent="0" marL="0">
              <a:buNone/>
            </a:pPr>
            <a:r>
              <a:rPr lang="en-US" sz="1600" b="1" dirty="0">
                <a:solidFill>
                  <a:schemeClr val="bg1"/>
                </a:solidFill>
              </a:rPr>
              <a:t>IC</a:t>
            </a:r>
            <a:endParaRPr lang="en-US" sz="1600" dirty="0"/>
          </a:p>
        </p:txBody>
      </p:sp>
      <p:sp>
        <p:nvSpPr>
          <p:cNvPr id="37" name="text"/>
          <p:cNvSpPr txBox="1"/>
          <p:nvPr/>
        </p:nvSpPr>
        <p:spPr>
          <a:xfrm>
            <a:off x="1371600" y="4526280"/>
            <a:ext cx="2697480" cy="292608"/>
          </a:xfrm>
          <a:prstGeom prst="rect">
            <a:avLst/>
          </a:prstGeom>
          <a:noFill/>
          <a:ln/>
        </p:spPr>
        <p:txBody>
          <a:bodyPr wrap="square" lIns="0" tIns="0" rIns="0" bIns="0" rtlCol="0" anchor="t"/>
          <a:lstStyle/>
          <a:p>
            <a:pPr indent="0" marL="0">
              <a:buNone/>
            </a:pPr>
            <a:r>
              <a:rPr lang="en-US" sz="1200" b="1" dirty="0">
                <a:solidFill>
                  <a:schemeClr val="tx2"/>
                </a:solidFill>
              </a:rPr>
              <a:t>Intermediary channel</a:t>
            </a:r>
            <a:endParaRPr lang="en-US" sz="1200" dirty="0"/>
          </a:p>
        </p:txBody>
      </p:sp>
      <p:sp>
        <p:nvSpPr>
          <p:cNvPr id="38" name="text"/>
          <p:cNvSpPr txBox="1"/>
          <p:nvPr/>
        </p:nvSpPr>
        <p:spPr>
          <a:xfrm>
            <a:off x="1371600" y="4818888"/>
            <a:ext cx="2697480" cy="502920"/>
          </a:xfrm>
          <a:prstGeom prst="rect">
            <a:avLst/>
          </a:prstGeom>
          <a:noFill/>
          <a:ln/>
        </p:spPr>
        <p:txBody>
          <a:bodyPr wrap="square" lIns="0" tIns="0" rIns="0" bIns="0" rtlCol="0" anchor="t"/>
          <a:lstStyle/>
          <a:p>
            <a:pPr indent="0" marL="0">
              <a:buNone/>
            </a:pPr>
            <a:r>
              <a:rPr lang="en-US" sz="950" dirty="0">
                <a:solidFill>
                  <a:schemeClr val="tx1"/>
                </a:solidFill>
              </a:rPr>
              <a:t>Own funds, ETFs and models through third-party advisors and platforms; secondary, kept thin</a:t>
            </a:r>
            <a:endParaRPr lang="en-US" sz="950" dirty="0"/>
          </a:p>
        </p:txBody>
      </p:sp>
      <p:sp>
        <p:nvSpPr>
          <p:cNvPr id="39" name="card"/>
          <p:cNvSpPr/>
          <p:nvPr/>
        </p:nvSpPr>
        <p:spPr>
          <a:xfrm>
            <a:off x="4343400" y="4434840"/>
            <a:ext cx="3657600" cy="896112"/>
          </a:xfrm>
          <a:prstGeom prst="roundRect">
            <a:avLst>
              <a:gd name="adj" fmla="val 8163"/>
            </a:avLst>
          </a:prstGeom>
          <a:solidFill>
            <a:schemeClr val="bg2"/>
          </a:solidFill>
          <a:ln w="12700">
            <a:solidFill>
              <a:schemeClr val="bg2"/>
            </a:solidFill>
            <a:prstDash val="solid"/>
          </a:ln>
        </p:spPr>
      </p:sp>
      <p:sp>
        <p:nvSpPr>
          <p:cNvPr id="40" name="panel"/>
          <p:cNvSpPr/>
          <p:nvPr/>
        </p:nvSpPr>
        <p:spPr>
          <a:xfrm>
            <a:off x="4343400" y="4434840"/>
            <a:ext cx="685800" cy="896112"/>
          </a:xfrm>
          <a:prstGeom prst="rect">
            <a:avLst/>
          </a:prstGeom>
          <a:solidFill>
            <a:schemeClr val="accent6"/>
          </a:solidFill>
          <a:ln w="12700">
            <a:solidFill>
              <a:schemeClr val="accent6"/>
            </a:solidFill>
            <a:prstDash val="solid"/>
          </a:ln>
        </p:spPr>
      </p:sp>
      <p:sp>
        <p:nvSpPr>
          <p:cNvPr id="41" name="text"/>
          <p:cNvSpPr txBox="1"/>
          <p:nvPr/>
        </p:nvSpPr>
        <p:spPr>
          <a:xfrm>
            <a:off x="4343400" y="4434840"/>
            <a:ext cx="685800" cy="896112"/>
          </a:xfrm>
          <a:prstGeom prst="rect">
            <a:avLst/>
          </a:prstGeom>
          <a:noFill/>
          <a:ln/>
        </p:spPr>
        <p:txBody>
          <a:bodyPr wrap="square" lIns="0" tIns="0" rIns="0" bIns="0" rtlCol="0" anchor="ctr"/>
          <a:lstStyle/>
          <a:p>
            <a:pPr algn="ctr" indent="0" marL="0">
              <a:buNone/>
            </a:pPr>
            <a:r>
              <a:rPr lang="en-US" sz="1600" b="1" dirty="0">
                <a:solidFill>
                  <a:schemeClr val="bg1"/>
                </a:solidFill>
              </a:rPr>
              <a:t>TR</a:t>
            </a:r>
            <a:endParaRPr lang="en-US" sz="1600" dirty="0"/>
          </a:p>
        </p:txBody>
      </p:sp>
      <p:sp>
        <p:nvSpPr>
          <p:cNvPr id="42" name="text"/>
          <p:cNvSpPr txBox="1"/>
          <p:nvPr/>
        </p:nvSpPr>
        <p:spPr>
          <a:xfrm>
            <a:off x="5166360" y="4526280"/>
            <a:ext cx="2697480" cy="292608"/>
          </a:xfrm>
          <a:prstGeom prst="rect">
            <a:avLst/>
          </a:prstGeom>
          <a:noFill/>
          <a:ln/>
        </p:spPr>
        <p:txBody>
          <a:bodyPr wrap="square" lIns="0" tIns="0" rIns="0" bIns="0" rtlCol="0" anchor="t"/>
          <a:lstStyle/>
          <a:p>
            <a:pPr indent="0" marL="0">
              <a:buNone/>
            </a:pPr>
            <a:r>
              <a:rPr lang="en-US" sz="1200" b="1" dirty="0">
                <a:solidFill>
                  <a:schemeClr val="tx2"/>
                </a:solidFill>
              </a:rPr>
              <a:t>Personal trust services (optional)</a:t>
            </a:r>
            <a:endParaRPr lang="en-US" sz="1200" dirty="0"/>
          </a:p>
        </p:txBody>
      </p:sp>
      <p:sp>
        <p:nvSpPr>
          <p:cNvPr id="43" name="text"/>
          <p:cNvSpPr txBox="1"/>
          <p:nvPr/>
        </p:nvSpPr>
        <p:spPr>
          <a:xfrm>
            <a:off x="5166360" y="4818888"/>
            <a:ext cx="2697480" cy="502920"/>
          </a:xfrm>
          <a:prstGeom prst="rect">
            <a:avLst/>
          </a:prstGeom>
          <a:noFill/>
          <a:ln/>
        </p:spPr>
        <p:txBody>
          <a:bodyPr wrap="square" lIns="0" tIns="0" rIns="0" bIns="0" rtlCol="0" anchor="t"/>
          <a:lstStyle/>
          <a:p>
            <a:pPr indent="0" marL="0">
              <a:buNone/>
            </a:pPr>
            <a:r>
              <a:rPr lang="en-US" sz="950" dirty="0">
                <a:solidFill>
                  <a:schemeClr val="tx1"/>
                </a:solidFill>
              </a:rPr>
              <a:t>Trust and estate administration through a trust company</a:t>
            </a:r>
            <a:endParaRPr lang="en-US" sz="950" dirty="0"/>
          </a:p>
        </p:txBody>
      </p:sp>
      <p:sp>
        <p:nvSpPr>
          <p:cNvPr id="44" name="card"/>
          <p:cNvSpPr/>
          <p:nvPr/>
        </p:nvSpPr>
        <p:spPr>
          <a:xfrm>
            <a:off x="8321040" y="1417320"/>
            <a:ext cx="3319272" cy="3977640"/>
          </a:xfrm>
          <a:prstGeom prst="roundRect">
            <a:avLst>
              <a:gd name="adj" fmla="val 2204"/>
            </a:avLst>
          </a:prstGeom>
          <a:solidFill>
            <a:schemeClr val="tx2"/>
          </a:solidFill>
          <a:ln w="12700">
            <a:solidFill>
              <a:schemeClr val="tx2"/>
            </a:solidFill>
            <a:prstDash val="solid"/>
          </a:ln>
        </p:spPr>
      </p:sp>
      <p:sp>
        <p:nvSpPr>
          <p:cNvPr id="45" name="text"/>
          <p:cNvSpPr txBox="1"/>
          <p:nvPr/>
        </p:nvSpPr>
        <p:spPr>
          <a:xfrm>
            <a:off x="8503920" y="1581912"/>
            <a:ext cx="2953512" cy="274320"/>
          </a:xfrm>
          <a:prstGeom prst="rect">
            <a:avLst/>
          </a:prstGeom>
          <a:noFill/>
          <a:ln/>
        </p:spPr>
        <p:txBody>
          <a:bodyPr wrap="square" lIns="0" tIns="0" rIns="0" bIns="0" rtlCol="0" anchor="t"/>
          <a:lstStyle/>
          <a:p>
            <a:pPr indent="0" marL="0">
              <a:buNone/>
            </a:pPr>
            <a:r>
              <a:rPr lang="en-US" sz="1000" b="1" dirty="0">
                <a:solidFill>
                  <a:schemeClr val="accent4"/>
                </a:solidFill>
              </a:rPr>
              <a:t>REFERENCE DEFAULTS</a:t>
            </a:r>
            <a:endParaRPr lang="en-US" sz="1000" dirty="0"/>
          </a:p>
        </p:txBody>
      </p:sp>
      <p:sp>
        <p:nvSpPr>
          <p:cNvPr id="46" name="defaults"/>
          <p:cNvSpPr txBox="1"/>
          <p:nvPr/>
        </p:nvSpPr>
        <p:spPr>
          <a:xfrm>
            <a:off x="8503920" y="1920240"/>
            <a:ext cx="2953512" cy="338328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chemeClr val="bg2"/>
                </a:solidFill>
              </a:rPr>
              <a:t>Parent; an RIA; a self-clearing broker-dealer; fund adviser and trusts; transfer agent; recordkeeper; trust company (optional). No bank charter.</a:t>
            </a:r>
            <a:endParaRPr lang="en-US" sz="1050" dirty="0"/>
          </a:p>
          <a:p>
            <a:pPr marL="127000" indent="-127000">
              <a:spcAft>
                <a:spcPts val="600"/>
              </a:spcAft>
              <a:buSzPct val="100000"/>
              <a:buChar char="•"/>
            </a:pPr>
            <a:r>
              <a:rPr lang="en-US" sz="1050" dirty="0">
                <a:solidFill>
                  <a:schemeClr val="bg2"/>
                </a:solidFill>
              </a:rPr>
              <a:t>Advice, clearing, custody of client assets, transfer agency and recordkeeping in house; part of the active range sub-advised.</a:t>
            </a:r>
            <a:endParaRPr lang="en-US" sz="1050" dirty="0"/>
          </a:p>
          <a:p>
            <a:pPr marL="127000" indent="-127000">
              <a:spcAft>
                <a:spcPts val="600"/>
              </a:spcAft>
              <a:buSzPct val="100000"/>
              <a:buChar char="•"/>
            </a:pPr>
            <a:r>
              <a:rPr lang="en-US" sz="1050" dirty="0">
                <a:solidFill>
                  <a:schemeClr val="bg2"/>
                </a:solidFill>
              </a:rPr>
              <a:t>Out of scope: private markets manufacturing, annuities, a bank balance sheet, RIA custody for third-party advisors, EU and UK distribution.</a:t>
            </a:r>
            <a:endParaRPr lang="en-US" sz="1050" dirty="0"/>
          </a:p>
          <a:p>
            <a:pPr marL="127000" indent="-127000">
              <a:spcAft>
                <a:spcPts val="600"/>
              </a:spcAft>
              <a:buSzPct val="100000"/>
              <a:buChar char="•"/>
            </a:pPr>
            <a:r>
              <a:rPr lang="en-US" sz="1050" dirty="0">
                <a:solidFill>
                  <a:schemeClr val="bg2"/>
                </a:solidFill>
              </a:rPr>
              <a:t>Every assumption is a tailoring lever: an outsourced function keeps its products as oversight data received from the provider.</a:t>
            </a:r>
            <a:endParaRPr lang="en-US" sz="10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Built around four things</a:t>
            </a:r>
            <a:endParaRPr lang="en-US" sz="2800" dirty="0"/>
          </a:p>
        </p:txBody>
      </p:sp>
      <p:sp>
        <p:nvSpPr>
          <p:cNvPr id="4" name="card"/>
          <p:cNvSpPr/>
          <p:nvPr/>
        </p:nvSpPr>
        <p:spPr>
          <a:xfrm>
            <a:off x="548640" y="1417320"/>
            <a:ext cx="2651760" cy="2697480"/>
          </a:xfrm>
          <a:prstGeom prst="roundRect">
            <a:avLst>
              <a:gd name="adj" fmla="val 2759"/>
            </a:avLst>
          </a:prstGeom>
          <a:solidFill>
            <a:schemeClr val="bg2"/>
          </a:solidFill>
          <a:ln w="12700">
            <a:solidFill>
              <a:schemeClr val="bg2"/>
            </a:solidFill>
            <a:prstDash val="solid"/>
          </a:ln>
        </p:spPr>
      </p:sp>
      <p:sp>
        <p:nvSpPr>
          <p:cNvPr id="5" name="panel"/>
          <p:cNvSpPr/>
          <p:nvPr/>
        </p:nvSpPr>
        <p:spPr>
          <a:xfrm>
            <a:off x="548640" y="1417320"/>
            <a:ext cx="2651760" cy="640080"/>
          </a:xfrm>
          <a:prstGeom prst="rect">
            <a:avLst/>
          </a:prstGeom>
          <a:solidFill>
            <a:schemeClr val="accent1"/>
          </a:solidFill>
          <a:ln w="12700">
            <a:solidFill>
              <a:schemeClr val="accent1"/>
            </a:solidFill>
            <a:prstDash val="solid"/>
          </a:ln>
        </p:spPr>
      </p:sp>
      <p:sp>
        <p:nvSpPr>
          <p:cNvPr id="6" name="text"/>
          <p:cNvSpPr txBox="1"/>
          <p:nvPr/>
        </p:nvSpPr>
        <p:spPr>
          <a:xfrm>
            <a:off x="713232" y="1417320"/>
            <a:ext cx="2322576" cy="640080"/>
          </a:xfrm>
          <a:prstGeom prst="rect">
            <a:avLst/>
          </a:prstGeom>
          <a:noFill/>
          <a:ln/>
        </p:spPr>
        <p:txBody>
          <a:bodyPr wrap="square" lIns="0" tIns="0" rIns="0" bIns="0" rtlCol="0" anchor="ctr"/>
          <a:lstStyle/>
          <a:p>
            <a:pPr indent="0" marL="0">
              <a:buNone/>
            </a:pPr>
            <a:r>
              <a:rPr lang="en-US" sz="1400" b="1" dirty="0">
                <a:solidFill>
                  <a:schemeClr val="bg1"/>
                </a:solidFill>
              </a:rPr>
              <a:t>The client household</a:t>
            </a:r>
            <a:endParaRPr lang="en-US" sz="1400" dirty="0"/>
          </a:p>
        </p:txBody>
      </p:sp>
      <p:sp>
        <p:nvSpPr>
          <p:cNvPr id="7" name="text"/>
          <p:cNvSpPr txBox="1"/>
          <p:nvPr/>
        </p:nvSpPr>
        <p:spPr>
          <a:xfrm>
            <a:off x="713232" y="2167128"/>
            <a:ext cx="2322576" cy="457200"/>
          </a:xfrm>
          <a:prstGeom prst="rect">
            <a:avLst/>
          </a:prstGeom>
          <a:noFill/>
          <a:ln/>
        </p:spPr>
        <p:txBody>
          <a:bodyPr wrap="square" lIns="0" tIns="0" rIns="0" bIns="0" rtlCol="0" anchor="t"/>
          <a:lstStyle/>
          <a:p>
            <a:pPr indent="0" marL="0">
              <a:buNone/>
            </a:pPr>
            <a:r>
              <a:rPr lang="en-US" sz="1000" b="1" dirty="0">
                <a:solidFill>
                  <a:schemeClr val="accent1"/>
                </a:solidFill>
              </a:rPr>
              <a:t>02 Client &amp; Household</a:t>
            </a:r>
            <a:endParaRPr lang="en-US" sz="1000" dirty="0"/>
          </a:p>
        </p:txBody>
      </p:sp>
      <p:sp>
        <p:nvSpPr>
          <p:cNvPr id="8" name="text"/>
          <p:cNvSpPr txBox="1"/>
          <p:nvPr/>
        </p:nvSpPr>
        <p:spPr>
          <a:xfrm>
            <a:off x="713232" y="2651760"/>
            <a:ext cx="2322576" cy="1417320"/>
          </a:xfrm>
          <a:prstGeom prst="rect">
            <a:avLst/>
          </a:prstGeom>
          <a:noFill/>
          <a:ln/>
        </p:spPr>
        <p:txBody>
          <a:bodyPr wrap="square" lIns="0" tIns="0" rIns="0" bIns="0" rtlCol="0" anchor="t"/>
          <a:lstStyle/>
          <a:p>
            <a:pPr indent="0" marL="0">
              <a:buNone/>
            </a:pPr>
            <a:r>
              <a:rPr lang="en-US" sz="1050" dirty="0">
                <a:solidFill>
                  <a:schemeClr val="tx1"/>
                </a:solidFill>
              </a:rPr>
              <a:t>The party master is the client: individuals, joint owners, households as parties, entities, authorized agents, trusted contacts, and the versioned investor profile that Reg BI and the Advisers Act require.</a:t>
            </a:r>
            <a:endParaRPr lang="en-US" sz="1050" dirty="0"/>
          </a:p>
        </p:txBody>
      </p:sp>
      <p:sp>
        <p:nvSpPr>
          <p:cNvPr id="9" name="card"/>
          <p:cNvSpPr/>
          <p:nvPr/>
        </p:nvSpPr>
        <p:spPr>
          <a:xfrm>
            <a:off x="3346704" y="1417320"/>
            <a:ext cx="2651760" cy="2697480"/>
          </a:xfrm>
          <a:prstGeom prst="roundRect">
            <a:avLst>
              <a:gd name="adj" fmla="val 2759"/>
            </a:avLst>
          </a:prstGeom>
          <a:solidFill>
            <a:schemeClr val="bg2"/>
          </a:solidFill>
          <a:ln w="12700">
            <a:solidFill>
              <a:schemeClr val="bg2"/>
            </a:solidFill>
            <a:prstDash val="solid"/>
          </a:ln>
        </p:spPr>
      </p:sp>
      <p:sp>
        <p:nvSpPr>
          <p:cNvPr id="10" name="panel"/>
          <p:cNvSpPr/>
          <p:nvPr/>
        </p:nvSpPr>
        <p:spPr>
          <a:xfrm>
            <a:off x="3346704" y="1417320"/>
            <a:ext cx="2651760" cy="640080"/>
          </a:xfrm>
          <a:prstGeom prst="rect">
            <a:avLst/>
          </a:prstGeom>
          <a:solidFill>
            <a:schemeClr val="accent2"/>
          </a:solidFill>
          <a:ln w="12700">
            <a:solidFill>
              <a:schemeClr val="accent2"/>
            </a:solidFill>
            <a:prstDash val="solid"/>
          </a:ln>
        </p:spPr>
      </p:sp>
      <p:sp>
        <p:nvSpPr>
          <p:cNvPr id="11" name="text"/>
          <p:cNvSpPr txBox="1"/>
          <p:nvPr/>
        </p:nvSpPr>
        <p:spPr>
          <a:xfrm>
            <a:off x="3511296" y="1417320"/>
            <a:ext cx="2322576" cy="640080"/>
          </a:xfrm>
          <a:prstGeom prst="rect">
            <a:avLst/>
          </a:prstGeom>
          <a:noFill/>
          <a:ln/>
        </p:spPr>
        <p:txBody>
          <a:bodyPr wrap="square" lIns="0" tIns="0" rIns="0" bIns="0" rtlCol="0" anchor="ctr"/>
          <a:lstStyle/>
          <a:p>
            <a:pPr indent="0" marL="0">
              <a:buNone/>
            </a:pPr>
            <a:r>
              <a:rPr lang="en-US" sz="1400" b="1" dirty="0">
                <a:solidFill>
                  <a:schemeClr val="bg1"/>
                </a:solidFill>
              </a:rPr>
              <a:t>The account</a:t>
            </a:r>
            <a:endParaRPr lang="en-US" sz="1400" dirty="0"/>
          </a:p>
        </p:txBody>
      </p:sp>
      <p:sp>
        <p:nvSpPr>
          <p:cNvPr id="12" name="text"/>
          <p:cNvSpPr txBox="1"/>
          <p:nvPr/>
        </p:nvSpPr>
        <p:spPr>
          <a:xfrm>
            <a:off x="3511296" y="2167128"/>
            <a:ext cx="2322576" cy="457200"/>
          </a:xfrm>
          <a:prstGeom prst="rect">
            <a:avLst/>
          </a:prstGeom>
          <a:noFill/>
          <a:ln/>
        </p:spPr>
        <p:txBody>
          <a:bodyPr wrap="square" lIns="0" tIns="0" rIns="0" bIns="0" rtlCol="0" anchor="t"/>
          <a:lstStyle/>
          <a:p>
            <a:pPr indent="0" marL="0">
              <a:buNone/>
            </a:pPr>
            <a:r>
              <a:rPr lang="en-US" sz="1000" b="1" dirty="0">
                <a:solidFill>
                  <a:schemeClr val="accent2"/>
                </a:solidFill>
              </a:rPr>
              <a:t>15 Account</a:t>
            </a:r>
            <a:endParaRPr lang="en-US" sz="1000" dirty="0"/>
          </a:p>
        </p:txBody>
      </p:sp>
      <p:sp>
        <p:nvSpPr>
          <p:cNvPr id="13" name="text"/>
          <p:cNvSpPr txBox="1"/>
          <p:nvPr/>
        </p:nvSpPr>
        <p:spPr>
          <a:xfrm>
            <a:off x="3511296" y="2651760"/>
            <a:ext cx="2322576" cy="1417320"/>
          </a:xfrm>
          <a:prstGeom prst="rect">
            <a:avLst/>
          </a:prstGeom>
          <a:noFill/>
          <a:ln/>
        </p:spPr>
        <p:txBody>
          <a:bodyPr wrap="square" lIns="0" tIns="0" rIns="0" bIns="0" rtlCol="0" anchor="t"/>
          <a:lstStyle/>
          <a:p>
            <a:pPr indent="0" marL="0">
              <a:buNone/>
            </a:pPr>
            <a:r>
              <a:rPr lang="en-US" sz="1050" dirty="0">
                <a:solidFill>
                  <a:schemeClr val="tx1"/>
                </a:solidFill>
              </a:rPr>
              <a:t>The brokerage and advisory account: registration types (IRA, Roth, 529, UTMA, trust, entity), features (margin, options, sweep), agreements, beneficiaries, program enrollment, cost-basis election.</a:t>
            </a:r>
            <a:endParaRPr lang="en-US" sz="1050" dirty="0"/>
          </a:p>
        </p:txBody>
      </p:sp>
      <p:sp>
        <p:nvSpPr>
          <p:cNvPr id="14" name="card"/>
          <p:cNvSpPr/>
          <p:nvPr/>
        </p:nvSpPr>
        <p:spPr>
          <a:xfrm>
            <a:off x="6144768" y="1417320"/>
            <a:ext cx="2651760" cy="2697480"/>
          </a:xfrm>
          <a:prstGeom prst="roundRect">
            <a:avLst>
              <a:gd name="adj" fmla="val 2759"/>
            </a:avLst>
          </a:prstGeom>
          <a:solidFill>
            <a:schemeClr val="bg2"/>
          </a:solidFill>
          <a:ln w="12700">
            <a:solidFill>
              <a:schemeClr val="bg2"/>
            </a:solidFill>
            <a:prstDash val="solid"/>
          </a:ln>
        </p:spPr>
      </p:sp>
      <p:sp>
        <p:nvSpPr>
          <p:cNvPr id="15" name="panel"/>
          <p:cNvSpPr/>
          <p:nvPr/>
        </p:nvSpPr>
        <p:spPr>
          <a:xfrm>
            <a:off x="6144768" y="1417320"/>
            <a:ext cx="2651760" cy="640080"/>
          </a:xfrm>
          <a:prstGeom prst="rect">
            <a:avLst/>
          </a:prstGeom>
          <a:solidFill>
            <a:schemeClr val="accent3"/>
          </a:solidFill>
          <a:ln w="12700">
            <a:solidFill>
              <a:schemeClr val="accent3"/>
            </a:solidFill>
            <a:prstDash val="solid"/>
          </a:ln>
        </p:spPr>
      </p:sp>
      <p:sp>
        <p:nvSpPr>
          <p:cNvPr id="16" name="text"/>
          <p:cNvSpPr txBox="1"/>
          <p:nvPr/>
        </p:nvSpPr>
        <p:spPr>
          <a:xfrm>
            <a:off x="6309360" y="1417320"/>
            <a:ext cx="2322576" cy="640080"/>
          </a:xfrm>
          <a:prstGeom prst="rect">
            <a:avLst/>
          </a:prstGeom>
          <a:noFill/>
          <a:ln/>
        </p:spPr>
        <p:txBody>
          <a:bodyPr wrap="square" lIns="0" tIns="0" rIns="0" bIns="0" rtlCol="0" anchor="ctr"/>
          <a:lstStyle/>
          <a:p>
            <a:pPr indent="0" marL="0">
              <a:buNone/>
            </a:pPr>
            <a:r>
              <a:rPr lang="en-US" sz="1400" b="1" dirty="0">
                <a:solidFill>
                  <a:schemeClr val="bg1"/>
                </a:solidFill>
              </a:rPr>
              <a:t>The advice relationship</a:t>
            </a:r>
            <a:endParaRPr lang="en-US" sz="1400" dirty="0"/>
          </a:p>
        </p:txBody>
      </p:sp>
      <p:sp>
        <p:nvSpPr>
          <p:cNvPr id="17" name="text"/>
          <p:cNvSpPr txBox="1"/>
          <p:nvPr/>
        </p:nvSpPr>
        <p:spPr>
          <a:xfrm>
            <a:off x="6309360" y="2167128"/>
            <a:ext cx="2322576" cy="457200"/>
          </a:xfrm>
          <a:prstGeom prst="rect">
            <a:avLst/>
          </a:prstGeom>
          <a:noFill/>
          <a:ln/>
        </p:spPr>
        <p:txBody>
          <a:bodyPr wrap="square" lIns="0" tIns="0" rIns="0" bIns="0" rtlCol="0" anchor="t"/>
          <a:lstStyle/>
          <a:p>
            <a:pPr indent="0" marL="0">
              <a:buNone/>
            </a:pPr>
            <a:r>
              <a:rPr lang="en-US" sz="1000" b="1" dirty="0">
                <a:solidFill>
                  <a:schemeClr val="accent3"/>
                </a:solidFill>
              </a:rPr>
              <a:t>45 Financial Planning &amp; Advice</a:t>
            </a:r>
            <a:endParaRPr lang="en-US" sz="1000" dirty="0"/>
          </a:p>
        </p:txBody>
      </p:sp>
      <p:sp>
        <p:nvSpPr>
          <p:cNvPr id="18" name="text"/>
          <p:cNvSpPr txBox="1"/>
          <p:nvPr/>
        </p:nvSpPr>
        <p:spPr>
          <a:xfrm>
            <a:off x="6309360" y="2651760"/>
            <a:ext cx="2322576" cy="1417320"/>
          </a:xfrm>
          <a:prstGeom prst="rect">
            <a:avLst/>
          </a:prstGeom>
          <a:noFill/>
          <a:ln/>
        </p:spPr>
        <p:txBody>
          <a:bodyPr wrap="square" lIns="0" tIns="0" rIns="0" bIns="0" rtlCol="0" anchor="t"/>
          <a:lstStyle/>
          <a:p>
            <a:pPr indent="0" marL="0">
              <a:buNone/>
            </a:pPr>
            <a:r>
              <a:rPr lang="en-US" sz="1050" dirty="0">
                <a:solidFill>
                  <a:schemeClr val="tx1"/>
                </a:solidFill>
              </a:rPr>
              <a:t>Engagements, goals, plans and versions, recommendations with rationale and alternatives, best-interest evidence, rollover analyses and PTE 2020-02 documentation.</a:t>
            </a:r>
            <a:endParaRPr lang="en-US" sz="1050" dirty="0"/>
          </a:p>
        </p:txBody>
      </p:sp>
      <p:sp>
        <p:nvSpPr>
          <p:cNvPr id="19" name="card"/>
          <p:cNvSpPr/>
          <p:nvPr/>
        </p:nvSpPr>
        <p:spPr>
          <a:xfrm>
            <a:off x="8942832" y="1417320"/>
            <a:ext cx="2651760" cy="2697480"/>
          </a:xfrm>
          <a:prstGeom prst="roundRect">
            <a:avLst>
              <a:gd name="adj" fmla="val 2759"/>
            </a:avLst>
          </a:prstGeom>
          <a:solidFill>
            <a:schemeClr val="bg2"/>
          </a:solidFill>
          <a:ln w="12700">
            <a:solidFill>
              <a:schemeClr val="bg2"/>
            </a:solidFill>
            <a:prstDash val="solid"/>
          </a:ln>
        </p:spPr>
      </p:sp>
      <p:sp>
        <p:nvSpPr>
          <p:cNvPr id="20" name="panel"/>
          <p:cNvSpPr/>
          <p:nvPr/>
        </p:nvSpPr>
        <p:spPr>
          <a:xfrm>
            <a:off x="8942832" y="1417320"/>
            <a:ext cx="2651760" cy="640080"/>
          </a:xfrm>
          <a:prstGeom prst="rect">
            <a:avLst/>
          </a:prstGeom>
          <a:solidFill>
            <a:schemeClr val="accent5"/>
          </a:solidFill>
          <a:ln w="12700">
            <a:solidFill>
              <a:schemeClr val="accent5"/>
            </a:solidFill>
            <a:prstDash val="solid"/>
          </a:ln>
        </p:spPr>
      </p:sp>
      <p:sp>
        <p:nvSpPr>
          <p:cNvPr id="21" name="text"/>
          <p:cNvSpPr txBox="1"/>
          <p:nvPr/>
        </p:nvSpPr>
        <p:spPr>
          <a:xfrm>
            <a:off x="9107424" y="1417320"/>
            <a:ext cx="2322576" cy="640080"/>
          </a:xfrm>
          <a:prstGeom prst="rect">
            <a:avLst/>
          </a:prstGeom>
          <a:noFill/>
          <a:ln/>
        </p:spPr>
        <p:txBody>
          <a:bodyPr wrap="square" lIns="0" tIns="0" rIns="0" bIns="0" rtlCol="0" anchor="ctr"/>
          <a:lstStyle/>
          <a:p>
            <a:pPr indent="0" marL="0">
              <a:buNone/>
            </a:pPr>
            <a:r>
              <a:rPr lang="en-US" sz="1400" b="1" dirty="0">
                <a:solidFill>
                  <a:schemeClr val="bg1"/>
                </a:solidFill>
              </a:rPr>
              <a:t>The brokerage book of record</a:t>
            </a:r>
            <a:endParaRPr lang="en-US" sz="1400" dirty="0"/>
          </a:p>
        </p:txBody>
      </p:sp>
      <p:sp>
        <p:nvSpPr>
          <p:cNvPr id="22" name="text"/>
          <p:cNvSpPr txBox="1"/>
          <p:nvPr/>
        </p:nvSpPr>
        <p:spPr>
          <a:xfrm>
            <a:off x="9107424" y="2167128"/>
            <a:ext cx="2322576" cy="457200"/>
          </a:xfrm>
          <a:prstGeom prst="rect">
            <a:avLst/>
          </a:prstGeom>
          <a:noFill/>
          <a:ln/>
        </p:spPr>
        <p:txBody>
          <a:bodyPr wrap="square" lIns="0" tIns="0" rIns="0" bIns="0" rtlCol="0" anchor="t"/>
          <a:lstStyle/>
          <a:p>
            <a:pPr indent="0" marL="0">
              <a:buNone/>
            </a:pPr>
            <a:r>
              <a:rPr lang="en-US" sz="1000" b="1" dirty="0">
                <a:solidFill>
                  <a:schemeClr val="accent5"/>
                </a:solidFill>
              </a:rPr>
              <a:t>49 Clearing, Settlement &amp; Client Asset Custody</a:t>
            </a:r>
            <a:endParaRPr lang="en-US" sz="1000" dirty="0"/>
          </a:p>
        </p:txBody>
      </p:sp>
      <p:sp>
        <p:nvSpPr>
          <p:cNvPr id="23" name="text"/>
          <p:cNvSpPr txBox="1"/>
          <p:nvPr/>
        </p:nvSpPr>
        <p:spPr>
          <a:xfrm>
            <a:off x="9107424" y="2651760"/>
            <a:ext cx="2322576" cy="1417320"/>
          </a:xfrm>
          <a:prstGeom prst="rect">
            <a:avLst/>
          </a:prstGeom>
          <a:noFill/>
          <a:ln/>
        </p:spPr>
        <p:txBody>
          <a:bodyPr wrap="square" lIns="0" tIns="0" rIns="0" bIns="0" rtlCol="0" anchor="t"/>
          <a:lstStyle/>
          <a:p>
            <a:pPr indent="0" marL="0">
              <a:buNone/>
            </a:pPr>
            <a:r>
              <a:rPr lang="en-US" sz="1050" dirty="0">
                <a:solidFill>
                  <a:schemeClr val="tx1"/>
                </a:solidFill>
              </a:rPr>
              <a:t>What each client account owns: securities, tax lots and cost basis, cash and sweep, pending activity; Rule 15c3-3 custody. Distinct from the fund book (18) and the shareholder register (06).</a:t>
            </a:r>
            <a:endParaRPr lang="en-US" sz="1050" dirty="0"/>
          </a:p>
        </p:txBody>
      </p:sp>
      <p:sp>
        <p:nvSpPr>
          <p:cNvPr id="24" name="card"/>
          <p:cNvSpPr/>
          <p:nvPr/>
        </p:nvSpPr>
        <p:spPr>
          <a:xfrm>
            <a:off x="548640" y="4251960"/>
            <a:ext cx="11094415" cy="1965960"/>
          </a:xfrm>
          <a:prstGeom prst="roundRect">
            <a:avLst>
              <a:gd name="adj" fmla="val 3721"/>
            </a:avLst>
          </a:prstGeom>
          <a:solidFill>
            <a:schemeClr val="tx2"/>
          </a:solidFill>
          <a:ln w="12700">
            <a:solidFill>
              <a:schemeClr val="tx2"/>
            </a:solidFill>
            <a:prstDash val="solid"/>
          </a:ln>
        </p:spPr>
      </p:sp>
      <p:sp>
        <p:nvSpPr>
          <p:cNvPr id="25" name="text"/>
          <p:cNvSpPr txBox="1"/>
          <p:nvPr/>
        </p:nvSpPr>
        <p:spPr>
          <a:xfrm>
            <a:off x="777240" y="4361688"/>
            <a:ext cx="10637215" cy="274320"/>
          </a:xfrm>
          <a:prstGeom prst="rect">
            <a:avLst/>
          </a:prstGeom>
          <a:noFill/>
          <a:ln/>
        </p:spPr>
        <p:txBody>
          <a:bodyPr wrap="square" lIns="0" tIns="0" rIns="0" bIns="0" rtlCol="0" anchor="t"/>
          <a:lstStyle/>
          <a:p>
            <a:pPr indent="0" marL="0">
              <a:buNone/>
            </a:pPr>
            <a:r>
              <a:rPr lang="en-US" sz="1000" b="1" dirty="0">
                <a:solidFill>
                  <a:schemeClr val="accent4"/>
                </a:solidFill>
              </a:rPr>
              <a:t>DESIGN RULES AROUND THEM, EACH A NUMBERED DECISION WITH A TAILORING LEVER</a:t>
            </a:r>
            <a:endParaRPr lang="en-US" sz="1000" dirty="0"/>
          </a:p>
        </p:txBody>
      </p:sp>
      <p:sp>
        <p:nvSpPr>
          <p:cNvPr id="26" name="text"/>
          <p:cNvSpPr txBox="1"/>
          <p:nvPr/>
        </p:nvSpPr>
        <p:spPr>
          <a:xfrm>
            <a:off x="777240" y="4709160"/>
            <a:ext cx="5303520" cy="457200"/>
          </a:xfrm>
          <a:prstGeom prst="rect">
            <a:avLst/>
          </a:prstGeom>
          <a:noFill/>
          <a:ln/>
        </p:spPr>
        <p:txBody>
          <a:bodyPr wrap="square" lIns="0" tIns="0" rIns="0" bIns="0" rtlCol="0" anchor="t"/>
          <a:lstStyle/>
          <a:p>
            <a:pPr marL="127000" indent="-127000">
              <a:buSzPct val="100000"/>
              <a:buChar char="•"/>
            </a:pPr>
            <a:r>
              <a:rPr lang="en-US" sz="1050" dirty="0">
                <a:solidFill>
                  <a:schemeClr val="bg1"/>
                </a:solidFill>
              </a:rPr>
              <a:t>Managed accounts (46) and client orders (48) are their own domains, distinct from fund portfolio management (24) and the fund trading desk (25)</a:t>
            </a:r>
            <a:endParaRPr lang="en-US" sz="1050" dirty="0"/>
          </a:p>
        </p:txBody>
      </p:sp>
      <p:sp>
        <p:nvSpPr>
          <p:cNvPr id="27" name="text"/>
          <p:cNvSpPr txBox="1"/>
          <p:nvPr/>
        </p:nvSpPr>
        <p:spPr>
          <a:xfrm>
            <a:off x="6309360" y="4709160"/>
            <a:ext cx="5303520" cy="457200"/>
          </a:xfrm>
          <a:prstGeom prst="rect">
            <a:avLst/>
          </a:prstGeom>
          <a:noFill/>
          <a:ln/>
        </p:spPr>
        <p:txBody>
          <a:bodyPr wrap="square" lIns="0" tIns="0" rIns="0" bIns="0" rtlCol="0" anchor="t"/>
          <a:lstStyle/>
          <a:p>
            <a:pPr marL="127000" indent="-127000">
              <a:buSzPct val="100000"/>
              <a:buChar char="•"/>
            </a:pPr>
            <a:r>
              <a:rPr lang="en-US" sz="1050" dirty="0">
                <a:solidFill>
                  <a:schemeClr val="bg1"/>
                </a:solidFill>
              </a:rPr>
              <a:t>Fees and billing are an operational domain (47); revenue recognition and profitability stay in 10</a:t>
            </a:r>
            <a:endParaRPr lang="en-US" sz="1050" dirty="0"/>
          </a:p>
        </p:txBody>
      </p:sp>
      <p:sp>
        <p:nvSpPr>
          <p:cNvPr id="28" name="text"/>
          <p:cNvSpPr txBox="1"/>
          <p:nvPr/>
        </p:nvSpPr>
        <p:spPr>
          <a:xfrm>
            <a:off x="777240" y="5184648"/>
            <a:ext cx="5303520" cy="457200"/>
          </a:xfrm>
          <a:prstGeom prst="rect">
            <a:avLst/>
          </a:prstGeom>
          <a:noFill/>
          <a:ln/>
        </p:spPr>
        <p:txBody>
          <a:bodyPr wrap="square" lIns="0" tIns="0" rIns="0" bIns="0" rtlCol="0" anchor="t"/>
          <a:lstStyle/>
          <a:p>
            <a:pPr marL="127000" indent="-127000">
              <a:buSzPct val="100000"/>
              <a:buChar char="•"/>
            </a:pPr>
            <a:r>
              <a:rPr lang="en-US" sz="1050" dirty="0">
                <a:solidFill>
                  <a:schemeClr val="bg1"/>
                </a:solidFill>
              </a:rPr>
              <a:t>Retail conduct and supervision (08) is the compliance core: Reg BI, Form CRS, FINRA 3110, senior investor protection</a:t>
            </a:r>
            <a:endParaRPr lang="en-US" sz="1050" dirty="0"/>
          </a:p>
        </p:txBody>
      </p:sp>
      <p:sp>
        <p:nvSpPr>
          <p:cNvPr id="29" name="text"/>
          <p:cNvSpPr txBox="1"/>
          <p:nvPr/>
        </p:nvSpPr>
        <p:spPr>
          <a:xfrm>
            <a:off x="6309360" y="5184648"/>
            <a:ext cx="5303520" cy="457200"/>
          </a:xfrm>
          <a:prstGeom prst="rect">
            <a:avLst/>
          </a:prstGeom>
          <a:noFill/>
          <a:ln/>
        </p:spPr>
        <p:txBody>
          <a:bodyPr wrap="square" lIns="0" tIns="0" rIns="0" bIns="0" rtlCol="0" anchor="t"/>
          <a:lstStyle/>
          <a:p>
            <a:pPr marL="127000" indent="-127000">
              <a:buSzPct val="100000"/>
              <a:buChar char="•"/>
            </a:pPr>
            <a:r>
              <a:rPr lang="en-US" sz="1050" dirty="0">
                <a:solidFill>
                  <a:schemeClr val="bg1"/>
                </a:solidFill>
              </a:rPr>
              <a:t>The intermediary and institutional business is a channel (05), kept thin by default; the lever restores depth</a:t>
            </a:r>
            <a:endParaRPr lang="en-US" sz="1050" dirty="0"/>
          </a:p>
        </p:txBody>
      </p:sp>
      <p:sp>
        <p:nvSpPr>
          <p:cNvPr id="30" name="text"/>
          <p:cNvSpPr txBox="1"/>
          <p:nvPr/>
        </p:nvSpPr>
        <p:spPr>
          <a:xfrm>
            <a:off x="777240" y="5660136"/>
            <a:ext cx="5303520" cy="457200"/>
          </a:xfrm>
          <a:prstGeom prst="rect">
            <a:avLst/>
          </a:prstGeom>
          <a:noFill/>
          <a:ln/>
        </p:spPr>
        <p:txBody>
          <a:bodyPr wrap="square" lIns="0" tIns="0" rIns="0" bIns="0" rtlCol="0" anchor="t"/>
          <a:lstStyle/>
          <a:p>
            <a:pPr marL="127000" indent="-127000">
              <a:buSzPct val="100000"/>
              <a:buChar char="•"/>
            </a:pPr>
            <a:r>
              <a:rPr lang="en-US" sz="1050" dirty="0">
                <a:solidFill>
                  <a:schemeClr val="bg1"/>
                </a:solidFill>
              </a:rPr>
              <a:t>Client Assets is the headline certified number and Firm AUM the manufacturing number: reconciled, never summed</a:t>
            </a:r>
            <a:endParaRPr lang="en-US" sz="1050" dirty="0"/>
          </a:p>
        </p:txBody>
      </p:sp>
      <p:sp>
        <p:nvSpPr>
          <p:cNvPr id="31" name="text"/>
          <p:cNvSpPr txBox="1"/>
          <p:nvPr/>
        </p:nvSpPr>
        <p:spPr>
          <a:xfrm>
            <a:off x="6309360" y="5660136"/>
            <a:ext cx="5303520" cy="457200"/>
          </a:xfrm>
          <a:prstGeom prst="rect">
            <a:avLst/>
          </a:prstGeom>
          <a:noFill/>
          <a:ln/>
        </p:spPr>
        <p:txBody>
          <a:bodyPr wrap="square" lIns="0" tIns="0" rIns="0" bIns="0" rtlCol="0" anchor="t"/>
          <a:lstStyle/>
          <a:p>
            <a:pPr marL="127000" indent="-127000">
              <a:buSzPct val="100000"/>
              <a:buChar char="•"/>
            </a:pPr>
            <a:r>
              <a:rPr lang="en-US" sz="1050" dirty="0">
                <a:solidFill>
                  <a:schemeClr val="bg1"/>
                </a:solidFill>
              </a:rPr>
              <a:t>US only; personal data tiered on every attribute; every conduct object cites the rule by number</a:t>
            </a:r>
            <a:endParaRPr lang="en-US" sz="10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Client &amp; Advice: the twelve Data Domains your business runs on</a:t>
            </a:r>
            <a:endParaRPr lang="en-US" sz="2800" dirty="0"/>
          </a:p>
        </p:txBody>
      </p:sp>
      <p:sp>
        <p:nvSpPr>
          <p:cNvPr id="4" name="card"/>
          <p:cNvSpPr/>
          <p:nvPr/>
        </p:nvSpPr>
        <p:spPr>
          <a:xfrm>
            <a:off x="548640" y="1417320"/>
            <a:ext cx="3566160" cy="1115568"/>
          </a:xfrm>
          <a:prstGeom prst="roundRect">
            <a:avLst>
              <a:gd name="adj" fmla="val 6557"/>
            </a:avLst>
          </a:prstGeom>
          <a:solidFill>
            <a:schemeClr val="bg2"/>
          </a:solidFill>
          <a:ln w="12700">
            <a:solidFill>
              <a:schemeClr val="bg2"/>
            </a:solidFill>
            <a:prstDash val="solid"/>
          </a:ln>
        </p:spPr>
      </p:sp>
      <p:sp>
        <p:nvSpPr>
          <p:cNvPr id="5" name="text"/>
          <p:cNvSpPr txBox="1"/>
          <p:nvPr/>
        </p:nvSpPr>
        <p:spPr>
          <a:xfrm>
            <a:off x="685800" y="150876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02</a:t>
            </a:r>
            <a:endParaRPr lang="en-US" sz="1400" dirty="0"/>
          </a:p>
        </p:txBody>
      </p:sp>
      <p:sp>
        <p:nvSpPr>
          <p:cNvPr id="6" name="text"/>
          <p:cNvSpPr txBox="1"/>
          <p:nvPr/>
        </p:nvSpPr>
        <p:spPr>
          <a:xfrm>
            <a:off x="1097280" y="1508760"/>
            <a:ext cx="2880360" cy="457200"/>
          </a:xfrm>
          <a:prstGeom prst="rect">
            <a:avLst/>
          </a:prstGeom>
          <a:noFill/>
          <a:ln/>
        </p:spPr>
        <p:txBody>
          <a:bodyPr wrap="square" lIns="0" tIns="0" rIns="0" bIns="0" rtlCol="0" anchor="t"/>
          <a:lstStyle/>
          <a:p>
            <a:pPr indent="0" marL="0">
              <a:buNone/>
            </a:pPr>
            <a:r>
              <a:rPr lang="en-US" sz="1100" b="1" dirty="0">
                <a:solidFill>
                  <a:schemeClr val="tx2"/>
                </a:solidFill>
              </a:rPr>
              <a:t>Client &amp; Household</a:t>
            </a:r>
            <a:endParaRPr lang="en-US" sz="1100" dirty="0"/>
          </a:p>
        </p:txBody>
      </p:sp>
      <p:sp>
        <p:nvSpPr>
          <p:cNvPr id="7" name="text"/>
          <p:cNvSpPr txBox="1"/>
          <p:nvPr/>
        </p:nvSpPr>
        <p:spPr>
          <a:xfrm>
            <a:off x="685800" y="1965960"/>
            <a:ext cx="3291840" cy="548640"/>
          </a:xfrm>
          <a:prstGeom prst="rect">
            <a:avLst/>
          </a:prstGeom>
          <a:noFill/>
          <a:ln/>
        </p:spPr>
        <p:txBody>
          <a:bodyPr wrap="square" lIns="0" tIns="0" rIns="0" bIns="0" rtlCol="0" anchor="t"/>
          <a:lstStyle/>
          <a:p>
            <a:pPr indent="0" marL="0">
              <a:buNone/>
            </a:pPr>
            <a:r>
              <a:rPr lang="en-US" sz="950" dirty="0">
                <a:solidFill>
                  <a:schemeClr val="tx1"/>
                </a:solidFill>
              </a:rPr>
              <a:t>Party master as the client: individuals, households, entities, agents, trusted contacts, the versioned investor profile, KYC, consent</a:t>
            </a:r>
            <a:endParaRPr lang="en-US" sz="950" dirty="0"/>
          </a:p>
        </p:txBody>
      </p:sp>
      <p:sp>
        <p:nvSpPr>
          <p:cNvPr id="8" name="card"/>
          <p:cNvSpPr/>
          <p:nvPr/>
        </p:nvSpPr>
        <p:spPr>
          <a:xfrm>
            <a:off x="4297680" y="1417320"/>
            <a:ext cx="3566160" cy="1115568"/>
          </a:xfrm>
          <a:prstGeom prst="roundRect">
            <a:avLst>
              <a:gd name="adj" fmla="val 6557"/>
            </a:avLst>
          </a:prstGeom>
          <a:solidFill>
            <a:schemeClr val="bg2"/>
          </a:solidFill>
          <a:ln w="12700">
            <a:solidFill>
              <a:schemeClr val="bg2"/>
            </a:solidFill>
            <a:prstDash val="solid"/>
          </a:ln>
        </p:spPr>
      </p:sp>
      <p:sp>
        <p:nvSpPr>
          <p:cNvPr id="9" name="text"/>
          <p:cNvSpPr txBox="1"/>
          <p:nvPr/>
        </p:nvSpPr>
        <p:spPr>
          <a:xfrm>
            <a:off x="4434840" y="150876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15</a:t>
            </a:r>
            <a:endParaRPr lang="en-US" sz="1400" dirty="0"/>
          </a:p>
        </p:txBody>
      </p:sp>
      <p:sp>
        <p:nvSpPr>
          <p:cNvPr id="10" name="text"/>
          <p:cNvSpPr txBox="1"/>
          <p:nvPr/>
        </p:nvSpPr>
        <p:spPr>
          <a:xfrm>
            <a:off x="4846320" y="1508760"/>
            <a:ext cx="2880360" cy="457200"/>
          </a:xfrm>
          <a:prstGeom prst="rect">
            <a:avLst/>
          </a:prstGeom>
          <a:noFill/>
          <a:ln/>
        </p:spPr>
        <p:txBody>
          <a:bodyPr wrap="square" lIns="0" tIns="0" rIns="0" bIns="0" rtlCol="0" anchor="t"/>
          <a:lstStyle/>
          <a:p>
            <a:pPr indent="0" marL="0">
              <a:buNone/>
            </a:pPr>
            <a:r>
              <a:rPr lang="en-US" sz="1100" b="1" dirty="0">
                <a:solidFill>
                  <a:schemeClr val="tx2"/>
                </a:solidFill>
              </a:rPr>
              <a:t>Account</a:t>
            </a:r>
            <a:endParaRPr lang="en-US" sz="1100" dirty="0"/>
          </a:p>
        </p:txBody>
      </p:sp>
      <p:sp>
        <p:nvSpPr>
          <p:cNvPr id="11" name="text"/>
          <p:cNvSpPr txBox="1"/>
          <p:nvPr/>
        </p:nvSpPr>
        <p:spPr>
          <a:xfrm>
            <a:off x="4434840" y="1965960"/>
            <a:ext cx="3291840" cy="548640"/>
          </a:xfrm>
          <a:prstGeom prst="rect">
            <a:avLst/>
          </a:prstGeom>
          <a:noFill/>
          <a:ln/>
        </p:spPr>
        <p:txBody>
          <a:bodyPr wrap="square" lIns="0" tIns="0" rIns="0" bIns="0" rtlCol="0" anchor="t"/>
          <a:lstStyle/>
          <a:p>
            <a:pPr indent="0" marL="0">
              <a:buNone/>
            </a:pPr>
            <a:r>
              <a:rPr lang="en-US" sz="950" dirty="0">
                <a:solidFill>
                  <a:schemeClr val="tx1"/>
                </a:solidFill>
              </a:rPr>
              <a:t>Brokerage and advisory account: registration types, features, agreements, beneficiaries, program enrollment, cost-basis election</a:t>
            </a:r>
            <a:endParaRPr lang="en-US" sz="950" dirty="0"/>
          </a:p>
        </p:txBody>
      </p:sp>
      <p:sp>
        <p:nvSpPr>
          <p:cNvPr id="12" name="card"/>
          <p:cNvSpPr/>
          <p:nvPr/>
        </p:nvSpPr>
        <p:spPr>
          <a:xfrm>
            <a:off x="8046720" y="1417320"/>
            <a:ext cx="3566160" cy="1115568"/>
          </a:xfrm>
          <a:prstGeom prst="roundRect">
            <a:avLst>
              <a:gd name="adj" fmla="val 6557"/>
            </a:avLst>
          </a:prstGeom>
          <a:solidFill>
            <a:schemeClr val="bg2"/>
          </a:solidFill>
          <a:ln w="12700">
            <a:solidFill>
              <a:schemeClr val="bg2"/>
            </a:solidFill>
            <a:prstDash val="solid"/>
          </a:ln>
        </p:spPr>
      </p:sp>
      <p:sp>
        <p:nvSpPr>
          <p:cNvPr id="13" name="text"/>
          <p:cNvSpPr txBox="1"/>
          <p:nvPr/>
        </p:nvSpPr>
        <p:spPr>
          <a:xfrm>
            <a:off x="8183880" y="150876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45</a:t>
            </a:r>
            <a:endParaRPr lang="en-US" sz="1400" dirty="0"/>
          </a:p>
        </p:txBody>
      </p:sp>
      <p:sp>
        <p:nvSpPr>
          <p:cNvPr id="14" name="text"/>
          <p:cNvSpPr txBox="1"/>
          <p:nvPr/>
        </p:nvSpPr>
        <p:spPr>
          <a:xfrm>
            <a:off x="8595360" y="1508760"/>
            <a:ext cx="2880360" cy="457200"/>
          </a:xfrm>
          <a:prstGeom prst="rect">
            <a:avLst/>
          </a:prstGeom>
          <a:noFill/>
          <a:ln/>
        </p:spPr>
        <p:txBody>
          <a:bodyPr wrap="square" lIns="0" tIns="0" rIns="0" bIns="0" rtlCol="0" anchor="t"/>
          <a:lstStyle/>
          <a:p>
            <a:pPr indent="0" marL="0">
              <a:buNone/>
            </a:pPr>
            <a:r>
              <a:rPr lang="en-US" sz="1100" b="1" dirty="0">
                <a:solidFill>
                  <a:schemeClr val="tx2"/>
                </a:solidFill>
              </a:rPr>
              <a:t>Financial Planning &amp; Advice</a:t>
            </a:r>
            <a:endParaRPr lang="en-US" sz="1100" dirty="0"/>
          </a:p>
        </p:txBody>
      </p:sp>
      <p:sp>
        <p:nvSpPr>
          <p:cNvPr id="15" name="text"/>
          <p:cNvSpPr txBox="1"/>
          <p:nvPr/>
        </p:nvSpPr>
        <p:spPr>
          <a:xfrm>
            <a:off x="8183880" y="1965960"/>
            <a:ext cx="3291840" cy="548640"/>
          </a:xfrm>
          <a:prstGeom prst="rect">
            <a:avLst/>
          </a:prstGeom>
          <a:noFill/>
          <a:ln/>
        </p:spPr>
        <p:txBody>
          <a:bodyPr wrap="square" lIns="0" tIns="0" rIns="0" bIns="0" rtlCol="0" anchor="t"/>
          <a:lstStyle/>
          <a:p>
            <a:pPr indent="0" marL="0">
              <a:buNone/>
            </a:pPr>
            <a:r>
              <a:rPr lang="en-US" sz="950" dirty="0">
                <a:solidFill>
                  <a:schemeClr val="tx1"/>
                </a:solidFill>
              </a:rPr>
              <a:t>Engagements, goals, plans and versions, assumptions, scenarios, recommendations, best-interest evidence, rollover analyses</a:t>
            </a:r>
            <a:endParaRPr lang="en-US" sz="950" dirty="0"/>
          </a:p>
        </p:txBody>
      </p:sp>
      <p:sp>
        <p:nvSpPr>
          <p:cNvPr id="16" name="card"/>
          <p:cNvSpPr/>
          <p:nvPr/>
        </p:nvSpPr>
        <p:spPr>
          <a:xfrm>
            <a:off x="548640" y="2606040"/>
            <a:ext cx="3566160" cy="1115568"/>
          </a:xfrm>
          <a:prstGeom prst="roundRect">
            <a:avLst>
              <a:gd name="adj" fmla="val 6557"/>
            </a:avLst>
          </a:prstGeom>
          <a:solidFill>
            <a:schemeClr val="bg2"/>
          </a:solidFill>
          <a:ln w="12700">
            <a:solidFill>
              <a:schemeClr val="bg2"/>
            </a:solidFill>
            <a:prstDash val="solid"/>
          </a:ln>
        </p:spPr>
      </p:sp>
      <p:sp>
        <p:nvSpPr>
          <p:cNvPr id="17" name="text"/>
          <p:cNvSpPr txBox="1"/>
          <p:nvPr/>
        </p:nvSpPr>
        <p:spPr>
          <a:xfrm>
            <a:off x="685800" y="269748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46</a:t>
            </a:r>
            <a:endParaRPr lang="en-US" sz="1400" dirty="0"/>
          </a:p>
        </p:txBody>
      </p:sp>
      <p:sp>
        <p:nvSpPr>
          <p:cNvPr id="18" name="text"/>
          <p:cNvSpPr txBox="1"/>
          <p:nvPr/>
        </p:nvSpPr>
        <p:spPr>
          <a:xfrm>
            <a:off x="1097280" y="2697480"/>
            <a:ext cx="2880360" cy="457200"/>
          </a:xfrm>
          <a:prstGeom prst="rect">
            <a:avLst/>
          </a:prstGeom>
          <a:noFill/>
          <a:ln/>
        </p:spPr>
        <p:txBody>
          <a:bodyPr wrap="square" lIns="0" tIns="0" rIns="0" bIns="0" rtlCol="0" anchor="t"/>
          <a:lstStyle/>
          <a:p>
            <a:pPr indent="0" marL="0">
              <a:buNone/>
            </a:pPr>
            <a:r>
              <a:rPr lang="en-US" sz="1100" b="1" dirty="0">
                <a:solidFill>
                  <a:schemeClr val="tx2"/>
                </a:solidFill>
              </a:rPr>
              <a:t>Managed Portfolios &amp; Rebalancing</a:t>
            </a:r>
            <a:endParaRPr lang="en-US" sz="1100" dirty="0"/>
          </a:p>
        </p:txBody>
      </p:sp>
      <p:sp>
        <p:nvSpPr>
          <p:cNvPr id="19" name="text"/>
          <p:cNvSpPr txBox="1"/>
          <p:nvPr/>
        </p:nvSpPr>
        <p:spPr>
          <a:xfrm>
            <a:off x="685800" y="3154680"/>
            <a:ext cx="3291840" cy="548640"/>
          </a:xfrm>
          <a:prstGeom prst="rect">
            <a:avLst/>
          </a:prstGeom>
          <a:noFill/>
          <a:ln/>
        </p:spPr>
        <p:txBody>
          <a:bodyPr wrap="square" lIns="0" tIns="0" rIns="0" bIns="0" rtlCol="0" anchor="t"/>
          <a:lstStyle/>
          <a:p>
            <a:pPr indent="0" marL="0">
              <a:buNone/>
            </a:pPr>
            <a:r>
              <a:rPr lang="en-US" sz="950" dirty="0">
                <a:solidFill>
                  <a:schemeClr val="tx1"/>
                </a:solidFill>
              </a:rPr>
              <a:t>Model assignment per account and household, targets, drift, rebalancing, tax-loss harvesting, trade proposals</a:t>
            </a:r>
            <a:endParaRPr lang="en-US" sz="950" dirty="0"/>
          </a:p>
        </p:txBody>
      </p:sp>
      <p:sp>
        <p:nvSpPr>
          <p:cNvPr id="20" name="card"/>
          <p:cNvSpPr/>
          <p:nvPr/>
        </p:nvSpPr>
        <p:spPr>
          <a:xfrm>
            <a:off x="4297680" y="2606040"/>
            <a:ext cx="3566160" cy="1115568"/>
          </a:xfrm>
          <a:prstGeom prst="roundRect">
            <a:avLst>
              <a:gd name="adj" fmla="val 6557"/>
            </a:avLst>
          </a:prstGeom>
          <a:solidFill>
            <a:schemeClr val="bg2"/>
          </a:solidFill>
          <a:ln w="12700">
            <a:solidFill>
              <a:schemeClr val="bg2"/>
            </a:solidFill>
            <a:prstDash val="solid"/>
          </a:ln>
        </p:spPr>
      </p:sp>
      <p:sp>
        <p:nvSpPr>
          <p:cNvPr id="21" name="text"/>
          <p:cNvSpPr txBox="1"/>
          <p:nvPr/>
        </p:nvSpPr>
        <p:spPr>
          <a:xfrm>
            <a:off x="4434840" y="269748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47</a:t>
            </a:r>
            <a:endParaRPr lang="en-US" sz="1400" dirty="0"/>
          </a:p>
        </p:txBody>
      </p:sp>
      <p:sp>
        <p:nvSpPr>
          <p:cNvPr id="22" name="text"/>
          <p:cNvSpPr txBox="1"/>
          <p:nvPr/>
        </p:nvSpPr>
        <p:spPr>
          <a:xfrm>
            <a:off x="4846320" y="2697480"/>
            <a:ext cx="2880360" cy="457200"/>
          </a:xfrm>
          <a:prstGeom prst="rect">
            <a:avLst/>
          </a:prstGeom>
          <a:noFill/>
          <a:ln/>
        </p:spPr>
        <p:txBody>
          <a:bodyPr wrap="square" lIns="0" tIns="0" rIns="0" bIns="0" rtlCol="0" anchor="t"/>
          <a:lstStyle/>
          <a:p>
            <a:pPr indent="0" marL="0">
              <a:buNone/>
            </a:pPr>
            <a:r>
              <a:rPr lang="en-US" sz="1100" b="1" dirty="0">
                <a:solidFill>
                  <a:schemeClr val="tx2"/>
                </a:solidFill>
              </a:rPr>
              <a:t>Pricing, Fees &amp; Billing</a:t>
            </a:r>
            <a:endParaRPr lang="en-US" sz="1100" dirty="0"/>
          </a:p>
        </p:txBody>
      </p:sp>
      <p:sp>
        <p:nvSpPr>
          <p:cNvPr id="23" name="text"/>
          <p:cNvSpPr txBox="1"/>
          <p:nvPr/>
        </p:nvSpPr>
        <p:spPr>
          <a:xfrm>
            <a:off x="4434840" y="3154680"/>
            <a:ext cx="3291840" cy="548640"/>
          </a:xfrm>
          <a:prstGeom prst="rect">
            <a:avLst/>
          </a:prstGeom>
          <a:noFill/>
          <a:ln/>
        </p:spPr>
        <p:txBody>
          <a:bodyPr wrap="square" lIns="0" tIns="0" rIns="0" bIns="0" rtlCol="0" anchor="t"/>
          <a:lstStyle/>
          <a:p>
            <a:pPr indent="0" marL="0">
              <a:buNone/>
            </a:pPr>
            <a:r>
              <a:rPr lang="en-US" sz="950" dirty="0">
                <a:solidFill>
                  <a:schemeClr val="tx1"/>
                </a:solidFill>
              </a:rPr>
              <a:t>Fee schedules, householding and breakpoints, calculation runs, debits, waivers, custody-rule conditions</a:t>
            </a:r>
            <a:endParaRPr lang="en-US" sz="950" dirty="0"/>
          </a:p>
        </p:txBody>
      </p:sp>
      <p:sp>
        <p:nvSpPr>
          <p:cNvPr id="24" name="card"/>
          <p:cNvSpPr/>
          <p:nvPr/>
        </p:nvSpPr>
        <p:spPr>
          <a:xfrm>
            <a:off x="8046720" y="2606040"/>
            <a:ext cx="3566160" cy="1115568"/>
          </a:xfrm>
          <a:prstGeom prst="roundRect">
            <a:avLst>
              <a:gd name="adj" fmla="val 6557"/>
            </a:avLst>
          </a:prstGeom>
          <a:solidFill>
            <a:schemeClr val="bg2"/>
          </a:solidFill>
          <a:ln w="12700">
            <a:solidFill>
              <a:schemeClr val="bg2"/>
            </a:solidFill>
            <a:prstDash val="solid"/>
          </a:ln>
        </p:spPr>
      </p:sp>
      <p:sp>
        <p:nvSpPr>
          <p:cNvPr id="25" name="text"/>
          <p:cNvSpPr txBox="1"/>
          <p:nvPr/>
        </p:nvSpPr>
        <p:spPr>
          <a:xfrm>
            <a:off x="8183880" y="269748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03</a:t>
            </a:r>
            <a:endParaRPr lang="en-US" sz="1400" dirty="0"/>
          </a:p>
        </p:txBody>
      </p:sp>
      <p:sp>
        <p:nvSpPr>
          <p:cNvPr id="26" name="text"/>
          <p:cNvSpPr txBox="1"/>
          <p:nvPr/>
        </p:nvSpPr>
        <p:spPr>
          <a:xfrm>
            <a:off x="8595360" y="2697480"/>
            <a:ext cx="2880360" cy="457200"/>
          </a:xfrm>
          <a:prstGeom prst="rect">
            <a:avLst/>
          </a:prstGeom>
          <a:noFill/>
          <a:ln/>
        </p:spPr>
        <p:txBody>
          <a:bodyPr wrap="square" lIns="0" tIns="0" rIns="0" bIns="0" rtlCol="0" anchor="t"/>
          <a:lstStyle/>
          <a:p>
            <a:pPr indent="0" marL="0">
              <a:buNone/>
            </a:pPr>
            <a:r>
              <a:rPr lang="en-US" sz="1100" b="1" dirty="0">
                <a:solidFill>
                  <a:schemeClr val="tx2"/>
                </a:solidFill>
              </a:rPr>
              <a:t>Advisor Organization, Coverage &amp; Supervision</a:t>
            </a:r>
            <a:endParaRPr lang="en-US" sz="1100" dirty="0"/>
          </a:p>
        </p:txBody>
      </p:sp>
      <p:sp>
        <p:nvSpPr>
          <p:cNvPr id="27" name="text"/>
          <p:cNvSpPr txBox="1"/>
          <p:nvPr/>
        </p:nvSpPr>
        <p:spPr>
          <a:xfrm>
            <a:off x="8183880" y="3154680"/>
            <a:ext cx="3291840" cy="548640"/>
          </a:xfrm>
          <a:prstGeom prst="rect">
            <a:avLst/>
          </a:prstGeom>
          <a:noFill/>
          <a:ln/>
        </p:spPr>
        <p:txBody>
          <a:bodyPr wrap="square" lIns="0" tIns="0" rIns="0" bIns="0" rtlCol="0" anchor="t"/>
          <a:lstStyle/>
          <a:p>
            <a:pPr indent="0" marL="0">
              <a:buNone/>
            </a:pPr>
            <a:r>
              <a:rPr lang="en-US" sz="950" dirty="0">
                <a:solidFill>
                  <a:schemeClr val="tx1"/>
                </a:solidFill>
              </a:rPr>
              <a:t>Own advisors and representatives, teams, branches and OSJs, client assignment and capacity, incentive plans</a:t>
            </a:r>
            <a:endParaRPr lang="en-US" sz="950" dirty="0"/>
          </a:p>
        </p:txBody>
      </p:sp>
      <p:sp>
        <p:nvSpPr>
          <p:cNvPr id="28" name="card"/>
          <p:cNvSpPr/>
          <p:nvPr/>
        </p:nvSpPr>
        <p:spPr>
          <a:xfrm>
            <a:off x="548640" y="3794760"/>
            <a:ext cx="3566160" cy="1115568"/>
          </a:xfrm>
          <a:prstGeom prst="roundRect">
            <a:avLst>
              <a:gd name="adj" fmla="val 6557"/>
            </a:avLst>
          </a:prstGeom>
          <a:solidFill>
            <a:schemeClr val="bg2"/>
          </a:solidFill>
          <a:ln w="12700">
            <a:solidFill>
              <a:schemeClr val="bg2"/>
            </a:solidFill>
            <a:prstDash val="solid"/>
          </a:ln>
        </p:spPr>
      </p:sp>
      <p:sp>
        <p:nvSpPr>
          <p:cNvPr id="29" name="text"/>
          <p:cNvSpPr txBox="1"/>
          <p:nvPr/>
        </p:nvSpPr>
        <p:spPr>
          <a:xfrm>
            <a:off x="685800" y="388620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01</a:t>
            </a:r>
            <a:endParaRPr lang="en-US" sz="1400" dirty="0"/>
          </a:p>
        </p:txBody>
      </p:sp>
      <p:sp>
        <p:nvSpPr>
          <p:cNvPr id="30" name="text"/>
          <p:cNvSpPr txBox="1"/>
          <p:nvPr/>
        </p:nvSpPr>
        <p:spPr>
          <a:xfrm>
            <a:off x="1097280" y="3886200"/>
            <a:ext cx="2880360" cy="457200"/>
          </a:xfrm>
          <a:prstGeom prst="rect">
            <a:avLst/>
          </a:prstGeom>
          <a:noFill/>
          <a:ln/>
        </p:spPr>
        <p:txBody>
          <a:bodyPr wrap="square" lIns="0" tIns="0" rIns="0" bIns="0" rtlCol="0" anchor="t"/>
          <a:lstStyle/>
          <a:p>
            <a:pPr indent="0" marL="0">
              <a:buNone/>
            </a:pPr>
            <a:r>
              <a:rPr lang="en-US" sz="1100" b="1" dirty="0">
                <a:solidFill>
                  <a:schemeClr val="tx2"/>
                </a:solidFill>
              </a:rPr>
              <a:t>Investment Product &amp; Service Offering</a:t>
            </a:r>
            <a:endParaRPr lang="en-US" sz="1100" dirty="0"/>
          </a:p>
        </p:txBody>
      </p:sp>
      <p:sp>
        <p:nvSpPr>
          <p:cNvPr id="31" name="text"/>
          <p:cNvSpPr txBox="1"/>
          <p:nvPr/>
        </p:nvSpPr>
        <p:spPr>
          <a:xfrm>
            <a:off x="685800" y="4343400"/>
            <a:ext cx="3291840" cy="548640"/>
          </a:xfrm>
          <a:prstGeom prst="rect">
            <a:avLst/>
          </a:prstGeom>
          <a:noFill/>
          <a:ln/>
        </p:spPr>
        <p:txBody>
          <a:bodyPr wrap="square" lIns="0" tIns="0" rIns="0" bIns="0" rtlCol="0" anchor="t"/>
          <a:lstStyle/>
          <a:p>
            <a:pPr indent="0" marL="0">
              <a:buNone/>
            </a:pPr>
            <a:r>
              <a:rPr lang="en-US" sz="950" dirty="0">
                <a:solidFill>
                  <a:schemeClr val="tx1"/>
                </a:solidFill>
              </a:rPr>
              <a:t>Own funds, ETFs, CITs and share classes; advice programs, service tiers, the brokerage platform offering</a:t>
            </a:r>
            <a:endParaRPr lang="en-US" sz="950" dirty="0"/>
          </a:p>
        </p:txBody>
      </p:sp>
      <p:sp>
        <p:nvSpPr>
          <p:cNvPr id="32" name="card"/>
          <p:cNvSpPr/>
          <p:nvPr/>
        </p:nvSpPr>
        <p:spPr>
          <a:xfrm>
            <a:off x="4297680" y="3794760"/>
            <a:ext cx="3566160" cy="1115568"/>
          </a:xfrm>
          <a:prstGeom prst="roundRect">
            <a:avLst>
              <a:gd name="adj" fmla="val 6557"/>
            </a:avLst>
          </a:prstGeom>
          <a:solidFill>
            <a:schemeClr val="bg2"/>
          </a:solidFill>
          <a:ln w="12700">
            <a:solidFill>
              <a:schemeClr val="bg2"/>
            </a:solidFill>
            <a:prstDash val="solid"/>
          </a:ln>
        </p:spPr>
      </p:sp>
      <p:sp>
        <p:nvSpPr>
          <p:cNvPr id="33" name="text"/>
          <p:cNvSpPr txBox="1"/>
          <p:nvPr/>
        </p:nvSpPr>
        <p:spPr>
          <a:xfrm>
            <a:off x="4434840" y="388620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04</a:t>
            </a:r>
            <a:endParaRPr lang="en-US" sz="1400" dirty="0"/>
          </a:p>
        </p:txBody>
      </p:sp>
      <p:sp>
        <p:nvSpPr>
          <p:cNvPr id="34" name="text"/>
          <p:cNvSpPr txBox="1"/>
          <p:nvPr/>
        </p:nvSpPr>
        <p:spPr>
          <a:xfrm>
            <a:off x="4846320" y="3886200"/>
            <a:ext cx="2880360" cy="457200"/>
          </a:xfrm>
          <a:prstGeom prst="rect">
            <a:avLst/>
          </a:prstGeom>
          <a:noFill/>
          <a:ln/>
        </p:spPr>
        <p:txBody>
          <a:bodyPr wrap="square" lIns="0" tIns="0" rIns="0" bIns="0" rtlCol="0" anchor="t"/>
          <a:lstStyle/>
          <a:p>
            <a:pPr indent="0" marL="0">
              <a:buNone/>
            </a:pPr>
            <a:r>
              <a:rPr lang="en-US" sz="1100" b="1" dirty="0">
                <a:solidFill>
                  <a:schemeClr val="tx2"/>
                </a:solidFill>
              </a:rPr>
              <a:t>Marketing, Digital &amp; Client Engagement</a:t>
            </a:r>
            <a:endParaRPr lang="en-US" sz="1100" dirty="0"/>
          </a:p>
        </p:txBody>
      </p:sp>
      <p:sp>
        <p:nvSpPr>
          <p:cNvPr id="35" name="text"/>
          <p:cNvSpPr txBox="1"/>
          <p:nvPr/>
        </p:nvSpPr>
        <p:spPr>
          <a:xfrm>
            <a:off x="4434840" y="4343400"/>
            <a:ext cx="3291840" cy="548640"/>
          </a:xfrm>
          <a:prstGeom prst="rect">
            <a:avLst/>
          </a:prstGeom>
          <a:noFill/>
          <a:ln/>
        </p:spPr>
        <p:txBody>
          <a:bodyPr wrap="square" lIns="0" tIns="0" rIns="0" bIns="0" rtlCol="0" anchor="t"/>
          <a:lstStyle/>
          <a:p>
            <a:pPr indent="0" marL="0">
              <a:buNone/>
            </a:pPr>
            <a:r>
              <a:rPr lang="en-US" sz="950" dirty="0">
                <a:solidFill>
                  <a:schemeClr val="tx1"/>
                </a:solidFill>
              </a:rPr>
              <a:t>Acquisition funnel, onboarding events, campaigns, digital identity and app events, personalization, NPS</a:t>
            </a:r>
            <a:endParaRPr lang="en-US" sz="950" dirty="0"/>
          </a:p>
        </p:txBody>
      </p:sp>
      <p:sp>
        <p:nvSpPr>
          <p:cNvPr id="36" name="card"/>
          <p:cNvSpPr/>
          <p:nvPr/>
        </p:nvSpPr>
        <p:spPr>
          <a:xfrm>
            <a:off x="8046720" y="3794760"/>
            <a:ext cx="3566160" cy="1115568"/>
          </a:xfrm>
          <a:prstGeom prst="roundRect">
            <a:avLst>
              <a:gd name="adj" fmla="val 6557"/>
            </a:avLst>
          </a:prstGeom>
          <a:solidFill>
            <a:schemeClr val="bg2"/>
          </a:solidFill>
          <a:ln w="12700">
            <a:solidFill>
              <a:schemeClr val="bg2"/>
            </a:solidFill>
            <a:prstDash val="solid"/>
          </a:ln>
        </p:spPr>
      </p:sp>
      <p:sp>
        <p:nvSpPr>
          <p:cNvPr id="37" name="text"/>
          <p:cNvSpPr txBox="1"/>
          <p:nvPr/>
        </p:nvSpPr>
        <p:spPr>
          <a:xfrm>
            <a:off x="8183880" y="388620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13</a:t>
            </a:r>
            <a:endParaRPr lang="en-US" sz="1400" dirty="0"/>
          </a:p>
        </p:txBody>
      </p:sp>
      <p:sp>
        <p:nvSpPr>
          <p:cNvPr id="38" name="text"/>
          <p:cNvSpPr txBox="1"/>
          <p:nvPr/>
        </p:nvSpPr>
        <p:spPr>
          <a:xfrm>
            <a:off x="8595360" y="3886200"/>
            <a:ext cx="2880360" cy="457200"/>
          </a:xfrm>
          <a:prstGeom prst="rect">
            <a:avLst/>
          </a:prstGeom>
          <a:noFill/>
          <a:ln/>
        </p:spPr>
        <p:txBody>
          <a:bodyPr wrap="square" lIns="0" tIns="0" rIns="0" bIns="0" rtlCol="0" anchor="t"/>
          <a:lstStyle/>
          <a:p>
            <a:pPr indent="0" marL="0">
              <a:buNone/>
            </a:pPr>
            <a:r>
              <a:rPr lang="en-US" sz="1100" b="1" dirty="0">
                <a:solidFill>
                  <a:schemeClr val="tx2"/>
                </a:solidFill>
              </a:rPr>
              <a:t>Client Service &amp; Communications</a:t>
            </a:r>
            <a:endParaRPr lang="en-US" sz="1100" dirty="0"/>
          </a:p>
        </p:txBody>
      </p:sp>
      <p:sp>
        <p:nvSpPr>
          <p:cNvPr id="39" name="text"/>
          <p:cNvSpPr txBox="1"/>
          <p:nvPr/>
        </p:nvSpPr>
        <p:spPr>
          <a:xfrm>
            <a:off x="8183880" y="4343400"/>
            <a:ext cx="3291840" cy="548640"/>
          </a:xfrm>
          <a:prstGeom prst="rect">
            <a:avLst/>
          </a:prstGeom>
          <a:noFill/>
          <a:ln/>
        </p:spPr>
        <p:txBody>
          <a:bodyPr wrap="square" lIns="0" tIns="0" rIns="0" bIns="0" rtlCol="0" anchor="t"/>
          <a:lstStyle/>
          <a:p>
            <a:pPr indent="0" marL="0">
              <a:buNone/>
            </a:pPr>
            <a:r>
              <a:rPr lang="en-US" sz="950" dirty="0">
                <a:solidFill>
                  <a:schemeClr val="tx1"/>
                </a:solidFill>
              </a:rPr>
              <a:t>Interactions and cases across channels, statements, confirmations, tax documents, e-delivery, escheatment</a:t>
            </a:r>
            <a:endParaRPr lang="en-US" sz="950" dirty="0"/>
          </a:p>
        </p:txBody>
      </p:sp>
      <p:sp>
        <p:nvSpPr>
          <p:cNvPr id="40" name="card"/>
          <p:cNvSpPr/>
          <p:nvPr/>
        </p:nvSpPr>
        <p:spPr>
          <a:xfrm>
            <a:off x="548640" y="4983480"/>
            <a:ext cx="3566160" cy="1115568"/>
          </a:xfrm>
          <a:prstGeom prst="roundRect">
            <a:avLst>
              <a:gd name="adj" fmla="val 6557"/>
            </a:avLst>
          </a:prstGeom>
          <a:solidFill>
            <a:schemeClr val="bg2"/>
          </a:solidFill>
          <a:ln w="12700">
            <a:solidFill>
              <a:schemeClr val="bg2"/>
            </a:solidFill>
            <a:prstDash val="solid"/>
          </a:ln>
        </p:spPr>
      </p:sp>
      <p:sp>
        <p:nvSpPr>
          <p:cNvPr id="41" name="text"/>
          <p:cNvSpPr txBox="1"/>
          <p:nvPr/>
        </p:nvSpPr>
        <p:spPr>
          <a:xfrm>
            <a:off x="685800" y="507492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08</a:t>
            </a:r>
            <a:endParaRPr lang="en-US" sz="1400" dirty="0"/>
          </a:p>
        </p:txBody>
      </p:sp>
      <p:sp>
        <p:nvSpPr>
          <p:cNvPr id="42" name="text"/>
          <p:cNvSpPr txBox="1"/>
          <p:nvPr/>
        </p:nvSpPr>
        <p:spPr>
          <a:xfrm>
            <a:off x="1097280" y="5074920"/>
            <a:ext cx="2880360" cy="457200"/>
          </a:xfrm>
          <a:prstGeom prst="rect">
            <a:avLst/>
          </a:prstGeom>
          <a:noFill/>
          <a:ln/>
        </p:spPr>
        <p:txBody>
          <a:bodyPr wrap="square" lIns="0" tIns="0" rIns="0" bIns="0" rtlCol="0" anchor="t"/>
          <a:lstStyle/>
          <a:p>
            <a:pPr indent="0" marL="0">
              <a:buNone/>
            </a:pPr>
            <a:r>
              <a:rPr lang="en-US" sz="1100" b="1" dirty="0">
                <a:solidFill>
                  <a:schemeClr val="tx2"/>
                </a:solidFill>
              </a:rPr>
              <a:t>Retail Conduct &amp; Supervision</a:t>
            </a:r>
            <a:endParaRPr lang="en-US" sz="1100" dirty="0"/>
          </a:p>
        </p:txBody>
      </p:sp>
      <p:sp>
        <p:nvSpPr>
          <p:cNvPr id="43" name="text"/>
          <p:cNvSpPr txBox="1"/>
          <p:nvPr/>
        </p:nvSpPr>
        <p:spPr>
          <a:xfrm>
            <a:off x="685800" y="5532120"/>
            <a:ext cx="3291840" cy="548640"/>
          </a:xfrm>
          <a:prstGeom prst="rect">
            <a:avLst/>
          </a:prstGeom>
          <a:noFill/>
          <a:ln/>
        </p:spPr>
        <p:txBody>
          <a:bodyPr wrap="square" lIns="0" tIns="0" rIns="0" bIns="0" rtlCol="0" anchor="t"/>
          <a:lstStyle/>
          <a:p>
            <a:pPr indent="0" marL="0">
              <a:buNone/>
            </a:pPr>
            <a:r>
              <a:rPr lang="en-US" sz="950" dirty="0">
                <a:solidFill>
                  <a:schemeClr val="tx1"/>
                </a:solidFill>
              </a:rPr>
              <a:t>Reg BI and Form CRS, suitability surveillance, FINRA 3110 supervision, complaints, senior investor protection, licensing</a:t>
            </a:r>
            <a:endParaRPr lang="en-US" sz="950" dirty="0"/>
          </a:p>
        </p:txBody>
      </p:sp>
      <p:sp>
        <p:nvSpPr>
          <p:cNvPr id="44" name="card"/>
          <p:cNvSpPr/>
          <p:nvPr/>
        </p:nvSpPr>
        <p:spPr>
          <a:xfrm>
            <a:off x="4297680" y="4983480"/>
            <a:ext cx="3566160" cy="1115568"/>
          </a:xfrm>
          <a:prstGeom prst="roundRect">
            <a:avLst>
              <a:gd name="adj" fmla="val 6557"/>
            </a:avLst>
          </a:prstGeom>
          <a:solidFill>
            <a:schemeClr val="bg2"/>
          </a:solidFill>
          <a:ln w="12700">
            <a:solidFill>
              <a:schemeClr val="bg2"/>
            </a:solidFill>
            <a:prstDash val="solid"/>
          </a:ln>
        </p:spPr>
      </p:sp>
      <p:sp>
        <p:nvSpPr>
          <p:cNvPr id="45" name="text"/>
          <p:cNvSpPr txBox="1"/>
          <p:nvPr/>
        </p:nvSpPr>
        <p:spPr>
          <a:xfrm>
            <a:off x="4434840" y="507492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36</a:t>
            </a:r>
            <a:endParaRPr lang="en-US" sz="1400" dirty="0"/>
          </a:p>
        </p:txBody>
      </p:sp>
      <p:sp>
        <p:nvSpPr>
          <p:cNvPr id="46" name="text"/>
          <p:cNvSpPr txBox="1"/>
          <p:nvPr/>
        </p:nvSpPr>
        <p:spPr>
          <a:xfrm>
            <a:off x="4846320" y="5074920"/>
            <a:ext cx="2880360" cy="457200"/>
          </a:xfrm>
          <a:prstGeom prst="rect">
            <a:avLst/>
          </a:prstGeom>
          <a:noFill/>
          <a:ln/>
        </p:spPr>
        <p:txBody>
          <a:bodyPr wrap="square" lIns="0" tIns="0" rIns="0" bIns="0" rtlCol="0" anchor="t"/>
          <a:lstStyle/>
          <a:p>
            <a:pPr indent="0" marL="0">
              <a:buNone/>
            </a:pPr>
            <a:r>
              <a:rPr lang="en-US" sz="1100" b="1" dirty="0">
                <a:solidFill>
                  <a:schemeClr val="tx2"/>
                </a:solidFill>
              </a:rPr>
              <a:t>Product Development &amp; Lifecycle</a:t>
            </a:r>
            <a:endParaRPr lang="en-US" sz="1100" dirty="0"/>
          </a:p>
        </p:txBody>
      </p:sp>
      <p:sp>
        <p:nvSpPr>
          <p:cNvPr id="47" name="text"/>
          <p:cNvSpPr txBox="1"/>
          <p:nvPr/>
        </p:nvSpPr>
        <p:spPr>
          <a:xfrm>
            <a:off x="4434840" y="5532120"/>
            <a:ext cx="3291840" cy="548640"/>
          </a:xfrm>
          <a:prstGeom prst="rect">
            <a:avLst/>
          </a:prstGeom>
          <a:noFill/>
          <a:ln/>
        </p:spPr>
        <p:txBody>
          <a:bodyPr wrap="square" lIns="0" tIns="0" rIns="0" bIns="0" rtlCol="0" anchor="t"/>
          <a:lstStyle/>
          <a:p>
            <a:pPr indent="0" marL="0">
              <a:buNone/>
            </a:pPr>
            <a:r>
              <a:rPr lang="en-US" sz="950" dirty="0">
                <a:solidFill>
                  <a:schemeClr val="tx1"/>
                </a:solidFill>
              </a:rPr>
              <a:t>Advice-service and platform-feature development, product reviews and change</a:t>
            </a:r>
            <a:endParaRPr lang="en-US" sz="950" dirty="0"/>
          </a:p>
        </p:txBody>
      </p:sp>
      <p:sp>
        <p:nvSpPr>
          <p:cNvPr id="48" name="card"/>
          <p:cNvSpPr/>
          <p:nvPr/>
        </p:nvSpPr>
        <p:spPr>
          <a:xfrm>
            <a:off x="8046720" y="4983480"/>
            <a:ext cx="3566160" cy="1115568"/>
          </a:xfrm>
          <a:prstGeom prst="roundRect">
            <a:avLst>
              <a:gd name="adj" fmla="val 6557"/>
            </a:avLst>
          </a:prstGeom>
          <a:solidFill>
            <a:schemeClr val="bg2"/>
          </a:solidFill>
          <a:ln w="12700">
            <a:solidFill>
              <a:schemeClr val="bg2"/>
            </a:solidFill>
            <a:prstDash val="solid"/>
          </a:ln>
        </p:spPr>
      </p:sp>
      <p:sp>
        <p:nvSpPr>
          <p:cNvPr id="49" name="text"/>
          <p:cNvSpPr txBox="1"/>
          <p:nvPr/>
        </p:nvSpPr>
        <p:spPr>
          <a:xfrm>
            <a:off x="8183880" y="5074920"/>
            <a:ext cx="457200" cy="320040"/>
          </a:xfrm>
          <a:prstGeom prst="rect">
            <a:avLst/>
          </a:prstGeom>
          <a:noFill/>
          <a:ln/>
        </p:spPr>
        <p:txBody>
          <a:bodyPr wrap="square" lIns="0" tIns="0" rIns="0" bIns="0" rtlCol="0" anchor="t"/>
          <a:lstStyle/>
          <a:p>
            <a:pPr indent="0" marL="0">
              <a:buNone/>
            </a:pPr>
            <a:r>
              <a:rPr lang="en-US" sz="1400" b="1" dirty="0">
                <a:solidFill>
                  <a:schemeClr val="accent1"/>
                </a:solidFill>
              </a:rPr>
              <a:t>51</a:t>
            </a:r>
            <a:endParaRPr lang="en-US" sz="1400" dirty="0"/>
          </a:p>
        </p:txBody>
      </p:sp>
      <p:sp>
        <p:nvSpPr>
          <p:cNvPr id="50" name="text"/>
          <p:cNvSpPr txBox="1"/>
          <p:nvPr/>
        </p:nvSpPr>
        <p:spPr>
          <a:xfrm>
            <a:off x="8595360" y="5074920"/>
            <a:ext cx="2880360" cy="457200"/>
          </a:xfrm>
          <a:prstGeom prst="rect">
            <a:avLst/>
          </a:prstGeom>
          <a:noFill/>
          <a:ln/>
        </p:spPr>
        <p:txBody>
          <a:bodyPr wrap="square" lIns="0" tIns="0" rIns="0" bIns="0" rtlCol="0" anchor="t"/>
          <a:lstStyle/>
          <a:p>
            <a:pPr indent="0" marL="0">
              <a:buNone/>
            </a:pPr>
            <a:r>
              <a:rPr lang="en-US" sz="1100" b="1" dirty="0">
                <a:solidFill>
                  <a:schemeClr val="tx2"/>
                </a:solidFill>
              </a:rPr>
              <a:t>Trust &amp; Estate Services</a:t>
            </a:r>
            <a:endParaRPr lang="en-US" sz="1100" dirty="0"/>
          </a:p>
        </p:txBody>
      </p:sp>
      <p:sp>
        <p:nvSpPr>
          <p:cNvPr id="51" name="text"/>
          <p:cNvSpPr txBox="1"/>
          <p:nvPr/>
        </p:nvSpPr>
        <p:spPr>
          <a:xfrm>
            <a:off x="8183880" y="5532120"/>
            <a:ext cx="3291840" cy="548640"/>
          </a:xfrm>
          <a:prstGeom prst="rect">
            <a:avLst/>
          </a:prstGeom>
          <a:noFill/>
          <a:ln/>
        </p:spPr>
        <p:txBody>
          <a:bodyPr wrap="square" lIns="0" tIns="0" rIns="0" bIns="0" rtlCol="0" anchor="t"/>
          <a:lstStyle/>
          <a:p>
            <a:pPr indent="0" marL="0">
              <a:buNone/>
            </a:pPr>
            <a:r>
              <a:rPr lang="en-US" sz="950" dirty="0">
                <a:solidFill>
                  <a:schemeClr val="tx1"/>
                </a:solidFill>
              </a:rPr>
              <a:t>Trust instruments and roles, discretionary distributions, trust accounting, estate settlement (optional)</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Three books of record, and the certified numbers that sit on them</a:t>
            </a:r>
            <a:endParaRPr lang="en-US" sz="2800" dirty="0"/>
          </a:p>
        </p:txBody>
      </p:sp>
      <p:sp>
        <p:nvSpPr>
          <p:cNvPr id="4" name="card"/>
          <p:cNvSpPr/>
          <p:nvPr/>
        </p:nvSpPr>
        <p:spPr>
          <a:xfrm>
            <a:off x="548640" y="1417320"/>
            <a:ext cx="2377440" cy="1920240"/>
          </a:xfrm>
          <a:prstGeom prst="roundRect">
            <a:avLst>
              <a:gd name="adj" fmla="val 3810"/>
            </a:avLst>
          </a:prstGeom>
          <a:solidFill>
            <a:schemeClr val="bg2"/>
          </a:solidFill>
          <a:ln w="12700">
            <a:solidFill>
              <a:schemeClr val="bg2"/>
            </a:solidFill>
            <a:prstDash val="solid"/>
          </a:ln>
        </p:spPr>
      </p:sp>
      <p:sp>
        <p:nvSpPr>
          <p:cNvPr id="5" name="panel"/>
          <p:cNvSpPr/>
          <p:nvPr/>
        </p:nvSpPr>
        <p:spPr>
          <a:xfrm>
            <a:off x="548640" y="1417320"/>
            <a:ext cx="2377440" cy="502920"/>
          </a:xfrm>
          <a:prstGeom prst="rect">
            <a:avLst/>
          </a:prstGeom>
          <a:solidFill>
            <a:schemeClr val="accent2"/>
          </a:solidFill>
          <a:ln w="12700">
            <a:solidFill>
              <a:schemeClr val="accent2"/>
            </a:solidFill>
            <a:prstDash val="solid"/>
          </a:ln>
        </p:spPr>
      </p:sp>
      <p:sp>
        <p:nvSpPr>
          <p:cNvPr id="6" name="text"/>
          <p:cNvSpPr txBox="1"/>
          <p:nvPr/>
        </p:nvSpPr>
        <p:spPr>
          <a:xfrm>
            <a:off x="685800" y="1417320"/>
            <a:ext cx="2103120" cy="502920"/>
          </a:xfrm>
          <a:prstGeom prst="rect">
            <a:avLst/>
          </a:prstGeom>
          <a:noFill/>
          <a:ln/>
        </p:spPr>
        <p:txBody>
          <a:bodyPr wrap="square" lIns="0" tIns="0" rIns="0" bIns="0" rtlCol="0" anchor="ctr"/>
          <a:lstStyle/>
          <a:p>
            <a:pPr indent="0" marL="0">
              <a:buNone/>
            </a:pPr>
            <a:r>
              <a:rPr lang="en-US" sz="1250" b="1" dirty="0">
                <a:solidFill>
                  <a:schemeClr val="bg1"/>
                </a:solidFill>
              </a:rPr>
              <a:t>18   Portfolio Holding</a:t>
            </a:r>
            <a:endParaRPr lang="en-US" sz="1250" dirty="0"/>
          </a:p>
        </p:txBody>
      </p:sp>
      <p:sp>
        <p:nvSpPr>
          <p:cNvPr id="7" name="text"/>
          <p:cNvSpPr txBox="1"/>
          <p:nvPr/>
        </p:nvSpPr>
        <p:spPr>
          <a:xfrm>
            <a:off x="685800" y="2011680"/>
            <a:ext cx="2103120" cy="457200"/>
          </a:xfrm>
          <a:prstGeom prst="rect">
            <a:avLst/>
          </a:prstGeom>
          <a:noFill/>
          <a:ln/>
        </p:spPr>
        <p:txBody>
          <a:bodyPr wrap="square" lIns="0" tIns="0" rIns="0" bIns="0" rtlCol="0" anchor="t"/>
          <a:lstStyle/>
          <a:p>
            <a:pPr indent="0" marL="0">
              <a:buNone/>
            </a:pPr>
            <a:r>
              <a:rPr lang="en-US" sz="1000" b="1" dirty="0">
                <a:solidFill>
                  <a:schemeClr val="tx2"/>
                </a:solidFill>
              </a:rPr>
              <a:t>Portfolio &amp; Investment Book of Record</a:t>
            </a:r>
            <a:endParaRPr lang="en-US" sz="1000" dirty="0"/>
          </a:p>
        </p:txBody>
      </p:sp>
      <p:sp>
        <p:nvSpPr>
          <p:cNvPr id="8" name="text"/>
          <p:cNvSpPr txBox="1"/>
          <p:nvPr/>
        </p:nvSpPr>
        <p:spPr>
          <a:xfrm>
            <a:off x="685800" y="2423160"/>
            <a:ext cx="2103120" cy="914400"/>
          </a:xfrm>
          <a:prstGeom prst="rect">
            <a:avLst/>
          </a:prstGeom>
          <a:noFill/>
          <a:ln/>
        </p:spPr>
        <p:txBody>
          <a:bodyPr wrap="square" lIns="0" tIns="0" rIns="0" bIns="0" rtlCol="0" anchor="t"/>
          <a:lstStyle/>
          <a:p>
            <a:pPr indent="0" marL="0">
              <a:buNone/>
            </a:pPr>
            <a:r>
              <a:rPr lang="en-US" sz="950" dirty="0">
                <a:solidFill>
                  <a:schemeClr val="tx1"/>
                </a:solidFill>
              </a:rPr>
              <a:t>What the funds and institutional portfolios own. Fund IBOR.</a:t>
            </a:r>
            <a:endParaRPr lang="en-US" sz="950" dirty="0"/>
          </a:p>
        </p:txBody>
      </p:sp>
      <p:sp>
        <p:nvSpPr>
          <p:cNvPr id="9" name="card"/>
          <p:cNvSpPr/>
          <p:nvPr/>
        </p:nvSpPr>
        <p:spPr>
          <a:xfrm>
            <a:off x="3063240" y="1417320"/>
            <a:ext cx="2377440" cy="1920240"/>
          </a:xfrm>
          <a:prstGeom prst="roundRect">
            <a:avLst>
              <a:gd name="adj" fmla="val 3810"/>
            </a:avLst>
          </a:prstGeom>
          <a:solidFill>
            <a:schemeClr val="bg2"/>
          </a:solidFill>
          <a:ln w="12700">
            <a:solidFill>
              <a:schemeClr val="bg2"/>
            </a:solidFill>
            <a:prstDash val="solid"/>
          </a:ln>
        </p:spPr>
      </p:sp>
      <p:sp>
        <p:nvSpPr>
          <p:cNvPr id="10" name="panel"/>
          <p:cNvSpPr/>
          <p:nvPr/>
        </p:nvSpPr>
        <p:spPr>
          <a:xfrm>
            <a:off x="3063240" y="1417320"/>
            <a:ext cx="2377440" cy="502920"/>
          </a:xfrm>
          <a:prstGeom prst="rect">
            <a:avLst/>
          </a:prstGeom>
          <a:solidFill>
            <a:schemeClr val="accent5"/>
          </a:solidFill>
          <a:ln w="12700">
            <a:solidFill>
              <a:schemeClr val="accent5"/>
            </a:solidFill>
            <a:prstDash val="solid"/>
          </a:ln>
        </p:spPr>
      </p:sp>
      <p:sp>
        <p:nvSpPr>
          <p:cNvPr id="11" name="text"/>
          <p:cNvSpPr txBox="1"/>
          <p:nvPr/>
        </p:nvSpPr>
        <p:spPr>
          <a:xfrm>
            <a:off x="3200400" y="1417320"/>
            <a:ext cx="2103120" cy="502920"/>
          </a:xfrm>
          <a:prstGeom prst="rect">
            <a:avLst/>
          </a:prstGeom>
          <a:noFill/>
          <a:ln/>
        </p:spPr>
        <p:txBody>
          <a:bodyPr wrap="square" lIns="0" tIns="0" rIns="0" bIns="0" rtlCol="0" anchor="ctr"/>
          <a:lstStyle/>
          <a:p>
            <a:pPr indent="0" marL="0">
              <a:buNone/>
            </a:pPr>
            <a:r>
              <a:rPr lang="en-US" sz="1250" b="1" dirty="0">
                <a:solidFill>
                  <a:schemeClr val="bg1"/>
                </a:solidFill>
              </a:rPr>
              <a:t>49   Client Holding</a:t>
            </a:r>
            <a:endParaRPr lang="en-US" sz="1250" dirty="0"/>
          </a:p>
        </p:txBody>
      </p:sp>
      <p:sp>
        <p:nvSpPr>
          <p:cNvPr id="12" name="text"/>
          <p:cNvSpPr txBox="1"/>
          <p:nvPr/>
        </p:nvSpPr>
        <p:spPr>
          <a:xfrm>
            <a:off x="3200400" y="2011680"/>
            <a:ext cx="2103120" cy="457200"/>
          </a:xfrm>
          <a:prstGeom prst="rect">
            <a:avLst/>
          </a:prstGeom>
          <a:noFill/>
          <a:ln/>
        </p:spPr>
        <p:txBody>
          <a:bodyPr wrap="square" lIns="0" tIns="0" rIns="0" bIns="0" rtlCol="0" anchor="t"/>
          <a:lstStyle/>
          <a:p>
            <a:pPr indent="0" marL="0">
              <a:buNone/>
            </a:pPr>
            <a:r>
              <a:rPr lang="en-US" sz="1000" b="1" dirty="0">
                <a:solidFill>
                  <a:schemeClr val="tx2"/>
                </a:solidFill>
              </a:rPr>
              <a:t>Clearing, Settlement &amp; Client Asset Custody</a:t>
            </a:r>
            <a:endParaRPr lang="en-US" sz="1000" dirty="0"/>
          </a:p>
        </p:txBody>
      </p:sp>
      <p:sp>
        <p:nvSpPr>
          <p:cNvPr id="13" name="text"/>
          <p:cNvSpPr txBox="1"/>
          <p:nvPr/>
        </p:nvSpPr>
        <p:spPr>
          <a:xfrm>
            <a:off x="3200400" y="2423160"/>
            <a:ext cx="2103120" cy="914400"/>
          </a:xfrm>
          <a:prstGeom prst="rect">
            <a:avLst/>
          </a:prstGeom>
          <a:noFill/>
          <a:ln/>
        </p:spPr>
        <p:txBody>
          <a:bodyPr wrap="square" lIns="0" tIns="0" rIns="0" bIns="0" rtlCol="0" anchor="t"/>
          <a:lstStyle/>
          <a:p>
            <a:pPr indent="0" marL="0">
              <a:buNone/>
            </a:pPr>
            <a:r>
              <a:rPr lang="en-US" sz="950" dirty="0">
                <a:solidFill>
                  <a:schemeClr val="tx1"/>
                </a:solidFill>
              </a:rPr>
              <a:t>What each client account owns: securities, tax lots, cost basis, cash and sweep, pending activity. Rule 15c3-3 custody.</a:t>
            </a:r>
            <a:endParaRPr lang="en-US" sz="950" dirty="0"/>
          </a:p>
        </p:txBody>
      </p:sp>
      <p:sp>
        <p:nvSpPr>
          <p:cNvPr id="14" name="card"/>
          <p:cNvSpPr/>
          <p:nvPr/>
        </p:nvSpPr>
        <p:spPr>
          <a:xfrm>
            <a:off x="5577840" y="1417320"/>
            <a:ext cx="2377440" cy="1920240"/>
          </a:xfrm>
          <a:prstGeom prst="roundRect">
            <a:avLst>
              <a:gd name="adj" fmla="val 3810"/>
            </a:avLst>
          </a:prstGeom>
          <a:solidFill>
            <a:schemeClr val="bg2"/>
          </a:solidFill>
          <a:ln w="12700">
            <a:solidFill>
              <a:schemeClr val="bg2"/>
            </a:solidFill>
            <a:prstDash val="solid"/>
          </a:ln>
        </p:spPr>
      </p:sp>
      <p:sp>
        <p:nvSpPr>
          <p:cNvPr id="15" name="panel"/>
          <p:cNvSpPr/>
          <p:nvPr/>
        </p:nvSpPr>
        <p:spPr>
          <a:xfrm>
            <a:off x="5577840" y="1417320"/>
            <a:ext cx="2377440" cy="502920"/>
          </a:xfrm>
          <a:prstGeom prst="rect">
            <a:avLst/>
          </a:prstGeom>
          <a:solidFill>
            <a:schemeClr val="accent3"/>
          </a:solidFill>
          <a:ln w="12700">
            <a:solidFill>
              <a:schemeClr val="accent3"/>
            </a:solidFill>
            <a:prstDash val="solid"/>
          </a:ln>
        </p:spPr>
      </p:sp>
      <p:sp>
        <p:nvSpPr>
          <p:cNvPr id="16" name="text"/>
          <p:cNvSpPr txBox="1"/>
          <p:nvPr/>
        </p:nvSpPr>
        <p:spPr>
          <a:xfrm>
            <a:off x="5715000" y="1417320"/>
            <a:ext cx="2103120" cy="502920"/>
          </a:xfrm>
          <a:prstGeom prst="rect">
            <a:avLst/>
          </a:prstGeom>
          <a:noFill/>
          <a:ln/>
        </p:spPr>
        <p:txBody>
          <a:bodyPr wrap="square" lIns="0" tIns="0" rIns="0" bIns="0" rtlCol="0" anchor="ctr"/>
          <a:lstStyle/>
          <a:p>
            <a:pPr indent="0" marL="0">
              <a:buNone/>
            </a:pPr>
            <a:r>
              <a:rPr lang="en-US" sz="1250" b="1" dirty="0">
                <a:solidFill>
                  <a:schemeClr val="bg1"/>
                </a:solidFill>
              </a:rPr>
              <a:t>06   Fund Shareholder Position</a:t>
            </a:r>
            <a:endParaRPr lang="en-US" sz="1250" dirty="0"/>
          </a:p>
        </p:txBody>
      </p:sp>
      <p:sp>
        <p:nvSpPr>
          <p:cNvPr id="17" name="text"/>
          <p:cNvSpPr txBox="1"/>
          <p:nvPr/>
        </p:nvSpPr>
        <p:spPr>
          <a:xfrm>
            <a:off x="5715000" y="2011680"/>
            <a:ext cx="2103120" cy="457200"/>
          </a:xfrm>
          <a:prstGeom prst="rect">
            <a:avLst/>
          </a:prstGeom>
          <a:noFill/>
          <a:ln/>
        </p:spPr>
        <p:txBody>
          <a:bodyPr wrap="square" lIns="0" tIns="0" rIns="0" bIns="0" rtlCol="0" anchor="t"/>
          <a:lstStyle/>
          <a:p>
            <a:pPr indent="0" marL="0">
              <a:buNone/>
            </a:pPr>
            <a:r>
              <a:rPr lang="en-US" sz="1000" b="1" dirty="0">
                <a:solidFill>
                  <a:schemeClr val="tx2"/>
                </a:solidFill>
              </a:rPr>
              <a:t>Client Assets, Flows &amp; Channel Attribution</a:t>
            </a:r>
            <a:endParaRPr lang="en-US" sz="1000" dirty="0"/>
          </a:p>
        </p:txBody>
      </p:sp>
      <p:sp>
        <p:nvSpPr>
          <p:cNvPr id="18" name="text"/>
          <p:cNvSpPr txBox="1"/>
          <p:nvPr/>
        </p:nvSpPr>
        <p:spPr>
          <a:xfrm>
            <a:off x="5715000" y="2423160"/>
            <a:ext cx="2103120" cy="914400"/>
          </a:xfrm>
          <a:prstGeom prst="rect">
            <a:avLst/>
          </a:prstGeom>
          <a:noFill/>
          <a:ln/>
        </p:spPr>
        <p:txBody>
          <a:bodyPr wrap="square" lIns="0" tIns="0" rIns="0" bIns="0" rtlCol="0" anchor="t"/>
          <a:lstStyle/>
          <a:p>
            <a:pPr indent="0" marL="0">
              <a:buNone/>
            </a:pPr>
            <a:r>
              <a:rPr lang="en-US" sz="950" dirty="0">
                <a:solidFill>
                  <a:schemeClr val="tx1"/>
                </a:solidFill>
              </a:rPr>
              <a:t>Who owns the funds: built from 49 Client Holding for brokerage accounts and the 29 register for directly registered accounts; intermediary look-through as delivered.</a:t>
            </a:r>
            <a:endParaRPr lang="en-US" sz="950" dirty="0"/>
          </a:p>
        </p:txBody>
      </p:sp>
      <p:sp>
        <p:nvSpPr>
          <p:cNvPr id="19" name="text"/>
          <p:cNvSpPr txBox="1"/>
          <p:nvPr/>
        </p:nvSpPr>
        <p:spPr>
          <a:xfrm>
            <a:off x="548640" y="3429000"/>
            <a:ext cx="7406640" cy="365760"/>
          </a:xfrm>
          <a:prstGeom prst="rect">
            <a:avLst/>
          </a:prstGeom>
          <a:noFill/>
          <a:ln/>
        </p:spPr>
        <p:txBody>
          <a:bodyPr wrap="square" lIns="0" tIns="0" rIns="0" bIns="0" rtlCol="0" anchor="t"/>
          <a:lstStyle/>
          <a:p>
            <a:pPr indent="0" marL="0">
              <a:buNone/>
            </a:pPr>
            <a:r>
              <a:rPr lang="en-US" sz="1000" i="1" dirty="0">
                <a:solidFill>
                  <a:schemeClr val="accent6"/>
                </a:solidFill>
              </a:rPr>
              <a:t>Three names, three owners, three regulations. 'Holding', 'Position' and 'Custody' are logged term conflicts; the glossary says which is which.</a:t>
            </a:r>
            <a:endParaRPr lang="en-US" sz="1000" dirty="0"/>
          </a:p>
        </p:txBody>
      </p:sp>
      <p:sp>
        <p:nvSpPr>
          <p:cNvPr id="20" name="client assets"/>
          <p:cNvSpPr/>
          <p:nvPr/>
        </p:nvSpPr>
        <p:spPr>
          <a:xfrm>
            <a:off x="8549640" y="1417320"/>
            <a:ext cx="1737360" cy="1737360"/>
          </a:xfrm>
          <a:prstGeom prst="ellipse">
            <a:avLst/>
          </a:prstGeom>
          <a:solidFill>
            <a:schemeClr val="accent1">
              <a:alpha val="75000"/>
            </a:schemeClr>
          </a:solidFill>
          <a:ln w="12700">
            <a:solidFill>
              <a:srgbClr val="333333"/>
            </a:solidFill>
            <a:prstDash val="solid"/>
          </a:ln>
        </p:spPr>
      </p:sp>
      <p:sp>
        <p:nvSpPr>
          <p:cNvPr id="21" name="firm aum"/>
          <p:cNvSpPr/>
          <p:nvPr/>
        </p:nvSpPr>
        <p:spPr>
          <a:xfrm>
            <a:off x="9601200" y="1417320"/>
            <a:ext cx="1737360" cy="1737360"/>
          </a:xfrm>
          <a:prstGeom prst="ellipse">
            <a:avLst/>
          </a:prstGeom>
          <a:solidFill>
            <a:schemeClr val="accent2">
              <a:alpha val="75000"/>
            </a:schemeClr>
          </a:solidFill>
          <a:ln w="12700">
            <a:solidFill>
              <a:srgbClr val="333333"/>
            </a:solidFill>
            <a:prstDash val="solid"/>
          </a:ln>
        </p:spPr>
      </p:sp>
      <p:sp>
        <p:nvSpPr>
          <p:cNvPr id="22" name="text"/>
          <p:cNvSpPr txBox="1"/>
          <p:nvPr/>
        </p:nvSpPr>
        <p:spPr>
          <a:xfrm>
            <a:off x="8458200" y="2057400"/>
            <a:ext cx="1188720" cy="457200"/>
          </a:xfrm>
          <a:prstGeom prst="rect">
            <a:avLst/>
          </a:prstGeom>
          <a:noFill/>
          <a:ln/>
        </p:spPr>
        <p:txBody>
          <a:bodyPr wrap="square" lIns="0" tIns="0" rIns="0" bIns="0" rtlCol="0" anchor="t"/>
          <a:lstStyle/>
          <a:p>
            <a:pPr algn="ctr" indent="0" marL="0">
              <a:buNone/>
            </a:pPr>
            <a:r>
              <a:rPr lang="en-US" sz="1200" b="1" dirty="0">
                <a:solidFill>
                  <a:schemeClr val="bg1"/>
                </a:solidFill>
              </a:rPr>
              <a:t>Client Assets</a:t>
            </a:r>
            <a:endParaRPr lang="en-US" sz="1200" dirty="0"/>
          </a:p>
        </p:txBody>
      </p:sp>
      <p:sp>
        <p:nvSpPr>
          <p:cNvPr id="23" name="text"/>
          <p:cNvSpPr txBox="1"/>
          <p:nvPr/>
        </p:nvSpPr>
        <p:spPr>
          <a:xfrm>
            <a:off x="10241280" y="2057400"/>
            <a:ext cx="1188720" cy="457200"/>
          </a:xfrm>
          <a:prstGeom prst="rect">
            <a:avLst/>
          </a:prstGeom>
          <a:noFill/>
          <a:ln/>
        </p:spPr>
        <p:txBody>
          <a:bodyPr wrap="square" lIns="0" tIns="0" rIns="0" bIns="0" rtlCol="0" anchor="t"/>
          <a:lstStyle/>
          <a:p>
            <a:pPr algn="ctr" indent="0" marL="0">
              <a:buNone/>
            </a:pPr>
            <a:r>
              <a:rPr lang="en-US" sz="1200" b="1" dirty="0">
                <a:solidFill>
                  <a:schemeClr val="bg1"/>
                </a:solidFill>
              </a:rPr>
              <a:t>Firm AUM</a:t>
            </a:r>
            <a:endParaRPr lang="en-US" sz="1200" dirty="0"/>
          </a:p>
        </p:txBody>
      </p:sp>
      <p:sp>
        <p:nvSpPr>
          <p:cNvPr id="24" name="text"/>
          <p:cNvSpPr txBox="1"/>
          <p:nvPr/>
        </p:nvSpPr>
        <p:spPr>
          <a:xfrm>
            <a:off x="9555480" y="2148840"/>
            <a:ext cx="777240" cy="548640"/>
          </a:xfrm>
          <a:prstGeom prst="rect">
            <a:avLst/>
          </a:prstGeom>
          <a:noFill/>
          <a:ln/>
        </p:spPr>
        <p:txBody>
          <a:bodyPr wrap="square" lIns="0" tIns="0" rIns="0" bIns="0" rtlCol="0" anchor="t"/>
          <a:lstStyle/>
          <a:p>
            <a:pPr algn="ctr" indent="0" marL="0">
              <a:buNone/>
            </a:pPr>
            <a:r>
              <a:rPr lang="en-US" sz="800" b="1" dirty="0">
                <a:solidFill>
                  <a:schemeClr val="bg1"/>
                </a:solidFill>
              </a:rPr>
              <a:t>own funds held by clients</a:t>
            </a:r>
            <a:endParaRPr lang="en-US" sz="800" dirty="0"/>
          </a:p>
        </p:txBody>
      </p:sp>
      <p:sp>
        <p:nvSpPr>
          <p:cNvPr id="25" name="text"/>
          <p:cNvSpPr txBox="1"/>
          <p:nvPr/>
        </p:nvSpPr>
        <p:spPr>
          <a:xfrm>
            <a:off x="8183880" y="3246120"/>
            <a:ext cx="3749040" cy="320040"/>
          </a:xfrm>
          <a:prstGeom prst="rect">
            <a:avLst/>
          </a:prstGeom>
          <a:noFill/>
          <a:ln/>
        </p:spPr>
        <p:txBody>
          <a:bodyPr wrap="square" lIns="0" tIns="0" rIns="0" bIns="0" rtlCol="0" anchor="t"/>
          <a:lstStyle/>
          <a:p>
            <a:pPr algn="ctr" indent="0" marL="0">
              <a:buNone/>
            </a:pPr>
            <a:r>
              <a:rPr lang="en-US" sz="1050" b="1" dirty="0">
                <a:solidFill>
                  <a:schemeClr val="tx2"/>
                </a:solidFill>
              </a:rPr>
              <a:t>Reconciled in DP-241, never summed</a:t>
            </a:r>
            <a:endParaRPr lang="en-US" sz="105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548640" y="3840480"/>
          <a:ext cx="11094415" cy="914400"/>
        </p:xfrm>
        <a:graphic>
          <a:graphicData uri="http://schemas.openxmlformats.org/drawingml/2006/table">
            <a:tbl>
              <a:tblPr/>
              <a:tblGrid>
                <a:gridCol w="3108960"/>
                <a:gridCol w="5760720"/>
                <a:gridCol w="2221992"/>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Certified family</a:t>
                      </a:r>
                      <a:endParaRPr lang="en-US" sz="9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What it is</a:t>
                      </a:r>
                      <a:endParaRPr lang="en-US" sz="9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Owner</a:t>
                      </a:r>
                      <a:endParaRPr lang="en-US" sz="9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indent="0" marL="0">
                        <a:buNone/>
                      </a:pPr>
                      <a:r>
                        <a:rPr lang="en-US" sz="900" dirty="0">
                          <a:solidFill>
                            <a:srgbClr val="1A2B3C"/>
                          </a:solidFill>
                          <a:latin typeface="Arial" pitchFamily="34" charset="0"/>
                          <a:ea typeface="Arial" pitchFamily="34" charset="-122"/>
                          <a:cs typeface="Arial" pitchFamily="34" charset="-120"/>
                        </a:rPr>
                        <a:t>Client Assets (the headline)</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Market value of every client account at the firm, by channel and holding type</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Client &amp; Channel Analytics (DP-008)</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A2B3C"/>
                          </a:solidFill>
                          <a:latin typeface="Arial" pitchFamily="34" charset="0"/>
                          <a:ea typeface="Arial" pitchFamily="34" charset="-122"/>
                          <a:cs typeface="Arial" pitchFamily="34" charset="-120"/>
                        </a:rPr>
                        <a:t>Firm AUM</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Own funds at NAV plus managed-account and institutional assets at market value; the manufacturing number</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Fund Accounting (DP-241)</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indent="0" marL="0">
                        <a:buNone/>
                      </a:pPr>
                      <a:r>
                        <a:rPr lang="en-US" sz="900" dirty="0">
                          <a:solidFill>
                            <a:srgbClr val="1A2B3C"/>
                          </a:solidFill>
                          <a:latin typeface="Arial" pitchFamily="34" charset="0"/>
                          <a:ea typeface="Arial" pitchFamily="34" charset="-122"/>
                          <a:cs typeface="Arial" pitchFamily="34" charset="-120"/>
                        </a:rPr>
                        <a:t>Net New Assets; Advised Assets; Net Inter-Channel Transfers</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External flows under the flow treatment rules; fee-based assets; moves between channels (a firm-plan to firm-IRA rollover is a transfer, not NNA)</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Client &amp; Channel Analytics (DP-008)</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A2B3C"/>
                          </a:solidFill>
                          <a:latin typeface="Arial" pitchFamily="34" charset="0"/>
                          <a:ea typeface="Arial" pitchFamily="34" charset="-122"/>
                          <a:cs typeface="Arial" pitchFamily="34" charset="-120"/>
                        </a:rPr>
                        <a:t>Households, Clients, Funded Accounts</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Counts from the party and account masters, published as certified measures</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Client &amp; Channel Analytics (DP-008)</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indent="0" marL="0">
                        <a:buNone/>
                      </a:pPr>
                      <a:r>
                        <a:rPr lang="en-US" sz="900" dirty="0">
                          <a:solidFill>
                            <a:srgbClr val="1A2B3C"/>
                          </a:solidFill>
                          <a:latin typeface="Arial" pitchFamily="34" charset="0"/>
                          <a:ea typeface="Arial" pitchFamily="34" charset="-122"/>
                          <a:cs typeface="Arial" pitchFamily="34" charset="-120"/>
                        </a:rPr>
                        <a:t>Personal Rate of Return</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Time- and money-weighted returns at account and household grain; planning never computes returns</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Performance Measurement (DP-145)</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Advice is data: what was recommended, and why</a:t>
            </a:r>
            <a:endParaRPr lang="en-US" sz="2800" dirty="0"/>
          </a:p>
        </p:txBody>
      </p:sp>
      <p:sp>
        <p:nvSpPr>
          <p:cNvPr id="4" name="card"/>
          <p:cNvSpPr/>
          <p:nvPr/>
        </p:nvSpPr>
        <p:spPr>
          <a:xfrm>
            <a:off x="548640" y="1417320"/>
            <a:ext cx="6949440" cy="621792"/>
          </a:xfrm>
          <a:prstGeom prst="roundRect">
            <a:avLst>
              <a:gd name="adj" fmla="val 11765"/>
            </a:avLst>
          </a:prstGeom>
          <a:solidFill>
            <a:schemeClr val="bg2"/>
          </a:solidFill>
          <a:ln w="12700">
            <a:solidFill>
              <a:schemeClr val="bg2"/>
            </a:solidFill>
            <a:prstDash val="solid"/>
          </a:ln>
        </p:spPr>
      </p:sp>
      <p:sp>
        <p:nvSpPr>
          <p:cNvPr id="5" name="text"/>
          <p:cNvSpPr txBox="1"/>
          <p:nvPr/>
        </p:nvSpPr>
        <p:spPr>
          <a:xfrm>
            <a:off x="731520" y="1472184"/>
            <a:ext cx="2377440" cy="530352"/>
          </a:xfrm>
          <a:prstGeom prst="rect">
            <a:avLst/>
          </a:prstGeom>
          <a:noFill/>
          <a:ln/>
        </p:spPr>
        <p:txBody>
          <a:bodyPr wrap="square" lIns="0" tIns="0" rIns="0" bIns="0" rtlCol="0" anchor="ctr"/>
          <a:lstStyle/>
          <a:p>
            <a:pPr indent="0" marL="0">
              <a:buNone/>
            </a:pPr>
            <a:r>
              <a:rPr lang="en-US" sz="1150" b="1" dirty="0">
                <a:solidFill>
                  <a:schemeClr val="accent1"/>
                </a:solidFill>
              </a:rPr>
              <a:t>Advice Engagement</a:t>
            </a:r>
            <a:endParaRPr lang="en-US" sz="1150" dirty="0"/>
          </a:p>
        </p:txBody>
      </p:sp>
      <p:sp>
        <p:nvSpPr>
          <p:cNvPr id="6" name="text"/>
          <p:cNvSpPr txBox="1"/>
          <p:nvPr/>
        </p:nvSpPr>
        <p:spPr>
          <a:xfrm>
            <a:off x="3154680" y="1472184"/>
            <a:ext cx="4206240" cy="530352"/>
          </a:xfrm>
          <a:prstGeom prst="rect">
            <a:avLst/>
          </a:prstGeom>
          <a:noFill/>
          <a:ln/>
        </p:spPr>
        <p:txBody>
          <a:bodyPr wrap="square" lIns="0" tIns="0" rIns="0" bIns="0" rtlCol="0" anchor="ctr"/>
          <a:lstStyle/>
          <a:p>
            <a:pPr indent="0" marL="0">
              <a:buNone/>
            </a:pPr>
            <a:r>
              <a:rPr lang="en-US" sz="950" dirty="0">
                <a:solidFill>
                  <a:schemeClr val="tx1"/>
                </a:solidFill>
              </a:rPr>
              <a:t>Who is advised, in what scope, through which channel, by whom; advice reviews including the Rule 3a-4 annual contact</a:t>
            </a:r>
            <a:endParaRPr lang="en-US" sz="950" dirty="0"/>
          </a:p>
        </p:txBody>
      </p:sp>
      <p:sp>
        <p:nvSpPr>
          <p:cNvPr id="7" name="card"/>
          <p:cNvSpPr/>
          <p:nvPr/>
        </p:nvSpPr>
        <p:spPr>
          <a:xfrm>
            <a:off x="548640" y="2130552"/>
            <a:ext cx="6949440" cy="621792"/>
          </a:xfrm>
          <a:prstGeom prst="roundRect">
            <a:avLst>
              <a:gd name="adj" fmla="val 11765"/>
            </a:avLst>
          </a:prstGeom>
          <a:solidFill>
            <a:schemeClr val="bg2"/>
          </a:solidFill>
          <a:ln w="12700">
            <a:solidFill>
              <a:schemeClr val="bg2"/>
            </a:solidFill>
            <a:prstDash val="solid"/>
          </a:ln>
        </p:spPr>
      </p:sp>
      <p:sp>
        <p:nvSpPr>
          <p:cNvPr id="8" name="text"/>
          <p:cNvSpPr txBox="1"/>
          <p:nvPr/>
        </p:nvSpPr>
        <p:spPr>
          <a:xfrm>
            <a:off x="731520" y="2185416"/>
            <a:ext cx="2377440" cy="530352"/>
          </a:xfrm>
          <a:prstGeom prst="rect">
            <a:avLst/>
          </a:prstGeom>
          <a:noFill/>
          <a:ln/>
        </p:spPr>
        <p:txBody>
          <a:bodyPr wrap="square" lIns="0" tIns="0" rIns="0" bIns="0" rtlCol="0" anchor="ctr"/>
          <a:lstStyle/>
          <a:p>
            <a:pPr indent="0" marL="0">
              <a:buNone/>
            </a:pPr>
            <a:r>
              <a:rPr lang="en-US" sz="1150" b="1" dirty="0">
                <a:solidFill>
                  <a:schemeClr val="accent1"/>
                </a:solidFill>
              </a:rPr>
              <a:t>Financial Goal</a:t>
            </a:r>
            <a:endParaRPr lang="en-US" sz="1150" dirty="0"/>
          </a:p>
        </p:txBody>
      </p:sp>
      <p:sp>
        <p:nvSpPr>
          <p:cNvPr id="9" name="text"/>
          <p:cNvSpPr txBox="1"/>
          <p:nvPr/>
        </p:nvSpPr>
        <p:spPr>
          <a:xfrm>
            <a:off x="3154680" y="2185416"/>
            <a:ext cx="4206240" cy="530352"/>
          </a:xfrm>
          <a:prstGeom prst="rect">
            <a:avLst/>
          </a:prstGeom>
          <a:noFill/>
          <a:ln/>
        </p:spPr>
        <p:txBody>
          <a:bodyPr wrap="square" lIns="0" tIns="0" rIns="0" bIns="0" rtlCol="0" anchor="ctr"/>
          <a:lstStyle/>
          <a:p>
            <a:pPr indent="0" marL="0">
              <a:buNone/>
            </a:pPr>
            <a:r>
              <a:rPr lang="en-US" sz="950" dirty="0">
                <a:solidFill>
                  <a:schemeClr val="tx1"/>
                </a:solidFill>
              </a:rPr>
              <a:t>Goal, priority, target, funding accounts, retirement-income and education detail, progress snapshots</a:t>
            </a:r>
            <a:endParaRPr lang="en-US" sz="950" dirty="0"/>
          </a:p>
        </p:txBody>
      </p:sp>
      <p:sp>
        <p:nvSpPr>
          <p:cNvPr id="10" name="card"/>
          <p:cNvSpPr/>
          <p:nvPr/>
        </p:nvSpPr>
        <p:spPr>
          <a:xfrm>
            <a:off x="548640" y="2843784"/>
            <a:ext cx="6949440" cy="621792"/>
          </a:xfrm>
          <a:prstGeom prst="roundRect">
            <a:avLst>
              <a:gd name="adj" fmla="val 11765"/>
            </a:avLst>
          </a:prstGeom>
          <a:solidFill>
            <a:schemeClr val="bg2"/>
          </a:solidFill>
          <a:ln w="12700">
            <a:solidFill>
              <a:schemeClr val="bg2"/>
            </a:solidFill>
            <a:prstDash val="solid"/>
          </a:ln>
        </p:spPr>
      </p:sp>
      <p:sp>
        <p:nvSpPr>
          <p:cNvPr id="11" name="text"/>
          <p:cNvSpPr txBox="1"/>
          <p:nvPr/>
        </p:nvSpPr>
        <p:spPr>
          <a:xfrm>
            <a:off x="731520" y="2898648"/>
            <a:ext cx="2377440" cy="530352"/>
          </a:xfrm>
          <a:prstGeom prst="rect">
            <a:avLst/>
          </a:prstGeom>
          <a:noFill/>
          <a:ln/>
        </p:spPr>
        <p:txBody>
          <a:bodyPr wrap="square" lIns="0" tIns="0" rIns="0" bIns="0" rtlCol="0" anchor="ctr"/>
          <a:lstStyle/>
          <a:p>
            <a:pPr indent="0" marL="0">
              <a:buNone/>
            </a:pPr>
            <a:r>
              <a:rPr lang="en-US" sz="1150" b="1" dirty="0">
                <a:solidFill>
                  <a:schemeClr val="accent1"/>
                </a:solidFill>
              </a:rPr>
              <a:t>Client Financial Plan and versions</a:t>
            </a:r>
            <a:endParaRPr lang="en-US" sz="1150" dirty="0"/>
          </a:p>
        </p:txBody>
      </p:sp>
      <p:sp>
        <p:nvSpPr>
          <p:cNvPr id="12" name="text"/>
          <p:cNvSpPr txBox="1"/>
          <p:nvPr/>
        </p:nvSpPr>
        <p:spPr>
          <a:xfrm>
            <a:off x="3154680" y="2898648"/>
            <a:ext cx="4206240" cy="530352"/>
          </a:xfrm>
          <a:prstGeom prst="rect">
            <a:avLst/>
          </a:prstGeom>
          <a:noFill/>
          <a:ln/>
        </p:spPr>
        <p:txBody>
          <a:bodyPr wrap="square" lIns="0" tIns="0" rIns="0" bIns="0" rtlCol="0" anchor="ctr"/>
          <a:lstStyle/>
          <a:p>
            <a:pPr indent="0" marL="0">
              <a:buNone/>
            </a:pPr>
            <a:r>
              <a:rPr lang="en-US" sz="950" dirty="0">
                <a:solidFill>
                  <a:schemeClr val="tx1"/>
                </a:solidFill>
              </a:rPr>
              <a:t>Cash-flow and balance-sheet inputs, assumption sets, aggregated outside accounts, scenarios and projection results</a:t>
            </a:r>
            <a:endParaRPr lang="en-US" sz="950" dirty="0"/>
          </a:p>
        </p:txBody>
      </p:sp>
      <p:sp>
        <p:nvSpPr>
          <p:cNvPr id="13" name="card"/>
          <p:cNvSpPr/>
          <p:nvPr/>
        </p:nvSpPr>
        <p:spPr>
          <a:xfrm>
            <a:off x="548640" y="3557016"/>
            <a:ext cx="6949440" cy="621792"/>
          </a:xfrm>
          <a:prstGeom prst="roundRect">
            <a:avLst>
              <a:gd name="adj" fmla="val 11765"/>
            </a:avLst>
          </a:prstGeom>
          <a:solidFill>
            <a:schemeClr val="bg2"/>
          </a:solidFill>
          <a:ln w="12700">
            <a:solidFill>
              <a:schemeClr val="bg2"/>
            </a:solidFill>
            <a:prstDash val="solid"/>
          </a:ln>
        </p:spPr>
      </p:sp>
      <p:sp>
        <p:nvSpPr>
          <p:cNvPr id="14" name="text"/>
          <p:cNvSpPr txBox="1"/>
          <p:nvPr/>
        </p:nvSpPr>
        <p:spPr>
          <a:xfrm>
            <a:off x="731520" y="3611880"/>
            <a:ext cx="2377440" cy="530352"/>
          </a:xfrm>
          <a:prstGeom prst="rect">
            <a:avLst/>
          </a:prstGeom>
          <a:noFill/>
          <a:ln/>
        </p:spPr>
        <p:txBody>
          <a:bodyPr wrap="square" lIns="0" tIns="0" rIns="0" bIns="0" rtlCol="0" anchor="ctr"/>
          <a:lstStyle/>
          <a:p>
            <a:pPr indent="0" marL="0">
              <a:buNone/>
            </a:pPr>
            <a:r>
              <a:rPr lang="en-US" sz="1150" b="1" dirty="0">
                <a:solidFill>
                  <a:schemeClr val="accent1"/>
                </a:solidFill>
              </a:rPr>
              <a:t>Recommendation</a:t>
            </a:r>
            <a:endParaRPr lang="en-US" sz="1150" dirty="0"/>
          </a:p>
        </p:txBody>
      </p:sp>
      <p:sp>
        <p:nvSpPr>
          <p:cNvPr id="15" name="text"/>
          <p:cNvSpPr txBox="1"/>
          <p:nvPr/>
        </p:nvSpPr>
        <p:spPr>
          <a:xfrm>
            <a:off x="3154680" y="3611880"/>
            <a:ext cx="4206240" cy="530352"/>
          </a:xfrm>
          <a:prstGeom prst="rect">
            <a:avLst/>
          </a:prstGeom>
          <a:noFill/>
          <a:ln/>
        </p:spPr>
        <p:txBody>
          <a:bodyPr wrap="square" lIns="0" tIns="0" rIns="0" bIns="0" rtlCol="0" anchor="ctr"/>
          <a:lstStyle/>
          <a:p>
            <a:pPr indent="0" marL="0">
              <a:buNone/>
            </a:pPr>
            <a:r>
              <a:rPr lang="en-US" sz="950" dirty="0">
                <a:solidFill>
                  <a:schemeClr val="tx1"/>
                </a:solidFill>
              </a:rPr>
              <a:t>Type, capacity (Reg BI or adviser), source (advisor or engine), the investor profile version relied on, client decision</a:t>
            </a:r>
            <a:endParaRPr lang="en-US" sz="950" dirty="0"/>
          </a:p>
        </p:txBody>
      </p:sp>
      <p:sp>
        <p:nvSpPr>
          <p:cNvPr id="16" name="card"/>
          <p:cNvSpPr/>
          <p:nvPr/>
        </p:nvSpPr>
        <p:spPr>
          <a:xfrm>
            <a:off x="548640" y="4270248"/>
            <a:ext cx="6949440" cy="621792"/>
          </a:xfrm>
          <a:prstGeom prst="roundRect">
            <a:avLst>
              <a:gd name="adj" fmla="val 11765"/>
            </a:avLst>
          </a:prstGeom>
          <a:solidFill>
            <a:schemeClr val="bg2"/>
          </a:solidFill>
          <a:ln w="12700">
            <a:solidFill>
              <a:schemeClr val="bg2"/>
            </a:solidFill>
            <a:prstDash val="solid"/>
          </a:ln>
        </p:spPr>
      </p:sp>
      <p:sp>
        <p:nvSpPr>
          <p:cNvPr id="17" name="text"/>
          <p:cNvSpPr txBox="1"/>
          <p:nvPr/>
        </p:nvSpPr>
        <p:spPr>
          <a:xfrm>
            <a:off x="731520" y="4325112"/>
            <a:ext cx="2377440" cy="530352"/>
          </a:xfrm>
          <a:prstGeom prst="rect">
            <a:avLst/>
          </a:prstGeom>
          <a:noFill/>
          <a:ln/>
        </p:spPr>
        <p:txBody>
          <a:bodyPr wrap="square" lIns="0" tIns="0" rIns="0" bIns="0" rtlCol="0" anchor="ctr"/>
          <a:lstStyle/>
          <a:p>
            <a:pPr indent="0" marL="0">
              <a:buNone/>
            </a:pPr>
            <a:r>
              <a:rPr lang="en-US" sz="1150" b="1" dirty="0">
                <a:solidFill>
                  <a:schemeClr val="accent1"/>
                </a:solidFill>
              </a:rPr>
              <a:t>Rationale, alternatives, Best Interest Evidence</a:t>
            </a:r>
            <a:endParaRPr lang="en-US" sz="1150" dirty="0"/>
          </a:p>
        </p:txBody>
      </p:sp>
      <p:sp>
        <p:nvSpPr>
          <p:cNvPr id="18" name="text"/>
          <p:cNvSpPr txBox="1"/>
          <p:nvPr/>
        </p:nvSpPr>
        <p:spPr>
          <a:xfrm>
            <a:off x="3154680" y="4325112"/>
            <a:ext cx="4206240" cy="530352"/>
          </a:xfrm>
          <a:prstGeom prst="rect">
            <a:avLst/>
          </a:prstGeom>
          <a:noFill/>
          <a:ln/>
        </p:spPr>
        <p:txBody>
          <a:bodyPr wrap="square" lIns="0" tIns="0" rIns="0" bIns="0" rtlCol="0" anchor="ctr"/>
          <a:lstStyle/>
          <a:p>
            <a:pPr indent="0" marL="0">
              <a:buNone/>
            </a:pPr>
            <a:r>
              <a:rPr lang="en-US" sz="950" dirty="0">
                <a:solidFill>
                  <a:schemeClr val="tx1"/>
                </a:solidFill>
              </a:rPr>
              <a:t>Basis, profile factors considered, costs compared, the alternatives considered, evidence per obligation component</a:t>
            </a:r>
            <a:endParaRPr lang="en-US" sz="950" dirty="0"/>
          </a:p>
        </p:txBody>
      </p:sp>
      <p:sp>
        <p:nvSpPr>
          <p:cNvPr id="19" name="card"/>
          <p:cNvSpPr/>
          <p:nvPr/>
        </p:nvSpPr>
        <p:spPr>
          <a:xfrm>
            <a:off x="548640" y="4983480"/>
            <a:ext cx="6949440" cy="621792"/>
          </a:xfrm>
          <a:prstGeom prst="roundRect">
            <a:avLst>
              <a:gd name="adj" fmla="val 11765"/>
            </a:avLst>
          </a:prstGeom>
          <a:solidFill>
            <a:schemeClr val="bg2"/>
          </a:solidFill>
          <a:ln w="12700">
            <a:solidFill>
              <a:schemeClr val="bg2"/>
            </a:solidFill>
            <a:prstDash val="solid"/>
          </a:ln>
        </p:spPr>
      </p:sp>
      <p:sp>
        <p:nvSpPr>
          <p:cNvPr id="20" name="text"/>
          <p:cNvSpPr txBox="1"/>
          <p:nvPr/>
        </p:nvSpPr>
        <p:spPr>
          <a:xfrm>
            <a:off x="731520" y="5038344"/>
            <a:ext cx="2377440" cy="530352"/>
          </a:xfrm>
          <a:prstGeom prst="rect">
            <a:avLst/>
          </a:prstGeom>
          <a:noFill/>
          <a:ln/>
        </p:spPr>
        <p:txBody>
          <a:bodyPr wrap="square" lIns="0" tIns="0" rIns="0" bIns="0" rtlCol="0" anchor="ctr"/>
          <a:lstStyle/>
          <a:p>
            <a:pPr indent="0" marL="0">
              <a:buNone/>
            </a:pPr>
            <a:r>
              <a:rPr lang="en-US" sz="1150" b="1" dirty="0">
                <a:solidFill>
                  <a:schemeClr val="accent1"/>
                </a:solidFill>
              </a:rPr>
              <a:t>Rollover Analysis and PTE 2020-02 Documentation</a:t>
            </a:r>
            <a:endParaRPr lang="en-US" sz="1150" dirty="0"/>
          </a:p>
        </p:txBody>
      </p:sp>
      <p:sp>
        <p:nvSpPr>
          <p:cNvPr id="21" name="text"/>
          <p:cNvSpPr txBox="1"/>
          <p:nvPr/>
        </p:nvSpPr>
        <p:spPr>
          <a:xfrm>
            <a:off x="3154680" y="5038344"/>
            <a:ext cx="4206240" cy="530352"/>
          </a:xfrm>
          <a:prstGeom prst="rect">
            <a:avLst/>
          </a:prstGeom>
          <a:noFill/>
          <a:ln/>
        </p:spPr>
        <p:txBody>
          <a:bodyPr wrap="square" lIns="0" tIns="0" rIns="0" bIns="0" rtlCol="0" anchor="ctr"/>
          <a:lstStyle/>
          <a:p>
            <a:pPr indent="0" marL="0">
              <a:buNone/>
            </a:pPr>
            <a:r>
              <a:rPr lang="en-US" sz="950" dirty="0">
                <a:solidFill>
                  <a:schemeClr val="tx1"/>
                </a:solidFill>
              </a:rPr>
              <a:t>Source plan, amount, options compared, fiduciary status basis, the three delivery dates and the impartial conduct attestation</a:t>
            </a:r>
            <a:endParaRPr lang="en-US" sz="950" dirty="0"/>
          </a:p>
        </p:txBody>
      </p:sp>
      <p:sp>
        <p:nvSpPr>
          <p:cNvPr id="22" name="card"/>
          <p:cNvSpPr/>
          <p:nvPr/>
        </p:nvSpPr>
        <p:spPr>
          <a:xfrm>
            <a:off x="7772400" y="1417320"/>
            <a:ext cx="3867912" cy="2286000"/>
          </a:xfrm>
          <a:prstGeom prst="roundRect">
            <a:avLst>
              <a:gd name="adj" fmla="val 3200"/>
            </a:avLst>
          </a:prstGeom>
          <a:solidFill>
            <a:schemeClr val="tx2"/>
          </a:solidFill>
          <a:ln w="12700">
            <a:solidFill>
              <a:schemeClr val="tx2"/>
            </a:solidFill>
            <a:prstDash val="solid"/>
          </a:ln>
        </p:spPr>
      </p:sp>
      <p:sp>
        <p:nvSpPr>
          <p:cNvPr id="23" name="text"/>
          <p:cNvSpPr txBox="1"/>
          <p:nvPr/>
        </p:nvSpPr>
        <p:spPr>
          <a:xfrm>
            <a:off x="7955280" y="1554480"/>
            <a:ext cx="3502152" cy="320040"/>
          </a:xfrm>
          <a:prstGeom prst="rect">
            <a:avLst/>
          </a:prstGeom>
          <a:noFill/>
          <a:ln/>
        </p:spPr>
        <p:txBody>
          <a:bodyPr wrap="square" lIns="0" tIns="0" rIns="0" bIns="0" rtlCol="0" anchor="t"/>
          <a:lstStyle/>
          <a:p>
            <a:pPr indent="0" marL="0">
              <a:buNone/>
            </a:pPr>
            <a:r>
              <a:rPr lang="en-US" sz="1300" b="1" dirty="0">
                <a:solidFill>
                  <a:schemeClr val="accent4"/>
                </a:solidFill>
              </a:rPr>
              <a:t>Three records, three owners</a:t>
            </a:r>
            <a:endParaRPr lang="en-US" sz="1300" dirty="0"/>
          </a:p>
        </p:txBody>
      </p:sp>
      <p:sp>
        <p:nvSpPr>
          <p:cNvPr id="24" name="three records"/>
          <p:cNvSpPr txBox="1"/>
          <p:nvPr/>
        </p:nvSpPr>
        <p:spPr>
          <a:xfrm>
            <a:off x="7955280" y="1920240"/>
            <a:ext cx="3502152" cy="1737360"/>
          </a:xfrm>
          <a:prstGeom prst="rect">
            <a:avLst/>
          </a:prstGeom>
          <a:noFill/>
          <a:ln/>
        </p:spPr>
        <p:txBody>
          <a:bodyPr wrap="square" lIns="0" tIns="0" rIns="0" bIns="0" rtlCol="0" anchor="t"/>
          <a:lstStyle/>
          <a:p>
            <a:pPr marL="127000" indent="-127000">
              <a:spcAft>
                <a:spcPts val="400"/>
              </a:spcAft>
              <a:buSzPct val="100000"/>
              <a:buChar char="•"/>
            </a:pPr>
            <a:r>
              <a:rPr lang="en-US" sz="1050" dirty="0">
                <a:solidFill>
                  <a:schemeClr val="bg1"/>
                </a:solidFill>
              </a:rPr>
              <a:t>Investor Profile (02): who the client is</a:t>
            </a:r>
            <a:endParaRPr lang="en-US" sz="1050" dirty="0"/>
          </a:p>
          <a:p>
            <a:pPr marL="127000" indent="-127000">
              <a:spcAft>
                <a:spcPts val="400"/>
              </a:spcAft>
              <a:buSzPct val="100000"/>
              <a:buChar char="•"/>
            </a:pPr>
            <a:r>
              <a:rPr lang="en-US" sz="1050" dirty="0">
                <a:solidFill>
                  <a:schemeClr val="bg1"/>
                </a:solidFill>
              </a:rPr>
              <a:t>Account Investment Profile (15): what one account is for</a:t>
            </a:r>
            <a:endParaRPr lang="en-US" sz="1050" dirty="0"/>
          </a:p>
          <a:p>
            <a:pPr marL="127000" indent="-127000">
              <a:spcAft>
                <a:spcPts val="400"/>
              </a:spcAft>
              <a:buSzPct val="100000"/>
              <a:buChar char="•"/>
            </a:pPr>
            <a:r>
              <a:rPr lang="en-US" sz="1050" dirty="0">
                <a:solidFill>
                  <a:schemeClr val="bg1"/>
                </a:solidFill>
              </a:rPr>
              <a:t>Financial Goal (45): what the client wants to achieve</a:t>
            </a:r>
            <a:endParaRPr lang="en-US" sz="1050" dirty="0"/>
          </a:p>
          <a:p>
            <a:pPr marL="127000" indent="-127000">
              <a:spcAft>
                <a:spcPts val="400"/>
              </a:spcAft>
              <a:buSzPct val="100000"/>
              <a:buChar char="•"/>
            </a:pPr>
            <a:r>
              <a:rPr lang="en-US" sz="1050" dirty="0">
                <a:solidFill>
                  <a:schemeClr val="bg1"/>
                </a:solidFill>
              </a:rPr>
              <a:t>A recommendation references the profile version it relied on; it never copies objective, risk tolerance or horizon</a:t>
            </a:r>
            <a:endParaRPr lang="en-US" sz="1050" dirty="0"/>
          </a:p>
        </p:txBody>
      </p:sp>
      <p:sp>
        <p:nvSpPr>
          <p:cNvPr id="25" name="card"/>
          <p:cNvSpPr/>
          <p:nvPr/>
        </p:nvSpPr>
        <p:spPr>
          <a:xfrm>
            <a:off x="7772400" y="3840480"/>
            <a:ext cx="3867912" cy="1828800"/>
          </a:xfrm>
          <a:prstGeom prst="roundRect">
            <a:avLst>
              <a:gd name="adj" fmla="val 4000"/>
            </a:avLst>
          </a:prstGeom>
          <a:solidFill>
            <a:schemeClr val="bg2"/>
          </a:solidFill>
          <a:ln w="12700">
            <a:solidFill>
              <a:schemeClr val="bg2"/>
            </a:solidFill>
            <a:prstDash val="solid"/>
          </a:ln>
        </p:spPr>
      </p:sp>
      <p:sp>
        <p:nvSpPr>
          <p:cNvPr id="26" name="text"/>
          <p:cNvSpPr txBox="1"/>
          <p:nvPr/>
        </p:nvSpPr>
        <p:spPr>
          <a:xfrm>
            <a:off x="7955280" y="3959352"/>
            <a:ext cx="3502152" cy="320040"/>
          </a:xfrm>
          <a:prstGeom prst="rect">
            <a:avLst/>
          </a:prstGeom>
          <a:noFill/>
          <a:ln/>
        </p:spPr>
        <p:txBody>
          <a:bodyPr wrap="square" lIns="0" tIns="0" rIns="0" bIns="0" rtlCol="0" anchor="t"/>
          <a:lstStyle/>
          <a:p>
            <a:pPr indent="0" marL="0">
              <a:buNone/>
            </a:pPr>
            <a:r>
              <a:rPr lang="en-US" sz="1300" b="1" dirty="0">
                <a:solidFill>
                  <a:schemeClr val="accent2"/>
                </a:solidFill>
              </a:rPr>
              <a:t>Who else touches a recommendation</a:t>
            </a:r>
            <a:endParaRPr lang="en-US" sz="1300" dirty="0"/>
          </a:p>
        </p:txBody>
      </p:sp>
      <p:sp>
        <p:nvSpPr>
          <p:cNvPr id="27" name="who"/>
          <p:cNvSpPr txBox="1"/>
          <p:nvPr/>
        </p:nvSpPr>
        <p:spPr>
          <a:xfrm>
            <a:off x="7955280" y="4297680"/>
            <a:ext cx="3502152" cy="1325880"/>
          </a:xfrm>
          <a:prstGeom prst="rect">
            <a:avLst/>
          </a:prstGeom>
          <a:noFill/>
          <a:ln/>
        </p:spPr>
        <p:txBody>
          <a:bodyPr wrap="square" lIns="0" tIns="0" rIns="0" bIns="0" rtlCol="0" anchor="t"/>
          <a:lstStyle/>
          <a:p>
            <a:pPr marL="127000" indent="-127000">
              <a:spcAft>
                <a:spcPts val="400"/>
              </a:spcAft>
              <a:buSzPct val="100000"/>
              <a:buChar char="•"/>
            </a:pPr>
            <a:r>
              <a:rPr lang="en-US" sz="1050" dirty="0">
                <a:solidFill>
                  <a:schemeClr val="tx1"/>
                </a:solidFill>
              </a:rPr>
              <a:t>08 reviews it and holds alerts, never the rationale</a:t>
            </a:r>
            <a:endParaRPr lang="en-US" sz="1050" dirty="0"/>
          </a:p>
          <a:p>
            <a:pPr marL="127000" indent="-127000">
              <a:spcAft>
                <a:spcPts val="400"/>
              </a:spcAft>
              <a:buSzPct val="100000"/>
              <a:buChar char="•"/>
            </a:pPr>
            <a:r>
              <a:rPr lang="en-US" sz="1050" dirty="0">
                <a:solidFill>
                  <a:schemeClr val="tx1"/>
                </a:solidFill>
              </a:rPr>
              <a:t>15 Program Enrollment and 46 Model Assignment implement it and reference it</a:t>
            </a:r>
            <a:endParaRPr lang="en-US" sz="1050" dirty="0"/>
          </a:p>
          <a:p>
            <a:pPr marL="127000" indent="-127000">
              <a:spcAft>
                <a:spcPts val="400"/>
              </a:spcAft>
              <a:buSzPct val="100000"/>
              <a:buChar char="•"/>
            </a:pPr>
            <a:r>
              <a:rPr lang="en-US" sz="1050" dirty="0">
                <a:solidFill>
                  <a:schemeClr val="tx1"/>
                </a:solidFill>
              </a:rPr>
              <a:t>01 names the program, model or share class recommended</a:t>
            </a:r>
            <a:endParaRPr lang="en-US" sz="1050" dirty="0"/>
          </a:p>
          <a:p>
            <a:pPr marL="127000" indent="-127000">
              <a:spcAft>
                <a:spcPts val="400"/>
              </a:spcAft>
              <a:buSzPct val="100000"/>
              <a:buChar char="•"/>
            </a:pPr>
            <a:r>
              <a:rPr lang="en-US" sz="1050" dirty="0">
                <a:solidFill>
                  <a:schemeClr val="tx1"/>
                </a:solidFill>
              </a:rPr>
              <a:t>16 holds the plan facts and the rollover transaction itself</a:t>
            </a:r>
            <a:endParaRPr lang="en-US" sz="10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wealth product set: foundations and Client &amp; Advice</a:t>
            </a:r>
            <a:endParaRPr lang="en-US" sz="2800" dirty="0"/>
          </a:p>
        </p:txBody>
      </p:sp>
      <p:sp>
        <p:nvSpPr>
          <p:cNvPr id="4" name="card"/>
          <p:cNvSpPr/>
          <p:nvPr/>
        </p:nvSpPr>
        <p:spPr>
          <a:xfrm>
            <a:off x="548640" y="1417320"/>
            <a:ext cx="2697480" cy="868680"/>
          </a:xfrm>
          <a:prstGeom prst="roundRect">
            <a:avLst>
              <a:gd name="adj" fmla="val 8421"/>
            </a:avLst>
          </a:prstGeom>
          <a:solidFill>
            <a:schemeClr val="tx2"/>
          </a:solidFill>
          <a:ln w="12700">
            <a:solidFill>
              <a:schemeClr val="tx2"/>
            </a:solidFill>
            <a:prstDash val="solid"/>
          </a:ln>
        </p:spPr>
      </p:sp>
      <p:sp>
        <p:nvSpPr>
          <p:cNvPr id="5" name="text"/>
          <p:cNvSpPr txBox="1"/>
          <p:nvPr/>
        </p:nvSpPr>
        <p:spPr>
          <a:xfrm>
            <a:off x="731520" y="1463040"/>
            <a:ext cx="914400" cy="777240"/>
          </a:xfrm>
          <a:prstGeom prst="rect">
            <a:avLst/>
          </a:prstGeom>
          <a:noFill/>
          <a:ln/>
        </p:spPr>
        <p:txBody>
          <a:bodyPr wrap="square" lIns="0" tIns="0" rIns="0" bIns="0" rtlCol="0" anchor="ctr"/>
          <a:lstStyle/>
          <a:p>
            <a:pPr indent="0" marL="0">
              <a:buNone/>
            </a:pPr>
            <a:r>
              <a:rPr lang="en-US" sz="2800" b="1" dirty="0">
                <a:solidFill>
                  <a:schemeClr val="bg1"/>
                </a:solidFill>
              </a:rPr>
              <a:t>58</a:t>
            </a:r>
            <a:endParaRPr lang="en-US" sz="2800" dirty="0"/>
          </a:p>
        </p:txBody>
      </p:sp>
      <p:sp>
        <p:nvSpPr>
          <p:cNvPr id="6" name="text"/>
          <p:cNvSpPr txBox="1"/>
          <p:nvPr/>
        </p:nvSpPr>
        <p:spPr>
          <a:xfrm>
            <a:off x="1645920" y="1508760"/>
            <a:ext cx="1554480" cy="685800"/>
          </a:xfrm>
          <a:prstGeom prst="rect">
            <a:avLst/>
          </a:prstGeom>
          <a:noFill/>
          <a:ln/>
        </p:spPr>
        <p:txBody>
          <a:bodyPr wrap="square" lIns="0" tIns="0" rIns="0" bIns="0" rtlCol="0" anchor="ctr"/>
          <a:lstStyle/>
          <a:p>
            <a:pPr indent="0" marL="0">
              <a:buNone/>
            </a:pPr>
            <a:r>
              <a:rPr lang="en-US" sz="1050" dirty="0">
                <a:solidFill>
                  <a:schemeClr val="bg2"/>
                </a:solidFill>
              </a:rPr>
              <a:t>foundational products</a:t>
            </a:r>
            <a:endParaRPr lang="en-US" sz="1050" dirty="0"/>
          </a:p>
        </p:txBody>
      </p:sp>
      <p:sp>
        <p:nvSpPr>
          <p:cNvPr id="7" name="card"/>
          <p:cNvSpPr/>
          <p:nvPr/>
        </p:nvSpPr>
        <p:spPr>
          <a:xfrm>
            <a:off x="3383280" y="1417320"/>
            <a:ext cx="2697480" cy="868680"/>
          </a:xfrm>
          <a:prstGeom prst="roundRect">
            <a:avLst>
              <a:gd name="adj" fmla="val 8421"/>
            </a:avLst>
          </a:prstGeom>
          <a:solidFill>
            <a:schemeClr val="tx2"/>
          </a:solidFill>
          <a:ln w="12700">
            <a:solidFill>
              <a:schemeClr val="tx2"/>
            </a:solidFill>
            <a:prstDash val="solid"/>
          </a:ln>
        </p:spPr>
      </p:sp>
      <p:sp>
        <p:nvSpPr>
          <p:cNvPr id="8" name="text"/>
          <p:cNvSpPr txBox="1"/>
          <p:nvPr/>
        </p:nvSpPr>
        <p:spPr>
          <a:xfrm>
            <a:off x="3566160" y="1463040"/>
            <a:ext cx="914400" cy="777240"/>
          </a:xfrm>
          <a:prstGeom prst="rect">
            <a:avLst/>
          </a:prstGeom>
          <a:noFill/>
          <a:ln/>
        </p:spPr>
        <p:txBody>
          <a:bodyPr wrap="square" lIns="0" tIns="0" rIns="0" bIns="0" rtlCol="0" anchor="ctr"/>
          <a:lstStyle/>
          <a:p>
            <a:pPr indent="0" marL="0">
              <a:buNone/>
            </a:pPr>
            <a:r>
              <a:rPr lang="en-US" sz="2800" b="1" dirty="0">
                <a:solidFill>
                  <a:schemeClr val="bg1"/>
                </a:solidFill>
              </a:rPr>
              <a:t>271</a:t>
            </a:r>
            <a:endParaRPr lang="en-US" sz="2800" dirty="0"/>
          </a:p>
        </p:txBody>
      </p:sp>
      <p:sp>
        <p:nvSpPr>
          <p:cNvPr id="9" name="text"/>
          <p:cNvSpPr txBox="1"/>
          <p:nvPr/>
        </p:nvSpPr>
        <p:spPr>
          <a:xfrm>
            <a:off x="4480560" y="1508760"/>
            <a:ext cx="1554480" cy="685800"/>
          </a:xfrm>
          <a:prstGeom prst="rect">
            <a:avLst/>
          </a:prstGeom>
          <a:noFill/>
          <a:ln/>
        </p:spPr>
        <p:txBody>
          <a:bodyPr wrap="square" lIns="0" tIns="0" rIns="0" bIns="0" rtlCol="0" anchor="ctr"/>
          <a:lstStyle/>
          <a:p>
            <a:pPr indent="0" marL="0">
              <a:buNone/>
            </a:pPr>
            <a:r>
              <a:rPr lang="en-US" sz="1050" dirty="0">
                <a:solidFill>
                  <a:schemeClr val="bg2"/>
                </a:solidFill>
              </a:rPr>
              <a:t>live products, specified to attribute level</a:t>
            </a:r>
            <a:endParaRPr lang="en-US" sz="1050" dirty="0"/>
          </a:p>
        </p:txBody>
      </p:sp>
      <p:sp>
        <p:nvSpPr>
          <p:cNvPr id="10" name="card"/>
          <p:cNvSpPr/>
          <p:nvPr/>
        </p:nvSpPr>
        <p:spPr>
          <a:xfrm>
            <a:off x="6217920" y="1417320"/>
            <a:ext cx="2697480" cy="868680"/>
          </a:xfrm>
          <a:prstGeom prst="roundRect">
            <a:avLst>
              <a:gd name="adj" fmla="val 8421"/>
            </a:avLst>
          </a:prstGeom>
          <a:solidFill>
            <a:schemeClr val="tx2"/>
          </a:solidFill>
          <a:ln w="12700">
            <a:solidFill>
              <a:schemeClr val="tx2"/>
            </a:solidFill>
            <a:prstDash val="solid"/>
          </a:ln>
        </p:spPr>
      </p:sp>
      <p:sp>
        <p:nvSpPr>
          <p:cNvPr id="11" name="text"/>
          <p:cNvSpPr txBox="1"/>
          <p:nvPr/>
        </p:nvSpPr>
        <p:spPr>
          <a:xfrm>
            <a:off x="6400800" y="1463040"/>
            <a:ext cx="914400" cy="777240"/>
          </a:xfrm>
          <a:prstGeom prst="rect">
            <a:avLst/>
          </a:prstGeom>
          <a:noFill/>
          <a:ln/>
        </p:spPr>
        <p:txBody>
          <a:bodyPr wrap="square" lIns="0" tIns="0" rIns="0" bIns="0" rtlCol="0" anchor="ctr"/>
          <a:lstStyle/>
          <a:p>
            <a:pPr indent="0" marL="0">
              <a:buNone/>
            </a:pPr>
            <a:r>
              <a:rPr lang="en-US" sz="2800" b="1" dirty="0">
                <a:solidFill>
                  <a:schemeClr val="bg1"/>
                </a:solidFill>
              </a:rPr>
              <a:t>55</a:t>
            </a:r>
            <a:endParaRPr lang="en-US" sz="2800" dirty="0"/>
          </a:p>
        </p:txBody>
      </p:sp>
      <p:sp>
        <p:nvSpPr>
          <p:cNvPr id="12" name="text"/>
          <p:cNvSpPr txBox="1"/>
          <p:nvPr/>
        </p:nvSpPr>
        <p:spPr>
          <a:xfrm>
            <a:off x="7315200" y="1508760"/>
            <a:ext cx="1554480" cy="685800"/>
          </a:xfrm>
          <a:prstGeom prst="rect">
            <a:avLst/>
          </a:prstGeom>
          <a:noFill/>
          <a:ln/>
        </p:spPr>
        <p:txBody>
          <a:bodyPr wrap="square" lIns="0" tIns="0" rIns="0" bIns="0" rtlCol="0" anchor="ctr"/>
          <a:lstStyle/>
          <a:p>
            <a:pPr indent="0" marL="0">
              <a:buNone/>
            </a:pPr>
            <a:r>
              <a:rPr lang="en-US" sz="1050" dirty="0">
                <a:solidFill>
                  <a:schemeClr val="bg2"/>
                </a:solidFill>
              </a:rPr>
              <a:t>business functions</a:t>
            </a:r>
            <a:endParaRPr lang="en-US" sz="1050" dirty="0"/>
          </a:p>
        </p:txBody>
      </p:sp>
      <p:sp>
        <p:nvSpPr>
          <p:cNvPr id="13" name="card"/>
          <p:cNvSpPr/>
          <p:nvPr/>
        </p:nvSpPr>
        <p:spPr>
          <a:xfrm>
            <a:off x="9052560" y="1417320"/>
            <a:ext cx="2697480" cy="868680"/>
          </a:xfrm>
          <a:prstGeom prst="roundRect">
            <a:avLst>
              <a:gd name="adj" fmla="val 8421"/>
            </a:avLst>
          </a:prstGeom>
          <a:solidFill>
            <a:schemeClr val="tx2"/>
          </a:solidFill>
          <a:ln w="12700">
            <a:solidFill>
              <a:schemeClr val="tx2"/>
            </a:solidFill>
            <a:prstDash val="solid"/>
          </a:ln>
        </p:spPr>
      </p:sp>
      <p:sp>
        <p:nvSpPr>
          <p:cNvPr id="14" name="text"/>
          <p:cNvSpPr txBox="1"/>
          <p:nvPr/>
        </p:nvSpPr>
        <p:spPr>
          <a:xfrm>
            <a:off x="9235440" y="1463040"/>
            <a:ext cx="914400" cy="777240"/>
          </a:xfrm>
          <a:prstGeom prst="rect">
            <a:avLst/>
          </a:prstGeom>
          <a:noFill/>
          <a:ln/>
        </p:spPr>
        <p:txBody>
          <a:bodyPr wrap="square" lIns="0" tIns="0" rIns="0" bIns="0" rtlCol="0" anchor="ctr"/>
          <a:lstStyle/>
          <a:p>
            <a:pPr indent="0" marL="0">
              <a:buNone/>
            </a:pPr>
            <a:r>
              <a:rPr lang="en-US" sz="2800" b="1" dirty="0">
                <a:solidFill>
                  <a:schemeClr val="bg1"/>
                </a:solidFill>
              </a:rPr>
              <a:t>22</a:t>
            </a:r>
            <a:endParaRPr lang="en-US" sz="2800" dirty="0"/>
          </a:p>
        </p:txBody>
      </p:sp>
      <p:sp>
        <p:nvSpPr>
          <p:cNvPr id="15" name="text"/>
          <p:cNvSpPr txBox="1"/>
          <p:nvPr/>
        </p:nvSpPr>
        <p:spPr>
          <a:xfrm>
            <a:off x="10149840" y="1508760"/>
            <a:ext cx="1554480" cy="685800"/>
          </a:xfrm>
          <a:prstGeom prst="rect">
            <a:avLst/>
          </a:prstGeom>
          <a:noFill/>
          <a:ln/>
        </p:spPr>
        <p:txBody>
          <a:bodyPr wrap="square" lIns="0" tIns="0" rIns="0" bIns="0" rtlCol="0" anchor="ctr"/>
          <a:lstStyle/>
          <a:p>
            <a:pPr indent="0" marL="0">
              <a:buNone/>
            </a:pPr>
            <a:r>
              <a:rPr lang="en-US" sz="1050" dirty="0">
                <a:solidFill>
                  <a:schemeClr val="bg2"/>
                </a:solidFill>
              </a:rPr>
              <a:t>semantic models, twelve wealth subject areas</a:t>
            </a:r>
            <a:endParaRPr lang="en-US" sz="1050" dirty="0"/>
          </a:p>
        </p:txBody>
      </p:sp>
      <p:sp>
        <p:nvSpPr>
          <p:cNvPr id="16" name="card"/>
          <p:cNvSpPr/>
          <p:nvPr/>
        </p:nvSpPr>
        <p:spPr>
          <a:xfrm>
            <a:off x="548640" y="2468880"/>
            <a:ext cx="5394960" cy="3749040"/>
          </a:xfrm>
          <a:prstGeom prst="roundRect">
            <a:avLst>
              <a:gd name="adj" fmla="val 1951"/>
            </a:avLst>
          </a:prstGeom>
          <a:solidFill>
            <a:schemeClr val="bg2"/>
          </a:solidFill>
          <a:ln w="12700">
            <a:solidFill>
              <a:schemeClr val="bg2"/>
            </a:solidFill>
            <a:prstDash val="solid"/>
          </a:ln>
        </p:spPr>
      </p:sp>
      <p:sp>
        <p:nvSpPr>
          <p:cNvPr id="17" name="text"/>
          <p:cNvSpPr txBox="1"/>
          <p:nvPr/>
        </p:nvSpPr>
        <p:spPr>
          <a:xfrm>
            <a:off x="731520" y="2578608"/>
            <a:ext cx="5029200" cy="274320"/>
          </a:xfrm>
          <a:prstGeom prst="rect">
            <a:avLst/>
          </a:prstGeom>
          <a:noFill/>
          <a:ln/>
        </p:spPr>
        <p:txBody>
          <a:bodyPr wrap="square" lIns="0" tIns="0" rIns="0" bIns="0" rtlCol="0" anchor="t"/>
          <a:lstStyle/>
          <a:p>
            <a:pPr indent="0" marL="0">
              <a:buNone/>
            </a:pPr>
            <a:r>
              <a:rPr lang="en-US" sz="1000" b="1" dirty="0">
                <a:solidFill>
                  <a:schemeClr val="accent2"/>
                </a:solidFill>
              </a:rPr>
              <a:t>FOUNDATIONAL: masters, books of record, certified numbers</a:t>
            </a:r>
            <a:endParaRPr lang="en-US" sz="1000" dirty="0"/>
          </a:p>
        </p:txBody>
      </p:sp>
      <p:sp>
        <p:nvSpPr>
          <p:cNvPr id="18" name="foundational"/>
          <p:cNvSpPr txBox="1"/>
          <p:nvPr/>
        </p:nvSpPr>
        <p:spPr>
          <a:xfrm>
            <a:off x="731520" y="2880360"/>
            <a:ext cx="5029200" cy="329184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chemeClr val="tx1"/>
                </a:solidFill>
              </a:rPr>
              <a:t>DP-240 Client, Household &amp; Party Master (the household as a party of type Household)</a:t>
            </a:r>
            <a:endParaRPr lang="en-US" sz="950" dirty="0"/>
          </a:p>
          <a:p>
            <a:pPr marL="127000" indent="-127000">
              <a:spcAft>
                <a:spcPts val="300"/>
              </a:spcAft>
              <a:buSzPct val="100000"/>
              <a:buChar char="•"/>
            </a:pPr>
            <a:r>
              <a:rPr lang="en-US" sz="950" dirty="0">
                <a:solidFill>
                  <a:schemeClr val="tx1"/>
                </a:solidFill>
              </a:rPr>
              <a:t>DP-093 Account Master (brokerage and advisory account)</a:t>
            </a:r>
            <a:endParaRPr lang="en-US" sz="950" dirty="0"/>
          </a:p>
          <a:p>
            <a:pPr marL="127000" indent="-127000">
              <a:spcAft>
                <a:spcPts val="300"/>
              </a:spcAft>
              <a:buSzPct val="100000"/>
              <a:buChar char="•"/>
            </a:pPr>
            <a:r>
              <a:rPr lang="en-US" sz="950" dirty="0">
                <a:solidFill>
                  <a:schemeClr val="tx1"/>
                </a:solidFill>
              </a:rPr>
              <a:t>DP-004 Product, Offering &amp; Share Class Reference</a:t>
            </a:r>
            <a:endParaRPr lang="en-US" sz="950" dirty="0"/>
          </a:p>
          <a:p>
            <a:pPr marL="127000" indent="-127000">
              <a:spcAft>
                <a:spcPts val="300"/>
              </a:spcAft>
              <a:buSzPct val="100000"/>
              <a:buChar char="•"/>
            </a:pPr>
            <a:r>
              <a:rPr lang="en-US" sz="950" dirty="0">
                <a:solidFill>
                  <a:schemeClr val="tx1"/>
                </a:solidFill>
              </a:rPr>
              <a:t>DP-300 Client Holdings, Lots &amp; Cost Basis (brokerage book of record)</a:t>
            </a:r>
            <a:endParaRPr lang="en-US" sz="950" dirty="0"/>
          </a:p>
          <a:p>
            <a:pPr marL="127000" indent="-127000">
              <a:spcAft>
                <a:spcPts val="300"/>
              </a:spcAft>
              <a:buSzPct val="100000"/>
              <a:buChar char="•"/>
            </a:pPr>
            <a:r>
              <a:rPr lang="en-US" sz="950" dirty="0">
                <a:solidFill>
                  <a:schemeClr val="tx1"/>
                </a:solidFill>
              </a:rPr>
              <a:t>DP-301 Client Orders &amp; Executions   |   DP-302 Money Movement Transactions</a:t>
            </a:r>
            <a:endParaRPr lang="en-US" sz="950" dirty="0"/>
          </a:p>
          <a:p>
            <a:pPr marL="127000" indent="-127000">
              <a:spcAft>
                <a:spcPts val="300"/>
              </a:spcAft>
              <a:buSzPct val="100000"/>
              <a:buChar char="•"/>
            </a:pPr>
            <a:r>
              <a:rPr lang="en-US" sz="950" dirty="0">
                <a:solidFill>
                  <a:schemeClr val="tx1"/>
                </a:solidFill>
              </a:rPr>
              <a:t>DP-303 Advice Plans &amp; Recommendations</a:t>
            </a:r>
            <a:endParaRPr lang="en-US" sz="950" dirty="0"/>
          </a:p>
          <a:p>
            <a:pPr marL="127000" indent="-127000">
              <a:spcAft>
                <a:spcPts val="300"/>
              </a:spcAft>
              <a:buSzPct val="100000"/>
              <a:buChar char="•"/>
            </a:pPr>
            <a:r>
              <a:rPr lang="en-US" sz="950" dirty="0">
                <a:solidFill>
                  <a:schemeClr val="tx1"/>
                </a:solidFill>
              </a:rPr>
              <a:t>DP-304 Managed Account Model Assignments</a:t>
            </a:r>
            <a:endParaRPr lang="en-US" sz="950" dirty="0"/>
          </a:p>
          <a:p>
            <a:pPr marL="127000" indent="-127000">
              <a:spcAft>
                <a:spcPts val="300"/>
              </a:spcAft>
              <a:buSzPct val="100000"/>
              <a:buChar char="•"/>
            </a:pPr>
            <a:r>
              <a:rPr lang="en-US" sz="950" dirty="0">
                <a:solidFill>
                  <a:schemeClr val="tx1"/>
                </a:solidFill>
              </a:rPr>
              <a:t>DP-305 Fee Schedules &amp; Billing Runs</a:t>
            </a:r>
            <a:endParaRPr lang="en-US" sz="950" dirty="0"/>
          </a:p>
          <a:p>
            <a:pPr marL="127000" indent="-127000">
              <a:spcAft>
                <a:spcPts val="300"/>
              </a:spcAft>
              <a:buSzPct val="100000"/>
              <a:buChar char="•"/>
            </a:pPr>
            <a:r>
              <a:rPr lang="en-US" sz="950" dirty="0">
                <a:solidFill>
                  <a:schemeClr val="tx1"/>
                </a:solidFill>
              </a:rPr>
              <a:t>DP-006 Client Flow Transactions  &gt;  DP-008 Client Assets &amp; Net New Assets (certified)</a:t>
            </a:r>
            <a:endParaRPr lang="en-US" sz="950" dirty="0"/>
          </a:p>
          <a:p>
            <a:pPr marL="127000" indent="-127000">
              <a:spcAft>
                <a:spcPts val="300"/>
              </a:spcAft>
              <a:buSzPct val="100000"/>
              <a:buChar char="•"/>
            </a:pPr>
            <a:r>
              <a:rPr lang="en-US" sz="950" dirty="0">
                <a:solidFill>
                  <a:schemeClr val="tx1"/>
                </a:solidFill>
              </a:rPr>
              <a:t>DP-012 Client Fee Revenue (certified)   |   DP-145 Official Returns (+ Personal Rate of Return)</a:t>
            </a:r>
            <a:endParaRPr lang="en-US" sz="950" dirty="0"/>
          </a:p>
          <a:p>
            <a:pPr marL="127000" indent="-127000">
              <a:spcAft>
                <a:spcPts val="300"/>
              </a:spcAft>
              <a:buSzPct val="100000"/>
              <a:buChar char="•"/>
            </a:pPr>
            <a:r>
              <a:rPr lang="en-US" sz="950" dirty="0">
                <a:solidFill>
                  <a:schemeClr val="tx1"/>
                </a:solidFill>
              </a:rPr>
              <a:t>DP-381 Client Service Interactions &amp; Requests   |   DP-382 Client Document &amp; Delivery Record</a:t>
            </a:r>
            <a:endParaRPr lang="en-US" sz="950" dirty="0"/>
          </a:p>
          <a:p>
            <a:pPr marL="127000" indent="-127000">
              <a:spcAft>
                <a:spcPts val="300"/>
              </a:spcAft>
              <a:buSzPct val="100000"/>
              <a:buChar char="•"/>
            </a:pPr>
            <a:r>
              <a:rPr lang="en-US" sz="950" dirty="0">
                <a:solidFill>
                  <a:schemeClr val="tx1"/>
                </a:solidFill>
              </a:rPr>
              <a:t>DP-094 Recordkept Plan &amp; Participant Core   |   DP-430 Participant Balances &amp; Ledger</a:t>
            </a:r>
            <a:endParaRPr lang="en-US" sz="950" dirty="0"/>
          </a:p>
        </p:txBody>
      </p:sp>
      <p:sp>
        <p:nvSpPr>
          <p:cNvPr id="19" name="card"/>
          <p:cNvSpPr/>
          <p:nvPr/>
        </p:nvSpPr>
        <p:spPr>
          <a:xfrm>
            <a:off x="6126480" y="2468880"/>
            <a:ext cx="1783080" cy="3749040"/>
          </a:xfrm>
          <a:prstGeom prst="roundRect">
            <a:avLst>
              <a:gd name="adj" fmla="val 4103"/>
            </a:avLst>
          </a:prstGeom>
          <a:solidFill>
            <a:schemeClr val="bg2"/>
          </a:solidFill>
          <a:ln w="12700">
            <a:solidFill>
              <a:schemeClr val="bg2"/>
            </a:solidFill>
            <a:prstDash val="solid"/>
          </a:ln>
        </p:spPr>
      </p:sp>
      <p:sp>
        <p:nvSpPr>
          <p:cNvPr id="20" name="panel"/>
          <p:cNvSpPr/>
          <p:nvPr/>
        </p:nvSpPr>
        <p:spPr>
          <a:xfrm>
            <a:off x="6126480" y="2468880"/>
            <a:ext cx="1783080" cy="365760"/>
          </a:xfrm>
          <a:prstGeom prst="rect">
            <a:avLst/>
          </a:prstGeom>
          <a:solidFill>
            <a:schemeClr val="accent4"/>
          </a:solidFill>
          <a:ln w="12700">
            <a:solidFill>
              <a:schemeClr val="accent4"/>
            </a:solidFill>
            <a:prstDash val="solid"/>
          </a:ln>
        </p:spPr>
      </p:sp>
      <p:sp>
        <p:nvSpPr>
          <p:cNvPr id="21" name="text"/>
          <p:cNvSpPr txBox="1"/>
          <p:nvPr/>
        </p:nvSpPr>
        <p:spPr>
          <a:xfrm>
            <a:off x="6236208" y="2468880"/>
            <a:ext cx="1563624" cy="365760"/>
          </a:xfrm>
          <a:prstGeom prst="rect">
            <a:avLst/>
          </a:prstGeom>
          <a:noFill/>
          <a:ln/>
        </p:spPr>
        <p:txBody>
          <a:bodyPr wrap="square" lIns="0" tIns="0" rIns="0" bIns="0" rtlCol="0" anchor="ctr"/>
          <a:lstStyle/>
          <a:p>
            <a:pPr indent="0" marL="0">
              <a:buNone/>
            </a:pPr>
            <a:r>
              <a:rPr lang="en-US" sz="1100" b="1" dirty="0">
                <a:solidFill>
                  <a:schemeClr val="bg1"/>
                </a:solidFill>
              </a:rPr>
              <a:t>Analytical</a:t>
            </a:r>
            <a:endParaRPr lang="en-US" sz="1100" dirty="0"/>
          </a:p>
        </p:txBody>
      </p:sp>
      <p:sp>
        <p:nvSpPr>
          <p:cNvPr id="22" name="text"/>
          <p:cNvSpPr txBox="1"/>
          <p:nvPr/>
        </p:nvSpPr>
        <p:spPr>
          <a:xfrm>
            <a:off x="6236208" y="2926080"/>
            <a:ext cx="1563624" cy="3246120"/>
          </a:xfrm>
          <a:prstGeom prst="rect">
            <a:avLst/>
          </a:prstGeom>
          <a:noFill/>
          <a:ln/>
        </p:spPr>
        <p:txBody>
          <a:bodyPr wrap="square" lIns="0" tIns="0" rIns="0" bIns="0" rtlCol="0" anchor="t"/>
          <a:lstStyle/>
          <a:p>
            <a:pPr indent="0" marL="0">
              <a:buNone/>
            </a:pPr>
            <a:r>
              <a:rPr lang="en-US" sz="800" dirty="0">
                <a:solidFill>
                  <a:schemeClr val="tx1"/>
                </a:solidFill>
              </a:rPr>
              <a:t>DP-320 Household 360</a:t>
            </a:r>
            <a:endParaRPr lang="en-US" sz="800" dirty="0"/>
          </a:p>
          <a:p>
            <a:pPr indent="0" marL="0">
              <a:buNone/>
            </a:pPr>
            <a:endParaRPr lang="en-US" sz="800" dirty="0"/>
          </a:p>
          <a:p>
            <a:pPr indent="0" marL="0">
              <a:buNone/>
            </a:pPr>
            <a:r>
              <a:rPr lang="en-US" sz="800" dirty="0">
                <a:solidFill>
                  <a:schemeClr val="tx1"/>
                </a:solidFill>
              </a:rPr>
              <a:t>DP-325 Service Tier Qualification &amp; Client Segments</a:t>
            </a:r>
            <a:endParaRPr lang="en-US" sz="800" dirty="0"/>
          </a:p>
          <a:p>
            <a:pPr indent="0" marL="0">
              <a:buNone/>
            </a:pPr>
            <a:endParaRPr lang="en-US" sz="800" dirty="0"/>
          </a:p>
          <a:p>
            <a:pPr indent="0" marL="0">
              <a:buNone/>
            </a:pPr>
            <a:r>
              <a:rPr lang="en-US" sz="800" dirty="0">
                <a:solidFill>
                  <a:schemeClr val="tx1"/>
                </a:solidFill>
              </a:rPr>
              <a:t>DP-326 Client Base Movement &amp; Attrition</a:t>
            </a:r>
            <a:endParaRPr lang="en-US" sz="800" dirty="0"/>
          </a:p>
          <a:p>
            <a:pPr indent="0" marL="0">
              <a:buNone/>
            </a:pPr>
            <a:endParaRPr lang="en-US" sz="800" dirty="0"/>
          </a:p>
          <a:p>
            <a:pPr indent="0" marL="0">
              <a:buNone/>
            </a:pPr>
            <a:r>
              <a:rPr lang="en-US" sz="800" dirty="0">
                <a:solidFill>
                  <a:schemeClr val="tx1"/>
                </a:solidFill>
              </a:rPr>
              <a:t>DP-333 Advice Funnel &amp; Conversion</a:t>
            </a:r>
            <a:endParaRPr lang="en-US" sz="800" dirty="0"/>
          </a:p>
          <a:p>
            <a:pPr indent="0" marL="0">
              <a:buNone/>
            </a:pPr>
            <a:endParaRPr lang="en-US" sz="800" dirty="0"/>
          </a:p>
          <a:p>
            <a:pPr indent="0" marL="0">
              <a:buNone/>
            </a:pPr>
            <a:r>
              <a:rPr lang="en-US" sz="800" dirty="0">
                <a:solidFill>
                  <a:schemeClr val="tx1"/>
                </a:solidFill>
              </a:rPr>
              <a:t>DP-337 Goal Progress &amp; Funded Status</a:t>
            </a:r>
            <a:endParaRPr lang="en-US" sz="800" dirty="0"/>
          </a:p>
          <a:p>
            <a:pPr indent="0" marL="0">
              <a:buNone/>
            </a:pPr>
            <a:endParaRPr lang="en-US" sz="800" dirty="0"/>
          </a:p>
          <a:p>
            <a:pPr indent="0" marL="0">
              <a:buNone/>
            </a:pPr>
            <a:r>
              <a:rPr lang="en-US" sz="800" dirty="0">
                <a:solidFill>
                  <a:schemeClr val="tx1"/>
                </a:solidFill>
              </a:rPr>
              <a:t>DP-338 Held-Away Assets &amp; Consolidation Opportunity</a:t>
            </a:r>
            <a:endParaRPr lang="en-US" sz="800" dirty="0"/>
          </a:p>
          <a:p>
            <a:pPr indent="0" marL="0">
              <a:buNone/>
            </a:pPr>
            <a:endParaRPr lang="en-US" sz="800" dirty="0"/>
          </a:p>
          <a:p>
            <a:pPr indent="0" marL="0">
              <a:buNone/>
            </a:pPr>
            <a:r>
              <a:rPr lang="en-US" sz="800" dirty="0">
                <a:solidFill>
                  <a:schemeClr val="tx1"/>
                </a:solidFill>
              </a:rPr>
              <a:t>DP-342 Rebalance &amp; Tax-Loss Harvest Effectiveness</a:t>
            </a:r>
            <a:endParaRPr lang="en-US" sz="800" dirty="0"/>
          </a:p>
        </p:txBody>
      </p:sp>
      <p:sp>
        <p:nvSpPr>
          <p:cNvPr id="23" name="card"/>
          <p:cNvSpPr/>
          <p:nvPr/>
        </p:nvSpPr>
        <p:spPr>
          <a:xfrm>
            <a:off x="8001000" y="2468880"/>
            <a:ext cx="1783080" cy="3749040"/>
          </a:xfrm>
          <a:prstGeom prst="roundRect">
            <a:avLst>
              <a:gd name="adj" fmla="val 4103"/>
            </a:avLst>
          </a:prstGeom>
          <a:solidFill>
            <a:schemeClr val="bg2"/>
          </a:solidFill>
          <a:ln w="12700">
            <a:solidFill>
              <a:schemeClr val="bg2"/>
            </a:solidFill>
            <a:prstDash val="solid"/>
          </a:ln>
        </p:spPr>
      </p:sp>
      <p:sp>
        <p:nvSpPr>
          <p:cNvPr id="24" name="panel"/>
          <p:cNvSpPr/>
          <p:nvPr/>
        </p:nvSpPr>
        <p:spPr>
          <a:xfrm>
            <a:off x="8001000" y="2468880"/>
            <a:ext cx="1783080" cy="365760"/>
          </a:xfrm>
          <a:prstGeom prst="rect">
            <a:avLst/>
          </a:prstGeom>
          <a:solidFill>
            <a:schemeClr val="accent5"/>
          </a:solidFill>
          <a:ln w="12700">
            <a:solidFill>
              <a:schemeClr val="accent5"/>
            </a:solidFill>
            <a:prstDash val="solid"/>
          </a:ln>
        </p:spPr>
      </p:sp>
      <p:sp>
        <p:nvSpPr>
          <p:cNvPr id="25" name="text"/>
          <p:cNvSpPr txBox="1"/>
          <p:nvPr/>
        </p:nvSpPr>
        <p:spPr>
          <a:xfrm>
            <a:off x="8110728" y="2468880"/>
            <a:ext cx="1563624" cy="365760"/>
          </a:xfrm>
          <a:prstGeom prst="rect">
            <a:avLst/>
          </a:prstGeom>
          <a:noFill/>
          <a:ln/>
        </p:spPr>
        <p:txBody>
          <a:bodyPr wrap="square" lIns="0" tIns="0" rIns="0" bIns="0" rtlCol="0" anchor="ctr"/>
          <a:lstStyle/>
          <a:p>
            <a:pPr indent="0" marL="0">
              <a:buNone/>
            </a:pPr>
            <a:r>
              <a:rPr lang="en-US" sz="1100" b="1" dirty="0">
                <a:solidFill>
                  <a:schemeClr val="bg1"/>
                </a:solidFill>
              </a:rPr>
              <a:t>Workflow</a:t>
            </a:r>
            <a:endParaRPr lang="en-US" sz="1100" dirty="0"/>
          </a:p>
        </p:txBody>
      </p:sp>
      <p:sp>
        <p:nvSpPr>
          <p:cNvPr id="26" name="text"/>
          <p:cNvSpPr txBox="1"/>
          <p:nvPr/>
        </p:nvSpPr>
        <p:spPr>
          <a:xfrm>
            <a:off x="8110728" y="2926080"/>
            <a:ext cx="1563624" cy="3246120"/>
          </a:xfrm>
          <a:prstGeom prst="rect">
            <a:avLst/>
          </a:prstGeom>
          <a:noFill/>
          <a:ln/>
        </p:spPr>
        <p:txBody>
          <a:bodyPr wrap="square" lIns="0" tIns="0" rIns="0" bIns="0" rtlCol="0" anchor="t"/>
          <a:lstStyle/>
          <a:p>
            <a:pPr indent="0" marL="0">
              <a:buNone/>
            </a:pPr>
            <a:r>
              <a:rPr lang="en-US" sz="800" dirty="0">
                <a:solidFill>
                  <a:schemeClr val="tx1"/>
                </a:solidFill>
              </a:rPr>
              <a:t>DP-327 Account Opening &amp; Good Order Pipeline</a:t>
            </a:r>
            <a:endParaRPr lang="en-US" sz="800" dirty="0"/>
          </a:p>
          <a:p>
            <a:pPr indent="0" marL="0">
              <a:buNone/>
            </a:pPr>
            <a:endParaRPr lang="en-US" sz="800" dirty="0"/>
          </a:p>
          <a:p>
            <a:pPr indent="0" marL="0">
              <a:buNone/>
            </a:pPr>
            <a:r>
              <a:rPr lang="en-US" sz="800" dirty="0">
                <a:solidFill>
                  <a:schemeClr val="tx1"/>
                </a:solidFill>
              </a:rPr>
              <a:t>DP-336 Advice Review Cadence &amp; Plan Currency</a:t>
            </a:r>
            <a:endParaRPr lang="en-US" sz="800" dirty="0"/>
          </a:p>
          <a:p>
            <a:pPr indent="0" marL="0">
              <a:buNone/>
            </a:pPr>
            <a:endParaRPr lang="en-US" sz="800" dirty="0"/>
          </a:p>
          <a:p>
            <a:pPr indent="0" marL="0">
              <a:buNone/>
            </a:pPr>
            <a:r>
              <a:rPr lang="en-US" sz="800" dirty="0">
                <a:solidFill>
                  <a:schemeClr val="tx1"/>
                </a:solidFill>
              </a:rPr>
              <a:t>DP-340 Advisor Client Action Worklist</a:t>
            </a:r>
            <a:endParaRPr lang="en-US" sz="800" dirty="0"/>
          </a:p>
          <a:p>
            <a:pPr indent="0" marL="0">
              <a:buNone/>
            </a:pPr>
            <a:endParaRPr lang="en-US" sz="800" dirty="0"/>
          </a:p>
          <a:p>
            <a:pPr indent="0" marL="0">
              <a:buNone/>
            </a:pPr>
            <a:r>
              <a:rPr lang="en-US" sz="800" dirty="0">
                <a:solidFill>
                  <a:schemeClr val="tx1"/>
                </a:solidFill>
              </a:rPr>
              <a:t>DP-341 Drift &amp; Rebalance Monitor</a:t>
            </a:r>
            <a:endParaRPr lang="en-US" sz="800" dirty="0"/>
          </a:p>
          <a:p>
            <a:pPr indent="0" marL="0">
              <a:buNone/>
            </a:pPr>
            <a:endParaRPr lang="en-US" sz="800" dirty="0"/>
          </a:p>
          <a:p>
            <a:pPr indent="0" marL="0">
              <a:buNone/>
            </a:pPr>
            <a:r>
              <a:rPr lang="en-US" sz="800" dirty="0">
                <a:solidFill>
                  <a:schemeClr val="tx1"/>
                </a:solidFill>
              </a:rPr>
              <a:t>DP-344 Trade Proposals, Cash Raises &amp; Pre-Trade Exceptions</a:t>
            </a:r>
            <a:endParaRPr lang="en-US" sz="800" dirty="0"/>
          </a:p>
          <a:p>
            <a:pPr indent="0" marL="0">
              <a:buNone/>
            </a:pPr>
            <a:endParaRPr lang="en-US" sz="800" dirty="0"/>
          </a:p>
          <a:p>
            <a:pPr indent="0" marL="0">
              <a:buNone/>
            </a:pPr>
            <a:r>
              <a:rPr lang="en-US" sz="800" dirty="0">
                <a:solidFill>
                  <a:schemeClr val="tx1"/>
                </a:solidFill>
              </a:rPr>
              <a:t>DP-347 Fee Waivers, Adjustments &amp; Billing Disputes</a:t>
            </a:r>
            <a:endParaRPr lang="en-US" sz="800" dirty="0"/>
          </a:p>
        </p:txBody>
      </p:sp>
      <p:sp>
        <p:nvSpPr>
          <p:cNvPr id="27" name="card"/>
          <p:cNvSpPr/>
          <p:nvPr/>
        </p:nvSpPr>
        <p:spPr>
          <a:xfrm>
            <a:off x="9875520" y="2468880"/>
            <a:ext cx="1783080" cy="3749040"/>
          </a:xfrm>
          <a:prstGeom prst="roundRect">
            <a:avLst>
              <a:gd name="adj" fmla="val 4103"/>
            </a:avLst>
          </a:prstGeom>
          <a:solidFill>
            <a:schemeClr val="bg2"/>
          </a:solidFill>
          <a:ln w="12700">
            <a:solidFill>
              <a:schemeClr val="bg2"/>
            </a:solidFill>
            <a:prstDash val="solid"/>
          </a:ln>
        </p:spPr>
      </p:sp>
      <p:sp>
        <p:nvSpPr>
          <p:cNvPr id="28" name="panel"/>
          <p:cNvSpPr/>
          <p:nvPr/>
        </p:nvSpPr>
        <p:spPr>
          <a:xfrm>
            <a:off x="9875520" y="2468880"/>
            <a:ext cx="1783080" cy="365760"/>
          </a:xfrm>
          <a:prstGeom prst="rect">
            <a:avLst/>
          </a:prstGeom>
          <a:solidFill>
            <a:schemeClr val="accent1"/>
          </a:solidFill>
          <a:ln w="12700">
            <a:solidFill>
              <a:schemeClr val="accent1"/>
            </a:solidFill>
            <a:prstDash val="solid"/>
          </a:ln>
        </p:spPr>
      </p:sp>
      <p:sp>
        <p:nvSpPr>
          <p:cNvPr id="29" name="text"/>
          <p:cNvSpPr txBox="1"/>
          <p:nvPr/>
        </p:nvSpPr>
        <p:spPr>
          <a:xfrm>
            <a:off x="9985248" y="2468880"/>
            <a:ext cx="1563624" cy="365760"/>
          </a:xfrm>
          <a:prstGeom prst="rect">
            <a:avLst/>
          </a:prstGeom>
          <a:noFill/>
          <a:ln/>
        </p:spPr>
        <p:txBody>
          <a:bodyPr wrap="square" lIns="0" tIns="0" rIns="0" bIns="0" rtlCol="0" anchor="ctr"/>
          <a:lstStyle/>
          <a:p>
            <a:pPr indent="0" marL="0">
              <a:buNone/>
            </a:pPr>
            <a:r>
              <a:rPr lang="en-US" sz="1100" b="1" dirty="0">
                <a:solidFill>
                  <a:schemeClr val="bg1"/>
                </a:solidFill>
              </a:rPr>
              <a:t>Evidence</a:t>
            </a:r>
            <a:endParaRPr lang="en-US" sz="1100" dirty="0"/>
          </a:p>
        </p:txBody>
      </p:sp>
      <p:sp>
        <p:nvSpPr>
          <p:cNvPr id="30" name="text"/>
          <p:cNvSpPr txBox="1"/>
          <p:nvPr/>
        </p:nvSpPr>
        <p:spPr>
          <a:xfrm>
            <a:off x="9985248" y="2926080"/>
            <a:ext cx="1563624" cy="3246120"/>
          </a:xfrm>
          <a:prstGeom prst="rect">
            <a:avLst/>
          </a:prstGeom>
          <a:noFill/>
          <a:ln/>
        </p:spPr>
        <p:txBody>
          <a:bodyPr wrap="square" lIns="0" tIns="0" rIns="0" bIns="0" rtlCol="0" anchor="t"/>
          <a:lstStyle/>
          <a:p>
            <a:pPr indent="0" marL="0">
              <a:buNone/>
            </a:pPr>
            <a:r>
              <a:rPr lang="en-US" sz="800" dirty="0">
                <a:solidFill>
                  <a:schemeClr val="tx1"/>
                </a:solidFill>
              </a:rPr>
              <a:t>DP-322 Client Protection Flags &amp; Senior Investor Register</a:t>
            </a:r>
            <a:endParaRPr lang="en-US" sz="800" dirty="0"/>
          </a:p>
          <a:p>
            <a:pPr indent="0" marL="0">
              <a:buNone/>
            </a:pPr>
            <a:endParaRPr lang="en-US" sz="800" dirty="0"/>
          </a:p>
          <a:p>
            <a:pPr indent="0" marL="0">
              <a:buNone/>
            </a:pPr>
            <a:r>
              <a:rPr lang="en-US" sz="800" dirty="0">
                <a:solidFill>
                  <a:schemeClr val="tx1"/>
                </a:solidFill>
              </a:rPr>
              <a:t>DP-323 Investor Profile Currency &amp; Suitability Inputs</a:t>
            </a:r>
            <a:endParaRPr lang="en-US" sz="800" dirty="0"/>
          </a:p>
          <a:p>
            <a:pPr indent="0" marL="0">
              <a:buNone/>
            </a:pPr>
            <a:endParaRPr lang="en-US" sz="800" dirty="0"/>
          </a:p>
          <a:p>
            <a:pPr indent="0" marL="0">
              <a:buNone/>
            </a:pPr>
            <a:r>
              <a:rPr lang="en-US" sz="800" dirty="0">
                <a:solidFill>
                  <a:schemeClr val="tx1"/>
                </a:solidFill>
              </a:rPr>
              <a:t>DP-332 Advisory Program Enrollment &amp; Rule 3a-4 Compliance</a:t>
            </a:r>
            <a:endParaRPr lang="en-US" sz="800" dirty="0"/>
          </a:p>
          <a:p>
            <a:pPr indent="0" marL="0">
              <a:buNone/>
            </a:pPr>
            <a:endParaRPr lang="en-US" sz="800" dirty="0"/>
          </a:p>
          <a:p>
            <a:pPr indent="0" marL="0">
              <a:buNone/>
            </a:pPr>
            <a:r>
              <a:rPr lang="en-US" sz="800" dirty="0">
                <a:solidFill>
                  <a:schemeClr val="tx1"/>
                </a:solidFill>
              </a:rPr>
              <a:t>DP-334 Plan Quality &amp; Recommendation Evidence (Reg BI File)</a:t>
            </a:r>
            <a:endParaRPr lang="en-US" sz="800" dirty="0"/>
          </a:p>
          <a:p>
            <a:pPr indent="0" marL="0">
              <a:buNone/>
            </a:pPr>
            <a:endParaRPr lang="en-US" sz="800" dirty="0"/>
          </a:p>
          <a:p>
            <a:pPr indent="0" marL="0">
              <a:buNone/>
            </a:pPr>
            <a:r>
              <a:rPr lang="en-US" sz="800" dirty="0">
                <a:solidFill>
                  <a:schemeClr val="tx1"/>
                </a:solidFill>
              </a:rPr>
              <a:t>DP-335 Rollover Recommendations &amp; PTE 2020-02 Evidence</a:t>
            </a:r>
            <a:endParaRPr lang="en-US" sz="800" dirty="0"/>
          </a:p>
          <a:p>
            <a:pPr indent="0" marL="0">
              <a:buNone/>
            </a:pPr>
            <a:endParaRPr lang="en-US" sz="800" dirty="0"/>
          </a:p>
          <a:p>
            <a:pPr indent="0" marL="0">
              <a:buNone/>
            </a:pPr>
            <a:r>
              <a:rPr lang="en-US" sz="800" dirty="0">
                <a:solidFill>
                  <a:schemeClr val="tx1"/>
                </a:solidFill>
              </a:rPr>
              <a:t>DP-346 Fee Billing Accuracy &amp; Custody-Rule Evidence</a:t>
            </a:r>
            <a:endParaRPr lang="en-US" sz="8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Twelve subject-area models, tested by twelve questions</a:t>
            </a:r>
            <a:endParaRPr lang="en-US" sz="2800" dirty="0"/>
          </a:p>
        </p:txBody>
      </p:sp>
      <p:sp>
        <p:nvSpPr>
          <p:cNvPr id="4" name="card"/>
          <p:cNvSpPr/>
          <p:nvPr/>
        </p:nvSpPr>
        <p:spPr>
          <a:xfrm>
            <a:off x="548640" y="1417320"/>
            <a:ext cx="4206240" cy="4800600"/>
          </a:xfrm>
          <a:prstGeom prst="roundRect">
            <a:avLst>
              <a:gd name="adj" fmla="val 1739"/>
            </a:avLst>
          </a:prstGeom>
          <a:solidFill>
            <a:schemeClr val="bg2"/>
          </a:solidFill>
          <a:ln w="12700">
            <a:solidFill>
              <a:schemeClr val="bg2"/>
            </a:solidFill>
            <a:prstDash val="solid"/>
          </a:ln>
        </p:spPr>
      </p:sp>
      <p:sp>
        <p:nvSpPr>
          <p:cNvPr id="5" name="text"/>
          <p:cNvSpPr txBox="1"/>
          <p:nvPr/>
        </p:nvSpPr>
        <p:spPr>
          <a:xfrm>
            <a:off x="731520" y="1554480"/>
            <a:ext cx="3840480" cy="274320"/>
          </a:xfrm>
          <a:prstGeom prst="rect">
            <a:avLst/>
          </a:prstGeom>
          <a:noFill/>
          <a:ln/>
        </p:spPr>
        <p:txBody>
          <a:bodyPr wrap="square" lIns="0" tIns="0" rIns="0" bIns="0" rtlCol="0" anchor="t"/>
          <a:lstStyle/>
          <a:p>
            <a:pPr indent="0" marL="0">
              <a:buNone/>
            </a:pPr>
            <a:r>
              <a:rPr lang="en-US" sz="1000" b="1" dirty="0">
                <a:solidFill>
                  <a:schemeClr val="accent4"/>
                </a:solidFill>
              </a:rPr>
              <a:t>THE TWELVE WEALTH SUBJECT-AREA MODELS</a:t>
            </a:r>
            <a:endParaRPr lang="en-US" sz="1000" dirty="0"/>
          </a:p>
        </p:txBody>
      </p:sp>
      <p:sp>
        <p:nvSpPr>
          <p:cNvPr id="6" name="text"/>
          <p:cNvSpPr txBox="1"/>
          <p:nvPr/>
        </p:nvSpPr>
        <p:spPr>
          <a:xfrm>
            <a:off x="731520" y="1920240"/>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SM-20</a:t>
            </a:r>
            <a:endParaRPr lang="en-US" sz="1050" dirty="0"/>
          </a:p>
        </p:txBody>
      </p:sp>
      <p:sp>
        <p:nvSpPr>
          <p:cNvPr id="7" name="text"/>
          <p:cNvSpPr txBox="1"/>
          <p:nvPr/>
        </p:nvSpPr>
        <p:spPr>
          <a:xfrm>
            <a:off x="1463040" y="1920240"/>
            <a:ext cx="3108960" cy="347472"/>
          </a:xfrm>
          <a:prstGeom prst="rect">
            <a:avLst/>
          </a:prstGeom>
          <a:noFill/>
          <a:ln/>
        </p:spPr>
        <p:txBody>
          <a:bodyPr wrap="square" lIns="0" tIns="0" rIns="0" bIns="0" rtlCol="0" anchor="ctr"/>
          <a:lstStyle/>
          <a:p>
            <a:pPr indent="0" marL="0">
              <a:buNone/>
            </a:pPr>
            <a:r>
              <a:rPr lang="en-US" sz="1050" dirty="0">
                <a:solidFill>
                  <a:schemeClr val="tx1"/>
                </a:solidFill>
              </a:rPr>
              <a:t>Client Assets &amp; Flows (certified)</a:t>
            </a:r>
            <a:endParaRPr lang="en-US" sz="1050" dirty="0"/>
          </a:p>
        </p:txBody>
      </p:sp>
      <p:sp>
        <p:nvSpPr>
          <p:cNvPr id="8" name="text"/>
          <p:cNvSpPr txBox="1"/>
          <p:nvPr/>
        </p:nvSpPr>
        <p:spPr>
          <a:xfrm>
            <a:off x="731520" y="2272284"/>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SM-21</a:t>
            </a:r>
            <a:endParaRPr lang="en-US" sz="1050" dirty="0"/>
          </a:p>
        </p:txBody>
      </p:sp>
      <p:sp>
        <p:nvSpPr>
          <p:cNvPr id="9" name="text"/>
          <p:cNvSpPr txBox="1"/>
          <p:nvPr/>
        </p:nvSpPr>
        <p:spPr>
          <a:xfrm>
            <a:off x="1463040" y="2272284"/>
            <a:ext cx="3108960" cy="347472"/>
          </a:xfrm>
          <a:prstGeom prst="rect">
            <a:avLst/>
          </a:prstGeom>
          <a:noFill/>
          <a:ln/>
        </p:spPr>
        <p:txBody>
          <a:bodyPr wrap="square" lIns="0" tIns="0" rIns="0" bIns="0" rtlCol="0" anchor="ctr"/>
          <a:lstStyle/>
          <a:p>
            <a:pPr indent="0" marL="0">
              <a:buNone/>
            </a:pPr>
            <a:r>
              <a:rPr lang="en-US" sz="1050" dirty="0">
                <a:solidFill>
                  <a:schemeClr val="tx1"/>
                </a:solidFill>
              </a:rPr>
              <a:t>Client &amp; Household 360</a:t>
            </a:r>
            <a:endParaRPr lang="en-US" sz="1050" dirty="0"/>
          </a:p>
        </p:txBody>
      </p:sp>
      <p:sp>
        <p:nvSpPr>
          <p:cNvPr id="10" name="text"/>
          <p:cNvSpPr txBox="1"/>
          <p:nvPr/>
        </p:nvSpPr>
        <p:spPr>
          <a:xfrm>
            <a:off x="731520" y="2624328"/>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SM-22</a:t>
            </a:r>
            <a:endParaRPr lang="en-US" sz="1050" dirty="0"/>
          </a:p>
        </p:txBody>
      </p:sp>
      <p:sp>
        <p:nvSpPr>
          <p:cNvPr id="11" name="text"/>
          <p:cNvSpPr txBox="1"/>
          <p:nvPr/>
        </p:nvSpPr>
        <p:spPr>
          <a:xfrm>
            <a:off x="1463040" y="2624328"/>
            <a:ext cx="3108960" cy="347472"/>
          </a:xfrm>
          <a:prstGeom prst="rect">
            <a:avLst/>
          </a:prstGeom>
          <a:noFill/>
          <a:ln/>
        </p:spPr>
        <p:txBody>
          <a:bodyPr wrap="square" lIns="0" tIns="0" rIns="0" bIns="0" rtlCol="0" anchor="ctr"/>
          <a:lstStyle/>
          <a:p>
            <a:pPr indent="0" marL="0">
              <a:buNone/>
            </a:pPr>
            <a:r>
              <a:rPr lang="en-US" sz="1050" dirty="0">
                <a:solidFill>
                  <a:schemeClr val="tx1"/>
                </a:solidFill>
              </a:rPr>
              <a:t>Advice &amp; Planning</a:t>
            </a:r>
            <a:endParaRPr lang="en-US" sz="1050" dirty="0"/>
          </a:p>
        </p:txBody>
      </p:sp>
      <p:sp>
        <p:nvSpPr>
          <p:cNvPr id="12" name="text"/>
          <p:cNvSpPr txBox="1"/>
          <p:nvPr/>
        </p:nvSpPr>
        <p:spPr>
          <a:xfrm>
            <a:off x="731520" y="2976372"/>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SM-23</a:t>
            </a:r>
            <a:endParaRPr lang="en-US" sz="1050" dirty="0"/>
          </a:p>
        </p:txBody>
      </p:sp>
      <p:sp>
        <p:nvSpPr>
          <p:cNvPr id="13" name="text"/>
          <p:cNvSpPr txBox="1"/>
          <p:nvPr/>
        </p:nvSpPr>
        <p:spPr>
          <a:xfrm>
            <a:off x="1463040" y="2976372"/>
            <a:ext cx="3108960" cy="347472"/>
          </a:xfrm>
          <a:prstGeom prst="rect">
            <a:avLst/>
          </a:prstGeom>
          <a:noFill/>
          <a:ln/>
        </p:spPr>
        <p:txBody>
          <a:bodyPr wrap="square" lIns="0" tIns="0" rIns="0" bIns="0" rtlCol="0" anchor="ctr"/>
          <a:lstStyle/>
          <a:p>
            <a:pPr indent="0" marL="0">
              <a:buNone/>
            </a:pPr>
            <a:r>
              <a:rPr lang="en-US" sz="1050" dirty="0">
                <a:solidFill>
                  <a:schemeClr val="tx1"/>
                </a:solidFill>
              </a:rPr>
              <a:t>Managed Portfolios</a:t>
            </a:r>
            <a:endParaRPr lang="en-US" sz="1050" dirty="0"/>
          </a:p>
        </p:txBody>
      </p:sp>
      <p:sp>
        <p:nvSpPr>
          <p:cNvPr id="14" name="text"/>
          <p:cNvSpPr txBox="1"/>
          <p:nvPr/>
        </p:nvSpPr>
        <p:spPr>
          <a:xfrm>
            <a:off x="731520" y="3328416"/>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SM-24</a:t>
            </a:r>
            <a:endParaRPr lang="en-US" sz="1050" dirty="0"/>
          </a:p>
        </p:txBody>
      </p:sp>
      <p:sp>
        <p:nvSpPr>
          <p:cNvPr id="15" name="text"/>
          <p:cNvSpPr txBox="1"/>
          <p:nvPr/>
        </p:nvSpPr>
        <p:spPr>
          <a:xfrm>
            <a:off x="1463040" y="3328416"/>
            <a:ext cx="3108960" cy="347472"/>
          </a:xfrm>
          <a:prstGeom prst="rect">
            <a:avLst/>
          </a:prstGeom>
          <a:noFill/>
          <a:ln/>
        </p:spPr>
        <p:txBody>
          <a:bodyPr wrap="square" lIns="0" tIns="0" rIns="0" bIns="0" rtlCol="0" anchor="ctr"/>
          <a:lstStyle/>
          <a:p>
            <a:pPr indent="0" marL="0">
              <a:buNone/>
            </a:pPr>
            <a:r>
              <a:rPr lang="en-US" sz="1050" dirty="0">
                <a:solidFill>
                  <a:schemeClr val="tx1"/>
                </a:solidFill>
              </a:rPr>
              <a:t>Brokerage Activity &amp; Execution Quality</a:t>
            </a:r>
            <a:endParaRPr lang="en-US" sz="1050" dirty="0"/>
          </a:p>
        </p:txBody>
      </p:sp>
      <p:sp>
        <p:nvSpPr>
          <p:cNvPr id="16" name="text"/>
          <p:cNvSpPr txBox="1"/>
          <p:nvPr/>
        </p:nvSpPr>
        <p:spPr>
          <a:xfrm>
            <a:off x="731520" y="3680460"/>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SM-25</a:t>
            </a:r>
            <a:endParaRPr lang="en-US" sz="1050" dirty="0"/>
          </a:p>
        </p:txBody>
      </p:sp>
      <p:sp>
        <p:nvSpPr>
          <p:cNvPr id="17" name="text"/>
          <p:cNvSpPr txBox="1"/>
          <p:nvPr/>
        </p:nvSpPr>
        <p:spPr>
          <a:xfrm>
            <a:off x="1463040" y="3680460"/>
            <a:ext cx="3108960" cy="347472"/>
          </a:xfrm>
          <a:prstGeom prst="rect">
            <a:avLst/>
          </a:prstGeom>
          <a:noFill/>
          <a:ln/>
        </p:spPr>
        <p:txBody>
          <a:bodyPr wrap="square" lIns="0" tIns="0" rIns="0" bIns="0" rtlCol="0" anchor="ctr"/>
          <a:lstStyle/>
          <a:p>
            <a:pPr indent="0" marL="0">
              <a:buNone/>
            </a:pPr>
            <a:r>
              <a:rPr lang="en-US" sz="1050" dirty="0">
                <a:solidFill>
                  <a:schemeClr val="tx1"/>
                </a:solidFill>
              </a:rPr>
              <a:t>Client Service &amp; Digital</a:t>
            </a:r>
            <a:endParaRPr lang="en-US" sz="1050" dirty="0"/>
          </a:p>
        </p:txBody>
      </p:sp>
      <p:sp>
        <p:nvSpPr>
          <p:cNvPr id="18" name="text"/>
          <p:cNvSpPr txBox="1"/>
          <p:nvPr/>
        </p:nvSpPr>
        <p:spPr>
          <a:xfrm>
            <a:off x="731520" y="4032504"/>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SM-26</a:t>
            </a:r>
            <a:endParaRPr lang="en-US" sz="1050" dirty="0"/>
          </a:p>
        </p:txBody>
      </p:sp>
      <p:sp>
        <p:nvSpPr>
          <p:cNvPr id="19" name="text"/>
          <p:cNvSpPr txBox="1"/>
          <p:nvPr/>
        </p:nvSpPr>
        <p:spPr>
          <a:xfrm>
            <a:off x="1463040" y="4032504"/>
            <a:ext cx="3108960" cy="347472"/>
          </a:xfrm>
          <a:prstGeom prst="rect">
            <a:avLst/>
          </a:prstGeom>
          <a:noFill/>
          <a:ln/>
        </p:spPr>
        <p:txBody>
          <a:bodyPr wrap="square" lIns="0" tIns="0" rIns="0" bIns="0" rtlCol="0" anchor="ctr"/>
          <a:lstStyle/>
          <a:p>
            <a:pPr indent="0" marL="0">
              <a:buNone/>
            </a:pPr>
            <a:r>
              <a:rPr lang="en-US" sz="1050" dirty="0">
                <a:solidFill>
                  <a:schemeClr val="tx1"/>
                </a:solidFill>
              </a:rPr>
              <a:t>Workplace &amp; Participants</a:t>
            </a:r>
            <a:endParaRPr lang="en-US" sz="1050" dirty="0"/>
          </a:p>
        </p:txBody>
      </p:sp>
      <p:sp>
        <p:nvSpPr>
          <p:cNvPr id="20" name="text"/>
          <p:cNvSpPr txBox="1"/>
          <p:nvPr/>
        </p:nvSpPr>
        <p:spPr>
          <a:xfrm>
            <a:off x="731520" y="4384548"/>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SM-27</a:t>
            </a:r>
            <a:endParaRPr lang="en-US" sz="1050" dirty="0"/>
          </a:p>
        </p:txBody>
      </p:sp>
      <p:sp>
        <p:nvSpPr>
          <p:cNvPr id="21" name="text"/>
          <p:cNvSpPr txBox="1"/>
          <p:nvPr/>
        </p:nvSpPr>
        <p:spPr>
          <a:xfrm>
            <a:off x="1463040" y="4384548"/>
            <a:ext cx="3108960" cy="347472"/>
          </a:xfrm>
          <a:prstGeom prst="rect">
            <a:avLst/>
          </a:prstGeom>
          <a:noFill/>
          <a:ln/>
        </p:spPr>
        <p:txBody>
          <a:bodyPr wrap="square" lIns="0" tIns="0" rIns="0" bIns="0" rtlCol="0" anchor="ctr"/>
          <a:lstStyle/>
          <a:p>
            <a:pPr indent="0" marL="0">
              <a:buNone/>
            </a:pPr>
            <a:r>
              <a:rPr lang="en-US" sz="1050" dirty="0">
                <a:solidFill>
                  <a:schemeClr val="tx1"/>
                </a:solidFill>
              </a:rPr>
              <a:t>Intermediary &amp; Institutional Channel</a:t>
            </a:r>
            <a:endParaRPr lang="en-US" sz="1050" dirty="0"/>
          </a:p>
        </p:txBody>
      </p:sp>
      <p:sp>
        <p:nvSpPr>
          <p:cNvPr id="22" name="text"/>
          <p:cNvSpPr txBox="1"/>
          <p:nvPr/>
        </p:nvSpPr>
        <p:spPr>
          <a:xfrm>
            <a:off x="731520" y="4736592"/>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SM-28</a:t>
            </a:r>
            <a:endParaRPr lang="en-US" sz="1050" dirty="0"/>
          </a:p>
        </p:txBody>
      </p:sp>
      <p:sp>
        <p:nvSpPr>
          <p:cNvPr id="23" name="text"/>
          <p:cNvSpPr txBox="1"/>
          <p:nvPr/>
        </p:nvSpPr>
        <p:spPr>
          <a:xfrm>
            <a:off x="1463040" y="4736592"/>
            <a:ext cx="3108960" cy="347472"/>
          </a:xfrm>
          <a:prstGeom prst="rect">
            <a:avLst/>
          </a:prstGeom>
          <a:noFill/>
          <a:ln/>
        </p:spPr>
        <p:txBody>
          <a:bodyPr wrap="square" lIns="0" tIns="0" rIns="0" bIns="0" rtlCol="0" anchor="ctr"/>
          <a:lstStyle/>
          <a:p>
            <a:pPr indent="0" marL="0">
              <a:buNone/>
            </a:pPr>
            <a:r>
              <a:rPr lang="en-US" sz="1050" dirty="0">
                <a:solidFill>
                  <a:schemeClr val="tx1"/>
                </a:solidFill>
              </a:rPr>
              <a:t>Client Economics (certified fee revenue)</a:t>
            </a:r>
            <a:endParaRPr lang="en-US" sz="1050" dirty="0"/>
          </a:p>
        </p:txBody>
      </p:sp>
      <p:sp>
        <p:nvSpPr>
          <p:cNvPr id="24" name="text"/>
          <p:cNvSpPr txBox="1"/>
          <p:nvPr/>
        </p:nvSpPr>
        <p:spPr>
          <a:xfrm>
            <a:off x="731520" y="5088636"/>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SM-29</a:t>
            </a:r>
            <a:endParaRPr lang="en-US" sz="1050" dirty="0"/>
          </a:p>
        </p:txBody>
      </p:sp>
      <p:sp>
        <p:nvSpPr>
          <p:cNvPr id="25" name="text"/>
          <p:cNvSpPr txBox="1"/>
          <p:nvPr/>
        </p:nvSpPr>
        <p:spPr>
          <a:xfrm>
            <a:off x="1463040" y="5088636"/>
            <a:ext cx="3108960" cy="347472"/>
          </a:xfrm>
          <a:prstGeom prst="rect">
            <a:avLst/>
          </a:prstGeom>
          <a:noFill/>
          <a:ln/>
        </p:spPr>
        <p:txBody>
          <a:bodyPr wrap="square" lIns="0" tIns="0" rIns="0" bIns="0" rtlCol="0" anchor="ctr"/>
          <a:lstStyle/>
          <a:p>
            <a:pPr indent="0" marL="0">
              <a:buNone/>
            </a:pPr>
            <a:r>
              <a:rPr lang="en-US" sz="1050" dirty="0">
                <a:solidFill>
                  <a:schemeClr val="tx1"/>
                </a:solidFill>
              </a:rPr>
              <a:t>Retail Conduct &amp; Supervision</a:t>
            </a:r>
            <a:endParaRPr lang="en-US" sz="1050" dirty="0"/>
          </a:p>
        </p:txBody>
      </p:sp>
      <p:sp>
        <p:nvSpPr>
          <p:cNvPr id="26" name="text"/>
          <p:cNvSpPr txBox="1"/>
          <p:nvPr/>
        </p:nvSpPr>
        <p:spPr>
          <a:xfrm>
            <a:off x="731520" y="5440680"/>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SM-30</a:t>
            </a:r>
            <a:endParaRPr lang="en-US" sz="1050" dirty="0"/>
          </a:p>
        </p:txBody>
      </p:sp>
      <p:sp>
        <p:nvSpPr>
          <p:cNvPr id="27" name="text"/>
          <p:cNvSpPr txBox="1"/>
          <p:nvPr/>
        </p:nvSpPr>
        <p:spPr>
          <a:xfrm>
            <a:off x="1463040" y="5440680"/>
            <a:ext cx="3108960" cy="347472"/>
          </a:xfrm>
          <a:prstGeom prst="rect">
            <a:avLst/>
          </a:prstGeom>
          <a:noFill/>
          <a:ln/>
        </p:spPr>
        <p:txBody>
          <a:bodyPr wrap="square" lIns="0" tIns="0" rIns="0" bIns="0" rtlCol="0" anchor="ctr"/>
          <a:lstStyle/>
          <a:p>
            <a:pPr indent="0" marL="0">
              <a:buNone/>
            </a:pPr>
            <a:r>
              <a:rPr lang="en-US" sz="1050" dirty="0">
                <a:solidFill>
                  <a:schemeClr val="tx1"/>
                </a:solidFill>
              </a:rPr>
              <a:t>Offering, Product Range &amp; Market</a:t>
            </a:r>
            <a:endParaRPr lang="en-US" sz="1050" dirty="0"/>
          </a:p>
        </p:txBody>
      </p:sp>
      <p:sp>
        <p:nvSpPr>
          <p:cNvPr id="28" name="text"/>
          <p:cNvSpPr txBox="1"/>
          <p:nvPr/>
        </p:nvSpPr>
        <p:spPr>
          <a:xfrm>
            <a:off x="731520" y="5792724"/>
            <a:ext cx="731520" cy="347472"/>
          </a:xfrm>
          <a:prstGeom prst="rect">
            <a:avLst/>
          </a:prstGeom>
          <a:noFill/>
          <a:ln/>
        </p:spPr>
        <p:txBody>
          <a:bodyPr wrap="square" lIns="0" tIns="0" rIns="0" bIns="0" rtlCol="0" anchor="ctr"/>
          <a:lstStyle/>
          <a:p>
            <a:pPr indent="0" marL="0">
              <a:buNone/>
            </a:pPr>
            <a:r>
              <a:rPr lang="en-US" sz="1050" b="1" dirty="0">
                <a:solidFill>
                  <a:schemeClr val="accent4"/>
                </a:solidFill>
              </a:rPr>
              <a:t>SM-31</a:t>
            </a:r>
            <a:endParaRPr lang="en-US" sz="1050" dirty="0"/>
          </a:p>
        </p:txBody>
      </p:sp>
      <p:sp>
        <p:nvSpPr>
          <p:cNvPr id="29" name="text"/>
          <p:cNvSpPr txBox="1"/>
          <p:nvPr/>
        </p:nvSpPr>
        <p:spPr>
          <a:xfrm>
            <a:off x="1463040" y="5792724"/>
            <a:ext cx="3108960" cy="347472"/>
          </a:xfrm>
          <a:prstGeom prst="rect">
            <a:avLst/>
          </a:prstGeom>
          <a:noFill/>
          <a:ln/>
        </p:spPr>
        <p:txBody>
          <a:bodyPr wrap="square" lIns="0" tIns="0" rIns="0" bIns="0" rtlCol="0" anchor="ctr"/>
          <a:lstStyle/>
          <a:p>
            <a:pPr indent="0" marL="0">
              <a:buNone/>
            </a:pPr>
            <a:r>
              <a:rPr lang="en-US" sz="1050" dirty="0">
                <a:solidFill>
                  <a:schemeClr val="tx1"/>
                </a:solidFill>
              </a:rPr>
              <a:t>Manager Oversight &amp; Due Diligence</a:t>
            </a:r>
            <a:endParaRPr lang="en-US" sz="1050" dirty="0"/>
          </a:p>
        </p:txBody>
      </p:sp>
      <p:sp>
        <p:nvSpPr>
          <p:cNvPr id="30" name="text"/>
          <p:cNvSpPr txBox="1"/>
          <p:nvPr/>
        </p:nvSpPr>
        <p:spPr>
          <a:xfrm>
            <a:off x="4937760" y="1417320"/>
            <a:ext cx="6400800" cy="274320"/>
          </a:xfrm>
          <a:prstGeom prst="rect">
            <a:avLst/>
          </a:prstGeom>
          <a:noFill/>
          <a:ln/>
        </p:spPr>
        <p:txBody>
          <a:bodyPr wrap="square" lIns="0" tIns="0" rIns="0" bIns="0" rtlCol="0" anchor="t"/>
          <a:lstStyle/>
          <a:p>
            <a:pPr indent="0" marL="0">
              <a:buNone/>
            </a:pPr>
            <a:r>
              <a:rPr lang="en-US" sz="1000" b="1" dirty="0">
                <a:solidFill>
                  <a:schemeClr val="accent1"/>
                </a:solidFill>
              </a:rPr>
              <a:t>THE TWELVE ACCEPTANCE QUESTIONS</a:t>
            </a:r>
            <a:endParaRPr lang="en-US" sz="1000" dirty="0"/>
          </a:p>
        </p:txBody>
      </p:sp>
      <p:sp>
        <p:nvSpPr>
          <p:cNvPr id="31" name="card"/>
          <p:cNvSpPr/>
          <p:nvPr/>
        </p:nvSpPr>
        <p:spPr>
          <a:xfrm>
            <a:off x="4937760" y="1783080"/>
            <a:ext cx="3246120" cy="658368"/>
          </a:xfrm>
          <a:prstGeom prst="roundRect">
            <a:avLst>
              <a:gd name="adj" fmla="val 11111"/>
            </a:avLst>
          </a:prstGeom>
          <a:solidFill>
            <a:schemeClr val="bg2"/>
          </a:solidFill>
          <a:ln w="12700">
            <a:solidFill>
              <a:schemeClr val="bg2"/>
            </a:solidFill>
            <a:prstDash val="solid"/>
          </a:ln>
        </p:spPr>
      </p:sp>
      <p:sp>
        <p:nvSpPr>
          <p:cNvPr id="32" name="text"/>
          <p:cNvSpPr txBox="1"/>
          <p:nvPr/>
        </p:nvSpPr>
        <p:spPr>
          <a:xfrm>
            <a:off x="5029200" y="1828800"/>
            <a:ext cx="365760" cy="566928"/>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33" name="text"/>
          <p:cNvSpPr txBox="1"/>
          <p:nvPr/>
        </p:nvSpPr>
        <p:spPr>
          <a:xfrm>
            <a:off x="5394960" y="1828800"/>
            <a:ext cx="2697480" cy="566928"/>
          </a:xfrm>
          <a:prstGeom prst="rect">
            <a:avLst/>
          </a:prstGeom>
          <a:noFill/>
          <a:ln/>
        </p:spPr>
        <p:txBody>
          <a:bodyPr wrap="square" lIns="0" tIns="0" rIns="0" bIns="0" rtlCol="0" anchor="ctr"/>
          <a:lstStyle/>
          <a:p>
            <a:pPr indent="0" marL="0">
              <a:buNone/>
            </a:pPr>
            <a:r>
              <a:rPr lang="en-US" sz="950" dirty="0">
                <a:solidFill>
                  <a:schemeClr val="tx1"/>
                </a:solidFill>
              </a:rPr>
              <a:t>Total client assets by channel and holding type, reconciled to Firm AUM</a:t>
            </a:r>
            <a:endParaRPr lang="en-US" sz="950" dirty="0"/>
          </a:p>
        </p:txBody>
      </p:sp>
      <p:sp>
        <p:nvSpPr>
          <p:cNvPr id="34" name="card"/>
          <p:cNvSpPr/>
          <p:nvPr/>
        </p:nvSpPr>
        <p:spPr>
          <a:xfrm>
            <a:off x="8321040" y="1783080"/>
            <a:ext cx="3246120" cy="658368"/>
          </a:xfrm>
          <a:prstGeom prst="roundRect">
            <a:avLst>
              <a:gd name="adj" fmla="val 11111"/>
            </a:avLst>
          </a:prstGeom>
          <a:solidFill>
            <a:schemeClr val="bg2"/>
          </a:solidFill>
          <a:ln w="12700">
            <a:solidFill>
              <a:schemeClr val="bg2"/>
            </a:solidFill>
            <a:prstDash val="solid"/>
          </a:ln>
        </p:spPr>
      </p:sp>
      <p:sp>
        <p:nvSpPr>
          <p:cNvPr id="35" name="text"/>
          <p:cNvSpPr txBox="1"/>
          <p:nvPr/>
        </p:nvSpPr>
        <p:spPr>
          <a:xfrm>
            <a:off x="8412480" y="1828800"/>
            <a:ext cx="365760" cy="566928"/>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36" name="text"/>
          <p:cNvSpPr txBox="1"/>
          <p:nvPr/>
        </p:nvSpPr>
        <p:spPr>
          <a:xfrm>
            <a:off x="8778240" y="1828800"/>
            <a:ext cx="2697480" cy="566928"/>
          </a:xfrm>
          <a:prstGeom prst="rect">
            <a:avLst/>
          </a:prstGeom>
          <a:noFill/>
          <a:ln/>
        </p:spPr>
        <p:txBody>
          <a:bodyPr wrap="square" lIns="0" tIns="0" rIns="0" bIns="0" rtlCol="0" anchor="ctr"/>
          <a:lstStyle/>
          <a:p>
            <a:pPr indent="0" marL="0">
              <a:buNone/>
            </a:pPr>
            <a:r>
              <a:rPr lang="en-US" sz="950" dirty="0">
                <a:solidFill>
                  <a:schemeClr val="tx1"/>
                </a:solidFill>
              </a:rPr>
              <a:t>Net new assets this quarter by channel, advisor and campaign</a:t>
            </a:r>
            <a:endParaRPr lang="en-US" sz="950" dirty="0"/>
          </a:p>
        </p:txBody>
      </p:sp>
      <p:sp>
        <p:nvSpPr>
          <p:cNvPr id="37" name="card"/>
          <p:cNvSpPr/>
          <p:nvPr/>
        </p:nvSpPr>
        <p:spPr>
          <a:xfrm>
            <a:off x="4937760" y="2532888"/>
            <a:ext cx="3246120" cy="658368"/>
          </a:xfrm>
          <a:prstGeom prst="roundRect">
            <a:avLst>
              <a:gd name="adj" fmla="val 11111"/>
            </a:avLst>
          </a:prstGeom>
          <a:solidFill>
            <a:schemeClr val="accent1"/>
          </a:solidFill>
          <a:ln w="12700">
            <a:solidFill>
              <a:schemeClr val="accent1"/>
            </a:solidFill>
            <a:prstDash val="solid"/>
          </a:ln>
        </p:spPr>
      </p:sp>
      <p:sp>
        <p:nvSpPr>
          <p:cNvPr id="38" name="text"/>
          <p:cNvSpPr txBox="1"/>
          <p:nvPr/>
        </p:nvSpPr>
        <p:spPr>
          <a:xfrm>
            <a:off x="5029200" y="2578608"/>
            <a:ext cx="365760" cy="566928"/>
          </a:xfrm>
          <a:prstGeom prst="rect">
            <a:avLst/>
          </a:prstGeom>
          <a:noFill/>
          <a:ln/>
        </p:spPr>
        <p:txBody>
          <a:bodyPr wrap="square" lIns="0" tIns="0" rIns="0" bIns="0" rtlCol="0" anchor="ctr"/>
          <a:lstStyle/>
          <a:p>
            <a:pPr indent="0" marL="0">
              <a:buNone/>
            </a:pPr>
            <a:r>
              <a:rPr lang="en-US" sz="1400" b="1" dirty="0">
                <a:solidFill>
                  <a:schemeClr val="bg1"/>
                </a:solidFill>
              </a:rPr>
              <a:t>3</a:t>
            </a:r>
            <a:endParaRPr lang="en-US" sz="1400" dirty="0"/>
          </a:p>
        </p:txBody>
      </p:sp>
      <p:sp>
        <p:nvSpPr>
          <p:cNvPr id="39" name="text"/>
          <p:cNvSpPr txBox="1"/>
          <p:nvPr/>
        </p:nvSpPr>
        <p:spPr>
          <a:xfrm>
            <a:off x="5394960" y="2578608"/>
            <a:ext cx="2697480" cy="566928"/>
          </a:xfrm>
          <a:prstGeom prst="rect">
            <a:avLst/>
          </a:prstGeom>
          <a:noFill/>
          <a:ln/>
        </p:spPr>
        <p:txBody>
          <a:bodyPr wrap="square" lIns="0" tIns="0" rIns="0" bIns="0" rtlCol="0" anchor="ctr"/>
          <a:lstStyle/>
          <a:p>
            <a:pPr indent="0" marL="0">
              <a:buNone/>
            </a:pPr>
            <a:r>
              <a:rPr lang="en-US" sz="950" dirty="0">
                <a:solidFill>
                  <a:schemeClr val="bg1"/>
                </a:solidFill>
              </a:rPr>
              <a:t>Recommendations lacking best-interest evidence; rollovers lacking PTE 2020-02 documentation</a:t>
            </a:r>
            <a:endParaRPr lang="en-US" sz="950" dirty="0"/>
          </a:p>
        </p:txBody>
      </p:sp>
      <p:sp>
        <p:nvSpPr>
          <p:cNvPr id="40" name="card"/>
          <p:cNvSpPr/>
          <p:nvPr/>
        </p:nvSpPr>
        <p:spPr>
          <a:xfrm>
            <a:off x="8321040" y="2532888"/>
            <a:ext cx="3246120" cy="658368"/>
          </a:xfrm>
          <a:prstGeom prst="roundRect">
            <a:avLst>
              <a:gd name="adj" fmla="val 11111"/>
            </a:avLst>
          </a:prstGeom>
          <a:solidFill>
            <a:schemeClr val="bg2"/>
          </a:solidFill>
          <a:ln w="12700">
            <a:solidFill>
              <a:schemeClr val="bg2"/>
            </a:solidFill>
            <a:prstDash val="solid"/>
          </a:ln>
        </p:spPr>
      </p:sp>
      <p:sp>
        <p:nvSpPr>
          <p:cNvPr id="41" name="text"/>
          <p:cNvSpPr txBox="1"/>
          <p:nvPr/>
        </p:nvSpPr>
        <p:spPr>
          <a:xfrm>
            <a:off x="8412480" y="2578608"/>
            <a:ext cx="365760" cy="566928"/>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42" name="text"/>
          <p:cNvSpPr txBox="1"/>
          <p:nvPr/>
        </p:nvSpPr>
        <p:spPr>
          <a:xfrm>
            <a:off x="8778240" y="2578608"/>
            <a:ext cx="2697480" cy="566928"/>
          </a:xfrm>
          <a:prstGeom prst="rect">
            <a:avLst/>
          </a:prstGeom>
          <a:noFill/>
          <a:ln/>
        </p:spPr>
        <p:txBody>
          <a:bodyPr wrap="square" lIns="0" tIns="0" rIns="0" bIns="0" rtlCol="0" anchor="ctr"/>
          <a:lstStyle/>
          <a:p>
            <a:pPr indent="0" marL="0">
              <a:buNone/>
            </a:pPr>
            <a:r>
              <a:rPr lang="en-US" sz="950" dirty="0">
                <a:solidFill>
                  <a:schemeClr val="tx1"/>
                </a:solidFill>
              </a:rPr>
              <a:t>Managed accounts outside drift tolerance; what tax-loss harvesting saved</a:t>
            </a:r>
            <a:endParaRPr lang="en-US" sz="950" dirty="0"/>
          </a:p>
        </p:txBody>
      </p:sp>
      <p:sp>
        <p:nvSpPr>
          <p:cNvPr id="43" name="card"/>
          <p:cNvSpPr/>
          <p:nvPr/>
        </p:nvSpPr>
        <p:spPr>
          <a:xfrm>
            <a:off x="4937760" y="3282696"/>
            <a:ext cx="3246120" cy="658368"/>
          </a:xfrm>
          <a:prstGeom prst="roundRect">
            <a:avLst>
              <a:gd name="adj" fmla="val 11111"/>
            </a:avLst>
          </a:prstGeom>
          <a:solidFill>
            <a:schemeClr val="bg2"/>
          </a:solidFill>
          <a:ln w="12700">
            <a:solidFill>
              <a:schemeClr val="bg2"/>
            </a:solidFill>
            <a:prstDash val="solid"/>
          </a:ln>
        </p:spPr>
      </p:sp>
      <p:sp>
        <p:nvSpPr>
          <p:cNvPr id="44" name="text"/>
          <p:cNvSpPr txBox="1"/>
          <p:nvPr/>
        </p:nvSpPr>
        <p:spPr>
          <a:xfrm>
            <a:off x="5029200" y="3328416"/>
            <a:ext cx="365760" cy="566928"/>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45" name="text"/>
          <p:cNvSpPr txBox="1"/>
          <p:nvPr/>
        </p:nvSpPr>
        <p:spPr>
          <a:xfrm>
            <a:off x="5394960" y="3328416"/>
            <a:ext cx="2697480" cy="566928"/>
          </a:xfrm>
          <a:prstGeom prst="rect">
            <a:avLst/>
          </a:prstGeom>
          <a:noFill/>
          <a:ln/>
        </p:spPr>
        <p:txBody>
          <a:bodyPr wrap="square" lIns="0" tIns="0" rIns="0" bIns="0" rtlCol="0" anchor="ctr"/>
          <a:lstStyle/>
          <a:p>
            <a:pPr indent="0" marL="0">
              <a:buNone/>
            </a:pPr>
            <a:r>
              <a:rPr lang="en-US" sz="950" dirty="0">
                <a:solidFill>
                  <a:schemeClr val="tx1"/>
                </a:solidFill>
              </a:rPr>
              <a:t>Execution quality by venue and order type; orders corrected</a:t>
            </a:r>
            <a:endParaRPr lang="en-US" sz="950" dirty="0"/>
          </a:p>
        </p:txBody>
      </p:sp>
      <p:sp>
        <p:nvSpPr>
          <p:cNvPr id="46" name="card"/>
          <p:cNvSpPr/>
          <p:nvPr/>
        </p:nvSpPr>
        <p:spPr>
          <a:xfrm>
            <a:off x="8321040" y="3282696"/>
            <a:ext cx="3246120" cy="658368"/>
          </a:xfrm>
          <a:prstGeom prst="roundRect">
            <a:avLst>
              <a:gd name="adj" fmla="val 11111"/>
            </a:avLst>
          </a:prstGeom>
          <a:solidFill>
            <a:schemeClr val="bg2"/>
          </a:solidFill>
          <a:ln w="12700">
            <a:solidFill>
              <a:schemeClr val="bg2"/>
            </a:solidFill>
            <a:prstDash val="solid"/>
          </a:ln>
        </p:spPr>
      </p:sp>
      <p:sp>
        <p:nvSpPr>
          <p:cNvPr id="47" name="text"/>
          <p:cNvSpPr txBox="1"/>
          <p:nvPr/>
        </p:nvSpPr>
        <p:spPr>
          <a:xfrm>
            <a:off x="8412480" y="3328416"/>
            <a:ext cx="365760" cy="566928"/>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48" name="text"/>
          <p:cNvSpPr txBox="1"/>
          <p:nvPr/>
        </p:nvSpPr>
        <p:spPr>
          <a:xfrm>
            <a:off x="8778240" y="3328416"/>
            <a:ext cx="2697480" cy="566928"/>
          </a:xfrm>
          <a:prstGeom prst="rect">
            <a:avLst/>
          </a:prstGeom>
          <a:noFill/>
          <a:ln/>
        </p:spPr>
        <p:txBody>
          <a:bodyPr wrap="square" lIns="0" tIns="0" rIns="0" bIns="0" rtlCol="0" anchor="ctr"/>
          <a:lstStyle/>
          <a:p>
            <a:pPr indent="0" marL="0">
              <a:buNone/>
            </a:pPr>
            <a:r>
              <a:rPr lang="en-US" sz="950" dirty="0">
                <a:solidFill>
                  <a:schemeClr val="tx1"/>
                </a:solidFill>
              </a:rPr>
              <a:t>Today's customer reserve requirement; client securities out of possession and control</a:t>
            </a:r>
            <a:endParaRPr lang="en-US" sz="950" dirty="0"/>
          </a:p>
        </p:txBody>
      </p:sp>
      <p:sp>
        <p:nvSpPr>
          <p:cNvPr id="49" name="card"/>
          <p:cNvSpPr/>
          <p:nvPr/>
        </p:nvSpPr>
        <p:spPr>
          <a:xfrm>
            <a:off x="4937760" y="4032504"/>
            <a:ext cx="3246120" cy="658368"/>
          </a:xfrm>
          <a:prstGeom prst="roundRect">
            <a:avLst>
              <a:gd name="adj" fmla="val 11111"/>
            </a:avLst>
          </a:prstGeom>
          <a:solidFill>
            <a:schemeClr val="bg2"/>
          </a:solidFill>
          <a:ln w="12700">
            <a:solidFill>
              <a:schemeClr val="bg2"/>
            </a:solidFill>
            <a:prstDash val="solid"/>
          </a:ln>
        </p:spPr>
      </p:sp>
      <p:sp>
        <p:nvSpPr>
          <p:cNvPr id="50" name="text"/>
          <p:cNvSpPr txBox="1"/>
          <p:nvPr/>
        </p:nvSpPr>
        <p:spPr>
          <a:xfrm>
            <a:off x="5029200" y="4078224"/>
            <a:ext cx="365760" cy="566928"/>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51" name="text"/>
          <p:cNvSpPr txBox="1"/>
          <p:nvPr/>
        </p:nvSpPr>
        <p:spPr>
          <a:xfrm>
            <a:off x="5394960" y="4078224"/>
            <a:ext cx="2697480" cy="566928"/>
          </a:xfrm>
          <a:prstGeom prst="rect">
            <a:avLst/>
          </a:prstGeom>
          <a:noFill/>
          <a:ln/>
        </p:spPr>
        <p:txBody>
          <a:bodyPr wrap="square" lIns="0" tIns="0" rIns="0" bIns="0" rtlCol="0" anchor="ctr"/>
          <a:lstStyle/>
          <a:p>
            <a:pPr indent="0" marL="0">
              <a:buNone/>
            </a:pPr>
            <a:r>
              <a:rPr lang="en-US" sz="950" dirty="0">
                <a:solidFill>
                  <a:schemeClr val="tx1"/>
                </a:solidFill>
              </a:rPr>
              <a:t>Cash movements on hold for fraud or elder-exploitation review</a:t>
            </a:r>
            <a:endParaRPr lang="en-US" sz="950" dirty="0"/>
          </a:p>
        </p:txBody>
      </p:sp>
      <p:sp>
        <p:nvSpPr>
          <p:cNvPr id="52" name="card"/>
          <p:cNvSpPr/>
          <p:nvPr/>
        </p:nvSpPr>
        <p:spPr>
          <a:xfrm>
            <a:off x="8321040" y="4032504"/>
            <a:ext cx="3246120" cy="658368"/>
          </a:xfrm>
          <a:prstGeom prst="roundRect">
            <a:avLst>
              <a:gd name="adj" fmla="val 11111"/>
            </a:avLst>
          </a:prstGeom>
          <a:solidFill>
            <a:schemeClr val="bg2"/>
          </a:solidFill>
          <a:ln w="12700">
            <a:solidFill>
              <a:schemeClr val="bg2"/>
            </a:solidFill>
            <a:prstDash val="solid"/>
          </a:ln>
        </p:spPr>
      </p:sp>
      <p:sp>
        <p:nvSpPr>
          <p:cNvPr id="53" name="text"/>
          <p:cNvSpPr txBox="1"/>
          <p:nvPr/>
        </p:nvSpPr>
        <p:spPr>
          <a:xfrm>
            <a:off x="8412480" y="4078224"/>
            <a:ext cx="365760" cy="566928"/>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54" name="text"/>
          <p:cNvSpPr txBox="1"/>
          <p:nvPr/>
        </p:nvSpPr>
        <p:spPr>
          <a:xfrm>
            <a:off x="8778240" y="4078224"/>
            <a:ext cx="2697480" cy="566928"/>
          </a:xfrm>
          <a:prstGeom prst="rect">
            <a:avLst/>
          </a:prstGeom>
          <a:noFill/>
          <a:ln/>
        </p:spPr>
        <p:txBody>
          <a:bodyPr wrap="square" lIns="0" tIns="0" rIns="0" bIns="0" rtlCol="0" anchor="ctr"/>
          <a:lstStyle/>
          <a:p>
            <a:pPr indent="0" marL="0">
              <a:buNone/>
            </a:pPr>
            <a:r>
              <a:rPr lang="en-US" sz="950" dirty="0">
                <a:solidFill>
                  <a:schemeClr val="tx1"/>
                </a:solidFill>
              </a:rPr>
              <a:t>Advisory fee runs that failed reconciliation; accounts billed outside their schedule</a:t>
            </a:r>
            <a:endParaRPr lang="en-US" sz="950" dirty="0"/>
          </a:p>
        </p:txBody>
      </p:sp>
      <p:sp>
        <p:nvSpPr>
          <p:cNvPr id="55" name="card"/>
          <p:cNvSpPr/>
          <p:nvPr/>
        </p:nvSpPr>
        <p:spPr>
          <a:xfrm>
            <a:off x="4937760" y="4782312"/>
            <a:ext cx="3246120" cy="658368"/>
          </a:xfrm>
          <a:prstGeom prst="roundRect">
            <a:avLst>
              <a:gd name="adj" fmla="val 11111"/>
            </a:avLst>
          </a:prstGeom>
          <a:solidFill>
            <a:schemeClr val="bg2"/>
          </a:solidFill>
          <a:ln w="12700">
            <a:solidFill>
              <a:schemeClr val="bg2"/>
            </a:solidFill>
            <a:prstDash val="solid"/>
          </a:ln>
        </p:spPr>
      </p:sp>
      <p:sp>
        <p:nvSpPr>
          <p:cNvPr id="56" name="text"/>
          <p:cNvSpPr txBox="1"/>
          <p:nvPr/>
        </p:nvSpPr>
        <p:spPr>
          <a:xfrm>
            <a:off x="5029200" y="4828032"/>
            <a:ext cx="365760" cy="566928"/>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57" name="text"/>
          <p:cNvSpPr txBox="1"/>
          <p:nvPr/>
        </p:nvSpPr>
        <p:spPr>
          <a:xfrm>
            <a:off x="5394960" y="4828032"/>
            <a:ext cx="2697480" cy="566928"/>
          </a:xfrm>
          <a:prstGeom prst="rect">
            <a:avLst/>
          </a:prstGeom>
          <a:noFill/>
          <a:ln/>
        </p:spPr>
        <p:txBody>
          <a:bodyPr wrap="square" lIns="0" tIns="0" rIns="0" bIns="0" rtlCol="0" anchor="ctr"/>
          <a:lstStyle/>
          <a:p>
            <a:pPr indent="0" marL="0">
              <a:buNone/>
            </a:pPr>
            <a:r>
              <a:rPr lang="en-US" sz="950" dirty="0">
                <a:solidFill>
                  <a:schemeClr val="tx1"/>
                </a:solidFill>
              </a:rPr>
              <a:t>Each household's personal rate of return, and how it is computed</a:t>
            </a:r>
            <a:endParaRPr lang="en-US" sz="950" dirty="0"/>
          </a:p>
        </p:txBody>
      </p:sp>
      <p:sp>
        <p:nvSpPr>
          <p:cNvPr id="58" name="card"/>
          <p:cNvSpPr/>
          <p:nvPr/>
        </p:nvSpPr>
        <p:spPr>
          <a:xfrm>
            <a:off x="8321040" y="4782312"/>
            <a:ext cx="3246120" cy="658368"/>
          </a:xfrm>
          <a:prstGeom prst="roundRect">
            <a:avLst>
              <a:gd name="adj" fmla="val 11111"/>
            </a:avLst>
          </a:prstGeom>
          <a:solidFill>
            <a:schemeClr val="accent1"/>
          </a:solidFill>
          <a:ln w="12700">
            <a:solidFill>
              <a:schemeClr val="accent1"/>
            </a:solidFill>
            <a:prstDash val="solid"/>
          </a:ln>
        </p:spPr>
      </p:sp>
      <p:sp>
        <p:nvSpPr>
          <p:cNvPr id="59" name="text"/>
          <p:cNvSpPr txBox="1"/>
          <p:nvPr/>
        </p:nvSpPr>
        <p:spPr>
          <a:xfrm>
            <a:off x="8412480" y="4828032"/>
            <a:ext cx="365760" cy="566928"/>
          </a:xfrm>
          <a:prstGeom prst="rect">
            <a:avLst/>
          </a:prstGeom>
          <a:noFill/>
          <a:ln/>
        </p:spPr>
        <p:txBody>
          <a:bodyPr wrap="square" lIns="0" tIns="0" rIns="0" bIns="0" rtlCol="0" anchor="ctr"/>
          <a:lstStyle/>
          <a:p>
            <a:pPr indent="0" marL="0">
              <a:buNone/>
            </a:pPr>
            <a:r>
              <a:rPr lang="en-US" sz="1400" b="1" dirty="0">
                <a:solidFill>
                  <a:schemeClr val="bg1"/>
                </a:solidFill>
              </a:rPr>
              <a:t>10</a:t>
            </a:r>
            <a:endParaRPr lang="en-US" sz="1400" dirty="0"/>
          </a:p>
        </p:txBody>
      </p:sp>
      <p:sp>
        <p:nvSpPr>
          <p:cNvPr id="60" name="text"/>
          <p:cNvSpPr txBox="1"/>
          <p:nvPr/>
        </p:nvSpPr>
        <p:spPr>
          <a:xfrm>
            <a:off x="8778240" y="4828032"/>
            <a:ext cx="2697480" cy="566928"/>
          </a:xfrm>
          <a:prstGeom prst="rect">
            <a:avLst/>
          </a:prstGeom>
          <a:noFill/>
          <a:ln/>
        </p:spPr>
        <p:txBody>
          <a:bodyPr wrap="square" lIns="0" tIns="0" rIns="0" bIns="0" rtlCol="0" anchor="ctr"/>
          <a:lstStyle/>
          <a:p>
            <a:pPr indent="0" marL="0">
              <a:buNone/>
            </a:pPr>
            <a:r>
              <a:rPr lang="en-US" sz="950" dirty="0">
                <a:solidFill>
                  <a:schemeClr val="bg1"/>
                </a:solidFill>
              </a:rPr>
              <a:t>Plan participants who separated this quarter and the share that rolled into the direct business</a:t>
            </a:r>
            <a:endParaRPr lang="en-US" sz="950" dirty="0"/>
          </a:p>
        </p:txBody>
      </p:sp>
      <p:sp>
        <p:nvSpPr>
          <p:cNvPr id="61" name="card"/>
          <p:cNvSpPr/>
          <p:nvPr/>
        </p:nvSpPr>
        <p:spPr>
          <a:xfrm>
            <a:off x="4937760" y="5532120"/>
            <a:ext cx="3246120" cy="658368"/>
          </a:xfrm>
          <a:prstGeom prst="roundRect">
            <a:avLst>
              <a:gd name="adj" fmla="val 11111"/>
            </a:avLst>
          </a:prstGeom>
          <a:solidFill>
            <a:schemeClr val="bg2"/>
          </a:solidFill>
          <a:ln w="12700">
            <a:solidFill>
              <a:schemeClr val="bg2"/>
            </a:solidFill>
            <a:prstDash val="solid"/>
          </a:ln>
        </p:spPr>
      </p:sp>
      <p:sp>
        <p:nvSpPr>
          <p:cNvPr id="62" name="text"/>
          <p:cNvSpPr txBox="1"/>
          <p:nvPr/>
        </p:nvSpPr>
        <p:spPr>
          <a:xfrm>
            <a:off x="5029200" y="5577840"/>
            <a:ext cx="365760" cy="566928"/>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63" name="text"/>
          <p:cNvSpPr txBox="1"/>
          <p:nvPr/>
        </p:nvSpPr>
        <p:spPr>
          <a:xfrm>
            <a:off x="5394960" y="5577840"/>
            <a:ext cx="2697480" cy="566928"/>
          </a:xfrm>
          <a:prstGeom prst="rect">
            <a:avLst/>
          </a:prstGeom>
          <a:noFill/>
          <a:ln/>
        </p:spPr>
        <p:txBody>
          <a:bodyPr wrap="square" lIns="0" tIns="0" rIns="0" bIns="0" rtlCol="0" anchor="ctr"/>
          <a:lstStyle/>
          <a:p>
            <a:pPr indent="0" marL="0">
              <a:buNone/>
            </a:pPr>
            <a:r>
              <a:rPr lang="en-US" sz="950" dirty="0">
                <a:solidFill>
                  <a:schemeClr val="tx1"/>
                </a:solidFill>
              </a:rPr>
              <a:t>Cost to serve each client segment; lifetime value by acquisition channel</a:t>
            </a:r>
            <a:endParaRPr lang="en-US" sz="950" dirty="0"/>
          </a:p>
        </p:txBody>
      </p:sp>
      <p:sp>
        <p:nvSpPr>
          <p:cNvPr id="64" name="card"/>
          <p:cNvSpPr/>
          <p:nvPr/>
        </p:nvSpPr>
        <p:spPr>
          <a:xfrm>
            <a:off x="8321040" y="5532120"/>
            <a:ext cx="3246120" cy="658368"/>
          </a:xfrm>
          <a:prstGeom prst="roundRect">
            <a:avLst>
              <a:gd name="adj" fmla="val 11111"/>
            </a:avLst>
          </a:prstGeom>
          <a:solidFill>
            <a:schemeClr val="bg2"/>
          </a:solidFill>
          <a:ln w="12700">
            <a:solidFill>
              <a:schemeClr val="bg2"/>
            </a:solidFill>
            <a:prstDash val="solid"/>
          </a:ln>
        </p:spPr>
      </p:sp>
      <p:sp>
        <p:nvSpPr>
          <p:cNvPr id="65" name="text"/>
          <p:cNvSpPr txBox="1"/>
          <p:nvPr/>
        </p:nvSpPr>
        <p:spPr>
          <a:xfrm>
            <a:off x="8412480" y="5577840"/>
            <a:ext cx="365760" cy="566928"/>
          </a:xfrm>
          <a:prstGeom prst="rect">
            <a:avLst/>
          </a:prstGeom>
          <a:noFill/>
          <a:ln/>
        </p:spPr>
        <p:txBody>
          <a:bodyPr wrap="square" lIns="0" tIns="0" rIns="0" bIns="0" rtlCol="0" anchor="ctr"/>
          <a:lstStyle/>
          <a:p>
            <a:pPr indent="0" marL="0">
              <a:buNone/>
            </a:pPr>
            <a:r>
              <a:rPr lang="en-US" sz="1400" b="1" dirty="0">
                <a:solidFill>
                  <a:schemeClr val="accent1"/>
                </a:solidFill>
              </a:rPr>
              <a:t>12</a:t>
            </a:r>
            <a:endParaRPr lang="en-US" sz="1400" dirty="0"/>
          </a:p>
        </p:txBody>
      </p:sp>
      <p:sp>
        <p:nvSpPr>
          <p:cNvPr id="66" name="text"/>
          <p:cNvSpPr txBox="1"/>
          <p:nvPr/>
        </p:nvSpPr>
        <p:spPr>
          <a:xfrm>
            <a:off x="8778240" y="5577840"/>
            <a:ext cx="2697480" cy="566928"/>
          </a:xfrm>
          <a:prstGeom prst="rect">
            <a:avLst/>
          </a:prstGeom>
          <a:noFill/>
          <a:ln/>
        </p:spPr>
        <p:txBody>
          <a:bodyPr wrap="square" lIns="0" tIns="0" rIns="0" bIns="0" rtlCol="0" anchor="ctr"/>
          <a:lstStyle/>
          <a:p>
            <a:pPr indent="0" marL="0">
              <a:buNone/>
            </a:pPr>
            <a:r>
              <a:rPr lang="en-US" sz="950" dirty="0">
                <a:solidFill>
                  <a:schemeClr val="tx1"/>
                </a:solidFill>
              </a:rPr>
              <a:t>Sub-advisers under review and the last Section 15(c) renewal data</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1094415" cy="457200"/>
          </a:xfrm>
          <a:prstGeom prst="rect">
            <a:avLst/>
          </a:prstGeom>
          <a:noFill/>
          <a:ln/>
        </p:spPr>
        <p:txBody>
          <a:bodyPr wrap="square" lIns="0" tIns="0" rIns="0" bIns="0" rtlCol="0"/>
          <a:lstStyle/>
          <a:p>
            <a:pPr indent="0" marL="0">
              <a:buNone/>
            </a:pPr>
            <a:r>
              <a:rPr lang="en-US" sz="1600" dirty="0">
                <a:solidFill>
                  <a:schemeClr val="bg2"/>
                </a:solidFill>
              </a:rPr>
              <a:t>PART 4</a:t>
            </a:r>
            <a:endParaRPr lang="en-US" sz="1600" dirty="0"/>
          </a:p>
        </p:txBody>
      </p:sp>
      <p:sp>
        <p:nvSpPr>
          <p:cNvPr id="3" name="Text 0"/>
          <p:cNvSpPr/>
          <p:nvPr>
            <p:ph idx="101" type="title" hasCustomPrompt="1"/>
          </p:nvPr>
        </p:nvSpPr>
        <p:spPr>
          <a:xfrm>
            <a:off x="548640" y="2606040"/>
            <a:ext cx="11094415" cy="1280160"/>
          </a:xfrm>
          <a:prstGeom prst="rect">
            <a:avLst/>
          </a:prstGeom>
          <a:noFill/>
          <a:ln/>
        </p:spPr>
        <p:txBody>
          <a:bodyPr wrap="square" lIns="0" tIns="0" rIns="0" bIns="0" rtlCol="0" anchor="t"/>
          <a:lstStyle/>
          <a:p>
            <a:pPr algn="l" indent="0" marL="0">
              <a:buNone/>
            </a:pPr>
            <a:r>
              <a:rPr lang="en-US" sz="4000" b="1" dirty="0">
                <a:solidFill>
                  <a:schemeClr val="bg1"/>
                </a:solidFill>
              </a:rPr>
              <a:t>One question, end to end: a rollover into advice</a:t>
            </a:r>
            <a:endParaRPr lang="en-US" sz="4000" dirty="0"/>
          </a:p>
        </p:txBody>
      </p:sp>
      <p:sp>
        <p:nvSpPr>
          <p:cNvPr id="4" name="Text 0"/>
          <p:cNvSpPr/>
          <p:nvPr>
            <p:ph idx="102" type="body" hasCustomPrompt="1"/>
          </p:nvPr>
        </p:nvSpPr>
        <p:spPr>
          <a:xfrm>
            <a:off x="548640" y="4023360"/>
            <a:ext cx="8686800" cy="1463040"/>
          </a:xfrm>
          <a:prstGeom prst="rect">
            <a:avLst/>
          </a:prstGeom>
          <a:noFill/>
          <a:ln/>
        </p:spPr>
        <p:txBody>
          <a:bodyPr wrap="square" lIns="0" tIns="0" rIns="0" bIns="0" rtlCol="0" anchor="t"/>
          <a:lstStyle/>
          <a:p>
            <a:pPr indent="0" marL="0">
              <a:buNone/>
            </a:pPr>
            <a:r>
              <a:rPr lang="en-US" sz="1800" dirty="0">
                <a:solidFill>
                  <a:schemeClr val="bg2"/>
                </a:solidFill>
              </a:rPr>
              <a:t>From the recordkeeping system to the head of distribution's dashboard, the advisor's worklist and the examiner's file, with the same definition at every step.</a:t>
            </a:r>
            <a:endParaRPr lang="en-US" sz="1800" dirty="0"/>
          </a:p>
        </p:txBody>
      </p:sp>
      <p:sp>
        <p:nvSpPr>
          <p:cNvPr id="5" name="chip"/>
          <p:cNvSpPr/>
          <p:nvPr/>
        </p:nvSpPr>
        <p:spPr>
          <a:xfrm>
            <a:off x="548640" y="1371600"/>
            <a:ext cx="384048" cy="384048"/>
          </a:xfrm>
          <a:prstGeom prst="ellipse">
            <a:avLst/>
          </a:prstGeom>
          <a:solidFill>
            <a:schemeClr val="accent6"/>
          </a:solidFill>
          <a:ln w="12700">
            <a:solidFill>
              <a:schemeClr val="accent6"/>
            </a:solidFill>
            <a:prstDash val="solid"/>
          </a:ln>
        </p:spPr>
      </p:sp>
      <p:sp>
        <p:nvSpPr>
          <p:cNvPr id="6" name="text"/>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p:cNvSpPr txBox="1"/>
          <p:nvPr/>
        </p:nvSpPr>
        <p:spPr>
          <a:xfrm>
            <a:off x="1042416" y="13533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Source systems</a:t>
            </a:r>
            <a:endParaRPr lang="en-US" sz="1200" dirty="0"/>
          </a:p>
        </p:txBody>
      </p:sp>
      <p:sp>
        <p:nvSpPr>
          <p:cNvPr id="8" name="chip"/>
          <p:cNvSpPr/>
          <p:nvPr/>
        </p:nvSpPr>
        <p:spPr>
          <a:xfrm>
            <a:off x="2788920" y="1371600"/>
            <a:ext cx="384048" cy="384048"/>
          </a:xfrm>
          <a:prstGeom prst="ellipse">
            <a:avLst/>
          </a:prstGeom>
          <a:solidFill>
            <a:schemeClr val="accent1"/>
          </a:solidFill>
          <a:ln w="12700">
            <a:solidFill>
              <a:schemeClr val="accent1"/>
            </a:solidFill>
            <a:prstDash val="solid"/>
          </a:ln>
        </p:spPr>
      </p:sp>
      <p:sp>
        <p:nvSpPr>
          <p:cNvPr id="9" name="text"/>
          <p:cNvSpPr txBox="1"/>
          <p:nvPr/>
        </p:nvSpPr>
        <p:spPr>
          <a:xfrm>
            <a:off x="278892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p:cNvSpPr txBox="1"/>
          <p:nvPr/>
        </p:nvSpPr>
        <p:spPr>
          <a:xfrm>
            <a:off x="3282696" y="13533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Taxonomy</a:t>
            </a:r>
            <a:endParaRPr lang="en-US" sz="1200" dirty="0"/>
          </a:p>
        </p:txBody>
      </p:sp>
      <p:sp>
        <p:nvSpPr>
          <p:cNvPr id="11" name="chip"/>
          <p:cNvSpPr/>
          <p:nvPr/>
        </p:nvSpPr>
        <p:spPr>
          <a:xfrm>
            <a:off x="5029200" y="1371600"/>
            <a:ext cx="384048" cy="384048"/>
          </a:xfrm>
          <a:prstGeom prst="ellipse">
            <a:avLst/>
          </a:prstGeom>
          <a:solidFill>
            <a:schemeClr val="accent2"/>
          </a:solidFill>
          <a:ln w="12700">
            <a:solidFill>
              <a:schemeClr val="accent2"/>
            </a:solidFill>
            <a:prstDash val="solid"/>
          </a:ln>
        </p:spPr>
      </p:sp>
      <p:sp>
        <p:nvSpPr>
          <p:cNvPr id="12" name="text"/>
          <p:cNvSpPr txBox="1"/>
          <p:nvPr/>
        </p:nvSpPr>
        <p:spPr>
          <a:xfrm>
            <a:off x="502920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text"/>
          <p:cNvSpPr txBox="1"/>
          <p:nvPr/>
        </p:nvSpPr>
        <p:spPr>
          <a:xfrm>
            <a:off x="5522976" y="13533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Foundational products</a:t>
            </a:r>
            <a:endParaRPr lang="en-US" sz="1200" dirty="0"/>
          </a:p>
        </p:txBody>
      </p:sp>
      <p:sp>
        <p:nvSpPr>
          <p:cNvPr id="14" name="chip"/>
          <p:cNvSpPr/>
          <p:nvPr/>
        </p:nvSpPr>
        <p:spPr>
          <a:xfrm>
            <a:off x="7269480" y="1371600"/>
            <a:ext cx="384048" cy="384048"/>
          </a:xfrm>
          <a:prstGeom prst="ellipse">
            <a:avLst/>
          </a:prstGeom>
          <a:solidFill>
            <a:schemeClr val="accent3"/>
          </a:solidFill>
          <a:ln w="12700">
            <a:solidFill>
              <a:schemeClr val="accent3"/>
            </a:solidFill>
            <a:prstDash val="solid"/>
          </a:ln>
        </p:spPr>
      </p:sp>
      <p:sp>
        <p:nvSpPr>
          <p:cNvPr id="15" name="text"/>
          <p:cNvSpPr txBox="1"/>
          <p:nvPr/>
        </p:nvSpPr>
        <p:spPr>
          <a:xfrm>
            <a:off x="726948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6" name="text"/>
          <p:cNvSpPr txBox="1"/>
          <p:nvPr/>
        </p:nvSpPr>
        <p:spPr>
          <a:xfrm>
            <a:off x="7763256" y="13533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Consumer products</a:t>
            </a:r>
            <a:endParaRPr lang="en-US" sz="1200" dirty="0"/>
          </a:p>
        </p:txBody>
      </p:sp>
      <p:sp>
        <p:nvSpPr>
          <p:cNvPr id="17" name="chip"/>
          <p:cNvSpPr/>
          <p:nvPr/>
        </p:nvSpPr>
        <p:spPr>
          <a:xfrm>
            <a:off x="9509760" y="1371600"/>
            <a:ext cx="384048" cy="384048"/>
          </a:xfrm>
          <a:prstGeom prst="ellipse">
            <a:avLst/>
          </a:prstGeom>
          <a:solidFill>
            <a:schemeClr val="accent4"/>
          </a:solidFill>
          <a:ln w="12700">
            <a:solidFill>
              <a:schemeClr val="accent4"/>
            </a:solidFill>
            <a:prstDash val="solid"/>
          </a:ln>
        </p:spPr>
      </p:sp>
      <p:sp>
        <p:nvSpPr>
          <p:cNvPr id="18" name="text"/>
          <p:cNvSpPr txBox="1"/>
          <p:nvPr/>
        </p:nvSpPr>
        <p:spPr>
          <a:xfrm>
            <a:off x="950976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9" name="text"/>
          <p:cNvSpPr txBox="1"/>
          <p:nvPr/>
        </p:nvSpPr>
        <p:spPr>
          <a:xfrm>
            <a:off x="10003536" y="13533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Semantic model and uses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question, and the household we will follow</a:t>
            </a:r>
            <a:endParaRPr lang="en-US" sz="2800" dirty="0"/>
          </a:p>
        </p:txBody>
      </p:sp>
      <p:sp>
        <p:nvSpPr>
          <p:cNvPr id="4" name="card"/>
          <p:cNvSpPr/>
          <p:nvPr/>
        </p:nvSpPr>
        <p:spPr>
          <a:xfrm>
            <a:off x="548640" y="1417320"/>
            <a:ext cx="11094415" cy="1051560"/>
          </a:xfrm>
          <a:prstGeom prst="roundRect">
            <a:avLst>
              <a:gd name="adj" fmla="val 6957"/>
            </a:avLst>
          </a:prstGeom>
          <a:solidFill>
            <a:schemeClr val="tx2"/>
          </a:solidFill>
          <a:ln w="12700">
            <a:solidFill>
              <a:schemeClr val="tx2"/>
            </a:solidFill>
            <a:prstDash val="solid"/>
          </a:ln>
        </p:spPr>
      </p:sp>
      <p:sp>
        <p:nvSpPr>
          <p:cNvPr id="5" name="text"/>
          <p:cNvSpPr txBox="1"/>
          <p:nvPr/>
        </p:nvSpPr>
        <p:spPr>
          <a:xfrm>
            <a:off x="822960" y="1508760"/>
            <a:ext cx="10545775" cy="868680"/>
          </a:xfrm>
          <a:prstGeom prst="rect">
            <a:avLst/>
          </a:prstGeom>
          <a:noFill/>
          <a:ln/>
        </p:spPr>
        <p:txBody>
          <a:bodyPr wrap="square" lIns="0" tIns="0" rIns="0" bIns="0" rtlCol="0" anchor="ctr"/>
          <a:lstStyle/>
          <a:p>
            <a:pPr indent="0" marL="0">
              <a:buNone/>
            </a:pPr>
            <a:r>
              <a:rPr lang="en-US" sz="1600" b="1" dirty="0">
                <a:solidFill>
                  <a:schemeClr val="bg1"/>
                </a:solidFill>
              </a:rPr>
              <a:t>"Of the participants who left a plan we recordkeep this quarter, how much rolled into our advice business, and is every rollover recommendation backed by the evidence the DOL requires?"</a:t>
            </a:r>
            <a:endParaRPr lang="en-US" sz="160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548640" y="2651760"/>
          <a:ext cx="7315200" cy="914400"/>
        </p:xfrm>
        <a:graphic>
          <a:graphicData uri="http://schemas.openxmlformats.org/drawingml/2006/table">
            <a:tbl>
              <a:tblPr/>
              <a:tblGrid>
                <a:gridCol w="2468880"/>
                <a:gridCol w="2926080"/>
                <a:gridCol w="1920240"/>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In the question</a:t>
                      </a:r>
                      <a:endParaRPr lang="en-US" sz="9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Taxonomy object and attribute</a:t>
                      </a:r>
                      <a:endParaRPr lang="en-US" sz="9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Data Domain that masters it</a:t>
                      </a:r>
                      <a:endParaRPr lang="en-US" sz="9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indent="0" marL="0">
                        <a:buNone/>
                      </a:pPr>
                      <a:r>
                        <a:rPr lang="en-US" sz="950" dirty="0">
                          <a:solidFill>
                            <a:srgbClr val="1A2B3C"/>
                          </a:solidFill>
                          <a:latin typeface="Arial" pitchFamily="34" charset="0"/>
                          <a:ea typeface="Arial" pitchFamily="34" charset="-122"/>
                          <a:cs typeface="Arial" pitchFamily="34" charset="-120"/>
                        </a:rPr>
                        <a:t>"participants who left a plan we recordkeep"</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50" dirty="0">
                          <a:solidFill>
                            <a:srgbClr val="1A2B3C"/>
                          </a:solidFill>
                          <a:latin typeface="Arial" pitchFamily="34" charset="0"/>
                          <a:ea typeface="Arial" pitchFamily="34" charset="-122"/>
                          <a:cs typeface="Arial" pitchFamily="34" charset="-120"/>
                        </a:rPr>
                        <a:t>Participant Plan Membership; Separation Date; Distribution Request</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50" dirty="0">
                          <a:solidFill>
                            <a:srgbClr val="1A2B3C"/>
                          </a:solidFill>
                          <a:latin typeface="Arial" pitchFamily="34" charset="0"/>
                          <a:ea typeface="Arial" pitchFamily="34" charset="-122"/>
                          <a:cs typeface="Arial" pitchFamily="34" charset="-120"/>
                        </a:rPr>
                        <a:t>16 Retirement Plan Administration</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2B3C"/>
                          </a:solidFill>
                          <a:latin typeface="Arial" pitchFamily="34" charset="0"/>
                          <a:ea typeface="Arial" pitchFamily="34" charset="-122"/>
                          <a:cs typeface="Arial" pitchFamily="34" charset="-120"/>
                        </a:rPr>
                        <a:t>"rolled into our advice business"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50" dirty="0">
                          <a:solidFill>
                            <a:srgbClr val="1A2B3C"/>
                          </a:solidFill>
                          <a:latin typeface="Arial" pitchFamily="34" charset="0"/>
                          <a:ea typeface="Arial" pitchFamily="34" charset="-122"/>
                          <a:cs typeface="Arial" pitchFamily="34" charset="-120"/>
                        </a:rPr>
                        <a:t>Account (IRA registration); Program Enrollment in an advice offering</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50" dirty="0">
                          <a:solidFill>
                            <a:srgbClr val="1A2B3C"/>
                          </a:solidFill>
                          <a:latin typeface="Arial" pitchFamily="34" charset="0"/>
                          <a:ea typeface="Arial" pitchFamily="34" charset="-122"/>
                          <a:cs typeface="Arial" pitchFamily="34" charset="-120"/>
                        </a:rPr>
                        <a:t>15 Account (offering defined in 01)</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indent="0" marL="0">
                        <a:buNone/>
                      </a:pPr>
                      <a:r>
                        <a:rPr lang="en-US" sz="950" dirty="0">
                          <a:solidFill>
                            <a:srgbClr val="1A2B3C"/>
                          </a:solidFill>
                          <a:latin typeface="Arial" pitchFamily="34" charset="0"/>
                          <a:ea typeface="Arial" pitchFamily="34" charset="-122"/>
                          <a:cs typeface="Arial" pitchFamily="34" charset="-120"/>
                        </a:rPr>
                        <a:t>"how much"</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50" dirty="0">
                          <a:solidFill>
                            <a:srgbClr val="1A2B3C"/>
                          </a:solidFill>
                          <a:latin typeface="Arial" pitchFamily="34" charset="0"/>
                          <a:ea typeface="Arial" pitchFamily="34" charset="-122"/>
                          <a:cs typeface="Arial" pitchFamily="34" charset="-120"/>
                        </a:rPr>
                        <a:t>Net Inter-Channel Transfers; Advised Assets; Net New Assets (certified measures)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50" dirty="0">
                          <a:solidFill>
                            <a:srgbClr val="1A2B3C"/>
                          </a:solidFill>
                          <a:latin typeface="Arial" pitchFamily="34" charset="0"/>
                          <a:ea typeface="Arial" pitchFamily="34" charset="-122"/>
                          <a:cs typeface="Arial" pitchFamily="34" charset="-120"/>
                        </a:rPr>
                        <a:t>06 Client Assets, Flows &amp; Channel Attribution</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2B3C"/>
                          </a:solidFill>
                          <a:latin typeface="Arial" pitchFamily="34" charset="0"/>
                          <a:ea typeface="Arial" pitchFamily="34" charset="-122"/>
                          <a:cs typeface="Arial" pitchFamily="34" charset="-120"/>
                        </a:rPr>
                        <a:t>"rollover recommendation ... evidence the DOL requires"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50" dirty="0">
                          <a:solidFill>
                            <a:srgbClr val="1A2B3C"/>
                          </a:solidFill>
                          <a:latin typeface="Arial" pitchFamily="34" charset="0"/>
                          <a:ea typeface="Arial" pitchFamily="34" charset="-122"/>
                          <a:cs typeface="Arial" pitchFamily="34" charset="-120"/>
                        </a:rPr>
                        <a:t>Recommendation; Rollover Analysis; PTE 2020-02 Documentation (three delivery dates, impartial conduct attestation)</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50" dirty="0">
                          <a:solidFill>
                            <a:srgbClr val="1A2B3C"/>
                          </a:solidFill>
                          <a:latin typeface="Arial" pitchFamily="34" charset="0"/>
                          <a:ea typeface="Arial" pitchFamily="34" charset="-122"/>
                          <a:cs typeface="Arial" pitchFamily="34" charset="-120"/>
                        </a:rPr>
                        <a:t>45 Financial Planning &amp; Advice</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indent="0" marL="0">
                        <a:buNone/>
                      </a:pPr>
                      <a:r>
                        <a:rPr lang="en-US" sz="950" dirty="0">
                          <a:solidFill>
                            <a:srgbClr val="1A2B3C"/>
                          </a:solidFill>
                          <a:latin typeface="Arial" pitchFamily="34" charset="0"/>
                          <a:ea typeface="Arial" pitchFamily="34" charset="-122"/>
                          <a:cs typeface="Arial" pitchFamily="34" charset="-120"/>
                        </a:rPr>
                        <a:t>"the household"</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50" dirty="0">
                          <a:solidFill>
                            <a:srgbClr val="1A2B3C"/>
                          </a:solidFill>
                          <a:latin typeface="Arial" pitchFamily="34" charset="0"/>
                          <a:ea typeface="Arial" pitchFamily="34" charset="-122"/>
                          <a:cs typeface="Arial" pitchFamily="34" charset="-120"/>
                        </a:rPr>
                        <a:t>Household (party of type Household); Household Membership</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50" dirty="0">
                          <a:solidFill>
                            <a:srgbClr val="1A2B3C"/>
                          </a:solidFill>
                          <a:latin typeface="Arial" pitchFamily="34" charset="0"/>
                          <a:ea typeface="Arial" pitchFamily="34" charset="-122"/>
                          <a:cs typeface="Arial" pitchFamily="34" charset="-120"/>
                        </a:rPr>
                        <a:t>02 Client &amp; Household</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bl>
          </a:graphicData>
        </a:graphic>
      </p:graphicFrame>
      <p:sp>
        <p:nvSpPr>
          <p:cNvPr id="7" name="card"/>
          <p:cNvSpPr/>
          <p:nvPr/>
        </p:nvSpPr>
        <p:spPr>
          <a:xfrm>
            <a:off x="8092440" y="2651760"/>
            <a:ext cx="3547872" cy="3566160"/>
          </a:xfrm>
          <a:prstGeom prst="roundRect">
            <a:avLst>
              <a:gd name="adj" fmla="val 2062"/>
            </a:avLst>
          </a:prstGeom>
          <a:solidFill>
            <a:schemeClr val="bg2"/>
          </a:solidFill>
          <a:ln w="12700">
            <a:solidFill>
              <a:schemeClr val="bg2"/>
            </a:solidFill>
            <a:prstDash val="solid"/>
          </a:ln>
        </p:spPr>
      </p:sp>
      <p:sp>
        <p:nvSpPr>
          <p:cNvPr id="8" name="text"/>
          <p:cNvSpPr txBox="1"/>
          <p:nvPr/>
        </p:nvSpPr>
        <p:spPr>
          <a:xfrm>
            <a:off x="8275320" y="2788920"/>
            <a:ext cx="3182112" cy="274320"/>
          </a:xfrm>
          <a:prstGeom prst="rect">
            <a:avLst/>
          </a:prstGeom>
          <a:noFill/>
          <a:ln/>
        </p:spPr>
        <p:txBody>
          <a:bodyPr wrap="square" lIns="0" tIns="0" rIns="0" bIns="0" rtlCol="0" anchor="t"/>
          <a:lstStyle/>
          <a:p>
            <a:pPr indent="0" marL="0">
              <a:buNone/>
            </a:pPr>
            <a:r>
              <a:rPr lang="en-US" sz="1000" b="1" dirty="0">
                <a:solidFill>
                  <a:schemeClr val="accent4"/>
                </a:solidFill>
              </a:rPr>
              <a:t>THE HOUSEHOLD WE FOLLOW (illustrative)</a:t>
            </a:r>
            <a:endParaRPr lang="en-US" sz="1000" dirty="0"/>
          </a:p>
        </p:txBody>
      </p:sp>
      <p:sp>
        <p:nvSpPr>
          <p:cNvPr id="9" name="text"/>
          <p:cNvSpPr txBox="1"/>
          <p:nvPr/>
        </p:nvSpPr>
        <p:spPr>
          <a:xfrm>
            <a:off x="8275320" y="3108960"/>
            <a:ext cx="3182112" cy="365760"/>
          </a:xfrm>
          <a:prstGeom prst="rect">
            <a:avLst/>
          </a:prstGeom>
          <a:noFill/>
          <a:ln/>
        </p:spPr>
        <p:txBody>
          <a:bodyPr wrap="square" lIns="0" tIns="0" rIns="0" bIns="0" rtlCol="0" anchor="t"/>
          <a:lstStyle/>
          <a:p>
            <a:pPr indent="0" marL="0">
              <a:buNone/>
            </a:pPr>
            <a:r>
              <a:rPr lang="en-US" sz="1600" b="1" dirty="0">
                <a:solidFill>
                  <a:schemeClr val="tx2"/>
                </a:solidFill>
              </a:rPr>
              <a:t>The Okafor household</a:t>
            </a:r>
            <a:endParaRPr lang="en-US" sz="1600" dirty="0"/>
          </a:p>
        </p:txBody>
      </p:sp>
      <p:sp>
        <p:nvSpPr>
          <p:cNvPr id="10" name="text"/>
          <p:cNvSpPr txBox="1"/>
          <p:nvPr/>
        </p:nvSpPr>
        <p:spPr>
          <a:xfrm>
            <a:off x="8275320" y="3566160"/>
            <a:ext cx="3182112" cy="256032"/>
          </a:xfrm>
          <a:prstGeom prst="rect">
            <a:avLst/>
          </a:prstGeom>
          <a:noFill/>
          <a:ln/>
        </p:spPr>
        <p:txBody>
          <a:bodyPr wrap="square" lIns="0" tIns="0" rIns="0" bIns="0" rtlCol="0" anchor="t"/>
          <a:lstStyle/>
          <a:p>
            <a:pPr indent="0" marL="0">
              <a:buNone/>
            </a:pPr>
            <a:r>
              <a:rPr lang="en-US" sz="1100" b="1" dirty="0">
                <a:solidFill>
                  <a:schemeClr val="accent1"/>
                </a:solidFill>
              </a:rPr>
              <a:t>Dana Okafor, 58</a:t>
            </a:r>
            <a:endParaRPr lang="en-US" sz="1100" dirty="0"/>
          </a:p>
        </p:txBody>
      </p:sp>
      <p:sp>
        <p:nvSpPr>
          <p:cNvPr id="11" name="text"/>
          <p:cNvSpPr txBox="1"/>
          <p:nvPr/>
        </p:nvSpPr>
        <p:spPr>
          <a:xfrm>
            <a:off x="8275320" y="3813048"/>
            <a:ext cx="3182112" cy="411480"/>
          </a:xfrm>
          <a:prstGeom prst="rect">
            <a:avLst/>
          </a:prstGeom>
          <a:noFill/>
          <a:ln/>
        </p:spPr>
        <p:txBody>
          <a:bodyPr wrap="square" lIns="0" tIns="0" rIns="0" bIns="0" rtlCol="0" anchor="t"/>
          <a:lstStyle/>
          <a:p>
            <a:pPr indent="0" marL="0">
              <a:buNone/>
            </a:pPr>
            <a:r>
              <a:rPr lang="en-US" sz="950" dirty="0">
                <a:solidFill>
                  <a:schemeClr val="tx1"/>
                </a:solidFill>
              </a:rPr>
              <a:t>Participant in a 401(k) plan the firm recordkeeps; household primary member</a:t>
            </a:r>
            <a:endParaRPr lang="en-US" sz="950" dirty="0"/>
          </a:p>
        </p:txBody>
      </p:sp>
      <p:sp>
        <p:nvSpPr>
          <p:cNvPr id="12" name="text"/>
          <p:cNvSpPr txBox="1"/>
          <p:nvPr/>
        </p:nvSpPr>
        <p:spPr>
          <a:xfrm>
            <a:off x="8275320" y="4224528"/>
            <a:ext cx="3182112" cy="256032"/>
          </a:xfrm>
          <a:prstGeom prst="rect">
            <a:avLst/>
          </a:prstGeom>
          <a:noFill/>
          <a:ln/>
        </p:spPr>
        <p:txBody>
          <a:bodyPr wrap="square" lIns="0" tIns="0" rIns="0" bIns="0" rtlCol="0" anchor="t"/>
          <a:lstStyle/>
          <a:p>
            <a:pPr indent="0" marL="0">
              <a:buNone/>
            </a:pPr>
            <a:r>
              <a:rPr lang="en-US" sz="1100" b="1" dirty="0">
                <a:solidFill>
                  <a:schemeClr val="accent1"/>
                </a:solidFill>
              </a:rPr>
              <a:t>Separated April 2026</a:t>
            </a:r>
            <a:endParaRPr lang="en-US" sz="1100" dirty="0"/>
          </a:p>
        </p:txBody>
      </p:sp>
      <p:sp>
        <p:nvSpPr>
          <p:cNvPr id="13" name="text"/>
          <p:cNvSpPr txBox="1"/>
          <p:nvPr/>
        </p:nvSpPr>
        <p:spPr>
          <a:xfrm>
            <a:off x="8275320" y="4471416"/>
            <a:ext cx="3182112" cy="411480"/>
          </a:xfrm>
          <a:prstGeom prst="rect">
            <a:avLst/>
          </a:prstGeom>
          <a:noFill/>
          <a:ln/>
        </p:spPr>
        <p:txBody>
          <a:bodyPr wrap="square" lIns="0" tIns="0" rIns="0" bIns="0" rtlCol="0" anchor="t"/>
          <a:lstStyle/>
          <a:p>
            <a:pPr indent="0" marL="0">
              <a:buNone/>
            </a:pPr>
            <a:r>
              <a:rPr lang="en-US" sz="950" dirty="0">
                <a:solidFill>
                  <a:schemeClr val="tx1"/>
                </a:solidFill>
              </a:rPr>
              <a:t>Vested balance $640,000; a Participant Retail Hand-Off opened on separation</a:t>
            </a:r>
            <a:endParaRPr lang="en-US" sz="950" dirty="0"/>
          </a:p>
        </p:txBody>
      </p:sp>
      <p:sp>
        <p:nvSpPr>
          <p:cNvPr id="14" name="text"/>
          <p:cNvSpPr txBox="1"/>
          <p:nvPr/>
        </p:nvSpPr>
        <p:spPr>
          <a:xfrm>
            <a:off x="8275320" y="4882896"/>
            <a:ext cx="3182112" cy="256032"/>
          </a:xfrm>
          <a:prstGeom prst="rect">
            <a:avLst/>
          </a:prstGeom>
          <a:noFill/>
          <a:ln/>
        </p:spPr>
        <p:txBody>
          <a:bodyPr wrap="square" lIns="0" tIns="0" rIns="0" bIns="0" rtlCol="0" anchor="t"/>
          <a:lstStyle/>
          <a:p>
            <a:pPr indent="0" marL="0">
              <a:buNone/>
            </a:pPr>
            <a:r>
              <a:rPr lang="en-US" sz="1100" b="1" dirty="0">
                <a:solidFill>
                  <a:schemeClr val="accent1"/>
                </a:solidFill>
              </a:rPr>
              <a:t>Recommendation</a:t>
            </a:r>
            <a:endParaRPr lang="en-US" sz="1100" dirty="0"/>
          </a:p>
        </p:txBody>
      </p:sp>
      <p:sp>
        <p:nvSpPr>
          <p:cNvPr id="15" name="text"/>
          <p:cNvSpPr txBox="1"/>
          <p:nvPr/>
        </p:nvSpPr>
        <p:spPr>
          <a:xfrm>
            <a:off x="8275320" y="5129784"/>
            <a:ext cx="3182112" cy="411480"/>
          </a:xfrm>
          <a:prstGeom prst="rect">
            <a:avLst/>
          </a:prstGeom>
          <a:noFill/>
          <a:ln/>
        </p:spPr>
        <p:txBody>
          <a:bodyPr wrap="square" lIns="0" tIns="0" rIns="0" bIns="0" rtlCol="0" anchor="t"/>
          <a:lstStyle/>
          <a:p>
            <a:pPr indent="0" marL="0">
              <a:buNone/>
            </a:pPr>
            <a:r>
              <a:rPr lang="en-US" sz="950" dirty="0">
                <a:solidFill>
                  <a:schemeClr val="tx1"/>
                </a:solidFill>
              </a:rPr>
              <a:t>Roll over to a firm IRA enrolled in the hybrid advice program; presented by phone, advisor of record assigned</a:t>
            </a:r>
            <a:endParaRPr lang="en-US" sz="950" dirty="0"/>
          </a:p>
        </p:txBody>
      </p:sp>
      <p:sp>
        <p:nvSpPr>
          <p:cNvPr id="16" name="text"/>
          <p:cNvSpPr txBox="1"/>
          <p:nvPr/>
        </p:nvSpPr>
        <p:spPr>
          <a:xfrm>
            <a:off x="8275320" y="5541264"/>
            <a:ext cx="3182112" cy="256032"/>
          </a:xfrm>
          <a:prstGeom prst="rect">
            <a:avLst/>
          </a:prstGeom>
          <a:noFill/>
          <a:ln/>
        </p:spPr>
        <p:txBody>
          <a:bodyPr wrap="square" lIns="0" tIns="0" rIns="0" bIns="0" rtlCol="0" anchor="t"/>
          <a:lstStyle/>
          <a:p>
            <a:pPr indent="0" marL="0">
              <a:buNone/>
            </a:pPr>
            <a:r>
              <a:rPr lang="en-US" sz="1100" b="1" dirty="0">
                <a:solidFill>
                  <a:schemeClr val="accent1"/>
                </a:solidFill>
              </a:rPr>
              <a:t>Rollover received May 2026</a:t>
            </a:r>
            <a:endParaRPr lang="en-US" sz="1100" dirty="0"/>
          </a:p>
        </p:txBody>
      </p:sp>
      <p:sp>
        <p:nvSpPr>
          <p:cNvPr id="17" name="text"/>
          <p:cNvSpPr txBox="1"/>
          <p:nvPr/>
        </p:nvSpPr>
        <p:spPr>
          <a:xfrm>
            <a:off x="8275320" y="5788152"/>
            <a:ext cx="3182112" cy="411480"/>
          </a:xfrm>
          <a:prstGeom prst="rect">
            <a:avLst/>
          </a:prstGeom>
          <a:noFill/>
          <a:ln/>
        </p:spPr>
        <p:txBody>
          <a:bodyPr wrap="square" lIns="0" tIns="0" rIns="0" bIns="0" rtlCol="0" anchor="t"/>
          <a:lstStyle/>
          <a:p>
            <a:pPr indent="0" marL="0">
              <a:buNone/>
            </a:pPr>
            <a:r>
              <a:rPr lang="en-US" sz="950" dirty="0">
                <a:solidFill>
                  <a:schemeClr val="tx1"/>
                </a:solidFill>
              </a:rPr>
              <a:t>$640,000 into the IRA; model assigned; first advisory fee billed in July</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Step 1. Source systems: the target every source maps to</a:t>
            </a:r>
            <a:endParaRPr lang="en-US" sz="2800" dirty="0"/>
          </a:p>
        </p:txBody>
      </p:sp>
      <p:sp>
        <p:nvSpPr>
          <p:cNvPr id="4" name="card"/>
          <p:cNvSpPr/>
          <p:nvPr/>
        </p:nvSpPr>
        <p:spPr>
          <a:xfrm>
            <a:off x="548640" y="1417320"/>
            <a:ext cx="2377440" cy="4800600"/>
          </a:xfrm>
          <a:prstGeom prst="roundRect">
            <a:avLst>
              <a:gd name="adj" fmla="val 3077"/>
            </a:avLst>
          </a:prstGeom>
          <a:solidFill>
            <a:schemeClr val="bg2"/>
          </a:solidFill>
          <a:ln w="12700">
            <a:solidFill>
              <a:schemeClr val="bg2"/>
            </a:solidFill>
            <a:prstDash val="solid"/>
          </a:ln>
        </p:spPr>
      </p:sp>
      <p:sp>
        <p:nvSpPr>
          <p:cNvPr id="5" name="text"/>
          <p:cNvSpPr txBox="1"/>
          <p:nvPr/>
        </p:nvSpPr>
        <p:spPr>
          <a:xfrm>
            <a:off x="731520" y="1581912"/>
            <a:ext cx="2011680" cy="274320"/>
          </a:xfrm>
          <a:prstGeom prst="rect">
            <a:avLst/>
          </a:prstGeom>
          <a:noFill/>
          <a:ln/>
        </p:spPr>
        <p:txBody>
          <a:bodyPr wrap="square" lIns="0" tIns="0" rIns="0" bIns="0" rtlCol="0" anchor="t"/>
          <a:lstStyle/>
          <a:p>
            <a:pPr indent="0" marL="0">
              <a:buNone/>
            </a:pPr>
            <a:r>
              <a:rPr lang="en-US" sz="1000" b="1" dirty="0">
                <a:solidFill>
                  <a:schemeClr val="accent6"/>
                </a:solidFill>
              </a:rPr>
              <a:t>WHERE WE ARE</a:t>
            </a:r>
            <a:endParaRPr lang="en-US" sz="1000" dirty="0"/>
          </a:p>
        </p:txBody>
      </p:sp>
      <p:sp>
        <p:nvSpPr>
          <p:cNvPr id="6" name="chip"/>
          <p:cNvSpPr/>
          <p:nvPr/>
        </p:nvSpPr>
        <p:spPr>
          <a:xfrm>
            <a:off x="749808" y="2057400"/>
            <a:ext cx="384048" cy="384048"/>
          </a:xfrm>
          <a:prstGeom prst="ellipse">
            <a:avLst/>
          </a:prstGeom>
          <a:solidFill>
            <a:schemeClr val="accent6"/>
          </a:solidFill>
          <a:ln w="12700">
            <a:solidFill>
              <a:schemeClr val="accent6"/>
            </a:solidFill>
            <a:prstDash val="solid"/>
          </a:ln>
        </p:spPr>
      </p:sp>
      <p:sp>
        <p:nvSpPr>
          <p:cNvPr id="7" name="text"/>
          <p:cNvSpPr txBox="1"/>
          <p:nvPr/>
        </p:nvSpPr>
        <p:spPr>
          <a:xfrm>
            <a:off x="749808" y="20574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p:cNvSpPr txBox="1"/>
          <p:nvPr/>
        </p:nvSpPr>
        <p:spPr>
          <a:xfrm>
            <a:off x="1243584" y="2039112"/>
            <a:ext cx="1783080" cy="420624"/>
          </a:xfrm>
          <a:prstGeom prst="rect">
            <a:avLst/>
          </a:prstGeom>
          <a:noFill/>
          <a:ln/>
        </p:spPr>
        <p:txBody>
          <a:bodyPr wrap="square" lIns="0" tIns="0" rIns="0" bIns="0" rtlCol="0" anchor="ctr"/>
          <a:lstStyle/>
          <a:p>
            <a:pPr indent="0" marL="0">
              <a:buNone/>
            </a:pPr>
            <a:r>
              <a:rPr lang="en-US" sz="1200" b="1" dirty="0">
                <a:solidFill>
                  <a:schemeClr val="tx1"/>
                </a:solidFill>
              </a:rPr>
              <a:t>Source systems</a:t>
            </a:r>
            <a:endParaRPr lang="en-US" sz="1200" dirty="0"/>
          </a:p>
        </p:txBody>
      </p:sp>
      <p:sp>
        <p:nvSpPr>
          <p:cNvPr id="9" name="chip"/>
          <p:cNvSpPr/>
          <p:nvPr/>
        </p:nvSpPr>
        <p:spPr>
          <a:xfrm>
            <a:off x="749808" y="2898648"/>
            <a:ext cx="384048" cy="384048"/>
          </a:xfrm>
          <a:prstGeom prst="ellipse">
            <a:avLst/>
          </a:prstGeom>
          <a:solidFill>
            <a:schemeClr val="accent1"/>
          </a:solidFill>
          <a:ln w="12700">
            <a:solidFill>
              <a:schemeClr val="accent1"/>
            </a:solidFill>
            <a:prstDash val="solid"/>
          </a:ln>
        </p:spPr>
      </p:sp>
      <p:sp>
        <p:nvSpPr>
          <p:cNvPr id="10" name="text"/>
          <p:cNvSpPr txBox="1"/>
          <p:nvPr/>
        </p:nvSpPr>
        <p:spPr>
          <a:xfrm>
            <a:off x="749808" y="289864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p:cNvSpPr txBox="1"/>
          <p:nvPr/>
        </p:nvSpPr>
        <p:spPr>
          <a:xfrm>
            <a:off x="1243584" y="2880360"/>
            <a:ext cx="1783080" cy="420624"/>
          </a:xfrm>
          <a:prstGeom prst="rect">
            <a:avLst/>
          </a:prstGeom>
          <a:noFill/>
          <a:ln/>
        </p:spPr>
        <p:txBody>
          <a:bodyPr wrap="square" lIns="0" tIns="0" rIns="0" bIns="0" rtlCol="0" anchor="ctr"/>
          <a:lstStyle/>
          <a:p>
            <a:pPr indent="0" marL="0">
              <a:buNone/>
            </a:pPr>
            <a:r>
              <a:rPr lang="en-US" sz="1200" b="1" dirty="0">
                <a:solidFill>
                  <a:schemeClr val="tx1"/>
                </a:solidFill>
              </a:rPr>
              <a:t>Taxonomy</a:t>
            </a:r>
            <a:endParaRPr lang="en-US" sz="1200" dirty="0"/>
          </a:p>
        </p:txBody>
      </p:sp>
      <p:sp>
        <p:nvSpPr>
          <p:cNvPr id="12" name="chip"/>
          <p:cNvSpPr/>
          <p:nvPr/>
        </p:nvSpPr>
        <p:spPr>
          <a:xfrm>
            <a:off x="749808" y="3739896"/>
            <a:ext cx="384048" cy="384048"/>
          </a:xfrm>
          <a:prstGeom prst="ellipse">
            <a:avLst/>
          </a:prstGeom>
          <a:solidFill>
            <a:schemeClr val="bg2"/>
          </a:solidFill>
          <a:ln w="12700">
            <a:solidFill>
              <a:schemeClr val="accent6"/>
            </a:solidFill>
            <a:prstDash val="solid"/>
          </a:ln>
        </p:spPr>
      </p:sp>
      <p:sp>
        <p:nvSpPr>
          <p:cNvPr id="13" name="text"/>
          <p:cNvSpPr txBox="1"/>
          <p:nvPr/>
        </p:nvSpPr>
        <p:spPr>
          <a:xfrm>
            <a:off x="749808" y="3739896"/>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3</a:t>
            </a:r>
            <a:endParaRPr lang="en-US" sz="1200" dirty="0"/>
          </a:p>
        </p:txBody>
      </p:sp>
      <p:sp>
        <p:nvSpPr>
          <p:cNvPr id="14" name="text"/>
          <p:cNvSpPr txBox="1"/>
          <p:nvPr/>
        </p:nvSpPr>
        <p:spPr>
          <a:xfrm>
            <a:off x="1243584" y="3721608"/>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Foundational products</a:t>
            </a:r>
            <a:endParaRPr lang="en-US" sz="1200" dirty="0"/>
          </a:p>
        </p:txBody>
      </p:sp>
      <p:sp>
        <p:nvSpPr>
          <p:cNvPr id="15" name="chip"/>
          <p:cNvSpPr/>
          <p:nvPr/>
        </p:nvSpPr>
        <p:spPr>
          <a:xfrm>
            <a:off x="749808" y="4581144"/>
            <a:ext cx="384048" cy="384048"/>
          </a:xfrm>
          <a:prstGeom prst="ellipse">
            <a:avLst/>
          </a:prstGeom>
          <a:solidFill>
            <a:schemeClr val="bg2"/>
          </a:solidFill>
          <a:ln w="12700">
            <a:solidFill>
              <a:schemeClr val="accent6"/>
            </a:solidFill>
            <a:prstDash val="solid"/>
          </a:ln>
        </p:spPr>
      </p:sp>
      <p:sp>
        <p:nvSpPr>
          <p:cNvPr id="16" name="text"/>
          <p:cNvSpPr txBox="1"/>
          <p:nvPr/>
        </p:nvSpPr>
        <p:spPr>
          <a:xfrm>
            <a:off x="749808" y="4581144"/>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4</a:t>
            </a:r>
            <a:endParaRPr lang="en-US" sz="1200" dirty="0"/>
          </a:p>
        </p:txBody>
      </p:sp>
      <p:sp>
        <p:nvSpPr>
          <p:cNvPr id="17" name="text"/>
          <p:cNvSpPr txBox="1"/>
          <p:nvPr/>
        </p:nvSpPr>
        <p:spPr>
          <a:xfrm>
            <a:off x="1243584" y="4562856"/>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Consumer products</a:t>
            </a:r>
            <a:endParaRPr lang="en-US" sz="1200" dirty="0"/>
          </a:p>
        </p:txBody>
      </p:sp>
      <p:sp>
        <p:nvSpPr>
          <p:cNvPr id="18" name="chip"/>
          <p:cNvSpPr/>
          <p:nvPr/>
        </p:nvSpPr>
        <p:spPr>
          <a:xfrm>
            <a:off x="749808" y="5422392"/>
            <a:ext cx="384048" cy="384048"/>
          </a:xfrm>
          <a:prstGeom prst="ellipse">
            <a:avLst/>
          </a:prstGeom>
          <a:solidFill>
            <a:schemeClr val="bg2"/>
          </a:solidFill>
          <a:ln w="12700">
            <a:solidFill>
              <a:schemeClr val="accent6"/>
            </a:solidFill>
            <a:prstDash val="solid"/>
          </a:ln>
        </p:spPr>
      </p:sp>
      <p:sp>
        <p:nvSpPr>
          <p:cNvPr id="19" name="text"/>
          <p:cNvSpPr txBox="1"/>
          <p:nvPr/>
        </p:nvSpPr>
        <p:spPr>
          <a:xfrm>
            <a:off x="749808" y="5422392"/>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5</a:t>
            </a:r>
            <a:endParaRPr lang="en-US" sz="1200" dirty="0"/>
          </a:p>
        </p:txBody>
      </p:sp>
      <p:sp>
        <p:nvSpPr>
          <p:cNvPr id="20" name="text"/>
          <p:cNvSpPr txBox="1"/>
          <p:nvPr/>
        </p:nvSpPr>
        <p:spPr>
          <a:xfrm>
            <a:off x="1243584" y="5404104"/>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Semantic model and uses</a:t>
            </a:r>
            <a:endParaRPr lang="en-US" sz="1200" dirty="0"/>
          </a:p>
        </p:txBody>
      </p:sp>
      <p:sp>
        <p:nvSpPr>
          <p:cNvPr id="21" name="card"/>
          <p:cNvSpPr/>
          <p:nvPr/>
        </p:nvSpPr>
        <p:spPr>
          <a:xfrm>
            <a:off x="3154680" y="1417320"/>
            <a:ext cx="5120640" cy="475488"/>
          </a:xfrm>
          <a:prstGeom prst="roundRect">
            <a:avLst>
              <a:gd name="adj" fmla="val 15385"/>
            </a:avLst>
          </a:prstGeom>
          <a:solidFill>
            <a:schemeClr val="bg2"/>
          </a:solidFill>
          <a:ln w="12700">
            <a:solidFill>
              <a:schemeClr val="bg2"/>
            </a:solidFill>
            <a:prstDash val="solid"/>
          </a:ln>
        </p:spPr>
      </p:sp>
      <p:sp>
        <p:nvSpPr>
          <p:cNvPr id="22" name="text"/>
          <p:cNvSpPr txBox="1"/>
          <p:nvPr/>
        </p:nvSpPr>
        <p:spPr>
          <a:xfrm>
            <a:off x="3291840" y="1417320"/>
            <a:ext cx="2103120" cy="475488"/>
          </a:xfrm>
          <a:prstGeom prst="rect">
            <a:avLst/>
          </a:prstGeom>
          <a:noFill/>
          <a:ln/>
        </p:spPr>
        <p:txBody>
          <a:bodyPr wrap="square" lIns="0" tIns="0" rIns="0" bIns="0" rtlCol="0" anchor="ctr"/>
          <a:lstStyle/>
          <a:p>
            <a:pPr indent="0" marL="0">
              <a:buNone/>
            </a:pPr>
            <a:r>
              <a:rPr lang="en-US" sz="1050" b="1" dirty="0">
                <a:solidFill>
                  <a:schemeClr val="tx2"/>
                </a:solidFill>
              </a:rPr>
              <a:t>Recordkeeping system</a:t>
            </a:r>
            <a:endParaRPr lang="en-US" sz="1050" dirty="0"/>
          </a:p>
        </p:txBody>
      </p:sp>
      <p:sp>
        <p:nvSpPr>
          <p:cNvPr id="23" name="text"/>
          <p:cNvSpPr txBox="1"/>
          <p:nvPr/>
        </p:nvSpPr>
        <p:spPr>
          <a:xfrm>
            <a:off x="5394960" y="1417320"/>
            <a:ext cx="2377440" cy="475488"/>
          </a:xfrm>
          <a:prstGeom prst="rect">
            <a:avLst/>
          </a:prstGeom>
          <a:noFill/>
          <a:ln/>
        </p:spPr>
        <p:txBody>
          <a:bodyPr wrap="square" lIns="0" tIns="0" rIns="0" bIns="0" rtlCol="0" anchor="ctr"/>
          <a:lstStyle/>
          <a:p>
            <a:pPr indent="0" marL="0">
              <a:buNone/>
            </a:pPr>
            <a:r>
              <a:rPr lang="en-US" sz="850" dirty="0">
                <a:solidFill>
                  <a:schemeClr val="tx1"/>
                </a:solidFill>
              </a:rPr>
              <a:t>Participant, plan membership, separation date, vested balance, distribution request</a:t>
            </a:r>
            <a:endParaRPr lang="en-US" sz="850" dirty="0"/>
          </a:p>
        </p:txBody>
      </p:sp>
      <p:sp>
        <p:nvSpPr>
          <p:cNvPr id="24" name="text"/>
          <p:cNvSpPr txBox="1"/>
          <p:nvPr/>
        </p:nvSpPr>
        <p:spPr>
          <a:xfrm>
            <a:off x="7772400" y="1417320"/>
            <a:ext cx="457200" cy="475488"/>
          </a:xfrm>
          <a:prstGeom prst="rect">
            <a:avLst/>
          </a:prstGeom>
          <a:noFill/>
          <a:ln/>
        </p:spPr>
        <p:txBody>
          <a:bodyPr wrap="square" lIns="0" tIns="0" rIns="0" bIns="0" rtlCol="0" anchor="ctr"/>
          <a:lstStyle/>
          <a:p>
            <a:pPr algn="r" indent="0" marL="0">
              <a:buNone/>
            </a:pPr>
            <a:r>
              <a:rPr lang="en-US" sz="1000" b="1" dirty="0">
                <a:solidFill>
                  <a:schemeClr val="accent1"/>
                </a:solidFill>
              </a:rPr>
              <a:t>16</a:t>
            </a:r>
            <a:endParaRPr lang="en-US" sz="1000" dirty="0"/>
          </a:p>
        </p:txBody>
      </p:sp>
      <p:sp>
        <p:nvSpPr>
          <p:cNvPr id="25" name="card"/>
          <p:cNvSpPr/>
          <p:nvPr/>
        </p:nvSpPr>
        <p:spPr>
          <a:xfrm>
            <a:off x="3154680" y="1965960"/>
            <a:ext cx="5120640" cy="475488"/>
          </a:xfrm>
          <a:prstGeom prst="roundRect">
            <a:avLst>
              <a:gd name="adj" fmla="val 15385"/>
            </a:avLst>
          </a:prstGeom>
          <a:solidFill>
            <a:schemeClr val="bg2"/>
          </a:solidFill>
          <a:ln w="12700">
            <a:solidFill>
              <a:schemeClr val="bg2"/>
            </a:solidFill>
            <a:prstDash val="solid"/>
          </a:ln>
        </p:spPr>
      </p:sp>
      <p:sp>
        <p:nvSpPr>
          <p:cNvPr id="26" name="text"/>
          <p:cNvSpPr txBox="1"/>
          <p:nvPr/>
        </p:nvSpPr>
        <p:spPr>
          <a:xfrm>
            <a:off x="3291840" y="1965960"/>
            <a:ext cx="2103120" cy="475488"/>
          </a:xfrm>
          <a:prstGeom prst="rect">
            <a:avLst/>
          </a:prstGeom>
          <a:noFill/>
          <a:ln/>
        </p:spPr>
        <p:txBody>
          <a:bodyPr wrap="square" lIns="0" tIns="0" rIns="0" bIns="0" rtlCol="0" anchor="ctr"/>
          <a:lstStyle/>
          <a:p>
            <a:pPr indent="0" marL="0">
              <a:buNone/>
            </a:pPr>
            <a:r>
              <a:rPr lang="en-US" sz="1050" b="1" dirty="0">
                <a:solidFill>
                  <a:schemeClr val="tx2"/>
                </a:solidFill>
              </a:rPr>
              <a:t>CRM and client master</a:t>
            </a:r>
            <a:endParaRPr lang="en-US" sz="1050" dirty="0"/>
          </a:p>
        </p:txBody>
      </p:sp>
      <p:sp>
        <p:nvSpPr>
          <p:cNvPr id="27" name="text"/>
          <p:cNvSpPr txBox="1"/>
          <p:nvPr/>
        </p:nvSpPr>
        <p:spPr>
          <a:xfrm>
            <a:off x="5394960" y="1965960"/>
            <a:ext cx="2377440" cy="475488"/>
          </a:xfrm>
          <a:prstGeom prst="rect">
            <a:avLst/>
          </a:prstGeom>
          <a:noFill/>
          <a:ln/>
        </p:spPr>
        <p:txBody>
          <a:bodyPr wrap="square" lIns="0" tIns="0" rIns="0" bIns="0" rtlCol="0" anchor="ctr"/>
          <a:lstStyle/>
          <a:p>
            <a:pPr indent="0" marL="0">
              <a:buNone/>
            </a:pPr>
            <a:r>
              <a:rPr lang="en-US" sz="850" dirty="0">
                <a:solidFill>
                  <a:schemeClr val="tx1"/>
                </a:solidFill>
              </a:rPr>
              <a:t>Household, members, advisor of record, contact and consent</a:t>
            </a:r>
            <a:endParaRPr lang="en-US" sz="850" dirty="0"/>
          </a:p>
        </p:txBody>
      </p:sp>
      <p:sp>
        <p:nvSpPr>
          <p:cNvPr id="28" name="text"/>
          <p:cNvSpPr txBox="1"/>
          <p:nvPr/>
        </p:nvSpPr>
        <p:spPr>
          <a:xfrm>
            <a:off x="7772400" y="1965960"/>
            <a:ext cx="457200" cy="475488"/>
          </a:xfrm>
          <a:prstGeom prst="rect">
            <a:avLst/>
          </a:prstGeom>
          <a:noFill/>
          <a:ln/>
        </p:spPr>
        <p:txBody>
          <a:bodyPr wrap="square" lIns="0" tIns="0" rIns="0" bIns="0" rtlCol="0" anchor="ctr"/>
          <a:lstStyle/>
          <a:p>
            <a:pPr algn="r" indent="0" marL="0">
              <a:buNone/>
            </a:pPr>
            <a:r>
              <a:rPr lang="en-US" sz="1000" b="1" dirty="0">
                <a:solidFill>
                  <a:schemeClr val="accent1"/>
                </a:solidFill>
              </a:rPr>
              <a:t>02, 03</a:t>
            </a:r>
            <a:endParaRPr lang="en-US" sz="1000" dirty="0"/>
          </a:p>
        </p:txBody>
      </p:sp>
      <p:sp>
        <p:nvSpPr>
          <p:cNvPr id="29" name="card"/>
          <p:cNvSpPr/>
          <p:nvPr/>
        </p:nvSpPr>
        <p:spPr>
          <a:xfrm>
            <a:off x="3154680" y="2514600"/>
            <a:ext cx="5120640" cy="475488"/>
          </a:xfrm>
          <a:prstGeom prst="roundRect">
            <a:avLst>
              <a:gd name="adj" fmla="val 15385"/>
            </a:avLst>
          </a:prstGeom>
          <a:solidFill>
            <a:schemeClr val="bg2"/>
          </a:solidFill>
          <a:ln w="12700">
            <a:solidFill>
              <a:schemeClr val="bg2"/>
            </a:solidFill>
            <a:prstDash val="solid"/>
          </a:ln>
        </p:spPr>
      </p:sp>
      <p:sp>
        <p:nvSpPr>
          <p:cNvPr id="30" name="text"/>
          <p:cNvSpPr txBox="1"/>
          <p:nvPr/>
        </p:nvSpPr>
        <p:spPr>
          <a:xfrm>
            <a:off x="3291840" y="2514600"/>
            <a:ext cx="2103120" cy="475488"/>
          </a:xfrm>
          <a:prstGeom prst="rect">
            <a:avLst/>
          </a:prstGeom>
          <a:noFill/>
          <a:ln/>
        </p:spPr>
        <p:txBody>
          <a:bodyPr wrap="square" lIns="0" tIns="0" rIns="0" bIns="0" rtlCol="0" anchor="ctr"/>
          <a:lstStyle/>
          <a:p>
            <a:pPr indent="0" marL="0">
              <a:buNone/>
            </a:pPr>
            <a:r>
              <a:rPr lang="en-US" sz="1050" b="1" dirty="0">
                <a:solidFill>
                  <a:schemeClr val="tx2"/>
                </a:solidFill>
              </a:rPr>
              <a:t>Planning tool and advice engine</a:t>
            </a:r>
            <a:endParaRPr lang="en-US" sz="1050" dirty="0"/>
          </a:p>
        </p:txBody>
      </p:sp>
      <p:sp>
        <p:nvSpPr>
          <p:cNvPr id="31" name="text"/>
          <p:cNvSpPr txBox="1"/>
          <p:nvPr/>
        </p:nvSpPr>
        <p:spPr>
          <a:xfrm>
            <a:off x="5394960" y="2514600"/>
            <a:ext cx="2377440" cy="475488"/>
          </a:xfrm>
          <a:prstGeom prst="rect">
            <a:avLst/>
          </a:prstGeom>
          <a:noFill/>
          <a:ln/>
        </p:spPr>
        <p:txBody>
          <a:bodyPr wrap="square" lIns="0" tIns="0" rIns="0" bIns="0" rtlCol="0" anchor="ctr"/>
          <a:lstStyle/>
          <a:p>
            <a:pPr indent="0" marL="0">
              <a:buNone/>
            </a:pPr>
            <a:r>
              <a:rPr lang="en-US" sz="850" dirty="0">
                <a:solidFill>
                  <a:schemeClr val="tx1"/>
                </a:solidFill>
              </a:rPr>
              <a:t>Recommendation, rationale, alternatives, rollover analysis, PTE 2020-02 documentation</a:t>
            </a:r>
            <a:endParaRPr lang="en-US" sz="850" dirty="0"/>
          </a:p>
        </p:txBody>
      </p:sp>
      <p:sp>
        <p:nvSpPr>
          <p:cNvPr id="32" name="text"/>
          <p:cNvSpPr txBox="1"/>
          <p:nvPr/>
        </p:nvSpPr>
        <p:spPr>
          <a:xfrm>
            <a:off x="7772400" y="2514600"/>
            <a:ext cx="457200" cy="475488"/>
          </a:xfrm>
          <a:prstGeom prst="rect">
            <a:avLst/>
          </a:prstGeom>
          <a:noFill/>
          <a:ln/>
        </p:spPr>
        <p:txBody>
          <a:bodyPr wrap="square" lIns="0" tIns="0" rIns="0" bIns="0" rtlCol="0" anchor="ctr"/>
          <a:lstStyle/>
          <a:p>
            <a:pPr algn="r" indent="0" marL="0">
              <a:buNone/>
            </a:pPr>
            <a:r>
              <a:rPr lang="en-US" sz="1000" b="1" dirty="0">
                <a:solidFill>
                  <a:schemeClr val="accent1"/>
                </a:solidFill>
              </a:rPr>
              <a:t>45</a:t>
            </a:r>
            <a:endParaRPr lang="en-US" sz="1000" dirty="0"/>
          </a:p>
        </p:txBody>
      </p:sp>
      <p:sp>
        <p:nvSpPr>
          <p:cNvPr id="33" name="card"/>
          <p:cNvSpPr/>
          <p:nvPr/>
        </p:nvSpPr>
        <p:spPr>
          <a:xfrm>
            <a:off x="3154680" y="3063240"/>
            <a:ext cx="5120640" cy="475488"/>
          </a:xfrm>
          <a:prstGeom prst="roundRect">
            <a:avLst>
              <a:gd name="adj" fmla="val 15385"/>
            </a:avLst>
          </a:prstGeom>
          <a:solidFill>
            <a:schemeClr val="bg2"/>
          </a:solidFill>
          <a:ln w="12700">
            <a:solidFill>
              <a:schemeClr val="bg2"/>
            </a:solidFill>
            <a:prstDash val="solid"/>
          </a:ln>
        </p:spPr>
      </p:sp>
      <p:sp>
        <p:nvSpPr>
          <p:cNvPr id="34" name="text"/>
          <p:cNvSpPr txBox="1"/>
          <p:nvPr/>
        </p:nvSpPr>
        <p:spPr>
          <a:xfrm>
            <a:off x="3291840" y="3063240"/>
            <a:ext cx="2103120" cy="475488"/>
          </a:xfrm>
          <a:prstGeom prst="rect">
            <a:avLst/>
          </a:prstGeom>
          <a:noFill/>
          <a:ln/>
        </p:spPr>
        <p:txBody>
          <a:bodyPr wrap="square" lIns="0" tIns="0" rIns="0" bIns="0" rtlCol="0" anchor="ctr"/>
          <a:lstStyle/>
          <a:p>
            <a:pPr indent="0" marL="0">
              <a:buNone/>
            </a:pPr>
            <a:r>
              <a:rPr lang="en-US" sz="1050" b="1" dirty="0">
                <a:solidFill>
                  <a:schemeClr val="tx2"/>
                </a:solidFill>
              </a:rPr>
              <a:t>Account opening and account master</a:t>
            </a:r>
            <a:endParaRPr lang="en-US" sz="1050" dirty="0"/>
          </a:p>
        </p:txBody>
      </p:sp>
      <p:sp>
        <p:nvSpPr>
          <p:cNvPr id="35" name="text"/>
          <p:cNvSpPr txBox="1"/>
          <p:nvPr/>
        </p:nvSpPr>
        <p:spPr>
          <a:xfrm>
            <a:off x="5394960" y="3063240"/>
            <a:ext cx="2377440" cy="475488"/>
          </a:xfrm>
          <a:prstGeom prst="rect">
            <a:avLst/>
          </a:prstGeom>
          <a:noFill/>
          <a:ln/>
        </p:spPr>
        <p:txBody>
          <a:bodyPr wrap="square" lIns="0" tIns="0" rIns="0" bIns="0" rtlCol="0" anchor="ctr"/>
          <a:lstStyle/>
          <a:p>
            <a:pPr indent="0" marL="0">
              <a:buNone/>
            </a:pPr>
            <a:r>
              <a:rPr lang="en-US" sz="850" dirty="0">
                <a:solidFill>
                  <a:schemeClr val="tx1"/>
                </a:solidFill>
              </a:rPr>
              <a:t>IRA registration, agreements, disclosures delivered, program enrollment</a:t>
            </a:r>
            <a:endParaRPr lang="en-US" sz="850" dirty="0"/>
          </a:p>
        </p:txBody>
      </p:sp>
      <p:sp>
        <p:nvSpPr>
          <p:cNvPr id="36" name="text"/>
          <p:cNvSpPr txBox="1"/>
          <p:nvPr/>
        </p:nvSpPr>
        <p:spPr>
          <a:xfrm>
            <a:off x="7772400" y="3063240"/>
            <a:ext cx="457200" cy="475488"/>
          </a:xfrm>
          <a:prstGeom prst="rect">
            <a:avLst/>
          </a:prstGeom>
          <a:noFill/>
          <a:ln/>
        </p:spPr>
        <p:txBody>
          <a:bodyPr wrap="square" lIns="0" tIns="0" rIns="0" bIns="0" rtlCol="0" anchor="ctr"/>
          <a:lstStyle/>
          <a:p>
            <a:pPr algn="r" indent="0" marL="0">
              <a:buNone/>
            </a:pPr>
            <a:r>
              <a:rPr lang="en-US" sz="1000" b="1" dirty="0">
                <a:solidFill>
                  <a:schemeClr val="accent1"/>
                </a:solidFill>
              </a:rPr>
              <a:t>15</a:t>
            </a:r>
            <a:endParaRPr lang="en-US" sz="1000" dirty="0"/>
          </a:p>
        </p:txBody>
      </p:sp>
      <p:sp>
        <p:nvSpPr>
          <p:cNvPr id="37" name="card"/>
          <p:cNvSpPr/>
          <p:nvPr/>
        </p:nvSpPr>
        <p:spPr>
          <a:xfrm>
            <a:off x="3154680" y="3611880"/>
            <a:ext cx="5120640" cy="475488"/>
          </a:xfrm>
          <a:prstGeom prst="roundRect">
            <a:avLst>
              <a:gd name="adj" fmla="val 15385"/>
            </a:avLst>
          </a:prstGeom>
          <a:solidFill>
            <a:schemeClr val="bg2"/>
          </a:solidFill>
          <a:ln w="12700">
            <a:solidFill>
              <a:schemeClr val="bg2"/>
            </a:solidFill>
            <a:prstDash val="solid"/>
          </a:ln>
        </p:spPr>
      </p:sp>
      <p:sp>
        <p:nvSpPr>
          <p:cNvPr id="38" name="text"/>
          <p:cNvSpPr txBox="1"/>
          <p:nvPr/>
        </p:nvSpPr>
        <p:spPr>
          <a:xfrm>
            <a:off x="3291840" y="3611880"/>
            <a:ext cx="2103120" cy="475488"/>
          </a:xfrm>
          <a:prstGeom prst="rect">
            <a:avLst/>
          </a:prstGeom>
          <a:noFill/>
          <a:ln/>
        </p:spPr>
        <p:txBody>
          <a:bodyPr wrap="square" lIns="0" tIns="0" rIns="0" bIns="0" rtlCol="0" anchor="ctr"/>
          <a:lstStyle/>
          <a:p>
            <a:pPr indent="0" marL="0">
              <a:buNone/>
            </a:pPr>
            <a:r>
              <a:rPr lang="en-US" sz="1050" b="1" dirty="0">
                <a:solidFill>
                  <a:schemeClr val="tx2"/>
                </a:solidFill>
              </a:rPr>
              <a:t>Clearing, books and billing engine</a:t>
            </a:r>
            <a:endParaRPr lang="en-US" sz="1050" dirty="0"/>
          </a:p>
        </p:txBody>
      </p:sp>
      <p:sp>
        <p:nvSpPr>
          <p:cNvPr id="39" name="text"/>
          <p:cNvSpPr txBox="1"/>
          <p:nvPr/>
        </p:nvSpPr>
        <p:spPr>
          <a:xfrm>
            <a:off x="5394960" y="3611880"/>
            <a:ext cx="2377440" cy="475488"/>
          </a:xfrm>
          <a:prstGeom prst="rect">
            <a:avLst/>
          </a:prstGeom>
          <a:noFill/>
          <a:ln/>
        </p:spPr>
        <p:txBody>
          <a:bodyPr wrap="square" lIns="0" tIns="0" rIns="0" bIns="0" rtlCol="0" anchor="ctr"/>
          <a:lstStyle/>
          <a:p>
            <a:pPr indent="0" marL="0">
              <a:buNone/>
            </a:pPr>
            <a:r>
              <a:rPr lang="en-US" sz="850" dirty="0">
                <a:solidFill>
                  <a:schemeClr val="tx1"/>
                </a:solidFill>
              </a:rPr>
              <a:t>Rollover contribution received, holdings and lots, cash; fee schedule and first billing run</a:t>
            </a:r>
            <a:endParaRPr lang="en-US" sz="850" dirty="0"/>
          </a:p>
        </p:txBody>
      </p:sp>
      <p:sp>
        <p:nvSpPr>
          <p:cNvPr id="40" name="text"/>
          <p:cNvSpPr txBox="1"/>
          <p:nvPr/>
        </p:nvSpPr>
        <p:spPr>
          <a:xfrm>
            <a:off x="7772400" y="3611880"/>
            <a:ext cx="457200" cy="475488"/>
          </a:xfrm>
          <a:prstGeom prst="rect">
            <a:avLst/>
          </a:prstGeom>
          <a:noFill/>
          <a:ln/>
        </p:spPr>
        <p:txBody>
          <a:bodyPr wrap="square" lIns="0" tIns="0" rIns="0" bIns="0" rtlCol="0" anchor="ctr"/>
          <a:lstStyle/>
          <a:p>
            <a:pPr algn="r" indent="0" marL="0">
              <a:buNone/>
            </a:pPr>
            <a:r>
              <a:rPr lang="en-US" sz="1000" b="1" dirty="0">
                <a:solidFill>
                  <a:schemeClr val="accent1"/>
                </a:solidFill>
              </a:rPr>
              <a:t>49, 50, 47</a:t>
            </a:r>
            <a:endParaRPr lang="en-US" sz="1000" dirty="0"/>
          </a:p>
        </p:txBody>
      </p:sp>
      <p:sp>
        <p:nvSpPr>
          <p:cNvPr id="41" name="card"/>
          <p:cNvSpPr/>
          <p:nvPr/>
        </p:nvSpPr>
        <p:spPr>
          <a:xfrm>
            <a:off x="3154680" y="4160520"/>
            <a:ext cx="5120640" cy="475488"/>
          </a:xfrm>
          <a:prstGeom prst="roundRect">
            <a:avLst>
              <a:gd name="adj" fmla="val 15385"/>
            </a:avLst>
          </a:prstGeom>
          <a:solidFill>
            <a:schemeClr val="bg2"/>
          </a:solidFill>
          <a:ln w="12700">
            <a:solidFill>
              <a:schemeClr val="bg2"/>
            </a:solidFill>
            <a:prstDash val="solid"/>
          </a:ln>
        </p:spPr>
      </p:sp>
      <p:sp>
        <p:nvSpPr>
          <p:cNvPr id="42" name="text"/>
          <p:cNvSpPr txBox="1"/>
          <p:nvPr/>
        </p:nvSpPr>
        <p:spPr>
          <a:xfrm>
            <a:off x="3291840" y="4160520"/>
            <a:ext cx="2103120" cy="475488"/>
          </a:xfrm>
          <a:prstGeom prst="rect">
            <a:avLst/>
          </a:prstGeom>
          <a:noFill/>
          <a:ln/>
        </p:spPr>
        <p:txBody>
          <a:bodyPr wrap="square" lIns="0" tIns="0" rIns="0" bIns="0" rtlCol="0" anchor="ctr"/>
          <a:lstStyle/>
          <a:p>
            <a:pPr indent="0" marL="0">
              <a:buNone/>
            </a:pPr>
            <a:r>
              <a:rPr lang="en-US" sz="1050" b="1" dirty="0">
                <a:solidFill>
                  <a:schemeClr val="tx2"/>
                </a:solidFill>
              </a:rPr>
              <a:t>Surveillance platform</a:t>
            </a:r>
            <a:endParaRPr lang="en-US" sz="1050" dirty="0"/>
          </a:p>
        </p:txBody>
      </p:sp>
      <p:sp>
        <p:nvSpPr>
          <p:cNvPr id="43" name="text"/>
          <p:cNvSpPr txBox="1"/>
          <p:nvPr/>
        </p:nvSpPr>
        <p:spPr>
          <a:xfrm>
            <a:off x="5394960" y="4160520"/>
            <a:ext cx="2377440" cy="475488"/>
          </a:xfrm>
          <a:prstGeom prst="rect">
            <a:avLst/>
          </a:prstGeom>
          <a:noFill/>
          <a:ln/>
        </p:spPr>
        <p:txBody>
          <a:bodyPr wrap="square" lIns="0" tIns="0" rIns="0" bIns="0" rtlCol="0" anchor="ctr"/>
          <a:lstStyle/>
          <a:p>
            <a:pPr indent="0" marL="0">
              <a:buNone/>
            </a:pPr>
            <a:r>
              <a:rPr lang="en-US" sz="850" dirty="0">
                <a:solidFill>
                  <a:schemeClr val="tx1"/>
                </a:solidFill>
              </a:rPr>
              <a:t>Principal review of the recommendation; supervisory review of the rollover</a:t>
            </a:r>
            <a:endParaRPr lang="en-US" sz="850" dirty="0"/>
          </a:p>
        </p:txBody>
      </p:sp>
      <p:sp>
        <p:nvSpPr>
          <p:cNvPr id="44" name="text"/>
          <p:cNvSpPr txBox="1"/>
          <p:nvPr/>
        </p:nvSpPr>
        <p:spPr>
          <a:xfrm>
            <a:off x="7772400" y="4160520"/>
            <a:ext cx="457200" cy="475488"/>
          </a:xfrm>
          <a:prstGeom prst="rect">
            <a:avLst/>
          </a:prstGeom>
          <a:noFill/>
          <a:ln/>
        </p:spPr>
        <p:txBody>
          <a:bodyPr wrap="square" lIns="0" tIns="0" rIns="0" bIns="0" rtlCol="0" anchor="ctr"/>
          <a:lstStyle/>
          <a:p>
            <a:pPr algn="r" indent="0" marL="0">
              <a:buNone/>
            </a:pPr>
            <a:r>
              <a:rPr lang="en-US" sz="1000" b="1" dirty="0">
                <a:solidFill>
                  <a:schemeClr val="accent1"/>
                </a:solidFill>
              </a:rPr>
              <a:t>08</a:t>
            </a:r>
            <a:endParaRPr lang="en-US" sz="1000" dirty="0"/>
          </a:p>
        </p:txBody>
      </p:sp>
      <p:sp>
        <p:nvSpPr>
          <p:cNvPr id="45" name="text"/>
          <p:cNvSpPr txBox="1"/>
          <p:nvPr/>
        </p:nvSpPr>
        <p:spPr>
          <a:xfrm>
            <a:off x="3154680" y="4754880"/>
            <a:ext cx="5120640" cy="457200"/>
          </a:xfrm>
          <a:prstGeom prst="rect">
            <a:avLst/>
          </a:prstGeom>
          <a:noFill/>
          <a:ln/>
        </p:spPr>
        <p:txBody>
          <a:bodyPr wrap="square" lIns="0" tIns="0" rIns="0" bIns="0" rtlCol="0" anchor="t"/>
          <a:lstStyle/>
          <a:p>
            <a:pPr indent="0" marL="0">
              <a:buNone/>
            </a:pPr>
            <a:r>
              <a:rPr lang="en-US" sz="950" i="1" dirty="0">
                <a:solidFill>
                  <a:schemeClr val="accent6"/>
                </a:solidFill>
              </a:rPr>
              <a:t>Named by type. Mapping to the firm's actual systems is Phase D; each product's lineage is the list of attributes to map.</a:t>
            </a:r>
            <a:endParaRPr lang="en-US" sz="950" dirty="0"/>
          </a:p>
        </p:txBody>
      </p:sp>
      <p:sp>
        <p:nvSpPr>
          <p:cNvPr id="46" name="card"/>
          <p:cNvSpPr/>
          <p:nvPr/>
        </p:nvSpPr>
        <p:spPr>
          <a:xfrm>
            <a:off x="8503920" y="1417320"/>
            <a:ext cx="3139135" cy="4800600"/>
          </a:xfrm>
          <a:prstGeom prst="roundRect">
            <a:avLst>
              <a:gd name="adj" fmla="val 2330"/>
            </a:avLst>
          </a:prstGeom>
          <a:solidFill>
            <a:schemeClr val="tx2"/>
          </a:solidFill>
          <a:ln w="12700">
            <a:solidFill>
              <a:schemeClr val="tx2"/>
            </a:solidFill>
            <a:prstDash val="solid"/>
          </a:ln>
        </p:spPr>
      </p:sp>
      <p:sp>
        <p:nvSpPr>
          <p:cNvPr id="47" name="text"/>
          <p:cNvSpPr txBox="1"/>
          <p:nvPr/>
        </p:nvSpPr>
        <p:spPr>
          <a:xfrm>
            <a:off x="8686800" y="1554480"/>
            <a:ext cx="2773375" cy="274320"/>
          </a:xfrm>
          <a:prstGeom prst="rect">
            <a:avLst/>
          </a:prstGeom>
          <a:noFill/>
          <a:ln/>
        </p:spPr>
        <p:txBody>
          <a:bodyPr wrap="square" lIns="0" tIns="0" rIns="0" bIns="0" rtlCol="0" anchor="t"/>
          <a:lstStyle/>
          <a:p>
            <a:pPr indent="0" marL="0">
              <a:buNone/>
            </a:pPr>
            <a:r>
              <a:rPr lang="en-US" sz="950" b="1" dirty="0">
                <a:solidFill>
                  <a:schemeClr val="accent4"/>
                </a:solidFill>
              </a:rPr>
              <a:t>WHAT THE TAXONOMY SETTLES FIRST</a:t>
            </a:r>
            <a:endParaRPr lang="en-US" sz="950" dirty="0"/>
          </a:p>
        </p:txBody>
      </p:sp>
      <p:sp>
        <p:nvSpPr>
          <p:cNvPr id="48" name="text"/>
          <p:cNvSpPr txBox="1"/>
          <p:nvPr/>
        </p:nvSpPr>
        <p:spPr>
          <a:xfrm>
            <a:off x="8686800" y="1920240"/>
            <a:ext cx="2773375" cy="320040"/>
          </a:xfrm>
          <a:prstGeom prst="rect">
            <a:avLst/>
          </a:prstGeom>
          <a:noFill/>
          <a:ln/>
        </p:spPr>
        <p:txBody>
          <a:bodyPr wrap="square" lIns="0" tIns="0" rIns="0" bIns="0" rtlCol="0" anchor="t"/>
          <a:lstStyle/>
          <a:p>
            <a:pPr indent="0" marL="0">
              <a:buNone/>
            </a:pPr>
            <a:r>
              <a:rPr lang="en-US" sz="1200" b="1" dirty="0">
                <a:solidFill>
                  <a:schemeClr val="bg1"/>
                </a:solidFill>
              </a:rPr>
              <a:t>What each field means</a:t>
            </a:r>
            <a:endParaRPr lang="en-US" sz="1200" dirty="0"/>
          </a:p>
        </p:txBody>
      </p:sp>
      <p:sp>
        <p:nvSpPr>
          <p:cNvPr id="49" name="text"/>
          <p:cNvSpPr txBox="1"/>
          <p:nvPr/>
        </p:nvSpPr>
        <p:spPr>
          <a:xfrm>
            <a:off x="8686800" y="2258568"/>
            <a:ext cx="2773375" cy="1051560"/>
          </a:xfrm>
          <a:prstGeom prst="rect">
            <a:avLst/>
          </a:prstGeom>
          <a:noFill/>
          <a:ln/>
        </p:spPr>
        <p:txBody>
          <a:bodyPr wrap="square" lIns="0" tIns="0" rIns="0" bIns="0" rtlCol="0" anchor="t"/>
          <a:lstStyle/>
          <a:p>
            <a:pPr indent="0" marL="0">
              <a:buNone/>
            </a:pPr>
            <a:r>
              <a:rPr lang="en-US" sz="1000" dirty="0">
                <a:solidFill>
                  <a:schemeClr val="bg2"/>
                </a:solidFill>
              </a:rPr>
              <a:t>Rollover Amount is a derived copy of the 16 vested balance, row rule stated. The PTE 2020-02 documentation is four named attributes: three delivery dates (acknowledgment, services and conflicts disclosure, reasons) and the impartial conduct attestation, each citing the exemption.</a:t>
            </a:r>
            <a:endParaRPr lang="en-US" sz="1000" dirty="0"/>
          </a:p>
        </p:txBody>
      </p:sp>
      <p:sp>
        <p:nvSpPr>
          <p:cNvPr id="50" name="text"/>
          <p:cNvSpPr txBox="1"/>
          <p:nvPr/>
        </p:nvSpPr>
        <p:spPr>
          <a:xfrm>
            <a:off x="8686800" y="3337560"/>
            <a:ext cx="2773375" cy="320040"/>
          </a:xfrm>
          <a:prstGeom prst="rect">
            <a:avLst/>
          </a:prstGeom>
          <a:noFill/>
          <a:ln/>
        </p:spPr>
        <p:txBody>
          <a:bodyPr wrap="square" lIns="0" tIns="0" rIns="0" bIns="0" rtlCol="0" anchor="t"/>
          <a:lstStyle/>
          <a:p>
            <a:pPr indent="0" marL="0">
              <a:buNone/>
            </a:pPr>
            <a:r>
              <a:rPr lang="en-US" sz="1200" b="1" dirty="0">
                <a:solidFill>
                  <a:schemeClr val="bg1"/>
                </a:solidFill>
              </a:rPr>
              <a:t>Who is right when sources disagree</a:t>
            </a:r>
            <a:endParaRPr lang="en-US" sz="1200" dirty="0"/>
          </a:p>
        </p:txBody>
      </p:sp>
      <p:sp>
        <p:nvSpPr>
          <p:cNvPr id="51" name="text"/>
          <p:cNvSpPr txBox="1"/>
          <p:nvPr/>
        </p:nvSpPr>
        <p:spPr>
          <a:xfrm>
            <a:off x="8686800" y="3675888"/>
            <a:ext cx="2773375" cy="1051560"/>
          </a:xfrm>
          <a:prstGeom prst="rect">
            <a:avLst/>
          </a:prstGeom>
          <a:noFill/>
          <a:ln/>
        </p:spPr>
        <p:txBody>
          <a:bodyPr wrap="square" lIns="0" tIns="0" rIns="0" bIns="0" rtlCol="0" anchor="t"/>
          <a:lstStyle/>
          <a:p>
            <a:pPr indent="0" marL="0">
              <a:buNone/>
            </a:pPr>
            <a:r>
              <a:rPr lang="en-US" sz="1000" dirty="0">
                <a:solidFill>
                  <a:schemeClr val="bg2"/>
                </a:solidFill>
              </a:rPr>
              <a:t>02 masters the party. Dana is one PTY- identifier in every system; the participant who opens a direct account keeps it and gains client roles. The recordkeeper and the CRM do not get a vote each month.</a:t>
            </a:r>
            <a:endParaRPr lang="en-US" sz="1000" dirty="0"/>
          </a:p>
        </p:txBody>
      </p:sp>
      <p:sp>
        <p:nvSpPr>
          <p:cNvPr id="52" name="text"/>
          <p:cNvSpPr txBox="1"/>
          <p:nvPr/>
        </p:nvSpPr>
        <p:spPr>
          <a:xfrm>
            <a:off x="8686800" y="4754880"/>
            <a:ext cx="2773375" cy="320040"/>
          </a:xfrm>
          <a:prstGeom prst="rect">
            <a:avLst/>
          </a:prstGeom>
          <a:noFill/>
          <a:ln/>
        </p:spPr>
        <p:txBody>
          <a:bodyPr wrap="square" lIns="0" tIns="0" rIns="0" bIns="0" rtlCol="0" anchor="t"/>
          <a:lstStyle/>
          <a:p>
            <a:pPr indent="0" marL="0">
              <a:buNone/>
            </a:pPr>
            <a:r>
              <a:rPr lang="en-US" sz="1200" b="1" dirty="0">
                <a:solidFill>
                  <a:schemeClr val="bg1"/>
                </a:solidFill>
              </a:rPr>
              <a:t>How to keep the trail</a:t>
            </a:r>
            <a:endParaRPr lang="en-US" sz="1200" dirty="0"/>
          </a:p>
        </p:txBody>
      </p:sp>
      <p:sp>
        <p:nvSpPr>
          <p:cNvPr id="53" name="text"/>
          <p:cNvSpPr txBox="1"/>
          <p:nvPr/>
        </p:nvSpPr>
        <p:spPr>
          <a:xfrm>
            <a:off x="8686800" y="5093208"/>
            <a:ext cx="2773375" cy="1051560"/>
          </a:xfrm>
          <a:prstGeom prst="rect">
            <a:avLst/>
          </a:prstGeom>
          <a:noFill/>
          <a:ln/>
        </p:spPr>
        <p:txBody>
          <a:bodyPr wrap="square" lIns="0" tIns="0" rIns="0" bIns="0" rtlCol="0" anchor="t"/>
          <a:lstStyle/>
          <a:p>
            <a:pPr indent="0" marL="0">
              <a:buNone/>
            </a:pPr>
            <a:r>
              <a:rPr lang="en-US" sz="1000" dirty="0">
                <a:solidFill>
                  <a:schemeClr val="bg2"/>
                </a:solidFill>
              </a:rPr>
              <a:t>Source identifiers (participant number, CRM record, account number) travel alongside the resolved ID, with the feed and the load each record came from.</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Step 2. Foundational products: each core thing cleaned up once</a:t>
            </a:r>
            <a:endParaRPr lang="en-US" sz="2800" dirty="0"/>
          </a:p>
        </p:txBody>
      </p:sp>
      <p:sp>
        <p:nvSpPr>
          <p:cNvPr id="4" name="card"/>
          <p:cNvSpPr/>
          <p:nvPr/>
        </p:nvSpPr>
        <p:spPr>
          <a:xfrm>
            <a:off x="548640" y="1417320"/>
            <a:ext cx="2377440" cy="4800600"/>
          </a:xfrm>
          <a:prstGeom prst="roundRect">
            <a:avLst>
              <a:gd name="adj" fmla="val 3077"/>
            </a:avLst>
          </a:prstGeom>
          <a:solidFill>
            <a:schemeClr val="bg2"/>
          </a:solidFill>
          <a:ln w="12700">
            <a:solidFill>
              <a:schemeClr val="bg2"/>
            </a:solidFill>
            <a:prstDash val="solid"/>
          </a:ln>
        </p:spPr>
      </p:sp>
      <p:sp>
        <p:nvSpPr>
          <p:cNvPr id="5" name="text"/>
          <p:cNvSpPr txBox="1"/>
          <p:nvPr/>
        </p:nvSpPr>
        <p:spPr>
          <a:xfrm>
            <a:off x="731520" y="1581912"/>
            <a:ext cx="2011680" cy="274320"/>
          </a:xfrm>
          <a:prstGeom prst="rect">
            <a:avLst/>
          </a:prstGeom>
          <a:noFill/>
          <a:ln/>
        </p:spPr>
        <p:txBody>
          <a:bodyPr wrap="square" lIns="0" tIns="0" rIns="0" bIns="0" rtlCol="0" anchor="t"/>
          <a:lstStyle/>
          <a:p>
            <a:pPr indent="0" marL="0">
              <a:buNone/>
            </a:pPr>
            <a:r>
              <a:rPr lang="en-US" sz="1000" b="1" dirty="0">
                <a:solidFill>
                  <a:schemeClr val="accent6"/>
                </a:solidFill>
              </a:rPr>
              <a:t>WHERE WE ARE</a:t>
            </a:r>
            <a:endParaRPr lang="en-US" sz="1000" dirty="0"/>
          </a:p>
        </p:txBody>
      </p:sp>
      <p:sp>
        <p:nvSpPr>
          <p:cNvPr id="6" name="chip"/>
          <p:cNvSpPr/>
          <p:nvPr/>
        </p:nvSpPr>
        <p:spPr>
          <a:xfrm>
            <a:off x="749808" y="2057400"/>
            <a:ext cx="384048" cy="384048"/>
          </a:xfrm>
          <a:prstGeom prst="ellipse">
            <a:avLst/>
          </a:prstGeom>
          <a:solidFill>
            <a:schemeClr val="bg2"/>
          </a:solidFill>
          <a:ln w="12700">
            <a:solidFill>
              <a:schemeClr val="accent6"/>
            </a:solidFill>
            <a:prstDash val="solid"/>
          </a:ln>
        </p:spPr>
      </p:sp>
      <p:sp>
        <p:nvSpPr>
          <p:cNvPr id="7" name="text"/>
          <p:cNvSpPr txBox="1"/>
          <p:nvPr/>
        </p:nvSpPr>
        <p:spPr>
          <a:xfrm>
            <a:off x="749808" y="2057400"/>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1</a:t>
            </a:r>
            <a:endParaRPr lang="en-US" sz="1200" dirty="0"/>
          </a:p>
        </p:txBody>
      </p:sp>
      <p:sp>
        <p:nvSpPr>
          <p:cNvPr id="8" name="text"/>
          <p:cNvSpPr txBox="1"/>
          <p:nvPr/>
        </p:nvSpPr>
        <p:spPr>
          <a:xfrm>
            <a:off x="1243584" y="2039112"/>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Source systems</a:t>
            </a:r>
            <a:endParaRPr lang="en-US" sz="1200" dirty="0"/>
          </a:p>
        </p:txBody>
      </p:sp>
      <p:sp>
        <p:nvSpPr>
          <p:cNvPr id="9" name="chip"/>
          <p:cNvSpPr/>
          <p:nvPr/>
        </p:nvSpPr>
        <p:spPr>
          <a:xfrm>
            <a:off x="749808" y="2898648"/>
            <a:ext cx="384048" cy="384048"/>
          </a:xfrm>
          <a:prstGeom prst="ellipse">
            <a:avLst/>
          </a:prstGeom>
          <a:solidFill>
            <a:schemeClr val="bg2"/>
          </a:solidFill>
          <a:ln w="12700">
            <a:solidFill>
              <a:schemeClr val="accent6"/>
            </a:solidFill>
            <a:prstDash val="solid"/>
          </a:ln>
        </p:spPr>
      </p:sp>
      <p:sp>
        <p:nvSpPr>
          <p:cNvPr id="10" name="text"/>
          <p:cNvSpPr txBox="1"/>
          <p:nvPr/>
        </p:nvSpPr>
        <p:spPr>
          <a:xfrm>
            <a:off x="749808" y="2898648"/>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2</a:t>
            </a:r>
            <a:endParaRPr lang="en-US" sz="1200" dirty="0"/>
          </a:p>
        </p:txBody>
      </p:sp>
      <p:sp>
        <p:nvSpPr>
          <p:cNvPr id="11" name="text"/>
          <p:cNvSpPr txBox="1"/>
          <p:nvPr/>
        </p:nvSpPr>
        <p:spPr>
          <a:xfrm>
            <a:off x="1243584" y="2880360"/>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Taxonomy</a:t>
            </a:r>
            <a:endParaRPr lang="en-US" sz="1200" dirty="0"/>
          </a:p>
        </p:txBody>
      </p:sp>
      <p:sp>
        <p:nvSpPr>
          <p:cNvPr id="12" name="chip"/>
          <p:cNvSpPr/>
          <p:nvPr/>
        </p:nvSpPr>
        <p:spPr>
          <a:xfrm>
            <a:off x="749808" y="3739896"/>
            <a:ext cx="384048" cy="384048"/>
          </a:xfrm>
          <a:prstGeom prst="ellipse">
            <a:avLst/>
          </a:prstGeom>
          <a:solidFill>
            <a:schemeClr val="accent2"/>
          </a:solidFill>
          <a:ln w="12700">
            <a:solidFill>
              <a:schemeClr val="accent2"/>
            </a:solidFill>
            <a:prstDash val="solid"/>
          </a:ln>
        </p:spPr>
      </p:sp>
      <p:sp>
        <p:nvSpPr>
          <p:cNvPr id="13" name="text"/>
          <p:cNvSpPr txBox="1"/>
          <p:nvPr/>
        </p:nvSpPr>
        <p:spPr>
          <a:xfrm>
            <a:off x="749808" y="373989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p:cNvSpPr txBox="1"/>
          <p:nvPr/>
        </p:nvSpPr>
        <p:spPr>
          <a:xfrm>
            <a:off x="1243584" y="3721608"/>
            <a:ext cx="1783080" cy="420624"/>
          </a:xfrm>
          <a:prstGeom prst="rect">
            <a:avLst/>
          </a:prstGeom>
          <a:noFill/>
          <a:ln/>
        </p:spPr>
        <p:txBody>
          <a:bodyPr wrap="square" lIns="0" tIns="0" rIns="0" bIns="0" rtlCol="0" anchor="ctr"/>
          <a:lstStyle/>
          <a:p>
            <a:pPr indent="0" marL="0">
              <a:buNone/>
            </a:pPr>
            <a:r>
              <a:rPr lang="en-US" sz="1200" b="1" dirty="0">
                <a:solidFill>
                  <a:schemeClr val="tx1"/>
                </a:solidFill>
              </a:rPr>
              <a:t>Foundational products</a:t>
            </a:r>
            <a:endParaRPr lang="en-US" sz="1200" dirty="0"/>
          </a:p>
        </p:txBody>
      </p:sp>
      <p:sp>
        <p:nvSpPr>
          <p:cNvPr id="15" name="chip"/>
          <p:cNvSpPr/>
          <p:nvPr/>
        </p:nvSpPr>
        <p:spPr>
          <a:xfrm>
            <a:off x="749808" y="4581144"/>
            <a:ext cx="384048" cy="384048"/>
          </a:xfrm>
          <a:prstGeom prst="ellipse">
            <a:avLst/>
          </a:prstGeom>
          <a:solidFill>
            <a:schemeClr val="bg2"/>
          </a:solidFill>
          <a:ln w="12700">
            <a:solidFill>
              <a:schemeClr val="accent6"/>
            </a:solidFill>
            <a:prstDash val="solid"/>
          </a:ln>
        </p:spPr>
      </p:sp>
      <p:sp>
        <p:nvSpPr>
          <p:cNvPr id="16" name="text"/>
          <p:cNvSpPr txBox="1"/>
          <p:nvPr/>
        </p:nvSpPr>
        <p:spPr>
          <a:xfrm>
            <a:off x="749808" y="4581144"/>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4</a:t>
            </a:r>
            <a:endParaRPr lang="en-US" sz="1200" dirty="0"/>
          </a:p>
        </p:txBody>
      </p:sp>
      <p:sp>
        <p:nvSpPr>
          <p:cNvPr id="17" name="text"/>
          <p:cNvSpPr txBox="1"/>
          <p:nvPr/>
        </p:nvSpPr>
        <p:spPr>
          <a:xfrm>
            <a:off x="1243584" y="4562856"/>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Consumer products</a:t>
            </a:r>
            <a:endParaRPr lang="en-US" sz="1200" dirty="0"/>
          </a:p>
        </p:txBody>
      </p:sp>
      <p:sp>
        <p:nvSpPr>
          <p:cNvPr id="18" name="chip"/>
          <p:cNvSpPr/>
          <p:nvPr/>
        </p:nvSpPr>
        <p:spPr>
          <a:xfrm>
            <a:off x="749808" y="5422392"/>
            <a:ext cx="384048" cy="384048"/>
          </a:xfrm>
          <a:prstGeom prst="ellipse">
            <a:avLst/>
          </a:prstGeom>
          <a:solidFill>
            <a:schemeClr val="bg2"/>
          </a:solidFill>
          <a:ln w="12700">
            <a:solidFill>
              <a:schemeClr val="accent6"/>
            </a:solidFill>
            <a:prstDash val="solid"/>
          </a:ln>
        </p:spPr>
      </p:sp>
      <p:sp>
        <p:nvSpPr>
          <p:cNvPr id="19" name="text"/>
          <p:cNvSpPr txBox="1"/>
          <p:nvPr/>
        </p:nvSpPr>
        <p:spPr>
          <a:xfrm>
            <a:off x="749808" y="5422392"/>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5</a:t>
            </a:r>
            <a:endParaRPr lang="en-US" sz="1200" dirty="0"/>
          </a:p>
        </p:txBody>
      </p:sp>
      <p:sp>
        <p:nvSpPr>
          <p:cNvPr id="20" name="text"/>
          <p:cNvSpPr txBox="1"/>
          <p:nvPr/>
        </p:nvSpPr>
        <p:spPr>
          <a:xfrm>
            <a:off x="1243584" y="5404104"/>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Semantic model and uses</a:t>
            </a:r>
            <a:endParaRPr lang="en-US" sz="1200" dirty="0"/>
          </a:p>
        </p:txBody>
      </p:sp>
      <p:sp>
        <p:nvSpPr>
          <p:cNvPr id="21" name="card"/>
          <p:cNvSpPr/>
          <p:nvPr/>
        </p:nvSpPr>
        <p:spPr>
          <a:xfrm>
            <a:off x="3154680" y="1417320"/>
            <a:ext cx="6035040" cy="603504"/>
          </a:xfrm>
          <a:prstGeom prst="roundRect">
            <a:avLst>
              <a:gd name="adj" fmla="val 12121"/>
            </a:avLst>
          </a:prstGeom>
          <a:solidFill>
            <a:schemeClr val="bg2"/>
          </a:solidFill>
          <a:ln w="12700">
            <a:solidFill>
              <a:schemeClr val="bg2"/>
            </a:solidFill>
            <a:prstDash val="solid"/>
          </a:ln>
        </p:spPr>
      </p:sp>
      <p:sp>
        <p:nvSpPr>
          <p:cNvPr id="22" name="panel"/>
          <p:cNvSpPr/>
          <p:nvPr/>
        </p:nvSpPr>
        <p:spPr>
          <a:xfrm>
            <a:off x="3154680" y="1417320"/>
            <a:ext cx="91440" cy="603504"/>
          </a:xfrm>
          <a:prstGeom prst="rect">
            <a:avLst/>
          </a:prstGeom>
          <a:solidFill>
            <a:schemeClr val="accent2"/>
          </a:solidFill>
          <a:ln w="12700">
            <a:solidFill>
              <a:schemeClr val="accent2"/>
            </a:solidFill>
            <a:prstDash val="solid"/>
          </a:ln>
        </p:spPr>
      </p:sp>
      <p:sp>
        <p:nvSpPr>
          <p:cNvPr id="23" name="text"/>
          <p:cNvSpPr txBox="1"/>
          <p:nvPr/>
        </p:nvSpPr>
        <p:spPr>
          <a:xfrm>
            <a:off x="3355848" y="1417320"/>
            <a:ext cx="1143000" cy="603504"/>
          </a:xfrm>
          <a:prstGeom prst="rect">
            <a:avLst/>
          </a:prstGeom>
          <a:noFill/>
          <a:ln/>
        </p:spPr>
        <p:txBody>
          <a:bodyPr wrap="square" lIns="0" tIns="0" rIns="0" bIns="0" rtlCol="0" anchor="ctr"/>
          <a:lstStyle/>
          <a:p>
            <a:pPr indent="0" marL="0">
              <a:buNone/>
            </a:pPr>
            <a:r>
              <a:rPr lang="en-US" sz="1000" b="1" dirty="0">
                <a:solidFill>
                  <a:schemeClr val="accent2"/>
                </a:solidFill>
              </a:rPr>
              <a:t>DP-240</a:t>
            </a:r>
            <a:endParaRPr lang="en-US" sz="1000" dirty="0"/>
          </a:p>
        </p:txBody>
      </p:sp>
      <p:sp>
        <p:nvSpPr>
          <p:cNvPr id="24" name="text"/>
          <p:cNvSpPr txBox="1"/>
          <p:nvPr/>
        </p:nvSpPr>
        <p:spPr>
          <a:xfrm>
            <a:off x="4526280" y="1453896"/>
            <a:ext cx="2011680" cy="548640"/>
          </a:xfrm>
          <a:prstGeom prst="rect">
            <a:avLst/>
          </a:prstGeom>
          <a:noFill/>
          <a:ln/>
        </p:spPr>
        <p:txBody>
          <a:bodyPr wrap="square" lIns="0" tIns="0" rIns="0" bIns="0" rtlCol="0" anchor="ctr"/>
          <a:lstStyle/>
          <a:p>
            <a:pPr indent="0" marL="0">
              <a:buNone/>
            </a:pPr>
            <a:r>
              <a:rPr lang="en-US" sz="950" b="1" dirty="0">
                <a:solidFill>
                  <a:schemeClr val="tx2"/>
                </a:solidFill>
              </a:rPr>
              <a:t>Client, Household &amp; Party Master</a:t>
            </a:r>
            <a:endParaRPr lang="en-US" sz="950" dirty="0"/>
          </a:p>
        </p:txBody>
      </p:sp>
      <p:sp>
        <p:nvSpPr>
          <p:cNvPr id="25" name="text"/>
          <p:cNvSpPr txBox="1"/>
          <p:nvPr/>
        </p:nvSpPr>
        <p:spPr>
          <a:xfrm>
            <a:off x="6583680" y="1444752"/>
            <a:ext cx="2514600" cy="566928"/>
          </a:xfrm>
          <a:prstGeom prst="rect">
            <a:avLst/>
          </a:prstGeom>
          <a:noFill/>
          <a:ln/>
        </p:spPr>
        <p:txBody>
          <a:bodyPr wrap="square" lIns="0" tIns="0" rIns="0" bIns="0" rtlCol="0" anchor="ctr"/>
          <a:lstStyle/>
          <a:p>
            <a:pPr indent="0" marL="0">
              <a:buNone/>
            </a:pPr>
            <a:r>
              <a:rPr lang="en-US" sz="850" dirty="0">
                <a:solidFill>
                  <a:schemeClr val="tx1"/>
                </a:solidFill>
              </a:rPr>
              <a:t>One Okafor household; Dana one PTY- with participant and client roles, effective-dated</a:t>
            </a:r>
            <a:endParaRPr lang="en-US" sz="850" dirty="0"/>
          </a:p>
        </p:txBody>
      </p:sp>
      <p:sp>
        <p:nvSpPr>
          <p:cNvPr id="26" name="card"/>
          <p:cNvSpPr/>
          <p:nvPr/>
        </p:nvSpPr>
        <p:spPr>
          <a:xfrm>
            <a:off x="3154680" y="2103120"/>
            <a:ext cx="6035040" cy="603504"/>
          </a:xfrm>
          <a:prstGeom prst="roundRect">
            <a:avLst>
              <a:gd name="adj" fmla="val 12121"/>
            </a:avLst>
          </a:prstGeom>
          <a:solidFill>
            <a:schemeClr val="bg2"/>
          </a:solidFill>
          <a:ln w="12700">
            <a:solidFill>
              <a:schemeClr val="bg2"/>
            </a:solidFill>
            <a:prstDash val="solid"/>
          </a:ln>
        </p:spPr>
      </p:sp>
      <p:sp>
        <p:nvSpPr>
          <p:cNvPr id="27" name="panel"/>
          <p:cNvSpPr/>
          <p:nvPr/>
        </p:nvSpPr>
        <p:spPr>
          <a:xfrm>
            <a:off x="3154680" y="2103120"/>
            <a:ext cx="91440" cy="603504"/>
          </a:xfrm>
          <a:prstGeom prst="rect">
            <a:avLst/>
          </a:prstGeom>
          <a:solidFill>
            <a:schemeClr val="accent2"/>
          </a:solidFill>
          <a:ln w="12700">
            <a:solidFill>
              <a:schemeClr val="accent2"/>
            </a:solidFill>
            <a:prstDash val="solid"/>
          </a:ln>
        </p:spPr>
      </p:sp>
      <p:sp>
        <p:nvSpPr>
          <p:cNvPr id="28" name="text"/>
          <p:cNvSpPr txBox="1"/>
          <p:nvPr/>
        </p:nvSpPr>
        <p:spPr>
          <a:xfrm>
            <a:off x="3355848" y="2103120"/>
            <a:ext cx="1143000" cy="603504"/>
          </a:xfrm>
          <a:prstGeom prst="rect">
            <a:avLst/>
          </a:prstGeom>
          <a:noFill/>
          <a:ln/>
        </p:spPr>
        <p:txBody>
          <a:bodyPr wrap="square" lIns="0" tIns="0" rIns="0" bIns="0" rtlCol="0" anchor="ctr"/>
          <a:lstStyle/>
          <a:p>
            <a:pPr indent="0" marL="0">
              <a:buNone/>
            </a:pPr>
            <a:r>
              <a:rPr lang="en-US" sz="1000" b="1" dirty="0">
                <a:solidFill>
                  <a:schemeClr val="accent2"/>
                </a:solidFill>
              </a:rPr>
              <a:t>DP-094 / DP-430</a:t>
            </a:r>
            <a:endParaRPr lang="en-US" sz="1000" dirty="0"/>
          </a:p>
        </p:txBody>
      </p:sp>
      <p:sp>
        <p:nvSpPr>
          <p:cNvPr id="29" name="text"/>
          <p:cNvSpPr txBox="1"/>
          <p:nvPr/>
        </p:nvSpPr>
        <p:spPr>
          <a:xfrm>
            <a:off x="4526280" y="2139696"/>
            <a:ext cx="2011680" cy="548640"/>
          </a:xfrm>
          <a:prstGeom prst="rect">
            <a:avLst/>
          </a:prstGeom>
          <a:noFill/>
          <a:ln/>
        </p:spPr>
        <p:txBody>
          <a:bodyPr wrap="square" lIns="0" tIns="0" rIns="0" bIns="0" rtlCol="0" anchor="ctr"/>
          <a:lstStyle/>
          <a:p>
            <a:pPr indent="0" marL="0">
              <a:buNone/>
            </a:pPr>
            <a:r>
              <a:rPr lang="en-US" sz="950" b="1" dirty="0">
                <a:solidFill>
                  <a:schemeClr val="tx2"/>
                </a:solidFill>
              </a:rPr>
              <a:t>Recordkept Plan &amp; Participant Core; Participant Balances &amp; Ledger</a:t>
            </a:r>
            <a:endParaRPr lang="en-US" sz="950" dirty="0"/>
          </a:p>
        </p:txBody>
      </p:sp>
      <p:sp>
        <p:nvSpPr>
          <p:cNvPr id="30" name="text"/>
          <p:cNvSpPr txBox="1"/>
          <p:nvPr/>
        </p:nvSpPr>
        <p:spPr>
          <a:xfrm>
            <a:off x="6583680" y="2130552"/>
            <a:ext cx="2514600" cy="566928"/>
          </a:xfrm>
          <a:prstGeom prst="rect">
            <a:avLst/>
          </a:prstGeom>
          <a:noFill/>
          <a:ln/>
        </p:spPr>
        <p:txBody>
          <a:bodyPr wrap="square" lIns="0" tIns="0" rIns="0" bIns="0" rtlCol="0" anchor="ctr"/>
          <a:lstStyle/>
          <a:p>
            <a:pPr indent="0" marL="0">
              <a:buNone/>
            </a:pPr>
            <a:r>
              <a:rPr lang="en-US" sz="850" dirty="0">
                <a:solidFill>
                  <a:schemeClr val="tx1"/>
                </a:solidFill>
              </a:rPr>
              <a:t>Separation event, vested balance $640,000, the Participant Retail Hand-Off and the distribution request</a:t>
            </a:r>
            <a:endParaRPr lang="en-US" sz="850" dirty="0"/>
          </a:p>
        </p:txBody>
      </p:sp>
      <p:sp>
        <p:nvSpPr>
          <p:cNvPr id="31" name="card"/>
          <p:cNvSpPr/>
          <p:nvPr/>
        </p:nvSpPr>
        <p:spPr>
          <a:xfrm>
            <a:off x="3154680" y="2788920"/>
            <a:ext cx="6035040" cy="603504"/>
          </a:xfrm>
          <a:prstGeom prst="roundRect">
            <a:avLst>
              <a:gd name="adj" fmla="val 12121"/>
            </a:avLst>
          </a:prstGeom>
          <a:solidFill>
            <a:schemeClr val="bg2"/>
          </a:solidFill>
          <a:ln w="12700">
            <a:solidFill>
              <a:schemeClr val="bg2"/>
            </a:solidFill>
            <a:prstDash val="solid"/>
          </a:ln>
        </p:spPr>
      </p:sp>
      <p:sp>
        <p:nvSpPr>
          <p:cNvPr id="32" name="panel"/>
          <p:cNvSpPr/>
          <p:nvPr/>
        </p:nvSpPr>
        <p:spPr>
          <a:xfrm>
            <a:off x="3154680" y="2788920"/>
            <a:ext cx="91440" cy="603504"/>
          </a:xfrm>
          <a:prstGeom prst="rect">
            <a:avLst/>
          </a:prstGeom>
          <a:solidFill>
            <a:schemeClr val="accent2"/>
          </a:solidFill>
          <a:ln w="12700">
            <a:solidFill>
              <a:schemeClr val="accent2"/>
            </a:solidFill>
            <a:prstDash val="solid"/>
          </a:ln>
        </p:spPr>
      </p:sp>
      <p:sp>
        <p:nvSpPr>
          <p:cNvPr id="33" name="text"/>
          <p:cNvSpPr txBox="1"/>
          <p:nvPr/>
        </p:nvSpPr>
        <p:spPr>
          <a:xfrm>
            <a:off x="3355848" y="2788920"/>
            <a:ext cx="1143000" cy="603504"/>
          </a:xfrm>
          <a:prstGeom prst="rect">
            <a:avLst/>
          </a:prstGeom>
          <a:noFill/>
          <a:ln/>
        </p:spPr>
        <p:txBody>
          <a:bodyPr wrap="square" lIns="0" tIns="0" rIns="0" bIns="0" rtlCol="0" anchor="ctr"/>
          <a:lstStyle/>
          <a:p>
            <a:pPr indent="0" marL="0">
              <a:buNone/>
            </a:pPr>
            <a:r>
              <a:rPr lang="en-US" sz="1000" b="1" dirty="0">
                <a:solidFill>
                  <a:schemeClr val="accent2"/>
                </a:solidFill>
              </a:rPr>
              <a:t>DP-303</a:t>
            </a:r>
            <a:endParaRPr lang="en-US" sz="1000" dirty="0"/>
          </a:p>
        </p:txBody>
      </p:sp>
      <p:sp>
        <p:nvSpPr>
          <p:cNvPr id="34" name="text"/>
          <p:cNvSpPr txBox="1"/>
          <p:nvPr/>
        </p:nvSpPr>
        <p:spPr>
          <a:xfrm>
            <a:off x="4526280" y="2825496"/>
            <a:ext cx="2011680" cy="548640"/>
          </a:xfrm>
          <a:prstGeom prst="rect">
            <a:avLst/>
          </a:prstGeom>
          <a:noFill/>
          <a:ln/>
        </p:spPr>
        <p:txBody>
          <a:bodyPr wrap="square" lIns="0" tIns="0" rIns="0" bIns="0" rtlCol="0" anchor="ctr"/>
          <a:lstStyle/>
          <a:p>
            <a:pPr indent="0" marL="0">
              <a:buNone/>
            </a:pPr>
            <a:r>
              <a:rPr lang="en-US" sz="950" b="1" dirty="0">
                <a:solidFill>
                  <a:schemeClr val="tx2"/>
                </a:solidFill>
              </a:rPr>
              <a:t>Advice Plans &amp; Recommendations</a:t>
            </a:r>
            <a:endParaRPr lang="en-US" sz="950" dirty="0"/>
          </a:p>
        </p:txBody>
      </p:sp>
      <p:sp>
        <p:nvSpPr>
          <p:cNvPr id="35" name="text"/>
          <p:cNvSpPr txBox="1"/>
          <p:nvPr/>
        </p:nvSpPr>
        <p:spPr>
          <a:xfrm>
            <a:off x="6583680" y="2816352"/>
            <a:ext cx="2514600" cy="566928"/>
          </a:xfrm>
          <a:prstGeom prst="rect">
            <a:avLst/>
          </a:prstGeom>
          <a:noFill/>
          <a:ln/>
        </p:spPr>
        <p:txBody>
          <a:bodyPr wrap="square" lIns="0" tIns="0" rIns="0" bIns="0" rtlCol="0" anchor="ctr"/>
          <a:lstStyle/>
          <a:p>
            <a:pPr indent="0" marL="0">
              <a:buNone/>
            </a:pPr>
            <a:r>
              <a:rPr lang="en-US" sz="850" dirty="0">
                <a:solidFill>
                  <a:schemeClr val="tx1"/>
                </a:solidFill>
              </a:rPr>
              <a:t>Recommendation, rationale, alternatives; Rollover Analysis; PTE 2020-02 Documentation. DQ rule 4: three delivery dates and the attestation populated on every presented analysis</a:t>
            </a:r>
            <a:endParaRPr lang="en-US" sz="850" dirty="0"/>
          </a:p>
        </p:txBody>
      </p:sp>
      <p:sp>
        <p:nvSpPr>
          <p:cNvPr id="36" name="card"/>
          <p:cNvSpPr/>
          <p:nvPr/>
        </p:nvSpPr>
        <p:spPr>
          <a:xfrm>
            <a:off x="3154680" y="3474720"/>
            <a:ext cx="6035040" cy="603504"/>
          </a:xfrm>
          <a:prstGeom prst="roundRect">
            <a:avLst>
              <a:gd name="adj" fmla="val 12121"/>
            </a:avLst>
          </a:prstGeom>
          <a:solidFill>
            <a:schemeClr val="bg2"/>
          </a:solidFill>
          <a:ln w="12700">
            <a:solidFill>
              <a:schemeClr val="bg2"/>
            </a:solidFill>
            <a:prstDash val="solid"/>
          </a:ln>
        </p:spPr>
      </p:sp>
      <p:sp>
        <p:nvSpPr>
          <p:cNvPr id="37" name="panel"/>
          <p:cNvSpPr/>
          <p:nvPr/>
        </p:nvSpPr>
        <p:spPr>
          <a:xfrm>
            <a:off x="3154680" y="3474720"/>
            <a:ext cx="91440" cy="603504"/>
          </a:xfrm>
          <a:prstGeom prst="rect">
            <a:avLst/>
          </a:prstGeom>
          <a:solidFill>
            <a:schemeClr val="accent2"/>
          </a:solidFill>
          <a:ln w="12700">
            <a:solidFill>
              <a:schemeClr val="accent2"/>
            </a:solidFill>
            <a:prstDash val="solid"/>
          </a:ln>
        </p:spPr>
      </p:sp>
      <p:sp>
        <p:nvSpPr>
          <p:cNvPr id="38" name="text"/>
          <p:cNvSpPr txBox="1"/>
          <p:nvPr/>
        </p:nvSpPr>
        <p:spPr>
          <a:xfrm>
            <a:off x="3355848" y="3474720"/>
            <a:ext cx="1143000" cy="603504"/>
          </a:xfrm>
          <a:prstGeom prst="rect">
            <a:avLst/>
          </a:prstGeom>
          <a:noFill/>
          <a:ln/>
        </p:spPr>
        <p:txBody>
          <a:bodyPr wrap="square" lIns="0" tIns="0" rIns="0" bIns="0" rtlCol="0" anchor="ctr"/>
          <a:lstStyle/>
          <a:p>
            <a:pPr indent="0" marL="0">
              <a:buNone/>
            </a:pPr>
            <a:r>
              <a:rPr lang="en-US" sz="1000" b="1" dirty="0">
                <a:solidFill>
                  <a:schemeClr val="accent2"/>
                </a:solidFill>
              </a:rPr>
              <a:t>DP-093</a:t>
            </a:r>
            <a:endParaRPr lang="en-US" sz="1000" dirty="0"/>
          </a:p>
        </p:txBody>
      </p:sp>
      <p:sp>
        <p:nvSpPr>
          <p:cNvPr id="39" name="text"/>
          <p:cNvSpPr txBox="1"/>
          <p:nvPr/>
        </p:nvSpPr>
        <p:spPr>
          <a:xfrm>
            <a:off x="4526280" y="3511296"/>
            <a:ext cx="2011680" cy="548640"/>
          </a:xfrm>
          <a:prstGeom prst="rect">
            <a:avLst/>
          </a:prstGeom>
          <a:noFill/>
          <a:ln/>
        </p:spPr>
        <p:txBody>
          <a:bodyPr wrap="square" lIns="0" tIns="0" rIns="0" bIns="0" rtlCol="0" anchor="ctr"/>
          <a:lstStyle/>
          <a:p>
            <a:pPr indent="0" marL="0">
              <a:buNone/>
            </a:pPr>
            <a:r>
              <a:rPr lang="en-US" sz="950" b="1" dirty="0">
                <a:solidFill>
                  <a:schemeClr val="tx2"/>
                </a:solidFill>
              </a:rPr>
              <a:t>Account Master</a:t>
            </a:r>
            <a:endParaRPr lang="en-US" sz="950" dirty="0"/>
          </a:p>
        </p:txBody>
      </p:sp>
      <p:sp>
        <p:nvSpPr>
          <p:cNvPr id="40" name="text"/>
          <p:cNvSpPr txBox="1"/>
          <p:nvPr/>
        </p:nvSpPr>
        <p:spPr>
          <a:xfrm>
            <a:off x="6583680" y="3502152"/>
            <a:ext cx="2514600" cy="566928"/>
          </a:xfrm>
          <a:prstGeom prst="rect">
            <a:avLst/>
          </a:prstGeom>
          <a:noFill/>
          <a:ln/>
        </p:spPr>
        <p:txBody>
          <a:bodyPr wrap="square" lIns="0" tIns="0" rIns="0" bIns="0" rtlCol="0" anchor="ctr"/>
          <a:lstStyle/>
          <a:p>
            <a:pPr indent="0" marL="0">
              <a:buNone/>
            </a:pPr>
            <a:r>
              <a:rPr lang="en-US" sz="850" dirty="0">
                <a:solidFill>
                  <a:schemeClr val="tx1"/>
                </a:solidFill>
              </a:rPr>
              <a:t>The IRA (registration type IRA), agreements and disclosures delivered, Program Enrollment in the hybrid advice offering</a:t>
            </a:r>
            <a:endParaRPr lang="en-US" sz="850" dirty="0"/>
          </a:p>
        </p:txBody>
      </p:sp>
      <p:sp>
        <p:nvSpPr>
          <p:cNvPr id="41" name="card"/>
          <p:cNvSpPr/>
          <p:nvPr/>
        </p:nvSpPr>
        <p:spPr>
          <a:xfrm>
            <a:off x="3154680" y="4160520"/>
            <a:ext cx="6035040" cy="603504"/>
          </a:xfrm>
          <a:prstGeom prst="roundRect">
            <a:avLst>
              <a:gd name="adj" fmla="val 12121"/>
            </a:avLst>
          </a:prstGeom>
          <a:solidFill>
            <a:schemeClr val="bg2"/>
          </a:solidFill>
          <a:ln w="12700">
            <a:solidFill>
              <a:schemeClr val="bg2"/>
            </a:solidFill>
            <a:prstDash val="solid"/>
          </a:ln>
        </p:spPr>
      </p:sp>
      <p:sp>
        <p:nvSpPr>
          <p:cNvPr id="42" name="panel"/>
          <p:cNvSpPr/>
          <p:nvPr/>
        </p:nvSpPr>
        <p:spPr>
          <a:xfrm>
            <a:off x="3154680" y="4160520"/>
            <a:ext cx="91440" cy="603504"/>
          </a:xfrm>
          <a:prstGeom prst="rect">
            <a:avLst/>
          </a:prstGeom>
          <a:solidFill>
            <a:schemeClr val="accent2"/>
          </a:solidFill>
          <a:ln w="12700">
            <a:solidFill>
              <a:schemeClr val="accent2"/>
            </a:solidFill>
            <a:prstDash val="solid"/>
          </a:ln>
        </p:spPr>
      </p:sp>
      <p:sp>
        <p:nvSpPr>
          <p:cNvPr id="43" name="text"/>
          <p:cNvSpPr txBox="1"/>
          <p:nvPr/>
        </p:nvSpPr>
        <p:spPr>
          <a:xfrm>
            <a:off x="3355848" y="4160520"/>
            <a:ext cx="1143000" cy="603504"/>
          </a:xfrm>
          <a:prstGeom prst="rect">
            <a:avLst/>
          </a:prstGeom>
          <a:noFill/>
          <a:ln/>
        </p:spPr>
        <p:txBody>
          <a:bodyPr wrap="square" lIns="0" tIns="0" rIns="0" bIns="0" rtlCol="0" anchor="ctr"/>
          <a:lstStyle/>
          <a:p>
            <a:pPr indent="0" marL="0">
              <a:buNone/>
            </a:pPr>
            <a:r>
              <a:rPr lang="en-US" sz="1000" b="1" dirty="0">
                <a:solidFill>
                  <a:schemeClr val="accent2"/>
                </a:solidFill>
              </a:rPr>
              <a:t>DP-300</a:t>
            </a:r>
            <a:endParaRPr lang="en-US" sz="1000" dirty="0"/>
          </a:p>
        </p:txBody>
      </p:sp>
      <p:sp>
        <p:nvSpPr>
          <p:cNvPr id="44" name="text"/>
          <p:cNvSpPr txBox="1"/>
          <p:nvPr/>
        </p:nvSpPr>
        <p:spPr>
          <a:xfrm>
            <a:off x="4526280" y="4197096"/>
            <a:ext cx="2011680" cy="548640"/>
          </a:xfrm>
          <a:prstGeom prst="rect">
            <a:avLst/>
          </a:prstGeom>
          <a:noFill/>
          <a:ln/>
        </p:spPr>
        <p:txBody>
          <a:bodyPr wrap="square" lIns="0" tIns="0" rIns="0" bIns="0" rtlCol="0" anchor="ctr"/>
          <a:lstStyle/>
          <a:p>
            <a:pPr indent="0" marL="0">
              <a:buNone/>
            </a:pPr>
            <a:r>
              <a:rPr lang="en-US" sz="950" b="1" dirty="0">
                <a:solidFill>
                  <a:schemeClr val="tx2"/>
                </a:solidFill>
              </a:rPr>
              <a:t>Client Holdings, Lots &amp; Cost Basis</a:t>
            </a:r>
            <a:endParaRPr lang="en-US" sz="950" dirty="0"/>
          </a:p>
        </p:txBody>
      </p:sp>
      <p:sp>
        <p:nvSpPr>
          <p:cNvPr id="45" name="text"/>
          <p:cNvSpPr txBox="1"/>
          <p:nvPr/>
        </p:nvSpPr>
        <p:spPr>
          <a:xfrm>
            <a:off x="6583680" y="4187952"/>
            <a:ext cx="2514600" cy="566928"/>
          </a:xfrm>
          <a:prstGeom prst="rect">
            <a:avLst/>
          </a:prstGeom>
          <a:noFill/>
          <a:ln/>
        </p:spPr>
        <p:txBody>
          <a:bodyPr wrap="square" lIns="0" tIns="0" rIns="0" bIns="0" rtlCol="0" anchor="ctr"/>
          <a:lstStyle/>
          <a:p>
            <a:pPr indent="0" marL="0">
              <a:buNone/>
            </a:pPr>
            <a:r>
              <a:rPr lang="en-US" sz="850" dirty="0">
                <a:solidFill>
                  <a:schemeClr val="tx1"/>
                </a:solidFill>
              </a:rPr>
              <a:t>What the IRA owns after the model is assigned; cash during transit</a:t>
            </a:r>
            <a:endParaRPr lang="en-US" sz="850" dirty="0"/>
          </a:p>
        </p:txBody>
      </p:sp>
      <p:sp>
        <p:nvSpPr>
          <p:cNvPr id="46" name="card"/>
          <p:cNvSpPr/>
          <p:nvPr/>
        </p:nvSpPr>
        <p:spPr>
          <a:xfrm>
            <a:off x="3154680" y="4846320"/>
            <a:ext cx="6035040" cy="603504"/>
          </a:xfrm>
          <a:prstGeom prst="roundRect">
            <a:avLst>
              <a:gd name="adj" fmla="val 12121"/>
            </a:avLst>
          </a:prstGeom>
          <a:solidFill>
            <a:schemeClr val="bg2"/>
          </a:solidFill>
          <a:ln w="12700">
            <a:solidFill>
              <a:schemeClr val="bg2"/>
            </a:solidFill>
            <a:prstDash val="solid"/>
          </a:ln>
        </p:spPr>
      </p:sp>
      <p:sp>
        <p:nvSpPr>
          <p:cNvPr id="47" name="panel"/>
          <p:cNvSpPr/>
          <p:nvPr/>
        </p:nvSpPr>
        <p:spPr>
          <a:xfrm>
            <a:off x="3154680" y="4846320"/>
            <a:ext cx="91440" cy="603504"/>
          </a:xfrm>
          <a:prstGeom prst="rect">
            <a:avLst/>
          </a:prstGeom>
          <a:solidFill>
            <a:schemeClr val="accent2"/>
          </a:solidFill>
          <a:ln w="12700">
            <a:solidFill>
              <a:schemeClr val="accent2"/>
            </a:solidFill>
            <a:prstDash val="solid"/>
          </a:ln>
        </p:spPr>
      </p:sp>
      <p:sp>
        <p:nvSpPr>
          <p:cNvPr id="48" name="text"/>
          <p:cNvSpPr txBox="1"/>
          <p:nvPr/>
        </p:nvSpPr>
        <p:spPr>
          <a:xfrm>
            <a:off x="3355848" y="4846320"/>
            <a:ext cx="1143000" cy="603504"/>
          </a:xfrm>
          <a:prstGeom prst="rect">
            <a:avLst/>
          </a:prstGeom>
          <a:noFill/>
          <a:ln/>
        </p:spPr>
        <p:txBody>
          <a:bodyPr wrap="square" lIns="0" tIns="0" rIns="0" bIns="0" rtlCol="0" anchor="ctr"/>
          <a:lstStyle/>
          <a:p>
            <a:pPr indent="0" marL="0">
              <a:buNone/>
            </a:pPr>
            <a:r>
              <a:rPr lang="en-US" sz="1000" b="1" dirty="0">
                <a:solidFill>
                  <a:schemeClr val="accent2"/>
                </a:solidFill>
              </a:rPr>
              <a:t>DP-006</a:t>
            </a:r>
            <a:endParaRPr lang="en-US" sz="1000" dirty="0"/>
          </a:p>
        </p:txBody>
      </p:sp>
      <p:sp>
        <p:nvSpPr>
          <p:cNvPr id="49" name="text"/>
          <p:cNvSpPr txBox="1"/>
          <p:nvPr/>
        </p:nvSpPr>
        <p:spPr>
          <a:xfrm>
            <a:off x="4526280" y="4882896"/>
            <a:ext cx="2011680" cy="548640"/>
          </a:xfrm>
          <a:prstGeom prst="rect">
            <a:avLst/>
          </a:prstGeom>
          <a:noFill/>
          <a:ln/>
        </p:spPr>
        <p:txBody>
          <a:bodyPr wrap="square" lIns="0" tIns="0" rIns="0" bIns="0" rtlCol="0" anchor="ctr"/>
          <a:lstStyle/>
          <a:p>
            <a:pPr indent="0" marL="0">
              <a:buNone/>
            </a:pPr>
            <a:r>
              <a:rPr lang="en-US" sz="950" b="1" dirty="0">
                <a:solidFill>
                  <a:schemeClr val="tx2"/>
                </a:solidFill>
              </a:rPr>
              <a:t>Client Flow Transactions</a:t>
            </a:r>
            <a:endParaRPr lang="en-US" sz="950" dirty="0"/>
          </a:p>
        </p:txBody>
      </p:sp>
      <p:sp>
        <p:nvSpPr>
          <p:cNvPr id="50" name="text"/>
          <p:cNvSpPr txBox="1"/>
          <p:nvPr/>
        </p:nvSpPr>
        <p:spPr>
          <a:xfrm>
            <a:off x="6583680" y="4873752"/>
            <a:ext cx="2514600" cy="566928"/>
          </a:xfrm>
          <a:prstGeom prst="rect">
            <a:avLst/>
          </a:prstGeom>
          <a:noFill/>
          <a:ln/>
        </p:spPr>
        <p:txBody>
          <a:bodyPr wrap="square" lIns="0" tIns="0" rIns="0" bIns="0" rtlCol="0" anchor="ctr"/>
          <a:lstStyle/>
          <a:p>
            <a:pPr indent="0" marL="0">
              <a:buNone/>
            </a:pPr>
            <a:r>
              <a:rPr lang="en-US" sz="850" dirty="0">
                <a:solidFill>
                  <a:schemeClr val="tx1"/>
                </a:solidFill>
              </a:rPr>
              <a:t>The rollover contribution: Flow Scope Inter-Channel Transfer, from workplace to advised, same owner</a:t>
            </a:r>
            <a:endParaRPr lang="en-US" sz="850" dirty="0"/>
          </a:p>
        </p:txBody>
      </p:sp>
      <p:sp>
        <p:nvSpPr>
          <p:cNvPr id="51" name="card"/>
          <p:cNvSpPr/>
          <p:nvPr/>
        </p:nvSpPr>
        <p:spPr>
          <a:xfrm>
            <a:off x="3154680" y="5532120"/>
            <a:ext cx="6035040" cy="603504"/>
          </a:xfrm>
          <a:prstGeom prst="roundRect">
            <a:avLst>
              <a:gd name="adj" fmla="val 12121"/>
            </a:avLst>
          </a:prstGeom>
          <a:solidFill>
            <a:schemeClr val="bg2"/>
          </a:solidFill>
          <a:ln w="12700">
            <a:solidFill>
              <a:schemeClr val="bg2"/>
            </a:solidFill>
            <a:prstDash val="solid"/>
          </a:ln>
        </p:spPr>
      </p:sp>
      <p:sp>
        <p:nvSpPr>
          <p:cNvPr id="52" name="panel"/>
          <p:cNvSpPr/>
          <p:nvPr/>
        </p:nvSpPr>
        <p:spPr>
          <a:xfrm>
            <a:off x="3154680" y="5532120"/>
            <a:ext cx="91440" cy="603504"/>
          </a:xfrm>
          <a:prstGeom prst="rect">
            <a:avLst/>
          </a:prstGeom>
          <a:solidFill>
            <a:schemeClr val="accent4"/>
          </a:solidFill>
          <a:ln w="12700">
            <a:solidFill>
              <a:schemeClr val="accent4"/>
            </a:solidFill>
            <a:prstDash val="solid"/>
          </a:ln>
        </p:spPr>
      </p:sp>
      <p:sp>
        <p:nvSpPr>
          <p:cNvPr id="53" name="text"/>
          <p:cNvSpPr txBox="1"/>
          <p:nvPr/>
        </p:nvSpPr>
        <p:spPr>
          <a:xfrm>
            <a:off x="3355848" y="5532120"/>
            <a:ext cx="1143000" cy="603504"/>
          </a:xfrm>
          <a:prstGeom prst="rect">
            <a:avLst/>
          </a:prstGeom>
          <a:noFill/>
          <a:ln/>
        </p:spPr>
        <p:txBody>
          <a:bodyPr wrap="square" lIns="0" tIns="0" rIns="0" bIns="0" rtlCol="0" anchor="ctr"/>
          <a:lstStyle/>
          <a:p>
            <a:pPr indent="0" marL="0">
              <a:buNone/>
            </a:pPr>
            <a:r>
              <a:rPr lang="en-US" sz="1000" b="1" dirty="0">
                <a:solidFill>
                  <a:schemeClr val="accent4"/>
                </a:solidFill>
              </a:rPr>
              <a:t>DP-008</a:t>
            </a:r>
            <a:endParaRPr lang="en-US" sz="1000" dirty="0"/>
          </a:p>
        </p:txBody>
      </p:sp>
      <p:sp>
        <p:nvSpPr>
          <p:cNvPr id="54" name="text"/>
          <p:cNvSpPr txBox="1"/>
          <p:nvPr/>
        </p:nvSpPr>
        <p:spPr>
          <a:xfrm>
            <a:off x="4526280" y="5568696"/>
            <a:ext cx="2011680" cy="548640"/>
          </a:xfrm>
          <a:prstGeom prst="rect">
            <a:avLst/>
          </a:prstGeom>
          <a:noFill/>
          <a:ln/>
        </p:spPr>
        <p:txBody>
          <a:bodyPr wrap="square" lIns="0" tIns="0" rIns="0" bIns="0" rtlCol="0" anchor="ctr"/>
          <a:lstStyle/>
          <a:p>
            <a:pPr indent="0" marL="0">
              <a:buNone/>
            </a:pPr>
            <a:r>
              <a:rPr lang="en-US" sz="950" b="1" dirty="0">
                <a:solidFill>
                  <a:schemeClr val="tx2"/>
                </a:solidFill>
              </a:rPr>
              <a:t>Client Assets &amp; Net New Assets (certified)</a:t>
            </a:r>
            <a:endParaRPr lang="en-US" sz="950" dirty="0"/>
          </a:p>
        </p:txBody>
      </p:sp>
      <p:sp>
        <p:nvSpPr>
          <p:cNvPr id="55" name="text"/>
          <p:cNvSpPr txBox="1"/>
          <p:nvPr/>
        </p:nvSpPr>
        <p:spPr>
          <a:xfrm>
            <a:off x="6583680" y="5559552"/>
            <a:ext cx="2514600" cy="566928"/>
          </a:xfrm>
          <a:prstGeom prst="rect">
            <a:avLst/>
          </a:prstGeom>
          <a:noFill/>
          <a:ln/>
        </p:spPr>
        <p:txBody>
          <a:bodyPr wrap="square" lIns="0" tIns="0" rIns="0" bIns="0" rtlCol="0" anchor="ctr"/>
          <a:lstStyle/>
          <a:p>
            <a:pPr indent="0" marL="0">
              <a:buNone/>
            </a:pPr>
            <a:r>
              <a:rPr lang="en-US" sz="850" dirty="0">
                <a:solidFill>
                  <a:schemeClr val="tx1"/>
                </a:solidFill>
              </a:rPr>
              <a:t>Net Inter-Channel Transfers +$640,000 into the advice channel; Advised Assets +$640,000; Net New Assets at firm total unchanged</a:t>
            </a:r>
            <a:endParaRPr lang="en-US" sz="850" dirty="0"/>
          </a:p>
        </p:txBody>
      </p:sp>
      <p:sp>
        <p:nvSpPr>
          <p:cNvPr id="56" name="card"/>
          <p:cNvSpPr/>
          <p:nvPr/>
        </p:nvSpPr>
        <p:spPr>
          <a:xfrm>
            <a:off x="9418320" y="1417320"/>
            <a:ext cx="2224735" cy="4800600"/>
          </a:xfrm>
          <a:prstGeom prst="roundRect">
            <a:avLst>
              <a:gd name="adj" fmla="val 3288"/>
            </a:avLst>
          </a:prstGeom>
          <a:solidFill>
            <a:schemeClr val="tx2"/>
          </a:solidFill>
          <a:ln w="12700">
            <a:solidFill>
              <a:schemeClr val="tx2"/>
            </a:solidFill>
            <a:prstDash val="solid"/>
          </a:ln>
        </p:spPr>
      </p:sp>
      <p:sp>
        <p:nvSpPr>
          <p:cNvPr id="57" name="text"/>
          <p:cNvSpPr txBox="1"/>
          <p:nvPr/>
        </p:nvSpPr>
        <p:spPr>
          <a:xfrm>
            <a:off x="9601200" y="1554480"/>
            <a:ext cx="1858975" cy="274320"/>
          </a:xfrm>
          <a:prstGeom prst="rect">
            <a:avLst/>
          </a:prstGeom>
          <a:noFill/>
          <a:ln/>
        </p:spPr>
        <p:txBody>
          <a:bodyPr wrap="square" lIns="0" tIns="0" rIns="0" bIns="0" rtlCol="0" anchor="t"/>
          <a:lstStyle/>
          <a:p>
            <a:pPr indent="0" marL="0">
              <a:buNone/>
            </a:pPr>
            <a:r>
              <a:rPr lang="en-US" sz="950" b="1" dirty="0">
                <a:solidFill>
                  <a:schemeClr val="accent4"/>
                </a:solidFill>
              </a:rPr>
              <a:t>THE DECIDING RULE</a:t>
            </a:r>
            <a:endParaRPr lang="en-US" sz="950" dirty="0"/>
          </a:p>
        </p:txBody>
      </p:sp>
      <p:sp>
        <p:nvSpPr>
          <p:cNvPr id="58" name="text"/>
          <p:cNvSpPr txBox="1"/>
          <p:nvPr/>
        </p:nvSpPr>
        <p:spPr>
          <a:xfrm>
            <a:off x="9601200" y="1874520"/>
            <a:ext cx="1858975" cy="457200"/>
          </a:xfrm>
          <a:prstGeom prst="rect">
            <a:avLst/>
          </a:prstGeom>
          <a:noFill/>
          <a:ln/>
        </p:spPr>
        <p:txBody>
          <a:bodyPr wrap="square" lIns="0" tIns="0" rIns="0" bIns="0" rtlCol="0" anchor="t"/>
          <a:lstStyle/>
          <a:p>
            <a:pPr indent="0" marL="0">
              <a:buNone/>
            </a:pPr>
            <a:r>
              <a:rPr lang="en-US" sz="1100" b="1" dirty="0">
                <a:solidFill>
                  <a:schemeClr val="bg1"/>
                </a:solidFill>
              </a:rPr>
              <a:t>Rollover Treatment (06 Flow Treatment Rule, read by DP-008):</a:t>
            </a:r>
            <a:endParaRPr lang="en-US" sz="1100" dirty="0"/>
          </a:p>
        </p:txBody>
      </p:sp>
      <p:sp>
        <p:nvSpPr>
          <p:cNvPr id="59" name="text"/>
          <p:cNvSpPr txBox="1"/>
          <p:nvPr/>
        </p:nvSpPr>
        <p:spPr>
          <a:xfrm>
            <a:off x="9601200" y="2377440"/>
            <a:ext cx="1858975" cy="1371600"/>
          </a:xfrm>
          <a:prstGeom prst="rect">
            <a:avLst/>
          </a:prstGeom>
          <a:noFill/>
          <a:ln/>
        </p:spPr>
        <p:txBody>
          <a:bodyPr wrap="square" lIns="0" tIns="0" rIns="0" bIns="0" rtlCol="0" anchor="t"/>
          <a:lstStyle/>
          <a:p>
            <a:pPr indent="0" marL="0">
              <a:buNone/>
            </a:pPr>
            <a:r>
              <a:rPr lang="en-US" sz="1050" dirty="0">
                <a:solidFill>
                  <a:schemeClr val="bg2"/>
                </a:solidFill>
              </a:rPr>
              <a:t>A rollover from a plan the firm recordkeeps into a firm IRA is an inter-channel transfer. It moves assets from the workplace channel to the advice channel and raises Advised Assets. It is not Net New Assets at the firm total.</a:t>
            </a:r>
            <a:endParaRPr lang="en-US" sz="1050" dirty="0"/>
          </a:p>
        </p:txBody>
      </p:sp>
      <p:sp>
        <p:nvSpPr>
          <p:cNvPr id="60" name="text"/>
          <p:cNvSpPr txBox="1"/>
          <p:nvPr/>
        </p:nvSpPr>
        <p:spPr>
          <a:xfrm>
            <a:off x="9601200" y="3794760"/>
            <a:ext cx="1858975" cy="457200"/>
          </a:xfrm>
          <a:prstGeom prst="rect">
            <a:avLst/>
          </a:prstGeom>
          <a:noFill/>
          <a:ln/>
        </p:spPr>
        <p:txBody>
          <a:bodyPr wrap="square" lIns="0" tIns="0" rIns="0" bIns="0" rtlCol="0" anchor="t"/>
          <a:lstStyle/>
          <a:p>
            <a:pPr indent="0" marL="0">
              <a:buNone/>
            </a:pPr>
            <a:r>
              <a:rPr lang="en-US" sz="1050" dirty="0">
                <a:solidFill>
                  <a:schemeClr val="bg2"/>
                </a:solidFill>
              </a:rPr>
              <a:t>A rollover from an external plan is Net New Assets.</a:t>
            </a:r>
            <a:endParaRPr lang="en-US" sz="1050" dirty="0"/>
          </a:p>
        </p:txBody>
      </p:sp>
      <p:sp>
        <p:nvSpPr>
          <p:cNvPr id="61" name="text"/>
          <p:cNvSpPr txBox="1"/>
          <p:nvPr/>
        </p:nvSpPr>
        <p:spPr>
          <a:xfrm>
            <a:off x="9601200" y="4434840"/>
            <a:ext cx="1858975" cy="1097280"/>
          </a:xfrm>
          <a:prstGeom prst="rect">
            <a:avLst/>
          </a:prstGeom>
          <a:noFill/>
          <a:ln/>
        </p:spPr>
        <p:txBody>
          <a:bodyPr wrap="square" lIns="0" tIns="0" rIns="0" bIns="0" rtlCol="0" anchor="t"/>
          <a:lstStyle/>
          <a:p>
            <a:pPr indent="0" marL="0">
              <a:buNone/>
            </a:pPr>
            <a:r>
              <a:rPr lang="en-US" sz="1050" b="1" dirty="0">
                <a:solidFill>
                  <a:schemeClr val="bg1"/>
                </a:solidFill>
              </a:rPr>
              <a:t>Decided once, in one product, under one owner. Every consumer product, dashboard and AI answer inherits it; none may recalculate it.</a:t>
            </a:r>
            <a:endParaRPr lang="en-US" sz="1050" dirty="0"/>
          </a:p>
        </p:txBody>
      </p:sp>
      <p:sp>
        <p:nvSpPr>
          <p:cNvPr id="62" name="text"/>
          <p:cNvSpPr txBox="1"/>
          <p:nvPr/>
        </p:nvSpPr>
        <p:spPr>
          <a:xfrm>
            <a:off x="9601200" y="5532120"/>
            <a:ext cx="1858975" cy="548640"/>
          </a:xfrm>
          <a:prstGeom prst="rect">
            <a:avLst/>
          </a:prstGeom>
          <a:noFill/>
          <a:ln/>
        </p:spPr>
        <p:txBody>
          <a:bodyPr wrap="square" lIns="0" tIns="0" rIns="0" bIns="0" rtlCol="0" anchor="t"/>
          <a:lstStyle/>
          <a:p>
            <a:pPr indent="0" marL="0">
              <a:buNone/>
            </a:pPr>
            <a:r>
              <a:rPr lang="en-US" sz="950" i="1" dirty="0">
                <a:solidFill>
                  <a:schemeClr val="bg2"/>
                </a:solidFill>
              </a:rPr>
              <a:t>Daily flash, then the monthly locked snapshot; changes after lock arrive only as an approved restatement.</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Step 3. Consumer products: where the four ideas first meet</a:t>
            </a:r>
            <a:endParaRPr lang="en-US" sz="2800" dirty="0"/>
          </a:p>
        </p:txBody>
      </p:sp>
      <p:sp>
        <p:nvSpPr>
          <p:cNvPr id="4" name="card"/>
          <p:cNvSpPr/>
          <p:nvPr/>
        </p:nvSpPr>
        <p:spPr>
          <a:xfrm>
            <a:off x="548640" y="1417320"/>
            <a:ext cx="2377440" cy="4800600"/>
          </a:xfrm>
          <a:prstGeom prst="roundRect">
            <a:avLst>
              <a:gd name="adj" fmla="val 3077"/>
            </a:avLst>
          </a:prstGeom>
          <a:solidFill>
            <a:schemeClr val="bg2"/>
          </a:solidFill>
          <a:ln w="12700">
            <a:solidFill>
              <a:schemeClr val="bg2"/>
            </a:solidFill>
            <a:prstDash val="solid"/>
          </a:ln>
        </p:spPr>
      </p:sp>
      <p:sp>
        <p:nvSpPr>
          <p:cNvPr id="5" name="text"/>
          <p:cNvSpPr txBox="1"/>
          <p:nvPr/>
        </p:nvSpPr>
        <p:spPr>
          <a:xfrm>
            <a:off x="731520" y="1581912"/>
            <a:ext cx="2011680" cy="274320"/>
          </a:xfrm>
          <a:prstGeom prst="rect">
            <a:avLst/>
          </a:prstGeom>
          <a:noFill/>
          <a:ln/>
        </p:spPr>
        <p:txBody>
          <a:bodyPr wrap="square" lIns="0" tIns="0" rIns="0" bIns="0" rtlCol="0" anchor="t"/>
          <a:lstStyle/>
          <a:p>
            <a:pPr indent="0" marL="0">
              <a:buNone/>
            </a:pPr>
            <a:r>
              <a:rPr lang="en-US" sz="1000" b="1" dirty="0">
                <a:solidFill>
                  <a:schemeClr val="accent6"/>
                </a:solidFill>
              </a:rPr>
              <a:t>WHERE WE ARE</a:t>
            </a:r>
            <a:endParaRPr lang="en-US" sz="1000" dirty="0"/>
          </a:p>
        </p:txBody>
      </p:sp>
      <p:sp>
        <p:nvSpPr>
          <p:cNvPr id="6" name="chip"/>
          <p:cNvSpPr/>
          <p:nvPr/>
        </p:nvSpPr>
        <p:spPr>
          <a:xfrm>
            <a:off x="749808" y="2057400"/>
            <a:ext cx="384048" cy="384048"/>
          </a:xfrm>
          <a:prstGeom prst="ellipse">
            <a:avLst/>
          </a:prstGeom>
          <a:solidFill>
            <a:schemeClr val="bg2"/>
          </a:solidFill>
          <a:ln w="12700">
            <a:solidFill>
              <a:schemeClr val="accent6"/>
            </a:solidFill>
            <a:prstDash val="solid"/>
          </a:ln>
        </p:spPr>
      </p:sp>
      <p:sp>
        <p:nvSpPr>
          <p:cNvPr id="7" name="text"/>
          <p:cNvSpPr txBox="1"/>
          <p:nvPr/>
        </p:nvSpPr>
        <p:spPr>
          <a:xfrm>
            <a:off x="749808" y="2057400"/>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1</a:t>
            </a:r>
            <a:endParaRPr lang="en-US" sz="1200" dirty="0"/>
          </a:p>
        </p:txBody>
      </p:sp>
      <p:sp>
        <p:nvSpPr>
          <p:cNvPr id="8" name="text"/>
          <p:cNvSpPr txBox="1"/>
          <p:nvPr/>
        </p:nvSpPr>
        <p:spPr>
          <a:xfrm>
            <a:off x="1243584" y="2039112"/>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Source systems</a:t>
            </a:r>
            <a:endParaRPr lang="en-US" sz="1200" dirty="0"/>
          </a:p>
        </p:txBody>
      </p:sp>
      <p:sp>
        <p:nvSpPr>
          <p:cNvPr id="9" name="chip"/>
          <p:cNvSpPr/>
          <p:nvPr/>
        </p:nvSpPr>
        <p:spPr>
          <a:xfrm>
            <a:off x="749808" y="2898648"/>
            <a:ext cx="384048" cy="384048"/>
          </a:xfrm>
          <a:prstGeom prst="ellipse">
            <a:avLst/>
          </a:prstGeom>
          <a:solidFill>
            <a:schemeClr val="bg2"/>
          </a:solidFill>
          <a:ln w="12700">
            <a:solidFill>
              <a:schemeClr val="accent6"/>
            </a:solidFill>
            <a:prstDash val="solid"/>
          </a:ln>
        </p:spPr>
      </p:sp>
      <p:sp>
        <p:nvSpPr>
          <p:cNvPr id="10" name="text"/>
          <p:cNvSpPr txBox="1"/>
          <p:nvPr/>
        </p:nvSpPr>
        <p:spPr>
          <a:xfrm>
            <a:off x="749808" y="2898648"/>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2</a:t>
            </a:r>
            <a:endParaRPr lang="en-US" sz="1200" dirty="0"/>
          </a:p>
        </p:txBody>
      </p:sp>
      <p:sp>
        <p:nvSpPr>
          <p:cNvPr id="11" name="text"/>
          <p:cNvSpPr txBox="1"/>
          <p:nvPr/>
        </p:nvSpPr>
        <p:spPr>
          <a:xfrm>
            <a:off x="1243584" y="2880360"/>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Taxonomy</a:t>
            </a:r>
            <a:endParaRPr lang="en-US" sz="1200" dirty="0"/>
          </a:p>
        </p:txBody>
      </p:sp>
      <p:sp>
        <p:nvSpPr>
          <p:cNvPr id="12" name="chip"/>
          <p:cNvSpPr/>
          <p:nvPr/>
        </p:nvSpPr>
        <p:spPr>
          <a:xfrm>
            <a:off x="749808" y="3739896"/>
            <a:ext cx="384048" cy="384048"/>
          </a:xfrm>
          <a:prstGeom prst="ellipse">
            <a:avLst/>
          </a:prstGeom>
          <a:solidFill>
            <a:schemeClr val="bg2"/>
          </a:solidFill>
          <a:ln w="12700">
            <a:solidFill>
              <a:schemeClr val="accent6"/>
            </a:solidFill>
            <a:prstDash val="solid"/>
          </a:ln>
        </p:spPr>
      </p:sp>
      <p:sp>
        <p:nvSpPr>
          <p:cNvPr id="13" name="text"/>
          <p:cNvSpPr txBox="1"/>
          <p:nvPr/>
        </p:nvSpPr>
        <p:spPr>
          <a:xfrm>
            <a:off x="749808" y="3739896"/>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3</a:t>
            </a:r>
            <a:endParaRPr lang="en-US" sz="1200" dirty="0"/>
          </a:p>
        </p:txBody>
      </p:sp>
      <p:sp>
        <p:nvSpPr>
          <p:cNvPr id="14" name="text"/>
          <p:cNvSpPr txBox="1"/>
          <p:nvPr/>
        </p:nvSpPr>
        <p:spPr>
          <a:xfrm>
            <a:off x="1243584" y="3721608"/>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Foundational products</a:t>
            </a:r>
            <a:endParaRPr lang="en-US" sz="1200" dirty="0"/>
          </a:p>
        </p:txBody>
      </p:sp>
      <p:sp>
        <p:nvSpPr>
          <p:cNvPr id="15" name="chip"/>
          <p:cNvSpPr/>
          <p:nvPr/>
        </p:nvSpPr>
        <p:spPr>
          <a:xfrm>
            <a:off x="749808" y="4581144"/>
            <a:ext cx="384048" cy="384048"/>
          </a:xfrm>
          <a:prstGeom prst="ellipse">
            <a:avLst/>
          </a:prstGeom>
          <a:solidFill>
            <a:schemeClr val="accent3"/>
          </a:solidFill>
          <a:ln w="12700">
            <a:solidFill>
              <a:schemeClr val="accent3"/>
            </a:solidFill>
            <a:prstDash val="solid"/>
          </a:ln>
        </p:spPr>
      </p:sp>
      <p:sp>
        <p:nvSpPr>
          <p:cNvPr id="16" name="text"/>
          <p:cNvSpPr txBox="1"/>
          <p:nvPr/>
        </p:nvSpPr>
        <p:spPr>
          <a:xfrm>
            <a:off x="749808" y="4581144"/>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text"/>
          <p:cNvSpPr txBox="1"/>
          <p:nvPr/>
        </p:nvSpPr>
        <p:spPr>
          <a:xfrm>
            <a:off x="1243584" y="4562856"/>
            <a:ext cx="1783080" cy="420624"/>
          </a:xfrm>
          <a:prstGeom prst="rect">
            <a:avLst/>
          </a:prstGeom>
          <a:noFill/>
          <a:ln/>
        </p:spPr>
        <p:txBody>
          <a:bodyPr wrap="square" lIns="0" tIns="0" rIns="0" bIns="0" rtlCol="0" anchor="ctr"/>
          <a:lstStyle/>
          <a:p>
            <a:pPr indent="0" marL="0">
              <a:buNone/>
            </a:pPr>
            <a:r>
              <a:rPr lang="en-US" sz="1200" b="1" dirty="0">
                <a:solidFill>
                  <a:schemeClr val="tx1"/>
                </a:solidFill>
              </a:rPr>
              <a:t>Consumer products</a:t>
            </a:r>
            <a:endParaRPr lang="en-US" sz="1200" dirty="0"/>
          </a:p>
        </p:txBody>
      </p:sp>
      <p:sp>
        <p:nvSpPr>
          <p:cNvPr id="18" name="chip"/>
          <p:cNvSpPr/>
          <p:nvPr/>
        </p:nvSpPr>
        <p:spPr>
          <a:xfrm>
            <a:off x="749808" y="5422392"/>
            <a:ext cx="384048" cy="384048"/>
          </a:xfrm>
          <a:prstGeom prst="ellipse">
            <a:avLst/>
          </a:prstGeom>
          <a:solidFill>
            <a:schemeClr val="bg2"/>
          </a:solidFill>
          <a:ln w="12700">
            <a:solidFill>
              <a:schemeClr val="accent6"/>
            </a:solidFill>
            <a:prstDash val="solid"/>
          </a:ln>
        </p:spPr>
      </p:sp>
      <p:sp>
        <p:nvSpPr>
          <p:cNvPr id="19" name="text"/>
          <p:cNvSpPr txBox="1"/>
          <p:nvPr/>
        </p:nvSpPr>
        <p:spPr>
          <a:xfrm>
            <a:off x="749808" y="5422392"/>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5</a:t>
            </a:r>
            <a:endParaRPr lang="en-US" sz="1200" dirty="0"/>
          </a:p>
        </p:txBody>
      </p:sp>
      <p:sp>
        <p:nvSpPr>
          <p:cNvPr id="20" name="text"/>
          <p:cNvSpPr txBox="1"/>
          <p:nvPr/>
        </p:nvSpPr>
        <p:spPr>
          <a:xfrm>
            <a:off x="1243584" y="5404104"/>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Semantic model and uses</a:t>
            </a:r>
            <a:endParaRPr lang="en-US" sz="1200" dirty="0"/>
          </a:p>
        </p:txBody>
      </p:sp>
      <p:sp>
        <p:nvSpPr>
          <p:cNvPr id="21" name="card"/>
          <p:cNvSpPr/>
          <p:nvPr/>
        </p:nvSpPr>
        <p:spPr>
          <a:xfrm>
            <a:off x="3154680" y="1417320"/>
            <a:ext cx="4152748" cy="1207008"/>
          </a:xfrm>
          <a:prstGeom prst="roundRect">
            <a:avLst>
              <a:gd name="adj" fmla="val 6061"/>
            </a:avLst>
          </a:prstGeom>
          <a:solidFill>
            <a:schemeClr val="bg2"/>
          </a:solidFill>
          <a:ln w="12700">
            <a:solidFill>
              <a:schemeClr val="bg2"/>
            </a:solidFill>
            <a:prstDash val="solid"/>
          </a:ln>
        </p:spPr>
      </p:sp>
      <p:sp>
        <p:nvSpPr>
          <p:cNvPr id="22" name="text"/>
          <p:cNvSpPr txBox="1"/>
          <p:nvPr/>
        </p:nvSpPr>
        <p:spPr>
          <a:xfrm>
            <a:off x="3291840" y="1490472"/>
            <a:ext cx="777240" cy="274320"/>
          </a:xfrm>
          <a:prstGeom prst="rect">
            <a:avLst/>
          </a:prstGeom>
          <a:noFill/>
          <a:ln/>
        </p:spPr>
        <p:txBody>
          <a:bodyPr wrap="square" lIns="0" tIns="0" rIns="0" bIns="0" rtlCol="0" anchor="t"/>
          <a:lstStyle/>
          <a:p>
            <a:pPr indent="0" marL="0">
              <a:buNone/>
            </a:pPr>
            <a:r>
              <a:rPr lang="en-US" sz="1050" b="1" dirty="0">
                <a:solidFill>
                  <a:schemeClr val="accent1"/>
                </a:solidFill>
              </a:rPr>
              <a:t>DP-335</a:t>
            </a:r>
            <a:endParaRPr lang="en-US" sz="1050" dirty="0"/>
          </a:p>
        </p:txBody>
      </p:sp>
      <p:sp>
        <p:nvSpPr>
          <p:cNvPr id="23" name="text"/>
          <p:cNvSpPr txBox="1"/>
          <p:nvPr/>
        </p:nvSpPr>
        <p:spPr>
          <a:xfrm>
            <a:off x="6393028" y="1508760"/>
            <a:ext cx="777240" cy="256032"/>
          </a:xfrm>
          <a:prstGeom prst="rect">
            <a:avLst/>
          </a:prstGeom>
          <a:noFill/>
          <a:ln/>
        </p:spPr>
        <p:txBody>
          <a:bodyPr wrap="square" lIns="0" tIns="0" rIns="0" bIns="0" rtlCol="0" anchor="t"/>
          <a:lstStyle/>
          <a:p>
            <a:pPr algn="r" indent="0" marL="0">
              <a:buNone/>
            </a:pPr>
            <a:r>
              <a:rPr lang="en-US" sz="900" b="1" dirty="0">
                <a:solidFill>
                  <a:schemeClr val="accent1"/>
                </a:solidFill>
              </a:rPr>
              <a:t>Evidence</a:t>
            </a:r>
            <a:endParaRPr lang="en-US" sz="900" dirty="0"/>
          </a:p>
        </p:txBody>
      </p:sp>
      <p:sp>
        <p:nvSpPr>
          <p:cNvPr id="24" name="text"/>
          <p:cNvSpPr txBox="1"/>
          <p:nvPr/>
        </p:nvSpPr>
        <p:spPr>
          <a:xfrm>
            <a:off x="3291840" y="1746504"/>
            <a:ext cx="3878428" cy="274320"/>
          </a:xfrm>
          <a:prstGeom prst="rect">
            <a:avLst/>
          </a:prstGeom>
          <a:noFill/>
          <a:ln/>
        </p:spPr>
        <p:txBody>
          <a:bodyPr wrap="square" lIns="0" tIns="0" rIns="0" bIns="0" rtlCol="0" anchor="t"/>
          <a:lstStyle/>
          <a:p>
            <a:pPr indent="0" marL="0">
              <a:buNone/>
            </a:pPr>
            <a:r>
              <a:rPr lang="en-US" sz="1050" b="1" dirty="0">
                <a:solidFill>
                  <a:schemeClr val="tx2"/>
                </a:solidFill>
              </a:rPr>
              <a:t>Rollover Recommendations &amp; PTE 2020-02 Evidence</a:t>
            </a:r>
            <a:endParaRPr lang="en-US" sz="1050" dirty="0"/>
          </a:p>
        </p:txBody>
      </p:sp>
      <p:sp>
        <p:nvSpPr>
          <p:cNvPr id="25" name="text"/>
          <p:cNvSpPr txBox="1"/>
          <p:nvPr/>
        </p:nvSpPr>
        <p:spPr>
          <a:xfrm>
            <a:off x="3291840" y="2020824"/>
            <a:ext cx="3878428" cy="603504"/>
          </a:xfrm>
          <a:prstGeom prst="rect">
            <a:avLst/>
          </a:prstGeom>
          <a:noFill/>
          <a:ln/>
        </p:spPr>
        <p:txBody>
          <a:bodyPr wrap="square" lIns="0" tIns="0" rIns="0" bIns="0" rtlCol="0" anchor="t"/>
          <a:lstStyle/>
          <a:p>
            <a:pPr indent="0" marL="0">
              <a:buNone/>
            </a:pPr>
            <a:r>
              <a:rPr lang="en-US" sz="850" dirty="0">
                <a:solidFill>
                  <a:schemeClr val="tx1"/>
                </a:solidFill>
              </a:rPr>
              <a:t>Every rollover recommendation with its analysis, options compared, fiduciary status basis, the three PTE delivery dates, the attestation and the receiving IRA. Defines PTE Documentation Gap Flag, once. Supplies the population of the 08 annual retrospective review.</a:t>
            </a:r>
            <a:endParaRPr lang="en-US" sz="850" dirty="0"/>
          </a:p>
        </p:txBody>
      </p:sp>
      <p:sp>
        <p:nvSpPr>
          <p:cNvPr id="26" name="card"/>
          <p:cNvSpPr/>
          <p:nvPr/>
        </p:nvSpPr>
        <p:spPr>
          <a:xfrm>
            <a:off x="7444588" y="1417320"/>
            <a:ext cx="4152748" cy="1207008"/>
          </a:xfrm>
          <a:prstGeom prst="roundRect">
            <a:avLst>
              <a:gd name="adj" fmla="val 6061"/>
            </a:avLst>
          </a:prstGeom>
          <a:solidFill>
            <a:schemeClr val="bg2"/>
          </a:solidFill>
          <a:ln w="12700">
            <a:solidFill>
              <a:schemeClr val="bg2"/>
            </a:solidFill>
            <a:prstDash val="solid"/>
          </a:ln>
        </p:spPr>
      </p:sp>
      <p:sp>
        <p:nvSpPr>
          <p:cNvPr id="27" name="text"/>
          <p:cNvSpPr txBox="1"/>
          <p:nvPr/>
        </p:nvSpPr>
        <p:spPr>
          <a:xfrm>
            <a:off x="7581748" y="1490472"/>
            <a:ext cx="777240" cy="274320"/>
          </a:xfrm>
          <a:prstGeom prst="rect">
            <a:avLst/>
          </a:prstGeom>
          <a:noFill/>
          <a:ln/>
        </p:spPr>
        <p:txBody>
          <a:bodyPr wrap="square" lIns="0" tIns="0" rIns="0" bIns="0" rtlCol="0" anchor="t"/>
          <a:lstStyle/>
          <a:p>
            <a:pPr indent="0" marL="0">
              <a:buNone/>
            </a:pPr>
            <a:r>
              <a:rPr lang="en-US" sz="1050" b="1" dirty="0">
                <a:solidFill>
                  <a:schemeClr val="accent4"/>
                </a:solidFill>
              </a:rPr>
              <a:t>DP-467</a:t>
            </a:r>
            <a:endParaRPr lang="en-US" sz="1050" dirty="0"/>
          </a:p>
        </p:txBody>
      </p:sp>
      <p:sp>
        <p:nvSpPr>
          <p:cNvPr id="28" name="text"/>
          <p:cNvSpPr txBox="1"/>
          <p:nvPr/>
        </p:nvSpPr>
        <p:spPr>
          <a:xfrm>
            <a:off x="10682935" y="1508760"/>
            <a:ext cx="777240" cy="256032"/>
          </a:xfrm>
          <a:prstGeom prst="rect">
            <a:avLst/>
          </a:prstGeom>
          <a:noFill/>
          <a:ln/>
        </p:spPr>
        <p:txBody>
          <a:bodyPr wrap="square" lIns="0" tIns="0" rIns="0" bIns="0" rtlCol="0" anchor="t"/>
          <a:lstStyle/>
          <a:p>
            <a:pPr algn="r" indent="0" marL="0">
              <a:buNone/>
            </a:pPr>
            <a:r>
              <a:rPr lang="en-US" sz="900" b="1" dirty="0">
                <a:solidFill>
                  <a:schemeClr val="accent4"/>
                </a:solidFill>
              </a:rPr>
              <a:t>Analytical</a:t>
            </a:r>
            <a:endParaRPr lang="en-US" sz="900" dirty="0"/>
          </a:p>
        </p:txBody>
      </p:sp>
      <p:sp>
        <p:nvSpPr>
          <p:cNvPr id="29" name="text"/>
          <p:cNvSpPr txBox="1"/>
          <p:nvPr/>
        </p:nvSpPr>
        <p:spPr>
          <a:xfrm>
            <a:off x="7581748" y="1746504"/>
            <a:ext cx="3878428" cy="274320"/>
          </a:xfrm>
          <a:prstGeom prst="rect">
            <a:avLst/>
          </a:prstGeom>
          <a:noFill/>
          <a:ln/>
        </p:spPr>
        <p:txBody>
          <a:bodyPr wrap="square" lIns="0" tIns="0" rIns="0" bIns="0" rtlCol="0" anchor="t"/>
          <a:lstStyle/>
          <a:p>
            <a:pPr indent="0" marL="0">
              <a:buNone/>
            </a:pPr>
            <a:r>
              <a:rPr lang="en-US" sz="1050" b="1" dirty="0">
                <a:solidFill>
                  <a:schemeClr val="tx2"/>
                </a:solidFill>
              </a:rPr>
              <a:t>Rollover Capture</a:t>
            </a:r>
            <a:endParaRPr lang="en-US" sz="1050" dirty="0"/>
          </a:p>
        </p:txBody>
      </p:sp>
      <p:sp>
        <p:nvSpPr>
          <p:cNvPr id="30" name="text"/>
          <p:cNvSpPr txBox="1"/>
          <p:nvPr/>
        </p:nvSpPr>
        <p:spPr>
          <a:xfrm>
            <a:off x="7581748" y="2020824"/>
            <a:ext cx="3878428" cy="603504"/>
          </a:xfrm>
          <a:prstGeom prst="rect">
            <a:avLst/>
          </a:prstGeom>
          <a:noFill/>
          <a:ln/>
        </p:spPr>
        <p:txBody>
          <a:bodyPr wrap="square" lIns="0" tIns="0" rIns="0" bIns="0" rtlCol="0" anchor="t"/>
          <a:lstStyle/>
          <a:p>
            <a:pPr indent="0" marL="0">
              <a:buNone/>
            </a:pPr>
            <a:r>
              <a:rPr lang="en-US" sz="850" dirty="0">
                <a:solidFill>
                  <a:schemeClr val="tx1"/>
                </a:solidFill>
              </a:rPr>
              <a:t>Separations, Rollovers Into the Direct Business and Direct Business Rollover Share, by plan and receiving line: operational funnel values. Reads Net Inter-Channel Transfers from DP-008 and publishes the residual, never a second certified number.</a:t>
            </a:r>
            <a:endParaRPr lang="en-US" sz="850" dirty="0"/>
          </a:p>
        </p:txBody>
      </p:sp>
      <p:sp>
        <p:nvSpPr>
          <p:cNvPr id="31" name="card"/>
          <p:cNvSpPr/>
          <p:nvPr/>
        </p:nvSpPr>
        <p:spPr>
          <a:xfrm>
            <a:off x="3154680" y="2743200"/>
            <a:ext cx="4152748" cy="1207008"/>
          </a:xfrm>
          <a:prstGeom prst="roundRect">
            <a:avLst>
              <a:gd name="adj" fmla="val 6061"/>
            </a:avLst>
          </a:prstGeom>
          <a:solidFill>
            <a:schemeClr val="bg2"/>
          </a:solidFill>
          <a:ln w="12700">
            <a:solidFill>
              <a:schemeClr val="bg2"/>
            </a:solidFill>
            <a:prstDash val="solid"/>
          </a:ln>
        </p:spPr>
      </p:sp>
      <p:sp>
        <p:nvSpPr>
          <p:cNvPr id="32" name="text"/>
          <p:cNvSpPr txBox="1"/>
          <p:nvPr/>
        </p:nvSpPr>
        <p:spPr>
          <a:xfrm>
            <a:off x="3291840" y="2816352"/>
            <a:ext cx="777240" cy="274320"/>
          </a:xfrm>
          <a:prstGeom prst="rect">
            <a:avLst/>
          </a:prstGeom>
          <a:noFill/>
          <a:ln/>
        </p:spPr>
        <p:txBody>
          <a:bodyPr wrap="square" lIns="0" tIns="0" rIns="0" bIns="0" rtlCol="0" anchor="t"/>
          <a:lstStyle/>
          <a:p>
            <a:pPr indent="0" marL="0">
              <a:buNone/>
            </a:pPr>
            <a:r>
              <a:rPr lang="en-US" sz="1050" b="1" dirty="0">
                <a:solidFill>
                  <a:schemeClr val="accent4"/>
                </a:solidFill>
              </a:rPr>
              <a:t>DP-320</a:t>
            </a:r>
            <a:endParaRPr lang="en-US" sz="1050" dirty="0"/>
          </a:p>
        </p:txBody>
      </p:sp>
      <p:sp>
        <p:nvSpPr>
          <p:cNvPr id="33" name="text"/>
          <p:cNvSpPr txBox="1"/>
          <p:nvPr/>
        </p:nvSpPr>
        <p:spPr>
          <a:xfrm>
            <a:off x="6393028" y="2834640"/>
            <a:ext cx="777240" cy="256032"/>
          </a:xfrm>
          <a:prstGeom prst="rect">
            <a:avLst/>
          </a:prstGeom>
          <a:noFill/>
          <a:ln/>
        </p:spPr>
        <p:txBody>
          <a:bodyPr wrap="square" lIns="0" tIns="0" rIns="0" bIns="0" rtlCol="0" anchor="t"/>
          <a:lstStyle/>
          <a:p>
            <a:pPr algn="r" indent="0" marL="0">
              <a:buNone/>
            </a:pPr>
            <a:r>
              <a:rPr lang="en-US" sz="900" b="1" dirty="0">
                <a:solidFill>
                  <a:schemeClr val="accent4"/>
                </a:solidFill>
              </a:rPr>
              <a:t>Analytical</a:t>
            </a:r>
            <a:endParaRPr lang="en-US" sz="900" dirty="0"/>
          </a:p>
        </p:txBody>
      </p:sp>
      <p:sp>
        <p:nvSpPr>
          <p:cNvPr id="34" name="text"/>
          <p:cNvSpPr txBox="1"/>
          <p:nvPr/>
        </p:nvSpPr>
        <p:spPr>
          <a:xfrm>
            <a:off x="3291840" y="3072384"/>
            <a:ext cx="3878428" cy="274320"/>
          </a:xfrm>
          <a:prstGeom prst="rect">
            <a:avLst/>
          </a:prstGeom>
          <a:noFill/>
          <a:ln/>
        </p:spPr>
        <p:txBody>
          <a:bodyPr wrap="square" lIns="0" tIns="0" rIns="0" bIns="0" rtlCol="0" anchor="t"/>
          <a:lstStyle/>
          <a:p>
            <a:pPr indent="0" marL="0">
              <a:buNone/>
            </a:pPr>
            <a:r>
              <a:rPr lang="en-US" sz="1050" b="1" dirty="0">
                <a:solidFill>
                  <a:schemeClr val="tx2"/>
                </a:solidFill>
              </a:rPr>
              <a:t>Household 360</a:t>
            </a:r>
            <a:endParaRPr lang="en-US" sz="1050" dirty="0"/>
          </a:p>
        </p:txBody>
      </p:sp>
      <p:sp>
        <p:nvSpPr>
          <p:cNvPr id="35" name="text"/>
          <p:cNvSpPr txBox="1"/>
          <p:nvPr/>
        </p:nvSpPr>
        <p:spPr>
          <a:xfrm>
            <a:off x="3291840" y="3346704"/>
            <a:ext cx="3878428" cy="603504"/>
          </a:xfrm>
          <a:prstGeom prst="rect">
            <a:avLst/>
          </a:prstGeom>
          <a:noFill/>
          <a:ln/>
        </p:spPr>
        <p:txBody>
          <a:bodyPr wrap="square" lIns="0" tIns="0" rIns="0" bIns="0" rtlCol="0" anchor="t"/>
          <a:lstStyle/>
          <a:p>
            <a:pPr indent="0" marL="0">
              <a:buNone/>
            </a:pPr>
            <a:r>
              <a:rPr lang="en-US" sz="850" dirty="0">
                <a:solidFill>
                  <a:schemeClr val="tx1"/>
                </a:solidFill>
              </a:rPr>
              <a:t>The Okafor household for the advisor: members and roles, accounts and enrollments, Client Assets and Advised Assets (certified), Personal Rate of Return by reference, protection flags, open recommendations.</a:t>
            </a:r>
            <a:endParaRPr lang="en-US" sz="850" dirty="0"/>
          </a:p>
        </p:txBody>
      </p:sp>
      <p:sp>
        <p:nvSpPr>
          <p:cNvPr id="36" name="card"/>
          <p:cNvSpPr/>
          <p:nvPr/>
        </p:nvSpPr>
        <p:spPr>
          <a:xfrm>
            <a:off x="7444588" y="2743200"/>
            <a:ext cx="4152748" cy="1207008"/>
          </a:xfrm>
          <a:prstGeom prst="roundRect">
            <a:avLst>
              <a:gd name="adj" fmla="val 6061"/>
            </a:avLst>
          </a:prstGeom>
          <a:solidFill>
            <a:schemeClr val="bg2"/>
          </a:solidFill>
          <a:ln w="12700">
            <a:solidFill>
              <a:schemeClr val="bg2"/>
            </a:solidFill>
            <a:prstDash val="solid"/>
          </a:ln>
        </p:spPr>
      </p:sp>
      <p:sp>
        <p:nvSpPr>
          <p:cNvPr id="37" name="text"/>
          <p:cNvSpPr txBox="1"/>
          <p:nvPr/>
        </p:nvSpPr>
        <p:spPr>
          <a:xfrm>
            <a:off x="7581748" y="2816352"/>
            <a:ext cx="777240" cy="274320"/>
          </a:xfrm>
          <a:prstGeom prst="rect">
            <a:avLst/>
          </a:prstGeom>
          <a:noFill/>
          <a:ln/>
        </p:spPr>
        <p:txBody>
          <a:bodyPr wrap="square" lIns="0" tIns="0" rIns="0" bIns="0" rtlCol="0" anchor="t"/>
          <a:lstStyle/>
          <a:p>
            <a:pPr indent="0" marL="0">
              <a:buNone/>
            </a:pPr>
            <a:r>
              <a:rPr lang="en-US" sz="1050" b="1" dirty="0">
                <a:solidFill>
                  <a:schemeClr val="accent5"/>
                </a:solidFill>
              </a:rPr>
              <a:t>DP-340</a:t>
            </a:r>
            <a:endParaRPr lang="en-US" sz="1050" dirty="0"/>
          </a:p>
        </p:txBody>
      </p:sp>
      <p:sp>
        <p:nvSpPr>
          <p:cNvPr id="38" name="text"/>
          <p:cNvSpPr txBox="1"/>
          <p:nvPr/>
        </p:nvSpPr>
        <p:spPr>
          <a:xfrm>
            <a:off x="10682935" y="2834640"/>
            <a:ext cx="777240" cy="256032"/>
          </a:xfrm>
          <a:prstGeom prst="rect">
            <a:avLst/>
          </a:prstGeom>
          <a:noFill/>
          <a:ln/>
        </p:spPr>
        <p:txBody>
          <a:bodyPr wrap="square" lIns="0" tIns="0" rIns="0" bIns="0" rtlCol="0" anchor="t"/>
          <a:lstStyle/>
          <a:p>
            <a:pPr algn="r" indent="0" marL="0">
              <a:buNone/>
            </a:pPr>
            <a:r>
              <a:rPr lang="en-US" sz="900" b="1" dirty="0">
                <a:solidFill>
                  <a:schemeClr val="accent5"/>
                </a:solidFill>
              </a:rPr>
              <a:t>Workflow</a:t>
            </a:r>
            <a:endParaRPr lang="en-US" sz="900" dirty="0"/>
          </a:p>
        </p:txBody>
      </p:sp>
      <p:sp>
        <p:nvSpPr>
          <p:cNvPr id="39" name="text"/>
          <p:cNvSpPr txBox="1"/>
          <p:nvPr/>
        </p:nvSpPr>
        <p:spPr>
          <a:xfrm>
            <a:off x="7581748" y="3072384"/>
            <a:ext cx="3878428" cy="274320"/>
          </a:xfrm>
          <a:prstGeom prst="rect">
            <a:avLst/>
          </a:prstGeom>
          <a:noFill/>
          <a:ln/>
        </p:spPr>
        <p:txBody>
          <a:bodyPr wrap="square" lIns="0" tIns="0" rIns="0" bIns="0" rtlCol="0" anchor="t"/>
          <a:lstStyle/>
          <a:p>
            <a:pPr indent="0" marL="0">
              <a:buNone/>
            </a:pPr>
            <a:r>
              <a:rPr lang="en-US" sz="1050" b="1" dirty="0">
                <a:solidFill>
                  <a:schemeClr val="tx2"/>
                </a:solidFill>
              </a:rPr>
              <a:t>Advisor Client Action Worklist</a:t>
            </a:r>
            <a:endParaRPr lang="en-US" sz="1050" dirty="0"/>
          </a:p>
        </p:txBody>
      </p:sp>
      <p:sp>
        <p:nvSpPr>
          <p:cNvPr id="40" name="text"/>
          <p:cNvSpPr txBox="1"/>
          <p:nvPr/>
        </p:nvSpPr>
        <p:spPr>
          <a:xfrm>
            <a:off x="7581748" y="3346704"/>
            <a:ext cx="3878428" cy="603504"/>
          </a:xfrm>
          <a:prstGeom prst="rect">
            <a:avLst/>
          </a:prstGeom>
          <a:noFill/>
          <a:ln/>
        </p:spPr>
        <p:txBody>
          <a:bodyPr wrap="square" lIns="0" tIns="0" rIns="0" bIns="0" rtlCol="0" anchor="t"/>
          <a:lstStyle/>
          <a:p>
            <a:pPr indent="0" marL="0">
              <a:buNone/>
            </a:pPr>
            <a:r>
              <a:rPr lang="en-US" sz="850" dirty="0">
                <a:solidFill>
                  <a:schemeClr val="tx1"/>
                </a:solidFill>
              </a:rPr>
              <a:t>Puts the documentation gap, the review due and the profile confirmation in the CRM as dated actions for the advisor of record.</a:t>
            </a:r>
            <a:endParaRPr lang="en-US" sz="850" dirty="0"/>
          </a:p>
        </p:txBody>
      </p:sp>
      <p:sp>
        <p:nvSpPr>
          <p:cNvPr id="41" name="card"/>
          <p:cNvSpPr/>
          <p:nvPr/>
        </p:nvSpPr>
        <p:spPr>
          <a:xfrm>
            <a:off x="3154680" y="4069080"/>
            <a:ext cx="4152748" cy="1207008"/>
          </a:xfrm>
          <a:prstGeom prst="roundRect">
            <a:avLst>
              <a:gd name="adj" fmla="val 6061"/>
            </a:avLst>
          </a:prstGeom>
          <a:solidFill>
            <a:schemeClr val="bg2"/>
          </a:solidFill>
          <a:ln w="12700">
            <a:solidFill>
              <a:schemeClr val="bg2"/>
            </a:solidFill>
            <a:prstDash val="solid"/>
          </a:ln>
        </p:spPr>
      </p:sp>
      <p:sp>
        <p:nvSpPr>
          <p:cNvPr id="42" name="text"/>
          <p:cNvSpPr txBox="1"/>
          <p:nvPr/>
        </p:nvSpPr>
        <p:spPr>
          <a:xfrm>
            <a:off x="3291840" y="4142232"/>
            <a:ext cx="777240" cy="274320"/>
          </a:xfrm>
          <a:prstGeom prst="rect">
            <a:avLst/>
          </a:prstGeom>
          <a:noFill/>
          <a:ln/>
        </p:spPr>
        <p:txBody>
          <a:bodyPr wrap="square" lIns="0" tIns="0" rIns="0" bIns="0" rtlCol="0" anchor="t"/>
          <a:lstStyle/>
          <a:p>
            <a:pPr indent="0" marL="0">
              <a:buNone/>
            </a:pPr>
            <a:r>
              <a:rPr lang="en-US" sz="1050" b="1" dirty="0">
                <a:solidFill>
                  <a:schemeClr val="accent5"/>
                </a:solidFill>
              </a:rPr>
              <a:t>DP-398</a:t>
            </a:r>
            <a:endParaRPr lang="en-US" sz="1050" dirty="0"/>
          </a:p>
        </p:txBody>
      </p:sp>
      <p:sp>
        <p:nvSpPr>
          <p:cNvPr id="43" name="text"/>
          <p:cNvSpPr txBox="1"/>
          <p:nvPr/>
        </p:nvSpPr>
        <p:spPr>
          <a:xfrm>
            <a:off x="6393028" y="4160520"/>
            <a:ext cx="777240" cy="256032"/>
          </a:xfrm>
          <a:prstGeom prst="rect">
            <a:avLst/>
          </a:prstGeom>
          <a:noFill/>
          <a:ln/>
        </p:spPr>
        <p:txBody>
          <a:bodyPr wrap="square" lIns="0" tIns="0" rIns="0" bIns="0" rtlCol="0" anchor="t"/>
          <a:lstStyle/>
          <a:p>
            <a:pPr algn="r" indent="0" marL="0">
              <a:buNone/>
            </a:pPr>
            <a:r>
              <a:rPr lang="en-US" sz="900" b="1" dirty="0">
                <a:solidFill>
                  <a:schemeClr val="accent5"/>
                </a:solidFill>
              </a:rPr>
              <a:t>Workflow</a:t>
            </a:r>
            <a:endParaRPr lang="en-US" sz="900" dirty="0"/>
          </a:p>
        </p:txBody>
      </p:sp>
      <p:sp>
        <p:nvSpPr>
          <p:cNvPr id="44" name="text"/>
          <p:cNvSpPr txBox="1"/>
          <p:nvPr/>
        </p:nvSpPr>
        <p:spPr>
          <a:xfrm>
            <a:off x="3291840" y="4398264"/>
            <a:ext cx="3878428" cy="274320"/>
          </a:xfrm>
          <a:prstGeom prst="rect">
            <a:avLst/>
          </a:prstGeom>
          <a:noFill/>
          <a:ln/>
        </p:spPr>
        <p:txBody>
          <a:bodyPr wrap="square" lIns="0" tIns="0" rIns="0" bIns="0" rtlCol="0" anchor="t"/>
          <a:lstStyle/>
          <a:p>
            <a:pPr indent="0" marL="0">
              <a:buNone/>
            </a:pPr>
            <a:r>
              <a:rPr lang="en-US" sz="1050" b="1" dirty="0">
                <a:solidFill>
                  <a:schemeClr val="tx2"/>
                </a:solidFill>
              </a:rPr>
              <a:t>Principal Review Queue &amp; Supervisory Approvals</a:t>
            </a:r>
            <a:endParaRPr lang="en-US" sz="1050" dirty="0"/>
          </a:p>
        </p:txBody>
      </p:sp>
      <p:sp>
        <p:nvSpPr>
          <p:cNvPr id="45" name="text"/>
          <p:cNvSpPr txBox="1"/>
          <p:nvPr/>
        </p:nvSpPr>
        <p:spPr>
          <a:xfrm>
            <a:off x="3291840" y="4672584"/>
            <a:ext cx="3878428" cy="603504"/>
          </a:xfrm>
          <a:prstGeom prst="rect">
            <a:avLst/>
          </a:prstGeom>
          <a:noFill/>
          <a:ln/>
        </p:spPr>
        <p:txBody>
          <a:bodyPr wrap="square" lIns="0" tIns="0" rIns="0" bIns="0" rtlCol="0" anchor="t"/>
          <a:lstStyle/>
          <a:p>
            <a:pPr indent="0" marL="0">
              <a:buNone/>
            </a:pPr>
            <a:r>
              <a:rPr lang="en-US" sz="850" dirty="0">
                <a:solidFill>
                  <a:schemeClr val="tx1"/>
                </a:solidFill>
              </a:rPr>
              <a:t>The recommendation and the rollover in the supervisor's queue under FINRA Rule 3110; the decision is written back to 08, not to 45.</a:t>
            </a:r>
            <a:endParaRPr lang="en-US" sz="850" dirty="0"/>
          </a:p>
        </p:txBody>
      </p:sp>
      <p:sp>
        <p:nvSpPr>
          <p:cNvPr id="46" name="card"/>
          <p:cNvSpPr/>
          <p:nvPr/>
        </p:nvSpPr>
        <p:spPr>
          <a:xfrm>
            <a:off x="7444588" y="4069080"/>
            <a:ext cx="4152748" cy="1207008"/>
          </a:xfrm>
          <a:prstGeom prst="roundRect">
            <a:avLst>
              <a:gd name="adj" fmla="val 6061"/>
            </a:avLst>
          </a:prstGeom>
          <a:solidFill>
            <a:schemeClr val="bg2"/>
          </a:solidFill>
          <a:ln w="12700">
            <a:solidFill>
              <a:schemeClr val="bg2"/>
            </a:solidFill>
            <a:prstDash val="solid"/>
          </a:ln>
        </p:spPr>
      </p:sp>
      <p:sp>
        <p:nvSpPr>
          <p:cNvPr id="47" name="text"/>
          <p:cNvSpPr txBox="1"/>
          <p:nvPr/>
        </p:nvSpPr>
        <p:spPr>
          <a:xfrm>
            <a:off x="7581748" y="4142232"/>
            <a:ext cx="777240" cy="274320"/>
          </a:xfrm>
          <a:prstGeom prst="rect">
            <a:avLst/>
          </a:prstGeom>
          <a:noFill/>
          <a:ln/>
        </p:spPr>
        <p:txBody>
          <a:bodyPr wrap="square" lIns="0" tIns="0" rIns="0" bIns="0" rtlCol="0" anchor="t"/>
          <a:lstStyle/>
          <a:p>
            <a:pPr indent="0" marL="0">
              <a:buNone/>
            </a:pPr>
            <a:r>
              <a:rPr lang="en-US" sz="1050" b="1" dirty="0">
                <a:solidFill>
                  <a:schemeClr val="accent5"/>
                </a:solidFill>
              </a:rPr>
              <a:t>DP-336</a:t>
            </a:r>
            <a:endParaRPr lang="en-US" sz="1050" dirty="0"/>
          </a:p>
        </p:txBody>
      </p:sp>
      <p:sp>
        <p:nvSpPr>
          <p:cNvPr id="48" name="text"/>
          <p:cNvSpPr txBox="1"/>
          <p:nvPr/>
        </p:nvSpPr>
        <p:spPr>
          <a:xfrm>
            <a:off x="10682935" y="4160520"/>
            <a:ext cx="777240" cy="256032"/>
          </a:xfrm>
          <a:prstGeom prst="rect">
            <a:avLst/>
          </a:prstGeom>
          <a:noFill/>
          <a:ln/>
        </p:spPr>
        <p:txBody>
          <a:bodyPr wrap="square" lIns="0" tIns="0" rIns="0" bIns="0" rtlCol="0" anchor="t"/>
          <a:lstStyle/>
          <a:p>
            <a:pPr algn="r" indent="0" marL="0">
              <a:buNone/>
            </a:pPr>
            <a:r>
              <a:rPr lang="en-US" sz="900" b="1" dirty="0">
                <a:solidFill>
                  <a:schemeClr val="accent5"/>
                </a:solidFill>
              </a:rPr>
              <a:t>Workflow</a:t>
            </a:r>
            <a:endParaRPr lang="en-US" sz="900" dirty="0"/>
          </a:p>
        </p:txBody>
      </p:sp>
      <p:sp>
        <p:nvSpPr>
          <p:cNvPr id="49" name="text"/>
          <p:cNvSpPr txBox="1"/>
          <p:nvPr/>
        </p:nvSpPr>
        <p:spPr>
          <a:xfrm>
            <a:off x="7581748" y="4398264"/>
            <a:ext cx="3878428" cy="274320"/>
          </a:xfrm>
          <a:prstGeom prst="rect">
            <a:avLst/>
          </a:prstGeom>
          <a:noFill/>
          <a:ln/>
        </p:spPr>
        <p:txBody>
          <a:bodyPr wrap="square" lIns="0" tIns="0" rIns="0" bIns="0" rtlCol="0" anchor="t"/>
          <a:lstStyle/>
          <a:p>
            <a:pPr indent="0" marL="0">
              <a:buNone/>
            </a:pPr>
            <a:r>
              <a:rPr lang="en-US" sz="1050" b="1" dirty="0">
                <a:solidFill>
                  <a:schemeClr val="tx2"/>
                </a:solidFill>
              </a:rPr>
              <a:t>Advice Review Cadence &amp; Plan Currency</a:t>
            </a:r>
            <a:endParaRPr lang="en-US" sz="1050" dirty="0"/>
          </a:p>
        </p:txBody>
      </p:sp>
      <p:sp>
        <p:nvSpPr>
          <p:cNvPr id="50" name="text"/>
          <p:cNvSpPr txBox="1"/>
          <p:nvPr/>
        </p:nvSpPr>
        <p:spPr>
          <a:xfrm>
            <a:off x="7581748" y="4672584"/>
            <a:ext cx="3878428" cy="603504"/>
          </a:xfrm>
          <a:prstGeom prst="rect">
            <a:avLst/>
          </a:prstGeom>
          <a:noFill/>
          <a:ln/>
        </p:spPr>
        <p:txBody>
          <a:bodyPr wrap="square" lIns="0" tIns="0" rIns="0" bIns="0" rtlCol="0" anchor="t"/>
          <a:lstStyle/>
          <a:p>
            <a:pPr indent="0" marL="0">
              <a:buNone/>
            </a:pPr>
            <a:r>
              <a:rPr lang="en-US" sz="850" dirty="0">
                <a:solidFill>
                  <a:schemeClr val="tx1"/>
                </a:solidFill>
              </a:rPr>
              <a:t>Schedules the Rule 3a-4 annual contact the hybrid program owes Dana, and flags the plan if its assumptions go stale.</a:t>
            </a:r>
            <a:endParaRPr lang="en-US" sz="850" dirty="0"/>
          </a:p>
        </p:txBody>
      </p:sp>
      <p:sp>
        <p:nvSpPr>
          <p:cNvPr id="51" name="card"/>
          <p:cNvSpPr/>
          <p:nvPr/>
        </p:nvSpPr>
        <p:spPr>
          <a:xfrm>
            <a:off x="3154680" y="5486400"/>
            <a:ext cx="8488375" cy="731520"/>
          </a:xfrm>
          <a:prstGeom prst="roundRect">
            <a:avLst>
              <a:gd name="adj" fmla="val 10000"/>
            </a:avLst>
          </a:prstGeom>
          <a:solidFill>
            <a:schemeClr val="tx2"/>
          </a:solidFill>
          <a:ln w="12700">
            <a:solidFill>
              <a:schemeClr val="tx2"/>
            </a:solidFill>
            <a:prstDash val="solid"/>
          </a:ln>
        </p:spPr>
      </p:sp>
      <p:sp>
        <p:nvSpPr>
          <p:cNvPr id="52" name="text"/>
          <p:cNvSpPr txBox="1"/>
          <p:nvPr/>
        </p:nvSpPr>
        <p:spPr>
          <a:xfrm>
            <a:off x="3383280" y="5486400"/>
            <a:ext cx="8031175" cy="731520"/>
          </a:xfrm>
          <a:prstGeom prst="rect">
            <a:avLst/>
          </a:prstGeom>
          <a:noFill/>
          <a:ln/>
        </p:spPr>
        <p:txBody>
          <a:bodyPr wrap="square" lIns="0" tIns="0" rIns="0" bIns="0" rtlCol="0" anchor="ctr"/>
          <a:lstStyle/>
          <a:p>
            <a:pPr indent="0" marL="0">
              <a:buNone/>
            </a:pPr>
            <a:r>
              <a:rPr lang="en-US" sz="1100" dirty="0">
                <a:solidFill>
                  <a:schemeClr val="bg1"/>
                </a:solidFill>
              </a:rPr>
              <a:t>None of them recalculates the transfer, decides what 'documented' means, or copies the investor profile. They assemble; they never redefine. So the workplace report, the advisor's screen and the supervisor's queue cannot disagree, because none of them owns the number.</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Step 4. Semantic model: one definition, rules for adding up</a:t>
            </a:r>
            <a:endParaRPr lang="en-US" sz="2800" dirty="0"/>
          </a:p>
        </p:txBody>
      </p:sp>
      <p:sp>
        <p:nvSpPr>
          <p:cNvPr id="4" name="card"/>
          <p:cNvSpPr/>
          <p:nvPr/>
        </p:nvSpPr>
        <p:spPr>
          <a:xfrm>
            <a:off x="548640" y="1417320"/>
            <a:ext cx="2377440" cy="4800600"/>
          </a:xfrm>
          <a:prstGeom prst="roundRect">
            <a:avLst>
              <a:gd name="adj" fmla="val 3077"/>
            </a:avLst>
          </a:prstGeom>
          <a:solidFill>
            <a:schemeClr val="bg2"/>
          </a:solidFill>
          <a:ln w="12700">
            <a:solidFill>
              <a:schemeClr val="bg2"/>
            </a:solidFill>
            <a:prstDash val="solid"/>
          </a:ln>
        </p:spPr>
      </p:sp>
      <p:sp>
        <p:nvSpPr>
          <p:cNvPr id="5" name="text"/>
          <p:cNvSpPr txBox="1"/>
          <p:nvPr/>
        </p:nvSpPr>
        <p:spPr>
          <a:xfrm>
            <a:off x="731520" y="1581912"/>
            <a:ext cx="2011680" cy="274320"/>
          </a:xfrm>
          <a:prstGeom prst="rect">
            <a:avLst/>
          </a:prstGeom>
          <a:noFill/>
          <a:ln/>
        </p:spPr>
        <p:txBody>
          <a:bodyPr wrap="square" lIns="0" tIns="0" rIns="0" bIns="0" rtlCol="0" anchor="t"/>
          <a:lstStyle/>
          <a:p>
            <a:pPr indent="0" marL="0">
              <a:buNone/>
            </a:pPr>
            <a:r>
              <a:rPr lang="en-US" sz="1000" b="1" dirty="0">
                <a:solidFill>
                  <a:schemeClr val="accent6"/>
                </a:solidFill>
              </a:rPr>
              <a:t>WHERE WE ARE</a:t>
            </a:r>
            <a:endParaRPr lang="en-US" sz="1000" dirty="0"/>
          </a:p>
        </p:txBody>
      </p:sp>
      <p:sp>
        <p:nvSpPr>
          <p:cNvPr id="6" name="chip"/>
          <p:cNvSpPr/>
          <p:nvPr/>
        </p:nvSpPr>
        <p:spPr>
          <a:xfrm>
            <a:off x="749808" y="2057400"/>
            <a:ext cx="384048" cy="384048"/>
          </a:xfrm>
          <a:prstGeom prst="ellipse">
            <a:avLst/>
          </a:prstGeom>
          <a:solidFill>
            <a:schemeClr val="bg2"/>
          </a:solidFill>
          <a:ln w="12700">
            <a:solidFill>
              <a:schemeClr val="accent6"/>
            </a:solidFill>
            <a:prstDash val="solid"/>
          </a:ln>
        </p:spPr>
      </p:sp>
      <p:sp>
        <p:nvSpPr>
          <p:cNvPr id="7" name="text"/>
          <p:cNvSpPr txBox="1"/>
          <p:nvPr/>
        </p:nvSpPr>
        <p:spPr>
          <a:xfrm>
            <a:off x="749808" y="2057400"/>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1</a:t>
            </a:r>
            <a:endParaRPr lang="en-US" sz="1200" dirty="0"/>
          </a:p>
        </p:txBody>
      </p:sp>
      <p:sp>
        <p:nvSpPr>
          <p:cNvPr id="8" name="text"/>
          <p:cNvSpPr txBox="1"/>
          <p:nvPr/>
        </p:nvSpPr>
        <p:spPr>
          <a:xfrm>
            <a:off x="1243584" y="2039112"/>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Source systems</a:t>
            </a:r>
            <a:endParaRPr lang="en-US" sz="1200" dirty="0"/>
          </a:p>
        </p:txBody>
      </p:sp>
      <p:sp>
        <p:nvSpPr>
          <p:cNvPr id="9" name="chip"/>
          <p:cNvSpPr/>
          <p:nvPr/>
        </p:nvSpPr>
        <p:spPr>
          <a:xfrm>
            <a:off x="749808" y="2898648"/>
            <a:ext cx="384048" cy="384048"/>
          </a:xfrm>
          <a:prstGeom prst="ellipse">
            <a:avLst/>
          </a:prstGeom>
          <a:solidFill>
            <a:schemeClr val="bg2"/>
          </a:solidFill>
          <a:ln w="12700">
            <a:solidFill>
              <a:schemeClr val="accent6"/>
            </a:solidFill>
            <a:prstDash val="solid"/>
          </a:ln>
        </p:spPr>
      </p:sp>
      <p:sp>
        <p:nvSpPr>
          <p:cNvPr id="10" name="text"/>
          <p:cNvSpPr txBox="1"/>
          <p:nvPr/>
        </p:nvSpPr>
        <p:spPr>
          <a:xfrm>
            <a:off x="749808" y="2898648"/>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2</a:t>
            </a:r>
            <a:endParaRPr lang="en-US" sz="1200" dirty="0"/>
          </a:p>
        </p:txBody>
      </p:sp>
      <p:sp>
        <p:nvSpPr>
          <p:cNvPr id="11" name="text"/>
          <p:cNvSpPr txBox="1"/>
          <p:nvPr/>
        </p:nvSpPr>
        <p:spPr>
          <a:xfrm>
            <a:off x="1243584" y="2880360"/>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Taxonomy</a:t>
            </a:r>
            <a:endParaRPr lang="en-US" sz="1200" dirty="0"/>
          </a:p>
        </p:txBody>
      </p:sp>
      <p:sp>
        <p:nvSpPr>
          <p:cNvPr id="12" name="chip"/>
          <p:cNvSpPr/>
          <p:nvPr/>
        </p:nvSpPr>
        <p:spPr>
          <a:xfrm>
            <a:off x="749808" y="3739896"/>
            <a:ext cx="384048" cy="384048"/>
          </a:xfrm>
          <a:prstGeom prst="ellipse">
            <a:avLst/>
          </a:prstGeom>
          <a:solidFill>
            <a:schemeClr val="bg2"/>
          </a:solidFill>
          <a:ln w="12700">
            <a:solidFill>
              <a:schemeClr val="accent6"/>
            </a:solidFill>
            <a:prstDash val="solid"/>
          </a:ln>
        </p:spPr>
      </p:sp>
      <p:sp>
        <p:nvSpPr>
          <p:cNvPr id="13" name="text"/>
          <p:cNvSpPr txBox="1"/>
          <p:nvPr/>
        </p:nvSpPr>
        <p:spPr>
          <a:xfrm>
            <a:off x="749808" y="3739896"/>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3</a:t>
            </a:r>
            <a:endParaRPr lang="en-US" sz="1200" dirty="0"/>
          </a:p>
        </p:txBody>
      </p:sp>
      <p:sp>
        <p:nvSpPr>
          <p:cNvPr id="14" name="text"/>
          <p:cNvSpPr txBox="1"/>
          <p:nvPr/>
        </p:nvSpPr>
        <p:spPr>
          <a:xfrm>
            <a:off x="1243584" y="3721608"/>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Foundational products</a:t>
            </a:r>
            <a:endParaRPr lang="en-US" sz="1200" dirty="0"/>
          </a:p>
        </p:txBody>
      </p:sp>
      <p:sp>
        <p:nvSpPr>
          <p:cNvPr id="15" name="chip"/>
          <p:cNvSpPr/>
          <p:nvPr/>
        </p:nvSpPr>
        <p:spPr>
          <a:xfrm>
            <a:off x="749808" y="4581144"/>
            <a:ext cx="384048" cy="384048"/>
          </a:xfrm>
          <a:prstGeom prst="ellipse">
            <a:avLst/>
          </a:prstGeom>
          <a:solidFill>
            <a:schemeClr val="bg2"/>
          </a:solidFill>
          <a:ln w="12700">
            <a:solidFill>
              <a:schemeClr val="accent6"/>
            </a:solidFill>
            <a:prstDash val="solid"/>
          </a:ln>
        </p:spPr>
      </p:sp>
      <p:sp>
        <p:nvSpPr>
          <p:cNvPr id="16" name="text"/>
          <p:cNvSpPr txBox="1"/>
          <p:nvPr/>
        </p:nvSpPr>
        <p:spPr>
          <a:xfrm>
            <a:off x="749808" y="4581144"/>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4</a:t>
            </a:r>
            <a:endParaRPr lang="en-US" sz="1200" dirty="0"/>
          </a:p>
        </p:txBody>
      </p:sp>
      <p:sp>
        <p:nvSpPr>
          <p:cNvPr id="17" name="text"/>
          <p:cNvSpPr txBox="1"/>
          <p:nvPr/>
        </p:nvSpPr>
        <p:spPr>
          <a:xfrm>
            <a:off x="1243584" y="4562856"/>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Consumer products</a:t>
            </a:r>
            <a:endParaRPr lang="en-US" sz="1200" dirty="0"/>
          </a:p>
        </p:txBody>
      </p:sp>
      <p:sp>
        <p:nvSpPr>
          <p:cNvPr id="18" name="chip"/>
          <p:cNvSpPr/>
          <p:nvPr/>
        </p:nvSpPr>
        <p:spPr>
          <a:xfrm>
            <a:off x="749808" y="5422392"/>
            <a:ext cx="384048" cy="384048"/>
          </a:xfrm>
          <a:prstGeom prst="ellipse">
            <a:avLst/>
          </a:prstGeom>
          <a:solidFill>
            <a:schemeClr val="accent4"/>
          </a:solidFill>
          <a:ln w="12700">
            <a:solidFill>
              <a:schemeClr val="accent4"/>
            </a:solidFill>
            <a:prstDash val="solid"/>
          </a:ln>
        </p:spPr>
      </p:sp>
      <p:sp>
        <p:nvSpPr>
          <p:cNvPr id="19" name="text"/>
          <p:cNvSpPr txBox="1"/>
          <p:nvPr/>
        </p:nvSpPr>
        <p:spPr>
          <a:xfrm>
            <a:off x="749808" y="54223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0" name="text"/>
          <p:cNvSpPr txBox="1"/>
          <p:nvPr/>
        </p:nvSpPr>
        <p:spPr>
          <a:xfrm>
            <a:off x="1243584" y="5404104"/>
            <a:ext cx="1783080" cy="420624"/>
          </a:xfrm>
          <a:prstGeom prst="rect">
            <a:avLst/>
          </a:prstGeom>
          <a:noFill/>
          <a:ln/>
        </p:spPr>
        <p:txBody>
          <a:bodyPr wrap="square" lIns="0" tIns="0" rIns="0" bIns="0" rtlCol="0" anchor="ctr"/>
          <a:lstStyle/>
          <a:p>
            <a:pPr indent="0" marL="0">
              <a:buNone/>
            </a:pPr>
            <a:r>
              <a:rPr lang="en-US" sz="1200" b="1" dirty="0">
                <a:solidFill>
                  <a:schemeClr val="tx1"/>
                </a:solidFill>
              </a:rPr>
              <a:t>Semantic model and uses</a:t>
            </a:r>
            <a:endParaRPr lang="en-US" sz="1200" dirty="0"/>
          </a:p>
        </p:txBody>
      </p:sp>
      <p:sp>
        <p:nvSpPr>
          <p:cNvPr id="21" name="card"/>
          <p:cNvSpPr/>
          <p:nvPr/>
        </p:nvSpPr>
        <p:spPr>
          <a:xfrm>
            <a:off x="3154680" y="1417320"/>
            <a:ext cx="4846320" cy="987552"/>
          </a:xfrm>
          <a:prstGeom prst="roundRect">
            <a:avLst>
              <a:gd name="adj" fmla="val 7407"/>
            </a:avLst>
          </a:prstGeom>
          <a:solidFill>
            <a:schemeClr val="bg2"/>
          </a:solidFill>
          <a:ln w="12700">
            <a:solidFill>
              <a:schemeClr val="bg2"/>
            </a:solidFill>
            <a:prstDash val="solid"/>
          </a:ln>
        </p:spPr>
      </p:sp>
      <p:sp>
        <p:nvSpPr>
          <p:cNvPr id="22" name="text"/>
          <p:cNvSpPr txBox="1"/>
          <p:nvPr/>
        </p:nvSpPr>
        <p:spPr>
          <a:xfrm>
            <a:off x="3291840" y="1490472"/>
            <a:ext cx="731520" cy="274320"/>
          </a:xfrm>
          <a:prstGeom prst="rect">
            <a:avLst/>
          </a:prstGeom>
          <a:noFill/>
          <a:ln/>
        </p:spPr>
        <p:txBody>
          <a:bodyPr wrap="square" lIns="0" tIns="0" rIns="0" bIns="0" rtlCol="0" anchor="t"/>
          <a:lstStyle/>
          <a:p>
            <a:pPr indent="0" marL="0">
              <a:buNone/>
            </a:pPr>
            <a:r>
              <a:rPr lang="en-US" sz="1100" b="1" dirty="0">
                <a:solidFill>
                  <a:schemeClr val="accent3"/>
                </a:solidFill>
              </a:rPr>
              <a:t>SM-26</a:t>
            </a:r>
            <a:endParaRPr lang="en-US" sz="1100" dirty="0"/>
          </a:p>
        </p:txBody>
      </p:sp>
      <p:sp>
        <p:nvSpPr>
          <p:cNvPr id="23" name="text"/>
          <p:cNvSpPr txBox="1"/>
          <p:nvPr/>
        </p:nvSpPr>
        <p:spPr>
          <a:xfrm>
            <a:off x="4023360" y="1490472"/>
            <a:ext cx="3840480" cy="274320"/>
          </a:xfrm>
          <a:prstGeom prst="rect">
            <a:avLst/>
          </a:prstGeom>
          <a:noFill/>
          <a:ln/>
        </p:spPr>
        <p:txBody>
          <a:bodyPr wrap="square" lIns="0" tIns="0" rIns="0" bIns="0" rtlCol="0" anchor="t"/>
          <a:lstStyle/>
          <a:p>
            <a:pPr indent="0" marL="0">
              <a:buNone/>
            </a:pPr>
            <a:r>
              <a:rPr lang="en-US" sz="1100" b="1" dirty="0">
                <a:solidFill>
                  <a:schemeClr val="tx2"/>
                </a:solidFill>
              </a:rPr>
              <a:t>Workplace &amp; Participants</a:t>
            </a:r>
            <a:endParaRPr lang="en-US" sz="1100" dirty="0"/>
          </a:p>
        </p:txBody>
      </p:sp>
      <p:sp>
        <p:nvSpPr>
          <p:cNvPr id="24" name="text"/>
          <p:cNvSpPr txBox="1"/>
          <p:nvPr/>
        </p:nvSpPr>
        <p:spPr>
          <a:xfrm>
            <a:off x="3291840" y="1783080"/>
            <a:ext cx="4572000" cy="320040"/>
          </a:xfrm>
          <a:prstGeom prst="rect">
            <a:avLst/>
          </a:prstGeom>
          <a:noFill/>
          <a:ln/>
        </p:spPr>
        <p:txBody>
          <a:bodyPr wrap="square" lIns="0" tIns="0" rIns="0" bIns="0" rtlCol="0" anchor="t"/>
          <a:lstStyle/>
          <a:p>
            <a:pPr indent="0" marL="0">
              <a:buNone/>
            </a:pPr>
            <a:r>
              <a:rPr lang="en-US" sz="950" b="1" dirty="0">
                <a:solidFill>
                  <a:schemeClr val="tx1"/>
                </a:solidFill>
              </a:rPr>
              <a:t>Separations; Rollovers Into the Direct Business; Direct Business Rollover Share</a:t>
            </a:r>
            <a:endParaRPr lang="en-US" sz="950" dirty="0"/>
          </a:p>
        </p:txBody>
      </p:sp>
      <p:sp>
        <p:nvSpPr>
          <p:cNvPr id="25" name="text"/>
          <p:cNvSpPr txBox="1"/>
          <p:nvPr/>
        </p:nvSpPr>
        <p:spPr>
          <a:xfrm>
            <a:off x="3291840" y="2075688"/>
            <a:ext cx="4572000" cy="320040"/>
          </a:xfrm>
          <a:prstGeom prst="rect">
            <a:avLst/>
          </a:prstGeom>
          <a:noFill/>
          <a:ln/>
        </p:spPr>
        <p:txBody>
          <a:bodyPr wrap="square" lIns="0" tIns="0" rIns="0" bIns="0" rtlCol="0" anchor="t"/>
          <a:lstStyle/>
          <a:p>
            <a:pPr indent="0" marL="0">
              <a:buNone/>
            </a:pPr>
            <a:r>
              <a:rPr lang="en-US" sz="850" dirty="0">
                <a:solidFill>
                  <a:schemeClr val="accent6"/>
                </a:solidFill>
              </a:rPr>
              <a:t>Source: DP-467. Net Inter-Channel Transfers referenced from SM-20; the residual between the two is published as its own measure.</a:t>
            </a:r>
            <a:endParaRPr lang="en-US" sz="850" dirty="0"/>
          </a:p>
        </p:txBody>
      </p:sp>
      <p:sp>
        <p:nvSpPr>
          <p:cNvPr id="26" name="card"/>
          <p:cNvSpPr/>
          <p:nvPr/>
        </p:nvSpPr>
        <p:spPr>
          <a:xfrm>
            <a:off x="3154680" y="2514600"/>
            <a:ext cx="4846320" cy="987552"/>
          </a:xfrm>
          <a:prstGeom prst="roundRect">
            <a:avLst>
              <a:gd name="adj" fmla="val 7407"/>
            </a:avLst>
          </a:prstGeom>
          <a:solidFill>
            <a:schemeClr val="bg2"/>
          </a:solidFill>
          <a:ln w="12700">
            <a:solidFill>
              <a:schemeClr val="bg2"/>
            </a:solidFill>
            <a:prstDash val="solid"/>
          </a:ln>
        </p:spPr>
      </p:sp>
      <p:sp>
        <p:nvSpPr>
          <p:cNvPr id="27" name="text"/>
          <p:cNvSpPr txBox="1"/>
          <p:nvPr/>
        </p:nvSpPr>
        <p:spPr>
          <a:xfrm>
            <a:off x="3291840" y="2587752"/>
            <a:ext cx="731520" cy="274320"/>
          </a:xfrm>
          <a:prstGeom prst="rect">
            <a:avLst/>
          </a:prstGeom>
          <a:noFill/>
          <a:ln/>
        </p:spPr>
        <p:txBody>
          <a:bodyPr wrap="square" lIns="0" tIns="0" rIns="0" bIns="0" rtlCol="0" anchor="t"/>
          <a:lstStyle/>
          <a:p>
            <a:pPr indent="0" marL="0">
              <a:buNone/>
            </a:pPr>
            <a:r>
              <a:rPr lang="en-US" sz="1100" b="1" dirty="0">
                <a:solidFill>
                  <a:schemeClr val="accent3"/>
                </a:solidFill>
              </a:rPr>
              <a:t>SM-22</a:t>
            </a:r>
            <a:endParaRPr lang="en-US" sz="1100" dirty="0"/>
          </a:p>
        </p:txBody>
      </p:sp>
      <p:sp>
        <p:nvSpPr>
          <p:cNvPr id="28" name="text"/>
          <p:cNvSpPr txBox="1"/>
          <p:nvPr/>
        </p:nvSpPr>
        <p:spPr>
          <a:xfrm>
            <a:off x="4023360" y="2587752"/>
            <a:ext cx="3840480" cy="274320"/>
          </a:xfrm>
          <a:prstGeom prst="rect">
            <a:avLst/>
          </a:prstGeom>
          <a:noFill/>
          <a:ln/>
        </p:spPr>
        <p:txBody>
          <a:bodyPr wrap="square" lIns="0" tIns="0" rIns="0" bIns="0" rtlCol="0" anchor="t"/>
          <a:lstStyle/>
          <a:p>
            <a:pPr indent="0" marL="0">
              <a:buNone/>
            </a:pPr>
            <a:r>
              <a:rPr lang="en-US" sz="1100" b="1" dirty="0">
                <a:solidFill>
                  <a:schemeClr val="tx2"/>
                </a:solidFill>
              </a:rPr>
              <a:t>Advice &amp; Planning</a:t>
            </a:r>
            <a:endParaRPr lang="en-US" sz="1100" dirty="0"/>
          </a:p>
        </p:txBody>
      </p:sp>
      <p:sp>
        <p:nvSpPr>
          <p:cNvPr id="29" name="text"/>
          <p:cNvSpPr txBox="1"/>
          <p:nvPr/>
        </p:nvSpPr>
        <p:spPr>
          <a:xfrm>
            <a:off x="3291840" y="2880360"/>
            <a:ext cx="4572000" cy="320040"/>
          </a:xfrm>
          <a:prstGeom prst="rect">
            <a:avLst/>
          </a:prstGeom>
          <a:noFill/>
          <a:ln/>
        </p:spPr>
        <p:txBody>
          <a:bodyPr wrap="square" lIns="0" tIns="0" rIns="0" bIns="0" rtlCol="0" anchor="t"/>
          <a:lstStyle/>
          <a:p>
            <a:pPr indent="0" marL="0">
              <a:buNone/>
            </a:pPr>
            <a:r>
              <a:rPr lang="en-US" sz="950" b="1" dirty="0">
                <a:solidFill>
                  <a:schemeClr val="tx1"/>
                </a:solidFill>
              </a:rPr>
              <a:t>Rollovers Without PTE 2020-02 Documentation; PTE Documentation Gap Rate %</a:t>
            </a:r>
            <a:endParaRPr lang="en-US" sz="950" dirty="0"/>
          </a:p>
        </p:txBody>
      </p:sp>
      <p:sp>
        <p:nvSpPr>
          <p:cNvPr id="30" name="text"/>
          <p:cNvSpPr txBox="1"/>
          <p:nvPr/>
        </p:nvSpPr>
        <p:spPr>
          <a:xfrm>
            <a:off x="3291840" y="3172968"/>
            <a:ext cx="4572000" cy="320040"/>
          </a:xfrm>
          <a:prstGeom prst="rect">
            <a:avLst/>
          </a:prstGeom>
          <a:noFill/>
          <a:ln/>
        </p:spPr>
        <p:txBody>
          <a:bodyPr wrap="square" lIns="0" tIns="0" rIns="0" bIns="0" rtlCol="0" anchor="t"/>
          <a:lstStyle/>
          <a:p>
            <a:pPr indent="0" marL="0">
              <a:buNone/>
            </a:pPr>
            <a:r>
              <a:rPr lang="en-US" sz="850" dirty="0">
                <a:solidFill>
                  <a:schemeClr val="accent6"/>
                </a:solidFill>
              </a:rPr>
              <a:t>Source: DP-335 (the flag is defined there, once) and DP-303. Rows for supervision and advice leadership; aggregates with cells under 10 suppressed for everyone else.</a:t>
            </a:r>
            <a:endParaRPr lang="en-US" sz="850" dirty="0"/>
          </a:p>
        </p:txBody>
      </p:sp>
      <p:sp>
        <p:nvSpPr>
          <p:cNvPr id="31" name="card"/>
          <p:cNvSpPr/>
          <p:nvPr/>
        </p:nvSpPr>
        <p:spPr>
          <a:xfrm>
            <a:off x="3154680" y="3611880"/>
            <a:ext cx="4846320" cy="987552"/>
          </a:xfrm>
          <a:prstGeom prst="roundRect">
            <a:avLst>
              <a:gd name="adj" fmla="val 7407"/>
            </a:avLst>
          </a:prstGeom>
          <a:solidFill>
            <a:schemeClr val="bg2"/>
          </a:solidFill>
          <a:ln w="12700">
            <a:solidFill>
              <a:schemeClr val="bg2"/>
            </a:solidFill>
            <a:prstDash val="solid"/>
          </a:ln>
        </p:spPr>
      </p:sp>
      <p:sp>
        <p:nvSpPr>
          <p:cNvPr id="32" name="text"/>
          <p:cNvSpPr txBox="1"/>
          <p:nvPr/>
        </p:nvSpPr>
        <p:spPr>
          <a:xfrm>
            <a:off x="3291840" y="3685032"/>
            <a:ext cx="731520" cy="274320"/>
          </a:xfrm>
          <a:prstGeom prst="rect">
            <a:avLst/>
          </a:prstGeom>
          <a:noFill/>
          <a:ln/>
        </p:spPr>
        <p:txBody>
          <a:bodyPr wrap="square" lIns="0" tIns="0" rIns="0" bIns="0" rtlCol="0" anchor="t"/>
          <a:lstStyle/>
          <a:p>
            <a:pPr indent="0" marL="0">
              <a:buNone/>
            </a:pPr>
            <a:r>
              <a:rPr lang="en-US" sz="1100" b="1" dirty="0">
                <a:solidFill>
                  <a:schemeClr val="accent4"/>
                </a:solidFill>
              </a:rPr>
              <a:t>SM-20</a:t>
            </a:r>
            <a:endParaRPr lang="en-US" sz="1100" dirty="0"/>
          </a:p>
        </p:txBody>
      </p:sp>
      <p:sp>
        <p:nvSpPr>
          <p:cNvPr id="33" name="text"/>
          <p:cNvSpPr txBox="1"/>
          <p:nvPr/>
        </p:nvSpPr>
        <p:spPr>
          <a:xfrm>
            <a:off x="4023360" y="3685032"/>
            <a:ext cx="3840480" cy="274320"/>
          </a:xfrm>
          <a:prstGeom prst="rect">
            <a:avLst/>
          </a:prstGeom>
          <a:noFill/>
          <a:ln/>
        </p:spPr>
        <p:txBody>
          <a:bodyPr wrap="square" lIns="0" tIns="0" rIns="0" bIns="0" rtlCol="0" anchor="t"/>
          <a:lstStyle/>
          <a:p>
            <a:pPr indent="0" marL="0">
              <a:buNone/>
            </a:pPr>
            <a:r>
              <a:rPr lang="en-US" sz="1100" b="1" dirty="0">
                <a:solidFill>
                  <a:schemeClr val="tx2"/>
                </a:solidFill>
              </a:rPr>
              <a:t>Client Assets &amp; Flows</a:t>
            </a:r>
            <a:endParaRPr lang="en-US" sz="1100" dirty="0"/>
          </a:p>
        </p:txBody>
      </p:sp>
      <p:sp>
        <p:nvSpPr>
          <p:cNvPr id="34" name="text"/>
          <p:cNvSpPr txBox="1"/>
          <p:nvPr/>
        </p:nvSpPr>
        <p:spPr>
          <a:xfrm>
            <a:off x="3291840" y="3977640"/>
            <a:ext cx="4572000" cy="320040"/>
          </a:xfrm>
          <a:prstGeom prst="rect">
            <a:avLst/>
          </a:prstGeom>
          <a:noFill/>
          <a:ln/>
        </p:spPr>
        <p:txBody>
          <a:bodyPr wrap="square" lIns="0" tIns="0" rIns="0" bIns="0" rtlCol="0" anchor="t"/>
          <a:lstStyle/>
          <a:p>
            <a:pPr indent="0" marL="0">
              <a:buNone/>
            </a:pPr>
            <a:r>
              <a:rPr lang="en-US" sz="950" b="1" dirty="0">
                <a:solidFill>
                  <a:schemeClr val="tx1"/>
                </a:solidFill>
              </a:rPr>
              <a:t>Net Inter-Channel Transfers; Advised Assets; Net New Assets (certified)</a:t>
            </a:r>
            <a:endParaRPr lang="en-US" sz="950" dirty="0"/>
          </a:p>
        </p:txBody>
      </p:sp>
      <p:sp>
        <p:nvSpPr>
          <p:cNvPr id="35" name="text"/>
          <p:cNvSpPr txBox="1"/>
          <p:nvPr/>
        </p:nvSpPr>
        <p:spPr>
          <a:xfrm>
            <a:off x="3291840" y="4270248"/>
            <a:ext cx="4572000" cy="320040"/>
          </a:xfrm>
          <a:prstGeom prst="rect">
            <a:avLst/>
          </a:prstGeom>
          <a:noFill/>
          <a:ln/>
        </p:spPr>
        <p:txBody>
          <a:bodyPr wrap="square" lIns="0" tIns="0" rIns="0" bIns="0" rtlCol="0" anchor="t"/>
          <a:lstStyle/>
          <a:p>
            <a:pPr indent="0" marL="0">
              <a:buNone/>
            </a:pPr>
            <a:r>
              <a:rPr lang="en-US" sz="850" dirty="0">
                <a:solidFill>
                  <a:schemeClr val="accent6"/>
                </a:solidFill>
              </a:rPr>
              <a:t>Source: DP-008. Defined once here; every other model references them.</a:t>
            </a:r>
            <a:endParaRPr lang="en-US" sz="850" dirty="0"/>
          </a:p>
        </p:txBody>
      </p:sp>
      <p:sp>
        <p:nvSpPr>
          <p:cNvPr id="36" name="card"/>
          <p:cNvSpPr/>
          <p:nvPr/>
        </p:nvSpPr>
        <p:spPr>
          <a:xfrm>
            <a:off x="3154680" y="4800600"/>
            <a:ext cx="4846320" cy="1417320"/>
          </a:xfrm>
          <a:prstGeom prst="roundRect">
            <a:avLst>
              <a:gd name="adj" fmla="val 5161"/>
            </a:avLst>
          </a:prstGeom>
          <a:solidFill>
            <a:schemeClr val="tx2"/>
          </a:solidFill>
          <a:ln w="12700">
            <a:solidFill>
              <a:schemeClr val="tx2"/>
            </a:solidFill>
            <a:prstDash val="solid"/>
          </a:ln>
        </p:spPr>
      </p:sp>
      <p:sp>
        <p:nvSpPr>
          <p:cNvPr id="37" name="text"/>
          <p:cNvSpPr txBox="1"/>
          <p:nvPr/>
        </p:nvSpPr>
        <p:spPr>
          <a:xfrm>
            <a:off x="3337560" y="4892040"/>
            <a:ext cx="4480560" cy="274320"/>
          </a:xfrm>
          <a:prstGeom prst="rect">
            <a:avLst/>
          </a:prstGeom>
          <a:noFill/>
          <a:ln/>
        </p:spPr>
        <p:txBody>
          <a:bodyPr wrap="square" lIns="0" tIns="0" rIns="0" bIns="0" rtlCol="0" anchor="t"/>
          <a:lstStyle/>
          <a:p>
            <a:pPr indent="0" marL="0">
              <a:buNone/>
            </a:pPr>
            <a:r>
              <a:rPr lang="en-US" sz="1100" b="1" dirty="0">
                <a:solidFill>
                  <a:schemeClr val="accent4"/>
                </a:solidFill>
              </a:rPr>
              <a:t>Access follows the classification</a:t>
            </a:r>
            <a:endParaRPr lang="en-US" sz="1100" dirty="0"/>
          </a:p>
        </p:txBody>
      </p:sp>
      <p:sp>
        <p:nvSpPr>
          <p:cNvPr id="38" name="text"/>
          <p:cNvSpPr txBox="1"/>
          <p:nvPr/>
        </p:nvSpPr>
        <p:spPr>
          <a:xfrm>
            <a:off x="3337560" y="5184648"/>
            <a:ext cx="4480560" cy="1005840"/>
          </a:xfrm>
          <a:prstGeom prst="rect">
            <a:avLst/>
          </a:prstGeom>
          <a:noFill/>
          <a:ln/>
        </p:spPr>
        <p:txBody>
          <a:bodyPr wrap="square" lIns="0" tIns="0" rIns="0" bIns="0" rtlCol="0" anchor="t"/>
          <a:lstStyle/>
          <a:p>
            <a:pPr indent="0" marL="0">
              <a:buNone/>
            </a:pPr>
            <a:r>
              <a:rPr lang="en-US" sz="950" dirty="0">
                <a:solidFill>
                  <a:schemeClr val="bg2"/>
                </a:solidFill>
              </a:rPr>
              <a:t>Confidential - Personal Data. Leadership sees every household. An advisor sees the households they cover. Finance and marketing see totals by channel and segment, with no names. An AI assistant inherits the same scope as the person asking.</a:t>
            </a:r>
            <a:endParaRPr lang="en-US" sz="950" dirty="0"/>
          </a:p>
        </p:txBody>
      </p:sp>
      <p:sp>
        <p:nvSpPr>
          <p:cNvPr id="39" name="text"/>
          <p:cNvSpPr txBox="1"/>
          <p:nvPr/>
        </p:nvSpPr>
        <p:spPr>
          <a:xfrm>
            <a:off x="8229600" y="1417320"/>
            <a:ext cx="3413455" cy="274320"/>
          </a:xfrm>
          <a:prstGeom prst="rect">
            <a:avLst/>
          </a:prstGeom>
          <a:noFill/>
          <a:ln/>
        </p:spPr>
        <p:txBody>
          <a:bodyPr wrap="square" lIns="0" tIns="0" rIns="0" bIns="0" rtlCol="0" anchor="t"/>
          <a:lstStyle/>
          <a:p>
            <a:pPr indent="0" marL="0">
              <a:buNone/>
            </a:pPr>
            <a:r>
              <a:rPr lang="en-US" sz="950" b="1" dirty="0">
                <a:solidFill>
                  <a:schemeClr val="accent1"/>
                </a:solidFill>
              </a:rPr>
              <a:t>RULES THAT STOP THE NUMBER BEING ADDED WRONGLY</a:t>
            </a:r>
            <a:endParaRPr lang="en-US" sz="950" dirty="0"/>
          </a:p>
        </p:txBody>
      </p:sp>
      <p:sp>
        <p:nvSpPr>
          <p:cNvPr id="40" name="card"/>
          <p:cNvSpPr/>
          <p:nvPr/>
        </p:nvSpPr>
        <p:spPr>
          <a:xfrm>
            <a:off x="8229600" y="1783080"/>
            <a:ext cx="3413455" cy="1005840"/>
          </a:xfrm>
          <a:prstGeom prst="roundRect">
            <a:avLst>
              <a:gd name="adj" fmla="val 7273"/>
            </a:avLst>
          </a:prstGeom>
          <a:solidFill>
            <a:schemeClr val="bg2"/>
          </a:solidFill>
          <a:ln w="12700">
            <a:solidFill>
              <a:schemeClr val="bg2"/>
            </a:solidFill>
            <a:prstDash val="solid"/>
          </a:ln>
        </p:spPr>
      </p:sp>
      <p:sp>
        <p:nvSpPr>
          <p:cNvPr id="41" name="text"/>
          <p:cNvSpPr txBox="1"/>
          <p:nvPr/>
        </p:nvSpPr>
        <p:spPr>
          <a:xfrm>
            <a:off x="8366760" y="1856232"/>
            <a:ext cx="3139135" cy="274320"/>
          </a:xfrm>
          <a:prstGeom prst="rect">
            <a:avLst/>
          </a:prstGeom>
          <a:noFill/>
          <a:ln/>
        </p:spPr>
        <p:txBody>
          <a:bodyPr wrap="square" lIns="0" tIns="0" rIns="0" bIns="0" rtlCol="0" anchor="t"/>
          <a:lstStyle/>
          <a:p>
            <a:pPr indent="0" marL="0">
              <a:buNone/>
            </a:pPr>
            <a:r>
              <a:rPr lang="en-US" sz="1050" b="1" dirty="0">
                <a:solidFill>
                  <a:schemeClr val="tx2"/>
                </a:solidFill>
              </a:rPr>
              <a:t>Locked, monthly, channel-grain rows only</a:t>
            </a:r>
            <a:endParaRPr lang="en-US" sz="1050" dirty="0"/>
          </a:p>
        </p:txBody>
      </p:sp>
      <p:sp>
        <p:nvSpPr>
          <p:cNvPr id="42" name="text"/>
          <p:cNvSpPr txBox="1"/>
          <p:nvPr/>
        </p:nvSpPr>
        <p:spPr>
          <a:xfrm>
            <a:off x="8366760" y="2130552"/>
            <a:ext cx="3139135" cy="640080"/>
          </a:xfrm>
          <a:prstGeom prst="rect">
            <a:avLst/>
          </a:prstGeom>
          <a:noFill/>
          <a:ln/>
        </p:spPr>
        <p:txBody>
          <a:bodyPr wrap="square" lIns="0" tIns="0" rIns="0" bIns="0" rtlCol="0" anchor="t"/>
          <a:lstStyle/>
          <a:p>
            <a:pPr indent="0" marL="0">
              <a:buNone/>
            </a:pPr>
            <a:r>
              <a:rPr lang="en-US" sz="850" dirty="0">
                <a:solidFill>
                  <a:schemeClr val="tx1"/>
                </a:solidFill>
              </a:rPr>
              <a:t>DP-008 holds the same money at several grains and in preliminary and locked versions. Fixed filters stop a dashboard counting a transfer in two channels.</a:t>
            </a:r>
            <a:endParaRPr lang="en-US" sz="850" dirty="0"/>
          </a:p>
        </p:txBody>
      </p:sp>
      <p:sp>
        <p:nvSpPr>
          <p:cNvPr id="43" name="card"/>
          <p:cNvSpPr/>
          <p:nvPr/>
        </p:nvSpPr>
        <p:spPr>
          <a:xfrm>
            <a:off x="8229600" y="2898648"/>
            <a:ext cx="3413455" cy="1005840"/>
          </a:xfrm>
          <a:prstGeom prst="roundRect">
            <a:avLst>
              <a:gd name="adj" fmla="val 7273"/>
            </a:avLst>
          </a:prstGeom>
          <a:solidFill>
            <a:schemeClr val="bg2"/>
          </a:solidFill>
          <a:ln w="12700">
            <a:solidFill>
              <a:schemeClr val="bg2"/>
            </a:solidFill>
            <a:prstDash val="solid"/>
          </a:ln>
        </p:spPr>
      </p:sp>
      <p:sp>
        <p:nvSpPr>
          <p:cNvPr id="44" name="text"/>
          <p:cNvSpPr txBox="1"/>
          <p:nvPr/>
        </p:nvSpPr>
        <p:spPr>
          <a:xfrm>
            <a:off x="8366760" y="2971800"/>
            <a:ext cx="3139135" cy="274320"/>
          </a:xfrm>
          <a:prstGeom prst="rect">
            <a:avLst/>
          </a:prstGeom>
          <a:noFill/>
          <a:ln/>
        </p:spPr>
        <p:txBody>
          <a:bodyPr wrap="square" lIns="0" tIns="0" rIns="0" bIns="0" rtlCol="0" anchor="t"/>
          <a:lstStyle/>
          <a:p>
            <a:pPr indent="0" marL="0">
              <a:buNone/>
            </a:pPr>
            <a:r>
              <a:rPr lang="en-US" sz="1050" b="1" dirty="0">
                <a:solidFill>
                  <a:schemeClr val="tx2"/>
                </a:solidFill>
              </a:rPr>
              <a:t>Transfers are flows, not stocks</a:t>
            </a:r>
            <a:endParaRPr lang="en-US" sz="1050" dirty="0"/>
          </a:p>
        </p:txBody>
      </p:sp>
      <p:sp>
        <p:nvSpPr>
          <p:cNvPr id="45" name="text"/>
          <p:cNvSpPr txBox="1"/>
          <p:nvPr/>
        </p:nvSpPr>
        <p:spPr>
          <a:xfrm>
            <a:off x="8366760" y="3246120"/>
            <a:ext cx="3139135" cy="640080"/>
          </a:xfrm>
          <a:prstGeom prst="rect">
            <a:avLst/>
          </a:prstGeom>
          <a:noFill/>
          <a:ln/>
        </p:spPr>
        <p:txBody>
          <a:bodyPr wrap="square" lIns="0" tIns="0" rIns="0" bIns="0" rtlCol="0" anchor="t"/>
          <a:lstStyle/>
          <a:p>
            <a:pPr indent="0" marL="0">
              <a:buNone/>
            </a:pPr>
            <a:r>
              <a:rPr lang="en-US" sz="850" dirty="0">
                <a:solidFill>
                  <a:schemeClr val="tx1"/>
                </a:solidFill>
              </a:rPr>
              <a:t>A transfer is never summed across months into an asset figure; Advised Assets is taken at the last locked month-end.</a:t>
            </a:r>
            <a:endParaRPr lang="en-US" sz="850" dirty="0"/>
          </a:p>
        </p:txBody>
      </p:sp>
      <p:sp>
        <p:nvSpPr>
          <p:cNvPr id="46" name="card"/>
          <p:cNvSpPr/>
          <p:nvPr/>
        </p:nvSpPr>
        <p:spPr>
          <a:xfrm>
            <a:off x="8229600" y="4014216"/>
            <a:ext cx="3413455" cy="1005840"/>
          </a:xfrm>
          <a:prstGeom prst="roundRect">
            <a:avLst>
              <a:gd name="adj" fmla="val 7273"/>
            </a:avLst>
          </a:prstGeom>
          <a:solidFill>
            <a:schemeClr val="bg2"/>
          </a:solidFill>
          <a:ln w="12700">
            <a:solidFill>
              <a:schemeClr val="bg2"/>
            </a:solidFill>
            <a:prstDash val="solid"/>
          </a:ln>
        </p:spPr>
      </p:sp>
      <p:sp>
        <p:nvSpPr>
          <p:cNvPr id="47" name="text"/>
          <p:cNvSpPr txBox="1"/>
          <p:nvPr/>
        </p:nvSpPr>
        <p:spPr>
          <a:xfrm>
            <a:off x="8366760" y="4087368"/>
            <a:ext cx="3139135" cy="274320"/>
          </a:xfrm>
          <a:prstGeom prst="rect">
            <a:avLst/>
          </a:prstGeom>
          <a:noFill/>
          <a:ln/>
        </p:spPr>
        <p:txBody>
          <a:bodyPr wrap="square" lIns="0" tIns="0" rIns="0" bIns="0" rtlCol="0" anchor="t"/>
          <a:lstStyle/>
          <a:p>
            <a:pPr indent="0" marL="0">
              <a:buNone/>
            </a:pPr>
            <a:r>
              <a:rPr lang="en-US" sz="1050" b="1" dirty="0">
                <a:solidFill>
                  <a:schemeClr val="tx2"/>
                </a:solidFill>
              </a:rPr>
              <a:t>Line up by participant, not row to row</a:t>
            </a:r>
            <a:endParaRPr lang="en-US" sz="1050" dirty="0"/>
          </a:p>
        </p:txBody>
      </p:sp>
      <p:sp>
        <p:nvSpPr>
          <p:cNvPr id="48" name="text"/>
          <p:cNvSpPr txBox="1"/>
          <p:nvPr/>
        </p:nvSpPr>
        <p:spPr>
          <a:xfrm>
            <a:off x="8366760" y="4361688"/>
            <a:ext cx="3139135" cy="640080"/>
          </a:xfrm>
          <a:prstGeom prst="rect">
            <a:avLst/>
          </a:prstGeom>
          <a:noFill/>
          <a:ln/>
        </p:spPr>
        <p:txBody>
          <a:bodyPr wrap="square" lIns="0" tIns="0" rIns="0" bIns="0" rtlCol="0" anchor="t"/>
          <a:lstStyle/>
          <a:p>
            <a:pPr indent="0" marL="0">
              <a:buNone/>
            </a:pPr>
            <a:r>
              <a:rPr lang="en-US" sz="850" dirty="0">
                <a:solidFill>
                  <a:schemeClr val="tx1"/>
                </a:solidFill>
              </a:rPr>
              <a:t>The rollover share joins the quarter's separated participants to their rollovers by participant. A row-to-row join would double count a participant with two distributions.</a:t>
            </a:r>
            <a:endParaRPr lang="en-US" sz="850" dirty="0"/>
          </a:p>
        </p:txBody>
      </p:sp>
      <p:sp>
        <p:nvSpPr>
          <p:cNvPr id="49" name="card"/>
          <p:cNvSpPr/>
          <p:nvPr/>
        </p:nvSpPr>
        <p:spPr>
          <a:xfrm>
            <a:off x="8229600" y="5129784"/>
            <a:ext cx="3413455" cy="1005840"/>
          </a:xfrm>
          <a:prstGeom prst="roundRect">
            <a:avLst>
              <a:gd name="adj" fmla="val 7273"/>
            </a:avLst>
          </a:prstGeom>
          <a:solidFill>
            <a:schemeClr val="bg2"/>
          </a:solidFill>
          <a:ln w="12700">
            <a:solidFill>
              <a:schemeClr val="bg2"/>
            </a:solidFill>
            <a:prstDash val="solid"/>
          </a:ln>
        </p:spPr>
      </p:sp>
      <p:sp>
        <p:nvSpPr>
          <p:cNvPr id="50" name="text"/>
          <p:cNvSpPr txBox="1"/>
          <p:nvPr/>
        </p:nvSpPr>
        <p:spPr>
          <a:xfrm>
            <a:off x="8366760" y="5202936"/>
            <a:ext cx="3139135" cy="274320"/>
          </a:xfrm>
          <a:prstGeom prst="rect">
            <a:avLst/>
          </a:prstGeom>
          <a:noFill/>
          <a:ln/>
        </p:spPr>
        <p:txBody>
          <a:bodyPr wrap="square" lIns="0" tIns="0" rIns="0" bIns="0" rtlCol="0" anchor="t"/>
          <a:lstStyle/>
          <a:p>
            <a:pPr indent="0" marL="0">
              <a:buNone/>
            </a:pPr>
            <a:r>
              <a:rPr lang="en-US" sz="1050" b="1" dirty="0">
                <a:solidFill>
                  <a:schemeClr val="tx2"/>
                </a:solidFill>
              </a:rPr>
              <a:t>The firm total is zero by definition</a:t>
            </a:r>
            <a:endParaRPr lang="en-US" sz="1050" dirty="0"/>
          </a:p>
        </p:txBody>
      </p:sp>
      <p:sp>
        <p:nvSpPr>
          <p:cNvPr id="51" name="text"/>
          <p:cNvSpPr txBox="1"/>
          <p:nvPr/>
        </p:nvSpPr>
        <p:spPr>
          <a:xfrm>
            <a:off x="8366760" y="5477256"/>
            <a:ext cx="3139135" cy="640080"/>
          </a:xfrm>
          <a:prstGeom prst="rect">
            <a:avLst/>
          </a:prstGeom>
          <a:noFill/>
          <a:ln/>
        </p:spPr>
        <p:txBody>
          <a:bodyPr wrap="square" lIns="0" tIns="0" rIns="0" bIns="0" rtlCol="0" anchor="t"/>
          <a:lstStyle/>
          <a:p>
            <a:pPr indent="0" marL="0">
              <a:buNone/>
            </a:pPr>
            <a:r>
              <a:rPr lang="en-US" sz="850" dirty="0">
                <a:solidFill>
                  <a:schemeClr val="tx1"/>
                </a:solidFill>
              </a:rPr>
              <a:t>Net Inter-Channel Transfers at Dimension Type Total is zero. A dashboard that filters to the total and shows nothing is right, not broken.</a:t>
            </a:r>
            <a:endParaRPr lang="en-US" sz="8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Step 5. The answer: on the dashboard, in the worklist, in the file</a:t>
            </a:r>
            <a:endParaRPr lang="en-US" sz="2800" dirty="0"/>
          </a:p>
        </p:txBody>
      </p:sp>
      <p:sp>
        <p:nvSpPr>
          <p:cNvPr id="4" name="card"/>
          <p:cNvSpPr/>
          <p:nvPr/>
        </p:nvSpPr>
        <p:spPr>
          <a:xfrm>
            <a:off x="548640" y="1417320"/>
            <a:ext cx="2377440" cy="4800600"/>
          </a:xfrm>
          <a:prstGeom prst="roundRect">
            <a:avLst>
              <a:gd name="adj" fmla="val 3077"/>
            </a:avLst>
          </a:prstGeom>
          <a:solidFill>
            <a:schemeClr val="bg2"/>
          </a:solidFill>
          <a:ln w="12700">
            <a:solidFill>
              <a:schemeClr val="bg2"/>
            </a:solidFill>
            <a:prstDash val="solid"/>
          </a:ln>
        </p:spPr>
      </p:sp>
      <p:sp>
        <p:nvSpPr>
          <p:cNvPr id="5" name="text"/>
          <p:cNvSpPr txBox="1"/>
          <p:nvPr/>
        </p:nvSpPr>
        <p:spPr>
          <a:xfrm>
            <a:off x="731520" y="1581912"/>
            <a:ext cx="2011680" cy="274320"/>
          </a:xfrm>
          <a:prstGeom prst="rect">
            <a:avLst/>
          </a:prstGeom>
          <a:noFill/>
          <a:ln/>
        </p:spPr>
        <p:txBody>
          <a:bodyPr wrap="square" lIns="0" tIns="0" rIns="0" bIns="0" rtlCol="0" anchor="t"/>
          <a:lstStyle/>
          <a:p>
            <a:pPr indent="0" marL="0">
              <a:buNone/>
            </a:pPr>
            <a:r>
              <a:rPr lang="en-US" sz="1000" b="1" dirty="0">
                <a:solidFill>
                  <a:schemeClr val="accent6"/>
                </a:solidFill>
              </a:rPr>
              <a:t>WHERE WE ARE</a:t>
            </a:r>
            <a:endParaRPr lang="en-US" sz="1000" dirty="0"/>
          </a:p>
        </p:txBody>
      </p:sp>
      <p:sp>
        <p:nvSpPr>
          <p:cNvPr id="6" name="chip"/>
          <p:cNvSpPr/>
          <p:nvPr/>
        </p:nvSpPr>
        <p:spPr>
          <a:xfrm>
            <a:off x="749808" y="2057400"/>
            <a:ext cx="384048" cy="384048"/>
          </a:xfrm>
          <a:prstGeom prst="ellipse">
            <a:avLst/>
          </a:prstGeom>
          <a:solidFill>
            <a:schemeClr val="bg2"/>
          </a:solidFill>
          <a:ln w="12700">
            <a:solidFill>
              <a:schemeClr val="accent6"/>
            </a:solidFill>
            <a:prstDash val="solid"/>
          </a:ln>
        </p:spPr>
      </p:sp>
      <p:sp>
        <p:nvSpPr>
          <p:cNvPr id="7" name="text"/>
          <p:cNvSpPr txBox="1"/>
          <p:nvPr/>
        </p:nvSpPr>
        <p:spPr>
          <a:xfrm>
            <a:off x="749808" y="2057400"/>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1</a:t>
            </a:r>
            <a:endParaRPr lang="en-US" sz="1200" dirty="0"/>
          </a:p>
        </p:txBody>
      </p:sp>
      <p:sp>
        <p:nvSpPr>
          <p:cNvPr id="8" name="text"/>
          <p:cNvSpPr txBox="1"/>
          <p:nvPr/>
        </p:nvSpPr>
        <p:spPr>
          <a:xfrm>
            <a:off x="1243584" y="2039112"/>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Source systems</a:t>
            </a:r>
            <a:endParaRPr lang="en-US" sz="1200" dirty="0"/>
          </a:p>
        </p:txBody>
      </p:sp>
      <p:sp>
        <p:nvSpPr>
          <p:cNvPr id="9" name="chip"/>
          <p:cNvSpPr/>
          <p:nvPr/>
        </p:nvSpPr>
        <p:spPr>
          <a:xfrm>
            <a:off x="749808" y="2898648"/>
            <a:ext cx="384048" cy="384048"/>
          </a:xfrm>
          <a:prstGeom prst="ellipse">
            <a:avLst/>
          </a:prstGeom>
          <a:solidFill>
            <a:schemeClr val="bg2"/>
          </a:solidFill>
          <a:ln w="12700">
            <a:solidFill>
              <a:schemeClr val="accent6"/>
            </a:solidFill>
            <a:prstDash val="solid"/>
          </a:ln>
        </p:spPr>
      </p:sp>
      <p:sp>
        <p:nvSpPr>
          <p:cNvPr id="10" name="text"/>
          <p:cNvSpPr txBox="1"/>
          <p:nvPr/>
        </p:nvSpPr>
        <p:spPr>
          <a:xfrm>
            <a:off x="749808" y="2898648"/>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2</a:t>
            </a:r>
            <a:endParaRPr lang="en-US" sz="1200" dirty="0"/>
          </a:p>
        </p:txBody>
      </p:sp>
      <p:sp>
        <p:nvSpPr>
          <p:cNvPr id="11" name="text"/>
          <p:cNvSpPr txBox="1"/>
          <p:nvPr/>
        </p:nvSpPr>
        <p:spPr>
          <a:xfrm>
            <a:off x="1243584" y="2880360"/>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Taxonomy</a:t>
            </a:r>
            <a:endParaRPr lang="en-US" sz="1200" dirty="0"/>
          </a:p>
        </p:txBody>
      </p:sp>
      <p:sp>
        <p:nvSpPr>
          <p:cNvPr id="12" name="chip"/>
          <p:cNvSpPr/>
          <p:nvPr/>
        </p:nvSpPr>
        <p:spPr>
          <a:xfrm>
            <a:off x="749808" y="3739896"/>
            <a:ext cx="384048" cy="384048"/>
          </a:xfrm>
          <a:prstGeom prst="ellipse">
            <a:avLst/>
          </a:prstGeom>
          <a:solidFill>
            <a:schemeClr val="bg2"/>
          </a:solidFill>
          <a:ln w="12700">
            <a:solidFill>
              <a:schemeClr val="accent6"/>
            </a:solidFill>
            <a:prstDash val="solid"/>
          </a:ln>
        </p:spPr>
      </p:sp>
      <p:sp>
        <p:nvSpPr>
          <p:cNvPr id="13" name="text"/>
          <p:cNvSpPr txBox="1"/>
          <p:nvPr/>
        </p:nvSpPr>
        <p:spPr>
          <a:xfrm>
            <a:off x="749808" y="3739896"/>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3</a:t>
            </a:r>
            <a:endParaRPr lang="en-US" sz="1200" dirty="0"/>
          </a:p>
        </p:txBody>
      </p:sp>
      <p:sp>
        <p:nvSpPr>
          <p:cNvPr id="14" name="text"/>
          <p:cNvSpPr txBox="1"/>
          <p:nvPr/>
        </p:nvSpPr>
        <p:spPr>
          <a:xfrm>
            <a:off x="1243584" y="3721608"/>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Foundational products</a:t>
            </a:r>
            <a:endParaRPr lang="en-US" sz="1200" dirty="0"/>
          </a:p>
        </p:txBody>
      </p:sp>
      <p:sp>
        <p:nvSpPr>
          <p:cNvPr id="15" name="chip"/>
          <p:cNvSpPr/>
          <p:nvPr/>
        </p:nvSpPr>
        <p:spPr>
          <a:xfrm>
            <a:off x="749808" y="4581144"/>
            <a:ext cx="384048" cy="384048"/>
          </a:xfrm>
          <a:prstGeom prst="ellipse">
            <a:avLst/>
          </a:prstGeom>
          <a:solidFill>
            <a:schemeClr val="bg2"/>
          </a:solidFill>
          <a:ln w="12700">
            <a:solidFill>
              <a:schemeClr val="accent6"/>
            </a:solidFill>
            <a:prstDash val="solid"/>
          </a:ln>
        </p:spPr>
      </p:sp>
      <p:sp>
        <p:nvSpPr>
          <p:cNvPr id="16" name="text"/>
          <p:cNvSpPr txBox="1"/>
          <p:nvPr/>
        </p:nvSpPr>
        <p:spPr>
          <a:xfrm>
            <a:off x="749808" y="4581144"/>
            <a:ext cx="384048" cy="384048"/>
          </a:xfrm>
          <a:prstGeom prst="rect">
            <a:avLst/>
          </a:prstGeom>
          <a:noFill/>
          <a:ln/>
        </p:spPr>
        <p:txBody>
          <a:bodyPr wrap="square" lIns="0" tIns="0" rIns="0" bIns="0" rtlCol="0" anchor="ctr"/>
          <a:lstStyle/>
          <a:p>
            <a:pPr algn="ctr" indent="0" marL="0">
              <a:buNone/>
            </a:pPr>
            <a:r>
              <a:rPr lang="en-US" sz="1200" b="1" dirty="0">
                <a:solidFill>
                  <a:schemeClr val="accent6"/>
                </a:solidFill>
              </a:rPr>
              <a:t>4</a:t>
            </a:r>
            <a:endParaRPr lang="en-US" sz="1200" dirty="0"/>
          </a:p>
        </p:txBody>
      </p:sp>
      <p:sp>
        <p:nvSpPr>
          <p:cNvPr id="17" name="text"/>
          <p:cNvSpPr txBox="1"/>
          <p:nvPr/>
        </p:nvSpPr>
        <p:spPr>
          <a:xfrm>
            <a:off x="1243584" y="4562856"/>
            <a:ext cx="1783080" cy="420624"/>
          </a:xfrm>
          <a:prstGeom prst="rect">
            <a:avLst/>
          </a:prstGeom>
          <a:noFill/>
          <a:ln/>
        </p:spPr>
        <p:txBody>
          <a:bodyPr wrap="square" lIns="0" tIns="0" rIns="0" bIns="0" rtlCol="0" anchor="ctr"/>
          <a:lstStyle/>
          <a:p>
            <a:pPr indent="0" marL="0">
              <a:buNone/>
            </a:pPr>
            <a:r>
              <a:rPr lang="en-US" sz="1200" dirty="0">
                <a:solidFill>
                  <a:schemeClr val="accent6"/>
                </a:solidFill>
              </a:rPr>
              <a:t>Consumer products</a:t>
            </a:r>
            <a:endParaRPr lang="en-US" sz="1200" dirty="0"/>
          </a:p>
        </p:txBody>
      </p:sp>
      <p:sp>
        <p:nvSpPr>
          <p:cNvPr id="18" name="chip"/>
          <p:cNvSpPr/>
          <p:nvPr/>
        </p:nvSpPr>
        <p:spPr>
          <a:xfrm>
            <a:off x="749808" y="5422392"/>
            <a:ext cx="384048" cy="384048"/>
          </a:xfrm>
          <a:prstGeom prst="ellipse">
            <a:avLst/>
          </a:prstGeom>
          <a:solidFill>
            <a:schemeClr val="accent4"/>
          </a:solidFill>
          <a:ln w="12700">
            <a:solidFill>
              <a:schemeClr val="accent4"/>
            </a:solidFill>
            <a:prstDash val="solid"/>
          </a:ln>
        </p:spPr>
      </p:sp>
      <p:sp>
        <p:nvSpPr>
          <p:cNvPr id="19" name="text"/>
          <p:cNvSpPr txBox="1"/>
          <p:nvPr/>
        </p:nvSpPr>
        <p:spPr>
          <a:xfrm>
            <a:off x="749808" y="54223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0" name="text"/>
          <p:cNvSpPr txBox="1"/>
          <p:nvPr/>
        </p:nvSpPr>
        <p:spPr>
          <a:xfrm>
            <a:off x="1243584" y="5404104"/>
            <a:ext cx="1783080" cy="420624"/>
          </a:xfrm>
          <a:prstGeom prst="rect">
            <a:avLst/>
          </a:prstGeom>
          <a:noFill/>
          <a:ln/>
        </p:spPr>
        <p:txBody>
          <a:bodyPr wrap="square" lIns="0" tIns="0" rIns="0" bIns="0" rtlCol="0" anchor="ctr"/>
          <a:lstStyle/>
          <a:p>
            <a:pPr indent="0" marL="0">
              <a:buNone/>
            </a:pPr>
            <a:r>
              <a:rPr lang="en-US" sz="1200" b="1" dirty="0">
                <a:solidFill>
                  <a:schemeClr val="tx1"/>
                </a:solidFill>
              </a:rPr>
              <a:t>Semantic model and uses</a:t>
            </a:r>
            <a:endParaRPr lang="en-US" sz="1200" dirty="0"/>
          </a:p>
        </p:txBody>
      </p:sp>
      <p:sp>
        <p:nvSpPr>
          <p:cNvPr id="21" name="card"/>
          <p:cNvSpPr/>
          <p:nvPr/>
        </p:nvSpPr>
        <p:spPr>
          <a:xfrm>
            <a:off x="3154680" y="1417320"/>
            <a:ext cx="8488375" cy="2103120"/>
          </a:xfrm>
          <a:prstGeom prst="roundRect">
            <a:avLst>
              <a:gd name="adj" fmla="val 3478"/>
            </a:avLst>
          </a:prstGeom>
          <a:solidFill>
            <a:schemeClr val="tx2"/>
          </a:solidFill>
          <a:ln w="12700">
            <a:solidFill>
              <a:schemeClr val="tx2"/>
            </a:solidFill>
            <a:prstDash val="solid"/>
          </a:ln>
        </p:spPr>
      </p:sp>
      <p:sp>
        <p:nvSpPr>
          <p:cNvPr id="22" name="text"/>
          <p:cNvSpPr txBox="1"/>
          <p:nvPr/>
        </p:nvSpPr>
        <p:spPr>
          <a:xfrm>
            <a:off x="3383280" y="1554480"/>
            <a:ext cx="5486400" cy="274320"/>
          </a:xfrm>
          <a:prstGeom prst="rect">
            <a:avLst/>
          </a:prstGeom>
          <a:noFill/>
          <a:ln/>
        </p:spPr>
        <p:txBody>
          <a:bodyPr wrap="square" lIns="0" tIns="0" rIns="0" bIns="0" rtlCol="0" anchor="t"/>
          <a:lstStyle/>
          <a:p>
            <a:pPr indent="0" marL="0">
              <a:buNone/>
            </a:pPr>
            <a:r>
              <a:rPr lang="en-US" sz="1000" b="1" dirty="0">
                <a:solidFill>
                  <a:schemeClr val="accent4"/>
                </a:solidFill>
              </a:rPr>
              <a:t>ROLLOVERS INTO ADVICE, Q2 2026  (illustrative)</a:t>
            </a:r>
            <a:endParaRPr lang="en-US" sz="1000" dirty="0"/>
          </a:p>
        </p:txBody>
      </p:sp>
      <p:sp>
        <p:nvSpPr>
          <p:cNvPr id="23" name="text"/>
          <p:cNvSpPr txBox="1"/>
          <p:nvPr/>
        </p:nvSpPr>
        <p:spPr>
          <a:xfrm>
            <a:off x="7726680" y="1554480"/>
            <a:ext cx="3687775" cy="274320"/>
          </a:xfrm>
          <a:prstGeom prst="rect">
            <a:avLst/>
          </a:prstGeom>
          <a:noFill/>
          <a:ln/>
        </p:spPr>
        <p:txBody>
          <a:bodyPr wrap="square" lIns="0" tIns="0" rIns="0" bIns="0" rtlCol="0" anchor="t"/>
          <a:lstStyle/>
          <a:p>
            <a:pPr algn="r" indent="0" marL="0">
              <a:buNone/>
            </a:pPr>
            <a:r>
              <a:rPr lang="en-US" sz="900" dirty="0">
                <a:solidFill>
                  <a:schemeClr val="bg2"/>
                </a:solidFill>
              </a:rPr>
              <a:t>Assets as of 30 Jun 2026 (locked)  |  Evidence flag as of last night's run</a:t>
            </a:r>
            <a:endParaRPr lang="en-US" sz="900" dirty="0"/>
          </a:p>
        </p:txBody>
      </p:sp>
      <p:sp>
        <p:nvSpPr>
          <p:cNvPr id="24" name="text"/>
          <p:cNvSpPr txBox="1"/>
          <p:nvPr/>
        </p:nvSpPr>
        <p:spPr>
          <a:xfrm>
            <a:off x="3383280" y="1874520"/>
            <a:ext cx="1514795" cy="640080"/>
          </a:xfrm>
          <a:prstGeom prst="rect">
            <a:avLst/>
          </a:prstGeom>
          <a:noFill/>
          <a:ln/>
        </p:spPr>
        <p:txBody>
          <a:bodyPr wrap="square" lIns="0" tIns="0" rIns="0" bIns="0" rtlCol="0" anchor="t"/>
          <a:lstStyle/>
          <a:p>
            <a:pPr indent="0" marL="0">
              <a:buNone/>
            </a:pPr>
            <a:r>
              <a:rPr lang="en-US" sz="2600" b="1" dirty="0">
                <a:solidFill>
                  <a:schemeClr val="bg1"/>
                </a:solidFill>
              </a:rPr>
              <a:t>4,120</a:t>
            </a:r>
            <a:endParaRPr lang="en-US" sz="2600" dirty="0"/>
          </a:p>
        </p:txBody>
      </p:sp>
      <p:sp>
        <p:nvSpPr>
          <p:cNvPr id="25" name="text"/>
          <p:cNvSpPr txBox="1"/>
          <p:nvPr/>
        </p:nvSpPr>
        <p:spPr>
          <a:xfrm>
            <a:off x="3383280" y="2514600"/>
            <a:ext cx="1514795" cy="457200"/>
          </a:xfrm>
          <a:prstGeom prst="rect">
            <a:avLst/>
          </a:prstGeom>
          <a:noFill/>
          <a:ln/>
        </p:spPr>
        <p:txBody>
          <a:bodyPr wrap="square" lIns="0" tIns="0" rIns="0" bIns="0" rtlCol="0" anchor="t"/>
          <a:lstStyle/>
          <a:p>
            <a:pPr indent="0" marL="0">
              <a:buNone/>
            </a:pPr>
            <a:r>
              <a:rPr lang="en-US" sz="1000" b="1" dirty="0">
                <a:solidFill>
                  <a:schemeClr val="bg1"/>
                </a:solidFill>
              </a:rPr>
              <a:t>participants separated</a:t>
            </a:r>
            <a:endParaRPr lang="en-US" sz="1000" dirty="0"/>
          </a:p>
        </p:txBody>
      </p:sp>
      <p:sp>
        <p:nvSpPr>
          <p:cNvPr id="26" name="text"/>
          <p:cNvSpPr txBox="1"/>
          <p:nvPr/>
        </p:nvSpPr>
        <p:spPr>
          <a:xfrm>
            <a:off x="3383280" y="2880360"/>
            <a:ext cx="1514795" cy="548640"/>
          </a:xfrm>
          <a:prstGeom prst="rect">
            <a:avLst/>
          </a:prstGeom>
          <a:noFill/>
          <a:ln/>
        </p:spPr>
        <p:txBody>
          <a:bodyPr wrap="square" lIns="0" tIns="0" rIns="0" bIns="0" rtlCol="0" anchor="t"/>
          <a:lstStyle/>
          <a:p>
            <a:pPr indent="0" marL="0">
              <a:buNone/>
            </a:pPr>
            <a:r>
              <a:rPr lang="en-US" sz="900" dirty="0">
                <a:solidFill>
                  <a:schemeClr val="bg2"/>
                </a:solidFill>
              </a:rPr>
              <a:t>Separations, by plan (SM-26)</a:t>
            </a:r>
            <a:endParaRPr lang="en-US" sz="900" dirty="0"/>
          </a:p>
        </p:txBody>
      </p:sp>
      <p:sp>
        <p:nvSpPr>
          <p:cNvPr id="27" name="text"/>
          <p:cNvSpPr txBox="1"/>
          <p:nvPr/>
        </p:nvSpPr>
        <p:spPr>
          <a:xfrm>
            <a:off x="4989515" y="1874520"/>
            <a:ext cx="1514795" cy="640080"/>
          </a:xfrm>
          <a:prstGeom prst="rect">
            <a:avLst/>
          </a:prstGeom>
          <a:noFill/>
          <a:ln/>
        </p:spPr>
        <p:txBody>
          <a:bodyPr wrap="square" lIns="0" tIns="0" rIns="0" bIns="0" rtlCol="0" anchor="t"/>
          <a:lstStyle/>
          <a:p>
            <a:pPr indent="0" marL="0">
              <a:buNone/>
            </a:pPr>
            <a:r>
              <a:rPr lang="en-US" sz="2600" b="1" dirty="0">
                <a:solidFill>
                  <a:schemeClr val="bg1"/>
                </a:solidFill>
              </a:rPr>
              <a:t>$610m</a:t>
            </a:r>
            <a:endParaRPr lang="en-US" sz="2600" dirty="0"/>
          </a:p>
        </p:txBody>
      </p:sp>
      <p:sp>
        <p:nvSpPr>
          <p:cNvPr id="28" name="text"/>
          <p:cNvSpPr txBox="1"/>
          <p:nvPr/>
        </p:nvSpPr>
        <p:spPr>
          <a:xfrm>
            <a:off x="4989515" y="2514600"/>
            <a:ext cx="1514795" cy="457200"/>
          </a:xfrm>
          <a:prstGeom prst="rect">
            <a:avLst/>
          </a:prstGeom>
          <a:noFill/>
          <a:ln/>
        </p:spPr>
        <p:txBody>
          <a:bodyPr wrap="square" lIns="0" tIns="0" rIns="0" bIns="0" rtlCol="0" anchor="t"/>
          <a:lstStyle/>
          <a:p>
            <a:pPr indent="0" marL="0">
              <a:buNone/>
            </a:pPr>
            <a:r>
              <a:rPr lang="en-US" sz="1000" b="1" dirty="0">
                <a:solidFill>
                  <a:schemeClr val="bg1"/>
                </a:solidFill>
              </a:rPr>
              <a:t>rolled into the direct business</a:t>
            </a:r>
            <a:endParaRPr lang="en-US" sz="1000" dirty="0"/>
          </a:p>
        </p:txBody>
      </p:sp>
      <p:sp>
        <p:nvSpPr>
          <p:cNvPr id="29" name="text"/>
          <p:cNvSpPr txBox="1"/>
          <p:nvPr/>
        </p:nvSpPr>
        <p:spPr>
          <a:xfrm>
            <a:off x="4989515" y="2880360"/>
            <a:ext cx="1514795" cy="548640"/>
          </a:xfrm>
          <a:prstGeom prst="rect">
            <a:avLst/>
          </a:prstGeom>
          <a:noFill/>
          <a:ln/>
        </p:spPr>
        <p:txBody>
          <a:bodyPr wrap="square" lIns="0" tIns="0" rIns="0" bIns="0" rtlCol="0" anchor="t"/>
          <a:lstStyle/>
          <a:p>
            <a:pPr indent="0" marL="0">
              <a:buNone/>
            </a:pPr>
            <a:r>
              <a:rPr lang="en-US" sz="900" dirty="0">
                <a:solidFill>
                  <a:schemeClr val="bg2"/>
                </a:solidFill>
              </a:rPr>
              <a:t>42% of $1.46bn paid out: Direct Business Rollover Share</a:t>
            </a:r>
            <a:endParaRPr lang="en-US" sz="900" dirty="0"/>
          </a:p>
        </p:txBody>
      </p:sp>
      <p:sp>
        <p:nvSpPr>
          <p:cNvPr id="30" name="text"/>
          <p:cNvSpPr txBox="1"/>
          <p:nvPr/>
        </p:nvSpPr>
        <p:spPr>
          <a:xfrm>
            <a:off x="6595750" y="1874520"/>
            <a:ext cx="1514795" cy="640080"/>
          </a:xfrm>
          <a:prstGeom prst="rect">
            <a:avLst/>
          </a:prstGeom>
          <a:noFill/>
          <a:ln/>
        </p:spPr>
        <p:txBody>
          <a:bodyPr wrap="square" lIns="0" tIns="0" rIns="0" bIns="0" rtlCol="0" anchor="t"/>
          <a:lstStyle/>
          <a:p>
            <a:pPr indent="0" marL="0">
              <a:buNone/>
            </a:pPr>
            <a:r>
              <a:rPr lang="en-US" sz="2600" b="1" dirty="0">
                <a:solidFill>
                  <a:schemeClr val="bg1"/>
                </a:solidFill>
              </a:rPr>
              <a:t>$598m</a:t>
            </a:r>
            <a:endParaRPr lang="en-US" sz="2600" dirty="0"/>
          </a:p>
        </p:txBody>
      </p:sp>
      <p:sp>
        <p:nvSpPr>
          <p:cNvPr id="31" name="text"/>
          <p:cNvSpPr txBox="1"/>
          <p:nvPr/>
        </p:nvSpPr>
        <p:spPr>
          <a:xfrm>
            <a:off x="6595750" y="2514600"/>
            <a:ext cx="1514795" cy="457200"/>
          </a:xfrm>
          <a:prstGeom prst="rect">
            <a:avLst/>
          </a:prstGeom>
          <a:noFill/>
          <a:ln/>
        </p:spPr>
        <p:txBody>
          <a:bodyPr wrap="square" lIns="0" tIns="0" rIns="0" bIns="0" rtlCol="0" anchor="t"/>
          <a:lstStyle/>
          <a:p>
            <a:pPr indent="0" marL="0">
              <a:buNone/>
            </a:pPr>
            <a:r>
              <a:rPr lang="en-US" sz="1000" b="1" dirty="0">
                <a:solidFill>
                  <a:schemeClr val="bg1"/>
                </a:solidFill>
              </a:rPr>
              <a:t>certified workplace-to-direct transfers</a:t>
            </a:r>
            <a:endParaRPr lang="en-US" sz="1000" dirty="0"/>
          </a:p>
        </p:txBody>
      </p:sp>
      <p:sp>
        <p:nvSpPr>
          <p:cNvPr id="32" name="text"/>
          <p:cNvSpPr txBox="1"/>
          <p:nvPr/>
        </p:nvSpPr>
        <p:spPr>
          <a:xfrm>
            <a:off x="6595750" y="2880360"/>
            <a:ext cx="1514795" cy="548640"/>
          </a:xfrm>
          <a:prstGeom prst="rect">
            <a:avLst/>
          </a:prstGeom>
          <a:noFill/>
          <a:ln/>
        </p:spPr>
        <p:txBody>
          <a:bodyPr wrap="square" lIns="0" tIns="0" rIns="0" bIns="0" rtlCol="0" anchor="t"/>
          <a:lstStyle/>
          <a:p>
            <a:pPr indent="0" marL="0">
              <a:buNone/>
            </a:pPr>
            <a:r>
              <a:rPr lang="en-US" sz="900" dirty="0">
                <a:solidFill>
                  <a:schemeClr val="bg2"/>
                </a:solidFill>
              </a:rPr>
              <a:t>Net Inter-Channel Transfers (SM-20); $380m into the advice channel</a:t>
            </a:r>
            <a:endParaRPr lang="en-US" sz="900" dirty="0"/>
          </a:p>
        </p:txBody>
      </p:sp>
      <p:sp>
        <p:nvSpPr>
          <p:cNvPr id="33" name="text"/>
          <p:cNvSpPr txBox="1"/>
          <p:nvPr/>
        </p:nvSpPr>
        <p:spPr>
          <a:xfrm>
            <a:off x="8201985" y="1874520"/>
            <a:ext cx="1514795" cy="640080"/>
          </a:xfrm>
          <a:prstGeom prst="rect">
            <a:avLst/>
          </a:prstGeom>
          <a:noFill/>
          <a:ln/>
        </p:spPr>
        <p:txBody>
          <a:bodyPr wrap="square" lIns="0" tIns="0" rIns="0" bIns="0" rtlCol="0" anchor="t"/>
          <a:lstStyle/>
          <a:p>
            <a:pPr indent="0" marL="0">
              <a:buNone/>
            </a:pPr>
            <a:r>
              <a:rPr lang="en-US" sz="2600" b="1" dirty="0">
                <a:solidFill>
                  <a:schemeClr val="bg1"/>
                </a:solidFill>
              </a:rPr>
              <a:t>1,940</a:t>
            </a:r>
            <a:endParaRPr lang="en-US" sz="2600" dirty="0"/>
          </a:p>
        </p:txBody>
      </p:sp>
      <p:sp>
        <p:nvSpPr>
          <p:cNvPr id="34" name="text"/>
          <p:cNvSpPr txBox="1"/>
          <p:nvPr/>
        </p:nvSpPr>
        <p:spPr>
          <a:xfrm>
            <a:off x="8201985" y="2514600"/>
            <a:ext cx="1514795" cy="457200"/>
          </a:xfrm>
          <a:prstGeom prst="rect">
            <a:avLst/>
          </a:prstGeom>
          <a:noFill/>
          <a:ln/>
        </p:spPr>
        <p:txBody>
          <a:bodyPr wrap="square" lIns="0" tIns="0" rIns="0" bIns="0" rtlCol="0" anchor="t"/>
          <a:lstStyle/>
          <a:p>
            <a:pPr indent="0" marL="0">
              <a:buNone/>
            </a:pPr>
            <a:r>
              <a:rPr lang="en-US" sz="1000" b="1" dirty="0">
                <a:solidFill>
                  <a:schemeClr val="bg1"/>
                </a:solidFill>
              </a:rPr>
              <a:t>rollover recommendations</a:t>
            </a:r>
            <a:endParaRPr lang="en-US" sz="1000" dirty="0"/>
          </a:p>
        </p:txBody>
      </p:sp>
      <p:sp>
        <p:nvSpPr>
          <p:cNvPr id="35" name="text"/>
          <p:cNvSpPr txBox="1"/>
          <p:nvPr/>
        </p:nvSpPr>
        <p:spPr>
          <a:xfrm>
            <a:off x="8201985" y="2880360"/>
            <a:ext cx="1514795" cy="548640"/>
          </a:xfrm>
          <a:prstGeom prst="rect">
            <a:avLst/>
          </a:prstGeom>
          <a:noFill/>
          <a:ln/>
        </p:spPr>
        <p:txBody>
          <a:bodyPr wrap="square" lIns="0" tIns="0" rIns="0" bIns="0" rtlCol="0" anchor="t"/>
          <a:lstStyle/>
          <a:p>
            <a:pPr indent="0" marL="0">
              <a:buNone/>
            </a:pPr>
            <a:r>
              <a:rPr lang="en-US" sz="900" dirty="0">
                <a:solidFill>
                  <a:schemeClr val="bg2"/>
                </a:solidFill>
              </a:rPr>
              <a:t>presented in the quarter (SM-22)</a:t>
            </a:r>
            <a:endParaRPr lang="en-US" sz="900" dirty="0"/>
          </a:p>
        </p:txBody>
      </p:sp>
      <p:sp>
        <p:nvSpPr>
          <p:cNvPr id="36" name="text"/>
          <p:cNvSpPr txBox="1"/>
          <p:nvPr/>
        </p:nvSpPr>
        <p:spPr>
          <a:xfrm>
            <a:off x="9808220" y="1874520"/>
            <a:ext cx="1514795" cy="640080"/>
          </a:xfrm>
          <a:prstGeom prst="rect">
            <a:avLst/>
          </a:prstGeom>
          <a:noFill/>
          <a:ln/>
        </p:spPr>
        <p:txBody>
          <a:bodyPr wrap="square" lIns="0" tIns="0" rIns="0" bIns="0" rtlCol="0" anchor="t"/>
          <a:lstStyle/>
          <a:p>
            <a:pPr indent="0" marL="0">
              <a:buNone/>
            </a:pPr>
            <a:r>
              <a:rPr lang="en-US" sz="2600" b="1" dirty="0">
                <a:solidFill>
                  <a:schemeClr val="accent4"/>
                </a:solidFill>
              </a:rPr>
              <a:t>37</a:t>
            </a:r>
            <a:endParaRPr lang="en-US" sz="2600" dirty="0"/>
          </a:p>
        </p:txBody>
      </p:sp>
      <p:sp>
        <p:nvSpPr>
          <p:cNvPr id="37" name="text"/>
          <p:cNvSpPr txBox="1"/>
          <p:nvPr/>
        </p:nvSpPr>
        <p:spPr>
          <a:xfrm>
            <a:off x="9808220" y="2514600"/>
            <a:ext cx="1514795" cy="457200"/>
          </a:xfrm>
          <a:prstGeom prst="rect">
            <a:avLst/>
          </a:prstGeom>
          <a:noFill/>
          <a:ln/>
        </p:spPr>
        <p:txBody>
          <a:bodyPr wrap="square" lIns="0" tIns="0" rIns="0" bIns="0" rtlCol="0" anchor="t"/>
          <a:lstStyle/>
          <a:p>
            <a:pPr indent="0" marL="0">
              <a:buNone/>
            </a:pPr>
            <a:r>
              <a:rPr lang="en-US" sz="1000" b="1" dirty="0">
                <a:solidFill>
                  <a:schemeClr val="bg1"/>
                </a:solidFill>
              </a:rPr>
              <a:t>without PTE 2020-02 documentation</a:t>
            </a:r>
            <a:endParaRPr lang="en-US" sz="1000" dirty="0"/>
          </a:p>
        </p:txBody>
      </p:sp>
      <p:sp>
        <p:nvSpPr>
          <p:cNvPr id="38" name="text"/>
          <p:cNvSpPr txBox="1"/>
          <p:nvPr/>
        </p:nvSpPr>
        <p:spPr>
          <a:xfrm>
            <a:off x="9808220" y="2880360"/>
            <a:ext cx="1514795" cy="548640"/>
          </a:xfrm>
          <a:prstGeom prst="rect">
            <a:avLst/>
          </a:prstGeom>
          <a:noFill/>
          <a:ln/>
        </p:spPr>
        <p:txBody>
          <a:bodyPr wrap="square" lIns="0" tIns="0" rIns="0" bIns="0" rtlCol="0" anchor="t"/>
          <a:lstStyle/>
          <a:p>
            <a:pPr indent="0" marL="0">
              <a:buNone/>
            </a:pPr>
            <a:r>
              <a:rPr lang="en-US" sz="900" dirty="0">
                <a:solidFill>
                  <a:schemeClr val="bg2"/>
                </a:solidFill>
              </a:rPr>
              <a:t>PTE Documentation Gap Rate 1.9%</a:t>
            </a:r>
            <a:endParaRPr lang="en-US" sz="900" dirty="0"/>
          </a:p>
        </p:txBody>
      </p:sp>
      <p:sp>
        <p:nvSpPr>
          <p:cNvPr id="39" name="card"/>
          <p:cNvSpPr/>
          <p:nvPr/>
        </p:nvSpPr>
        <p:spPr>
          <a:xfrm>
            <a:off x="3154680" y="3703320"/>
            <a:ext cx="2756306" cy="2514600"/>
          </a:xfrm>
          <a:prstGeom prst="roundRect">
            <a:avLst>
              <a:gd name="adj" fmla="val 2909"/>
            </a:avLst>
          </a:prstGeom>
          <a:solidFill>
            <a:schemeClr val="bg2"/>
          </a:solidFill>
          <a:ln w="12700">
            <a:solidFill>
              <a:schemeClr val="bg2"/>
            </a:solidFill>
            <a:prstDash val="solid"/>
          </a:ln>
        </p:spPr>
      </p:sp>
      <p:sp>
        <p:nvSpPr>
          <p:cNvPr id="40" name="panel"/>
          <p:cNvSpPr/>
          <p:nvPr/>
        </p:nvSpPr>
        <p:spPr>
          <a:xfrm>
            <a:off x="3154680" y="3703320"/>
            <a:ext cx="2756306" cy="411480"/>
          </a:xfrm>
          <a:prstGeom prst="rect">
            <a:avLst/>
          </a:prstGeom>
          <a:solidFill>
            <a:schemeClr val="accent4"/>
          </a:solidFill>
          <a:ln w="12700">
            <a:solidFill>
              <a:schemeClr val="accent4"/>
            </a:solidFill>
            <a:prstDash val="solid"/>
          </a:ln>
        </p:spPr>
      </p:sp>
      <p:sp>
        <p:nvSpPr>
          <p:cNvPr id="41" name="text"/>
          <p:cNvSpPr txBox="1"/>
          <p:nvPr/>
        </p:nvSpPr>
        <p:spPr>
          <a:xfrm>
            <a:off x="3291840" y="3703320"/>
            <a:ext cx="2481986" cy="411480"/>
          </a:xfrm>
          <a:prstGeom prst="rect">
            <a:avLst/>
          </a:prstGeom>
          <a:noFill/>
          <a:ln/>
        </p:spPr>
        <p:txBody>
          <a:bodyPr wrap="square" lIns="0" tIns="0" rIns="0" bIns="0" rtlCol="0" anchor="ctr"/>
          <a:lstStyle/>
          <a:p>
            <a:pPr indent="0" marL="0">
              <a:buNone/>
            </a:pPr>
            <a:r>
              <a:rPr lang="en-US" sz="1050" b="1" dirty="0">
                <a:solidFill>
                  <a:schemeClr val="bg1"/>
                </a:solidFill>
              </a:rPr>
              <a:t>Analytical   |   Dashboard or AI assistant</a:t>
            </a:r>
            <a:endParaRPr lang="en-US" sz="1050" dirty="0"/>
          </a:p>
        </p:txBody>
      </p:sp>
      <p:sp>
        <p:nvSpPr>
          <p:cNvPr id="42" name="text"/>
          <p:cNvSpPr txBox="1"/>
          <p:nvPr/>
        </p:nvSpPr>
        <p:spPr>
          <a:xfrm>
            <a:off x="3291840" y="4206240"/>
            <a:ext cx="2481986" cy="1965960"/>
          </a:xfrm>
          <a:prstGeom prst="rect">
            <a:avLst/>
          </a:prstGeom>
          <a:noFill/>
          <a:ln/>
        </p:spPr>
        <p:txBody>
          <a:bodyPr wrap="square" lIns="0" tIns="0" rIns="0" bIns="0" rtlCol="0" anchor="t"/>
          <a:lstStyle/>
          <a:p>
            <a:pPr indent="0" marL="0">
              <a:buNone/>
            </a:pPr>
            <a:r>
              <a:rPr lang="en-US" sz="950" dirty="0">
                <a:solidFill>
                  <a:schemeClr val="tx1"/>
                </a:solidFill>
              </a:rPr>
              <a:t>"What share of this quarter's separated participants rolled into us, and how many rollover files are incomplete?" resolves to SM-26 Direct Business Rollover Share and SM-22 Rollovers Without PTE 2020-02 Documentation, both traced to their products and owners in two clicks.</a:t>
            </a:r>
            <a:endParaRPr lang="en-US" sz="950" dirty="0"/>
          </a:p>
        </p:txBody>
      </p:sp>
      <p:sp>
        <p:nvSpPr>
          <p:cNvPr id="43" name="card"/>
          <p:cNvSpPr/>
          <p:nvPr/>
        </p:nvSpPr>
        <p:spPr>
          <a:xfrm>
            <a:off x="6011570" y="3703320"/>
            <a:ext cx="2756306" cy="2514600"/>
          </a:xfrm>
          <a:prstGeom prst="roundRect">
            <a:avLst>
              <a:gd name="adj" fmla="val 2909"/>
            </a:avLst>
          </a:prstGeom>
          <a:solidFill>
            <a:schemeClr val="bg2"/>
          </a:solidFill>
          <a:ln w="12700">
            <a:solidFill>
              <a:schemeClr val="bg2"/>
            </a:solidFill>
            <a:prstDash val="solid"/>
          </a:ln>
        </p:spPr>
      </p:sp>
      <p:sp>
        <p:nvSpPr>
          <p:cNvPr id="44" name="panel"/>
          <p:cNvSpPr/>
          <p:nvPr/>
        </p:nvSpPr>
        <p:spPr>
          <a:xfrm>
            <a:off x="6011570" y="3703320"/>
            <a:ext cx="2756306" cy="411480"/>
          </a:xfrm>
          <a:prstGeom prst="rect">
            <a:avLst/>
          </a:prstGeom>
          <a:solidFill>
            <a:schemeClr val="accent5"/>
          </a:solidFill>
          <a:ln w="12700">
            <a:solidFill>
              <a:schemeClr val="accent5"/>
            </a:solidFill>
            <a:prstDash val="solid"/>
          </a:ln>
        </p:spPr>
      </p:sp>
      <p:sp>
        <p:nvSpPr>
          <p:cNvPr id="45" name="text"/>
          <p:cNvSpPr txBox="1"/>
          <p:nvPr/>
        </p:nvSpPr>
        <p:spPr>
          <a:xfrm>
            <a:off x="6148730" y="3703320"/>
            <a:ext cx="2481986" cy="411480"/>
          </a:xfrm>
          <a:prstGeom prst="rect">
            <a:avLst/>
          </a:prstGeom>
          <a:noFill/>
          <a:ln/>
        </p:spPr>
        <p:txBody>
          <a:bodyPr wrap="square" lIns="0" tIns="0" rIns="0" bIns="0" rtlCol="0" anchor="ctr"/>
          <a:lstStyle/>
          <a:p>
            <a:pPr indent="0" marL="0">
              <a:buNone/>
            </a:pPr>
            <a:r>
              <a:rPr lang="en-US" sz="1050" b="1" dirty="0">
                <a:solidFill>
                  <a:schemeClr val="bg1"/>
                </a:solidFill>
              </a:rPr>
              <a:t>Workflow   |   Advisor worklist and supervisor queue</a:t>
            </a:r>
            <a:endParaRPr lang="en-US" sz="1050" dirty="0"/>
          </a:p>
        </p:txBody>
      </p:sp>
      <p:sp>
        <p:nvSpPr>
          <p:cNvPr id="46" name="text"/>
          <p:cNvSpPr txBox="1"/>
          <p:nvPr/>
        </p:nvSpPr>
        <p:spPr>
          <a:xfrm>
            <a:off x="6148730" y="4206240"/>
            <a:ext cx="2481986" cy="1965960"/>
          </a:xfrm>
          <a:prstGeom prst="rect">
            <a:avLst/>
          </a:prstGeom>
          <a:noFill/>
          <a:ln/>
        </p:spPr>
        <p:txBody>
          <a:bodyPr wrap="square" lIns="0" tIns="0" rIns="0" bIns="0" rtlCol="0" anchor="t"/>
          <a:lstStyle/>
          <a:p>
            <a:pPr indent="0" marL="0">
              <a:buNone/>
            </a:pPr>
            <a:r>
              <a:rPr lang="en-US" sz="950" dirty="0">
                <a:solidFill>
                  <a:schemeClr val="tx1"/>
                </a:solidFill>
              </a:rPr>
              <a:t>The same 37 land that morning in each advisor of record's CRM worklist (DP-340) with the missing document named, and in the principal review queue (DP-398). Cleared items drop out the next day.</a:t>
            </a:r>
            <a:endParaRPr lang="en-US" sz="950" dirty="0"/>
          </a:p>
        </p:txBody>
      </p:sp>
      <p:sp>
        <p:nvSpPr>
          <p:cNvPr id="47" name="card"/>
          <p:cNvSpPr/>
          <p:nvPr/>
        </p:nvSpPr>
        <p:spPr>
          <a:xfrm>
            <a:off x="8868461" y="3703320"/>
            <a:ext cx="2756306" cy="2514600"/>
          </a:xfrm>
          <a:prstGeom prst="roundRect">
            <a:avLst>
              <a:gd name="adj" fmla="val 2909"/>
            </a:avLst>
          </a:prstGeom>
          <a:solidFill>
            <a:schemeClr val="bg2"/>
          </a:solidFill>
          <a:ln w="12700">
            <a:solidFill>
              <a:schemeClr val="bg2"/>
            </a:solidFill>
            <a:prstDash val="solid"/>
          </a:ln>
        </p:spPr>
      </p:sp>
      <p:sp>
        <p:nvSpPr>
          <p:cNvPr id="48" name="panel"/>
          <p:cNvSpPr/>
          <p:nvPr/>
        </p:nvSpPr>
        <p:spPr>
          <a:xfrm>
            <a:off x="8868461" y="3703320"/>
            <a:ext cx="2756306" cy="411480"/>
          </a:xfrm>
          <a:prstGeom prst="rect">
            <a:avLst/>
          </a:prstGeom>
          <a:solidFill>
            <a:schemeClr val="accent1"/>
          </a:solidFill>
          <a:ln w="12700">
            <a:solidFill>
              <a:schemeClr val="accent1"/>
            </a:solidFill>
            <a:prstDash val="solid"/>
          </a:ln>
        </p:spPr>
      </p:sp>
      <p:sp>
        <p:nvSpPr>
          <p:cNvPr id="49" name="text"/>
          <p:cNvSpPr txBox="1"/>
          <p:nvPr/>
        </p:nvSpPr>
        <p:spPr>
          <a:xfrm>
            <a:off x="9005621" y="3703320"/>
            <a:ext cx="2481986" cy="411480"/>
          </a:xfrm>
          <a:prstGeom prst="rect">
            <a:avLst/>
          </a:prstGeom>
          <a:noFill/>
          <a:ln/>
        </p:spPr>
        <p:txBody>
          <a:bodyPr wrap="square" lIns="0" tIns="0" rIns="0" bIns="0" rtlCol="0" anchor="ctr"/>
          <a:lstStyle/>
          <a:p>
            <a:pPr indent="0" marL="0">
              <a:buNone/>
            </a:pPr>
            <a:r>
              <a:rPr lang="en-US" sz="1050" b="1" dirty="0">
                <a:solidFill>
                  <a:schemeClr val="bg1"/>
                </a:solidFill>
              </a:rPr>
              <a:t>Evidence   |   The Okafor file</a:t>
            </a:r>
            <a:endParaRPr lang="en-US" sz="1050" dirty="0"/>
          </a:p>
        </p:txBody>
      </p:sp>
      <p:sp>
        <p:nvSpPr>
          <p:cNvPr id="50" name="text"/>
          <p:cNvSpPr txBox="1"/>
          <p:nvPr/>
        </p:nvSpPr>
        <p:spPr>
          <a:xfrm>
            <a:off x="9005621" y="4206240"/>
            <a:ext cx="2481986" cy="1965960"/>
          </a:xfrm>
          <a:prstGeom prst="rect">
            <a:avLst/>
          </a:prstGeom>
          <a:noFill/>
          <a:ln/>
        </p:spPr>
        <p:txBody>
          <a:bodyPr wrap="square" lIns="0" tIns="0" rIns="0" bIns="0" rtlCol="0" anchor="t"/>
          <a:lstStyle/>
          <a:p>
            <a:pPr indent="0" marL="0">
              <a:buNone/>
            </a:pPr>
            <a:r>
              <a:rPr lang="en-US" sz="950" dirty="0">
                <a:solidFill>
                  <a:schemeClr val="tx1"/>
                </a:solidFill>
              </a:rPr>
              <a:t>DP-335 shows the recommendation, the analysis, the three options compared, the fiduciary status basis, the three PTE 2020-02 delivery dates and the impartial conduct attestation. The annual retrospective review reads the same rows.</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Closing the loop: an unanswerable question becomes a gap</a:t>
            </a:r>
            <a:endParaRPr lang="en-US" sz="2800" dirty="0"/>
          </a:p>
        </p:txBody>
      </p:sp>
      <p:sp>
        <p:nvSpPr>
          <p:cNvPr id="4" name="card"/>
          <p:cNvSpPr/>
          <p:nvPr/>
        </p:nvSpPr>
        <p:spPr>
          <a:xfrm>
            <a:off x="548640" y="1417320"/>
            <a:ext cx="4846320" cy="2194560"/>
          </a:xfrm>
          <a:prstGeom prst="roundRect">
            <a:avLst>
              <a:gd name="adj" fmla="val 3333"/>
            </a:avLst>
          </a:prstGeom>
          <a:solidFill>
            <a:schemeClr val="bg2"/>
          </a:solidFill>
          <a:ln w="12700">
            <a:solidFill>
              <a:schemeClr val="bg2"/>
            </a:solidFill>
            <a:prstDash val="solid"/>
          </a:ln>
        </p:spPr>
      </p:sp>
      <p:sp>
        <p:nvSpPr>
          <p:cNvPr id="5" name="text"/>
          <p:cNvSpPr txBox="1"/>
          <p:nvPr/>
        </p:nvSpPr>
        <p:spPr>
          <a:xfrm>
            <a:off x="731520" y="1554480"/>
            <a:ext cx="4480560" cy="274320"/>
          </a:xfrm>
          <a:prstGeom prst="rect">
            <a:avLst/>
          </a:prstGeom>
          <a:noFill/>
          <a:ln/>
        </p:spPr>
        <p:txBody>
          <a:bodyPr wrap="square" lIns="0" tIns="0" rIns="0" bIns="0" rtlCol="0" anchor="t"/>
          <a:lstStyle/>
          <a:p>
            <a:pPr indent="0" marL="0">
              <a:buNone/>
            </a:pPr>
            <a:r>
              <a:rPr lang="en-US" sz="1100" b="1" dirty="0">
                <a:solidFill>
                  <a:schemeClr val="accent4"/>
                </a:solidFill>
              </a:rPr>
              <a:t>The next question</a:t>
            </a:r>
            <a:endParaRPr lang="en-US" sz="1100" dirty="0"/>
          </a:p>
        </p:txBody>
      </p:sp>
      <p:sp>
        <p:nvSpPr>
          <p:cNvPr id="6" name="text"/>
          <p:cNvSpPr txBox="1"/>
          <p:nvPr/>
        </p:nvSpPr>
        <p:spPr>
          <a:xfrm>
            <a:off x="731520" y="1874520"/>
            <a:ext cx="4480560" cy="548640"/>
          </a:xfrm>
          <a:prstGeom prst="rect">
            <a:avLst/>
          </a:prstGeom>
          <a:noFill/>
          <a:ln/>
        </p:spPr>
        <p:txBody>
          <a:bodyPr wrap="square" lIns="0" tIns="0" rIns="0" bIns="0" rtlCol="0" anchor="t"/>
          <a:lstStyle/>
          <a:p>
            <a:pPr indent="0" marL="0">
              <a:buNone/>
            </a:pPr>
            <a:r>
              <a:rPr lang="en-US" sz="1400" b="1" dirty="0">
                <a:solidFill>
                  <a:schemeClr val="tx2"/>
                </a:solidFill>
              </a:rPr>
              <a:t>"Which campaign or nudge prompted the rollover?"</a:t>
            </a:r>
            <a:endParaRPr lang="en-US" sz="1400" dirty="0"/>
          </a:p>
        </p:txBody>
      </p:sp>
      <p:sp>
        <p:nvSpPr>
          <p:cNvPr id="7" name="text"/>
          <p:cNvSpPr txBox="1"/>
          <p:nvPr/>
        </p:nvSpPr>
        <p:spPr>
          <a:xfrm>
            <a:off x="731520" y="2468880"/>
            <a:ext cx="4480560" cy="1097280"/>
          </a:xfrm>
          <a:prstGeom prst="rect">
            <a:avLst/>
          </a:prstGeom>
          <a:noFill/>
          <a:ln/>
        </p:spPr>
        <p:txBody>
          <a:bodyPr wrap="square" lIns="0" tIns="0" rIns="0" bIns="0" rtlCol="0" anchor="t"/>
          <a:lstStyle/>
          <a:p>
            <a:pPr indent="0" marL="0">
              <a:buNone/>
            </a:pPr>
            <a:r>
              <a:rPr lang="en-US" sz="1000" dirty="0">
                <a:solidFill>
                  <a:schemeClr val="tx1"/>
                </a:solidFill>
              </a:rPr>
              <a:t>Approximately, not exactly. The funding flow is attributed to a campaign under the campaign-window rule; the marketing lead is matched to the advice engagement by party within 90 days. The exact link is missing twice, and the model says so: Advice &amp; Planning lists lead-to-engagement among the questions it cannot answer, and the click-to-campaign join is registered gap GAP-04-001 (04, high, Head of Marketing Operations, six products affected). No side table: the owning domain adds the reference once.</a:t>
            </a:r>
            <a:endParaRPr lang="en-US" sz="1000" dirty="0"/>
          </a:p>
        </p:txBody>
      </p:sp>
      <p:sp>
        <p:nvSpPr>
          <p:cNvPr id="8" name="card"/>
          <p:cNvSpPr/>
          <p:nvPr/>
        </p:nvSpPr>
        <p:spPr>
          <a:xfrm>
            <a:off x="548640" y="3749040"/>
            <a:ext cx="4846320" cy="2468880"/>
          </a:xfrm>
          <a:prstGeom prst="roundRect">
            <a:avLst>
              <a:gd name="adj" fmla="val 2963"/>
            </a:avLst>
          </a:prstGeom>
          <a:solidFill>
            <a:schemeClr val="tx2"/>
          </a:solidFill>
          <a:ln w="12700">
            <a:solidFill>
              <a:schemeClr val="tx2"/>
            </a:solidFill>
            <a:prstDash val="solid"/>
          </a:ln>
        </p:spPr>
      </p:sp>
      <p:sp>
        <p:nvSpPr>
          <p:cNvPr id="9" name="text"/>
          <p:cNvSpPr txBox="1"/>
          <p:nvPr/>
        </p:nvSpPr>
        <p:spPr>
          <a:xfrm>
            <a:off x="731520" y="3886200"/>
            <a:ext cx="4480560" cy="274320"/>
          </a:xfrm>
          <a:prstGeom prst="rect">
            <a:avLst/>
          </a:prstGeom>
          <a:noFill/>
          <a:ln/>
        </p:spPr>
        <p:txBody>
          <a:bodyPr wrap="square" lIns="0" tIns="0" rIns="0" bIns="0" rtlCol="0" anchor="t"/>
          <a:lstStyle/>
          <a:p>
            <a:pPr indent="0" marL="0">
              <a:buNone/>
            </a:pPr>
            <a:r>
              <a:rPr lang="en-US" sz="1100" b="1" dirty="0">
                <a:solidFill>
                  <a:schemeClr val="accent4"/>
                </a:solidFill>
              </a:rPr>
              <a:t>What the taxonomy did, end to end</a:t>
            </a:r>
            <a:endParaRPr lang="en-US" sz="1100" dirty="0"/>
          </a:p>
        </p:txBody>
      </p:sp>
      <p:sp>
        <p:nvSpPr>
          <p:cNvPr id="10" name="did"/>
          <p:cNvSpPr txBox="1"/>
          <p:nvPr/>
        </p:nvSpPr>
        <p:spPr>
          <a:xfrm>
            <a:off x="731520" y="4206240"/>
            <a:ext cx="4480560" cy="192024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chemeClr val="bg1"/>
                </a:solidFill>
              </a:rPr>
              <a:t>Gave the four ideas in the question one definition and one owner each</a:t>
            </a:r>
            <a:endParaRPr lang="en-US" sz="1000" dirty="0"/>
          </a:p>
          <a:p>
            <a:pPr marL="127000" indent="-127000">
              <a:spcAft>
                <a:spcPts val="400"/>
              </a:spcAft>
              <a:buSzPct val="100000"/>
              <a:buChar char="•"/>
            </a:pPr>
            <a:r>
              <a:rPr lang="en-US" sz="1000" dirty="0">
                <a:solidFill>
                  <a:schemeClr val="bg1"/>
                </a:solidFill>
              </a:rPr>
              <a:t>Made the rollover treatment a rule in one certified product, inherited everywhere</a:t>
            </a:r>
            <a:endParaRPr lang="en-US" sz="1000" dirty="0"/>
          </a:p>
          <a:p>
            <a:pPr marL="127000" indent="-127000">
              <a:spcAft>
                <a:spcPts val="400"/>
              </a:spcAft>
              <a:buSzPct val="100000"/>
              <a:buChar char="•"/>
            </a:pPr>
            <a:r>
              <a:rPr lang="en-US" sz="1000" dirty="0">
                <a:solidFill>
                  <a:schemeClr val="bg1"/>
                </a:solidFill>
              </a:rPr>
              <a:t>Let the evidence file, the capture rate and the household view be built without any of them redefining a term</a:t>
            </a:r>
            <a:endParaRPr lang="en-US" sz="1000" dirty="0"/>
          </a:p>
          <a:p>
            <a:pPr marL="127000" indent="-127000">
              <a:spcAft>
                <a:spcPts val="400"/>
              </a:spcAft>
              <a:buSzPct val="100000"/>
              <a:buChar char="•"/>
            </a:pPr>
            <a:r>
              <a:rPr lang="en-US" sz="1000" dirty="0">
                <a:solidFill>
                  <a:schemeClr val="bg1"/>
                </a:solidFill>
              </a:rPr>
              <a:t>Published the metrics once, with the filters and the access rule</a:t>
            </a:r>
            <a:endParaRPr lang="en-US" sz="1000" dirty="0"/>
          </a:p>
          <a:p>
            <a:pPr marL="127000" indent="-127000">
              <a:spcAft>
                <a:spcPts val="400"/>
              </a:spcAft>
              <a:buSzPct val="100000"/>
              <a:buChar char="•"/>
            </a:pPr>
            <a:r>
              <a:rPr lang="en-US" sz="1000" dirty="0">
                <a:solidFill>
                  <a:schemeClr val="bg1"/>
                </a:solidFill>
              </a:rPr>
              <a:t>Turned the unanswerable question into a named change to a named domain</a:t>
            </a:r>
            <a:endParaRPr lang="en-US" sz="1000" dirty="0"/>
          </a:p>
        </p:txBody>
      </p:sp>
      <p:graphicFrame>
        <p:nvGraphicFramePr>
          <p:cNvPr id="33" name="table"/>
          <p:cNvGraphicFramePr>
            <a:graphicFrameLocks noGrp="1"/>
          </p:cNvGraphicFramePr>
          <p:nvPr>
            <p:extLst>
              <p:ext uri="{D42A27DB-BD31-4B8C-83A1-F6EECF244321}">
                <p14:modId xmlns:p14="http://schemas.microsoft.com/office/powerpoint/2010/main" val="1579011935"/>
              </p:ext>
            </p:extLst>
          </p:nvPr>
        </p:nvGraphicFramePr>
        <p:xfrm>
          <a:off x="5577840" y="1417320"/>
          <a:ext cx="6065215" cy="914400"/>
        </p:xfrm>
        <a:graphic>
          <a:graphicData uri="http://schemas.openxmlformats.org/drawingml/2006/table">
            <a:tbl>
              <a:tblPr/>
              <a:tblGrid>
                <a:gridCol w="1417320"/>
                <a:gridCol w="2743200"/>
                <a:gridCol w="1901952"/>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Layer</a:t>
                      </a:r>
                      <a:endParaRPr lang="en-US" sz="9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In our example</a:t>
                      </a:r>
                      <a:endParaRPr lang="en-US" sz="9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What the taxonomy does there</a:t>
                      </a:r>
                      <a:endParaRPr lang="en-US" sz="9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indent="0" marL="0">
                        <a:buNone/>
                      </a:pPr>
                      <a:r>
                        <a:rPr lang="en-US" sz="900" dirty="0">
                          <a:solidFill>
                            <a:srgbClr val="1A2B3C"/>
                          </a:solidFill>
                          <a:latin typeface="Arial" pitchFamily="34" charset="0"/>
                          <a:ea typeface="Arial" pitchFamily="34" charset="-122"/>
                          <a:cs typeface="Arial" pitchFamily="34" charset="-120"/>
                        </a:rPr>
                        <a:t>Source systems</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Recordkeeper, CRM, planning tool, account master, clearing and billing, surveillance</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Mapping target: one meaning per field, one master per concept, source IDs kept</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A2B3C"/>
                          </a:solidFill>
                          <a:latin typeface="Arial" pitchFamily="34" charset="0"/>
                          <a:ea typeface="Arial" pitchFamily="34" charset="-122"/>
                          <a:cs typeface="Arial" pitchFamily="34" charset="-120"/>
                        </a:rPr>
                        <a:t>Foundational products</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DP-240 household, DP-094 participant, DP-430 hand-off, DP-303 advice record, DP-093 IRA, DP-300 holdings, DP-006 flow, DP-008 certified transfer</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Bill of materials: exact attributes used, validated at build; the rollover treatment decided once</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indent="0" marL="0">
                        <a:buNone/>
                      </a:pPr>
                      <a:r>
                        <a:rPr lang="en-US" sz="900" dirty="0">
                          <a:solidFill>
                            <a:srgbClr val="1A2B3C"/>
                          </a:solidFill>
                          <a:latin typeface="Arial" pitchFamily="34" charset="0"/>
                          <a:ea typeface="Arial" pitchFamily="34" charset="-122"/>
                          <a:cs typeface="Arial" pitchFamily="34" charset="-120"/>
                        </a:rPr>
                        <a:t>Consumer products</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DP-335 evidence, DP-467 capture, DP-320 Household 360, DP-340 worklist, DP-398 review queue, DP-336 review cadence</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Safe joins across domains; assemble, never redefine</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A2B3C"/>
                          </a:solidFill>
                          <a:latin typeface="Arial" pitchFamily="34" charset="0"/>
                          <a:ea typeface="Arial" pitchFamily="34" charset="-122"/>
                          <a:cs typeface="Arial" pitchFamily="34" charset="-120"/>
                        </a:rPr>
                        <a:t>Semantic model</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SM-26 rollover share, SM-22 rollovers without PTE documentation, SM-20 certified transfers and advised assets</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Glossary: one name, one definition, traced to its source; grain and access rules</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indent="0" marL="0">
                        <a:buNone/>
                      </a:pPr>
                      <a:r>
                        <a:rPr lang="en-US" sz="900" dirty="0">
                          <a:solidFill>
                            <a:srgbClr val="1A2B3C"/>
                          </a:solidFill>
                          <a:latin typeface="Arial" pitchFamily="34" charset="0"/>
                          <a:ea typeface="Arial" pitchFamily="34" charset="-122"/>
                          <a:cs typeface="Arial" pitchFamily="34" charset="-120"/>
                        </a:rPr>
                        <a:t>Uses</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Dashboard or AI answer; advisor and supervisor worklists; the examiner's file</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indent="0" marL="0">
                        <a:buNone/>
                      </a:pPr>
                      <a:r>
                        <a:rPr lang="en-US" sz="900" dirty="0">
                          <a:solidFill>
                            <a:srgbClr val="1A2B3C"/>
                          </a:solidFill>
                          <a:latin typeface="Arial" pitchFamily="34" charset="0"/>
                          <a:ea typeface="Arial" pitchFamily="34" charset="-122"/>
                          <a:cs typeface="Arial" pitchFamily="34" charset="-120"/>
                        </a:rPr>
                        <a:t>Trust and traceability; unanswerable questions become registered gaps</a:t>
                      </a:r>
                      <a:endParaRPr lang="en-US" sz="9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Applying the reference model: the levers are deliberate</a:t>
            </a:r>
            <a:endParaRPr lang="en-US" sz="2800" dirty="0"/>
          </a:p>
        </p:txBody>
      </p:sp>
      <p:sp>
        <p:nvSpPr>
          <p:cNvPr id="4" name="card"/>
          <p:cNvSpPr/>
          <p:nvPr/>
        </p:nvSpPr>
        <p:spPr>
          <a:xfrm>
            <a:off x="548640" y="1417320"/>
            <a:ext cx="3566160" cy="1783080"/>
          </a:xfrm>
          <a:prstGeom prst="roundRect">
            <a:avLst>
              <a:gd name="adj" fmla="val 4103"/>
            </a:avLst>
          </a:prstGeom>
          <a:solidFill>
            <a:schemeClr val="bg2"/>
          </a:solidFill>
          <a:ln w="12700">
            <a:solidFill>
              <a:schemeClr val="bg2"/>
            </a:solidFill>
            <a:prstDash val="solid"/>
          </a:ln>
        </p:spPr>
      </p:sp>
      <p:sp>
        <p:nvSpPr>
          <p:cNvPr id="5" name="chip"/>
          <p:cNvSpPr/>
          <p:nvPr/>
        </p:nvSpPr>
        <p:spPr>
          <a:xfrm>
            <a:off x="713232" y="1581912"/>
            <a:ext cx="384048" cy="384048"/>
          </a:xfrm>
          <a:prstGeom prst="ellipse">
            <a:avLst/>
          </a:prstGeom>
          <a:solidFill>
            <a:schemeClr val="accent1"/>
          </a:solidFill>
          <a:ln w="12700">
            <a:solidFill>
              <a:schemeClr val="accent1"/>
            </a:solidFill>
            <a:prstDash val="solid"/>
          </a:ln>
        </p:spPr>
      </p:sp>
      <p:sp>
        <p:nvSpPr>
          <p:cNvPr id="6" name="text"/>
          <p:cNvSpPr txBox="1"/>
          <p:nvPr/>
        </p:nvSpPr>
        <p:spPr>
          <a:xfrm>
            <a:off x="713232" y="158191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p:cNvSpPr txBox="1"/>
          <p:nvPr/>
        </p:nvSpPr>
        <p:spPr>
          <a:xfrm>
            <a:off x="1207008" y="1563624"/>
            <a:ext cx="2743200" cy="420624"/>
          </a:xfrm>
          <a:prstGeom prst="rect">
            <a:avLst/>
          </a:prstGeom>
          <a:noFill/>
          <a:ln/>
        </p:spPr>
        <p:txBody>
          <a:bodyPr wrap="square" lIns="0" tIns="0" rIns="0" bIns="0" rtlCol="0" anchor="ctr"/>
          <a:lstStyle/>
          <a:p>
            <a:pPr indent="0" marL="0">
              <a:buNone/>
            </a:pPr>
            <a:r>
              <a:rPr lang="en-US" sz="1300" b="1" dirty="0">
                <a:solidFill>
                  <a:schemeClr val="tx1"/>
                </a:solidFill>
              </a:rPr>
              <a:t>Business lines</a:t>
            </a:r>
            <a:endParaRPr lang="en-US" sz="1300" dirty="0"/>
          </a:p>
        </p:txBody>
      </p:sp>
      <p:sp>
        <p:nvSpPr>
          <p:cNvPr id="8" name="text"/>
          <p:cNvSpPr txBox="1"/>
          <p:nvPr/>
        </p:nvSpPr>
        <p:spPr>
          <a:xfrm>
            <a:off x="713232" y="2075688"/>
            <a:ext cx="3236976" cy="777240"/>
          </a:xfrm>
          <a:prstGeom prst="rect">
            <a:avLst/>
          </a:prstGeom>
          <a:noFill/>
          <a:ln/>
        </p:spPr>
        <p:txBody>
          <a:bodyPr wrap="square" lIns="0" tIns="0" rIns="0" bIns="0" rtlCol="0" anchor="t"/>
          <a:lstStyle/>
          <a:p>
            <a:pPr indent="0" marL="0">
              <a:buNone/>
            </a:pPr>
            <a:r>
              <a:rPr lang="en-US" sz="1000" dirty="0">
                <a:solidFill>
                  <a:schemeClr val="tx1"/>
                </a:solidFill>
              </a:rPr>
              <a:t>A line you do not run removes the products and inputs that serve only it: trust, intermediary, workplace, digital advice.</a:t>
            </a:r>
            <a:endParaRPr lang="en-US" sz="1000" dirty="0"/>
          </a:p>
        </p:txBody>
      </p:sp>
      <p:sp>
        <p:nvSpPr>
          <p:cNvPr id="9" name="text"/>
          <p:cNvSpPr txBox="1"/>
          <p:nvPr/>
        </p:nvSpPr>
        <p:spPr>
          <a:xfrm>
            <a:off x="713232" y="2862072"/>
            <a:ext cx="3236976" cy="274320"/>
          </a:xfrm>
          <a:prstGeom prst="rect">
            <a:avLst/>
          </a:prstGeom>
          <a:noFill/>
          <a:ln/>
        </p:spPr>
        <p:txBody>
          <a:bodyPr wrap="square" lIns="0" tIns="0" rIns="0" bIns="0" rtlCol="0" anchor="t"/>
          <a:lstStyle/>
          <a:p>
            <a:pPr indent="0" marL="0">
              <a:buNone/>
            </a:pPr>
            <a:r>
              <a:rPr lang="en-US" sz="850" i="1" dirty="0">
                <a:solidFill>
                  <a:schemeClr val="accent6"/>
                </a:solidFill>
              </a:rPr>
              <a:t>Capability map lines; the product register</a:t>
            </a:r>
            <a:endParaRPr lang="en-US" sz="850" dirty="0"/>
          </a:p>
        </p:txBody>
      </p:sp>
      <p:sp>
        <p:nvSpPr>
          <p:cNvPr id="10" name="card"/>
          <p:cNvSpPr/>
          <p:nvPr/>
        </p:nvSpPr>
        <p:spPr>
          <a:xfrm>
            <a:off x="4297680" y="1417320"/>
            <a:ext cx="3566160" cy="1783080"/>
          </a:xfrm>
          <a:prstGeom prst="roundRect">
            <a:avLst>
              <a:gd name="adj" fmla="val 4103"/>
            </a:avLst>
          </a:prstGeom>
          <a:solidFill>
            <a:schemeClr val="bg2"/>
          </a:solidFill>
          <a:ln w="12700">
            <a:solidFill>
              <a:schemeClr val="bg2"/>
            </a:solidFill>
            <a:prstDash val="solid"/>
          </a:ln>
        </p:spPr>
      </p:sp>
      <p:sp>
        <p:nvSpPr>
          <p:cNvPr id="11" name="chip"/>
          <p:cNvSpPr/>
          <p:nvPr/>
        </p:nvSpPr>
        <p:spPr>
          <a:xfrm>
            <a:off x="4462272" y="1581912"/>
            <a:ext cx="384048" cy="384048"/>
          </a:xfrm>
          <a:prstGeom prst="ellipse">
            <a:avLst/>
          </a:prstGeom>
          <a:solidFill>
            <a:schemeClr val="accent2"/>
          </a:solidFill>
          <a:ln w="12700">
            <a:solidFill>
              <a:schemeClr val="accent2"/>
            </a:solidFill>
            <a:prstDash val="solid"/>
          </a:ln>
        </p:spPr>
      </p:sp>
      <p:sp>
        <p:nvSpPr>
          <p:cNvPr id="12" name="text"/>
          <p:cNvSpPr txBox="1"/>
          <p:nvPr/>
        </p:nvSpPr>
        <p:spPr>
          <a:xfrm>
            <a:off x="4462272" y="158191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
          <p:cNvSpPr txBox="1"/>
          <p:nvPr/>
        </p:nvSpPr>
        <p:spPr>
          <a:xfrm>
            <a:off x="4956048" y="1563624"/>
            <a:ext cx="2743200" cy="420624"/>
          </a:xfrm>
          <a:prstGeom prst="rect">
            <a:avLst/>
          </a:prstGeom>
          <a:noFill/>
          <a:ln/>
        </p:spPr>
        <p:txBody>
          <a:bodyPr wrap="square" lIns="0" tIns="0" rIns="0" bIns="0" rtlCol="0" anchor="ctr"/>
          <a:lstStyle/>
          <a:p>
            <a:pPr indent="0" marL="0">
              <a:buNone/>
            </a:pPr>
            <a:r>
              <a:rPr lang="en-US" sz="1300" b="1" dirty="0">
                <a:solidFill>
                  <a:schemeClr val="tx1"/>
                </a:solidFill>
              </a:rPr>
              <a:t>Operating model</a:t>
            </a:r>
            <a:endParaRPr lang="en-US" sz="1300" dirty="0"/>
          </a:p>
        </p:txBody>
      </p:sp>
      <p:sp>
        <p:nvSpPr>
          <p:cNvPr id="14" name="text"/>
          <p:cNvSpPr txBox="1"/>
          <p:nvPr/>
        </p:nvSpPr>
        <p:spPr>
          <a:xfrm>
            <a:off x="4462272" y="2075688"/>
            <a:ext cx="3236976" cy="777240"/>
          </a:xfrm>
          <a:prstGeom prst="rect">
            <a:avLst/>
          </a:prstGeom>
          <a:noFill/>
          <a:ln/>
        </p:spPr>
        <p:txBody>
          <a:bodyPr wrap="square" lIns="0" tIns="0" rIns="0" bIns="0" rtlCol="0" anchor="t"/>
          <a:lstStyle/>
          <a:p>
            <a:pPr indent="0" marL="0">
              <a:buNone/>
            </a:pPr>
            <a:r>
              <a:rPr lang="en-US" sz="1000" dirty="0">
                <a:solidFill>
                  <a:schemeClr val="tx1"/>
                </a:solidFill>
              </a:rPr>
              <a:t>An outsourced function (clearing, recordkeeping, transfer agency, advice delivery) keeps its products as oversight data from the provider; each spec states how its grain changes.</a:t>
            </a:r>
            <a:endParaRPr lang="en-US" sz="1000" dirty="0"/>
          </a:p>
        </p:txBody>
      </p:sp>
      <p:sp>
        <p:nvSpPr>
          <p:cNvPr id="15" name="text"/>
          <p:cNvSpPr txBox="1"/>
          <p:nvPr/>
        </p:nvSpPr>
        <p:spPr>
          <a:xfrm>
            <a:off x="4462272" y="2862072"/>
            <a:ext cx="3236976" cy="274320"/>
          </a:xfrm>
          <a:prstGeom prst="rect">
            <a:avLst/>
          </a:prstGeom>
          <a:noFill/>
          <a:ln/>
        </p:spPr>
        <p:txBody>
          <a:bodyPr wrap="square" lIns="0" tIns="0" rIns="0" bIns="0" rtlCol="0" anchor="t"/>
          <a:lstStyle/>
          <a:p>
            <a:pPr indent="0" marL="0">
              <a:buNone/>
            </a:pPr>
            <a:r>
              <a:rPr lang="en-US" sz="850" i="1" dirty="0">
                <a:solidFill>
                  <a:schemeClr val="accent6"/>
                </a:solidFill>
              </a:rPr>
              <a:t>The operating-model note in each spec</a:t>
            </a:r>
            <a:endParaRPr lang="en-US" sz="850" dirty="0"/>
          </a:p>
        </p:txBody>
      </p:sp>
      <p:sp>
        <p:nvSpPr>
          <p:cNvPr id="16" name="card"/>
          <p:cNvSpPr/>
          <p:nvPr/>
        </p:nvSpPr>
        <p:spPr>
          <a:xfrm>
            <a:off x="8046720" y="1417320"/>
            <a:ext cx="3566160" cy="1783080"/>
          </a:xfrm>
          <a:prstGeom prst="roundRect">
            <a:avLst>
              <a:gd name="adj" fmla="val 4103"/>
            </a:avLst>
          </a:prstGeom>
          <a:solidFill>
            <a:schemeClr val="bg2"/>
          </a:solidFill>
          <a:ln w="12700">
            <a:solidFill>
              <a:schemeClr val="bg2"/>
            </a:solidFill>
            <a:prstDash val="solid"/>
          </a:ln>
        </p:spPr>
      </p:sp>
      <p:sp>
        <p:nvSpPr>
          <p:cNvPr id="17" name="chip"/>
          <p:cNvSpPr/>
          <p:nvPr/>
        </p:nvSpPr>
        <p:spPr>
          <a:xfrm>
            <a:off x="8211312" y="1581912"/>
            <a:ext cx="384048" cy="384048"/>
          </a:xfrm>
          <a:prstGeom prst="ellipse">
            <a:avLst/>
          </a:prstGeom>
          <a:solidFill>
            <a:schemeClr val="accent3"/>
          </a:solidFill>
          <a:ln w="12700">
            <a:solidFill>
              <a:schemeClr val="accent3"/>
            </a:solidFill>
            <a:prstDash val="solid"/>
          </a:ln>
        </p:spPr>
      </p:sp>
      <p:sp>
        <p:nvSpPr>
          <p:cNvPr id="18" name="text"/>
          <p:cNvSpPr txBox="1"/>
          <p:nvPr/>
        </p:nvSpPr>
        <p:spPr>
          <a:xfrm>
            <a:off x="8211312" y="158191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p:cNvSpPr txBox="1"/>
          <p:nvPr/>
        </p:nvSpPr>
        <p:spPr>
          <a:xfrm>
            <a:off x="8705088" y="1563624"/>
            <a:ext cx="2743200" cy="420624"/>
          </a:xfrm>
          <a:prstGeom prst="rect">
            <a:avLst/>
          </a:prstGeom>
          <a:noFill/>
          <a:ln/>
        </p:spPr>
        <p:txBody>
          <a:bodyPr wrap="square" lIns="0" tIns="0" rIns="0" bIns="0" rtlCol="0" anchor="ctr"/>
          <a:lstStyle/>
          <a:p>
            <a:pPr indent="0" marL="0">
              <a:buNone/>
            </a:pPr>
            <a:r>
              <a:rPr lang="en-US" sz="1300" b="1" dirty="0">
                <a:solidFill>
                  <a:schemeClr val="tx1"/>
                </a:solidFill>
              </a:rPr>
              <a:t>Certified numbers</a:t>
            </a:r>
            <a:endParaRPr lang="en-US" sz="1300" dirty="0"/>
          </a:p>
        </p:txBody>
      </p:sp>
      <p:sp>
        <p:nvSpPr>
          <p:cNvPr id="20" name="text"/>
          <p:cNvSpPr txBox="1"/>
          <p:nvPr/>
        </p:nvSpPr>
        <p:spPr>
          <a:xfrm>
            <a:off x="8211312" y="2075688"/>
            <a:ext cx="3236976" cy="777240"/>
          </a:xfrm>
          <a:prstGeom prst="rect">
            <a:avLst/>
          </a:prstGeom>
          <a:noFill/>
          <a:ln/>
        </p:spPr>
        <p:txBody>
          <a:bodyPr wrap="square" lIns="0" tIns="0" rIns="0" bIns="0" rtlCol="0" anchor="t"/>
          <a:lstStyle/>
          <a:p>
            <a:pPr indent="0" marL="0">
              <a:buNone/>
            </a:pPr>
            <a:r>
              <a:rPr lang="en-US" sz="1000" dirty="0">
                <a:solidFill>
                  <a:schemeClr val="tx1"/>
                </a:solidFill>
              </a:rPr>
              <a:t>Define Client Assets, Advised Assets, Net New Assets or Personal Rate of Return your way, in the owning product, once. Never in a consumer.</a:t>
            </a:r>
            <a:endParaRPr lang="en-US" sz="1000" dirty="0"/>
          </a:p>
        </p:txBody>
      </p:sp>
      <p:sp>
        <p:nvSpPr>
          <p:cNvPr id="21" name="text"/>
          <p:cNvSpPr txBox="1"/>
          <p:nvPr/>
        </p:nvSpPr>
        <p:spPr>
          <a:xfrm>
            <a:off x="8211312" y="2862072"/>
            <a:ext cx="3236976" cy="274320"/>
          </a:xfrm>
          <a:prstGeom prst="rect">
            <a:avLst/>
          </a:prstGeom>
          <a:noFill/>
          <a:ln/>
        </p:spPr>
        <p:txBody>
          <a:bodyPr wrap="square" lIns="0" tIns="0" rIns="0" bIns="0" rtlCol="0" anchor="t"/>
          <a:lstStyle/>
          <a:p>
            <a:pPr indent="0" marL="0">
              <a:buNone/>
            </a:pPr>
            <a:r>
              <a:rPr lang="en-US" sz="850" i="1" dirty="0">
                <a:solidFill>
                  <a:schemeClr val="accent6"/>
                </a:solidFill>
              </a:rPr>
              <a:t>DP-008, DP-241, DP-145, DP-012</a:t>
            </a:r>
            <a:endParaRPr lang="en-US" sz="850" dirty="0"/>
          </a:p>
        </p:txBody>
      </p:sp>
      <p:sp>
        <p:nvSpPr>
          <p:cNvPr id="22" name="card"/>
          <p:cNvSpPr/>
          <p:nvPr/>
        </p:nvSpPr>
        <p:spPr>
          <a:xfrm>
            <a:off x="548640" y="3337560"/>
            <a:ext cx="3566160" cy="1783080"/>
          </a:xfrm>
          <a:prstGeom prst="roundRect">
            <a:avLst>
              <a:gd name="adj" fmla="val 4103"/>
            </a:avLst>
          </a:prstGeom>
          <a:solidFill>
            <a:schemeClr val="bg2"/>
          </a:solidFill>
          <a:ln w="12700">
            <a:solidFill>
              <a:schemeClr val="bg2"/>
            </a:solidFill>
            <a:prstDash val="solid"/>
          </a:ln>
        </p:spPr>
      </p:sp>
      <p:sp>
        <p:nvSpPr>
          <p:cNvPr id="23" name="chip"/>
          <p:cNvSpPr/>
          <p:nvPr/>
        </p:nvSpPr>
        <p:spPr>
          <a:xfrm>
            <a:off x="713232" y="3502152"/>
            <a:ext cx="384048" cy="384048"/>
          </a:xfrm>
          <a:prstGeom prst="ellipse">
            <a:avLst/>
          </a:prstGeom>
          <a:solidFill>
            <a:schemeClr val="accent4"/>
          </a:solidFill>
          <a:ln w="12700">
            <a:solidFill>
              <a:schemeClr val="accent4"/>
            </a:solidFill>
            <a:prstDash val="solid"/>
          </a:ln>
        </p:spPr>
      </p:sp>
      <p:sp>
        <p:nvSpPr>
          <p:cNvPr id="24" name="text"/>
          <p:cNvSpPr txBox="1"/>
          <p:nvPr/>
        </p:nvSpPr>
        <p:spPr>
          <a:xfrm>
            <a:off x="713232" y="350215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p:cNvSpPr txBox="1"/>
          <p:nvPr/>
        </p:nvSpPr>
        <p:spPr>
          <a:xfrm>
            <a:off x="1207008" y="3483864"/>
            <a:ext cx="2743200" cy="420624"/>
          </a:xfrm>
          <a:prstGeom prst="rect">
            <a:avLst/>
          </a:prstGeom>
          <a:noFill/>
          <a:ln/>
        </p:spPr>
        <p:txBody>
          <a:bodyPr wrap="square" lIns="0" tIns="0" rIns="0" bIns="0" rtlCol="0" anchor="ctr"/>
          <a:lstStyle/>
          <a:p>
            <a:pPr indent="0" marL="0">
              <a:buNone/>
            </a:pPr>
            <a:r>
              <a:rPr lang="en-US" sz="1300" b="1" dirty="0">
                <a:solidFill>
                  <a:schemeClr val="tx1"/>
                </a:solidFill>
              </a:rPr>
              <a:t>Systems of record</a:t>
            </a:r>
            <a:endParaRPr lang="en-US" sz="1300" dirty="0"/>
          </a:p>
        </p:txBody>
      </p:sp>
      <p:sp>
        <p:nvSpPr>
          <p:cNvPr id="26" name="text"/>
          <p:cNvSpPr txBox="1"/>
          <p:nvPr/>
        </p:nvSpPr>
        <p:spPr>
          <a:xfrm>
            <a:off x="713232" y="3995928"/>
            <a:ext cx="3236976" cy="777240"/>
          </a:xfrm>
          <a:prstGeom prst="rect">
            <a:avLst/>
          </a:prstGeom>
          <a:noFill/>
          <a:ln/>
        </p:spPr>
        <p:txBody>
          <a:bodyPr wrap="square" lIns="0" tIns="0" rIns="0" bIns="0" rtlCol="0" anchor="t"/>
          <a:lstStyle/>
          <a:p>
            <a:pPr indent="0" marL="0">
              <a:buNone/>
            </a:pPr>
            <a:r>
              <a:rPr lang="en-US" sz="1000" dirty="0">
                <a:solidFill>
                  <a:schemeClr val="tx1"/>
                </a:solidFill>
              </a:rPr>
              <a:t>Phase D source mapping decides which inputs exist and at what grain; a product whose master system does not exist becomes a gap or is dropped.</a:t>
            </a:r>
            <a:endParaRPr lang="en-US" sz="1000" dirty="0"/>
          </a:p>
        </p:txBody>
      </p:sp>
      <p:sp>
        <p:nvSpPr>
          <p:cNvPr id="27" name="text"/>
          <p:cNvSpPr txBox="1"/>
          <p:nvPr/>
        </p:nvSpPr>
        <p:spPr>
          <a:xfrm>
            <a:off x="713232" y="4782312"/>
            <a:ext cx="3236976" cy="274320"/>
          </a:xfrm>
          <a:prstGeom prst="rect">
            <a:avLst/>
          </a:prstGeom>
          <a:noFill/>
          <a:ln/>
        </p:spPr>
        <p:txBody>
          <a:bodyPr wrap="square" lIns="0" tIns="0" rIns="0" bIns="0" rtlCol="0" anchor="t"/>
          <a:lstStyle/>
          <a:p>
            <a:pPr indent="0" marL="0">
              <a:buNone/>
            </a:pPr>
            <a:r>
              <a:rPr lang="en-US" sz="850" i="1" dirty="0">
                <a:solidFill>
                  <a:schemeClr val="accent6"/>
                </a:solidFill>
              </a:rPr>
              <a:t>Phase D workshops; the gap register</a:t>
            </a:r>
            <a:endParaRPr lang="en-US" sz="850" dirty="0"/>
          </a:p>
        </p:txBody>
      </p:sp>
      <p:sp>
        <p:nvSpPr>
          <p:cNvPr id="28" name="card"/>
          <p:cNvSpPr/>
          <p:nvPr/>
        </p:nvSpPr>
        <p:spPr>
          <a:xfrm>
            <a:off x="4297680" y="3337560"/>
            <a:ext cx="3566160" cy="1783080"/>
          </a:xfrm>
          <a:prstGeom prst="roundRect">
            <a:avLst>
              <a:gd name="adj" fmla="val 4103"/>
            </a:avLst>
          </a:prstGeom>
          <a:solidFill>
            <a:schemeClr val="bg2"/>
          </a:solidFill>
          <a:ln w="12700">
            <a:solidFill>
              <a:schemeClr val="bg2"/>
            </a:solidFill>
            <a:prstDash val="solid"/>
          </a:ln>
        </p:spPr>
      </p:sp>
      <p:sp>
        <p:nvSpPr>
          <p:cNvPr id="29" name="chip"/>
          <p:cNvSpPr/>
          <p:nvPr/>
        </p:nvSpPr>
        <p:spPr>
          <a:xfrm>
            <a:off x="4462272" y="3502152"/>
            <a:ext cx="384048" cy="384048"/>
          </a:xfrm>
          <a:prstGeom prst="ellipse">
            <a:avLst/>
          </a:prstGeom>
          <a:solidFill>
            <a:schemeClr val="accent5"/>
          </a:solidFill>
          <a:ln w="12700">
            <a:solidFill>
              <a:schemeClr val="accent5"/>
            </a:solidFill>
            <a:prstDash val="solid"/>
          </a:ln>
        </p:spPr>
      </p:sp>
      <p:sp>
        <p:nvSpPr>
          <p:cNvPr id="30" name="text"/>
          <p:cNvSpPr txBox="1"/>
          <p:nvPr/>
        </p:nvSpPr>
        <p:spPr>
          <a:xfrm>
            <a:off x="4462272" y="350215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1" name="text"/>
          <p:cNvSpPr txBox="1"/>
          <p:nvPr/>
        </p:nvSpPr>
        <p:spPr>
          <a:xfrm>
            <a:off x="4956048" y="3483864"/>
            <a:ext cx="2743200" cy="420624"/>
          </a:xfrm>
          <a:prstGeom prst="rect">
            <a:avLst/>
          </a:prstGeom>
          <a:noFill/>
          <a:ln/>
        </p:spPr>
        <p:txBody>
          <a:bodyPr wrap="square" lIns="0" tIns="0" rIns="0" bIns="0" rtlCol="0" anchor="ctr"/>
          <a:lstStyle/>
          <a:p>
            <a:pPr indent="0" marL="0">
              <a:buNone/>
            </a:pPr>
            <a:r>
              <a:rPr lang="en-US" sz="1300" b="1" dirty="0">
                <a:solidFill>
                  <a:schemeClr val="tx1"/>
                </a:solidFill>
              </a:rPr>
              <a:t>Areas and functions</a:t>
            </a:r>
            <a:endParaRPr lang="en-US" sz="1300" dirty="0"/>
          </a:p>
        </p:txBody>
      </p:sp>
      <p:sp>
        <p:nvSpPr>
          <p:cNvPr id="32" name="text"/>
          <p:cNvSpPr txBox="1"/>
          <p:nvPr/>
        </p:nvSpPr>
        <p:spPr>
          <a:xfrm>
            <a:off x="4462272" y="3995928"/>
            <a:ext cx="3236976" cy="777240"/>
          </a:xfrm>
          <a:prstGeom prst="rect">
            <a:avLst/>
          </a:prstGeom>
          <a:noFill/>
          <a:ln/>
        </p:spPr>
        <p:txBody>
          <a:bodyPr wrap="square" lIns="0" tIns="0" rIns="0" bIns="0" rtlCol="0" anchor="t"/>
          <a:lstStyle/>
          <a:p>
            <a:pPr indent="0" marL="0">
              <a:buNone/>
            </a:pPr>
            <a:r>
              <a:rPr lang="en-US" sz="1000" dirty="0">
                <a:solidFill>
                  <a:schemeClr val="tx1"/>
                </a:solidFill>
              </a:rPr>
              <a:t>Where client service ends and advice begins; whether trust is kept; which functions are outsourced.</a:t>
            </a:r>
            <a:endParaRPr lang="en-US" sz="1000" dirty="0"/>
          </a:p>
        </p:txBody>
      </p:sp>
      <p:sp>
        <p:nvSpPr>
          <p:cNvPr id="33" name="text"/>
          <p:cNvSpPr txBox="1"/>
          <p:nvPr/>
        </p:nvSpPr>
        <p:spPr>
          <a:xfrm>
            <a:off x="4462272" y="4782312"/>
            <a:ext cx="3236976" cy="274320"/>
          </a:xfrm>
          <a:prstGeom prst="rect">
            <a:avLst/>
          </a:prstGeom>
          <a:noFill/>
          <a:ln/>
        </p:spPr>
        <p:txBody>
          <a:bodyPr wrap="square" lIns="0" tIns="0" rIns="0" bIns="0" rtlCol="0" anchor="t"/>
          <a:lstStyle/>
          <a:p>
            <a:pPr indent="0" marL="0">
              <a:buNone/>
            </a:pPr>
            <a:r>
              <a:rPr lang="en-US" sz="850" i="1" dirty="0">
                <a:solidFill>
                  <a:schemeClr val="accent6"/>
                </a:solidFill>
              </a:rPr>
              <a:t>Areas, functions, optional domains</a:t>
            </a:r>
            <a:endParaRPr lang="en-US" sz="850" dirty="0"/>
          </a:p>
        </p:txBody>
      </p:sp>
      <p:sp>
        <p:nvSpPr>
          <p:cNvPr id="34" name="card"/>
          <p:cNvSpPr/>
          <p:nvPr/>
        </p:nvSpPr>
        <p:spPr>
          <a:xfrm>
            <a:off x="8046720" y="3337560"/>
            <a:ext cx="3566160" cy="1783080"/>
          </a:xfrm>
          <a:prstGeom prst="roundRect">
            <a:avLst>
              <a:gd name="adj" fmla="val 4103"/>
            </a:avLst>
          </a:prstGeom>
          <a:solidFill>
            <a:schemeClr val="bg2"/>
          </a:solidFill>
          <a:ln w="12700">
            <a:solidFill>
              <a:schemeClr val="bg2"/>
            </a:solidFill>
            <a:prstDash val="solid"/>
          </a:ln>
        </p:spPr>
      </p:sp>
      <p:sp>
        <p:nvSpPr>
          <p:cNvPr id="35" name="chip"/>
          <p:cNvSpPr/>
          <p:nvPr/>
        </p:nvSpPr>
        <p:spPr>
          <a:xfrm>
            <a:off x="8211312" y="3502152"/>
            <a:ext cx="384048" cy="384048"/>
          </a:xfrm>
          <a:prstGeom prst="ellipse">
            <a:avLst/>
          </a:prstGeom>
          <a:solidFill>
            <a:schemeClr val="accent6"/>
          </a:solidFill>
          <a:ln w="12700">
            <a:solidFill>
              <a:schemeClr val="accent6"/>
            </a:solidFill>
            <a:prstDash val="solid"/>
          </a:ln>
        </p:spPr>
      </p:sp>
      <p:sp>
        <p:nvSpPr>
          <p:cNvPr id="36" name="text"/>
          <p:cNvSpPr txBox="1"/>
          <p:nvPr/>
        </p:nvSpPr>
        <p:spPr>
          <a:xfrm>
            <a:off x="8211312" y="350215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7" name="text"/>
          <p:cNvSpPr txBox="1"/>
          <p:nvPr/>
        </p:nvSpPr>
        <p:spPr>
          <a:xfrm>
            <a:off x="8705088" y="3483864"/>
            <a:ext cx="2743200" cy="420624"/>
          </a:xfrm>
          <a:prstGeom prst="rect">
            <a:avLst/>
          </a:prstGeom>
          <a:noFill/>
          <a:ln/>
        </p:spPr>
        <p:txBody>
          <a:bodyPr wrap="square" lIns="0" tIns="0" rIns="0" bIns="0" rtlCol="0" anchor="ctr"/>
          <a:lstStyle/>
          <a:p>
            <a:pPr indent="0" marL="0">
              <a:buNone/>
            </a:pPr>
            <a:r>
              <a:rPr lang="en-US" sz="1300" b="1" dirty="0">
                <a:solidFill>
                  <a:schemeClr val="tx1"/>
                </a:solidFill>
              </a:rPr>
              <a:t>The register</a:t>
            </a:r>
            <a:endParaRPr lang="en-US" sz="1300" dirty="0"/>
          </a:p>
        </p:txBody>
      </p:sp>
      <p:sp>
        <p:nvSpPr>
          <p:cNvPr id="38" name="text"/>
          <p:cNvSpPr txBox="1"/>
          <p:nvPr/>
        </p:nvSpPr>
        <p:spPr>
          <a:xfrm>
            <a:off x="8211312" y="3995928"/>
            <a:ext cx="3236976" cy="777240"/>
          </a:xfrm>
          <a:prstGeom prst="rect">
            <a:avLst/>
          </a:prstGeom>
          <a:noFill/>
          <a:ln/>
        </p:spPr>
        <p:txBody>
          <a:bodyPr wrap="square" lIns="0" tIns="0" rIns="0" bIns="0" rtlCol="0" anchor="t"/>
          <a:lstStyle/>
          <a:p>
            <a:pPr indent="0" marL="0">
              <a:buNone/>
            </a:pPr>
            <a:r>
              <a:rPr lang="en-US" sz="1000" dirty="0">
                <a:solidFill>
                  <a:schemeClr val="tx1"/>
                </a:solidFill>
              </a:rPr>
              <a:t>Drop a product by removing its row and spec; merge by moving measures into the survivor; add by registering before the spec; every change traces to a decision.</a:t>
            </a:r>
            <a:endParaRPr lang="en-US" sz="1000" dirty="0"/>
          </a:p>
        </p:txBody>
      </p:sp>
      <p:sp>
        <p:nvSpPr>
          <p:cNvPr id="39" name="text"/>
          <p:cNvSpPr txBox="1"/>
          <p:nvPr/>
        </p:nvSpPr>
        <p:spPr>
          <a:xfrm>
            <a:off x="8211312" y="4782312"/>
            <a:ext cx="3236976" cy="274320"/>
          </a:xfrm>
          <a:prstGeom prst="rect">
            <a:avLst/>
          </a:prstGeom>
          <a:noFill/>
          <a:ln/>
        </p:spPr>
        <p:txBody>
          <a:bodyPr wrap="square" lIns="0" tIns="0" rIns="0" bIns="0" rtlCol="0" anchor="t"/>
          <a:lstStyle/>
          <a:p>
            <a:pPr indent="0" marL="0">
              <a:buNone/>
            </a:pPr>
            <a:r>
              <a:rPr lang="en-US" sz="850" i="1" dirty="0">
                <a:solidFill>
                  <a:schemeClr val="accent6"/>
                </a:solidFill>
              </a:rPr>
              <a:t>Product register, decision log, baseline check</a:t>
            </a:r>
            <a:endParaRPr lang="en-US" sz="850" dirty="0"/>
          </a:p>
        </p:txBody>
      </p:sp>
      <p:sp>
        <p:nvSpPr>
          <p:cNvPr id="40" name="card"/>
          <p:cNvSpPr/>
          <p:nvPr/>
        </p:nvSpPr>
        <p:spPr>
          <a:xfrm>
            <a:off x="548640" y="5349240"/>
            <a:ext cx="11094415" cy="822960"/>
          </a:xfrm>
          <a:prstGeom prst="roundRect">
            <a:avLst>
              <a:gd name="adj" fmla="val 8889"/>
            </a:avLst>
          </a:prstGeom>
          <a:solidFill>
            <a:schemeClr val="tx2"/>
          </a:solidFill>
          <a:ln w="12700">
            <a:solidFill>
              <a:schemeClr val="tx2"/>
            </a:solidFill>
            <a:prstDash val="solid"/>
          </a:ln>
        </p:spPr>
      </p:sp>
      <p:sp>
        <p:nvSpPr>
          <p:cNvPr id="41" name="text"/>
          <p:cNvSpPr txBox="1"/>
          <p:nvPr/>
        </p:nvSpPr>
        <p:spPr>
          <a:xfrm>
            <a:off x="822960" y="5349240"/>
            <a:ext cx="10545775" cy="822960"/>
          </a:xfrm>
          <a:prstGeom prst="rect">
            <a:avLst/>
          </a:prstGeom>
          <a:noFill/>
          <a:ln/>
        </p:spPr>
        <p:txBody>
          <a:bodyPr wrap="square" lIns="0" tIns="0" rIns="0" bIns="0" rtlCol="0" anchor="ctr"/>
          <a:lstStyle/>
          <a:p>
            <a:pPr indent="0" marL="0">
              <a:buNone/>
            </a:pPr>
            <a:r>
              <a:rPr lang="en-US" sz="1300" b="1" dirty="0">
                <a:solidFill>
                  <a:schemeClr val="bg1"/>
                </a:solidFill>
              </a:rPr>
              <a:t>The rule that holds through every lever: a product assembles what the Data Domains master and never remasters it, and a certified number is defined in one product only.</a:t>
            </a:r>
            <a:endParaRPr lang="en-US" sz="13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What we need from this room, and what happens next</a:t>
            </a:r>
            <a:endParaRPr lang="en-US" sz="2800" dirty="0"/>
          </a:p>
        </p:txBody>
      </p:sp>
      <p:sp>
        <p:nvSpPr>
          <p:cNvPr id="4" name="card"/>
          <p:cNvSpPr/>
          <p:nvPr/>
        </p:nvSpPr>
        <p:spPr>
          <a:xfrm>
            <a:off x="548640" y="1417320"/>
            <a:ext cx="5486400" cy="4800600"/>
          </a:xfrm>
          <a:prstGeom prst="roundRect">
            <a:avLst>
              <a:gd name="adj" fmla="val 1524"/>
            </a:avLst>
          </a:prstGeom>
          <a:solidFill>
            <a:schemeClr val="tx2"/>
          </a:solidFill>
          <a:ln w="12700">
            <a:solidFill>
              <a:schemeClr val="tx2"/>
            </a:solidFill>
            <a:prstDash val="solid"/>
          </a:ln>
        </p:spPr>
      </p:sp>
      <p:sp>
        <p:nvSpPr>
          <p:cNvPr id="5" name="text"/>
          <p:cNvSpPr txBox="1"/>
          <p:nvPr/>
        </p:nvSpPr>
        <p:spPr>
          <a:xfrm>
            <a:off x="777240" y="1600200"/>
            <a:ext cx="5029200" cy="274320"/>
          </a:xfrm>
          <a:prstGeom prst="rect">
            <a:avLst/>
          </a:prstGeom>
          <a:noFill/>
          <a:ln/>
        </p:spPr>
        <p:txBody>
          <a:bodyPr wrap="square" lIns="0" tIns="0" rIns="0" bIns="0" rtlCol="0" anchor="t"/>
          <a:lstStyle/>
          <a:p>
            <a:pPr indent="0" marL="0">
              <a:buNone/>
            </a:pPr>
            <a:r>
              <a:rPr lang="en-US" sz="1000" b="1" dirty="0">
                <a:solidFill>
                  <a:schemeClr val="accent4"/>
                </a:solidFill>
              </a:rPr>
              <a:t>DECISIONS FOR THE HEAD OF DISTRIBUTION</a:t>
            </a:r>
            <a:endParaRPr lang="en-US" sz="1000" dirty="0"/>
          </a:p>
        </p:txBody>
      </p:sp>
      <p:sp>
        <p:nvSpPr>
          <p:cNvPr id="6" name="chip"/>
          <p:cNvSpPr/>
          <p:nvPr/>
        </p:nvSpPr>
        <p:spPr>
          <a:xfrm>
            <a:off x="777240" y="1984248"/>
            <a:ext cx="384048" cy="384048"/>
          </a:xfrm>
          <a:prstGeom prst="ellipse">
            <a:avLst/>
          </a:prstGeom>
          <a:solidFill>
            <a:schemeClr val="accent4"/>
          </a:solidFill>
          <a:ln w="12700">
            <a:solidFill>
              <a:schemeClr val="accent4"/>
            </a:solidFill>
            <a:prstDash val="solid"/>
          </a:ln>
        </p:spPr>
      </p:sp>
      <p:sp>
        <p:nvSpPr>
          <p:cNvPr id="7" name="text"/>
          <p:cNvSpPr txBox="1"/>
          <p:nvPr/>
        </p:nvSpPr>
        <p:spPr>
          <a:xfrm>
            <a:off x="777240" y="198424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p:cNvSpPr txBox="1"/>
          <p:nvPr/>
        </p:nvSpPr>
        <p:spPr>
          <a:xfrm>
            <a:off x="1271016" y="1965960"/>
            <a:ext cx="4480560" cy="420624"/>
          </a:xfrm>
          <a:prstGeom prst="rect">
            <a:avLst/>
          </a:prstGeom>
          <a:noFill/>
          <a:ln/>
        </p:spPr>
        <p:txBody>
          <a:bodyPr wrap="square" lIns="0" tIns="0" rIns="0" bIns="0" rtlCol="0" anchor="ctr"/>
          <a:lstStyle/>
          <a:p>
            <a:pPr indent="0" marL="0">
              <a:buNone/>
            </a:pPr>
            <a:r>
              <a:rPr lang="en-US" sz="1300" b="1" dirty="0">
                <a:solidFill>
                  <a:schemeClr val="bg1"/>
                </a:solidFill>
              </a:rPr>
              <a:t>Confirm the headline number</a:t>
            </a:r>
            <a:endParaRPr lang="en-US" sz="1300" dirty="0"/>
          </a:p>
        </p:txBody>
      </p:sp>
      <p:sp>
        <p:nvSpPr>
          <p:cNvPr id="9" name="text"/>
          <p:cNvSpPr txBox="1"/>
          <p:nvPr/>
        </p:nvSpPr>
        <p:spPr>
          <a:xfrm>
            <a:off x="1280160" y="2395728"/>
            <a:ext cx="4572000" cy="594360"/>
          </a:xfrm>
          <a:prstGeom prst="rect">
            <a:avLst/>
          </a:prstGeom>
          <a:noFill/>
          <a:ln/>
        </p:spPr>
        <p:txBody>
          <a:bodyPr wrap="square" lIns="0" tIns="0" rIns="0" bIns="0" rtlCol="0" anchor="t"/>
          <a:lstStyle/>
          <a:p>
            <a:pPr indent="0" marL="0">
              <a:buNone/>
            </a:pPr>
            <a:r>
              <a:rPr lang="en-US" sz="1000" dirty="0">
                <a:solidFill>
                  <a:schemeClr val="bg2"/>
                </a:solidFill>
              </a:rPr>
              <a:t>Client Assets as the headline; Firm AUM as the manufacturing number; reconciled in one product, never summed.</a:t>
            </a:r>
            <a:endParaRPr lang="en-US" sz="1000" dirty="0"/>
          </a:p>
        </p:txBody>
      </p:sp>
      <p:sp>
        <p:nvSpPr>
          <p:cNvPr id="10" name="chip"/>
          <p:cNvSpPr/>
          <p:nvPr/>
        </p:nvSpPr>
        <p:spPr>
          <a:xfrm>
            <a:off x="777240" y="3035808"/>
            <a:ext cx="384048" cy="384048"/>
          </a:xfrm>
          <a:prstGeom prst="ellipse">
            <a:avLst/>
          </a:prstGeom>
          <a:solidFill>
            <a:schemeClr val="accent4"/>
          </a:solidFill>
          <a:ln w="12700">
            <a:solidFill>
              <a:schemeClr val="accent4"/>
            </a:solidFill>
            <a:prstDash val="solid"/>
          </a:ln>
        </p:spPr>
      </p:sp>
      <p:sp>
        <p:nvSpPr>
          <p:cNvPr id="11" name="text"/>
          <p:cNvSpPr txBox="1"/>
          <p:nvPr/>
        </p:nvSpPr>
        <p:spPr>
          <a:xfrm>
            <a:off x="777240" y="303580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p:cNvSpPr txBox="1"/>
          <p:nvPr/>
        </p:nvSpPr>
        <p:spPr>
          <a:xfrm>
            <a:off x="1271016" y="3017520"/>
            <a:ext cx="4480560" cy="420624"/>
          </a:xfrm>
          <a:prstGeom prst="rect">
            <a:avLst/>
          </a:prstGeom>
          <a:noFill/>
          <a:ln/>
        </p:spPr>
        <p:txBody>
          <a:bodyPr wrap="square" lIns="0" tIns="0" rIns="0" bIns="0" rtlCol="0" anchor="ctr"/>
          <a:lstStyle/>
          <a:p>
            <a:pPr indent="0" marL="0">
              <a:buNone/>
            </a:pPr>
            <a:r>
              <a:rPr lang="en-US" sz="1300" b="1" dirty="0">
                <a:solidFill>
                  <a:schemeClr val="bg1"/>
                </a:solidFill>
              </a:rPr>
              <a:t>Rule on the rollover treatment</a:t>
            </a:r>
            <a:endParaRPr lang="en-US" sz="1300" dirty="0"/>
          </a:p>
        </p:txBody>
      </p:sp>
      <p:sp>
        <p:nvSpPr>
          <p:cNvPr id="13" name="text"/>
          <p:cNvSpPr txBox="1"/>
          <p:nvPr/>
        </p:nvSpPr>
        <p:spPr>
          <a:xfrm>
            <a:off x="1280160" y="3447288"/>
            <a:ext cx="4572000" cy="594360"/>
          </a:xfrm>
          <a:prstGeom prst="rect">
            <a:avLst/>
          </a:prstGeom>
          <a:noFill/>
          <a:ln/>
        </p:spPr>
        <p:txBody>
          <a:bodyPr wrap="square" lIns="0" tIns="0" rIns="0" bIns="0" rtlCol="0" anchor="t"/>
          <a:lstStyle/>
          <a:p>
            <a:pPr indent="0" marL="0">
              <a:buNone/>
            </a:pPr>
            <a:r>
              <a:rPr lang="en-US" sz="1000" dirty="0">
                <a:solidFill>
                  <a:schemeClr val="bg2"/>
                </a:solidFill>
              </a:rPr>
              <a:t>A firm-plan to firm-IRA rollover is an inter-channel transfer, not Net New Assets, by default. It changes the NNA story, so choose it consciously.</a:t>
            </a:r>
            <a:endParaRPr lang="en-US" sz="1000" dirty="0"/>
          </a:p>
        </p:txBody>
      </p:sp>
      <p:sp>
        <p:nvSpPr>
          <p:cNvPr id="14" name="chip"/>
          <p:cNvSpPr/>
          <p:nvPr/>
        </p:nvSpPr>
        <p:spPr>
          <a:xfrm>
            <a:off x="777240" y="4087368"/>
            <a:ext cx="384048" cy="384048"/>
          </a:xfrm>
          <a:prstGeom prst="ellipse">
            <a:avLst/>
          </a:prstGeom>
          <a:solidFill>
            <a:schemeClr val="accent4"/>
          </a:solidFill>
          <a:ln w="12700">
            <a:solidFill>
              <a:schemeClr val="accent4"/>
            </a:solidFill>
            <a:prstDash val="solid"/>
          </a:ln>
        </p:spPr>
      </p:sp>
      <p:sp>
        <p:nvSpPr>
          <p:cNvPr id="15" name="text"/>
          <p:cNvSpPr txBox="1"/>
          <p:nvPr/>
        </p:nvSpPr>
        <p:spPr>
          <a:xfrm>
            <a:off x="777240" y="408736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p:cNvSpPr txBox="1"/>
          <p:nvPr/>
        </p:nvSpPr>
        <p:spPr>
          <a:xfrm>
            <a:off x="1271016" y="4069080"/>
            <a:ext cx="4480560" cy="420624"/>
          </a:xfrm>
          <a:prstGeom prst="rect">
            <a:avLst/>
          </a:prstGeom>
          <a:noFill/>
          <a:ln/>
        </p:spPr>
        <p:txBody>
          <a:bodyPr wrap="square" lIns="0" tIns="0" rIns="0" bIns="0" rtlCol="0" anchor="ctr"/>
          <a:lstStyle/>
          <a:p>
            <a:pPr indent="0" marL="0">
              <a:buNone/>
            </a:pPr>
            <a:r>
              <a:rPr lang="en-US" sz="1300" b="1" dirty="0">
                <a:solidFill>
                  <a:schemeClr val="bg1"/>
                </a:solidFill>
              </a:rPr>
              <a:t>Name product owners</a:t>
            </a:r>
            <a:endParaRPr lang="en-US" sz="1300" dirty="0"/>
          </a:p>
        </p:txBody>
      </p:sp>
      <p:sp>
        <p:nvSpPr>
          <p:cNvPr id="17" name="text"/>
          <p:cNvSpPr txBox="1"/>
          <p:nvPr/>
        </p:nvSpPr>
        <p:spPr>
          <a:xfrm>
            <a:off x="1280160" y="4498848"/>
            <a:ext cx="4572000" cy="594360"/>
          </a:xfrm>
          <a:prstGeom prst="rect">
            <a:avLst/>
          </a:prstGeom>
          <a:noFill/>
          <a:ln/>
        </p:spPr>
        <p:txBody>
          <a:bodyPr wrap="square" lIns="0" tIns="0" rIns="0" bIns="0" rtlCol="0" anchor="t"/>
          <a:lstStyle/>
          <a:p>
            <a:pPr indent="0" marL="0">
              <a:buNone/>
            </a:pPr>
            <a:r>
              <a:rPr lang="en-US" sz="1000" dirty="0">
                <a:solidFill>
                  <a:schemeClr val="bg2"/>
                </a:solidFill>
              </a:rPr>
              <a:t>For the products your function consumes first: executive scorecard, NNA by channel and advisor, rollover capture, Household 360, advice funnel.</a:t>
            </a:r>
            <a:endParaRPr lang="en-US" sz="1000" dirty="0"/>
          </a:p>
        </p:txBody>
      </p:sp>
      <p:sp>
        <p:nvSpPr>
          <p:cNvPr id="18" name="chip"/>
          <p:cNvSpPr/>
          <p:nvPr/>
        </p:nvSpPr>
        <p:spPr>
          <a:xfrm>
            <a:off x="777240" y="5138928"/>
            <a:ext cx="384048" cy="384048"/>
          </a:xfrm>
          <a:prstGeom prst="ellipse">
            <a:avLst/>
          </a:prstGeom>
          <a:solidFill>
            <a:schemeClr val="accent4"/>
          </a:solidFill>
          <a:ln w="12700">
            <a:solidFill>
              <a:schemeClr val="accent4"/>
            </a:solidFill>
            <a:prstDash val="solid"/>
          </a:ln>
        </p:spPr>
      </p:sp>
      <p:sp>
        <p:nvSpPr>
          <p:cNvPr id="19" name="text"/>
          <p:cNvSpPr txBox="1"/>
          <p:nvPr/>
        </p:nvSpPr>
        <p:spPr>
          <a:xfrm>
            <a:off x="777240" y="513892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0" name="text"/>
          <p:cNvSpPr txBox="1"/>
          <p:nvPr/>
        </p:nvSpPr>
        <p:spPr>
          <a:xfrm>
            <a:off x="1271016" y="5120640"/>
            <a:ext cx="4480560" cy="420624"/>
          </a:xfrm>
          <a:prstGeom prst="rect">
            <a:avLst/>
          </a:prstGeom>
          <a:noFill/>
          <a:ln/>
        </p:spPr>
        <p:txBody>
          <a:bodyPr wrap="square" lIns="0" tIns="0" rIns="0" bIns="0" rtlCol="0" anchor="ctr"/>
          <a:lstStyle/>
          <a:p>
            <a:pPr indent="0" marL="0">
              <a:buNone/>
            </a:pPr>
            <a:r>
              <a:rPr lang="en-US" sz="1300" b="1" dirty="0">
                <a:solidFill>
                  <a:schemeClr val="bg1"/>
                </a:solidFill>
              </a:rPr>
              <a:t>Confirm lines and operating model</a:t>
            </a:r>
            <a:endParaRPr lang="en-US" sz="1300" dirty="0"/>
          </a:p>
        </p:txBody>
      </p:sp>
      <p:sp>
        <p:nvSpPr>
          <p:cNvPr id="21" name="text"/>
          <p:cNvSpPr txBox="1"/>
          <p:nvPr/>
        </p:nvSpPr>
        <p:spPr>
          <a:xfrm>
            <a:off x="1280160" y="5550408"/>
            <a:ext cx="4572000" cy="594360"/>
          </a:xfrm>
          <a:prstGeom prst="rect">
            <a:avLst/>
          </a:prstGeom>
          <a:noFill/>
          <a:ln/>
        </p:spPr>
        <p:txBody>
          <a:bodyPr wrap="square" lIns="0" tIns="0" rIns="0" bIns="0" rtlCol="0" anchor="t"/>
          <a:lstStyle/>
          <a:p>
            <a:pPr indent="0" marL="0">
              <a:buNone/>
            </a:pPr>
            <a:r>
              <a:rPr lang="en-US" sz="1000" dirty="0">
                <a:solidFill>
                  <a:schemeClr val="bg2"/>
                </a:solidFill>
              </a:rPr>
              <a:t>Which business lines you run and which functions are outsourced decide which products exist and in what form.</a:t>
            </a:r>
            <a:endParaRPr lang="en-US" sz="1000" dirty="0"/>
          </a:p>
        </p:txBody>
      </p:sp>
      <p:sp>
        <p:nvSpPr>
          <p:cNvPr id="22" name="card"/>
          <p:cNvSpPr/>
          <p:nvPr/>
        </p:nvSpPr>
        <p:spPr>
          <a:xfrm>
            <a:off x="6217920" y="1417320"/>
            <a:ext cx="5425135" cy="3200400"/>
          </a:xfrm>
          <a:prstGeom prst="roundRect">
            <a:avLst>
              <a:gd name="adj" fmla="val 2286"/>
            </a:avLst>
          </a:prstGeom>
          <a:solidFill>
            <a:schemeClr val="bg2"/>
          </a:solidFill>
          <a:ln w="12700">
            <a:solidFill>
              <a:schemeClr val="bg2"/>
            </a:solidFill>
            <a:prstDash val="solid"/>
          </a:ln>
        </p:spPr>
      </p:sp>
      <p:sp>
        <p:nvSpPr>
          <p:cNvPr id="23" name="text"/>
          <p:cNvSpPr txBox="1"/>
          <p:nvPr/>
        </p:nvSpPr>
        <p:spPr>
          <a:xfrm>
            <a:off x="6446520" y="1600200"/>
            <a:ext cx="4967935" cy="274320"/>
          </a:xfrm>
          <a:prstGeom prst="rect">
            <a:avLst/>
          </a:prstGeom>
          <a:noFill/>
          <a:ln/>
        </p:spPr>
        <p:txBody>
          <a:bodyPr wrap="square" lIns="0" tIns="0" rIns="0" bIns="0" rtlCol="0" anchor="t"/>
          <a:lstStyle/>
          <a:p>
            <a:pPr indent="0" marL="0">
              <a:buNone/>
            </a:pPr>
            <a:r>
              <a:rPr lang="en-US" sz="1000" b="1" dirty="0">
                <a:solidFill>
                  <a:schemeClr val="accent2"/>
                </a:solidFill>
              </a:rPr>
              <a:t>WORK FOR THE DATA MANAGEMENT TEAM</a:t>
            </a:r>
            <a:endParaRPr lang="en-US" sz="1000" dirty="0"/>
          </a:p>
        </p:txBody>
      </p:sp>
      <p:sp>
        <p:nvSpPr>
          <p:cNvPr id="24" name="chip"/>
          <p:cNvSpPr/>
          <p:nvPr/>
        </p:nvSpPr>
        <p:spPr>
          <a:xfrm>
            <a:off x="6446520" y="1984248"/>
            <a:ext cx="384048" cy="384048"/>
          </a:xfrm>
          <a:prstGeom prst="ellipse">
            <a:avLst/>
          </a:prstGeom>
          <a:solidFill>
            <a:schemeClr val="accent2"/>
          </a:solidFill>
          <a:ln w="12700">
            <a:solidFill>
              <a:schemeClr val="accent2"/>
            </a:solidFill>
            <a:prstDash val="solid"/>
          </a:ln>
        </p:spPr>
      </p:sp>
      <p:sp>
        <p:nvSpPr>
          <p:cNvPr id="25" name="text"/>
          <p:cNvSpPr txBox="1"/>
          <p:nvPr/>
        </p:nvSpPr>
        <p:spPr>
          <a:xfrm>
            <a:off x="6446520" y="198424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6" name="text"/>
          <p:cNvSpPr txBox="1"/>
          <p:nvPr/>
        </p:nvSpPr>
        <p:spPr>
          <a:xfrm>
            <a:off x="6940296" y="1965960"/>
            <a:ext cx="5029200" cy="420624"/>
          </a:xfrm>
          <a:prstGeom prst="rect">
            <a:avLst/>
          </a:prstGeom>
          <a:noFill/>
          <a:ln/>
        </p:spPr>
        <p:txBody>
          <a:bodyPr wrap="square" lIns="0" tIns="0" rIns="0" bIns="0" rtlCol="0" anchor="ctr"/>
          <a:lstStyle/>
          <a:p>
            <a:pPr indent="0" marL="0">
              <a:buNone/>
            </a:pPr>
            <a:r>
              <a:rPr lang="en-US" sz="1250" b="1" dirty="0">
                <a:solidFill>
                  <a:schemeClr val="tx1"/>
                </a:solidFill>
              </a:rPr>
              <a:t>Validate the foundational products first</a:t>
            </a:r>
            <a:endParaRPr lang="en-US" sz="1250" dirty="0"/>
          </a:p>
        </p:txBody>
      </p:sp>
      <p:sp>
        <p:nvSpPr>
          <p:cNvPr id="27" name="text"/>
          <p:cNvSpPr txBox="1"/>
          <p:nvPr/>
        </p:nvSpPr>
        <p:spPr>
          <a:xfrm>
            <a:off x="6949440" y="2377440"/>
            <a:ext cx="4465015" cy="457200"/>
          </a:xfrm>
          <a:prstGeom prst="rect">
            <a:avLst/>
          </a:prstGeom>
          <a:noFill/>
          <a:ln/>
        </p:spPr>
        <p:txBody>
          <a:bodyPr wrap="square" lIns="0" tIns="0" rIns="0" bIns="0" rtlCol="0" anchor="t"/>
          <a:lstStyle/>
          <a:p>
            <a:pPr indent="0" marL="0">
              <a:buNone/>
            </a:pPr>
            <a:r>
              <a:rPr lang="en-US" sz="950" dirty="0">
                <a:solidFill>
                  <a:schemeClr val="tx1"/>
                </a:solidFill>
              </a:rPr>
              <a:t>With their certified-number owners; the foundational review pack is the agenda for keep, re-scope, merge or drop.</a:t>
            </a:r>
            <a:endParaRPr lang="en-US" sz="950" dirty="0"/>
          </a:p>
        </p:txBody>
      </p:sp>
      <p:sp>
        <p:nvSpPr>
          <p:cNvPr id="28" name="chip"/>
          <p:cNvSpPr/>
          <p:nvPr/>
        </p:nvSpPr>
        <p:spPr>
          <a:xfrm>
            <a:off x="6446520" y="2852928"/>
            <a:ext cx="384048" cy="384048"/>
          </a:xfrm>
          <a:prstGeom prst="ellipse">
            <a:avLst/>
          </a:prstGeom>
          <a:solidFill>
            <a:schemeClr val="accent2"/>
          </a:solidFill>
          <a:ln w="12700">
            <a:solidFill>
              <a:schemeClr val="accent2"/>
            </a:solidFill>
            <a:prstDash val="solid"/>
          </a:ln>
        </p:spPr>
      </p:sp>
      <p:sp>
        <p:nvSpPr>
          <p:cNvPr id="29" name="text"/>
          <p:cNvSpPr txBox="1"/>
          <p:nvPr/>
        </p:nvSpPr>
        <p:spPr>
          <a:xfrm>
            <a:off x="6446520" y="285292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0" name="text"/>
          <p:cNvSpPr txBox="1"/>
          <p:nvPr/>
        </p:nvSpPr>
        <p:spPr>
          <a:xfrm>
            <a:off x="6940296" y="2834640"/>
            <a:ext cx="5029200" cy="420624"/>
          </a:xfrm>
          <a:prstGeom prst="rect">
            <a:avLst/>
          </a:prstGeom>
          <a:noFill/>
          <a:ln/>
        </p:spPr>
        <p:txBody>
          <a:bodyPr wrap="square" lIns="0" tIns="0" rIns="0" bIns="0" rtlCol="0" anchor="ctr"/>
          <a:lstStyle/>
          <a:p>
            <a:pPr indent="0" marL="0">
              <a:buNone/>
            </a:pPr>
            <a:r>
              <a:rPr lang="en-US" sz="1250" b="1" dirty="0">
                <a:solidFill>
                  <a:schemeClr val="tx1"/>
                </a:solidFill>
              </a:rPr>
              <a:t>Map lineage to source systems (Phase D)</a:t>
            </a:r>
            <a:endParaRPr lang="en-US" sz="1250" dirty="0"/>
          </a:p>
        </p:txBody>
      </p:sp>
      <p:sp>
        <p:nvSpPr>
          <p:cNvPr id="31" name="text"/>
          <p:cNvSpPr txBox="1"/>
          <p:nvPr/>
        </p:nvSpPr>
        <p:spPr>
          <a:xfrm>
            <a:off x="6949440" y="3246120"/>
            <a:ext cx="4465015" cy="457200"/>
          </a:xfrm>
          <a:prstGeom prst="rect">
            <a:avLst/>
          </a:prstGeom>
          <a:noFill/>
          <a:ln/>
        </p:spPr>
        <p:txBody>
          <a:bodyPr wrap="square" lIns="0" tIns="0" rIns="0" bIns="0" rtlCol="0" anchor="t"/>
          <a:lstStyle/>
          <a:p>
            <a:pPr indent="0" marL="0">
              <a:buNone/>
            </a:pPr>
            <a:r>
              <a:rPr lang="en-US" sz="950" dirty="0">
                <a:solidFill>
                  <a:schemeClr val="tx1"/>
                </a:solidFill>
              </a:rPr>
              <a:t>One workshop per domain; each product's lineage is the list of attributes to map; unmapped inputs become gaps.</a:t>
            </a:r>
            <a:endParaRPr lang="en-US" sz="950" dirty="0"/>
          </a:p>
        </p:txBody>
      </p:sp>
      <p:sp>
        <p:nvSpPr>
          <p:cNvPr id="32" name="chip"/>
          <p:cNvSpPr/>
          <p:nvPr/>
        </p:nvSpPr>
        <p:spPr>
          <a:xfrm>
            <a:off x="6446520" y="3721608"/>
            <a:ext cx="384048" cy="384048"/>
          </a:xfrm>
          <a:prstGeom prst="ellipse">
            <a:avLst/>
          </a:prstGeom>
          <a:solidFill>
            <a:schemeClr val="accent2"/>
          </a:solidFill>
          <a:ln w="12700">
            <a:solidFill>
              <a:schemeClr val="accent2"/>
            </a:solidFill>
            <a:prstDash val="solid"/>
          </a:ln>
        </p:spPr>
      </p:sp>
      <p:sp>
        <p:nvSpPr>
          <p:cNvPr id="33" name="text"/>
          <p:cNvSpPr txBox="1"/>
          <p:nvPr/>
        </p:nvSpPr>
        <p:spPr>
          <a:xfrm>
            <a:off x="6446520" y="372160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4" name="text"/>
          <p:cNvSpPr txBox="1"/>
          <p:nvPr/>
        </p:nvSpPr>
        <p:spPr>
          <a:xfrm>
            <a:off x="6940296" y="3703320"/>
            <a:ext cx="5029200" cy="420624"/>
          </a:xfrm>
          <a:prstGeom prst="rect">
            <a:avLst/>
          </a:prstGeom>
          <a:noFill/>
          <a:ln/>
        </p:spPr>
        <p:txBody>
          <a:bodyPr wrap="square" lIns="0" tIns="0" rIns="0" bIns="0" rtlCol="0" anchor="ctr"/>
          <a:lstStyle/>
          <a:p>
            <a:pPr indent="0" marL="0">
              <a:buNone/>
            </a:pPr>
            <a:r>
              <a:rPr lang="en-US" sz="1250" b="1" dirty="0">
                <a:solidFill>
                  <a:schemeClr val="tx1"/>
                </a:solidFill>
              </a:rPr>
              <a:t>Triage the gap register</a:t>
            </a:r>
            <a:endParaRPr lang="en-US" sz="1250" dirty="0"/>
          </a:p>
        </p:txBody>
      </p:sp>
      <p:sp>
        <p:nvSpPr>
          <p:cNvPr id="35" name="text"/>
          <p:cNvSpPr txBox="1"/>
          <p:nvPr/>
        </p:nvSpPr>
        <p:spPr>
          <a:xfrm>
            <a:off x="6949440" y="4114800"/>
            <a:ext cx="4465015" cy="457200"/>
          </a:xfrm>
          <a:prstGeom prst="rect">
            <a:avLst/>
          </a:prstGeom>
          <a:noFill/>
          <a:ln/>
        </p:spPr>
        <p:txBody>
          <a:bodyPr wrap="square" lIns="0" tIns="0" rIns="0" bIns="0" rtlCol="0" anchor="t"/>
          <a:lstStyle/>
          <a:p>
            <a:pPr indent="0" marL="0">
              <a:buNone/>
            </a:pPr>
            <a:r>
              <a:rPr lang="en-US" sz="950" dirty="0">
                <a:solidFill>
                  <a:schemeClr val="tx1"/>
                </a:solidFill>
              </a:rPr>
              <a:t>High items first, through the owning domain; scores and forecasts stay product-owned and registered in the model inventory.</a:t>
            </a:r>
            <a:endParaRPr lang="en-US" sz="950" dirty="0"/>
          </a:p>
        </p:txBody>
      </p:sp>
      <p:sp>
        <p:nvSpPr>
          <p:cNvPr id="36" name="card"/>
          <p:cNvSpPr/>
          <p:nvPr/>
        </p:nvSpPr>
        <p:spPr>
          <a:xfrm>
            <a:off x="6217920" y="4754880"/>
            <a:ext cx="5425135" cy="1463040"/>
          </a:xfrm>
          <a:prstGeom prst="roundRect">
            <a:avLst>
              <a:gd name="adj" fmla="val 5000"/>
            </a:avLst>
          </a:prstGeom>
          <a:solidFill>
            <a:schemeClr val="bg2"/>
          </a:solidFill>
          <a:ln w="12700">
            <a:solidFill>
              <a:schemeClr val="bg2"/>
            </a:solidFill>
            <a:prstDash val="solid"/>
          </a:ln>
        </p:spPr>
      </p:sp>
      <p:sp>
        <p:nvSpPr>
          <p:cNvPr id="37" name="text"/>
          <p:cNvSpPr txBox="1"/>
          <p:nvPr/>
        </p:nvSpPr>
        <p:spPr>
          <a:xfrm>
            <a:off x="6446520" y="4873752"/>
            <a:ext cx="1828800" cy="274320"/>
          </a:xfrm>
          <a:prstGeom prst="rect">
            <a:avLst/>
          </a:prstGeom>
          <a:noFill/>
          <a:ln/>
        </p:spPr>
        <p:txBody>
          <a:bodyPr wrap="square" lIns="0" tIns="0" rIns="0" bIns="0" rtlCol="0" anchor="t"/>
          <a:lstStyle/>
          <a:p>
            <a:pPr indent="0" marL="0">
              <a:buNone/>
            </a:pPr>
            <a:r>
              <a:rPr lang="en-US" sz="1100" b="1" dirty="0">
                <a:solidFill>
                  <a:schemeClr val="accent1"/>
                </a:solidFill>
              </a:rPr>
              <a:t>Then</a:t>
            </a:r>
            <a:endParaRPr lang="en-US" sz="1100" dirty="0"/>
          </a:p>
        </p:txBody>
      </p:sp>
      <p:sp>
        <p:nvSpPr>
          <p:cNvPr id="38" name="text"/>
          <p:cNvSpPr txBox="1"/>
          <p:nvPr/>
        </p:nvSpPr>
        <p:spPr>
          <a:xfrm>
            <a:off x="6446520" y="5166360"/>
            <a:ext cx="4967935" cy="1005840"/>
          </a:xfrm>
          <a:prstGeom prst="rect">
            <a:avLst/>
          </a:prstGeom>
          <a:noFill/>
          <a:ln/>
        </p:spPr>
        <p:txBody>
          <a:bodyPr wrap="square" lIns="0" tIns="0" rIns="0" bIns="0" rtlCol="0" anchor="t"/>
          <a:lstStyle/>
          <a:p>
            <a:pPr indent="0" marL="0">
              <a:buNone/>
            </a:pPr>
            <a:r>
              <a:rPr lang="en-US" sz="1100" dirty="0">
                <a:solidFill>
                  <a:schemeClr val="tx1"/>
                </a:solidFill>
              </a:rPr>
              <a:t>We come back with the same twelve acceptance questions answered from your systems rather than from the reference model, and with the first certified products signed off by their owners.</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Questions you are likely to be asked</a:t>
            </a:r>
            <a:endParaRPr lang="en-US" sz="2800" dirty="0"/>
          </a:p>
        </p:txBody>
      </p:sp>
      <p:sp>
        <p:nvSpPr>
          <p:cNvPr id="4" name="card"/>
          <p:cNvSpPr/>
          <p:nvPr/>
        </p:nvSpPr>
        <p:spPr>
          <a:xfrm>
            <a:off x="548640" y="1417320"/>
            <a:ext cx="5440680" cy="1463040"/>
          </a:xfrm>
          <a:prstGeom prst="roundRect">
            <a:avLst>
              <a:gd name="adj" fmla="val 5000"/>
            </a:avLst>
          </a:prstGeom>
          <a:solidFill>
            <a:schemeClr val="bg2"/>
          </a:solidFill>
          <a:ln w="12700">
            <a:solidFill>
              <a:schemeClr val="bg2"/>
            </a:solidFill>
            <a:prstDash val="solid"/>
          </a:ln>
        </p:spPr>
      </p:sp>
      <p:sp>
        <p:nvSpPr>
          <p:cNvPr id="5" name="text"/>
          <p:cNvSpPr txBox="1"/>
          <p:nvPr/>
        </p:nvSpPr>
        <p:spPr>
          <a:xfrm>
            <a:off x="731520" y="1527048"/>
            <a:ext cx="5074920" cy="365760"/>
          </a:xfrm>
          <a:prstGeom prst="rect">
            <a:avLst/>
          </a:prstGeom>
          <a:noFill/>
          <a:ln/>
        </p:spPr>
        <p:txBody>
          <a:bodyPr wrap="square" lIns="0" tIns="0" rIns="0" bIns="0" rtlCol="0" anchor="t"/>
          <a:lstStyle/>
          <a:p>
            <a:pPr indent="0" marL="0">
              <a:buNone/>
            </a:pPr>
            <a:r>
              <a:rPr lang="en-US" sz="1200" b="1" dirty="0">
                <a:solidFill>
                  <a:schemeClr val="tx2"/>
                </a:solidFill>
              </a:rPr>
              <a:t>"Are these our real systems?"</a:t>
            </a:r>
            <a:endParaRPr lang="en-US" sz="1200" dirty="0"/>
          </a:p>
        </p:txBody>
      </p:sp>
      <p:sp>
        <p:nvSpPr>
          <p:cNvPr id="6" name="text"/>
          <p:cNvSpPr txBox="1"/>
          <p:nvPr/>
        </p:nvSpPr>
        <p:spPr>
          <a:xfrm>
            <a:off x="731520" y="1920240"/>
            <a:ext cx="5074920" cy="914400"/>
          </a:xfrm>
          <a:prstGeom prst="rect">
            <a:avLst/>
          </a:prstGeom>
          <a:noFill/>
          <a:ln/>
        </p:spPr>
        <p:txBody>
          <a:bodyPr wrap="square" lIns="0" tIns="0" rIns="0" bIns="0" rtlCol="0" anchor="t"/>
          <a:lstStyle/>
          <a:p>
            <a:pPr indent="0" marL="0">
              <a:buNone/>
            </a:pPr>
            <a:r>
              <a:rPr lang="en-US" sz="1000" dirty="0">
                <a:solidFill>
                  <a:schemeClr val="tx1"/>
                </a:solidFill>
              </a:rPr>
              <a:t>No. Sources are named by type until the Phase D mapping is done. Each product's lineage is the list of attributes to map, so the mapping is a finite, listed job.</a:t>
            </a:r>
            <a:endParaRPr lang="en-US" sz="1000" dirty="0"/>
          </a:p>
        </p:txBody>
      </p:sp>
      <p:sp>
        <p:nvSpPr>
          <p:cNvPr id="7" name="card"/>
          <p:cNvSpPr/>
          <p:nvPr/>
        </p:nvSpPr>
        <p:spPr>
          <a:xfrm>
            <a:off x="6217920" y="1417320"/>
            <a:ext cx="5440680" cy="1463040"/>
          </a:xfrm>
          <a:prstGeom prst="roundRect">
            <a:avLst>
              <a:gd name="adj" fmla="val 5000"/>
            </a:avLst>
          </a:prstGeom>
          <a:solidFill>
            <a:schemeClr val="bg2"/>
          </a:solidFill>
          <a:ln w="12700">
            <a:solidFill>
              <a:schemeClr val="bg2"/>
            </a:solidFill>
            <a:prstDash val="solid"/>
          </a:ln>
        </p:spPr>
      </p:sp>
      <p:sp>
        <p:nvSpPr>
          <p:cNvPr id="8" name="text"/>
          <p:cNvSpPr txBox="1"/>
          <p:nvPr/>
        </p:nvSpPr>
        <p:spPr>
          <a:xfrm>
            <a:off x="6400800" y="1527048"/>
            <a:ext cx="5074920" cy="365760"/>
          </a:xfrm>
          <a:prstGeom prst="rect">
            <a:avLst/>
          </a:prstGeom>
          <a:noFill/>
          <a:ln/>
        </p:spPr>
        <p:txBody>
          <a:bodyPr wrap="square" lIns="0" tIns="0" rIns="0" bIns="0" rtlCol="0" anchor="t"/>
          <a:lstStyle/>
          <a:p>
            <a:pPr indent="0" marL="0">
              <a:buNone/>
            </a:pPr>
            <a:r>
              <a:rPr lang="en-US" sz="1200" b="1" dirty="0">
                <a:solidFill>
                  <a:schemeClr val="tx2"/>
                </a:solidFill>
              </a:rPr>
              <a:t>"Why does a rollover from our own plan not count as net new assets?"</a:t>
            </a:r>
            <a:endParaRPr lang="en-US" sz="1200" dirty="0"/>
          </a:p>
        </p:txBody>
      </p:sp>
      <p:sp>
        <p:nvSpPr>
          <p:cNvPr id="9" name="text"/>
          <p:cNvSpPr txBox="1"/>
          <p:nvPr/>
        </p:nvSpPr>
        <p:spPr>
          <a:xfrm>
            <a:off x="6400800" y="1920240"/>
            <a:ext cx="5074920" cy="914400"/>
          </a:xfrm>
          <a:prstGeom prst="rect">
            <a:avLst/>
          </a:prstGeom>
          <a:noFill/>
          <a:ln/>
        </p:spPr>
        <p:txBody>
          <a:bodyPr wrap="square" lIns="0" tIns="0" rIns="0" bIns="0" rtlCol="0" anchor="t"/>
          <a:lstStyle/>
          <a:p>
            <a:pPr indent="0" marL="0">
              <a:buNone/>
            </a:pPr>
            <a:r>
              <a:rPr lang="en-US" sz="1000" dirty="0">
                <a:solidFill>
                  <a:schemeClr val="tx1"/>
                </a:solidFill>
              </a:rPr>
              <a:t>Because the firm's total assets did not change; money moved between channels. The channel view shows the move, Advised Assets shows the growth, and the firm total is honest. If you want it counted as new money, that is a change to the flow treatment rule in one product, with a decision.</a:t>
            </a:r>
            <a:endParaRPr lang="en-US" sz="1000" dirty="0"/>
          </a:p>
        </p:txBody>
      </p:sp>
      <p:sp>
        <p:nvSpPr>
          <p:cNvPr id="10" name="card"/>
          <p:cNvSpPr/>
          <p:nvPr/>
        </p:nvSpPr>
        <p:spPr>
          <a:xfrm>
            <a:off x="548640" y="3017520"/>
            <a:ext cx="5440680" cy="1463040"/>
          </a:xfrm>
          <a:prstGeom prst="roundRect">
            <a:avLst>
              <a:gd name="adj" fmla="val 5000"/>
            </a:avLst>
          </a:prstGeom>
          <a:solidFill>
            <a:schemeClr val="bg2"/>
          </a:solidFill>
          <a:ln w="12700">
            <a:solidFill>
              <a:schemeClr val="bg2"/>
            </a:solidFill>
            <a:prstDash val="solid"/>
          </a:ln>
        </p:spPr>
      </p:sp>
      <p:sp>
        <p:nvSpPr>
          <p:cNvPr id="11" name="text"/>
          <p:cNvSpPr txBox="1"/>
          <p:nvPr/>
        </p:nvSpPr>
        <p:spPr>
          <a:xfrm>
            <a:off x="731520" y="3127248"/>
            <a:ext cx="5074920" cy="365760"/>
          </a:xfrm>
          <a:prstGeom prst="rect">
            <a:avLst/>
          </a:prstGeom>
          <a:noFill/>
          <a:ln/>
        </p:spPr>
        <p:txBody>
          <a:bodyPr wrap="square" lIns="0" tIns="0" rIns="0" bIns="0" rtlCol="0" anchor="t"/>
          <a:lstStyle/>
          <a:p>
            <a:pPr indent="0" marL="0">
              <a:buNone/>
            </a:pPr>
            <a:r>
              <a:rPr lang="en-US" sz="1200" b="1" dirty="0">
                <a:solidFill>
                  <a:schemeClr val="tx2"/>
                </a:solidFill>
              </a:rPr>
              <a:t>"Why are there two dates on the number?"</a:t>
            </a:r>
            <a:endParaRPr lang="en-US" sz="1200" dirty="0"/>
          </a:p>
        </p:txBody>
      </p:sp>
      <p:sp>
        <p:nvSpPr>
          <p:cNvPr id="12" name="text"/>
          <p:cNvSpPr txBox="1"/>
          <p:nvPr/>
        </p:nvSpPr>
        <p:spPr>
          <a:xfrm>
            <a:off x="731520" y="3520440"/>
            <a:ext cx="5074920" cy="914400"/>
          </a:xfrm>
          <a:prstGeom prst="rect">
            <a:avLst/>
          </a:prstGeom>
          <a:noFill/>
          <a:ln/>
        </p:spPr>
        <p:txBody>
          <a:bodyPr wrap="square" lIns="0" tIns="0" rIns="0" bIns="0" rtlCol="0" anchor="t"/>
          <a:lstStyle/>
          <a:p>
            <a:pPr indent="0" marL="0">
              <a:buNone/>
            </a:pPr>
            <a:r>
              <a:rPr lang="en-US" sz="1000" dirty="0">
                <a:solidFill>
                  <a:schemeClr val="tx1"/>
                </a:solidFill>
              </a:rPr>
              <a:t>Assets are certified monthly and locked; the evidence flag runs nightly. Showing both is more honest than pretending they match.</a:t>
            </a:r>
            <a:endParaRPr lang="en-US" sz="1000" dirty="0"/>
          </a:p>
        </p:txBody>
      </p:sp>
      <p:sp>
        <p:nvSpPr>
          <p:cNvPr id="13" name="card"/>
          <p:cNvSpPr/>
          <p:nvPr/>
        </p:nvSpPr>
        <p:spPr>
          <a:xfrm>
            <a:off x="6217920" y="3017520"/>
            <a:ext cx="5440680" cy="1463040"/>
          </a:xfrm>
          <a:prstGeom prst="roundRect">
            <a:avLst>
              <a:gd name="adj" fmla="val 5000"/>
            </a:avLst>
          </a:prstGeom>
          <a:solidFill>
            <a:schemeClr val="bg2"/>
          </a:solidFill>
          <a:ln w="12700">
            <a:solidFill>
              <a:schemeClr val="bg2"/>
            </a:solidFill>
            <a:prstDash val="solid"/>
          </a:ln>
        </p:spPr>
      </p:sp>
      <p:sp>
        <p:nvSpPr>
          <p:cNvPr id="14" name="text"/>
          <p:cNvSpPr txBox="1"/>
          <p:nvPr/>
        </p:nvSpPr>
        <p:spPr>
          <a:xfrm>
            <a:off x="6400800" y="3127248"/>
            <a:ext cx="5074920" cy="365760"/>
          </a:xfrm>
          <a:prstGeom prst="rect">
            <a:avLst/>
          </a:prstGeom>
          <a:noFill/>
          <a:ln/>
        </p:spPr>
        <p:txBody>
          <a:bodyPr wrap="square" lIns="0" tIns="0" rIns="0" bIns="0" rtlCol="0" anchor="t"/>
          <a:lstStyle/>
          <a:p>
            <a:pPr indent="0" marL="0">
              <a:buNone/>
            </a:pPr>
            <a:r>
              <a:rPr lang="en-US" sz="1200" b="1" dirty="0">
                <a:solidFill>
                  <a:schemeClr val="tx2"/>
                </a:solidFill>
              </a:rPr>
              <a:t>"Is this a dashboard project?"</a:t>
            </a:r>
            <a:endParaRPr lang="en-US" sz="1200" dirty="0"/>
          </a:p>
        </p:txBody>
      </p:sp>
      <p:sp>
        <p:nvSpPr>
          <p:cNvPr id="15" name="text"/>
          <p:cNvSpPr txBox="1"/>
          <p:nvPr/>
        </p:nvSpPr>
        <p:spPr>
          <a:xfrm>
            <a:off x="6400800" y="3520440"/>
            <a:ext cx="5074920" cy="914400"/>
          </a:xfrm>
          <a:prstGeom prst="rect">
            <a:avLst/>
          </a:prstGeom>
          <a:noFill/>
          <a:ln/>
        </p:spPr>
        <p:txBody>
          <a:bodyPr wrap="square" lIns="0" tIns="0" rIns="0" bIns="0" rtlCol="0" anchor="t"/>
          <a:lstStyle/>
          <a:p>
            <a:pPr indent="0" marL="0">
              <a:buNone/>
            </a:pPr>
            <a:r>
              <a:rPr lang="en-US" sz="1000" dirty="0">
                <a:solidFill>
                  <a:schemeClr val="tx1"/>
                </a:solidFill>
              </a:rPr>
              <a:t>Dashboards are one of three uses, and the smallest. Most of the value is in the operational products that drive worklists and billing, and the control products that hold the evidence.</a:t>
            </a:r>
            <a:endParaRPr lang="en-US" sz="1000" dirty="0"/>
          </a:p>
        </p:txBody>
      </p:sp>
      <p:sp>
        <p:nvSpPr>
          <p:cNvPr id="16" name="card"/>
          <p:cNvSpPr/>
          <p:nvPr/>
        </p:nvSpPr>
        <p:spPr>
          <a:xfrm>
            <a:off x="548640" y="4617720"/>
            <a:ext cx="5440680" cy="1463040"/>
          </a:xfrm>
          <a:prstGeom prst="roundRect">
            <a:avLst>
              <a:gd name="adj" fmla="val 5000"/>
            </a:avLst>
          </a:prstGeom>
          <a:solidFill>
            <a:schemeClr val="bg2"/>
          </a:solidFill>
          <a:ln w="12700">
            <a:solidFill>
              <a:schemeClr val="bg2"/>
            </a:solidFill>
            <a:prstDash val="solid"/>
          </a:ln>
        </p:spPr>
      </p:sp>
      <p:sp>
        <p:nvSpPr>
          <p:cNvPr id="17" name="text"/>
          <p:cNvSpPr txBox="1"/>
          <p:nvPr/>
        </p:nvSpPr>
        <p:spPr>
          <a:xfrm>
            <a:off x="731520" y="4727448"/>
            <a:ext cx="5074920" cy="365760"/>
          </a:xfrm>
          <a:prstGeom prst="rect">
            <a:avLst/>
          </a:prstGeom>
          <a:noFill/>
          <a:ln/>
        </p:spPr>
        <p:txBody>
          <a:bodyPr wrap="square" lIns="0" tIns="0" rIns="0" bIns="0" rtlCol="0" anchor="t"/>
          <a:lstStyle/>
          <a:p>
            <a:pPr indent="0" marL="0">
              <a:buNone/>
            </a:pPr>
            <a:r>
              <a:rPr lang="en-US" sz="1200" b="1" dirty="0">
                <a:solidFill>
                  <a:schemeClr val="tx2"/>
                </a:solidFill>
              </a:rPr>
              <a:t>"What does the data team actually maintain?"</a:t>
            </a:r>
            <a:endParaRPr lang="en-US" sz="1200" dirty="0"/>
          </a:p>
        </p:txBody>
      </p:sp>
      <p:sp>
        <p:nvSpPr>
          <p:cNvPr id="18" name="text"/>
          <p:cNvSpPr txBox="1"/>
          <p:nvPr/>
        </p:nvSpPr>
        <p:spPr>
          <a:xfrm>
            <a:off x="731520" y="5120640"/>
            <a:ext cx="5074920" cy="914400"/>
          </a:xfrm>
          <a:prstGeom prst="rect">
            <a:avLst/>
          </a:prstGeom>
          <a:noFill/>
          <a:ln/>
        </p:spPr>
        <p:txBody>
          <a:bodyPr wrap="square" lIns="0" tIns="0" rIns="0" bIns="0" rtlCol="0" anchor="t"/>
          <a:lstStyle/>
          <a:p>
            <a:pPr indent="0" marL="0">
              <a:buNone/>
            </a:pPr>
            <a:r>
              <a:rPr lang="en-US" sz="1000" dirty="0">
                <a:solidFill>
                  <a:schemeClr val="tx1"/>
                </a:solidFill>
              </a:rPr>
              <a:t>Content modules and specifications, under validation and a baseline check. Not the workbooks, not the explorer, not the catalog: those are generated.</a:t>
            </a:r>
            <a:endParaRPr lang="en-US" sz="1000" dirty="0"/>
          </a:p>
        </p:txBody>
      </p:sp>
      <p:sp>
        <p:nvSpPr>
          <p:cNvPr id="19" name="card"/>
          <p:cNvSpPr/>
          <p:nvPr/>
        </p:nvSpPr>
        <p:spPr>
          <a:xfrm>
            <a:off x="6217920" y="4617720"/>
            <a:ext cx="5440680" cy="1463040"/>
          </a:xfrm>
          <a:prstGeom prst="roundRect">
            <a:avLst>
              <a:gd name="adj" fmla="val 5000"/>
            </a:avLst>
          </a:prstGeom>
          <a:solidFill>
            <a:schemeClr val="bg2"/>
          </a:solidFill>
          <a:ln w="12700">
            <a:solidFill>
              <a:schemeClr val="bg2"/>
            </a:solidFill>
            <a:prstDash val="solid"/>
          </a:ln>
        </p:spPr>
      </p:sp>
      <p:sp>
        <p:nvSpPr>
          <p:cNvPr id="20" name="text"/>
          <p:cNvSpPr txBox="1"/>
          <p:nvPr/>
        </p:nvSpPr>
        <p:spPr>
          <a:xfrm>
            <a:off x="6400800" y="4727448"/>
            <a:ext cx="5074920" cy="365760"/>
          </a:xfrm>
          <a:prstGeom prst="rect">
            <a:avLst/>
          </a:prstGeom>
          <a:noFill/>
          <a:ln/>
        </p:spPr>
        <p:txBody>
          <a:bodyPr wrap="square" lIns="0" tIns="0" rIns="0" bIns="0" rtlCol="0" anchor="t"/>
          <a:lstStyle/>
          <a:p>
            <a:pPr indent="0" marL="0">
              <a:buNone/>
            </a:pPr>
            <a:r>
              <a:rPr lang="en-US" sz="1200" b="1" dirty="0">
                <a:solidFill>
                  <a:schemeClr val="tx2"/>
                </a:solidFill>
              </a:rPr>
              <a:t>"How is this different from our data dictionary?"</a:t>
            </a:r>
            <a:endParaRPr lang="en-US" sz="1200" dirty="0"/>
          </a:p>
        </p:txBody>
      </p:sp>
      <p:sp>
        <p:nvSpPr>
          <p:cNvPr id="21" name="text"/>
          <p:cNvSpPr txBox="1"/>
          <p:nvPr/>
        </p:nvSpPr>
        <p:spPr>
          <a:xfrm>
            <a:off x="6400800" y="5120640"/>
            <a:ext cx="5074920" cy="914400"/>
          </a:xfrm>
          <a:prstGeom prst="rect">
            <a:avLst/>
          </a:prstGeom>
          <a:noFill/>
          <a:ln/>
        </p:spPr>
        <p:txBody>
          <a:bodyPr wrap="square" lIns="0" tIns="0" rIns="0" bIns="0" rtlCol="0" anchor="t"/>
          <a:lstStyle/>
          <a:p>
            <a:pPr indent="0" marL="0">
              <a:buNone/>
            </a:pPr>
            <a:r>
              <a:rPr lang="en-US" sz="1000" dirty="0">
                <a:solidFill>
                  <a:schemeClr val="tx1"/>
                </a:solidFill>
              </a:rPr>
              <a:t>Ownership flags on every attribute, products that are validated against it at build, and certified numbers with one owner each. A dictionary describes; this one is enforced.</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000" b="1" dirty="0">
                <a:solidFill>
                  <a:schemeClr val="bg1"/>
                </a:solidFill>
              </a:rPr>
              <a:t>One definition. One owner. Every layer.</a:t>
            </a: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lIns="0" tIns="0" rIns="0" bIns="0" rtlCol="0" anchor="t"/>
          <a:lstStyle/>
          <a:p>
            <a:pPr indent="0" marL="0">
              <a:buNone/>
            </a:pPr>
            <a:r>
              <a:rPr lang="en-US" sz="1800" dirty="0">
                <a:solidFill>
                  <a:schemeClr val="bg2"/>
                </a:solidFill>
              </a:rPr>
              <a:t>The taxonomy says what things mean. The products carry it through. The number on the dashboard, in the worklist and in the examiner's file is the same number, because nobody downstream owns it.</a:t>
            </a:r>
            <a:endParaRPr lang="en-US" sz="1800" dirty="0"/>
          </a:p>
        </p:txBody>
      </p:sp>
      <p:sp>
        <p:nvSpPr>
          <p:cNvPr id="4" name="chip"/>
          <p:cNvSpPr/>
          <p:nvPr/>
        </p:nvSpPr>
        <p:spPr>
          <a:xfrm>
            <a:off x="548640" y="5257800"/>
            <a:ext cx="384048" cy="384048"/>
          </a:xfrm>
          <a:prstGeom prst="ellipse">
            <a:avLst/>
          </a:prstGeom>
          <a:solidFill>
            <a:schemeClr val="accent6"/>
          </a:solidFill>
          <a:ln w="12700">
            <a:solidFill>
              <a:schemeClr val="accent6"/>
            </a:solidFill>
            <a:prstDash val="solid"/>
          </a:ln>
        </p:spPr>
      </p:sp>
      <p:sp>
        <p:nvSpPr>
          <p:cNvPr id="5" name="text"/>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p:cNvSpPr txBox="1"/>
          <p:nvPr/>
        </p:nvSpPr>
        <p:spPr>
          <a:xfrm>
            <a:off x="1042416" y="52395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Source systems</a:t>
            </a:r>
            <a:endParaRPr lang="en-US" sz="1200" dirty="0"/>
          </a:p>
        </p:txBody>
      </p:sp>
      <p:sp>
        <p:nvSpPr>
          <p:cNvPr id="7" name="chip"/>
          <p:cNvSpPr/>
          <p:nvPr/>
        </p:nvSpPr>
        <p:spPr>
          <a:xfrm>
            <a:off x="2788920" y="5257800"/>
            <a:ext cx="384048" cy="384048"/>
          </a:xfrm>
          <a:prstGeom prst="ellipse">
            <a:avLst/>
          </a:prstGeom>
          <a:solidFill>
            <a:schemeClr val="accent1"/>
          </a:solidFill>
          <a:ln w="12700">
            <a:solidFill>
              <a:schemeClr val="accent1"/>
            </a:solidFill>
            <a:prstDash val="solid"/>
          </a:ln>
        </p:spPr>
      </p:sp>
      <p:sp>
        <p:nvSpPr>
          <p:cNvPr id="8" name="text"/>
          <p:cNvSpPr txBox="1"/>
          <p:nvPr/>
        </p:nvSpPr>
        <p:spPr>
          <a:xfrm>
            <a:off x="278892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
          <p:cNvSpPr txBox="1"/>
          <p:nvPr/>
        </p:nvSpPr>
        <p:spPr>
          <a:xfrm>
            <a:off x="3282696" y="52395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Taxonomy</a:t>
            </a:r>
            <a:endParaRPr lang="en-US" sz="1200" dirty="0"/>
          </a:p>
        </p:txBody>
      </p:sp>
      <p:sp>
        <p:nvSpPr>
          <p:cNvPr id="10" name="chip"/>
          <p:cNvSpPr/>
          <p:nvPr/>
        </p:nvSpPr>
        <p:spPr>
          <a:xfrm>
            <a:off x="5029200" y="5257800"/>
            <a:ext cx="384048" cy="384048"/>
          </a:xfrm>
          <a:prstGeom prst="ellipse">
            <a:avLst/>
          </a:prstGeom>
          <a:solidFill>
            <a:schemeClr val="accent2"/>
          </a:solidFill>
          <a:ln w="12700">
            <a:solidFill>
              <a:schemeClr val="accent2"/>
            </a:solidFill>
            <a:prstDash val="solid"/>
          </a:ln>
        </p:spPr>
      </p:sp>
      <p:sp>
        <p:nvSpPr>
          <p:cNvPr id="11" name="text"/>
          <p:cNvSpPr txBox="1"/>
          <p:nvPr/>
        </p:nvSpPr>
        <p:spPr>
          <a:xfrm>
            <a:off x="502920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text"/>
          <p:cNvSpPr txBox="1"/>
          <p:nvPr/>
        </p:nvSpPr>
        <p:spPr>
          <a:xfrm>
            <a:off x="5522976" y="52395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Foundational products</a:t>
            </a:r>
            <a:endParaRPr lang="en-US" sz="1200" dirty="0"/>
          </a:p>
        </p:txBody>
      </p:sp>
      <p:sp>
        <p:nvSpPr>
          <p:cNvPr id="13" name="chip"/>
          <p:cNvSpPr/>
          <p:nvPr/>
        </p:nvSpPr>
        <p:spPr>
          <a:xfrm>
            <a:off x="7269480" y="5257800"/>
            <a:ext cx="384048" cy="384048"/>
          </a:xfrm>
          <a:prstGeom prst="ellipse">
            <a:avLst/>
          </a:prstGeom>
          <a:solidFill>
            <a:schemeClr val="accent3"/>
          </a:solidFill>
          <a:ln w="12700">
            <a:solidFill>
              <a:schemeClr val="accent3"/>
            </a:solidFill>
            <a:prstDash val="solid"/>
          </a:ln>
        </p:spPr>
      </p:sp>
      <p:sp>
        <p:nvSpPr>
          <p:cNvPr id="14" name="text"/>
          <p:cNvSpPr txBox="1"/>
          <p:nvPr/>
        </p:nvSpPr>
        <p:spPr>
          <a:xfrm>
            <a:off x="726948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text"/>
          <p:cNvSpPr txBox="1"/>
          <p:nvPr/>
        </p:nvSpPr>
        <p:spPr>
          <a:xfrm>
            <a:off x="7763256" y="52395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Consumer products</a:t>
            </a:r>
            <a:endParaRPr lang="en-US" sz="1200" dirty="0"/>
          </a:p>
        </p:txBody>
      </p:sp>
      <p:sp>
        <p:nvSpPr>
          <p:cNvPr id="16" name="chip"/>
          <p:cNvSpPr/>
          <p:nvPr/>
        </p:nvSpPr>
        <p:spPr>
          <a:xfrm>
            <a:off x="9509760" y="5257800"/>
            <a:ext cx="384048" cy="384048"/>
          </a:xfrm>
          <a:prstGeom prst="ellipse">
            <a:avLst/>
          </a:prstGeom>
          <a:solidFill>
            <a:schemeClr val="accent4"/>
          </a:solidFill>
          <a:ln w="12700">
            <a:solidFill>
              <a:schemeClr val="accent4"/>
            </a:solidFill>
            <a:prstDash val="solid"/>
          </a:ln>
        </p:spPr>
      </p:sp>
      <p:sp>
        <p:nvSpPr>
          <p:cNvPr id="17" name="text"/>
          <p:cNvSpPr txBox="1"/>
          <p:nvPr/>
        </p:nvSpPr>
        <p:spPr>
          <a:xfrm>
            <a:off x="950976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text"/>
          <p:cNvSpPr txBox="1"/>
          <p:nvPr/>
        </p:nvSpPr>
        <p:spPr>
          <a:xfrm>
            <a:off x="10003536" y="5239512"/>
            <a:ext cx="2011680" cy="420624"/>
          </a:xfrm>
          <a:prstGeom prst="rect">
            <a:avLst/>
          </a:prstGeom>
          <a:noFill/>
          <a:ln/>
        </p:spPr>
        <p:txBody>
          <a:bodyPr wrap="square" lIns="0" tIns="0" rIns="0" bIns="0" rtlCol="0" anchor="ctr"/>
          <a:lstStyle/>
          <a:p>
            <a:pPr indent="0" marL="0">
              <a:buNone/>
            </a:pPr>
            <a:r>
              <a:rPr lang="en-US" sz="1200" b="1" dirty="0">
                <a:solidFill>
                  <a:schemeClr val="bg1"/>
                </a:solidFill>
              </a:rPr>
              <a:t>Semantic model and uses</a:t>
            </a:r>
            <a:endParaRPr lang="en-US" sz="1200" dirty="0"/>
          </a:p>
        </p:txBody>
      </p:sp>
    </p:spTree>
  </p:cSld>
  <p:clrMapOvr>
    <a:masterClrMapping/>
  </p:clrMapOvr>
</p:sld>
</file>

<file path=ppt/theme/theme1.xml><?xml version="1.0" encoding="utf-8"?>
<a:theme xmlns:a="http://schemas.openxmlformats.org/drawingml/2006/main" name="Wealth Reference Model">
  <a:themeElements>
    <a:clrScheme name="Wealth Reference Model">
      <a:dk1>
        <a:srgbClr val="1A2B3C"/>
      </a:dk1>
      <a:lt1>
        <a:srgbClr val="FFFFFF"/>
      </a:lt1>
      <a:dk2>
        <a:srgbClr val="0C233C"/>
      </a:dk2>
      <a:lt2>
        <a:srgbClr val="EEF1F8"/>
      </a:lt2>
      <a:accent1>
        <a:srgbClr val="1E49E2"/>
      </a:accent1>
      <a:accent2>
        <a:srgbClr val="00796F"/>
      </a:accent2>
      <a:accent3>
        <a:srgbClr val="7213EA"/>
      </a:accent3>
      <a:accent4>
        <a:srgbClr val="C8166F"/>
      </a:accent4>
      <a:accent5>
        <a:srgbClr val="0077A8"/>
      </a:accent5>
      <a:accent6>
        <a:srgbClr val="535E6C"/>
      </a:accent6>
      <a:hlink>
        <a:srgbClr val="1E49E2"/>
      </a:hlink>
      <a:folHlink>
        <a:srgbClr val="7213EA"/>
      </a:folHlink>
    </a:clrScheme>
    <a:fontScheme name="Wealth Reference Mod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definitions to decisions</dc:title>
  <dc:subject>Taxonomy, data products and uses for a wealth manager</dc:subject>
  <dc:creator>Program lead</dc:creator>
  <cp:lastModifiedBy>Program lead</cp:lastModifiedBy>
  <cp:revision>1</cp:revision>
  <dcterms:created xsi:type="dcterms:W3CDTF">2026-10-16T15:14:20Z</dcterms:created>
  <dcterms:modified xsi:type="dcterms:W3CDTF">2026-10-16T15:14:20Z</dcterms:modified>
</cp:coreProperties>
</file>