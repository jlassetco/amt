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at is a data product" id="{5750891e-1fc0-3834-f4b6-382e2fbe0481}">
          <p14:sldIdLst>
            <p14:sldId id="256"/>
            <p14:sldId id="257"/>
            <p14:sldId id="258"/>
            <p14:sldId id="259"/>
            <p14:sldId id="260"/>
            <p14:sldId id="261"/>
            <p14:sldId id="262"/>
            <p14:sldId id="263"/>
            <p14:sldId id="264"/>
            <p14:sldId id="265"/>
            <p14:sldId id="266"/>
            <p14:sldId id="267"/>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deck answers one question: what is a data product? It is written for people who are about to open the catalog, the explorer or a product specification for the first time, and want the vocabulary before the detail.
Five parts. The definition, in one sentence and three traits. Where a product sits between the taxonomy and the tools people use. The anatomy: the fields every product carries. The two tiers and five types that classify them. The rules a product must obey and the states it moves through. And one real product, DP-008 Client Assets &amp; Net New Assets, read field by field.
Every count is from the WP2 build of the catalog. The firm is hypothetical.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whole definition fits in one sentence: a data product is a governed, reusable data asset. Three traits make it so.
It is owned: a named role is accountable for it, one row of it means one stated thing, and it promises when it arrives and what quality it holds. It is built once: one build serves every consumer, so the same number is not redefined by each report that uses it. And it is traced: every field it carries is tied to the exact taxonomy objects and attributes it reads, so a figure on a dashboard can be followed back to the Data Domain that owns its meaning.
The right-hand column is as important as the left. A table in the warehouse is not a product until it has an owner, a grain and a contract. A report is a use of a product, not a product. A copy of a source system is the opposite of a product: it carries the source's meaning, not the firm's. And a product never masters a concept; the Data Domains do that.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layers, left to right. The taxonomy says what each concept means and which Data Domain masters it; it is about meaning, not consumption. The source mapping is the only hand-written link from a system to the taxonomy: each source column is mapped once to the object and attribute it becomes. Data products are the layer in the middle: they assemble those concepts into something a function can use, at a defined grain, with an owner. The semantic layer publishes products to dashboards, Excel and AI assistants as one governed set of tables, joins and certified metrics; it never defines a concept the taxonomy or a product does not already define.
The point of the picture is the governing rule in the band. A product assembles; it does not master. If a product needs data the taxonomy lacks, that is a gap to fix in the owning domain, not a field to invent in the product.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product is specified with the same fields, and the validator rejects a specification that is missing one. They fall into four groups.
Identity says what the product is and who answers for it: its id and name, the Data Domain that owns it, the accountable owner role, and the business functions it serves, one primary and any number supporting.
Shape says what the data is: a definition of two to four sentences, the business questions it answers, the grain of one row, the dimensions consumers slice by, the measures with their formulas, the exact taxonomy inputs, and the products it is built from.
Service says how it is delivered: refresh cadence, timeliness, how much history is kept and in what form, and the delivery channels.
Trust says what protects it: the information classification, whether it carries personal data, three to six testable data-quality rules, and which certified numbers it is the source of, if any.
If you remember one thing from this slide: the shape fields, inputs and measures in particular, are what make a product traceable. Everything in the lineage chain on the next slides comes from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product is one of two tiers. Foundational products are source-aligned: each conforms a core entity or fact once, names the master concept it publishes, and exists so that nobody else has to conform it again. Clients and households, accounts, the security master, the brokerage book of record, the fund share register, the certified client asset family. Fifty-eight of them.
Consumer-aligned products are shaped around one function's decisions and built from the foundational ones. Household 360, the Reg BI file, the customer reserve control pack, rollover capture. Two hundred and thirteen.
The dependency rule is what keeps the tiers honest: a foundational product may depend only on other foundational products, and there are no cycles. The builder enforces both. Outside the live set sit a backlog of consumer candidates, each naming the live product its scope folds into, and the retired products, whose ids are never reused.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Tier says where a product sits in the dependency order; type says what it is for. There are five.
Master and reference products hold golden records and hierarchies with history. Conformed facts hold reconciled, attributed transactions and time series at a defined grain. Analytical products aggregate measures, scores and comparisons for management decisions. Operational products deliver data into a workflow to drive daily action: good-order queues, rebalance lists, billing runs, holds, breaks. Regulatory and control products are the evidence and monitoring that demonstrate compliance or control.
Regulatory and control is the largest type, at 110 of 271. In a wealth manager that is not surprising: retail conduct, customer protection, the custody-rule conditions on fee deduction and the rollover evidence all live there. Most foundational products are master and reference or conformed facts; most consumer-aligned products are the other three.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mechanism that makes the traced trait real. Read it right to left. A metric in a semantic model restates a product measure as an aggregation rule; it never invents a formula. The measure has a formula and a uses list: the taxonomy attributes the formula reads. Every item in uses must appear in the product's inputs. Every input is an exact object and attribute name from the taxonomy, which belongs to one Data Domain with one owner.
The validator refuses a use that is not in inputs and an input that is not in the taxonomy. So when someone asks where a dashboard figure comes from, the answer is not an opinion: metric, measure, uses, inputs, attribute, domain, owner, and the chain is checked on every build.
The example underneath follows one figure: Net New Assets in the client asset model, to its measure in DP-008, to the flow amount and treatment rule it reads, to the 06 domain that owns them.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Some measures matter more than others: the ones the firm reports, pays on and is examined against. These are the certified numbers, and the rule for them is simple. A certified number is defined in one product only. Every other product reads it from there; none redefines it.
Forty-four metrics are certified, in eleven families. The table shows the four a wealth manager's leadership asks for most. Client Assets and Firm AUM deserve a word. They are two families, they overlap by design, and they are reconciled every month-end in DP-241 and never summed. Client Assets is the market value of every client account at the firm. Firm AUM is the sum of three slices: own funds at NAV, managed accounts, and institutional and OCIO mandates. The own-fund overlap is netted in the reconciliation and nowhere else.
The practical consequence: when two reports disagree on client assets, one of them is not reading DP-008, and that is the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Seven rules, each checked by a validator or by the builder, not by goodwill.
Reference by exact name: inputs use the taxonomy's object and attribute names as printed, and anything that does not resolve is rejected. Take inputs from the mastering domain, not from a reference or copy elsewhere. Trace every measure: a use that is not in inputs is rejected. Do not invent attributes: if the taxonomy lacks something, record a taxonomy gap in the notes and the gap register, and trace to the nearest attribute the product does read. Define a certified number once. Keep the tiers in order: foundational on foundational only, no cycles. And protect special-category data: a product publishes it only as aggregates or through a named restricted view, with a minimum cell of ten on any published count.
Write for a business reader is the eighth, and the one no validator checks: US spelling, plain sentences, the taxonomy's terms.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product moves through five states, and each one leaves a record.
It is registered first: an id, a name, a tier, a type, an owning domain, an owner and the functions it serves, entered by the program lead from an accepted brief. Then it is specified, field by field, against the anatomy you saw. Then validated: the validator checks every input against the taxonomy, every use against inputs, every upstream against the tiers, and rejects the specification until it passes. Then published: into the catalog, the explorer and, if a semantic model binds it, to dashboards, Excel and AI assistants. Then activated: when sources are mapped to the taxonomy, the product reports whether it is enabled, partial or not started, and names the attributes nobody populates yet.
Two states sit outside the line. Backlog: registered as a candidate, not specified, naming the live product it folds into. Retired: taken out with its decision recorded, its id never reused.
The last state is the one most catalogs lack. A product that reports what is switched on and what is missing manages itself; the gap list it produces is the data management backlog.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the anatomy on a real product. DP-008 is the firm's certified client asset family: ending, beginning and average client assets, net new assets, advised assets, market movement, inter-channel transfers, organic growth rate, the own-fund flows, and the counts of funded accounts, clients and households. It is foundational, of type conformed facts, owned by 06 Sales Transactions &amp; AUM Attribution, accountable to the Head of Client &amp; Channel Analytics, and published by SM-20.
The grain is one measure value: measure by period end by dimension type by dimension key by data basis by snapshot, one dimension per row, with daily flash and monthly locked snapshots. Eighteen measures. One hundred and seventy-eight attributes read from forty objects across twelve Data Domains. Fourteen upstream products, among them the flow transactions, the positions, the account and party masters, the brokerage holdings and the fund share register.
The service and trust fields are where the promises live: daily, flash by 9am ET on T+1, final by business day eight; every locked snapshot kept indefinitely; confidential client data; six quality rules, of which the third is the one that proves the number: ending client assets at total equals the sum over channel and over holding type, and ties to each source book within one dollar.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close, the definition turned into four questions you can ask of anything that is called a data product. Who owns it: a named role, and the Data Domain whose concepts it assembles. What is one row: the grain. Where does each field come from: the taxonomy objects and attributes it reads, and the products upstream of it. And which number is it the source of: either it defines a certified number, in which case it is the only place that does, or it reads that number from the product that defines it.
A candidate that cannot answer all four is a table, a report or a copy. It may still be useful. It is not yet a product.
Where to go next: the catalog for the register and the lineage, the explorer's data products section for each area, the specification contract for the fields, and the approach document for the reasoning behind the tiers, types and certified families.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C233C"/>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rtlCol="0"/>
          <a:lstStyle>
            <a:lvl1pPr indent="0" marL="0">
              <a:buNone/>
              <a:defRPr lang="en-US" sz="1800" dirty="0">
                <a:solidFill>
                  <a:schemeClr val="bg2"/>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rtlCol="0"/>
          <a:lstStyle>
            <a:lvl1pPr algn="l" indent="0" marL="0">
              <a:buNone/>
              <a:defRPr lang="en-US" sz="2800" b="1" dirty="0">
                <a:solidFill>
                  <a:schemeClr val="tx2"/>
                </a:solidFill>
              </a:defRPr>
            </a:lvl1pPr>
          </a:lstStyle>
          <a:p>
            <a:pPr algn="l" indent="0" marL="0">
              <a:buNone/>
            </a:pPr>
            <a:endParaRPr lang="en-US" sz="2800" dirty="0"/>
          </a:p>
        </p:txBody>
      </p:sp>
      <p:sp>
        <p:nvSpPr>
          <p:cNvPr id="3" name="Text 0"/>
          <p:cNvSpPr/>
          <p:nvPr/>
        </p:nvSpPr>
        <p:spPr>
          <a:xfrm>
            <a:off x="548640" y="6400800"/>
            <a:ext cx="10241280" cy="274320"/>
          </a:xfrm>
          <a:prstGeom prst="rect">
            <a:avLst/>
          </a:prstGeom>
          <a:noFill/>
          <a:ln/>
        </p:spPr>
        <p:txBody>
          <a:bodyPr wrap="square" lIns="0" tIns="0" rIns="0" bIns="0" rtlCol="0" anchor="ctr"/>
          <a:lstStyle/>
          <a:p>
            <a:pPr indent="0" marL="0">
              <a:buNone/>
            </a:pPr>
            <a:r>
              <a:rPr lang="en-US" sz="900" dirty="0">
                <a:solidFill>
                  <a:schemeClr val="accent6"/>
                </a:solidFill>
              </a:rPr>
              <a:t>Wealth Manager Reference Model  |  What is a data product, October 2026  |  Counts as of the WP2 build; the firm is hypothetical</a:t>
            </a:r>
            <a:endParaRPr lang="en-US" sz="9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000" b="1" dirty="0">
                <a:solidFill>
                  <a:schemeClr val="bg1"/>
                </a:solidFill>
              </a:rPr>
              <a:t>What is a data product?</a:t>
            </a:r>
            <a:endParaRPr lang="en-US" sz="4000" dirty="0"/>
          </a:p>
        </p:txBody>
      </p:sp>
      <p:sp>
        <p:nvSpPr>
          <p:cNvPr id="3" name="Text 0"/>
          <p:cNvSpPr/>
          <p:nvPr>
            <p:ph idx="101" type="body" hasCustomPrompt="1"/>
          </p:nvPr>
        </p:nvSpPr>
        <p:spPr>
          <a:xfrm>
            <a:off x="548640" y="3611880"/>
            <a:ext cx="11094415" cy="1463040"/>
          </a:xfrm>
          <a:prstGeom prst="rect">
            <a:avLst/>
          </a:prstGeom>
          <a:noFill/>
          <a:ln/>
        </p:spPr>
        <p:txBody>
          <a:bodyPr wrap="square" lIns="0" tIns="0" rIns="0" bIns="0" rtlCol="0" anchor="t"/>
          <a:lstStyle/>
          <a:p>
            <a:pPr indent="0" marL="0">
              <a:buNone/>
            </a:pPr>
            <a:r>
              <a:rPr lang="en-US" sz="1800" dirty="0">
                <a:solidFill>
                  <a:schemeClr val="bg2"/>
                </a:solidFill>
              </a:rPr>
              <a:t>A breakdown: the definition, where it sits, what one is made of, the tiers and types, the rules it obeys, how it lives, and one worked example</a:t>
            </a:r>
            <a:endParaRPr lang="en-US" sz="1800" dirty="0"/>
          </a:p>
        </p:txBody>
      </p:sp>
      <p:sp>
        <p:nvSpPr>
          <p:cNvPr id="4" name="text"/>
          <p:cNvSpPr txBox="1"/>
          <p:nvPr/>
        </p:nvSpPr>
        <p:spPr>
          <a:xfrm>
            <a:off x="548640" y="1417320"/>
            <a:ext cx="11094415" cy="365760"/>
          </a:xfrm>
          <a:prstGeom prst="rect">
            <a:avLst/>
          </a:prstGeom>
          <a:noFill/>
          <a:ln/>
        </p:spPr>
        <p:txBody>
          <a:bodyPr wrap="square" lIns="0" tIns="0" rIns="0" bIns="0" rtlCol="0" anchor="t"/>
          <a:lstStyle/>
          <a:p>
            <a:pPr indent="0" marL="0">
              <a:buNone/>
            </a:pPr>
            <a:r>
              <a:rPr lang="en-US" sz="1200" b="1" spc="200" kern="0" dirty="0">
                <a:solidFill>
                  <a:schemeClr val="accent4"/>
                </a:solidFill>
              </a:rPr>
              <a:t>A PRIMER FOR BUSINESS AND DATA MANAGEMENT READERS OF THE CATALOG</a:t>
            </a:r>
            <a:endParaRPr lang="en-US" sz="1200" dirty="0"/>
          </a:p>
        </p:txBody>
      </p:sp>
      <p:sp>
        <p:nvSpPr>
          <p:cNvPr id="5" name="text"/>
          <p:cNvSpPr txBox="1"/>
          <p:nvPr/>
        </p:nvSpPr>
        <p:spPr>
          <a:xfrm>
            <a:off x="548640" y="6035040"/>
            <a:ext cx="11094415" cy="320040"/>
          </a:xfrm>
          <a:prstGeom prst="rect">
            <a:avLst/>
          </a:prstGeom>
          <a:noFill/>
          <a:ln/>
        </p:spPr>
        <p:txBody>
          <a:bodyPr wrap="square" lIns="0" tIns="0" rIns="0" bIns="0" rtlCol="0" anchor="t"/>
          <a:lstStyle/>
          <a:p>
            <a:pPr indent="0" marL="0">
              <a:buNone/>
            </a:pPr>
            <a:r>
              <a:rPr lang="en-US" sz="1200" dirty="0">
                <a:solidFill>
                  <a:schemeClr val="bg2"/>
                </a:solidFill>
              </a:rPr>
              <a:t>Wealth Manager Reference Model  |  October 2026</a:t>
            </a:r>
            <a:endParaRPr lang="en-US" sz="1200" dirty="0"/>
          </a:p>
        </p:txBody>
      </p:sp>
      <p:sp>
        <p:nvSpPr>
          <p:cNvPr id="6" name="chip"/>
          <p:cNvSpPr/>
          <p:nvPr/>
        </p:nvSpPr>
        <p:spPr>
          <a:xfrm>
            <a:off x="548640" y="5257800"/>
            <a:ext cx="384048" cy="384048"/>
          </a:xfrm>
          <a:prstGeom prst="ellipse">
            <a:avLst/>
          </a:prstGeom>
          <a:solidFill>
            <a:schemeClr val="accent1"/>
          </a:solidFill>
          <a:ln w="12700">
            <a:solidFill>
              <a:schemeClr val="accent1"/>
            </a:solidFill>
            <a:prstDash val="solid"/>
          </a:ln>
        </p:spPr>
      </p:sp>
      <p:sp>
        <p:nvSpPr>
          <p:cNvPr id="7" name="text"/>
          <p:cNvSpPr txBox="1"/>
          <p:nvPr/>
        </p:nvSpPr>
        <p:spPr>
          <a:xfrm>
            <a:off x="54864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p:cNvSpPr txBox="1"/>
          <p:nvPr/>
        </p:nvSpPr>
        <p:spPr>
          <a:xfrm>
            <a:off x="1042416" y="5239512"/>
            <a:ext cx="1783080" cy="420624"/>
          </a:xfrm>
          <a:prstGeom prst="rect">
            <a:avLst/>
          </a:prstGeom>
          <a:noFill/>
          <a:ln/>
        </p:spPr>
        <p:txBody>
          <a:bodyPr wrap="square" lIns="0" tIns="0" rIns="0" bIns="0" rtlCol="0" anchor="ctr"/>
          <a:lstStyle/>
          <a:p>
            <a:pPr indent="0" marL="0">
              <a:buNone/>
            </a:pPr>
            <a:r>
              <a:rPr lang="en-US" sz="1200" b="1" dirty="0">
                <a:solidFill>
                  <a:schemeClr val="bg1"/>
                </a:solidFill>
              </a:rPr>
              <a:t>Definition</a:t>
            </a:r>
            <a:endParaRPr lang="en-US" sz="1200" dirty="0"/>
          </a:p>
        </p:txBody>
      </p:sp>
      <p:sp>
        <p:nvSpPr>
          <p:cNvPr id="9" name="chip"/>
          <p:cNvSpPr/>
          <p:nvPr/>
        </p:nvSpPr>
        <p:spPr>
          <a:xfrm>
            <a:off x="2788920" y="5257800"/>
            <a:ext cx="384048" cy="384048"/>
          </a:xfrm>
          <a:prstGeom prst="ellipse">
            <a:avLst/>
          </a:prstGeom>
          <a:solidFill>
            <a:schemeClr val="accent2"/>
          </a:solidFill>
          <a:ln w="12700">
            <a:solidFill>
              <a:schemeClr val="accent2"/>
            </a:solidFill>
            <a:prstDash val="solid"/>
          </a:ln>
        </p:spPr>
      </p:sp>
      <p:sp>
        <p:nvSpPr>
          <p:cNvPr id="10" name="text"/>
          <p:cNvSpPr txBox="1"/>
          <p:nvPr/>
        </p:nvSpPr>
        <p:spPr>
          <a:xfrm>
            <a:off x="278892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1" name="text"/>
          <p:cNvSpPr txBox="1"/>
          <p:nvPr/>
        </p:nvSpPr>
        <p:spPr>
          <a:xfrm>
            <a:off x="3282696" y="5239512"/>
            <a:ext cx="1783080" cy="420624"/>
          </a:xfrm>
          <a:prstGeom prst="rect">
            <a:avLst/>
          </a:prstGeom>
          <a:noFill/>
          <a:ln/>
        </p:spPr>
        <p:txBody>
          <a:bodyPr wrap="square" lIns="0" tIns="0" rIns="0" bIns="0" rtlCol="0" anchor="ctr"/>
          <a:lstStyle/>
          <a:p>
            <a:pPr indent="0" marL="0">
              <a:buNone/>
            </a:pPr>
            <a:r>
              <a:rPr lang="en-US" sz="1200" b="1" dirty="0">
                <a:solidFill>
                  <a:schemeClr val="bg1"/>
                </a:solidFill>
              </a:rPr>
              <a:t>Anatomy</a:t>
            </a:r>
            <a:endParaRPr lang="en-US" sz="1200" dirty="0"/>
          </a:p>
        </p:txBody>
      </p:sp>
      <p:sp>
        <p:nvSpPr>
          <p:cNvPr id="12" name="chip"/>
          <p:cNvSpPr/>
          <p:nvPr/>
        </p:nvSpPr>
        <p:spPr>
          <a:xfrm>
            <a:off x="5029200" y="5257800"/>
            <a:ext cx="384048" cy="384048"/>
          </a:xfrm>
          <a:prstGeom prst="ellipse">
            <a:avLst/>
          </a:prstGeom>
          <a:solidFill>
            <a:schemeClr val="accent5"/>
          </a:solidFill>
          <a:ln w="12700">
            <a:solidFill>
              <a:schemeClr val="accent5"/>
            </a:solidFill>
            <a:prstDash val="solid"/>
          </a:ln>
        </p:spPr>
      </p:sp>
      <p:sp>
        <p:nvSpPr>
          <p:cNvPr id="13" name="text"/>
          <p:cNvSpPr txBox="1"/>
          <p:nvPr/>
        </p:nvSpPr>
        <p:spPr>
          <a:xfrm>
            <a:off x="502920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p:cNvSpPr txBox="1"/>
          <p:nvPr/>
        </p:nvSpPr>
        <p:spPr>
          <a:xfrm>
            <a:off x="5522976" y="5239512"/>
            <a:ext cx="1783080" cy="420624"/>
          </a:xfrm>
          <a:prstGeom prst="rect">
            <a:avLst/>
          </a:prstGeom>
          <a:noFill/>
          <a:ln/>
        </p:spPr>
        <p:txBody>
          <a:bodyPr wrap="square" lIns="0" tIns="0" rIns="0" bIns="0" rtlCol="0" anchor="ctr"/>
          <a:lstStyle/>
          <a:p>
            <a:pPr indent="0" marL="0">
              <a:buNone/>
            </a:pPr>
            <a:r>
              <a:rPr lang="en-US" sz="1200" b="1" dirty="0">
                <a:solidFill>
                  <a:schemeClr val="bg1"/>
                </a:solidFill>
              </a:rPr>
              <a:t>Tiers and types</a:t>
            </a:r>
            <a:endParaRPr lang="en-US" sz="1200" dirty="0"/>
          </a:p>
        </p:txBody>
      </p:sp>
      <p:sp>
        <p:nvSpPr>
          <p:cNvPr id="15" name="chip"/>
          <p:cNvSpPr/>
          <p:nvPr/>
        </p:nvSpPr>
        <p:spPr>
          <a:xfrm>
            <a:off x="7269480" y="5257800"/>
            <a:ext cx="384048" cy="384048"/>
          </a:xfrm>
          <a:prstGeom prst="ellipse">
            <a:avLst/>
          </a:prstGeom>
          <a:solidFill>
            <a:schemeClr val="accent3"/>
          </a:solidFill>
          <a:ln w="12700">
            <a:solidFill>
              <a:schemeClr val="accent3"/>
            </a:solidFill>
            <a:prstDash val="solid"/>
          </a:ln>
        </p:spPr>
      </p:sp>
      <p:sp>
        <p:nvSpPr>
          <p:cNvPr id="16" name="text"/>
          <p:cNvSpPr txBox="1"/>
          <p:nvPr/>
        </p:nvSpPr>
        <p:spPr>
          <a:xfrm>
            <a:off x="726948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7" name="text"/>
          <p:cNvSpPr txBox="1"/>
          <p:nvPr/>
        </p:nvSpPr>
        <p:spPr>
          <a:xfrm>
            <a:off x="7763256" y="5239512"/>
            <a:ext cx="1783080" cy="420624"/>
          </a:xfrm>
          <a:prstGeom prst="rect">
            <a:avLst/>
          </a:prstGeom>
          <a:noFill/>
          <a:ln/>
        </p:spPr>
        <p:txBody>
          <a:bodyPr wrap="square" lIns="0" tIns="0" rIns="0" bIns="0" rtlCol="0" anchor="ctr"/>
          <a:lstStyle/>
          <a:p>
            <a:pPr indent="0" marL="0">
              <a:buNone/>
            </a:pPr>
            <a:r>
              <a:rPr lang="en-US" sz="1200" b="1" dirty="0">
                <a:solidFill>
                  <a:schemeClr val="bg1"/>
                </a:solidFill>
              </a:rPr>
              <a:t>Rules and lifecycle</a:t>
            </a:r>
            <a:endParaRPr lang="en-US" sz="1200" dirty="0"/>
          </a:p>
        </p:txBody>
      </p:sp>
      <p:sp>
        <p:nvSpPr>
          <p:cNvPr id="18" name="chip"/>
          <p:cNvSpPr/>
          <p:nvPr/>
        </p:nvSpPr>
        <p:spPr>
          <a:xfrm>
            <a:off x="9509760" y="5257800"/>
            <a:ext cx="384048" cy="384048"/>
          </a:xfrm>
          <a:prstGeom prst="ellipse">
            <a:avLst/>
          </a:prstGeom>
          <a:solidFill>
            <a:schemeClr val="accent4"/>
          </a:solidFill>
          <a:ln w="12700">
            <a:solidFill>
              <a:schemeClr val="accent4"/>
            </a:solidFill>
            <a:prstDash val="solid"/>
          </a:ln>
        </p:spPr>
      </p:sp>
      <p:sp>
        <p:nvSpPr>
          <p:cNvPr id="19" name="text"/>
          <p:cNvSpPr txBox="1"/>
          <p:nvPr/>
        </p:nvSpPr>
        <p:spPr>
          <a:xfrm>
            <a:off x="9509760" y="52578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20" name="text"/>
          <p:cNvSpPr txBox="1"/>
          <p:nvPr/>
        </p:nvSpPr>
        <p:spPr>
          <a:xfrm>
            <a:off x="10003536" y="5239512"/>
            <a:ext cx="1783080" cy="420624"/>
          </a:xfrm>
          <a:prstGeom prst="rect">
            <a:avLst/>
          </a:prstGeom>
          <a:noFill/>
          <a:ln/>
        </p:spPr>
        <p:txBody>
          <a:bodyPr wrap="square" lIns="0" tIns="0" rIns="0" bIns="0" rtlCol="0" anchor="ctr"/>
          <a:lstStyle/>
          <a:p>
            <a:pPr indent="0" marL="0">
              <a:buNone/>
            </a:pPr>
            <a:r>
              <a:rPr lang="en-US" sz="1200" b="1" dirty="0">
                <a:solidFill>
                  <a:schemeClr val="bg1"/>
                </a:solidFill>
              </a:rPr>
              <a:t>Worked example</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A data product is a governed, reusable data asset</a:t>
            </a:r>
            <a:endParaRPr lang="en-US" sz="2800" dirty="0"/>
          </a:p>
        </p:txBody>
      </p:sp>
      <p:sp>
        <p:nvSpPr>
          <p:cNvPr id="4" name="card"/>
          <p:cNvSpPr/>
          <p:nvPr/>
        </p:nvSpPr>
        <p:spPr>
          <a:xfrm>
            <a:off x="548640" y="1417320"/>
            <a:ext cx="6949440" cy="1143000"/>
          </a:xfrm>
          <a:prstGeom prst="roundRect">
            <a:avLst>
              <a:gd name="adj" fmla="val 6400"/>
            </a:avLst>
          </a:prstGeom>
          <a:solidFill>
            <a:schemeClr val="tx2"/>
          </a:solidFill>
          <a:ln w="12700">
            <a:solidFill>
              <a:schemeClr val="tx2"/>
            </a:solidFill>
            <a:prstDash val="solid"/>
          </a:ln>
        </p:spPr>
      </p:sp>
      <p:sp>
        <p:nvSpPr>
          <p:cNvPr id="5" name="text"/>
          <p:cNvSpPr txBox="1"/>
          <p:nvPr/>
        </p:nvSpPr>
        <p:spPr>
          <a:xfrm>
            <a:off x="822960" y="1554480"/>
            <a:ext cx="6400800" cy="868680"/>
          </a:xfrm>
          <a:prstGeom prst="rect">
            <a:avLst/>
          </a:prstGeom>
          <a:noFill/>
          <a:ln/>
        </p:spPr>
        <p:txBody>
          <a:bodyPr wrap="square" lIns="0" tIns="0" rIns="0" bIns="0" rtlCol="0" anchor="ctr"/>
          <a:lstStyle/>
          <a:p>
            <a:pPr indent="0" marL="0">
              <a:buNone/>
            </a:pPr>
            <a:r>
              <a:rPr lang="en-US" sz="1500" b="1" dirty="0">
                <a:solidFill>
                  <a:schemeClr val="bg1"/>
                </a:solidFill>
              </a:rPr>
              <a:t>A data product is a governed, reusable data asset: built once from concepts the Data Domains master, for a known set of consumers, with a named owner, a stated grain, service levels and quality rules.</a:t>
            </a:r>
            <a:endParaRPr lang="en-US" sz="1500" dirty="0"/>
          </a:p>
        </p:txBody>
      </p:sp>
      <p:sp>
        <p:nvSpPr>
          <p:cNvPr id="6" name="chip"/>
          <p:cNvSpPr/>
          <p:nvPr/>
        </p:nvSpPr>
        <p:spPr>
          <a:xfrm>
            <a:off x="548640" y="2834640"/>
            <a:ext cx="384048" cy="384048"/>
          </a:xfrm>
          <a:prstGeom prst="ellipse">
            <a:avLst/>
          </a:prstGeom>
          <a:solidFill>
            <a:schemeClr val="accent1"/>
          </a:solidFill>
          <a:ln w="12700">
            <a:solidFill>
              <a:schemeClr val="accent1"/>
            </a:solidFill>
            <a:prstDash val="solid"/>
          </a:ln>
        </p:spPr>
      </p:sp>
      <p:sp>
        <p:nvSpPr>
          <p:cNvPr id="7" name="text"/>
          <p:cNvSpPr txBox="1"/>
          <p:nvPr/>
        </p:nvSpPr>
        <p:spPr>
          <a:xfrm>
            <a:off x="548640" y="28346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8" name="text"/>
          <p:cNvSpPr txBox="1"/>
          <p:nvPr/>
        </p:nvSpPr>
        <p:spPr>
          <a:xfrm>
            <a:off x="1042416" y="2816352"/>
            <a:ext cx="1645920" cy="420624"/>
          </a:xfrm>
          <a:prstGeom prst="rect">
            <a:avLst/>
          </a:prstGeom>
          <a:noFill/>
          <a:ln/>
        </p:spPr>
        <p:txBody>
          <a:bodyPr wrap="square" lIns="0" tIns="0" rIns="0" bIns="0" rtlCol="0" anchor="ctr"/>
          <a:lstStyle/>
          <a:p>
            <a:pPr indent="0" marL="0">
              <a:buNone/>
            </a:pPr>
            <a:r>
              <a:rPr lang="en-US" sz="1400" b="1" dirty="0">
                <a:solidFill>
                  <a:schemeClr val="tx1"/>
                </a:solidFill>
              </a:rPr>
              <a:t>Owned</a:t>
            </a:r>
            <a:endParaRPr lang="en-US" sz="1400" dirty="0"/>
          </a:p>
        </p:txBody>
      </p:sp>
      <p:sp>
        <p:nvSpPr>
          <p:cNvPr id="9" name="text"/>
          <p:cNvSpPr txBox="1"/>
          <p:nvPr/>
        </p:nvSpPr>
        <p:spPr>
          <a:xfrm>
            <a:off x="2834640" y="2788920"/>
            <a:ext cx="4663440" cy="1005840"/>
          </a:xfrm>
          <a:prstGeom prst="rect">
            <a:avLst/>
          </a:prstGeom>
          <a:noFill/>
          <a:ln/>
        </p:spPr>
        <p:txBody>
          <a:bodyPr wrap="square" lIns="0" tIns="0" rIns="0" bIns="0" rtlCol="0" anchor="t"/>
          <a:lstStyle/>
          <a:p>
            <a:pPr indent="0" marL="0">
              <a:buNone/>
            </a:pPr>
            <a:r>
              <a:rPr lang="en-US" sz="1200" dirty="0">
                <a:solidFill>
                  <a:schemeClr val="tx1"/>
                </a:solidFill>
              </a:rPr>
              <a:t>A named role is accountable. One row means one stated thing (the grain). It promises when it arrives and what quality it holds.</a:t>
            </a:r>
            <a:endParaRPr lang="en-US" sz="1200" dirty="0"/>
          </a:p>
        </p:txBody>
      </p:sp>
      <p:sp>
        <p:nvSpPr>
          <p:cNvPr id="10" name="chip"/>
          <p:cNvSpPr/>
          <p:nvPr/>
        </p:nvSpPr>
        <p:spPr>
          <a:xfrm>
            <a:off x="548640" y="3931920"/>
            <a:ext cx="384048" cy="384048"/>
          </a:xfrm>
          <a:prstGeom prst="ellipse">
            <a:avLst/>
          </a:prstGeom>
          <a:solidFill>
            <a:schemeClr val="accent2"/>
          </a:solidFill>
          <a:ln w="12700">
            <a:solidFill>
              <a:schemeClr val="accent2"/>
            </a:solidFill>
            <a:prstDash val="solid"/>
          </a:ln>
        </p:spPr>
      </p:sp>
      <p:sp>
        <p:nvSpPr>
          <p:cNvPr id="11" name="text"/>
          <p:cNvSpPr txBox="1"/>
          <p:nvPr/>
        </p:nvSpPr>
        <p:spPr>
          <a:xfrm>
            <a:off x="548640" y="393192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2" name="text"/>
          <p:cNvSpPr txBox="1"/>
          <p:nvPr/>
        </p:nvSpPr>
        <p:spPr>
          <a:xfrm>
            <a:off x="1042416" y="3913632"/>
            <a:ext cx="1645920" cy="420624"/>
          </a:xfrm>
          <a:prstGeom prst="rect">
            <a:avLst/>
          </a:prstGeom>
          <a:noFill/>
          <a:ln/>
        </p:spPr>
        <p:txBody>
          <a:bodyPr wrap="square" lIns="0" tIns="0" rIns="0" bIns="0" rtlCol="0" anchor="ctr"/>
          <a:lstStyle/>
          <a:p>
            <a:pPr indent="0" marL="0">
              <a:buNone/>
            </a:pPr>
            <a:r>
              <a:rPr lang="en-US" sz="1400" b="1" dirty="0">
                <a:solidFill>
                  <a:schemeClr val="tx1"/>
                </a:solidFill>
              </a:rPr>
              <a:t>Built once</a:t>
            </a:r>
            <a:endParaRPr lang="en-US" sz="1400" dirty="0"/>
          </a:p>
        </p:txBody>
      </p:sp>
      <p:sp>
        <p:nvSpPr>
          <p:cNvPr id="13" name="text"/>
          <p:cNvSpPr txBox="1"/>
          <p:nvPr/>
        </p:nvSpPr>
        <p:spPr>
          <a:xfrm>
            <a:off x="2834640" y="3886200"/>
            <a:ext cx="4663440" cy="1005840"/>
          </a:xfrm>
          <a:prstGeom prst="rect">
            <a:avLst/>
          </a:prstGeom>
          <a:noFill/>
          <a:ln/>
        </p:spPr>
        <p:txBody>
          <a:bodyPr wrap="square" lIns="0" tIns="0" rIns="0" bIns="0" rtlCol="0" anchor="t"/>
          <a:lstStyle/>
          <a:p>
            <a:pPr indent="0" marL="0">
              <a:buNone/>
            </a:pPr>
            <a:r>
              <a:rPr lang="en-US" sz="1200" dirty="0">
                <a:solidFill>
                  <a:schemeClr val="tx1"/>
                </a:solidFill>
              </a:rPr>
              <a:t>One build serves a known set of consumers, so client assets, net new assets or fee revenue are not redefined by every report that reads them.</a:t>
            </a:r>
            <a:endParaRPr lang="en-US" sz="1200" dirty="0"/>
          </a:p>
        </p:txBody>
      </p:sp>
      <p:sp>
        <p:nvSpPr>
          <p:cNvPr id="14" name="chip"/>
          <p:cNvSpPr/>
          <p:nvPr/>
        </p:nvSpPr>
        <p:spPr>
          <a:xfrm>
            <a:off x="548640" y="5029200"/>
            <a:ext cx="384048" cy="384048"/>
          </a:xfrm>
          <a:prstGeom prst="ellipse">
            <a:avLst/>
          </a:prstGeom>
          <a:solidFill>
            <a:schemeClr val="accent5"/>
          </a:solidFill>
          <a:ln w="12700">
            <a:solidFill>
              <a:schemeClr val="accent5"/>
            </a:solidFill>
            <a:prstDash val="solid"/>
          </a:ln>
        </p:spPr>
      </p:sp>
      <p:sp>
        <p:nvSpPr>
          <p:cNvPr id="15" name="text"/>
          <p:cNvSpPr txBox="1"/>
          <p:nvPr/>
        </p:nvSpPr>
        <p:spPr>
          <a:xfrm>
            <a:off x="548640" y="502920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6" name="text"/>
          <p:cNvSpPr txBox="1"/>
          <p:nvPr/>
        </p:nvSpPr>
        <p:spPr>
          <a:xfrm>
            <a:off x="1042416" y="5010912"/>
            <a:ext cx="1645920" cy="420624"/>
          </a:xfrm>
          <a:prstGeom prst="rect">
            <a:avLst/>
          </a:prstGeom>
          <a:noFill/>
          <a:ln/>
        </p:spPr>
        <p:txBody>
          <a:bodyPr wrap="square" lIns="0" tIns="0" rIns="0" bIns="0" rtlCol="0" anchor="ctr"/>
          <a:lstStyle/>
          <a:p>
            <a:pPr indent="0" marL="0">
              <a:buNone/>
            </a:pPr>
            <a:r>
              <a:rPr lang="en-US" sz="1400" b="1" dirty="0">
                <a:solidFill>
                  <a:schemeClr val="tx1"/>
                </a:solidFill>
              </a:rPr>
              <a:t>Traced</a:t>
            </a:r>
            <a:endParaRPr lang="en-US" sz="1400" dirty="0"/>
          </a:p>
        </p:txBody>
      </p:sp>
      <p:sp>
        <p:nvSpPr>
          <p:cNvPr id="17" name="text"/>
          <p:cNvSpPr txBox="1"/>
          <p:nvPr/>
        </p:nvSpPr>
        <p:spPr>
          <a:xfrm>
            <a:off x="2834640" y="4983480"/>
            <a:ext cx="4663440" cy="1005840"/>
          </a:xfrm>
          <a:prstGeom prst="rect">
            <a:avLst/>
          </a:prstGeom>
          <a:noFill/>
          <a:ln/>
        </p:spPr>
        <p:txBody>
          <a:bodyPr wrap="square" lIns="0" tIns="0" rIns="0" bIns="0" rtlCol="0" anchor="t"/>
          <a:lstStyle/>
          <a:p>
            <a:pPr indent="0" marL="0">
              <a:buNone/>
            </a:pPr>
            <a:r>
              <a:rPr lang="en-US" sz="1200" dirty="0">
                <a:solidFill>
                  <a:schemeClr val="tx1"/>
                </a:solidFill>
              </a:rPr>
              <a:t>Every field is tied to the exact taxonomy objects and attributes it reads, so a dashboard figure can be followed back to the Data Domain that owns its meaning.</a:t>
            </a:r>
            <a:endParaRPr lang="en-US" sz="1200" dirty="0"/>
          </a:p>
        </p:txBody>
      </p:sp>
      <p:sp>
        <p:nvSpPr>
          <p:cNvPr id="18" name="card"/>
          <p:cNvSpPr/>
          <p:nvPr/>
        </p:nvSpPr>
        <p:spPr>
          <a:xfrm>
            <a:off x="7863840" y="1417320"/>
            <a:ext cx="3776472" cy="4526280"/>
          </a:xfrm>
          <a:prstGeom prst="roundRect">
            <a:avLst>
              <a:gd name="adj" fmla="val 1937"/>
            </a:avLst>
          </a:prstGeom>
          <a:solidFill>
            <a:schemeClr val="bg2"/>
          </a:solidFill>
          <a:ln w="12700">
            <a:solidFill>
              <a:schemeClr val="bg2"/>
            </a:solidFill>
            <a:prstDash val="solid"/>
          </a:ln>
        </p:spPr>
      </p:sp>
      <p:sp>
        <p:nvSpPr>
          <p:cNvPr id="19" name="text"/>
          <p:cNvSpPr txBox="1"/>
          <p:nvPr/>
        </p:nvSpPr>
        <p:spPr>
          <a:xfrm>
            <a:off x="8028432" y="1563624"/>
            <a:ext cx="3447288" cy="457200"/>
          </a:xfrm>
          <a:prstGeom prst="rect">
            <a:avLst/>
          </a:prstGeom>
          <a:noFill/>
          <a:ln/>
        </p:spPr>
        <p:txBody>
          <a:bodyPr wrap="square" lIns="0" tIns="0" rIns="0" bIns="0" rtlCol="0" anchor="t"/>
          <a:lstStyle/>
          <a:p>
            <a:pPr indent="0" marL="0">
              <a:buNone/>
            </a:pPr>
            <a:r>
              <a:rPr lang="en-US" sz="1600" b="1" dirty="0">
                <a:solidFill>
                  <a:schemeClr val="accent4"/>
                </a:solidFill>
              </a:rPr>
              <a:t>What it is not</a:t>
            </a:r>
            <a:endParaRPr lang="en-US" sz="1600" dirty="0"/>
          </a:p>
        </p:txBody>
      </p:sp>
      <p:sp>
        <p:nvSpPr>
          <p:cNvPr id="20" name="card body"/>
          <p:cNvSpPr txBox="1"/>
          <p:nvPr/>
        </p:nvSpPr>
        <p:spPr>
          <a:xfrm>
            <a:off x="8028432" y="2039112"/>
            <a:ext cx="3447288" cy="373989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Not a table. A warehouse table becomes a product only when it has an owner, a grain, service levels and quality rules.</a:t>
            </a:r>
            <a:endParaRPr lang="en-US" sz="1200" dirty="0"/>
          </a:p>
          <a:p>
            <a:pPr marL="152400" indent="-152400">
              <a:spcAft>
                <a:spcPts val="400"/>
              </a:spcAft>
              <a:buSzPct val="100000"/>
              <a:buChar char="•"/>
            </a:pPr>
            <a:r>
              <a:rPr lang="en-US" sz="1200" dirty="0">
                <a:solidFill>
                  <a:schemeClr val="tx1"/>
                </a:solidFill>
              </a:rPr>
              <a:t>Not a report or a dashboard. Those are uses of a product; the product is what they read.</a:t>
            </a:r>
            <a:endParaRPr lang="en-US" sz="1200" dirty="0"/>
          </a:p>
          <a:p>
            <a:pPr marL="152400" indent="-152400">
              <a:spcAft>
                <a:spcPts val="400"/>
              </a:spcAft>
              <a:buSzPct val="100000"/>
              <a:buChar char="•"/>
            </a:pPr>
            <a:r>
              <a:rPr lang="en-US" sz="1200" dirty="0">
                <a:solidFill>
                  <a:schemeClr val="tx1"/>
                </a:solidFill>
              </a:rPr>
              <a:t>Not a copy of a source system. A copy carries the vendor's meaning; a product carries the firm's.</a:t>
            </a:r>
            <a:endParaRPr lang="en-US" sz="1200" dirty="0"/>
          </a:p>
          <a:p>
            <a:pPr marL="152400" indent="-152400">
              <a:spcAft>
                <a:spcPts val="400"/>
              </a:spcAft>
              <a:buSzPct val="100000"/>
              <a:buChar char="•"/>
            </a:pPr>
            <a:r>
              <a:rPr lang="en-US" sz="1200" dirty="0">
                <a:solidFill>
                  <a:schemeClr val="tx1"/>
                </a:solidFill>
              </a:rPr>
              <a:t>Not a master. A product assembles concepts the Data Domains master. It never remasters them.</a:t>
            </a:r>
            <a:endParaRPr lang="en-US" sz="12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Where it sits: between the taxonomy and the tools people use</a:t>
            </a:r>
            <a:endParaRPr lang="en-US" sz="2800" dirty="0"/>
          </a:p>
        </p:txBody>
      </p:sp>
      <p:sp>
        <p:nvSpPr>
          <p:cNvPr id="4" name="card"/>
          <p:cNvSpPr/>
          <p:nvPr/>
        </p:nvSpPr>
        <p:spPr>
          <a:xfrm>
            <a:off x="548640" y="1508760"/>
            <a:ext cx="2514600" cy="2331720"/>
          </a:xfrm>
          <a:prstGeom prst="roundRect">
            <a:avLst>
              <a:gd name="adj" fmla="val 3137"/>
            </a:avLst>
          </a:prstGeom>
          <a:solidFill>
            <a:schemeClr val="bg2"/>
          </a:solidFill>
          <a:ln w="12700">
            <a:solidFill>
              <a:schemeClr val="bg2"/>
            </a:solidFill>
            <a:prstDash val="solid"/>
          </a:ln>
        </p:spPr>
      </p:sp>
      <p:sp>
        <p:nvSpPr>
          <p:cNvPr id="5" name="panel"/>
          <p:cNvSpPr/>
          <p:nvPr/>
        </p:nvSpPr>
        <p:spPr>
          <a:xfrm>
            <a:off x="548640" y="1508760"/>
            <a:ext cx="2514600" cy="502920"/>
          </a:xfrm>
          <a:prstGeom prst="rect">
            <a:avLst/>
          </a:prstGeom>
          <a:solidFill>
            <a:schemeClr val="accent1"/>
          </a:solidFill>
          <a:ln w="12700">
            <a:solidFill>
              <a:schemeClr val="accent1"/>
            </a:solidFill>
            <a:prstDash val="solid"/>
          </a:ln>
        </p:spPr>
      </p:sp>
      <p:sp>
        <p:nvSpPr>
          <p:cNvPr id="6" name="text"/>
          <p:cNvSpPr txBox="1"/>
          <p:nvPr/>
        </p:nvSpPr>
        <p:spPr>
          <a:xfrm>
            <a:off x="713232" y="1581912"/>
            <a:ext cx="2185416" cy="365760"/>
          </a:xfrm>
          <a:prstGeom prst="rect">
            <a:avLst/>
          </a:prstGeom>
          <a:noFill/>
          <a:ln/>
        </p:spPr>
        <p:txBody>
          <a:bodyPr wrap="square" lIns="0" tIns="0" rIns="0" bIns="0" rtlCol="0" anchor="ctr"/>
          <a:lstStyle/>
          <a:p>
            <a:pPr indent="0" marL="0">
              <a:buNone/>
            </a:pPr>
            <a:r>
              <a:rPr lang="en-US" sz="1400" b="1" dirty="0">
                <a:solidFill>
                  <a:schemeClr val="bg1"/>
                </a:solidFill>
              </a:rPr>
              <a:t>Taxonomy</a:t>
            </a:r>
            <a:endParaRPr lang="en-US" sz="1400" dirty="0"/>
          </a:p>
        </p:txBody>
      </p:sp>
      <p:sp>
        <p:nvSpPr>
          <p:cNvPr id="7" name="text"/>
          <p:cNvSpPr txBox="1"/>
          <p:nvPr/>
        </p:nvSpPr>
        <p:spPr>
          <a:xfrm>
            <a:off x="713232" y="2148840"/>
            <a:ext cx="2185416" cy="1600200"/>
          </a:xfrm>
          <a:prstGeom prst="rect">
            <a:avLst/>
          </a:prstGeom>
          <a:noFill/>
          <a:ln/>
        </p:spPr>
        <p:txBody>
          <a:bodyPr wrap="square" lIns="0" tIns="0" rIns="0" bIns="0" rtlCol="0" anchor="t"/>
          <a:lstStyle/>
          <a:p>
            <a:pPr indent="0" marL="0">
              <a:buNone/>
            </a:pPr>
            <a:r>
              <a:rPr lang="en-US" sz="1100" dirty="0">
                <a:solidFill>
                  <a:schemeClr val="tx1"/>
                </a:solidFill>
              </a:rPr>
              <a:t>What each concept means and which Data Domain masters it. 50 Data Domains, their objects and attributes, one owner per meaning.</a:t>
            </a:r>
            <a:endParaRPr lang="en-US" sz="1100" dirty="0"/>
          </a:p>
        </p:txBody>
      </p:sp>
      <p:sp>
        <p:nvSpPr>
          <p:cNvPr id="8" name="arrow"/>
          <p:cNvSpPr/>
          <p:nvPr/>
        </p:nvSpPr>
        <p:spPr>
          <a:xfrm>
            <a:off x="3108960" y="2519172"/>
            <a:ext cx="253898" cy="310896"/>
          </a:xfrm>
          <a:prstGeom prst="rightArrow">
            <a:avLst/>
          </a:prstGeom>
          <a:solidFill>
            <a:schemeClr val="accent6"/>
          </a:solidFill>
          <a:ln w="12700">
            <a:solidFill>
              <a:schemeClr val="accent6"/>
            </a:solidFill>
            <a:prstDash val="solid"/>
          </a:ln>
        </p:spPr>
      </p:sp>
      <p:sp>
        <p:nvSpPr>
          <p:cNvPr id="9" name="card"/>
          <p:cNvSpPr/>
          <p:nvPr/>
        </p:nvSpPr>
        <p:spPr>
          <a:xfrm>
            <a:off x="3408578" y="1508760"/>
            <a:ext cx="2514600" cy="2331720"/>
          </a:xfrm>
          <a:prstGeom prst="roundRect">
            <a:avLst>
              <a:gd name="adj" fmla="val 3137"/>
            </a:avLst>
          </a:prstGeom>
          <a:solidFill>
            <a:schemeClr val="bg2"/>
          </a:solidFill>
          <a:ln w="12700">
            <a:solidFill>
              <a:schemeClr val="bg2"/>
            </a:solidFill>
            <a:prstDash val="solid"/>
          </a:ln>
        </p:spPr>
      </p:sp>
      <p:sp>
        <p:nvSpPr>
          <p:cNvPr id="10" name="panel"/>
          <p:cNvSpPr/>
          <p:nvPr/>
        </p:nvSpPr>
        <p:spPr>
          <a:xfrm>
            <a:off x="3408578" y="1508760"/>
            <a:ext cx="2514600" cy="502920"/>
          </a:xfrm>
          <a:prstGeom prst="rect">
            <a:avLst/>
          </a:prstGeom>
          <a:solidFill>
            <a:schemeClr val="accent2"/>
          </a:solidFill>
          <a:ln w="12700">
            <a:solidFill>
              <a:schemeClr val="accent2"/>
            </a:solidFill>
            <a:prstDash val="solid"/>
          </a:ln>
        </p:spPr>
      </p:sp>
      <p:sp>
        <p:nvSpPr>
          <p:cNvPr id="11" name="text"/>
          <p:cNvSpPr txBox="1"/>
          <p:nvPr/>
        </p:nvSpPr>
        <p:spPr>
          <a:xfrm>
            <a:off x="3573170" y="1581912"/>
            <a:ext cx="2185416" cy="365760"/>
          </a:xfrm>
          <a:prstGeom prst="rect">
            <a:avLst/>
          </a:prstGeom>
          <a:noFill/>
          <a:ln/>
        </p:spPr>
        <p:txBody>
          <a:bodyPr wrap="square" lIns="0" tIns="0" rIns="0" bIns="0" rtlCol="0" anchor="ctr"/>
          <a:lstStyle/>
          <a:p>
            <a:pPr indent="0" marL="0">
              <a:buNone/>
            </a:pPr>
            <a:r>
              <a:rPr lang="en-US" sz="1400" b="1" dirty="0">
                <a:solidFill>
                  <a:schemeClr val="bg1"/>
                </a:solidFill>
              </a:rPr>
              <a:t>Source mapping</a:t>
            </a:r>
            <a:endParaRPr lang="en-US" sz="1400" dirty="0"/>
          </a:p>
        </p:txBody>
      </p:sp>
      <p:sp>
        <p:nvSpPr>
          <p:cNvPr id="12" name="text"/>
          <p:cNvSpPr txBox="1"/>
          <p:nvPr/>
        </p:nvSpPr>
        <p:spPr>
          <a:xfrm>
            <a:off x="3573170" y="2148840"/>
            <a:ext cx="2185416" cy="1600200"/>
          </a:xfrm>
          <a:prstGeom prst="rect">
            <a:avLst/>
          </a:prstGeom>
          <a:noFill/>
          <a:ln/>
        </p:spPr>
        <p:txBody>
          <a:bodyPr wrap="square" lIns="0" tIns="0" rIns="0" bIns="0" rtlCol="0" anchor="t"/>
          <a:lstStyle/>
          <a:p>
            <a:pPr indent="0" marL="0">
              <a:buNone/>
            </a:pPr>
            <a:r>
              <a:rPr lang="en-US" sz="1100" dirty="0">
                <a:solidFill>
                  <a:schemeClr val="tx1"/>
                </a:solidFill>
              </a:rPr>
              <a:t>Each source column mapped once to the taxonomy object and attribute it becomes. The only hand-written link from a system.</a:t>
            </a:r>
            <a:endParaRPr lang="en-US" sz="1100" dirty="0"/>
          </a:p>
        </p:txBody>
      </p:sp>
      <p:sp>
        <p:nvSpPr>
          <p:cNvPr id="13" name="arrow"/>
          <p:cNvSpPr/>
          <p:nvPr/>
        </p:nvSpPr>
        <p:spPr>
          <a:xfrm>
            <a:off x="5968898" y="2519172"/>
            <a:ext cx="253898" cy="310896"/>
          </a:xfrm>
          <a:prstGeom prst="rightArrow">
            <a:avLst/>
          </a:prstGeom>
          <a:solidFill>
            <a:schemeClr val="accent6"/>
          </a:solidFill>
          <a:ln w="12700">
            <a:solidFill>
              <a:schemeClr val="accent6"/>
            </a:solidFill>
            <a:prstDash val="solid"/>
          </a:ln>
        </p:spPr>
      </p:sp>
      <p:sp>
        <p:nvSpPr>
          <p:cNvPr id="14" name="card"/>
          <p:cNvSpPr/>
          <p:nvPr/>
        </p:nvSpPr>
        <p:spPr>
          <a:xfrm>
            <a:off x="6268517" y="1508760"/>
            <a:ext cx="2514600" cy="2331720"/>
          </a:xfrm>
          <a:prstGeom prst="roundRect">
            <a:avLst>
              <a:gd name="adj" fmla="val 3137"/>
            </a:avLst>
          </a:prstGeom>
          <a:solidFill>
            <a:schemeClr val="bg2"/>
          </a:solidFill>
          <a:ln w="12700">
            <a:solidFill>
              <a:schemeClr val="bg2"/>
            </a:solidFill>
            <a:prstDash val="solid"/>
          </a:ln>
        </p:spPr>
      </p:sp>
      <p:sp>
        <p:nvSpPr>
          <p:cNvPr id="15" name="panel"/>
          <p:cNvSpPr/>
          <p:nvPr/>
        </p:nvSpPr>
        <p:spPr>
          <a:xfrm>
            <a:off x="6268517" y="1508760"/>
            <a:ext cx="2514600" cy="502920"/>
          </a:xfrm>
          <a:prstGeom prst="rect">
            <a:avLst/>
          </a:prstGeom>
          <a:solidFill>
            <a:schemeClr val="accent5"/>
          </a:solidFill>
          <a:ln w="12700">
            <a:solidFill>
              <a:schemeClr val="accent5"/>
            </a:solidFill>
            <a:prstDash val="solid"/>
          </a:ln>
        </p:spPr>
      </p:sp>
      <p:sp>
        <p:nvSpPr>
          <p:cNvPr id="16" name="text"/>
          <p:cNvSpPr txBox="1"/>
          <p:nvPr/>
        </p:nvSpPr>
        <p:spPr>
          <a:xfrm>
            <a:off x="6433109" y="1581912"/>
            <a:ext cx="2185416" cy="365760"/>
          </a:xfrm>
          <a:prstGeom prst="rect">
            <a:avLst/>
          </a:prstGeom>
          <a:noFill/>
          <a:ln/>
        </p:spPr>
        <p:txBody>
          <a:bodyPr wrap="square" lIns="0" tIns="0" rIns="0" bIns="0" rtlCol="0" anchor="ctr"/>
          <a:lstStyle/>
          <a:p>
            <a:pPr indent="0" marL="0">
              <a:buNone/>
            </a:pPr>
            <a:r>
              <a:rPr lang="en-US" sz="1400" b="1" dirty="0">
                <a:solidFill>
                  <a:schemeClr val="bg1"/>
                </a:solidFill>
              </a:rPr>
              <a:t>Data products</a:t>
            </a:r>
            <a:endParaRPr lang="en-US" sz="1400" dirty="0"/>
          </a:p>
        </p:txBody>
      </p:sp>
      <p:sp>
        <p:nvSpPr>
          <p:cNvPr id="17" name="text"/>
          <p:cNvSpPr txBox="1"/>
          <p:nvPr/>
        </p:nvSpPr>
        <p:spPr>
          <a:xfrm>
            <a:off x="6433109" y="2148840"/>
            <a:ext cx="2185416" cy="1600200"/>
          </a:xfrm>
          <a:prstGeom prst="rect">
            <a:avLst/>
          </a:prstGeom>
          <a:noFill/>
          <a:ln/>
        </p:spPr>
        <p:txBody>
          <a:bodyPr wrap="square" lIns="0" tIns="0" rIns="0" bIns="0" rtlCol="0" anchor="t"/>
          <a:lstStyle/>
          <a:p>
            <a:pPr indent="0" marL="0">
              <a:buNone/>
            </a:pPr>
            <a:r>
              <a:rPr lang="en-US" sz="1100" dirty="0">
                <a:solidFill>
                  <a:schemeClr val="tx1"/>
                </a:solidFill>
              </a:rPr>
              <a:t>Concepts assembled for a function's use: a defined grain, measures with formulas, an owner, service levels, quality rules. 271 live products.</a:t>
            </a:r>
            <a:endParaRPr lang="en-US" sz="1100" dirty="0"/>
          </a:p>
        </p:txBody>
      </p:sp>
      <p:sp>
        <p:nvSpPr>
          <p:cNvPr id="18" name="arrow"/>
          <p:cNvSpPr/>
          <p:nvPr/>
        </p:nvSpPr>
        <p:spPr>
          <a:xfrm>
            <a:off x="8828837" y="2519172"/>
            <a:ext cx="253898" cy="310896"/>
          </a:xfrm>
          <a:prstGeom prst="rightArrow">
            <a:avLst/>
          </a:prstGeom>
          <a:solidFill>
            <a:schemeClr val="accent6"/>
          </a:solidFill>
          <a:ln w="12700">
            <a:solidFill>
              <a:schemeClr val="accent6"/>
            </a:solidFill>
            <a:prstDash val="solid"/>
          </a:ln>
        </p:spPr>
      </p:sp>
      <p:sp>
        <p:nvSpPr>
          <p:cNvPr id="19" name="card"/>
          <p:cNvSpPr/>
          <p:nvPr/>
        </p:nvSpPr>
        <p:spPr>
          <a:xfrm>
            <a:off x="9128455" y="1508760"/>
            <a:ext cx="2514600" cy="2331720"/>
          </a:xfrm>
          <a:prstGeom prst="roundRect">
            <a:avLst>
              <a:gd name="adj" fmla="val 3137"/>
            </a:avLst>
          </a:prstGeom>
          <a:solidFill>
            <a:schemeClr val="bg2"/>
          </a:solidFill>
          <a:ln w="12700">
            <a:solidFill>
              <a:schemeClr val="bg2"/>
            </a:solidFill>
            <a:prstDash val="solid"/>
          </a:ln>
        </p:spPr>
      </p:sp>
      <p:sp>
        <p:nvSpPr>
          <p:cNvPr id="20" name="panel"/>
          <p:cNvSpPr/>
          <p:nvPr/>
        </p:nvSpPr>
        <p:spPr>
          <a:xfrm>
            <a:off x="9128455" y="1508760"/>
            <a:ext cx="2514600" cy="502920"/>
          </a:xfrm>
          <a:prstGeom prst="rect">
            <a:avLst/>
          </a:prstGeom>
          <a:solidFill>
            <a:schemeClr val="accent4"/>
          </a:solidFill>
          <a:ln w="12700">
            <a:solidFill>
              <a:schemeClr val="accent4"/>
            </a:solidFill>
            <a:prstDash val="solid"/>
          </a:ln>
        </p:spPr>
      </p:sp>
      <p:sp>
        <p:nvSpPr>
          <p:cNvPr id="21" name="text"/>
          <p:cNvSpPr txBox="1"/>
          <p:nvPr/>
        </p:nvSpPr>
        <p:spPr>
          <a:xfrm>
            <a:off x="9293047" y="1581912"/>
            <a:ext cx="2185416" cy="365760"/>
          </a:xfrm>
          <a:prstGeom prst="rect">
            <a:avLst/>
          </a:prstGeom>
          <a:noFill/>
          <a:ln/>
        </p:spPr>
        <p:txBody>
          <a:bodyPr wrap="square" lIns="0" tIns="0" rIns="0" bIns="0" rtlCol="0" anchor="ctr"/>
          <a:lstStyle/>
          <a:p>
            <a:pPr indent="0" marL="0">
              <a:buNone/>
            </a:pPr>
            <a:r>
              <a:rPr lang="en-US" sz="1400" b="1" dirty="0">
                <a:solidFill>
                  <a:schemeClr val="bg1"/>
                </a:solidFill>
              </a:rPr>
              <a:t>Semantic layer and uses</a:t>
            </a:r>
            <a:endParaRPr lang="en-US" sz="1400" dirty="0"/>
          </a:p>
        </p:txBody>
      </p:sp>
      <p:sp>
        <p:nvSpPr>
          <p:cNvPr id="22" name="text"/>
          <p:cNvSpPr txBox="1"/>
          <p:nvPr/>
        </p:nvSpPr>
        <p:spPr>
          <a:xfrm>
            <a:off x="9293047" y="2148840"/>
            <a:ext cx="2185416" cy="1600200"/>
          </a:xfrm>
          <a:prstGeom prst="rect">
            <a:avLst/>
          </a:prstGeom>
          <a:noFill/>
          <a:ln/>
        </p:spPr>
        <p:txBody>
          <a:bodyPr wrap="square" lIns="0" tIns="0" rIns="0" bIns="0" rtlCol="0" anchor="t"/>
          <a:lstStyle/>
          <a:p>
            <a:pPr indent="0" marL="0">
              <a:buNone/>
            </a:pPr>
            <a:r>
              <a:rPr lang="en-US" sz="1100" dirty="0">
                <a:solidFill>
                  <a:schemeClr val="tx1"/>
                </a:solidFill>
              </a:rPr>
              <a:t>Products published to dashboards, Excel and AI assistants as governed tables, joins and certified metrics. 22 semantic models.</a:t>
            </a:r>
            <a:endParaRPr lang="en-US" sz="1100" dirty="0"/>
          </a:p>
        </p:txBody>
      </p:sp>
      <p:sp>
        <p:nvSpPr>
          <p:cNvPr id="23" name="text"/>
          <p:cNvSpPr txBox="1"/>
          <p:nvPr/>
        </p:nvSpPr>
        <p:spPr>
          <a:xfrm>
            <a:off x="548640" y="3977640"/>
            <a:ext cx="11094415" cy="274320"/>
          </a:xfrm>
          <a:prstGeom prst="rect">
            <a:avLst/>
          </a:prstGeom>
          <a:noFill/>
          <a:ln/>
        </p:spPr>
        <p:txBody>
          <a:bodyPr wrap="square" lIns="0" tIns="0" rIns="0" bIns="0" rtlCol="0" anchor="t"/>
          <a:lstStyle/>
          <a:p>
            <a:pPr indent="0" marL="0">
              <a:buNone/>
            </a:pPr>
            <a:r>
              <a:rPr lang="en-US" sz="1050" b="1" spc="100" kern="0" dirty="0">
                <a:solidFill>
                  <a:schemeClr val="accent6"/>
                </a:solidFill>
              </a:rPr>
              <a:t>MEANING MOVES DOWN FROM THE TAXONOMY; DATA MOVES RIGHT THROUGH THE PRODUCTS</a:t>
            </a:r>
            <a:endParaRPr lang="en-US" sz="1050" dirty="0"/>
          </a:p>
        </p:txBody>
      </p:sp>
      <p:sp>
        <p:nvSpPr>
          <p:cNvPr id="24" name="card"/>
          <p:cNvSpPr/>
          <p:nvPr/>
        </p:nvSpPr>
        <p:spPr>
          <a:xfrm>
            <a:off x="548640" y="4389120"/>
            <a:ext cx="11094415" cy="1143000"/>
          </a:xfrm>
          <a:prstGeom prst="roundRect">
            <a:avLst>
              <a:gd name="adj" fmla="val 6400"/>
            </a:avLst>
          </a:prstGeom>
          <a:solidFill>
            <a:schemeClr val="tx2"/>
          </a:solidFill>
          <a:ln w="12700">
            <a:solidFill>
              <a:schemeClr val="tx2"/>
            </a:solidFill>
            <a:prstDash val="solid"/>
          </a:ln>
        </p:spPr>
      </p:sp>
      <p:sp>
        <p:nvSpPr>
          <p:cNvPr id="25" name="text"/>
          <p:cNvSpPr txBox="1"/>
          <p:nvPr/>
        </p:nvSpPr>
        <p:spPr>
          <a:xfrm>
            <a:off x="822960" y="4517136"/>
            <a:ext cx="4572000" cy="274320"/>
          </a:xfrm>
          <a:prstGeom prst="rect">
            <a:avLst/>
          </a:prstGeom>
          <a:noFill/>
          <a:ln/>
        </p:spPr>
        <p:txBody>
          <a:bodyPr wrap="square" lIns="0" tIns="0" rIns="0" bIns="0" rtlCol="0" anchor="t"/>
          <a:lstStyle/>
          <a:p>
            <a:pPr indent="0" marL="0">
              <a:buNone/>
            </a:pPr>
            <a:r>
              <a:rPr lang="en-US" sz="1100" b="1" dirty="0">
                <a:solidFill>
                  <a:schemeClr val="accent4"/>
                </a:solidFill>
              </a:rPr>
              <a:t>THE GOVERNING RULE</a:t>
            </a:r>
            <a:endParaRPr lang="en-US" sz="1100" dirty="0"/>
          </a:p>
        </p:txBody>
      </p:sp>
      <p:sp>
        <p:nvSpPr>
          <p:cNvPr id="26" name="text"/>
          <p:cNvSpPr txBox="1"/>
          <p:nvPr/>
        </p:nvSpPr>
        <p:spPr>
          <a:xfrm>
            <a:off x="822960" y="4773168"/>
            <a:ext cx="10545775" cy="685800"/>
          </a:xfrm>
          <a:prstGeom prst="rect">
            <a:avLst/>
          </a:prstGeom>
          <a:noFill/>
          <a:ln/>
        </p:spPr>
        <p:txBody>
          <a:bodyPr wrap="square" lIns="0" tIns="0" rIns="0" bIns="0" rtlCol="0" anchor="t"/>
          <a:lstStyle/>
          <a:p>
            <a:pPr indent="0" marL="0">
              <a:buNone/>
            </a:pPr>
            <a:r>
              <a:rPr lang="en-US" sz="1400" dirty="0">
                <a:solidFill>
                  <a:schemeClr val="bg1"/>
                </a:solidFill>
              </a:rPr>
              <a:t>A data product assembles concepts mastered by the Data Domains. It never remasters them. If a product needs data the taxonomy lacks, that is a taxonomy gap to fix in the owning domain, not a field to invent in the product.</a:t>
            </a:r>
            <a:endParaRPr lang="en-US" sz="14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anatomy: what every product specification carries</a:t>
            </a:r>
            <a:endParaRPr lang="en-US" sz="2800" dirty="0"/>
          </a:p>
        </p:txBody>
      </p:sp>
      <p:sp>
        <p:nvSpPr>
          <p:cNvPr id="4" name="card"/>
          <p:cNvSpPr/>
          <p:nvPr/>
        </p:nvSpPr>
        <p:spPr>
          <a:xfrm>
            <a:off x="548640" y="1417320"/>
            <a:ext cx="5410048" cy="2103120"/>
          </a:xfrm>
          <a:prstGeom prst="roundRect">
            <a:avLst>
              <a:gd name="adj" fmla="val 3478"/>
            </a:avLst>
          </a:prstGeom>
          <a:solidFill>
            <a:schemeClr val="bg2"/>
          </a:solidFill>
          <a:ln w="12700">
            <a:solidFill>
              <a:schemeClr val="bg2"/>
            </a:solidFill>
            <a:prstDash val="solid"/>
          </a:ln>
        </p:spPr>
      </p:sp>
      <p:sp>
        <p:nvSpPr>
          <p:cNvPr id="5" name="text"/>
          <p:cNvSpPr txBox="1"/>
          <p:nvPr/>
        </p:nvSpPr>
        <p:spPr>
          <a:xfrm>
            <a:off x="713232" y="1563624"/>
            <a:ext cx="5080864" cy="457200"/>
          </a:xfrm>
          <a:prstGeom prst="rect">
            <a:avLst/>
          </a:prstGeom>
          <a:noFill/>
          <a:ln/>
        </p:spPr>
        <p:txBody>
          <a:bodyPr wrap="square" lIns="0" tIns="0" rIns="0" bIns="0" rtlCol="0" anchor="t"/>
          <a:lstStyle/>
          <a:p>
            <a:pPr indent="0" marL="0">
              <a:buNone/>
            </a:pPr>
            <a:r>
              <a:rPr lang="en-US" sz="1500" b="1" dirty="0">
                <a:solidFill>
                  <a:schemeClr val="accent1"/>
                </a:solidFill>
              </a:rPr>
              <a:t>Identity: what it is and who answers for it</a:t>
            </a:r>
            <a:endParaRPr lang="en-US" sz="1500" dirty="0"/>
          </a:p>
        </p:txBody>
      </p:sp>
      <p:sp>
        <p:nvSpPr>
          <p:cNvPr id="6" name="card body"/>
          <p:cNvSpPr txBox="1"/>
          <p:nvPr/>
        </p:nvSpPr>
        <p:spPr>
          <a:xfrm>
            <a:off x="713232" y="2039112"/>
            <a:ext cx="5080864" cy="131673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Id and name (DP-nnn)</a:t>
            </a:r>
            <a:endParaRPr lang="en-US" sz="1200" dirty="0"/>
          </a:p>
          <a:p>
            <a:pPr marL="152400" indent="-152400">
              <a:spcAft>
                <a:spcPts val="400"/>
              </a:spcAft>
              <a:buSzPct val="100000"/>
              <a:buChar char="•"/>
            </a:pPr>
            <a:r>
              <a:rPr lang="en-US" sz="1200" dirty="0">
                <a:solidFill>
                  <a:schemeClr val="tx1"/>
                </a:solidFill>
              </a:rPr>
              <a:t>Owning Data Domain, and the accountable owner role</a:t>
            </a:r>
            <a:endParaRPr lang="en-US" sz="1200" dirty="0"/>
          </a:p>
          <a:p>
            <a:pPr marL="152400" indent="-152400">
              <a:spcAft>
                <a:spcPts val="400"/>
              </a:spcAft>
              <a:buSzPct val="100000"/>
              <a:buChar char="•"/>
            </a:pPr>
            <a:r>
              <a:rPr lang="en-US" sz="1200" dirty="0">
                <a:solidFill>
                  <a:schemeClr val="tx1"/>
                </a:solidFill>
              </a:rPr>
              <a:t>Tier (foundational or consumer-aligned) and type</a:t>
            </a:r>
            <a:endParaRPr lang="en-US" sz="1200" dirty="0"/>
          </a:p>
          <a:p>
            <a:pPr marL="152400" indent="-152400">
              <a:spcAft>
                <a:spcPts val="400"/>
              </a:spcAft>
              <a:buSzPct val="100000"/>
              <a:buChar char="•"/>
            </a:pPr>
            <a:r>
              <a:rPr lang="en-US" sz="1200" dirty="0">
                <a:solidFill>
                  <a:schemeClr val="tx1"/>
                </a:solidFill>
              </a:rPr>
              <a:t>Functions served: one primary, any number supporting</a:t>
            </a:r>
            <a:endParaRPr lang="en-US" sz="1200" dirty="0"/>
          </a:p>
        </p:txBody>
      </p:sp>
      <p:sp>
        <p:nvSpPr>
          <p:cNvPr id="7" name="card"/>
          <p:cNvSpPr/>
          <p:nvPr/>
        </p:nvSpPr>
        <p:spPr>
          <a:xfrm>
            <a:off x="6233008" y="1417320"/>
            <a:ext cx="5410048" cy="2103120"/>
          </a:xfrm>
          <a:prstGeom prst="roundRect">
            <a:avLst>
              <a:gd name="adj" fmla="val 3478"/>
            </a:avLst>
          </a:prstGeom>
          <a:solidFill>
            <a:schemeClr val="bg2"/>
          </a:solidFill>
          <a:ln w="12700">
            <a:solidFill>
              <a:schemeClr val="bg2"/>
            </a:solidFill>
            <a:prstDash val="solid"/>
          </a:ln>
        </p:spPr>
      </p:sp>
      <p:sp>
        <p:nvSpPr>
          <p:cNvPr id="8" name="text"/>
          <p:cNvSpPr txBox="1"/>
          <p:nvPr/>
        </p:nvSpPr>
        <p:spPr>
          <a:xfrm>
            <a:off x="6397600" y="1563624"/>
            <a:ext cx="5080864" cy="457200"/>
          </a:xfrm>
          <a:prstGeom prst="rect">
            <a:avLst/>
          </a:prstGeom>
          <a:noFill/>
          <a:ln/>
        </p:spPr>
        <p:txBody>
          <a:bodyPr wrap="square" lIns="0" tIns="0" rIns="0" bIns="0" rtlCol="0" anchor="t"/>
          <a:lstStyle/>
          <a:p>
            <a:pPr indent="0" marL="0">
              <a:buNone/>
            </a:pPr>
            <a:r>
              <a:rPr lang="en-US" sz="1500" b="1" dirty="0">
                <a:solidFill>
                  <a:schemeClr val="accent2"/>
                </a:solidFill>
              </a:rPr>
              <a:t>Shape: what the data is</a:t>
            </a:r>
            <a:endParaRPr lang="en-US" sz="1500" dirty="0"/>
          </a:p>
        </p:txBody>
      </p:sp>
      <p:sp>
        <p:nvSpPr>
          <p:cNvPr id="9" name="card body"/>
          <p:cNvSpPr txBox="1"/>
          <p:nvPr/>
        </p:nvSpPr>
        <p:spPr>
          <a:xfrm>
            <a:off x="6397600" y="2039112"/>
            <a:ext cx="5080864" cy="131673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Definition (2 to 4 sentences) and 3 to 6 business questions</a:t>
            </a:r>
            <a:endParaRPr lang="en-US" sz="1200" dirty="0"/>
          </a:p>
          <a:p>
            <a:pPr marL="152400" indent="-152400">
              <a:spcAft>
                <a:spcPts val="400"/>
              </a:spcAft>
              <a:buSzPct val="100000"/>
              <a:buChar char="•"/>
            </a:pPr>
            <a:r>
              <a:rPr lang="en-US" sz="1200" dirty="0">
                <a:solidFill>
                  <a:schemeClr val="tx1"/>
                </a:solidFill>
              </a:rPr>
              <a:t>Grain: what one row of the main output represents</a:t>
            </a:r>
            <a:endParaRPr lang="en-US" sz="1200" dirty="0"/>
          </a:p>
          <a:p>
            <a:pPr marL="152400" indent="-152400">
              <a:spcAft>
                <a:spcPts val="400"/>
              </a:spcAft>
              <a:buSzPct val="100000"/>
              <a:buChar char="•"/>
            </a:pPr>
            <a:r>
              <a:rPr lang="en-US" sz="1200" dirty="0">
                <a:solidFill>
                  <a:schemeClr val="tx1"/>
                </a:solidFill>
              </a:rPr>
              <a:t>Dimensions consumers slice by; measures with an explicit formula</a:t>
            </a:r>
            <a:endParaRPr lang="en-US" sz="1200" dirty="0"/>
          </a:p>
          <a:p>
            <a:pPr marL="152400" indent="-152400">
              <a:spcAft>
                <a:spcPts val="400"/>
              </a:spcAft>
              <a:buSzPct val="100000"/>
              <a:buChar char="•"/>
            </a:pPr>
            <a:r>
              <a:rPr lang="en-US" sz="1200" dirty="0">
                <a:solidFill>
                  <a:schemeClr val="tx1"/>
                </a:solidFill>
              </a:rPr>
              <a:t>Inputs: exact taxonomy objects and attributes; upstream products</a:t>
            </a:r>
            <a:endParaRPr lang="en-US" sz="1200" dirty="0"/>
          </a:p>
        </p:txBody>
      </p:sp>
      <p:sp>
        <p:nvSpPr>
          <p:cNvPr id="10" name="card"/>
          <p:cNvSpPr/>
          <p:nvPr/>
        </p:nvSpPr>
        <p:spPr>
          <a:xfrm>
            <a:off x="548640" y="3794760"/>
            <a:ext cx="5410048" cy="2103120"/>
          </a:xfrm>
          <a:prstGeom prst="roundRect">
            <a:avLst>
              <a:gd name="adj" fmla="val 3478"/>
            </a:avLst>
          </a:prstGeom>
          <a:solidFill>
            <a:schemeClr val="bg2"/>
          </a:solidFill>
          <a:ln w="12700">
            <a:solidFill>
              <a:schemeClr val="bg2"/>
            </a:solidFill>
            <a:prstDash val="solid"/>
          </a:ln>
        </p:spPr>
      </p:sp>
      <p:sp>
        <p:nvSpPr>
          <p:cNvPr id="11" name="text"/>
          <p:cNvSpPr txBox="1"/>
          <p:nvPr/>
        </p:nvSpPr>
        <p:spPr>
          <a:xfrm>
            <a:off x="713232" y="3941064"/>
            <a:ext cx="5080864" cy="457200"/>
          </a:xfrm>
          <a:prstGeom prst="rect">
            <a:avLst/>
          </a:prstGeom>
          <a:noFill/>
          <a:ln/>
        </p:spPr>
        <p:txBody>
          <a:bodyPr wrap="square" lIns="0" tIns="0" rIns="0" bIns="0" rtlCol="0" anchor="t"/>
          <a:lstStyle/>
          <a:p>
            <a:pPr indent="0" marL="0">
              <a:buNone/>
            </a:pPr>
            <a:r>
              <a:rPr lang="en-US" sz="1500" b="1" dirty="0">
                <a:solidFill>
                  <a:schemeClr val="accent5"/>
                </a:solidFill>
              </a:rPr>
              <a:t>Service: how it is delivered</a:t>
            </a:r>
            <a:endParaRPr lang="en-US" sz="1500" dirty="0"/>
          </a:p>
        </p:txBody>
      </p:sp>
      <p:sp>
        <p:nvSpPr>
          <p:cNvPr id="12" name="card body"/>
          <p:cNvSpPr txBox="1"/>
          <p:nvPr/>
        </p:nvSpPr>
        <p:spPr>
          <a:xfrm>
            <a:off x="713232" y="4416552"/>
            <a:ext cx="5080864" cy="131673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Refresh: real-time to annual, on event or ad hoc</a:t>
            </a:r>
            <a:endParaRPr lang="en-US" sz="1200" dirty="0"/>
          </a:p>
          <a:p>
            <a:pPr marL="152400" indent="-152400">
              <a:spcAft>
                <a:spcPts val="400"/>
              </a:spcAft>
              <a:buSzPct val="100000"/>
              <a:buChar char="•"/>
            </a:pPr>
            <a:r>
              <a:rPr lang="en-US" sz="1200" dirty="0">
                <a:solidFill>
                  <a:schemeClr val="tx1"/>
                </a:solidFill>
              </a:rPr>
              <a:t>Timeliness: when the data is available ("by 7am ET on T+1")</a:t>
            </a:r>
            <a:endParaRPr lang="en-US" sz="1200" dirty="0"/>
          </a:p>
          <a:p>
            <a:pPr marL="152400" indent="-152400">
              <a:spcAft>
                <a:spcPts val="400"/>
              </a:spcAft>
              <a:buSzPct val="100000"/>
              <a:buChar char="•"/>
            </a:pPr>
            <a:r>
              <a:rPr lang="en-US" sz="1200" dirty="0">
                <a:solidFill>
                  <a:schemeClr val="tx1"/>
                </a:solidFill>
              </a:rPr>
              <a:t>History: snapshots or slowly changing records, years kept</a:t>
            </a:r>
            <a:endParaRPr lang="en-US" sz="1200" dirty="0"/>
          </a:p>
          <a:p>
            <a:pPr marL="152400" indent="-152400">
              <a:spcAft>
                <a:spcPts val="400"/>
              </a:spcAft>
              <a:buSzPct val="100000"/>
              <a:buChar char="•"/>
            </a:pPr>
            <a:r>
              <a:rPr lang="en-US" sz="1200" dirty="0">
                <a:solidFill>
                  <a:schemeClr val="tx1"/>
                </a:solidFill>
              </a:rPr>
              <a:t>Delivery: warehouse table, semantic model, API, dashboard, file, event stream</a:t>
            </a:r>
            <a:endParaRPr lang="en-US" sz="1200" dirty="0"/>
          </a:p>
        </p:txBody>
      </p:sp>
      <p:sp>
        <p:nvSpPr>
          <p:cNvPr id="13" name="card"/>
          <p:cNvSpPr/>
          <p:nvPr/>
        </p:nvSpPr>
        <p:spPr>
          <a:xfrm>
            <a:off x="6233008" y="3794760"/>
            <a:ext cx="5410048" cy="2103120"/>
          </a:xfrm>
          <a:prstGeom prst="roundRect">
            <a:avLst>
              <a:gd name="adj" fmla="val 3478"/>
            </a:avLst>
          </a:prstGeom>
          <a:solidFill>
            <a:schemeClr val="bg2"/>
          </a:solidFill>
          <a:ln w="12700">
            <a:solidFill>
              <a:schemeClr val="bg2"/>
            </a:solidFill>
            <a:prstDash val="solid"/>
          </a:ln>
        </p:spPr>
      </p:sp>
      <p:sp>
        <p:nvSpPr>
          <p:cNvPr id="14" name="text"/>
          <p:cNvSpPr txBox="1"/>
          <p:nvPr/>
        </p:nvSpPr>
        <p:spPr>
          <a:xfrm>
            <a:off x="6397600" y="3941064"/>
            <a:ext cx="5080864" cy="457200"/>
          </a:xfrm>
          <a:prstGeom prst="rect">
            <a:avLst/>
          </a:prstGeom>
          <a:noFill/>
          <a:ln/>
        </p:spPr>
        <p:txBody>
          <a:bodyPr wrap="square" lIns="0" tIns="0" rIns="0" bIns="0" rtlCol="0" anchor="t"/>
          <a:lstStyle/>
          <a:p>
            <a:pPr indent="0" marL="0">
              <a:buNone/>
            </a:pPr>
            <a:r>
              <a:rPr lang="en-US" sz="1500" b="1" dirty="0">
                <a:solidFill>
                  <a:schemeClr val="accent4"/>
                </a:solidFill>
              </a:rPr>
              <a:t>Trust: what protects it</a:t>
            </a:r>
            <a:endParaRPr lang="en-US" sz="1500" dirty="0"/>
          </a:p>
        </p:txBody>
      </p:sp>
      <p:sp>
        <p:nvSpPr>
          <p:cNvPr id="15" name="card body"/>
          <p:cNvSpPr txBox="1"/>
          <p:nvPr/>
        </p:nvSpPr>
        <p:spPr>
          <a:xfrm>
            <a:off x="6397600" y="4416552"/>
            <a:ext cx="5080864" cy="1316736"/>
          </a:xfrm>
          <a:prstGeom prst="rect">
            <a:avLst/>
          </a:prstGeom>
          <a:noFill/>
          <a:ln/>
        </p:spPr>
        <p:txBody>
          <a:bodyPr wrap="square" lIns="0" tIns="0" rIns="0" bIns="0" rtlCol="0" anchor="t"/>
          <a:lstStyle/>
          <a:p>
            <a:pPr marL="152400" indent="-152400">
              <a:spcAft>
                <a:spcPts val="400"/>
              </a:spcAft>
              <a:buSzPct val="100000"/>
              <a:buChar char="•"/>
            </a:pPr>
            <a:r>
              <a:rPr lang="en-US" sz="1200" dirty="0">
                <a:solidFill>
                  <a:schemeClr val="tx1"/>
                </a:solidFill>
              </a:rPr>
              <a:t>Information classification, from Public to Restricted</a:t>
            </a:r>
            <a:endParaRPr lang="en-US" sz="1200" dirty="0"/>
          </a:p>
          <a:p>
            <a:pPr marL="152400" indent="-152400">
              <a:spcAft>
                <a:spcPts val="400"/>
              </a:spcAft>
              <a:buSzPct val="100000"/>
              <a:buChar char="•"/>
            </a:pPr>
            <a:r>
              <a:rPr lang="en-US" sz="1200" dirty="0">
                <a:solidFill>
                  <a:schemeClr val="tx1"/>
                </a:solidFill>
              </a:rPr>
              <a:t>Personal data indicator</a:t>
            </a:r>
            <a:endParaRPr lang="en-US" sz="1200" dirty="0"/>
          </a:p>
          <a:p>
            <a:pPr marL="152400" indent="-152400">
              <a:spcAft>
                <a:spcPts val="400"/>
              </a:spcAft>
              <a:buSzPct val="100000"/>
              <a:buChar char="•"/>
            </a:pPr>
            <a:r>
              <a:rPr lang="en-US" sz="1200" dirty="0">
                <a:solidFill>
                  <a:schemeClr val="tx1"/>
                </a:solidFill>
              </a:rPr>
              <a:t>3 to 6 testable data-quality rules, one sentence each</a:t>
            </a:r>
            <a:endParaRPr lang="en-US" sz="1200" dirty="0"/>
          </a:p>
          <a:p>
            <a:pPr marL="152400" indent="-152400">
              <a:spcAft>
                <a:spcPts val="400"/>
              </a:spcAft>
              <a:buSzPct val="100000"/>
              <a:buChar char="•"/>
            </a:pPr>
            <a:r>
              <a:rPr lang="en-US" sz="1200" dirty="0">
                <a:solidFill>
                  <a:schemeClr val="tx1"/>
                </a:solidFill>
              </a:rPr>
              <a:t>Certified numbers it is the source of, or the product it takes them from</a:t>
            </a:r>
            <a:endParaRPr lang="en-US" sz="12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Two tiers: foundational products conform once, consumer-aligned products use them</a:t>
            </a:r>
            <a:endParaRPr lang="en-US" sz="2800" dirty="0"/>
          </a:p>
        </p:txBody>
      </p:sp>
      <p:sp>
        <p:nvSpPr>
          <p:cNvPr id="4" name="card"/>
          <p:cNvSpPr/>
          <p:nvPr/>
        </p:nvSpPr>
        <p:spPr>
          <a:xfrm>
            <a:off x="548640" y="1417320"/>
            <a:ext cx="3931920" cy="3931920"/>
          </a:xfrm>
          <a:prstGeom prst="roundRect">
            <a:avLst>
              <a:gd name="adj" fmla="val 1860"/>
            </a:avLst>
          </a:prstGeom>
          <a:solidFill>
            <a:schemeClr val="bg2"/>
          </a:solidFill>
          <a:ln w="12700">
            <a:solidFill>
              <a:schemeClr val="bg2"/>
            </a:solidFill>
            <a:prstDash val="solid"/>
          </a:ln>
        </p:spPr>
      </p:sp>
      <p:sp>
        <p:nvSpPr>
          <p:cNvPr id="5" name="panel"/>
          <p:cNvSpPr/>
          <p:nvPr/>
        </p:nvSpPr>
        <p:spPr>
          <a:xfrm>
            <a:off x="548640" y="1417320"/>
            <a:ext cx="3931920" cy="502920"/>
          </a:xfrm>
          <a:prstGeom prst="rect">
            <a:avLst/>
          </a:prstGeom>
          <a:solidFill>
            <a:schemeClr val="accent1"/>
          </a:solidFill>
          <a:ln w="12700">
            <a:solidFill>
              <a:schemeClr val="accent1"/>
            </a:solidFill>
            <a:prstDash val="solid"/>
          </a:ln>
        </p:spPr>
      </p:sp>
      <p:sp>
        <p:nvSpPr>
          <p:cNvPr id="6" name="text"/>
          <p:cNvSpPr txBox="1"/>
          <p:nvPr/>
        </p:nvSpPr>
        <p:spPr>
          <a:xfrm>
            <a:off x="731520" y="1490472"/>
            <a:ext cx="3566160" cy="365760"/>
          </a:xfrm>
          <a:prstGeom prst="rect">
            <a:avLst/>
          </a:prstGeom>
          <a:noFill/>
          <a:ln/>
        </p:spPr>
        <p:txBody>
          <a:bodyPr wrap="square" lIns="0" tIns="0" rIns="0" bIns="0" rtlCol="0" anchor="ctr"/>
          <a:lstStyle/>
          <a:p>
            <a:pPr indent="0" marL="0">
              <a:buNone/>
            </a:pPr>
            <a:r>
              <a:rPr lang="en-US" sz="1500" b="1" dirty="0">
                <a:solidFill>
                  <a:schemeClr val="bg1"/>
                </a:solidFill>
              </a:rPr>
              <a:t>Foundational</a:t>
            </a:r>
            <a:endParaRPr lang="en-US" sz="1500" dirty="0"/>
          </a:p>
        </p:txBody>
      </p:sp>
      <p:sp>
        <p:nvSpPr>
          <p:cNvPr id="7" name="text"/>
          <p:cNvSpPr txBox="1"/>
          <p:nvPr/>
        </p:nvSpPr>
        <p:spPr>
          <a:xfrm>
            <a:off x="731520" y="2011680"/>
            <a:ext cx="1188720" cy="594360"/>
          </a:xfrm>
          <a:prstGeom prst="rect">
            <a:avLst/>
          </a:prstGeom>
          <a:noFill/>
          <a:ln/>
        </p:spPr>
        <p:txBody>
          <a:bodyPr wrap="square" lIns="0" tIns="0" rIns="0" bIns="0" rtlCol="0" anchor="t"/>
          <a:lstStyle/>
          <a:p>
            <a:pPr indent="0" marL="0">
              <a:buNone/>
            </a:pPr>
            <a:r>
              <a:rPr lang="en-US" sz="3000" b="1" dirty="0">
                <a:solidFill>
                  <a:schemeClr val="accent1"/>
                </a:solidFill>
              </a:rPr>
              <a:t>58</a:t>
            </a:r>
            <a:endParaRPr lang="en-US" sz="3000" dirty="0"/>
          </a:p>
        </p:txBody>
      </p:sp>
      <p:sp>
        <p:nvSpPr>
          <p:cNvPr id="8" name="text"/>
          <p:cNvSpPr txBox="1"/>
          <p:nvPr/>
        </p:nvSpPr>
        <p:spPr>
          <a:xfrm>
            <a:off x="1920240" y="2057400"/>
            <a:ext cx="2377440" cy="685800"/>
          </a:xfrm>
          <a:prstGeom prst="rect">
            <a:avLst/>
          </a:prstGeom>
          <a:noFill/>
          <a:ln/>
        </p:spPr>
        <p:txBody>
          <a:bodyPr wrap="square" lIns="0" tIns="0" rIns="0" bIns="0" rtlCol="0" anchor="t"/>
          <a:lstStyle/>
          <a:p>
            <a:pPr indent="0" marL="0">
              <a:buNone/>
            </a:pPr>
            <a:r>
              <a:rPr lang="en-US" sz="1100" dirty="0">
                <a:solidFill>
                  <a:schemeClr val="tx1"/>
                </a:solidFill>
              </a:rPr>
              <a:t>Source-aligned. Each conforms a core entity or fact once and names the master concept it publishes.</a:t>
            </a:r>
            <a:endParaRPr lang="en-US" sz="1100" dirty="0"/>
          </a:p>
        </p:txBody>
      </p:sp>
      <p:sp>
        <p:nvSpPr>
          <p:cNvPr id="9" name="text"/>
          <p:cNvSpPr txBox="1"/>
          <p:nvPr/>
        </p:nvSpPr>
        <p:spPr>
          <a:xfrm>
            <a:off x="731520" y="2788920"/>
            <a:ext cx="1828800" cy="228600"/>
          </a:xfrm>
          <a:prstGeom prst="rect">
            <a:avLst/>
          </a:prstGeom>
          <a:noFill/>
          <a:ln/>
        </p:spPr>
        <p:txBody>
          <a:bodyPr wrap="square" lIns="0" tIns="0" rIns="0" bIns="0" rtlCol="0" anchor="t"/>
          <a:lstStyle/>
          <a:p>
            <a:pPr indent="0" marL="0">
              <a:buNone/>
            </a:pPr>
            <a:r>
              <a:rPr lang="en-US" sz="950" b="1" dirty="0">
                <a:solidFill>
                  <a:schemeClr val="accent6"/>
                </a:solidFill>
              </a:rPr>
              <a:t>EXAMPLES</a:t>
            </a:r>
            <a:endParaRPr lang="en-US" sz="950" dirty="0"/>
          </a:p>
        </p:txBody>
      </p:sp>
      <p:sp>
        <p:nvSpPr>
          <p:cNvPr id="10" name="examples"/>
          <p:cNvSpPr txBox="1"/>
          <p:nvPr/>
        </p:nvSpPr>
        <p:spPr>
          <a:xfrm>
            <a:off x="731520" y="3044952"/>
            <a:ext cx="3566160" cy="219456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1"/>
                </a:solidFill>
              </a:rPr>
              <a:t>DP-240 Client, Household &amp; Party Master</a:t>
            </a:r>
            <a:endParaRPr lang="en-US" sz="1100" dirty="0"/>
          </a:p>
          <a:p>
            <a:pPr marL="152400" indent="-152400">
              <a:spcAft>
                <a:spcPts val="300"/>
              </a:spcAft>
              <a:buSzPct val="100000"/>
              <a:buChar char="•"/>
            </a:pPr>
            <a:r>
              <a:rPr lang="en-US" sz="1100" dirty="0">
                <a:solidFill>
                  <a:schemeClr val="tx1"/>
                </a:solidFill>
              </a:rPr>
              <a:t>DP-093 Account Master</a:t>
            </a:r>
            <a:endParaRPr lang="en-US" sz="1100" dirty="0"/>
          </a:p>
          <a:p>
            <a:pPr marL="152400" indent="-152400">
              <a:spcAft>
                <a:spcPts val="300"/>
              </a:spcAft>
              <a:buSzPct val="100000"/>
              <a:buChar char="•"/>
            </a:pPr>
            <a:r>
              <a:rPr lang="en-US" sz="1100" dirty="0">
                <a:solidFill>
                  <a:schemeClr val="tx1"/>
                </a:solidFill>
              </a:rPr>
              <a:t>DP-097 Security Master &amp; Identifiers</a:t>
            </a:r>
            <a:endParaRPr lang="en-US" sz="1100" dirty="0"/>
          </a:p>
          <a:p>
            <a:pPr marL="152400" indent="-152400">
              <a:spcAft>
                <a:spcPts val="300"/>
              </a:spcAft>
              <a:buSzPct val="100000"/>
              <a:buChar char="•"/>
            </a:pPr>
            <a:r>
              <a:rPr lang="en-US" sz="1100" dirty="0">
                <a:solidFill>
                  <a:schemeClr val="tx1"/>
                </a:solidFill>
              </a:rPr>
              <a:t>DP-300 Client Holdings, Lots &amp; Cost Basis</a:t>
            </a:r>
            <a:endParaRPr lang="en-US" sz="1100" dirty="0"/>
          </a:p>
          <a:p>
            <a:pPr marL="152400" indent="-152400">
              <a:spcAft>
                <a:spcPts val="300"/>
              </a:spcAft>
              <a:buSzPct val="100000"/>
              <a:buChar char="•"/>
            </a:pPr>
            <a:r>
              <a:rPr lang="en-US" sz="1100" dirty="0">
                <a:solidFill>
                  <a:schemeClr val="tx1"/>
                </a:solidFill>
              </a:rPr>
              <a:t>DP-580 Fund Share Register &amp; Postings</a:t>
            </a:r>
            <a:endParaRPr lang="en-US" sz="1100" dirty="0"/>
          </a:p>
          <a:p>
            <a:pPr marL="152400" indent="-152400">
              <a:spcAft>
                <a:spcPts val="300"/>
              </a:spcAft>
              <a:buSzPct val="100000"/>
              <a:buChar char="•"/>
            </a:pPr>
            <a:r>
              <a:rPr lang="en-US" sz="1100" dirty="0">
                <a:solidFill>
                  <a:schemeClr val="tx1"/>
                </a:solidFill>
              </a:rPr>
              <a:t>DP-008 Client Assets &amp; Net New Assets</a:t>
            </a:r>
            <a:endParaRPr lang="en-US" sz="1100" dirty="0"/>
          </a:p>
        </p:txBody>
      </p:sp>
      <p:sp>
        <p:nvSpPr>
          <p:cNvPr id="11" name="card"/>
          <p:cNvSpPr/>
          <p:nvPr/>
        </p:nvSpPr>
        <p:spPr>
          <a:xfrm>
            <a:off x="4709160" y="1417320"/>
            <a:ext cx="3931920" cy="3931920"/>
          </a:xfrm>
          <a:prstGeom prst="roundRect">
            <a:avLst>
              <a:gd name="adj" fmla="val 1860"/>
            </a:avLst>
          </a:prstGeom>
          <a:solidFill>
            <a:schemeClr val="bg2"/>
          </a:solidFill>
          <a:ln w="12700">
            <a:solidFill>
              <a:schemeClr val="bg2"/>
            </a:solidFill>
            <a:prstDash val="solid"/>
          </a:ln>
        </p:spPr>
      </p:sp>
      <p:sp>
        <p:nvSpPr>
          <p:cNvPr id="12" name="panel"/>
          <p:cNvSpPr/>
          <p:nvPr/>
        </p:nvSpPr>
        <p:spPr>
          <a:xfrm>
            <a:off x="4709160" y="1417320"/>
            <a:ext cx="3931920" cy="502920"/>
          </a:xfrm>
          <a:prstGeom prst="rect">
            <a:avLst/>
          </a:prstGeom>
          <a:solidFill>
            <a:schemeClr val="accent5"/>
          </a:solidFill>
          <a:ln w="12700">
            <a:solidFill>
              <a:schemeClr val="accent5"/>
            </a:solidFill>
            <a:prstDash val="solid"/>
          </a:ln>
        </p:spPr>
      </p:sp>
      <p:sp>
        <p:nvSpPr>
          <p:cNvPr id="13" name="text"/>
          <p:cNvSpPr txBox="1"/>
          <p:nvPr/>
        </p:nvSpPr>
        <p:spPr>
          <a:xfrm>
            <a:off x="4892040" y="1490472"/>
            <a:ext cx="3566160" cy="365760"/>
          </a:xfrm>
          <a:prstGeom prst="rect">
            <a:avLst/>
          </a:prstGeom>
          <a:noFill/>
          <a:ln/>
        </p:spPr>
        <p:txBody>
          <a:bodyPr wrap="square" lIns="0" tIns="0" rIns="0" bIns="0" rtlCol="0" anchor="ctr"/>
          <a:lstStyle/>
          <a:p>
            <a:pPr indent="0" marL="0">
              <a:buNone/>
            </a:pPr>
            <a:r>
              <a:rPr lang="en-US" sz="1500" b="1" dirty="0">
                <a:solidFill>
                  <a:schemeClr val="bg1"/>
                </a:solidFill>
              </a:rPr>
              <a:t>Consumer-aligned</a:t>
            </a:r>
            <a:endParaRPr lang="en-US" sz="1500" dirty="0"/>
          </a:p>
        </p:txBody>
      </p:sp>
      <p:sp>
        <p:nvSpPr>
          <p:cNvPr id="14" name="text"/>
          <p:cNvSpPr txBox="1"/>
          <p:nvPr/>
        </p:nvSpPr>
        <p:spPr>
          <a:xfrm>
            <a:off x="4892040" y="2011680"/>
            <a:ext cx="1188720" cy="594360"/>
          </a:xfrm>
          <a:prstGeom prst="rect">
            <a:avLst/>
          </a:prstGeom>
          <a:noFill/>
          <a:ln/>
        </p:spPr>
        <p:txBody>
          <a:bodyPr wrap="square" lIns="0" tIns="0" rIns="0" bIns="0" rtlCol="0" anchor="t"/>
          <a:lstStyle/>
          <a:p>
            <a:pPr indent="0" marL="0">
              <a:buNone/>
            </a:pPr>
            <a:r>
              <a:rPr lang="en-US" sz="3000" b="1" dirty="0">
                <a:solidFill>
                  <a:schemeClr val="accent5"/>
                </a:solidFill>
              </a:rPr>
              <a:t>213</a:t>
            </a:r>
            <a:endParaRPr lang="en-US" sz="3000" dirty="0"/>
          </a:p>
        </p:txBody>
      </p:sp>
      <p:sp>
        <p:nvSpPr>
          <p:cNvPr id="15" name="text"/>
          <p:cNvSpPr txBox="1"/>
          <p:nvPr/>
        </p:nvSpPr>
        <p:spPr>
          <a:xfrm>
            <a:off x="6080760" y="2057400"/>
            <a:ext cx="2377440" cy="685800"/>
          </a:xfrm>
          <a:prstGeom prst="rect">
            <a:avLst/>
          </a:prstGeom>
          <a:noFill/>
          <a:ln/>
        </p:spPr>
        <p:txBody>
          <a:bodyPr wrap="square" lIns="0" tIns="0" rIns="0" bIns="0" rtlCol="0" anchor="t"/>
          <a:lstStyle/>
          <a:p>
            <a:pPr indent="0" marL="0">
              <a:buNone/>
            </a:pPr>
            <a:r>
              <a:rPr lang="en-US" sz="1100" dirty="0">
                <a:solidFill>
                  <a:schemeClr val="tx1"/>
                </a:solidFill>
              </a:rPr>
              <a:t>Shaped around one function's decisions and workflows, built from foundational products.</a:t>
            </a:r>
            <a:endParaRPr lang="en-US" sz="1100" dirty="0"/>
          </a:p>
        </p:txBody>
      </p:sp>
      <p:sp>
        <p:nvSpPr>
          <p:cNvPr id="16" name="text"/>
          <p:cNvSpPr txBox="1"/>
          <p:nvPr/>
        </p:nvSpPr>
        <p:spPr>
          <a:xfrm>
            <a:off x="4892040" y="2788920"/>
            <a:ext cx="1828800" cy="228600"/>
          </a:xfrm>
          <a:prstGeom prst="rect">
            <a:avLst/>
          </a:prstGeom>
          <a:noFill/>
          <a:ln/>
        </p:spPr>
        <p:txBody>
          <a:bodyPr wrap="square" lIns="0" tIns="0" rIns="0" bIns="0" rtlCol="0" anchor="t"/>
          <a:lstStyle/>
          <a:p>
            <a:pPr indent="0" marL="0">
              <a:buNone/>
            </a:pPr>
            <a:r>
              <a:rPr lang="en-US" sz="950" b="1" dirty="0">
                <a:solidFill>
                  <a:schemeClr val="accent6"/>
                </a:solidFill>
              </a:rPr>
              <a:t>EXAMPLES</a:t>
            </a:r>
            <a:endParaRPr lang="en-US" sz="950" dirty="0"/>
          </a:p>
        </p:txBody>
      </p:sp>
      <p:sp>
        <p:nvSpPr>
          <p:cNvPr id="17" name="examples"/>
          <p:cNvSpPr txBox="1"/>
          <p:nvPr/>
        </p:nvSpPr>
        <p:spPr>
          <a:xfrm>
            <a:off x="4892040" y="3044952"/>
            <a:ext cx="3566160" cy="2194560"/>
          </a:xfrm>
          <a:prstGeom prst="rect">
            <a:avLst/>
          </a:prstGeom>
          <a:noFill/>
          <a:ln/>
        </p:spPr>
        <p:txBody>
          <a:bodyPr wrap="square" lIns="0" tIns="0" rIns="0" bIns="0" rtlCol="0" anchor="t"/>
          <a:lstStyle/>
          <a:p>
            <a:pPr marL="152400" indent="-152400">
              <a:spcAft>
                <a:spcPts val="300"/>
              </a:spcAft>
              <a:buSzPct val="100000"/>
              <a:buChar char="•"/>
            </a:pPr>
            <a:r>
              <a:rPr lang="en-US" sz="1100" dirty="0">
                <a:solidFill>
                  <a:schemeClr val="tx1"/>
                </a:solidFill>
              </a:rPr>
              <a:t>DP-320 Household 360</a:t>
            </a:r>
            <a:endParaRPr lang="en-US" sz="1100" dirty="0"/>
          </a:p>
          <a:p>
            <a:pPr marL="152400" indent="-152400">
              <a:spcAft>
                <a:spcPts val="300"/>
              </a:spcAft>
              <a:buSzPct val="100000"/>
              <a:buChar char="•"/>
            </a:pPr>
            <a:r>
              <a:rPr lang="en-US" sz="1100" dirty="0">
                <a:solidFill>
                  <a:schemeClr val="tx1"/>
                </a:solidFill>
              </a:rPr>
              <a:t>Plan Quality &amp; Recommendation Evidence (Reg BI File)</a:t>
            </a:r>
            <a:endParaRPr lang="en-US" sz="1100" dirty="0"/>
          </a:p>
          <a:p>
            <a:pPr marL="152400" indent="-152400">
              <a:spcAft>
                <a:spcPts val="300"/>
              </a:spcAft>
              <a:buSzPct val="100000"/>
              <a:buChar char="•"/>
            </a:pPr>
            <a:r>
              <a:rPr lang="en-US" sz="1100" dirty="0">
                <a:solidFill>
                  <a:schemeClr val="tx1"/>
                </a:solidFill>
              </a:rPr>
              <a:t>Customer Reserve &amp; Possession-and-Control Control Pack</a:t>
            </a:r>
            <a:endParaRPr lang="en-US" sz="1100" dirty="0"/>
          </a:p>
          <a:p>
            <a:pPr marL="152400" indent="-152400">
              <a:spcAft>
                <a:spcPts val="300"/>
              </a:spcAft>
              <a:buSzPct val="100000"/>
              <a:buChar char="•"/>
            </a:pPr>
            <a:r>
              <a:rPr lang="en-US" sz="1100" dirty="0">
                <a:solidFill>
                  <a:schemeClr val="tx1"/>
                </a:solidFill>
              </a:rPr>
              <a:t>Rollover Capture</a:t>
            </a:r>
            <a:endParaRPr lang="en-US" sz="1100" dirty="0"/>
          </a:p>
          <a:p>
            <a:pPr marL="152400" indent="-152400">
              <a:spcAft>
                <a:spcPts val="300"/>
              </a:spcAft>
              <a:buSzPct val="100000"/>
              <a:buChar char="•"/>
            </a:pPr>
            <a:r>
              <a:rPr lang="en-US" sz="1100" dirty="0">
                <a:solidFill>
                  <a:schemeClr val="tx1"/>
                </a:solidFill>
              </a:rPr>
              <a:t>DP-241 Firm AUM &amp; Client Assets Reconciliation</a:t>
            </a:r>
            <a:endParaRPr lang="en-US" sz="1100" dirty="0"/>
          </a:p>
        </p:txBody>
      </p:sp>
      <p:sp>
        <p:nvSpPr>
          <p:cNvPr id="18" name="arrow"/>
          <p:cNvSpPr/>
          <p:nvPr/>
        </p:nvSpPr>
        <p:spPr>
          <a:xfrm>
            <a:off x="4507992" y="3246120"/>
            <a:ext cx="173736" cy="274320"/>
          </a:xfrm>
          <a:prstGeom prst="rightArrow">
            <a:avLst/>
          </a:prstGeom>
          <a:solidFill>
            <a:schemeClr val="accent6"/>
          </a:solidFill>
          <a:ln w="12700">
            <a:solidFill>
              <a:schemeClr val="accent6"/>
            </a:solidFill>
            <a:prstDash val="solid"/>
          </a:ln>
        </p:spPr>
      </p:sp>
      <p:sp>
        <p:nvSpPr>
          <p:cNvPr id="19" name="card"/>
          <p:cNvSpPr/>
          <p:nvPr/>
        </p:nvSpPr>
        <p:spPr>
          <a:xfrm>
            <a:off x="8961120" y="1417320"/>
            <a:ext cx="2679192" cy="3931920"/>
          </a:xfrm>
          <a:prstGeom prst="roundRect">
            <a:avLst>
              <a:gd name="adj" fmla="val 2730"/>
            </a:avLst>
          </a:prstGeom>
          <a:solidFill>
            <a:schemeClr val="tx2"/>
          </a:solidFill>
          <a:ln w="12700">
            <a:solidFill>
              <a:schemeClr val="tx2"/>
            </a:solidFill>
            <a:prstDash val="solid"/>
          </a:ln>
        </p:spPr>
      </p:sp>
      <p:sp>
        <p:nvSpPr>
          <p:cNvPr id="20" name="text"/>
          <p:cNvSpPr txBox="1"/>
          <p:nvPr/>
        </p:nvSpPr>
        <p:spPr>
          <a:xfrm>
            <a:off x="9162288" y="1600200"/>
            <a:ext cx="2286000" cy="274320"/>
          </a:xfrm>
          <a:prstGeom prst="rect">
            <a:avLst/>
          </a:prstGeom>
          <a:noFill/>
          <a:ln/>
        </p:spPr>
        <p:txBody>
          <a:bodyPr wrap="square" lIns="0" tIns="0" rIns="0" bIns="0" rtlCol="0" anchor="t"/>
          <a:lstStyle/>
          <a:p>
            <a:pPr indent="0" marL="0">
              <a:buNone/>
            </a:pPr>
            <a:r>
              <a:rPr lang="en-US" sz="1100" b="1" dirty="0">
                <a:solidFill>
                  <a:schemeClr val="accent4"/>
                </a:solidFill>
              </a:rPr>
              <a:t>THE DEPENDENCY RULE</a:t>
            </a:r>
            <a:endParaRPr lang="en-US" sz="1100" dirty="0"/>
          </a:p>
        </p:txBody>
      </p:sp>
      <p:sp>
        <p:nvSpPr>
          <p:cNvPr id="21" name="text"/>
          <p:cNvSpPr txBox="1"/>
          <p:nvPr/>
        </p:nvSpPr>
        <p:spPr>
          <a:xfrm>
            <a:off x="9162288" y="1920240"/>
            <a:ext cx="2286000" cy="1463040"/>
          </a:xfrm>
          <a:prstGeom prst="rect">
            <a:avLst/>
          </a:prstGeom>
          <a:noFill/>
          <a:ln/>
        </p:spPr>
        <p:txBody>
          <a:bodyPr wrap="square" lIns="0" tIns="0" rIns="0" bIns="0" rtlCol="0" anchor="t"/>
          <a:lstStyle/>
          <a:p>
            <a:pPr indent="0" marL="0">
              <a:buNone/>
            </a:pPr>
            <a:r>
              <a:rPr lang="en-US" sz="1200" dirty="0">
                <a:solidFill>
                  <a:schemeClr val="bg1"/>
                </a:solidFill>
              </a:rPr>
              <a:t>Foundational products depend only on foundational products. Consumer-aligned products build on foundational ones. No cycles. The builder enforces both.</a:t>
            </a:r>
            <a:endParaRPr lang="en-US" sz="1200" dirty="0"/>
          </a:p>
        </p:txBody>
      </p:sp>
      <p:sp>
        <p:nvSpPr>
          <p:cNvPr id="22" name="text"/>
          <p:cNvSpPr txBox="1"/>
          <p:nvPr/>
        </p:nvSpPr>
        <p:spPr>
          <a:xfrm>
            <a:off x="9162288" y="3429000"/>
            <a:ext cx="2286000" cy="274320"/>
          </a:xfrm>
          <a:prstGeom prst="rect">
            <a:avLst/>
          </a:prstGeom>
          <a:noFill/>
          <a:ln/>
        </p:spPr>
        <p:txBody>
          <a:bodyPr wrap="square" lIns="0" tIns="0" rIns="0" bIns="0" rtlCol="0" anchor="t"/>
          <a:lstStyle/>
          <a:p>
            <a:pPr indent="0" marL="0">
              <a:buNone/>
            </a:pPr>
            <a:r>
              <a:rPr lang="en-US" sz="1100" b="1" dirty="0">
                <a:solidFill>
                  <a:schemeClr val="accent4"/>
                </a:solidFill>
              </a:rPr>
              <a:t>OUTSIDE THE LIVE SET</a:t>
            </a:r>
            <a:endParaRPr lang="en-US" sz="1100" dirty="0"/>
          </a:p>
        </p:txBody>
      </p:sp>
      <p:sp>
        <p:nvSpPr>
          <p:cNvPr id="23" name="text"/>
          <p:cNvSpPr txBox="1"/>
          <p:nvPr/>
        </p:nvSpPr>
        <p:spPr>
          <a:xfrm>
            <a:off x="9162288" y="3749040"/>
            <a:ext cx="2286000" cy="1463040"/>
          </a:xfrm>
          <a:prstGeom prst="rect">
            <a:avLst/>
          </a:prstGeom>
          <a:noFill/>
          <a:ln/>
        </p:spPr>
        <p:txBody>
          <a:bodyPr wrap="square" lIns="0" tIns="0" rIns="0" bIns="0" rtlCol="0" anchor="t"/>
          <a:lstStyle/>
          <a:p>
            <a:pPr indent="0" marL="0">
              <a:buNone/>
            </a:pPr>
            <a:r>
              <a:rPr lang="en-US" sz="1200" dirty="0">
                <a:solidFill>
                  <a:schemeClr val="bg2"/>
                </a:solidFill>
              </a:rPr>
              <a:t>78 backlog candidates, each naming the live product its scope folds into. 77 retired products, their ids never reused.</a:t>
            </a:r>
            <a:endParaRPr lang="en-US" sz="1200" dirty="0"/>
          </a:p>
        </p:txBody>
      </p:sp>
      <p:sp>
        <p:nvSpPr>
          <p:cNvPr id="24" name="card"/>
          <p:cNvSpPr/>
          <p:nvPr/>
        </p:nvSpPr>
        <p:spPr>
          <a:xfrm>
            <a:off x="548640" y="5532120"/>
            <a:ext cx="11094415" cy="502920"/>
          </a:xfrm>
          <a:prstGeom prst="roundRect">
            <a:avLst>
              <a:gd name="adj" fmla="val 14545"/>
            </a:avLst>
          </a:prstGeom>
          <a:solidFill>
            <a:schemeClr val="tx2"/>
          </a:solidFill>
          <a:ln w="12700">
            <a:solidFill>
              <a:schemeClr val="tx2"/>
            </a:solidFill>
            <a:prstDash val="solid"/>
          </a:ln>
        </p:spPr>
      </p:sp>
      <p:sp>
        <p:nvSpPr>
          <p:cNvPr id="25" name="text"/>
          <p:cNvSpPr txBox="1"/>
          <p:nvPr/>
        </p:nvSpPr>
        <p:spPr>
          <a:xfrm>
            <a:off x="822960" y="5660136"/>
            <a:ext cx="10545775" cy="246888"/>
          </a:xfrm>
          <a:prstGeom prst="rect">
            <a:avLst/>
          </a:prstGeom>
          <a:noFill/>
          <a:ln/>
        </p:spPr>
        <p:txBody>
          <a:bodyPr wrap="square" lIns="0" tIns="0" rIns="0" bIns="0" rtlCol="0" anchor="ctr"/>
          <a:lstStyle/>
          <a:p>
            <a:pPr indent="0" marL="0">
              <a:buNone/>
            </a:pPr>
            <a:r>
              <a:rPr lang="en-US" sz="1300" dirty="0">
                <a:solidFill>
                  <a:schemeClr val="bg1"/>
                </a:solidFill>
              </a:rPr>
              <a:t>271 live products: 58 foundational that conform once, 213 consumer-aligned that reuse them.</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Five types: what the product is for</a:t>
            </a:r>
            <a:endParaRPr lang="en-US" sz="2800" dirty="0"/>
          </a:p>
        </p:txBody>
      </p:sp>
      <p:sp>
        <p:nvSpPr>
          <p:cNvPr id="4" name="card"/>
          <p:cNvSpPr/>
          <p:nvPr/>
        </p:nvSpPr>
        <p:spPr>
          <a:xfrm>
            <a:off x="548640" y="1417320"/>
            <a:ext cx="2072579" cy="3566160"/>
          </a:xfrm>
          <a:prstGeom prst="roundRect">
            <a:avLst>
              <a:gd name="adj" fmla="val 3530"/>
            </a:avLst>
          </a:prstGeom>
          <a:solidFill>
            <a:schemeClr val="bg2"/>
          </a:solidFill>
          <a:ln w="12700">
            <a:solidFill>
              <a:schemeClr val="bg2"/>
            </a:solidFill>
            <a:prstDash val="solid"/>
          </a:ln>
        </p:spPr>
      </p:sp>
      <p:sp>
        <p:nvSpPr>
          <p:cNvPr id="5" name="panel"/>
          <p:cNvSpPr/>
          <p:nvPr/>
        </p:nvSpPr>
        <p:spPr>
          <a:xfrm>
            <a:off x="548640" y="1417320"/>
            <a:ext cx="2072579" cy="548640"/>
          </a:xfrm>
          <a:prstGeom prst="rect">
            <a:avLst/>
          </a:prstGeom>
          <a:solidFill>
            <a:schemeClr val="accent1"/>
          </a:solidFill>
          <a:ln w="12700">
            <a:solidFill>
              <a:schemeClr val="accent1"/>
            </a:solidFill>
            <a:prstDash val="solid"/>
          </a:ln>
        </p:spPr>
      </p:sp>
      <p:sp>
        <p:nvSpPr>
          <p:cNvPr id="6" name="text"/>
          <p:cNvSpPr txBox="1"/>
          <p:nvPr/>
        </p:nvSpPr>
        <p:spPr>
          <a:xfrm>
            <a:off x="685800" y="1463040"/>
            <a:ext cx="1798259" cy="457200"/>
          </a:xfrm>
          <a:prstGeom prst="rect">
            <a:avLst/>
          </a:prstGeom>
          <a:noFill/>
          <a:ln/>
        </p:spPr>
        <p:txBody>
          <a:bodyPr wrap="square" lIns="0" tIns="0" rIns="0" bIns="0" rtlCol="0" anchor="ctr"/>
          <a:lstStyle/>
          <a:p>
            <a:pPr indent="0" marL="0">
              <a:buNone/>
            </a:pPr>
            <a:r>
              <a:rPr lang="en-US" sz="1300" b="1" dirty="0">
                <a:solidFill>
                  <a:schemeClr val="bg1"/>
                </a:solidFill>
              </a:rPr>
              <a:t>Master &amp; Reference</a:t>
            </a:r>
            <a:endParaRPr lang="en-US" sz="1300" dirty="0"/>
          </a:p>
        </p:txBody>
      </p:sp>
      <p:sp>
        <p:nvSpPr>
          <p:cNvPr id="7" name="text"/>
          <p:cNvSpPr txBox="1"/>
          <p:nvPr/>
        </p:nvSpPr>
        <p:spPr>
          <a:xfrm>
            <a:off x="685800" y="2057400"/>
            <a:ext cx="1798259" cy="548640"/>
          </a:xfrm>
          <a:prstGeom prst="rect">
            <a:avLst/>
          </a:prstGeom>
          <a:noFill/>
          <a:ln/>
        </p:spPr>
        <p:txBody>
          <a:bodyPr wrap="square" lIns="0" tIns="0" rIns="0" bIns="0" rtlCol="0" anchor="t"/>
          <a:lstStyle/>
          <a:p>
            <a:pPr indent="0" marL="0">
              <a:buNone/>
            </a:pPr>
            <a:r>
              <a:rPr lang="en-US" sz="2800" b="1" dirty="0">
                <a:solidFill>
                  <a:schemeClr val="accent1"/>
                </a:solidFill>
              </a:rPr>
              <a:t>33</a:t>
            </a:r>
            <a:endParaRPr lang="en-US" sz="2800" dirty="0"/>
          </a:p>
        </p:txBody>
      </p:sp>
      <p:sp>
        <p:nvSpPr>
          <p:cNvPr id="8" name="text"/>
          <p:cNvSpPr txBox="1"/>
          <p:nvPr/>
        </p:nvSpPr>
        <p:spPr>
          <a:xfrm>
            <a:off x="685800" y="2606040"/>
            <a:ext cx="1798259" cy="228600"/>
          </a:xfrm>
          <a:prstGeom prst="rect">
            <a:avLst/>
          </a:prstGeom>
          <a:noFill/>
          <a:ln/>
        </p:spPr>
        <p:txBody>
          <a:bodyPr wrap="square" lIns="0" tIns="0" rIns="0" bIns="0" rtlCol="0" anchor="t"/>
          <a:lstStyle/>
          <a:p>
            <a:pPr indent="0" marL="0">
              <a:buNone/>
            </a:pPr>
            <a:r>
              <a:rPr lang="en-US" sz="950" dirty="0">
                <a:solidFill>
                  <a:schemeClr val="accent6"/>
                </a:solidFill>
              </a:rPr>
              <a:t>products</a:t>
            </a:r>
            <a:endParaRPr lang="en-US" sz="950" dirty="0"/>
          </a:p>
        </p:txBody>
      </p:sp>
      <p:sp>
        <p:nvSpPr>
          <p:cNvPr id="9" name="text"/>
          <p:cNvSpPr txBox="1"/>
          <p:nvPr/>
        </p:nvSpPr>
        <p:spPr>
          <a:xfrm>
            <a:off x="685800" y="2926080"/>
            <a:ext cx="1798259" cy="914400"/>
          </a:xfrm>
          <a:prstGeom prst="rect">
            <a:avLst/>
          </a:prstGeom>
          <a:noFill/>
          <a:ln/>
        </p:spPr>
        <p:txBody>
          <a:bodyPr wrap="square" lIns="0" tIns="0" rIns="0" bIns="0" rtlCol="0" anchor="t"/>
          <a:lstStyle/>
          <a:p>
            <a:pPr indent="0" marL="0">
              <a:buNone/>
            </a:pPr>
            <a:r>
              <a:rPr lang="en-US" sz="1100" dirty="0">
                <a:solidFill>
                  <a:schemeClr val="tx1"/>
                </a:solidFill>
              </a:rPr>
              <a:t>Golden records and hierarchies for a core entity, with history</a:t>
            </a:r>
            <a:endParaRPr lang="en-US" sz="1100" dirty="0"/>
          </a:p>
        </p:txBody>
      </p:sp>
      <p:sp>
        <p:nvSpPr>
          <p:cNvPr id="10" name="text"/>
          <p:cNvSpPr txBox="1"/>
          <p:nvPr/>
        </p:nvSpPr>
        <p:spPr>
          <a:xfrm>
            <a:off x="685800" y="3886200"/>
            <a:ext cx="1798259" cy="228600"/>
          </a:xfrm>
          <a:prstGeom prst="rect">
            <a:avLst/>
          </a:prstGeom>
          <a:noFill/>
          <a:ln/>
        </p:spPr>
        <p:txBody>
          <a:bodyPr wrap="square" lIns="0" tIns="0" rIns="0" bIns="0" rtlCol="0" anchor="t"/>
          <a:lstStyle/>
          <a:p>
            <a:pPr indent="0" marL="0">
              <a:buNone/>
            </a:pPr>
            <a:r>
              <a:rPr lang="en-US" sz="900" b="1" dirty="0">
                <a:solidFill>
                  <a:schemeClr val="accent6"/>
                </a:solidFill>
              </a:rPr>
              <a:t>FOR EXAMPLE</a:t>
            </a:r>
            <a:endParaRPr lang="en-US" sz="900" dirty="0"/>
          </a:p>
        </p:txBody>
      </p:sp>
      <p:sp>
        <p:nvSpPr>
          <p:cNvPr id="11" name="text"/>
          <p:cNvSpPr txBox="1"/>
          <p:nvPr/>
        </p:nvSpPr>
        <p:spPr>
          <a:xfrm>
            <a:off x="685800" y="4114800"/>
            <a:ext cx="1798259" cy="822960"/>
          </a:xfrm>
          <a:prstGeom prst="rect">
            <a:avLst/>
          </a:prstGeom>
          <a:noFill/>
          <a:ln/>
        </p:spPr>
        <p:txBody>
          <a:bodyPr wrap="square" lIns="0" tIns="0" rIns="0" bIns="0" rtlCol="0" anchor="t"/>
          <a:lstStyle/>
          <a:p>
            <a:pPr indent="0" marL="0">
              <a:buNone/>
            </a:pPr>
            <a:r>
              <a:rPr lang="en-US" sz="1050" i="1" dirty="0">
                <a:solidFill>
                  <a:schemeClr val="tx1"/>
                </a:solidFill>
              </a:rPr>
              <a:t>Client, Household &amp; Party Master; Security Master; Account Master</a:t>
            </a:r>
            <a:endParaRPr lang="en-US" sz="1050" dirty="0"/>
          </a:p>
        </p:txBody>
      </p:sp>
      <p:sp>
        <p:nvSpPr>
          <p:cNvPr id="12" name="card"/>
          <p:cNvSpPr/>
          <p:nvPr/>
        </p:nvSpPr>
        <p:spPr>
          <a:xfrm>
            <a:off x="2804099" y="1417320"/>
            <a:ext cx="2072579" cy="3566160"/>
          </a:xfrm>
          <a:prstGeom prst="roundRect">
            <a:avLst>
              <a:gd name="adj" fmla="val 3530"/>
            </a:avLst>
          </a:prstGeom>
          <a:solidFill>
            <a:schemeClr val="bg2"/>
          </a:solidFill>
          <a:ln w="12700">
            <a:solidFill>
              <a:schemeClr val="bg2"/>
            </a:solidFill>
            <a:prstDash val="solid"/>
          </a:ln>
        </p:spPr>
      </p:sp>
      <p:sp>
        <p:nvSpPr>
          <p:cNvPr id="13" name="panel"/>
          <p:cNvSpPr/>
          <p:nvPr/>
        </p:nvSpPr>
        <p:spPr>
          <a:xfrm>
            <a:off x="2804099" y="1417320"/>
            <a:ext cx="2072579" cy="548640"/>
          </a:xfrm>
          <a:prstGeom prst="rect">
            <a:avLst/>
          </a:prstGeom>
          <a:solidFill>
            <a:schemeClr val="accent2"/>
          </a:solidFill>
          <a:ln w="12700">
            <a:solidFill>
              <a:schemeClr val="accent2"/>
            </a:solidFill>
            <a:prstDash val="solid"/>
          </a:ln>
        </p:spPr>
      </p:sp>
      <p:sp>
        <p:nvSpPr>
          <p:cNvPr id="14" name="text"/>
          <p:cNvSpPr txBox="1"/>
          <p:nvPr/>
        </p:nvSpPr>
        <p:spPr>
          <a:xfrm>
            <a:off x="2941259" y="1463040"/>
            <a:ext cx="1798259" cy="457200"/>
          </a:xfrm>
          <a:prstGeom prst="rect">
            <a:avLst/>
          </a:prstGeom>
          <a:noFill/>
          <a:ln/>
        </p:spPr>
        <p:txBody>
          <a:bodyPr wrap="square" lIns="0" tIns="0" rIns="0" bIns="0" rtlCol="0" anchor="ctr"/>
          <a:lstStyle/>
          <a:p>
            <a:pPr indent="0" marL="0">
              <a:buNone/>
            </a:pPr>
            <a:r>
              <a:rPr lang="en-US" sz="1300" b="1" dirty="0">
                <a:solidFill>
                  <a:schemeClr val="bg1"/>
                </a:solidFill>
              </a:rPr>
              <a:t>Conformed Facts</a:t>
            </a:r>
            <a:endParaRPr lang="en-US" sz="1300" dirty="0"/>
          </a:p>
        </p:txBody>
      </p:sp>
      <p:sp>
        <p:nvSpPr>
          <p:cNvPr id="15" name="text"/>
          <p:cNvSpPr txBox="1"/>
          <p:nvPr/>
        </p:nvSpPr>
        <p:spPr>
          <a:xfrm>
            <a:off x="2941259" y="2057400"/>
            <a:ext cx="1798259" cy="548640"/>
          </a:xfrm>
          <a:prstGeom prst="rect">
            <a:avLst/>
          </a:prstGeom>
          <a:noFill/>
          <a:ln/>
        </p:spPr>
        <p:txBody>
          <a:bodyPr wrap="square" lIns="0" tIns="0" rIns="0" bIns="0" rtlCol="0" anchor="t"/>
          <a:lstStyle/>
          <a:p>
            <a:pPr indent="0" marL="0">
              <a:buNone/>
            </a:pPr>
            <a:r>
              <a:rPr lang="en-US" sz="2800" b="1" dirty="0">
                <a:solidFill>
                  <a:schemeClr val="accent2"/>
                </a:solidFill>
              </a:rPr>
              <a:t>26</a:t>
            </a:r>
            <a:endParaRPr lang="en-US" sz="2800" dirty="0"/>
          </a:p>
        </p:txBody>
      </p:sp>
      <p:sp>
        <p:nvSpPr>
          <p:cNvPr id="16" name="text"/>
          <p:cNvSpPr txBox="1"/>
          <p:nvPr/>
        </p:nvSpPr>
        <p:spPr>
          <a:xfrm>
            <a:off x="2941259" y="2606040"/>
            <a:ext cx="1798259" cy="228600"/>
          </a:xfrm>
          <a:prstGeom prst="rect">
            <a:avLst/>
          </a:prstGeom>
          <a:noFill/>
          <a:ln/>
        </p:spPr>
        <p:txBody>
          <a:bodyPr wrap="square" lIns="0" tIns="0" rIns="0" bIns="0" rtlCol="0" anchor="t"/>
          <a:lstStyle/>
          <a:p>
            <a:pPr indent="0" marL="0">
              <a:buNone/>
            </a:pPr>
            <a:r>
              <a:rPr lang="en-US" sz="950" dirty="0">
                <a:solidFill>
                  <a:schemeClr val="accent6"/>
                </a:solidFill>
              </a:rPr>
              <a:t>products</a:t>
            </a:r>
            <a:endParaRPr lang="en-US" sz="950" dirty="0"/>
          </a:p>
        </p:txBody>
      </p:sp>
      <p:sp>
        <p:nvSpPr>
          <p:cNvPr id="17" name="text"/>
          <p:cNvSpPr txBox="1"/>
          <p:nvPr/>
        </p:nvSpPr>
        <p:spPr>
          <a:xfrm>
            <a:off x="2941259" y="2926080"/>
            <a:ext cx="1798259" cy="914400"/>
          </a:xfrm>
          <a:prstGeom prst="rect">
            <a:avLst/>
          </a:prstGeom>
          <a:noFill/>
          <a:ln/>
        </p:spPr>
        <p:txBody>
          <a:bodyPr wrap="square" lIns="0" tIns="0" rIns="0" bIns="0" rtlCol="0" anchor="t"/>
          <a:lstStyle/>
          <a:p>
            <a:pPr indent="0" marL="0">
              <a:buNone/>
            </a:pPr>
            <a:r>
              <a:rPr lang="en-US" sz="1100" dirty="0">
                <a:solidFill>
                  <a:schemeClr val="tx1"/>
                </a:solidFill>
              </a:rPr>
              <a:t>Reconciled, attributed transactions and time series at a defined grain</a:t>
            </a:r>
            <a:endParaRPr lang="en-US" sz="1100" dirty="0"/>
          </a:p>
        </p:txBody>
      </p:sp>
      <p:sp>
        <p:nvSpPr>
          <p:cNvPr id="18" name="text"/>
          <p:cNvSpPr txBox="1"/>
          <p:nvPr/>
        </p:nvSpPr>
        <p:spPr>
          <a:xfrm>
            <a:off x="2941259" y="3886200"/>
            <a:ext cx="1798259" cy="228600"/>
          </a:xfrm>
          <a:prstGeom prst="rect">
            <a:avLst/>
          </a:prstGeom>
          <a:noFill/>
          <a:ln/>
        </p:spPr>
        <p:txBody>
          <a:bodyPr wrap="square" lIns="0" tIns="0" rIns="0" bIns="0" rtlCol="0" anchor="t"/>
          <a:lstStyle/>
          <a:p>
            <a:pPr indent="0" marL="0">
              <a:buNone/>
            </a:pPr>
            <a:r>
              <a:rPr lang="en-US" sz="900" b="1" dirty="0">
                <a:solidFill>
                  <a:schemeClr val="accent6"/>
                </a:solidFill>
              </a:rPr>
              <a:t>FOR EXAMPLE</a:t>
            </a:r>
            <a:endParaRPr lang="en-US" sz="900" dirty="0"/>
          </a:p>
        </p:txBody>
      </p:sp>
      <p:sp>
        <p:nvSpPr>
          <p:cNvPr id="19" name="text"/>
          <p:cNvSpPr txBox="1"/>
          <p:nvPr/>
        </p:nvSpPr>
        <p:spPr>
          <a:xfrm>
            <a:off x="2941259" y="4114800"/>
            <a:ext cx="1798259" cy="822960"/>
          </a:xfrm>
          <a:prstGeom prst="rect">
            <a:avLst/>
          </a:prstGeom>
          <a:noFill/>
          <a:ln/>
        </p:spPr>
        <p:txBody>
          <a:bodyPr wrap="square" lIns="0" tIns="0" rIns="0" bIns="0" rtlCol="0" anchor="t"/>
          <a:lstStyle/>
          <a:p>
            <a:pPr indent="0" marL="0">
              <a:buNone/>
            </a:pPr>
            <a:r>
              <a:rPr lang="en-US" sz="1050" i="1" dirty="0">
                <a:solidFill>
                  <a:schemeClr val="tx1"/>
                </a:solidFill>
              </a:rPr>
              <a:t>Client Flow Transactions; Client Asset Positions; Client Assets &amp; Net New Assets</a:t>
            </a:r>
            <a:endParaRPr lang="en-US" sz="1050" dirty="0"/>
          </a:p>
        </p:txBody>
      </p:sp>
      <p:sp>
        <p:nvSpPr>
          <p:cNvPr id="20" name="card"/>
          <p:cNvSpPr/>
          <p:nvPr/>
        </p:nvSpPr>
        <p:spPr>
          <a:xfrm>
            <a:off x="5059558" y="1417320"/>
            <a:ext cx="2072579" cy="3566160"/>
          </a:xfrm>
          <a:prstGeom prst="roundRect">
            <a:avLst>
              <a:gd name="adj" fmla="val 3530"/>
            </a:avLst>
          </a:prstGeom>
          <a:solidFill>
            <a:schemeClr val="bg2"/>
          </a:solidFill>
          <a:ln w="12700">
            <a:solidFill>
              <a:schemeClr val="bg2"/>
            </a:solidFill>
            <a:prstDash val="solid"/>
          </a:ln>
        </p:spPr>
      </p:sp>
      <p:sp>
        <p:nvSpPr>
          <p:cNvPr id="21" name="panel"/>
          <p:cNvSpPr/>
          <p:nvPr/>
        </p:nvSpPr>
        <p:spPr>
          <a:xfrm>
            <a:off x="5059558" y="1417320"/>
            <a:ext cx="2072579" cy="548640"/>
          </a:xfrm>
          <a:prstGeom prst="rect">
            <a:avLst/>
          </a:prstGeom>
          <a:solidFill>
            <a:schemeClr val="accent5"/>
          </a:solidFill>
          <a:ln w="12700">
            <a:solidFill>
              <a:schemeClr val="accent5"/>
            </a:solidFill>
            <a:prstDash val="solid"/>
          </a:ln>
        </p:spPr>
      </p:sp>
      <p:sp>
        <p:nvSpPr>
          <p:cNvPr id="22" name="text"/>
          <p:cNvSpPr txBox="1"/>
          <p:nvPr/>
        </p:nvSpPr>
        <p:spPr>
          <a:xfrm>
            <a:off x="5196718" y="1463040"/>
            <a:ext cx="1798259" cy="457200"/>
          </a:xfrm>
          <a:prstGeom prst="rect">
            <a:avLst/>
          </a:prstGeom>
          <a:noFill/>
          <a:ln/>
        </p:spPr>
        <p:txBody>
          <a:bodyPr wrap="square" lIns="0" tIns="0" rIns="0" bIns="0" rtlCol="0" anchor="ctr"/>
          <a:lstStyle/>
          <a:p>
            <a:pPr indent="0" marL="0">
              <a:buNone/>
            </a:pPr>
            <a:r>
              <a:rPr lang="en-US" sz="1300" b="1" dirty="0">
                <a:solidFill>
                  <a:schemeClr val="bg1"/>
                </a:solidFill>
              </a:rPr>
              <a:t>Analytical</a:t>
            </a:r>
            <a:endParaRPr lang="en-US" sz="1300" dirty="0"/>
          </a:p>
        </p:txBody>
      </p:sp>
      <p:sp>
        <p:nvSpPr>
          <p:cNvPr id="23" name="text"/>
          <p:cNvSpPr txBox="1"/>
          <p:nvPr/>
        </p:nvSpPr>
        <p:spPr>
          <a:xfrm>
            <a:off x="5196718" y="2057400"/>
            <a:ext cx="1798259" cy="548640"/>
          </a:xfrm>
          <a:prstGeom prst="rect">
            <a:avLst/>
          </a:prstGeom>
          <a:noFill/>
          <a:ln/>
        </p:spPr>
        <p:txBody>
          <a:bodyPr wrap="square" lIns="0" tIns="0" rIns="0" bIns="0" rtlCol="0" anchor="t"/>
          <a:lstStyle/>
          <a:p>
            <a:pPr indent="0" marL="0">
              <a:buNone/>
            </a:pPr>
            <a:r>
              <a:rPr lang="en-US" sz="2800" b="1" dirty="0">
                <a:solidFill>
                  <a:schemeClr val="accent5"/>
                </a:solidFill>
              </a:rPr>
              <a:t>53</a:t>
            </a:r>
            <a:endParaRPr lang="en-US" sz="2800" dirty="0"/>
          </a:p>
        </p:txBody>
      </p:sp>
      <p:sp>
        <p:nvSpPr>
          <p:cNvPr id="24" name="text"/>
          <p:cNvSpPr txBox="1"/>
          <p:nvPr/>
        </p:nvSpPr>
        <p:spPr>
          <a:xfrm>
            <a:off x="5196718" y="2606040"/>
            <a:ext cx="1798259" cy="228600"/>
          </a:xfrm>
          <a:prstGeom prst="rect">
            <a:avLst/>
          </a:prstGeom>
          <a:noFill/>
          <a:ln/>
        </p:spPr>
        <p:txBody>
          <a:bodyPr wrap="square" lIns="0" tIns="0" rIns="0" bIns="0" rtlCol="0" anchor="t"/>
          <a:lstStyle/>
          <a:p>
            <a:pPr indent="0" marL="0">
              <a:buNone/>
            </a:pPr>
            <a:r>
              <a:rPr lang="en-US" sz="950" dirty="0">
                <a:solidFill>
                  <a:schemeClr val="accent6"/>
                </a:solidFill>
              </a:rPr>
              <a:t>products</a:t>
            </a:r>
            <a:endParaRPr lang="en-US" sz="950" dirty="0"/>
          </a:p>
        </p:txBody>
      </p:sp>
      <p:sp>
        <p:nvSpPr>
          <p:cNvPr id="25" name="text"/>
          <p:cNvSpPr txBox="1"/>
          <p:nvPr/>
        </p:nvSpPr>
        <p:spPr>
          <a:xfrm>
            <a:off x="5196718" y="2926080"/>
            <a:ext cx="1798259" cy="914400"/>
          </a:xfrm>
          <a:prstGeom prst="rect">
            <a:avLst/>
          </a:prstGeom>
          <a:noFill/>
          <a:ln/>
        </p:spPr>
        <p:txBody>
          <a:bodyPr wrap="square" lIns="0" tIns="0" rIns="0" bIns="0" rtlCol="0" anchor="t"/>
          <a:lstStyle/>
          <a:p>
            <a:pPr indent="0" marL="0">
              <a:buNone/>
            </a:pPr>
            <a:r>
              <a:rPr lang="en-US" sz="1100" dirty="0">
                <a:solidFill>
                  <a:schemeClr val="tx1"/>
                </a:solidFill>
              </a:rPr>
              <a:t>Aggregated measures, scores and comparisons for management decisions</a:t>
            </a:r>
            <a:endParaRPr lang="en-US" sz="1100" dirty="0"/>
          </a:p>
        </p:txBody>
      </p:sp>
      <p:sp>
        <p:nvSpPr>
          <p:cNvPr id="26" name="text"/>
          <p:cNvSpPr txBox="1"/>
          <p:nvPr/>
        </p:nvSpPr>
        <p:spPr>
          <a:xfrm>
            <a:off x="5196718" y="3886200"/>
            <a:ext cx="1798259" cy="228600"/>
          </a:xfrm>
          <a:prstGeom prst="rect">
            <a:avLst/>
          </a:prstGeom>
          <a:noFill/>
          <a:ln/>
        </p:spPr>
        <p:txBody>
          <a:bodyPr wrap="square" lIns="0" tIns="0" rIns="0" bIns="0" rtlCol="0" anchor="t"/>
          <a:lstStyle/>
          <a:p>
            <a:pPr indent="0" marL="0">
              <a:buNone/>
            </a:pPr>
            <a:r>
              <a:rPr lang="en-US" sz="900" b="1" dirty="0">
                <a:solidFill>
                  <a:schemeClr val="accent6"/>
                </a:solidFill>
              </a:rPr>
              <a:t>FOR EXAMPLE</a:t>
            </a:r>
            <a:endParaRPr lang="en-US" sz="900" dirty="0"/>
          </a:p>
        </p:txBody>
      </p:sp>
      <p:sp>
        <p:nvSpPr>
          <p:cNvPr id="27" name="text"/>
          <p:cNvSpPr txBox="1"/>
          <p:nvPr/>
        </p:nvSpPr>
        <p:spPr>
          <a:xfrm>
            <a:off x="5196718" y="4114800"/>
            <a:ext cx="1798259" cy="822960"/>
          </a:xfrm>
          <a:prstGeom prst="rect">
            <a:avLst/>
          </a:prstGeom>
          <a:noFill/>
          <a:ln/>
        </p:spPr>
        <p:txBody>
          <a:bodyPr wrap="square" lIns="0" tIns="0" rIns="0" bIns="0" rtlCol="0" anchor="t"/>
          <a:lstStyle/>
          <a:p>
            <a:pPr indent="0" marL="0">
              <a:buNone/>
            </a:pPr>
            <a:r>
              <a:rPr lang="en-US" sz="1050" i="1" dirty="0">
                <a:solidFill>
                  <a:schemeClr val="tx1"/>
                </a:solidFill>
              </a:rPr>
              <a:t>Household 360; Advisor practice scorecards; Client Economics</a:t>
            </a:r>
            <a:endParaRPr lang="en-US" sz="1050" dirty="0"/>
          </a:p>
        </p:txBody>
      </p:sp>
      <p:sp>
        <p:nvSpPr>
          <p:cNvPr id="28" name="card"/>
          <p:cNvSpPr/>
          <p:nvPr/>
        </p:nvSpPr>
        <p:spPr>
          <a:xfrm>
            <a:off x="7315017" y="1417320"/>
            <a:ext cx="2072579" cy="3566160"/>
          </a:xfrm>
          <a:prstGeom prst="roundRect">
            <a:avLst>
              <a:gd name="adj" fmla="val 3530"/>
            </a:avLst>
          </a:prstGeom>
          <a:solidFill>
            <a:schemeClr val="bg2"/>
          </a:solidFill>
          <a:ln w="12700">
            <a:solidFill>
              <a:schemeClr val="bg2"/>
            </a:solidFill>
            <a:prstDash val="solid"/>
          </a:ln>
        </p:spPr>
      </p:sp>
      <p:sp>
        <p:nvSpPr>
          <p:cNvPr id="29" name="panel"/>
          <p:cNvSpPr/>
          <p:nvPr/>
        </p:nvSpPr>
        <p:spPr>
          <a:xfrm>
            <a:off x="7315017" y="1417320"/>
            <a:ext cx="2072579" cy="548640"/>
          </a:xfrm>
          <a:prstGeom prst="rect">
            <a:avLst/>
          </a:prstGeom>
          <a:solidFill>
            <a:schemeClr val="accent3"/>
          </a:solidFill>
          <a:ln w="12700">
            <a:solidFill>
              <a:schemeClr val="accent3"/>
            </a:solidFill>
            <a:prstDash val="solid"/>
          </a:ln>
        </p:spPr>
      </p:sp>
      <p:sp>
        <p:nvSpPr>
          <p:cNvPr id="30" name="text"/>
          <p:cNvSpPr txBox="1"/>
          <p:nvPr/>
        </p:nvSpPr>
        <p:spPr>
          <a:xfrm>
            <a:off x="7452177" y="1463040"/>
            <a:ext cx="1798259" cy="457200"/>
          </a:xfrm>
          <a:prstGeom prst="rect">
            <a:avLst/>
          </a:prstGeom>
          <a:noFill/>
          <a:ln/>
        </p:spPr>
        <p:txBody>
          <a:bodyPr wrap="square" lIns="0" tIns="0" rIns="0" bIns="0" rtlCol="0" anchor="ctr"/>
          <a:lstStyle/>
          <a:p>
            <a:pPr indent="0" marL="0">
              <a:buNone/>
            </a:pPr>
            <a:r>
              <a:rPr lang="en-US" sz="1300" b="1" dirty="0">
                <a:solidFill>
                  <a:schemeClr val="bg1"/>
                </a:solidFill>
              </a:rPr>
              <a:t>Operational</a:t>
            </a:r>
            <a:endParaRPr lang="en-US" sz="1300" dirty="0"/>
          </a:p>
        </p:txBody>
      </p:sp>
      <p:sp>
        <p:nvSpPr>
          <p:cNvPr id="31" name="text"/>
          <p:cNvSpPr txBox="1"/>
          <p:nvPr/>
        </p:nvSpPr>
        <p:spPr>
          <a:xfrm>
            <a:off x="7452177" y="2057400"/>
            <a:ext cx="1798259" cy="548640"/>
          </a:xfrm>
          <a:prstGeom prst="rect">
            <a:avLst/>
          </a:prstGeom>
          <a:noFill/>
          <a:ln/>
        </p:spPr>
        <p:txBody>
          <a:bodyPr wrap="square" lIns="0" tIns="0" rIns="0" bIns="0" rtlCol="0" anchor="t"/>
          <a:lstStyle/>
          <a:p>
            <a:pPr indent="0" marL="0">
              <a:buNone/>
            </a:pPr>
            <a:r>
              <a:rPr lang="en-US" sz="2800" b="1" dirty="0">
                <a:solidFill>
                  <a:schemeClr val="accent3"/>
                </a:solidFill>
              </a:rPr>
              <a:t>49</a:t>
            </a:r>
            <a:endParaRPr lang="en-US" sz="2800" dirty="0"/>
          </a:p>
        </p:txBody>
      </p:sp>
      <p:sp>
        <p:nvSpPr>
          <p:cNvPr id="32" name="text"/>
          <p:cNvSpPr txBox="1"/>
          <p:nvPr/>
        </p:nvSpPr>
        <p:spPr>
          <a:xfrm>
            <a:off x="7452177" y="2606040"/>
            <a:ext cx="1798259" cy="228600"/>
          </a:xfrm>
          <a:prstGeom prst="rect">
            <a:avLst/>
          </a:prstGeom>
          <a:noFill/>
          <a:ln/>
        </p:spPr>
        <p:txBody>
          <a:bodyPr wrap="square" lIns="0" tIns="0" rIns="0" bIns="0" rtlCol="0" anchor="t"/>
          <a:lstStyle/>
          <a:p>
            <a:pPr indent="0" marL="0">
              <a:buNone/>
            </a:pPr>
            <a:r>
              <a:rPr lang="en-US" sz="950" dirty="0">
                <a:solidFill>
                  <a:schemeClr val="accent6"/>
                </a:solidFill>
              </a:rPr>
              <a:t>products</a:t>
            </a:r>
            <a:endParaRPr lang="en-US" sz="950" dirty="0"/>
          </a:p>
        </p:txBody>
      </p:sp>
      <p:sp>
        <p:nvSpPr>
          <p:cNvPr id="33" name="text"/>
          <p:cNvSpPr txBox="1"/>
          <p:nvPr/>
        </p:nvSpPr>
        <p:spPr>
          <a:xfrm>
            <a:off x="7452177" y="2926080"/>
            <a:ext cx="1798259" cy="914400"/>
          </a:xfrm>
          <a:prstGeom prst="rect">
            <a:avLst/>
          </a:prstGeom>
          <a:noFill/>
          <a:ln/>
        </p:spPr>
        <p:txBody>
          <a:bodyPr wrap="square" lIns="0" tIns="0" rIns="0" bIns="0" rtlCol="0" anchor="t"/>
          <a:lstStyle/>
          <a:p>
            <a:pPr indent="0" marL="0">
              <a:buNone/>
            </a:pPr>
            <a:r>
              <a:rPr lang="en-US" sz="1100" dirty="0">
                <a:solidFill>
                  <a:schemeClr val="tx1"/>
                </a:solidFill>
              </a:rPr>
              <a:t>Data delivered into a workflow to drive daily action</a:t>
            </a:r>
            <a:endParaRPr lang="en-US" sz="1100" dirty="0"/>
          </a:p>
        </p:txBody>
      </p:sp>
      <p:sp>
        <p:nvSpPr>
          <p:cNvPr id="34" name="text"/>
          <p:cNvSpPr txBox="1"/>
          <p:nvPr/>
        </p:nvSpPr>
        <p:spPr>
          <a:xfrm>
            <a:off x="7452177" y="3886200"/>
            <a:ext cx="1798259" cy="228600"/>
          </a:xfrm>
          <a:prstGeom prst="rect">
            <a:avLst/>
          </a:prstGeom>
          <a:noFill/>
          <a:ln/>
        </p:spPr>
        <p:txBody>
          <a:bodyPr wrap="square" lIns="0" tIns="0" rIns="0" bIns="0" rtlCol="0" anchor="t"/>
          <a:lstStyle/>
          <a:p>
            <a:pPr indent="0" marL="0">
              <a:buNone/>
            </a:pPr>
            <a:r>
              <a:rPr lang="en-US" sz="900" b="1" dirty="0">
                <a:solidFill>
                  <a:schemeClr val="accent6"/>
                </a:solidFill>
              </a:rPr>
              <a:t>FOR EXAMPLE</a:t>
            </a:r>
            <a:endParaRPr lang="en-US" sz="900" dirty="0"/>
          </a:p>
        </p:txBody>
      </p:sp>
      <p:sp>
        <p:nvSpPr>
          <p:cNvPr id="35" name="text"/>
          <p:cNvSpPr txBox="1"/>
          <p:nvPr/>
        </p:nvSpPr>
        <p:spPr>
          <a:xfrm>
            <a:off x="7452177" y="4114800"/>
            <a:ext cx="1798259" cy="822960"/>
          </a:xfrm>
          <a:prstGeom prst="rect">
            <a:avLst/>
          </a:prstGeom>
          <a:noFill/>
          <a:ln/>
        </p:spPr>
        <p:txBody>
          <a:bodyPr wrap="square" lIns="0" tIns="0" rIns="0" bIns="0" rtlCol="0" anchor="t"/>
          <a:lstStyle/>
          <a:p>
            <a:pPr indent="0" marL="0">
              <a:buNone/>
            </a:pPr>
            <a:r>
              <a:rPr lang="en-US" sz="1050" i="1" dirty="0">
                <a:solidFill>
                  <a:schemeClr val="tx1"/>
                </a:solidFill>
              </a:rPr>
              <a:t>Good-order queues; rebalance lists; billing runs; holds; breaks</a:t>
            </a:r>
            <a:endParaRPr lang="en-US" sz="1050" dirty="0"/>
          </a:p>
        </p:txBody>
      </p:sp>
      <p:sp>
        <p:nvSpPr>
          <p:cNvPr id="36" name="card"/>
          <p:cNvSpPr/>
          <p:nvPr/>
        </p:nvSpPr>
        <p:spPr>
          <a:xfrm>
            <a:off x="9570476" y="1417320"/>
            <a:ext cx="2072579" cy="3566160"/>
          </a:xfrm>
          <a:prstGeom prst="roundRect">
            <a:avLst>
              <a:gd name="adj" fmla="val 3530"/>
            </a:avLst>
          </a:prstGeom>
          <a:solidFill>
            <a:schemeClr val="bg2"/>
          </a:solidFill>
          <a:ln w="12700">
            <a:solidFill>
              <a:schemeClr val="bg2"/>
            </a:solidFill>
            <a:prstDash val="solid"/>
          </a:ln>
        </p:spPr>
      </p:sp>
      <p:sp>
        <p:nvSpPr>
          <p:cNvPr id="37" name="panel"/>
          <p:cNvSpPr/>
          <p:nvPr/>
        </p:nvSpPr>
        <p:spPr>
          <a:xfrm>
            <a:off x="9570476" y="1417320"/>
            <a:ext cx="2072579" cy="548640"/>
          </a:xfrm>
          <a:prstGeom prst="rect">
            <a:avLst/>
          </a:prstGeom>
          <a:solidFill>
            <a:schemeClr val="accent4"/>
          </a:solidFill>
          <a:ln w="12700">
            <a:solidFill>
              <a:schemeClr val="accent4"/>
            </a:solidFill>
            <a:prstDash val="solid"/>
          </a:ln>
        </p:spPr>
      </p:sp>
      <p:sp>
        <p:nvSpPr>
          <p:cNvPr id="38" name="text"/>
          <p:cNvSpPr txBox="1"/>
          <p:nvPr/>
        </p:nvSpPr>
        <p:spPr>
          <a:xfrm>
            <a:off x="9707636" y="1463040"/>
            <a:ext cx="1798259" cy="457200"/>
          </a:xfrm>
          <a:prstGeom prst="rect">
            <a:avLst/>
          </a:prstGeom>
          <a:noFill/>
          <a:ln/>
        </p:spPr>
        <p:txBody>
          <a:bodyPr wrap="square" lIns="0" tIns="0" rIns="0" bIns="0" rtlCol="0" anchor="ctr"/>
          <a:lstStyle/>
          <a:p>
            <a:pPr indent="0" marL="0">
              <a:buNone/>
            </a:pPr>
            <a:r>
              <a:rPr lang="en-US" sz="1300" b="1" dirty="0">
                <a:solidFill>
                  <a:schemeClr val="bg1"/>
                </a:solidFill>
              </a:rPr>
              <a:t>Regulatory &amp; Control</a:t>
            </a:r>
            <a:endParaRPr lang="en-US" sz="1300" dirty="0"/>
          </a:p>
        </p:txBody>
      </p:sp>
      <p:sp>
        <p:nvSpPr>
          <p:cNvPr id="39" name="text"/>
          <p:cNvSpPr txBox="1"/>
          <p:nvPr/>
        </p:nvSpPr>
        <p:spPr>
          <a:xfrm>
            <a:off x="9707636" y="2057400"/>
            <a:ext cx="1798259" cy="548640"/>
          </a:xfrm>
          <a:prstGeom prst="rect">
            <a:avLst/>
          </a:prstGeom>
          <a:noFill/>
          <a:ln/>
        </p:spPr>
        <p:txBody>
          <a:bodyPr wrap="square" lIns="0" tIns="0" rIns="0" bIns="0" rtlCol="0" anchor="t"/>
          <a:lstStyle/>
          <a:p>
            <a:pPr indent="0" marL="0">
              <a:buNone/>
            </a:pPr>
            <a:r>
              <a:rPr lang="en-US" sz="2800" b="1" dirty="0">
                <a:solidFill>
                  <a:schemeClr val="accent4"/>
                </a:solidFill>
              </a:rPr>
              <a:t>110</a:t>
            </a:r>
            <a:endParaRPr lang="en-US" sz="2800" dirty="0"/>
          </a:p>
        </p:txBody>
      </p:sp>
      <p:sp>
        <p:nvSpPr>
          <p:cNvPr id="40" name="text"/>
          <p:cNvSpPr txBox="1"/>
          <p:nvPr/>
        </p:nvSpPr>
        <p:spPr>
          <a:xfrm>
            <a:off x="9707636" y="2606040"/>
            <a:ext cx="1798259" cy="228600"/>
          </a:xfrm>
          <a:prstGeom prst="rect">
            <a:avLst/>
          </a:prstGeom>
          <a:noFill/>
          <a:ln/>
        </p:spPr>
        <p:txBody>
          <a:bodyPr wrap="square" lIns="0" tIns="0" rIns="0" bIns="0" rtlCol="0" anchor="t"/>
          <a:lstStyle/>
          <a:p>
            <a:pPr indent="0" marL="0">
              <a:buNone/>
            </a:pPr>
            <a:r>
              <a:rPr lang="en-US" sz="950" dirty="0">
                <a:solidFill>
                  <a:schemeClr val="accent6"/>
                </a:solidFill>
              </a:rPr>
              <a:t>products</a:t>
            </a:r>
            <a:endParaRPr lang="en-US" sz="950" dirty="0"/>
          </a:p>
        </p:txBody>
      </p:sp>
      <p:sp>
        <p:nvSpPr>
          <p:cNvPr id="41" name="text"/>
          <p:cNvSpPr txBox="1"/>
          <p:nvPr/>
        </p:nvSpPr>
        <p:spPr>
          <a:xfrm>
            <a:off x="9707636" y="2926080"/>
            <a:ext cx="1798259" cy="914400"/>
          </a:xfrm>
          <a:prstGeom prst="rect">
            <a:avLst/>
          </a:prstGeom>
          <a:noFill/>
          <a:ln/>
        </p:spPr>
        <p:txBody>
          <a:bodyPr wrap="square" lIns="0" tIns="0" rIns="0" bIns="0" rtlCol="0" anchor="t"/>
          <a:lstStyle/>
          <a:p>
            <a:pPr indent="0" marL="0">
              <a:buNone/>
            </a:pPr>
            <a:r>
              <a:rPr lang="en-US" sz="1100" dirty="0">
                <a:solidFill>
                  <a:schemeClr val="tx1"/>
                </a:solidFill>
              </a:rPr>
              <a:t>Evidence and monitoring that demonstrate compliance or control</a:t>
            </a:r>
            <a:endParaRPr lang="en-US" sz="1100" dirty="0"/>
          </a:p>
        </p:txBody>
      </p:sp>
      <p:sp>
        <p:nvSpPr>
          <p:cNvPr id="42" name="text"/>
          <p:cNvSpPr txBox="1"/>
          <p:nvPr/>
        </p:nvSpPr>
        <p:spPr>
          <a:xfrm>
            <a:off x="9707636" y="3886200"/>
            <a:ext cx="1798259" cy="228600"/>
          </a:xfrm>
          <a:prstGeom prst="rect">
            <a:avLst/>
          </a:prstGeom>
          <a:noFill/>
          <a:ln/>
        </p:spPr>
        <p:txBody>
          <a:bodyPr wrap="square" lIns="0" tIns="0" rIns="0" bIns="0" rtlCol="0" anchor="t"/>
          <a:lstStyle/>
          <a:p>
            <a:pPr indent="0" marL="0">
              <a:buNone/>
            </a:pPr>
            <a:r>
              <a:rPr lang="en-US" sz="900" b="1" dirty="0">
                <a:solidFill>
                  <a:schemeClr val="accent6"/>
                </a:solidFill>
              </a:rPr>
              <a:t>FOR EXAMPLE</a:t>
            </a:r>
            <a:endParaRPr lang="en-US" sz="900" dirty="0"/>
          </a:p>
        </p:txBody>
      </p:sp>
      <p:sp>
        <p:nvSpPr>
          <p:cNvPr id="43" name="text"/>
          <p:cNvSpPr txBox="1"/>
          <p:nvPr/>
        </p:nvSpPr>
        <p:spPr>
          <a:xfrm>
            <a:off x="9707636" y="4114800"/>
            <a:ext cx="1798259" cy="822960"/>
          </a:xfrm>
          <a:prstGeom prst="rect">
            <a:avLst/>
          </a:prstGeom>
          <a:noFill/>
          <a:ln/>
        </p:spPr>
        <p:txBody>
          <a:bodyPr wrap="square" lIns="0" tIns="0" rIns="0" bIns="0" rtlCol="0" anchor="t"/>
          <a:lstStyle/>
          <a:p>
            <a:pPr indent="0" marL="0">
              <a:buNone/>
            </a:pPr>
            <a:r>
              <a:rPr lang="en-US" sz="1050" i="1" dirty="0">
                <a:solidFill>
                  <a:schemeClr val="tx1"/>
                </a:solidFill>
              </a:rPr>
              <a:t>Reg BI file; Rule 15c3-3 reserve pack; PTE 2020-02 rollover evidence</a:t>
            </a:r>
            <a:endParaRPr lang="en-US" sz="1050" dirty="0"/>
          </a:p>
        </p:txBody>
      </p:sp>
      <p:sp>
        <p:nvSpPr>
          <p:cNvPr id="44" name="card"/>
          <p:cNvSpPr/>
          <p:nvPr/>
        </p:nvSpPr>
        <p:spPr>
          <a:xfrm>
            <a:off x="548640" y="5166360"/>
            <a:ext cx="11094415" cy="685800"/>
          </a:xfrm>
          <a:prstGeom prst="roundRect">
            <a:avLst>
              <a:gd name="adj" fmla="val 10667"/>
            </a:avLst>
          </a:prstGeom>
          <a:solidFill>
            <a:schemeClr val="tx2"/>
          </a:solidFill>
          <a:ln w="12700">
            <a:solidFill>
              <a:schemeClr val="tx2"/>
            </a:solidFill>
            <a:prstDash val="solid"/>
          </a:ln>
        </p:spPr>
      </p:sp>
      <p:sp>
        <p:nvSpPr>
          <p:cNvPr id="45" name="text"/>
          <p:cNvSpPr txBox="1"/>
          <p:nvPr/>
        </p:nvSpPr>
        <p:spPr>
          <a:xfrm>
            <a:off x="822960" y="5294376"/>
            <a:ext cx="10545775" cy="429768"/>
          </a:xfrm>
          <a:prstGeom prst="rect">
            <a:avLst/>
          </a:prstGeom>
          <a:noFill/>
          <a:ln/>
        </p:spPr>
        <p:txBody>
          <a:bodyPr wrap="square" lIns="0" tIns="0" rIns="0" bIns="0" rtlCol="0" anchor="ctr"/>
          <a:lstStyle/>
          <a:p>
            <a:pPr indent="0" marL="0">
              <a:buNone/>
            </a:pPr>
            <a:r>
              <a:rPr lang="en-US" sz="1300" dirty="0">
                <a:solidFill>
                  <a:schemeClr val="bg1"/>
                </a:solidFill>
              </a:rPr>
              <a:t>Tier says where a product sits in the dependency order. Type says what it is for. Regulatory &amp; Control is the largest type: retail conduct, customer protection and rollover evidence all live there.</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lineage chain: every number on a dashboard traces to a Data Domain</a:t>
            </a:r>
            <a:endParaRPr lang="en-US" sz="2800" dirty="0"/>
          </a:p>
        </p:txBody>
      </p:sp>
      <p:sp>
        <p:nvSpPr>
          <p:cNvPr id="4" name="card"/>
          <p:cNvSpPr/>
          <p:nvPr/>
        </p:nvSpPr>
        <p:spPr>
          <a:xfrm>
            <a:off x="548640" y="1600200"/>
            <a:ext cx="1920240" cy="1371600"/>
          </a:xfrm>
          <a:prstGeom prst="roundRect">
            <a:avLst>
              <a:gd name="adj" fmla="val 5333"/>
            </a:avLst>
          </a:prstGeom>
          <a:solidFill>
            <a:schemeClr val="accent4"/>
          </a:solidFill>
          <a:ln w="12700">
            <a:solidFill>
              <a:schemeClr val="accent4"/>
            </a:solidFill>
            <a:prstDash val="solid"/>
          </a:ln>
        </p:spPr>
      </p:sp>
      <p:sp>
        <p:nvSpPr>
          <p:cNvPr id="5" name="text"/>
          <p:cNvSpPr txBox="1"/>
          <p:nvPr/>
        </p:nvSpPr>
        <p:spPr>
          <a:xfrm>
            <a:off x="685800" y="1691640"/>
            <a:ext cx="1645920" cy="502920"/>
          </a:xfrm>
          <a:prstGeom prst="rect">
            <a:avLst/>
          </a:prstGeom>
          <a:noFill/>
          <a:ln/>
        </p:spPr>
        <p:txBody>
          <a:bodyPr wrap="square" lIns="0" tIns="0" rIns="0" bIns="0" rtlCol="0" anchor="t"/>
          <a:lstStyle/>
          <a:p>
            <a:pPr indent="0" marL="0">
              <a:buNone/>
            </a:pPr>
            <a:r>
              <a:rPr lang="en-US" sz="1300" b="1" dirty="0">
                <a:solidFill>
                  <a:schemeClr val="bg1"/>
                </a:solidFill>
              </a:rPr>
              <a:t>Metric</a:t>
            </a:r>
            <a:endParaRPr lang="en-US" sz="1300" dirty="0"/>
          </a:p>
        </p:txBody>
      </p:sp>
      <p:sp>
        <p:nvSpPr>
          <p:cNvPr id="6" name="text"/>
          <p:cNvSpPr txBox="1"/>
          <p:nvPr/>
        </p:nvSpPr>
        <p:spPr>
          <a:xfrm>
            <a:off x="685800" y="2221992"/>
            <a:ext cx="1645920" cy="713232"/>
          </a:xfrm>
          <a:prstGeom prst="rect">
            <a:avLst/>
          </a:prstGeom>
          <a:noFill/>
          <a:ln/>
        </p:spPr>
        <p:txBody>
          <a:bodyPr wrap="square" lIns="0" tIns="0" rIns="0" bIns="0" rtlCol="0" anchor="t"/>
          <a:lstStyle/>
          <a:p>
            <a:pPr indent="0" marL="0">
              <a:buNone/>
            </a:pPr>
            <a:r>
              <a:rPr lang="en-US" sz="1050" dirty="0">
                <a:solidFill>
                  <a:schemeClr val="bg1"/>
                </a:solidFill>
              </a:rPr>
              <a:t>in a semantic model; restates a measure as an aggregation rule</a:t>
            </a:r>
            <a:endParaRPr lang="en-US" sz="1050" dirty="0"/>
          </a:p>
        </p:txBody>
      </p:sp>
      <p:sp>
        <p:nvSpPr>
          <p:cNvPr id="7" name="arrow"/>
          <p:cNvSpPr/>
          <p:nvPr/>
        </p:nvSpPr>
        <p:spPr>
          <a:xfrm>
            <a:off x="2514600" y="2148840"/>
            <a:ext cx="281864" cy="274320"/>
          </a:xfrm>
          <a:prstGeom prst="rightArrow">
            <a:avLst/>
          </a:prstGeom>
          <a:solidFill>
            <a:schemeClr val="accent6"/>
          </a:solidFill>
          <a:ln w="12700">
            <a:solidFill>
              <a:schemeClr val="accent6"/>
            </a:solidFill>
            <a:prstDash val="solid"/>
          </a:ln>
        </p:spPr>
      </p:sp>
      <p:sp>
        <p:nvSpPr>
          <p:cNvPr id="8" name="card"/>
          <p:cNvSpPr/>
          <p:nvPr/>
        </p:nvSpPr>
        <p:spPr>
          <a:xfrm>
            <a:off x="2842184" y="1600200"/>
            <a:ext cx="1920240" cy="1371600"/>
          </a:xfrm>
          <a:prstGeom prst="roundRect">
            <a:avLst>
              <a:gd name="adj" fmla="val 5333"/>
            </a:avLst>
          </a:prstGeom>
          <a:solidFill>
            <a:schemeClr val="accent5"/>
          </a:solidFill>
          <a:ln w="12700">
            <a:solidFill>
              <a:schemeClr val="accent5"/>
            </a:solidFill>
            <a:prstDash val="solid"/>
          </a:ln>
        </p:spPr>
      </p:sp>
      <p:sp>
        <p:nvSpPr>
          <p:cNvPr id="9" name="text"/>
          <p:cNvSpPr txBox="1"/>
          <p:nvPr/>
        </p:nvSpPr>
        <p:spPr>
          <a:xfrm>
            <a:off x="2979344" y="1691640"/>
            <a:ext cx="1645920" cy="502920"/>
          </a:xfrm>
          <a:prstGeom prst="rect">
            <a:avLst/>
          </a:prstGeom>
          <a:noFill/>
          <a:ln/>
        </p:spPr>
        <p:txBody>
          <a:bodyPr wrap="square" lIns="0" tIns="0" rIns="0" bIns="0" rtlCol="0" anchor="t"/>
          <a:lstStyle/>
          <a:p>
            <a:pPr indent="0" marL="0">
              <a:buNone/>
            </a:pPr>
            <a:r>
              <a:rPr lang="en-US" sz="1300" b="1" dirty="0">
                <a:solidFill>
                  <a:schemeClr val="bg1"/>
                </a:solidFill>
              </a:rPr>
              <a:t>Measure</a:t>
            </a:r>
            <a:endParaRPr lang="en-US" sz="1300" dirty="0"/>
          </a:p>
        </p:txBody>
      </p:sp>
      <p:sp>
        <p:nvSpPr>
          <p:cNvPr id="10" name="text"/>
          <p:cNvSpPr txBox="1"/>
          <p:nvPr/>
        </p:nvSpPr>
        <p:spPr>
          <a:xfrm>
            <a:off x="2979344" y="2221992"/>
            <a:ext cx="1645920" cy="713232"/>
          </a:xfrm>
          <a:prstGeom prst="rect">
            <a:avLst/>
          </a:prstGeom>
          <a:noFill/>
          <a:ln/>
        </p:spPr>
        <p:txBody>
          <a:bodyPr wrap="square" lIns="0" tIns="0" rIns="0" bIns="0" rtlCol="0" anchor="t"/>
          <a:lstStyle/>
          <a:p>
            <a:pPr indent="0" marL="0">
              <a:buNone/>
            </a:pPr>
            <a:r>
              <a:rPr lang="en-US" sz="1050" dirty="0">
                <a:solidFill>
                  <a:schemeClr val="bg1"/>
                </a:solidFill>
              </a:rPr>
              <a:t>of a product; an explicit formula and a uses list</a:t>
            </a:r>
            <a:endParaRPr lang="en-US" sz="1050" dirty="0"/>
          </a:p>
        </p:txBody>
      </p:sp>
      <p:sp>
        <p:nvSpPr>
          <p:cNvPr id="11" name="arrow"/>
          <p:cNvSpPr/>
          <p:nvPr/>
        </p:nvSpPr>
        <p:spPr>
          <a:xfrm>
            <a:off x="4808144" y="2148840"/>
            <a:ext cx="281864" cy="274320"/>
          </a:xfrm>
          <a:prstGeom prst="rightArrow">
            <a:avLst/>
          </a:prstGeom>
          <a:solidFill>
            <a:schemeClr val="accent6"/>
          </a:solidFill>
          <a:ln w="12700">
            <a:solidFill>
              <a:schemeClr val="accent6"/>
            </a:solidFill>
            <a:prstDash val="solid"/>
          </a:ln>
        </p:spPr>
      </p:sp>
      <p:sp>
        <p:nvSpPr>
          <p:cNvPr id="12" name="card"/>
          <p:cNvSpPr/>
          <p:nvPr/>
        </p:nvSpPr>
        <p:spPr>
          <a:xfrm>
            <a:off x="5135728" y="1600200"/>
            <a:ext cx="1920240" cy="1371600"/>
          </a:xfrm>
          <a:prstGeom prst="roundRect">
            <a:avLst>
              <a:gd name="adj" fmla="val 5333"/>
            </a:avLst>
          </a:prstGeom>
          <a:solidFill>
            <a:schemeClr val="accent2"/>
          </a:solidFill>
          <a:ln w="12700">
            <a:solidFill>
              <a:schemeClr val="accent2"/>
            </a:solidFill>
            <a:prstDash val="solid"/>
          </a:ln>
        </p:spPr>
      </p:sp>
      <p:sp>
        <p:nvSpPr>
          <p:cNvPr id="13" name="text"/>
          <p:cNvSpPr txBox="1"/>
          <p:nvPr/>
        </p:nvSpPr>
        <p:spPr>
          <a:xfrm>
            <a:off x="5272888" y="1691640"/>
            <a:ext cx="1645920" cy="502920"/>
          </a:xfrm>
          <a:prstGeom prst="rect">
            <a:avLst/>
          </a:prstGeom>
          <a:noFill/>
          <a:ln/>
        </p:spPr>
        <p:txBody>
          <a:bodyPr wrap="square" lIns="0" tIns="0" rIns="0" bIns="0" rtlCol="0" anchor="t"/>
          <a:lstStyle/>
          <a:p>
            <a:pPr indent="0" marL="0">
              <a:buNone/>
            </a:pPr>
            <a:r>
              <a:rPr lang="en-US" sz="1300" b="1" dirty="0">
                <a:solidFill>
                  <a:schemeClr val="bg1"/>
                </a:solidFill>
              </a:rPr>
              <a:t>Uses</a:t>
            </a:r>
            <a:endParaRPr lang="en-US" sz="1300" dirty="0"/>
          </a:p>
        </p:txBody>
      </p:sp>
      <p:sp>
        <p:nvSpPr>
          <p:cNvPr id="14" name="text"/>
          <p:cNvSpPr txBox="1"/>
          <p:nvPr/>
        </p:nvSpPr>
        <p:spPr>
          <a:xfrm>
            <a:off x="5272888" y="2221992"/>
            <a:ext cx="1645920" cy="713232"/>
          </a:xfrm>
          <a:prstGeom prst="rect">
            <a:avLst/>
          </a:prstGeom>
          <a:noFill/>
          <a:ln/>
        </p:spPr>
        <p:txBody>
          <a:bodyPr wrap="square" lIns="0" tIns="0" rIns="0" bIns="0" rtlCol="0" anchor="t"/>
          <a:lstStyle/>
          <a:p>
            <a:pPr indent="0" marL="0">
              <a:buNone/>
            </a:pPr>
            <a:r>
              <a:rPr lang="en-US" sz="1050" dirty="0">
                <a:solidFill>
                  <a:schemeClr val="bg1"/>
                </a:solidFill>
              </a:rPr>
              <a:t>the attributes the formula reads; each must be in inputs</a:t>
            </a:r>
            <a:endParaRPr lang="en-US" sz="1050" dirty="0"/>
          </a:p>
        </p:txBody>
      </p:sp>
      <p:sp>
        <p:nvSpPr>
          <p:cNvPr id="15" name="arrow"/>
          <p:cNvSpPr/>
          <p:nvPr/>
        </p:nvSpPr>
        <p:spPr>
          <a:xfrm>
            <a:off x="7101688" y="2148840"/>
            <a:ext cx="281864" cy="274320"/>
          </a:xfrm>
          <a:prstGeom prst="rightArrow">
            <a:avLst/>
          </a:prstGeom>
          <a:solidFill>
            <a:schemeClr val="accent6"/>
          </a:solidFill>
          <a:ln w="12700">
            <a:solidFill>
              <a:schemeClr val="accent6"/>
            </a:solidFill>
            <a:prstDash val="solid"/>
          </a:ln>
        </p:spPr>
      </p:sp>
      <p:sp>
        <p:nvSpPr>
          <p:cNvPr id="16" name="card"/>
          <p:cNvSpPr/>
          <p:nvPr/>
        </p:nvSpPr>
        <p:spPr>
          <a:xfrm>
            <a:off x="7429271" y="1600200"/>
            <a:ext cx="1920240" cy="1371600"/>
          </a:xfrm>
          <a:prstGeom prst="roundRect">
            <a:avLst>
              <a:gd name="adj" fmla="val 5333"/>
            </a:avLst>
          </a:prstGeom>
          <a:solidFill>
            <a:schemeClr val="accent1"/>
          </a:solidFill>
          <a:ln w="12700">
            <a:solidFill>
              <a:schemeClr val="accent1"/>
            </a:solidFill>
            <a:prstDash val="solid"/>
          </a:ln>
        </p:spPr>
      </p:sp>
      <p:sp>
        <p:nvSpPr>
          <p:cNvPr id="17" name="text"/>
          <p:cNvSpPr txBox="1"/>
          <p:nvPr/>
        </p:nvSpPr>
        <p:spPr>
          <a:xfrm>
            <a:off x="7566431" y="1691640"/>
            <a:ext cx="1645920" cy="502920"/>
          </a:xfrm>
          <a:prstGeom prst="rect">
            <a:avLst/>
          </a:prstGeom>
          <a:noFill/>
          <a:ln/>
        </p:spPr>
        <p:txBody>
          <a:bodyPr wrap="square" lIns="0" tIns="0" rIns="0" bIns="0" rtlCol="0" anchor="t"/>
          <a:lstStyle/>
          <a:p>
            <a:pPr indent="0" marL="0">
              <a:buNone/>
            </a:pPr>
            <a:r>
              <a:rPr lang="en-US" sz="1300" b="1" dirty="0">
                <a:solidFill>
                  <a:schemeClr val="bg1"/>
                </a:solidFill>
              </a:rPr>
              <a:t>Inputs</a:t>
            </a:r>
            <a:endParaRPr lang="en-US" sz="1300" dirty="0"/>
          </a:p>
        </p:txBody>
      </p:sp>
      <p:sp>
        <p:nvSpPr>
          <p:cNvPr id="18" name="text"/>
          <p:cNvSpPr txBox="1"/>
          <p:nvPr/>
        </p:nvSpPr>
        <p:spPr>
          <a:xfrm>
            <a:off x="7566431" y="2221992"/>
            <a:ext cx="1645920" cy="713232"/>
          </a:xfrm>
          <a:prstGeom prst="rect">
            <a:avLst/>
          </a:prstGeom>
          <a:noFill/>
          <a:ln/>
        </p:spPr>
        <p:txBody>
          <a:bodyPr wrap="square" lIns="0" tIns="0" rIns="0" bIns="0" rtlCol="0" anchor="t"/>
          <a:lstStyle/>
          <a:p>
            <a:pPr indent="0" marL="0">
              <a:buNone/>
            </a:pPr>
            <a:r>
              <a:rPr lang="en-US" sz="1050" dirty="0">
                <a:solidFill>
                  <a:schemeClr val="bg1"/>
                </a:solidFill>
              </a:rPr>
              <a:t>exact taxonomy objects and attributes the product reads</a:t>
            </a:r>
            <a:endParaRPr lang="en-US" sz="1050" dirty="0"/>
          </a:p>
        </p:txBody>
      </p:sp>
      <p:sp>
        <p:nvSpPr>
          <p:cNvPr id="19" name="arrow"/>
          <p:cNvSpPr/>
          <p:nvPr/>
        </p:nvSpPr>
        <p:spPr>
          <a:xfrm>
            <a:off x="9395231" y="2148840"/>
            <a:ext cx="281864" cy="274320"/>
          </a:xfrm>
          <a:prstGeom prst="rightArrow">
            <a:avLst/>
          </a:prstGeom>
          <a:solidFill>
            <a:schemeClr val="accent6"/>
          </a:solidFill>
          <a:ln w="12700">
            <a:solidFill>
              <a:schemeClr val="accent6"/>
            </a:solidFill>
            <a:prstDash val="solid"/>
          </a:ln>
        </p:spPr>
      </p:sp>
      <p:sp>
        <p:nvSpPr>
          <p:cNvPr id="20" name="card"/>
          <p:cNvSpPr/>
          <p:nvPr/>
        </p:nvSpPr>
        <p:spPr>
          <a:xfrm>
            <a:off x="9722815" y="1600200"/>
            <a:ext cx="1920240" cy="1371600"/>
          </a:xfrm>
          <a:prstGeom prst="roundRect">
            <a:avLst>
              <a:gd name="adj" fmla="val 5333"/>
            </a:avLst>
          </a:prstGeom>
          <a:solidFill>
            <a:schemeClr val="accent3"/>
          </a:solidFill>
          <a:ln w="12700">
            <a:solidFill>
              <a:schemeClr val="accent3"/>
            </a:solidFill>
            <a:prstDash val="solid"/>
          </a:ln>
        </p:spPr>
      </p:sp>
      <p:sp>
        <p:nvSpPr>
          <p:cNvPr id="21" name="text"/>
          <p:cNvSpPr txBox="1"/>
          <p:nvPr/>
        </p:nvSpPr>
        <p:spPr>
          <a:xfrm>
            <a:off x="9859975" y="1691640"/>
            <a:ext cx="1645920" cy="502920"/>
          </a:xfrm>
          <a:prstGeom prst="rect">
            <a:avLst/>
          </a:prstGeom>
          <a:noFill/>
          <a:ln/>
        </p:spPr>
        <p:txBody>
          <a:bodyPr wrap="square" lIns="0" tIns="0" rIns="0" bIns="0" rtlCol="0" anchor="t"/>
          <a:lstStyle/>
          <a:p>
            <a:pPr indent="0" marL="0">
              <a:buNone/>
            </a:pPr>
            <a:r>
              <a:rPr lang="en-US" sz="1300" b="1" dirty="0">
                <a:solidFill>
                  <a:schemeClr val="bg1"/>
                </a:solidFill>
              </a:rPr>
              <a:t>Taxonomy attribute</a:t>
            </a:r>
            <a:endParaRPr lang="en-US" sz="1300" dirty="0"/>
          </a:p>
        </p:txBody>
      </p:sp>
      <p:sp>
        <p:nvSpPr>
          <p:cNvPr id="22" name="text"/>
          <p:cNvSpPr txBox="1"/>
          <p:nvPr/>
        </p:nvSpPr>
        <p:spPr>
          <a:xfrm>
            <a:off x="9859975" y="2221992"/>
            <a:ext cx="1645920" cy="713232"/>
          </a:xfrm>
          <a:prstGeom prst="rect">
            <a:avLst/>
          </a:prstGeom>
          <a:noFill/>
          <a:ln/>
        </p:spPr>
        <p:txBody>
          <a:bodyPr wrap="square" lIns="0" tIns="0" rIns="0" bIns="0" rtlCol="0" anchor="t"/>
          <a:lstStyle/>
          <a:p>
            <a:pPr indent="0" marL="0">
              <a:buNone/>
            </a:pPr>
            <a:r>
              <a:rPr lang="en-US" sz="1050" dirty="0">
                <a:solidFill>
                  <a:schemeClr val="bg1"/>
                </a:solidFill>
              </a:rPr>
              <a:t>one object, one Data Domain, one owner</a:t>
            </a:r>
            <a:endParaRPr lang="en-US" sz="1050" dirty="0"/>
          </a:p>
        </p:txBody>
      </p:sp>
      <p:sp>
        <p:nvSpPr>
          <p:cNvPr id="23" name="text"/>
          <p:cNvSpPr txBox="1"/>
          <p:nvPr/>
        </p:nvSpPr>
        <p:spPr>
          <a:xfrm>
            <a:off x="548640" y="3291840"/>
            <a:ext cx="11094415" cy="274320"/>
          </a:xfrm>
          <a:prstGeom prst="rect">
            <a:avLst/>
          </a:prstGeom>
          <a:noFill/>
          <a:ln/>
        </p:spPr>
        <p:txBody>
          <a:bodyPr wrap="square" lIns="0" tIns="0" rIns="0" bIns="0" rtlCol="0" anchor="t"/>
          <a:lstStyle/>
          <a:p>
            <a:pPr indent="0" marL="0">
              <a:buNone/>
            </a:pPr>
            <a:r>
              <a:rPr lang="en-US" sz="1050" b="1" spc="100" kern="0" dirty="0">
                <a:solidFill>
                  <a:schemeClr val="accent6"/>
                </a:solidFill>
              </a:rPr>
              <a:t>ONE FIGURE, FOLLOWED DOWN THE CHAIN</a:t>
            </a:r>
            <a:endParaRPr lang="en-US" sz="1050" dirty="0"/>
          </a:p>
        </p:txBody>
      </p:sp>
      <p:graphicFrame>
        <p:nvGraphicFramePr>
          <p:cNvPr id="8" name="table"/>
          <p:cNvGraphicFramePr>
            <a:graphicFrameLocks noGrp="1"/>
          </p:cNvGraphicFramePr>
          <p:nvPr>
            <p:extLst>
              <p:ext uri="{D42A27DB-BD31-4B8C-83A1-F6EECF244321}">
                <p14:modId xmlns:p14="http://schemas.microsoft.com/office/powerpoint/2010/main" val="1579011935"/>
              </p:ext>
            </p:extLst>
          </p:nvPr>
        </p:nvGraphicFramePr>
        <p:xfrm>
          <a:off x="548640" y="3611880"/>
          <a:ext cx="11094415" cy="914400"/>
        </p:xfrm>
        <a:graphic>
          <a:graphicData uri="http://schemas.openxmlformats.org/drawingml/2006/table">
            <a:tbl>
              <a:tblPr/>
              <a:tblGrid>
                <a:gridCol w="1645920"/>
                <a:gridCol w="5852160"/>
                <a:gridCol w="3593592"/>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Link</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For Net New Assets</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Checked by</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Metric</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Net New Assets in SM-20 Client Assets &amp; Flows: the sum of the DP-008 measure over the period, by channel, advisor and campaign</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The semantic model validator: a metric must name a product measure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Measure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DP-008 Net New Assets: client asset flows of the period after the Flow Treatment Rule excludes the rows it names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The product validator: a measure must have a formula and a non-empty uses list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Uses and inputs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06 Flow Measures (Client Asset Flow Amount), 06 Flow Treatment Rule, 06 Account Channel Assignment, among the product's 40 input objects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The product validator: every use is in inputs; every input resolves to the taxonomy by exact name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Taxonomy attribute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06 Sales Transactions &amp; AUM Attribution owns Flow Measures and Flow Treatment Rule; its owner rules on what counts as a flow</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The taxonomy: one Data Domain masters each object; the owner is named</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bl>
          </a:graphicData>
        </a:graphic>
      </p:graphicFrame>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Certified numbers: defined in one product only, read by every other</a:t>
            </a:r>
            <a:endParaRPr lang="en-US" sz="2800" dirty="0"/>
          </a:p>
        </p:txBody>
      </p:sp>
      <p:graphicFrame>
        <p:nvGraphicFramePr>
          <p:cNvPr id="9" name="table"/>
          <p:cNvGraphicFramePr>
            <a:graphicFrameLocks noGrp="1"/>
          </p:cNvGraphicFramePr>
          <p:nvPr>
            <p:extLst>
              <p:ext uri="{D42A27DB-BD31-4B8C-83A1-F6EECF244321}">
                <p14:modId xmlns:p14="http://schemas.microsoft.com/office/powerpoint/2010/main" val="1579011935"/>
              </p:ext>
            </p:extLst>
          </p:nvPr>
        </p:nvGraphicFramePr>
        <p:xfrm>
          <a:off x="548640" y="1417320"/>
          <a:ext cx="7589520" cy="914400"/>
        </p:xfrm>
        <a:graphic>
          <a:graphicData uri="http://schemas.openxmlformats.org/drawingml/2006/table">
            <a:tbl>
              <a:tblPr/>
              <a:tblGrid>
                <a:gridCol w="3566160"/>
                <a:gridCol w="1920240"/>
                <a:gridCol w="1463040"/>
                <a:gridCol w="640080"/>
              </a:tblGrid>
              <a:tr h="0">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Certified family</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Defined in</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Owner</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c>
                  <a:txBody>
                    <a:bodyPr/>
                    <a:lstStyle/>
                    <a:p>
                      <a:pPr algn="l" indent="0" marL="0">
                        <a:buNone/>
                      </a:pPr>
                      <a:r>
                        <a:rPr lang="en-US" sz="1050" b="1" dirty="0">
                          <a:solidFill>
                            <a:srgbClr val="FFFFFF"/>
                          </a:solidFill>
                          <a:latin typeface="Arial" pitchFamily="34" charset="0"/>
                          <a:ea typeface="Arial" pitchFamily="34" charset="-122"/>
                          <a:cs typeface="Arial" pitchFamily="34" charset="-120"/>
                        </a:rPr>
                        <a:t>Published by</a:t>
                      </a:r>
                      <a:endParaRPr lang="en-US" sz="1050" dirty="0">
                        <a:latin typeface="Arial" charset="0"/>
                        <a:ea typeface="Arial" charset="0"/>
                        <a:cs typeface="Arial" charset="0"/>
                      </a:endParaRPr>
                    </a:p>
                  </a:txBody>
                  <a:tcPr marL="54864" marR="54864" marT="54864" marB="54864" anchor="ctr">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0C233C"/>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Client Assets (beginning, ending, average); Net New Assets; Advised Assets; Client Organic Growth Rate; Funded Accounts, Clients and Households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DP-008 Client Assets &amp; Net New Assets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Head of Client &amp; Channel Analytics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SM-20</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Firm AUM and its three slices: own funds at NAV, managed accounts, institutional and OCIO</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DP-241 Firm AUM &amp; Client Assets Reconciliation</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Head of Fund Accounting</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SM-11</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Personal Rate of Return (time-weighted and money-weighted, at account and household grain); official and benchmark returns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DP-145 Official Returns</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Head of Performance Measurement</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SM-08</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FFFFFF"/>
                    </a:solidFill>
                  </a:tcPr>
                </a:tc>
              </a:tr>
              <a:tr h="0">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Client fee revenue: Gross Fee Revenue, Net Fee Revenue, Effective Net Fee Rate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DP-012 Client Fee Revenue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Head of Client Revenue Finance</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c>
                  <a:txBody>
                    <a:bodyPr/>
                    <a:lstStyle/>
                    <a:p>
                      <a:pPr algn="l" indent="0" marL="0">
                        <a:buNone/>
                      </a:pPr>
                      <a:r>
                        <a:rPr lang="en-US" sz="1050" dirty="0">
                          <a:solidFill>
                            <a:srgbClr val="1A2B3C"/>
                          </a:solidFill>
                          <a:latin typeface="Arial" pitchFamily="34" charset="0"/>
                          <a:ea typeface="Arial" pitchFamily="34" charset="-122"/>
                          <a:cs typeface="Arial" pitchFamily="34" charset="-120"/>
                        </a:rPr>
                        <a:t>SM-28</a:t>
                      </a:r>
                      <a:endParaRPr lang="en-US" sz="1050" dirty="0">
                        <a:latin typeface="Arial" charset="0"/>
                        <a:ea typeface="Arial" charset="0"/>
                        <a:cs typeface="Arial" charset="0"/>
                      </a:endParaRPr>
                    </a:p>
                  </a:txBody>
                  <a:tcPr marL="54864" marR="54864" marT="54864" marB="54864" anchor="t">
                    <a:lnL w="6350" cap="flat" cmpd="sng" algn="ctr">
                      <a:solidFill>
                        <a:srgbClr val="D5DBE7"/>
                      </a:solidFill>
                      <a:prstDash val="solid"/>
                      <a:round/>
                      <a:headEnd type="none" w="med" len="med"/>
                      <a:tailEnd type="none" w="med" len="med"/>
                    </a:lnL>
                    <a:lnR w="6350" cap="flat" cmpd="sng" algn="ctr">
                      <a:solidFill>
                        <a:srgbClr val="D5DBE7"/>
                      </a:solidFill>
                      <a:prstDash val="solid"/>
                      <a:round/>
                      <a:headEnd type="none" w="med" len="med"/>
                      <a:tailEnd type="none" w="med" len="med"/>
                    </a:lnR>
                    <a:lnT w="6350" cap="flat" cmpd="sng" algn="ctr">
                      <a:solidFill>
                        <a:srgbClr val="D5DBE7"/>
                      </a:solidFill>
                      <a:prstDash val="solid"/>
                      <a:round/>
                      <a:headEnd type="none" w="med" len="med"/>
                      <a:tailEnd type="none" w="med" len="med"/>
                    </a:lnT>
                    <a:lnB w="6350" cap="flat" cmpd="sng" algn="ctr">
                      <a:solidFill>
                        <a:srgbClr val="D5DBE7"/>
                      </a:solidFill>
                      <a:prstDash val="solid"/>
                      <a:round/>
                      <a:headEnd type="none" w="med" len="med"/>
                      <a:tailEnd type="none" w="med" len="med"/>
                    </a:lnB>
                    <a:solidFill>
                      <a:srgbClr val="EEF1F8"/>
                    </a:solidFill>
                  </a:tcPr>
                </a:tc>
              </a:tr>
            </a:tbl>
          </a:graphicData>
        </a:graphic>
      </p:graphicFrame>
      <p:sp>
        <p:nvSpPr>
          <p:cNvPr id="5" name="text"/>
          <p:cNvSpPr txBox="1"/>
          <p:nvPr/>
        </p:nvSpPr>
        <p:spPr>
          <a:xfrm>
            <a:off x="8503920" y="1417320"/>
            <a:ext cx="1463040" cy="548640"/>
          </a:xfrm>
          <a:prstGeom prst="rect">
            <a:avLst/>
          </a:prstGeom>
          <a:noFill/>
          <a:ln/>
        </p:spPr>
        <p:txBody>
          <a:bodyPr wrap="square" lIns="0" tIns="0" rIns="0" bIns="0" rtlCol="0" anchor="t"/>
          <a:lstStyle/>
          <a:p>
            <a:pPr indent="0" marL="0">
              <a:buNone/>
            </a:pPr>
            <a:r>
              <a:rPr lang="en-US" sz="2800" b="1" dirty="0">
                <a:solidFill>
                  <a:schemeClr val="accent1"/>
                </a:solidFill>
              </a:rPr>
              <a:t>44</a:t>
            </a:r>
            <a:endParaRPr lang="en-US" sz="2800" dirty="0"/>
          </a:p>
        </p:txBody>
      </p:sp>
      <p:sp>
        <p:nvSpPr>
          <p:cNvPr id="6" name="text"/>
          <p:cNvSpPr txBox="1"/>
          <p:nvPr/>
        </p:nvSpPr>
        <p:spPr>
          <a:xfrm>
            <a:off x="8503920" y="1965960"/>
            <a:ext cx="1463040" cy="548640"/>
          </a:xfrm>
          <a:prstGeom prst="rect">
            <a:avLst/>
          </a:prstGeom>
          <a:noFill/>
          <a:ln/>
        </p:spPr>
        <p:txBody>
          <a:bodyPr wrap="square" lIns="0" tIns="0" rIns="0" bIns="0" rtlCol="0" anchor="t"/>
          <a:lstStyle/>
          <a:p>
            <a:pPr indent="0" marL="0">
              <a:buNone/>
            </a:pPr>
            <a:r>
              <a:rPr lang="en-US" sz="1050" dirty="0">
                <a:solidFill>
                  <a:schemeClr val="accent6"/>
                </a:solidFill>
              </a:rPr>
              <a:t>certified metrics</a:t>
            </a:r>
            <a:endParaRPr lang="en-US" sz="1050" dirty="0"/>
          </a:p>
        </p:txBody>
      </p:sp>
      <p:sp>
        <p:nvSpPr>
          <p:cNvPr id="7" name="text"/>
          <p:cNvSpPr txBox="1"/>
          <p:nvPr/>
        </p:nvSpPr>
        <p:spPr>
          <a:xfrm>
            <a:off x="10149840" y="1417320"/>
            <a:ext cx="1463040" cy="548640"/>
          </a:xfrm>
          <a:prstGeom prst="rect">
            <a:avLst/>
          </a:prstGeom>
          <a:noFill/>
          <a:ln/>
        </p:spPr>
        <p:txBody>
          <a:bodyPr wrap="square" lIns="0" tIns="0" rIns="0" bIns="0" rtlCol="0" anchor="t"/>
          <a:lstStyle/>
          <a:p>
            <a:pPr indent="0" marL="0">
              <a:buNone/>
            </a:pPr>
            <a:r>
              <a:rPr lang="en-US" sz="2800" b="1" dirty="0">
                <a:solidFill>
                  <a:schemeClr val="accent5"/>
                </a:solidFill>
              </a:rPr>
              <a:t>11</a:t>
            </a:r>
            <a:endParaRPr lang="en-US" sz="2800" dirty="0"/>
          </a:p>
        </p:txBody>
      </p:sp>
      <p:sp>
        <p:nvSpPr>
          <p:cNvPr id="8" name="text"/>
          <p:cNvSpPr txBox="1"/>
          <p:nvPr/>
        </p:nvSpPr>
        <p:spPr>
          <a:xfrm>
            <a:off x="10149840" y="1965960"/>
            <a:ext cx="1463040" cy="548640"/>
          </a:xfrm>
          <a:prstGeom prst="rect">
            <a:avLst/>
          </a:prstGeom>
          <a:noFill/>
          <a:ln/>
        </p:spPr>
        <p:txBody>
          <a:bodyPr wrap="square" lIns="0" tIns="0" rIns="0" bIns="0" rtlCol="0" anchor="t"/>
          <a:lstStyle/>
          <a:p>
            <a:pPr indent="0" marL="0">
              <a:buNone/>
            </a:pPr>
            <a:r>
              <a:rPr lang="en-US" sz="1050" dirty="0">
                <a:solidFill>
                  <a:schemeClr val="accent6"/>
                </a:solidFill>
              </a:rPr>
              <a:t>certified families</a:t>
            </a:r>
            <a:endParaRPr lang="en-US" sz="1050" dirty="0"/>
          </a:p>
        </p:txBody>
      </p:sp>
      <p:sp>
        <p:nvSpPr>
          <p:cNvPr id="9" name="card"/>
          <p:cNvSpPr/>
          <p:nvPr/>
        </p:nvSpPr>
        <p:spPr>
          <a:xfrm>
            <a:off x="8503920" y="2743200"/>
            <a:ext cx="3136392" cy="2788920"/>
          </a:xfrm>
          <a:prstGeom prst="roundRect">
            <a:avLst>
              <a:gd name="adj" fmla="val 2623"/>
            </a:avLst>
          </a:prstGeom>
          <a:solidFill>
            <a:schemeClr val="tx2"/>
          </a:solidFill>
          <a:ln w="12700">
            <a:solidFill>
              <a:schemeClr val="tx2"/>
            </a:solidFill>
            <a:prstDash val="solid"/>
          </a:ln>
        </p:spPr>
      </p:sp>
      <p:sp>
        <p:nvSpPr>
          <p:cNvPr id="10" name="text"/>
          <p:cNvSpPr txBox="1"/>
          <p:nvPr/>
        </p:nvSpPr>
        <p:spPr>
          <a:xfrm>
            <a:off x="8705088" y="2907792"/>
            <a:ext cx="2743200" cy="274320"/>
          </a:xfrm>
          <a:prstGeom prst="rect">
            <a:avLst/>
          </a:prstGeom>
          <a:noFill/>
          <a:ln/>
        </p:spPr>
        <p:txBody>
          <a:bodyPr wrap="square" lIns="0" tIns="0" rIns="0" bIns="0" rtlCol="0" anchor="t"/>
          <a:lstStyle/>
          <a:p>
            <a:pPr indent="0" marL="0">
              <a:buNone/>
            </a:pPr>
            <a:r>
              <a:rPr lang="en-US" sz="1100" b="1" dirty="0">
                <a:solidFill>
                  <a:schemeClr val="accent4"/>
                </a:solidFill>
              </a:rPr>
              <a:t>THE RULE</a:t>
            </a:r>
            <a:endParaRPr lang="en-US" sz="1100" dirty="0"/>
          </a:p>
        </p:txBody>
      </p:sp>
      <p:sp>
        <p:nvSpPr>
          <p:cNvPr id="11" name="text"/>
          <p:cNvSpPr txBox="1"/>
          <p:nvPr/>
        </p:nvSpPr>
        <p:spPr>
          <a:xfrm>
            <a:off x="8705088" y="3227832"/>
            <a:ext cx="2743200" cy="914400"/>
          </a:xfrm>
          <a:prstGeom prst="rect">
            <a:avLst/>
          </a:prstGeom>
          <a:noFill/>
          <a:ln/>
        </p:spPr>
        <p:txBody>
          <a:bodyPr wrap="square" lIns="0" tIns="0" rIns="0" bIns="0" rtlCol="0" anchor="t"/>
          <a:lstStyle/>
          <a:p>
            <a:pPr indent="0" marL="0">
              <a:buNone/>
            </a:pPr>
            <a:r>
              <a:rPr lang="en-US" sz="1300" b="1" dirty="0">
                <a:solidFill>
                  <a:schemeClr val="bg1"/>
                </a:solidFill>
              </a:rPr>
              <a:t>A certified number is defined in one product only. Every other product reads it from there.</a:t>
            </a:r>
            <a:endParaRPr lang="en-US" sz="1300" dirty="0"/>
          </a:p>
        </p:txBody>
      </p:sp>
      <p:sp>
        <p:nvSpPr>
          <p:cNvPr id="12" name="text"/>
          <p:cNvSpPr txBox="1"/>
          <p:nvPr/>
        </p:nvSpPr>
        <p:spPr>
          <a:xfrm>
            <a:off x="8705088" y="4160520"/>
            <a:ext cx="2743200" cy="1280160"/>
          </a:xfrm>
          <a:prstGeom prst="rect">
            <a:avLst/>
          </a:prstGeom>
          <a:noFill/>
          <a:ln/>
        </p:spPr>
        <p:txBody>
          <a:bodyPr wrap="square" lIns="0" tIns="0" rIns="0" bIns="0" rtlCol="0" anchor="t"/>
          <a:lstStyle/>
          <a:p>
            <a:pPr indent="0" marL="0">
              <a:buNone/>
            </a:pPr>
            <a:r>
              <a:rPr lang="en-US" sz="1150" dirty="0">
                <a:solidFill>
                  <a:schemeClr val="bg2"/>
                </a:solidFill>
              </a:rPr>
              <a:t>Client Assets and Firm AUM are two families. They overlap by design, are reconciled every month-end in DP-241, and are never summed.</a:t>
            </a:r>
            <a:endParaRPr lang="en-US" sz="1150" dirty="0"/>
          </a:p>
        </p:txBody>
      </p:sp>
      <p:sp>
        <p:nvSpPr>
          <p:cNvPr id="13" name="card"/>
          <p:cNvSpPr/>
          <p:nvPr/>
        </p:nvSpPr>
        <p:spPr>
          <a:xfrm>
            <a:off x="548640" y="5715000"/>
            <a:ext cx="11094415" cy="457200"/>
          </a:xfrm>
          <a:prstGeom prst="roundRect">
            <a:avLst>
              <a:gd name="adj" fmla="val 16000"/>
            </a:avLst>
          </a:prstGeom>
          <a:solidFill>
            <a:schemeClr val="tx2"/>
          </a:solidFill>
          <a:ln w="12700">
            <a:solidFill>
              <a:schemeClr val="tx2"/>
            </a:solidFill>
            <a:prstDash val="solid"/>
          </a:ln>
        </p:spPr>
      </p:sp>
      <p:sp>
        <p:nvSpPr>
          <p:cNvPr id="14" name="text"/>
          <p:cNvSpPr txBox="1"/>
          <p:nvPr/>
        </p:nvSpPr>
        <p:spPr>
          <a:xfrm>
            <a:off x="822960" y="5843016"/>
            <a:ext cx="10545775" cy="201168"/>
          </a:xfrm>
          <a:prstGeom prst="rect">
            <a:avLst/>
          </a:prstGeom>
          <a:noFill/>
          <a:ln/>
        </p:spPr>
        <p:txBody>
          <a:bodyPr wrap="square" lIns="0" tIns="0" rIns="0" bIns="0" rtlCol="0" anchor="ctr"/>
          <a:lstStyle/>
          <a:p>
            <a:pPr indent="0" marL="0">
              <a:buNone/>
            </a:pPr>
            <a:r>
              <a:rPr lang="en-US" sz="1250" dirty="0">
                <a:solidFill>
                  <a:schemeClr val="bg1"/>
                </a:solidFill>
              </a:rPr>
              <a:t>When two reports disagree on client assets, one of them is not reading DP-008. That is the finding.</a:t>
            </a:r>
            <a:endParaRPr lang="en-US" sz="12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The rules a product must obey, and who enforces them</a:t>
            </a:r>
            <a:endParaRPr lang="en-US" sz="2800" dirty="0"/>
          </a:p>
        </p:txBody>
      </p:sp>
      <p:sp>
        <p:nvSpPr>
          <p:cNvPr id="4" name="card"/>
          <p:cNvSpPr/>
          <p:nvPr/>
        </p:nvSpPr>
        <p:spPr>
          <a:xfrm>
            <a:off x="548640" y="1417320"/>
            <a:ext cx="5432908" cy="1024128"/>
          </a:xfrm>
          <a:prstGeom prst="roundRect">
            <a:avLst>
              <a:gd name="adj" fmla="val 7143"/>
            </a:avLst>
          </a:prstGeom>
          <a:solidFill>
            <a:schemeClr val="bg2"/>
          </a:solidFill>
          <a:ln w="12700">
            <a:solidFill>
              <a:schemeClr val="bg2"/>
            </a:solidFill>
            <a:prstDash val="solid"/>
          </a:ln>
        </p:spPr>
      </p:sp>
      <p:sp>
        <p:nvSpPr>
          <p:cNvPr id="5" name="chip"/>
          <p:cNvSpPr/>
          <p:nvPr/>
        </p:nvSpPr>
        <p:spPr>
          <a:xfrm>
            <a:off x="685800" y="1554480"/>
            <a:ext cx="329184" cy="329184"/>
          </a:xfrm>
          <a:prstGeom prst="ellipse">
            <a:avLst/>
          </a:prstGeom>
          <a:solidFill>
            <a:schemeClr val="accent1"/>
          </a:solidFill>
          <a:ln w="12700">
            <a:solidFill>
              <a:schemeClr val="accent1"/>
            </a:solidFill>
            <a:prstDash val="solid"/>
          </a:ln>
        </p:spPr>
      </p:sp>
      <p:sp>
        <p:nvSpPr>
          <p:cNvPr id="6" name="text"/>
          <p:cNvSpPr txBox="1"/>
          <p:nvPr/>
        </p:nvSpPr>
        <p:spPr>
          <a:xfrm>
            <a:off x="685800" y="155448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p:cNvSpPr txBox="1"/>
          <p:nvPr/>
        </p:nvSpPr>
        <p:spPr>
          <a:xfrm>
            <a:off x="1124712" y="1536192"/>
            <a:ext cx="4792828" cy="365760"/>
          </a:xfrm>
          <a:prstGeom prst="rect">
            <a:avLst/>
          </a:prstGeom>
          <a:noFill/>
          <a:ln/>
        </p:spPr>
        <p:txBody>
          <a:bodyPr wrap="square" lIns="0" tIns="0" rIns="0" bIns="0" rtlCol="0" anchor="ctr"/>
          <a:lstStyle/>
          <a:p>
            <a:pPr indent="0" marL="0">
              <a:buNone/>
            </a:pPr>
            <a:r>
              <a:rPr lang="en-US" sz="1250" b="1" dirty="0">
                <a:solidFill>
                  <a:schemeClr val="tx1"/>
                </a:solidFill>
              </a:rPr>
              <a:t>Reference by exact name</a:t>
            </a:r>
            <a:endParaRPr lang="en-US" sz="1250" dirty="0"/>
          </a:p>
        </p:txBody>
      </p:sp>
      <p:sp>
        <p:nvSpPr>
          <p:cNvPr id="8" name="text"/>
          <p:cNvSpPr txBox="1"/>
          <p:nvPr/>
        </p:nvSpPr>
        <p:spPr>
          <a:xfrm>
            <a:off x="685800" y="1920240"/>
            <a:ext cx="3329788" cy="502920"/>
          </a:xfrm>
          <a:prstGeom prst="rect">
            <a:avLst/>
          </a:prstGeom>
          <a:noFill/>
          <a:ln/>
        </p:spPr>
        <p:txBody>
          <a:bodyPr wrap="square" lIns="0" tIns="0" rIns="0" bIns="0" rtlCol="0" anchor="t"/>
          <a:lstStyle/>
          <a:p>
            <a:pPr indent="0" marL="0">
              <a:buNone/>
            </a:pPr>
            <a:r>
              <a:rPr lang="en-US" sz="1050" dirty="0">
                <a:solidFill>
                  <a:schemeClr val="tx1"/>
                </a:solidFill>
              </a:rPr>
              <a:t>Inputs use the taxonomy's object and attribute names as printed; anything that does not resolve is rejected</a:t>
            </a:r>
            <a:endParaRPr lang="en-US" sz="1050" dirty="0"/>
          </a:p>
        </p:txBody>
      </p:sp>
      <p:sp>
        <p:nvSpPr>
          <p:cNvPr id="9" name="text"/>
          <p:cNvSpPr txBox="1"/>
          <p:nvPr/>
        </p:nvSpPr>
        <p:spPr>
          <a:xfrm>
            <a:off x="4107028" y="1920240"/>
            <a:ext cx="1737360" cy="502920"/>
          </a:xfrm>
          <a:prstGeom prst="rect">
            <a:avLst/>
          </a:prstGeom>
          <a:noFill/>
          <a:ln/>
        </p:spPr>
        <p:txBody>
          <a:bodyPr wrap="square" lIns="0" tIns="0" rIns="0" bIns="0" rtlCol="0" anchor="t"/>
          <a:lstStyle/>
          <a:p>
            <a:pPr algn="r" indent="0" marL="0">
              <a:buNone/>
            </a:pPr>
            <a:r>
              <a:rPr lang="en-US" sz="1000" i="1" dirty="0">
                <a:solidFill>
                  <a:schemeClr val="accent6"/>
                </a:solidFill>
              </a:rPr>
              <a:t>Product validator</a:t>
            </a:r>
            <a:endParaRPr lang="en-US" sz="1000" dirty="0"/>
          </a:p>
        </p:txBody>
      </p:sp>
      <p:sp>
        <p:nvSpPr>
          <p:cNvPr id="10" name="card"/>
          <p:cNvSpPr/>
          <p:nvPr/>
        </p:nvSpPr>
        <p:spPr>
          <a:xfrm>
            <a:off x="6210148" y="1417320"/>
            <a:ext cx="5432908" cy="1024128"/>
          </a:xfrm>
          <a:prstGeom prst="roundRect">
            <a:avLst>
              <a:gd name="adj" fmla="val 7143"/>
            </a:avLst>
          </a:prstGeom>
          <a:solidFill>
            <a:schemeClr val="bg2"/>
          </a:solidFill>
          <a:ln w="12700">
            <a:solidFill>
              <a:schemeClr val="bg2"/>
            </a:solidFill>
            <a:prstDash val="solid"/>
          </a:ln>
        </p:spPr>
      </p:sp>
      <p:sp>
        <p:nvSpPr>
          <p:cNvPr id="11" name="chip"/>
          <p:cNvSpPr/>
          <p:nvPr/>
        </p:nvSpPr>
        <p:spPr>
          <a:xfrm>
            <a:off x="6347308" y="1554480"/>
            <a:ext cx="329184" cy="329184"/>
          </a:xfrm>
          <a:prstGeom prst="ellipse">
            <a:avLst/>
          </a:prstGeom>
          <a:solidFill>
            <a:schemeClr val="accent1"/>
          </a:solidFill>
          <a:ln w="12700">
            <a:solidFill>
              <a:schemeClr val="accent1"/>
            </a:solidFill>
            <a:prstDash val="solid"/>
          </a:ln>
        </p:spPr>
      </p:sp>
      <p:sp>
        <p:nvSpPr>
          <p:cNvPr id="12" name="text"/>
          <p:cNvSpPr txBox="1"/>
          <p:nvPr/>
        </p:nvSpPr>
        <p:spPr>
          <a:xfrm>
            <a:off x="6347308" y="1554480"/>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p:cNvSpPr txBox="1"/>
          <p:nvPr/>
        </p:nvSpPr>
        <p:spPr>
          <a:xfrm>
            <a:off x="6786220" y="1536192"/>
            <a:ext cx="4792828" cy="365760"/>
          </a:xfrm>
          <a:prstGeom prst="rect">
            <a:avLst/>
          </a:prstGeom>
          <a:noFill/>
          <a:ln/>
        </p:spPr>
        <p:txBody>
          <a:bodyPr wrap="square" lIns="0" tIns="0" rIns="0" bIns="0" rtlCol="0" anchor="ctr"/>
          <a:lstStyle/>
          <a:p>
            <a:pPr indent="0" marL="0">
              <a:buNone/>
            </a:pPr>
            <a:r>
              <a:rPr lang="en-US" sz="1250" b="1" dirty="0">
                <a:solidFill>
                  <a:schemeClr val="tx1"/>
                </a:solidFill>
              </a:rPr>
              <a:t>Take inputs from the mastering domain</a:t>
            </a:r>
            <a:endParaRPr lang="en-US" sz="1250" dirty="0"/>
          </a:p>
        </p:txBody>
      </p:sp>
      <p:sp>
        <p:nvSpPr>
          <p:cNvPr id="14" name="text"/>
          <p:cNvSpPr txBox="1"/>
          <p:nvPr/>
        </p:nvSpPr>
        <p:spPr>
          <a:xfrm>
            <a:off x="6347308" y="1920240"/>
            <a:ext cx="3329788" cy="502920"/>
          </a:xfrm>
          <a:prstGeom prst="rect">
            <a:avLst/>
          </a:prstGeom>
          <a:noFill/>
          <a:ln/>
        </p:spPr>
        <p:txBody>
          <a:bodyPr wrap="square" lIns="0" tIns="0" rIns="0" bIns="0" rtlCol="0" anchor="t"/>
          <a:lstStyle/>
          <a:p>
            <a:pPr indent="0" marL="0">
              <a:buNone/>
            </a:pPr>
            <a:r>
              <a:rPr lang="en-US" sz="1050" dirty="0">
                <a:solidFill>
                  <a:schemeClr val="tx1"/>
                </a:solidFill>
              </a:rPr>
              <a:t>Draw a concept from the Data Domain that masters it, not from a reference or copy elsewhere</a:t>
            </a:r>
            <a:endParaRPr lang="en-US" sz="1050" dirty="0"/>
          </a:p>
        </p:txBody>
      </p:sp>
      <p:sp>
        <p:nvSpPr>
          <p:cNvPr id="15" name="text"/>
          <p:cNvSpPr txBox="1"/>
          <p:nvPr/>
        </p:nvSpPr>
        <p:spPr>
          <a:xfrm>
            <a:off x="9768535" y="1920240"/>
            <a:ext cx="1737360" cy="502920"/>
          </a:xfrm>
          <a:prstGeom prst="rect">
            <a:avLst/>
          </a:prstGeom>
          <a:noFill/>
          <a:ln/>
        </p:spPr>
        <p:txBody>
          <a:bodyPr wrap="square" lIns="0" tIns="0" rIns="0" bIns="0" rtlCol="0" anchor="t"/>
          <a:lstStyle/>
          <a:p>
            <a:pPr algn="r" indent="0" marL="0">
              <a:buNone/>
            </a:pPr>
            <a:r>
              <a:rPr lang="en-US" sz="1000" i="1" dirty="0">
                <a:solidFill>
                  <a:schemeClr val="accent6"/>
                </a:solidFill>
              </a:rPr>
              <a:t>Product validator and spec review</a:t>
            </a:r>
            <a:endParaRPr lang="en-US" sz="1000" dirty="0"/>
          </a:p>
        </p:txBody>
      </p:sp>
      <p:sp>
        <p:nvSpPr>
          <p:cNvPr id="16" name="card"/>
          <p:cNvSpPr/>
          <p:nvPr/>
        </p:nvSpPr>
        <p:spPr>
          <a:xfrm>
            <a:off x="548640" y="2578608"/>
            <a:ext cx="5432908" cy="1024128"/>
          </a:xfrm>
          <a:prstGeom prst="roundRect">
            <a:avLst>
              <a:gd name="adj" fmla="val 7143"/>
            </a:avLst>
          </a:prstGeom>
          <a:solidFill>
            <a:schemeClr val="bg2"/>
          </a:solidFill>
          <a:ln w="12700">
            <a:solidFill>
              <a:schemeClr val="bg2"/>
            </a:solidFill>
            <a:prstDash val="solid"/>
          </a:ln>
        </p:spPr>
      </p:sp>
      <p:sp>
        <p:nvSpPr>
          <p:cNvPr id="17" name="chip"/>
          <p:cNvSpPr/>
          <p:nvPr/>
        </p:nvSpPr>
        <p:spPr>
          <a:xfrm>
            <a:off x="685800" y="2715768"/>
            <a:ext cx="329184" cy="329184"/>
          </a:xfrm>
          <a:prstGeom prst="ellipse">
            <a:avLst/>
          </a:prstGeom>
          <a:solidFill>
            <a:schemeClr val="accent2"/>
          </a:solidFill>
          <a:ln w="12700">
            <a:solidFill>
              <a:schemeClr val="accent2"/>
            </a:solidFill>
            <a:prstDash val="solid"/>
          </a:ln>
        </p:spPr>
      </p:sp>
      <p:sp>
        <p:nvSpPr>
          <p:cNvPr id="18" name="text"/>
          <p:cNvSpPr txBox="1"/>
          <p:nvPr/>
        </p:nvSpPr>
        <p:spPr>
          <a:xfrm>
            <a:off x="685800" y="27157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p:cNvSpPr txBox="1"/>
          <p:nvPr/>
        </p:nvSpPr>
        <p:spPr>
          <a:xfrm>
            <a:off x="1124712" y="2697480"/>
            <a:ext cx="4792828" cy="365760"/>
          </a:xfrm>
          <a:prstGeom prst="rect">
            <a:avLst/>
          </a:prstGeom>
          <a:noFill/>
          <a:ln/>
        </p:spPr>
        <p:txBody>
          <a:bodyPr wrap="square" lIns="0" tIns="0" rIns="0" bIns="0" rtlCol="0" anchor="ctr"/>
          <a:lstStyle/>
          <a:p>
            <a:pPr indent="0" marL="0">
              <a:buNone/>
            </a:pPr>
            <a:r>
              <a:rPr lang="en-US" sz="1250" b="1" dirty="0">
                <a:solidFill>
                  <a:schemeClr val="tx1"/>
                </a:solidFill>
              </a:rPr>
              <a:t>Trace every measure</a:t>
            </a:r>
            <a:endParaRPr lang="en-US" sz="1250" dirty="0"/>
          </a:p>
        </p:txBody>
      </p:sp>
      <p:sp>
        <p:nvSpPr>
          <p:cNvPr id="20" name="text"/>
          <p:cNvSpPr txBox="1"/>
          <p:nvPr/>
        </p:nvSpPr>
        <p:spPr>
          <a:xfrm>
            <a:off x="685800" y="3081528"/>
            <a:ext cx="3329788" cy="502920"/>
          </a:xfrm>
          <a:prstGeom prst="rect">
            <a:avLst/>
          </a:prstGeom>
          <a:noFill/>
          <a:ln/>
        </p:spPr>
        <p:txBody>
          <a:bodyPr wrap="square" lIns="0" tIns="0" rIns="0" bIns="0" rtlCol="0" anchor="t"/>
          <a:lstStyle/>
          <a:p>
            <a:pPr indent="0" marL="0">
              <a:buNone/>
            </a:pPr>
            <a:r>
              <a:rPr lang="en-US" sz="1050" dirty="0">
                <a:solidFill>
                  <a:schemeClr val="tx1"/>
                </a:solidFill>
              </a:rPr>
              <a:t>A measure's formula names the attributes it reads; a use that is not in inputs is rejected</a:t>
            </a:r>
            <a:endParaRPr lang="en-US" sz="1050" dirty="0"/>
          </a:p>
        </p:txBody>
      </p:sp>
      <p:sp>
        <p:nvSpPr>
          <p:cNvPr id="21" name="text"/>
          <p:cNvSpPr txBox="1"/>
          <p:nvPr/>
        </p:nvSpPr>
        <p:spPr>
          <a:xfrm>
            <a:off x="4107028" y="3081528"/>
            <a:ext cx="1737360" cy="502920"/>
          </a:xfrm>
          <a:prstGeom prst="rect">
            <a:avLst/>
          </a:prstGeom>
          <a:noFill/>
          <a:ln/>
        </p:spPr>
        <p:txBody>
          <a:bodyPr wrap="square" lIns="0" tIns="0" rIns="0" bIns="0" rtlCol="0" anchor="t"/>
          <a:lstStyle/>
          <a:p>
            <a:pPr algn="r" indent="0" marL="0">
              <a:buNone/>
            </a:pPr>
            <a:r>
              <a:rPr lang="en-US" sz="1000" i="1" dirty="0">
                <a:solidFill>
                  <a:schemeClr val="accent6"/>
                </a:solidFill>
              </a:rPr>
              <a:t>Product validator</a:t>
            </a:r>
            <a:endParaRPr lang="en-US" sz="1000" dirty="0"/>
          </a:p>
        </p:txBody>
      </p:sp>
      <p:sp>
        <p:nvSpPr>
          <p:cNvPr id="22" name="card"/>
          <p:cNvSpPr/>
          <p:nvPr/>
        </p:nvSpPr>
        <p:spPr>
          <a:xfrm>
            <a:off x="6210148" y="2578608"/>
            <a:ext cx="5432908" cy="1024128"/>
          </a:xfrm>
          <a:prstGeom prst="roundRect">
            <a:avLst>
              <a:gd name="adj" fmla="val 7143"/>
            </a:avLst>
          </a:prstGeom>
          <a:solidFill>
            <a:schemeClr val="bg2"/>
          </a:solidFill>
          <a:ln w="12700">
            <a:solidFill>
              <a:schemeClr val="bg2"/>
            </a:solidFill>
            <a:prstDash val="solid"/>
          </a:ln>
        </p:spPr>
      </p:sp>
      <p:sp>
        <p:nvSpPr>
          <p:cNvPr id="23" name="chip"/>
          <p:cNvSpPr/>
          <p:nvPr/>
        </p:nvSpPr>
        <p:spPr>
          <a:xfrm>
            <a:off x="6347308" y="2715768"/>
            <a:ext cx="329184" cy="329184"/>
          </a:xfrm>
          <a:prstGeom prst="ellipse">
            <a:avLst/>
          </a:prstGeom>
          <a:solidFill>
            <a:schemeClr val="accent2"/>
          </a:solidFill>
          <a:ln w="12700">
            <a:solidFill>
              <a:schemeClr val="accent2"/>
            </a:solidFill>
            <a:prstDash val="solid"/>
          </a:ln>
        </p:spPr>
      </p:sp>
      <p:sp>
        <p:nvSpPr>
          <p:cNvPr id="24" name="text"/>
          <p:cNvSpPr txBox="1"/>
          <p:nvPr/>
        </p:nvSpPr>
        <p:spPr>
          <a:xfrm>
            <a:off x="6347308" y="2715768"/>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p:cNvSpPr txBox="1"/>
          <p:nvPr/>
        </p:nvSpPr>
        <p:spPr>
          <a:xfrm>
            <a:off x="6786220" y="2697480"/>
            <a:ext cx="4792828" cy="365760"/>
          </a:xfrm>
          <a:prstGeom prst="rect">
            <a:avLst/>
          </a:prstGeom>
          <a:noFill/>
          <a:ln/>
        </p:spPr>
        <p:txBody>
          <a:bodyPr wrap="square" lIns="0" tIns="0" rIns="0" bIns="0" rtlCol="0" anchor="ctr"/>
          <a:lstStyle/>
          <a:p>
            <a:pPr indent="0" marL="0">
              <a:buNone/>
            </a:pPr>
            <a:r>
              <a:rPr lang="en-US" sz="1250" b="1" dirty="0">
                <a:solidFill>
                  <a:schemeClr val="tx1"/>
                </a:solidFill>
              </a:rPr>
              <a:t>Do not invent attributes</a:t>
            </a:r>
            <a:endParaRPr lang="en-US" sz="1250" dirty="0"/>
          </a:p>
        </p:txBody>
      </p:sp>
      <p:sp>
        <p:nvSpPr>
          <p:cNvPr id="26" name="text"/>
          <p:cNvSpPr txBox="1"/>
          <p:nvPr/>
        </p:nvSpPr>
        <p:spPr>
          <a:xfrm>
            <a:off x="6347308" y="3081528"/>
            <a:ext cx="3329788" cy="502920"/>
          </a:xfrm>
          <a:prstGeom prst="rect">
            <a:avLst/>
          </a:prstGeom>
          <a:noFill/>
          <a:ln/>
        </p:spPr>
        <p:txBody>
          <a:bodyPr wrap="square" lIns="0" tIns="0" rIns="0" bIns="0" rtlCol="0" anchor="t"/>
          <a:lstStyle/>
          <a:p>
            <a:pPr indent="0" marL="0">
              <a:buNone/>
            </a:pPr>
            <a:r>
              <a:rPr lang="en-US" sz="1050" dirty="0">
                <a:solidFill>
                  <a:schemeClr val="tx1"/>
                </a:solidFill>
              </a:rPr>
              <a:t>If the taxonomy lacks it, record a taxonomy gap for the owning domain and trace to the nearest attribute read</a:t>
            </a:r>
            <a:endParaRPr lang="en-US" sz="1050" dirty="0"/>
          </a:p>
        </p:txBody>
      </p:sp>
      <p:sp>
        <p:nvSpPr>
          <p:cNvPr id="27" name="text"/>
          <p:cNvSpPr txBox="1"/>
          <p:nvPr/>
        </p:nvSpPr>
        <p:spPr>
          <a:xfrm>
            <a:off x="9768535" y="3081528"/>
            <a:ext cx="1737360" cy="502920"/>
          </a:xfrm>
          <a:prstGeom prst="rect">
            <a:avLst/>
          </a:prstGeom>
          <a:noFill/>
          <a:ln/>
        </p:spPr>
        <p:txBody>
          <a:bodyPr wrap="square" lIns="0" tIns="0" rIns="0" bIns="0" rtlCol="0" anchor="t"/>
          <a:lstStyle/>
          <a:p>
            <a:pPr algn="r" indent="0" marL="0">
              <a:buNone/>
            </a:pPr>
            <a:r>
              <a:rPr lang="en-US" sz="1000" i="1" dirty="0">
                <a:solidFill>
                  <a:schemeClr val="accent6"/>
                </a:solidFill>
              </a:rPr>
              <a:t>Gap register</a:t>
            </a:r>
            <a:endParaRPr lang="en-US" sz="1000" dirty="0"/>
          </a:p>
        </p:txBody>
      </p:sp>
      <p:sp>
        <p:nvSpPr>
          <p:cNvPr id="28" name="card"/>
          <p:cNvSpPr/>
          <p:nvPr/>
        </p:nvSpPr>
        <p:spPr>
          <a:xfrm>
            <a:off x="548640" y="3739896"/>
            <a:ext cx="5432908" cy="1024128"/>
          </a:xfrm>
          <a:prstGeom prst="roundRect">
            <a:avLst>
              <a:gd name="adj" fmla="val 7143"/>
            </a:avLst>
          </a:prstGeom>
          <a:solidFill>
            <a:schemeClr val="bg2"/>
          </a:solidFill>
          <a:ln w="12700">
            <a:solidFill>
              <a:schemeClr val="bg2"/>
            </a:solidFill>
            <a:prstDash val="solid"/>
          </a:ln>
        </p:spPr>
      </p:sp>
      <p:sp>
        <p:nvSpPr>
          <p:cNvPr id="29" name="chip"/>
          <p:cNvSpPr/>
          <p:nvPr/>
        </p:nvSpPr>
        <p:spPr>
          <a:xfrm>
            <a:off x="685800" y="3877056"/>
            <a:ext cx="329184" cy="329184"/>
          </a:xfrm>
          <a:prstGeom prst="ellipse">
            <a:avLst/>
          </a:prstGeom>
          <a:solidFill>
            <a:schemeClr val="accent5"/>
          </a:solidFill>
          <a:ln w="12700">
            <a:solidFill>
              <a:schemeClr val="accent5"/>
            </a:solidFill>
            <a:prstDash val="solid"/>
          </a:ln>
        </p:spPr>
      </p:sp>
      <p:sp>
        <p:nvSpPr>
          <p:cNvPr id="30" name="text"/>
          <p:cNvSpPr txBox="1"/>
          <p:nvPr/>
        </p:nvSpPr>
        <p:spPr>
          <a:xfrm>
            <a:off x="685800" y="387705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text"/>
          <p:cNvSpPr txBox="1"/>
          <p:nvPr/>
        </p:nvSpPr>
        <p:spPr>
          <a:xfrm>
            <a:off x="1124712" y="3858768"/>
            <a:ext cx="4792828" cy="365760"/>
          </a:xfrm>
          <a:prstGeom prst="rect">
            <a:avLst/>
          </a:prstGeom>
          <a:noFill/>
          <a:ln/>
        </p:spPr>
        <p:txBody>
          <a:bodyPr wrap="square" lIns="0" tIns="0" rIns="0" bIns="0" rtlCol="0" anchor="ctr"/>
          <a:lstStyle/>
          <a:p>
            <a:pPr indent="0" marL="0">
              <a:buNone/>
            </a:pPr>
            <a:r>
              <a:rPr lang="en-US" sz="1250" b="1" dirty="0">
                <a:solidFill>
                  <a:schemeClr val="tx1"/>
                </a:solidFill>
              </a:rPr>
              <a:t>Define a certified number once</a:t>
            </a:r>
            <a:endParaRPr lang="en-US" sz="1250" dirty="0"/>
          </a:p>
        </p:txBody>
      </p:sp>
      <p:sp>
        <p:nvSpPr>
          <p:cNvPr id="32" name="text"/>
          <p:cNvSpPr txBox="1"/>
          <p:nvPr/>
        </p:nvSpPr>
        <p:spPr>
          <a:xfrm>
            <a:off x="685800" y="4242816"/>
            <a:ext cx="3329788" cy="502920"/>
          </a:xfrm>
          <a:prstGeom prst="rect">
            <a:avLst/>
          </a:prstGeom>
          <a:noFill/>
          <a:ln/>
        </p:spPr>
        <p:txBody>
          <a:bodyPr wrap="square" lIns="0" tIns="0" rIns="0" bIns="0" rtlCol="0" anchor="t"/>
          <a:lstStyle/>
          <a:p>
            <a:pPr indent="0" marL="0">
              <a:buNone/>
            </a:pPr>
            <a:r>
              <a:rPr lang="en-US" sz="1050" dirty="0">
                <a:solidFill>
                  <a:schemeClr val="tx1"/>
                </a:solidFill>
              </a:rPr>
              <a:t>One product is the source; every other product reads it from there and never redefines it</a:t>
            </a:r>
            <a:endParaRPr lang="en-US" sz="1050" dirty="0"/>
          </a:p>
        </p:txBody>
      </p:sp>
      <p:sp>
        <p:nvSpPr>
          <p:cNvPr id="33" name="text"/>
          <p:cNvSpPr txBox="1"/>
          <p:nvPr/>
        </p:nvSpPr>
        <p:spPr>
          <a:xfrm>
            <a:off x="4107028" y="4242816"/>
            <a:ext cx="1737360" cy="502920"/>
          </a:xfrm>
          <a:prstGeom prst="rect">
            <a:avLst/>
          </a:prstGeom>
          <a:noFill/>
          <a:ln/>
        </p:spPr>
        <p:txBody>
          <a:bodyPr wrap="square" lIns="0" tIns="0" rIns="0" bIns="0" rtlCol="0" anchor="t"/>
          <a:lstStyle/>
          <a:p>
            <a:pPr algn="r" indent="0" marL="0">
              <a:buNone/>
            </a:pPr>
            <a:r>
              <a:rPr lang="en-US" sz="1000" i="1" dirty="0">
                <a:solidFill>
                  <a:schemeClr val="accent6"/>
                </a:solidFill>
              </a:rPr>
              <a:t>Semantic model validator</a:t>
            </a:r>
            <a:endParaRPr lang="en-US" sz="1000" dirty="0"/>
          </a:p>
        </p:txBody>
      </p:sp>
      <p:sp>
        <p:nvSpPr>
          <p:cNvPr id="34" name="card"/>
          <p:cNvSpPr/>
          <p:nvPr/>
        </p:nvSpPr>
        <p:spPr>
          <a:xfrm>
            <a:off x="6210148" y="3739896"/>
            <a:ext cx="5432908" cy="1024128"/>
          </a:xfrm>
          <a:prstGeom prst="roundRect">
            <a:avLst>
              <a:gd name="adj" fmla="val 7143"/>
            </a:avLst>
          </a:prstGeom>
          <a:solidFill>
            <a:schemeClr val="bg2"/>
          </a:solidFill>
          <a:ln w="12700">
            <a:solidFill>
              <a:schemeClr val="bg2"/>
            </a:solidFill>
            <a:prstDash val="solid"/>
          </a:ln>
        </p:spPr>
      </p:sp>
      <p:sp>
        <p:nvSpPr>
          <p:cNvPr id="35" name="chip"/>
          <p:cNvSpPr/>
          <p:nvPr/>
        </p:nvSpPr>
        <p:spPr>
          <a:xfrm>
            <a:off x="6347308" y="3877056"/>
            <a:ext cx="329184" cy="329184"/>
          </a:xfrm>
          <a:prstGeom prst="ellipse">
            <a:avLst/>
          </a:prstGeom>
          <a:solidFill>
            <a:schemeClr val="accent5"/>
          </a:solidFill>
          <a:ln w="12700">
            <a:solidFill>
              <a:schemeClr val="accent5"/>
            </a:solidFill>
            <a:prstDash val="solid"/>
          </a:ln>
        </p:spPr>
      </p:sp>
      <p:sp>
        <p:nvSpPr>
          <p:cNvPr id="36" name="text"/>
          <p:cNvSpPr txBox="1"/>
          <p:nvPr/>
        </p:nvSpPr>
        <p:spPr>
          <a:xfrm>
            <a:off x="6347308" y="3877056"/>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6</a:t>
            </a:r>
            <a:endParaRPr lang="en-US" sz="1200" dirty="0"/>
          </a:p>
        </p:txBody>
      </p:sp>
      <p:sp>
        <p:nvSpPr>
          <p:cNvPr id="37" name="text"/>
          <p:cNvSpPr txBox="1"/>
          <p:nvPr/>
        </p:nvSpPr>
        <p:spPr>
          <a:xfrm>
            <a:off x="6786220" y="3858768"/>
            <a:ext cx="4792828" cy="365760"/>
          </a:xfrm>
          <a:prstGeom prst="rect">
            <a:avLst/>
          </a:prstGeom>
          <a:noFill/>
          <a:ln/>
        </p:spPr>
        <p:txBody>
          <a:bodyPr wrap="square" lIns="0" tIns="0" rIns="0" bIns="0" rtlCol="0" anchor="ctr"/>
          <a:lstStyle/>
          <a:p>
            <a:pPr indent="0" marL="0">
              <a:buNone/>
            </a:pPr>
            <a:r>
              <a:rPr lang="en-US" sz="1250" b="1" dirty="0">
                <a:solidFill>
                  <a:schemeClr val="tx1"/>
                </a:solidFill>
              </a:rPr>
              <a:t>Keep the tiers in order</a:t>
            </a:r>
            <a:endParaRPr lang="en-US" sz="1250" dirty="0"/>
          </a:p>
        </p:txBody>
      </p:sp>
      <p:sp>
        <p:nvSpPr>
          <p:cNvPr id="38" name="text"/>
          <p:cNvSpPr txBox="1"/>
          <p:nvPr/>
        </p:nvSpPr>
        <p:spPr>
          <a:xfrm>
            <a:off x="6347308" y="4242816"/>
            <a:ext cx="3329788" cy="502920"/>
          </a:xfrm>
          <a:prstGeom prst="rect">
            <a:avLst/>
          </a:prstGeom>
          <a:noFill/>
          <a:ln/>
        </p:spPr>
        <p:txBody>
          <a:bodyPr wrap="square" lIns="0" tIns="0" rIns="0" bIns="0" rtlCol="0" anchor="t"/>
          <a:lstStyle/>
          <a:p>
            <a:pPr indent="0" marL="0">
              <a:buNone/>
            </a:pPr>
            <a:r>
              <a:rPr lang="en-US" sz="1050" dirty="0">
                <a:solidFill>
                  <a:schemeClr val="tx1"/>
                </a:solidFill>
              </a:rPr>
              <a:t>Foundational products depend only on foundational products; no cycles</a:t>
            </a:r>
            <a:endParaRPr lang="en-US" sz="1050" dirty="0"/>
          </a:p>
        </p:txBody>
      </p:sp>
      <p:sp>
        <p:nvSpPr>
          <p:cNvPr id="39" name="text"/>
          <p:cNvSpPr txBox="1"/>
          <p:nvPr/>
        </p:nvSpPr>
        <p:spPr>
          <a:xfrm>
            <a:off x="9768535" y="4242816"/>
            <a:ext cx="1737360" cy="502920"/>
          </a:xfrm>
          <a:prstGeom prst="rect">
            <a:avLst/>
          </a:prstGeom>
          <a:noFill/>
          <a:ln/>
        </p:spPr>
        <p:txBody>
          <a:bodyPr wrap="square" lIns="0" tIns="0" rIns="0" bIns="0" rtlCol="0" anchor="t"/>
          <a:lstStyle/>
          <a:p>
            <a:pPr algn="r" indent="0" marL="0">
              <a:buNone/>
            </a:pPr>
            <a:r>
              <a:rPr lang="en-US" sz="1000" i="1" dirty="0">
                <a:solidFill>
                  <a:schemeClr val="accent6"/>
                </a:solidFill>
              </a:rPr>
              <a:t>Catalog builder</a:t>
            </a:r>
            <a:endParaRPr lang="en-US" sz="1000" dirty="0"/>
          </a:p>
        </p:txBody>
      </p:sp>
      <p:sp>
        <p:nvSpPr>
          <p:cNvPr id="40" name="card"/>
          <p:cNvSpPr/>
          <p:nvPr/>
        </p:nvSpPr>
        <p:spPr>
          <a:xfrm>
            <a:off x="548640" y="4901184"/>
            <a:ext cx="5432908" cy="1024128"/>
          </a:xfrm>
          <a:prstGeom prst="roundRect">
            <a:avLst>
              <a:gd name="adj" fmla="val 7143"/>
            </a:avLst>
          </a:prstGeom>
          <a:solidFill>
            <a:schemeClr val="bg2"/>
          </a:solidFill>
          <a:ln w="12700">
            <a:solidFill>
              <a:schemeClr val="bg2"/>
            </a:solidFill>
            <a:prstDash val="solid"/>
          </a:ln>
        </p:spPr>
      </p:sp>
      <p:sp>
        <p:nvSpPr>
          <p:cNvPr id="41" name="chip"/>
          <p:cNvSpPr/>
          <p:nvPr/>
        </p:nvSpPr>
        <p:spPr>
          <a:xfrm>
            <a:off x="685800" y="5038344"/>
            <a:ext cx="329184" cy="329184"/>
          </a:xfrm>
          <a:prstGeom prst="ellipse">
            <a:avLst/>
          </a:prstGeom>
          <a:solidFill>
            <a:schemeClr val="accent4"/>
          </a:solidFill>
          <a:ln w="12700">
            <a:solidFill>
              <a:schemeClr val="accent4"/>
            </a:solidFill>
            <a:prstDash val="solid"/>
          </a:ln>
        </p:spPr>
      </p:sp>
      <p:sp>
        <p:nvSpPr>
          <p:cNvPr id="42" name="text"/>
          <p:cNvSpPr txBox="1"/>
          <p:nvPr/>
        </p:nvSpPr>
        <p:spPr>
          <a:xfrm>
            <a:off x="685800" y="503834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7</a:t>
            </a:r>
            <a:endParaRPr lang="en-US" sz="1200" dirty="0"/>
          </a:p>
        </p:txBody>
      </p:sp>
      <p:sp>
        <p:nvSpPr>
          <p:cNvPr id="43" name="text"/>
          <p:cNvSpPr txBox="1"/>
          <p:nvPr/>
        </p:nvSpPr>
        <p:spPr>
          <a:xfrm>
            <a:off x="1124712" y="5020056"/>
            <a:ext cx="4792828" cy="365760"/>
          </a:xfrm>
          <a:prstGeom prst="rect">
            <a:avLst/>
          </a:prstGeom>
          <a:noFill/>
          <a:ln/>
        </p:spPr>
        <p:txBody>
          <a:bodyPr wrap="square" lIns="0" tIns="0" rIns="0" bIns="0" rtlCol="0" anchor="ctr"/>
          <a:lstStyle/>
          <a:p>
            <a:pPr indent="0" marL="0">
              <a:buNone/>
            </a:pPr>
            <a:r>
              <a:rPr lang="en-US" sz="1250" b="1" dirty="0">
                <a:solidFill>
                  <a:schemeClr val="tx1"/>
                </a:solidFill>
              </a:rPr>
              <a:t>Protect special-category data</a:t>
            </a:r>
            <a:endParaRPr lang="en-US" sz="1250" dirty="0"/>
          </a:p>
        </p:txBody>
      </p:sp>
      <p:sp>
        <p:nvSpPr>
          <p:cNvPr id="44" name="text"/>
          <p:cNvSpPr txBox="1"/>
          <p:nvPr/>
        </p:nvSpPr>
        <p:spPr>
          <a:xfrm>
            <a:off x="685800" y="5404104"/>
            <a:ext cx="3329788" cy="502920"/>
          </a:xfrm>
          <a:prstGeom prst="rect">
            <a:avLst/>
          </a:prstGeom>
          <a:noFill/>
          <a:ln/>
        </p:spPr>
        <p:txBody>
          <a:bodyPr wrap="square" lIns="0" tIns="0" rIns="0" bIns="0" rtlCol="0" anchor="t"/>
          <a:lstStyle/>
          <a:p>
            <a:pPr indent="0" marL="0">
              <a:buNone/>
            </a:pPr>
            <a:r>
              <a:rPr lang="en-US" sz="1050" dirty="0">
                <a:solidFill>
                  <a:schemeClr val="tx1"/>
                </a:solidFill>
              </a:rPr>
              <a:t>Published only as aggregates or through a named restricted view; a published count has a minimum cell of 10</a:t>
            </a:r>
            <a:endParaRPr lang="en-US" sz="1050" dirty="0"/>
          </a:p>
        </p:txBody>
      </p:sp>
      <p:sp>
        <p:nvSpPr>
          <p:cNvPr id="45" name="text"/>
          <p:cNvSpPr txBox="1"/>
          <p:nvPr/>
        </p:nvSpPr>
        <p:spPr>
          <a:xfrm>
            <a:off x="4107028" y="5404104"/>
            <a:ext cx="1737360" cy="502920"/>
          </a:xfrm>
          <a:prstGeom prst="rect">
            <a:avLst/>
          </a:prstGeom>
          <a:noFill/>
          <a:ln/>
        </p:spPr>
        <p:txBody>
          <a:bodyPr wrap="square" lIns="0" tIns="0" rIns="0" bIns="0" rtlCol="0" anchor="t"/>
          <a:lstStyle/>
          <a:p>
            <a:pPr algn="r" indent="0" marL="0">
              <a:buNone/>
            </a:pPr>
            <a:r>
              <a:rPr lang="en-US" sz="1000" i="1" dirty="0">
                <a:solidFill>
                  <a:schemeClr val="accent6"/>
                </a:solidFill>
              </a:rPr>
              <a:t>Classification and restricted-view register</a:t>
            </a:r>
            <a:endParaRPr lang="en-US" sz="1000" dirty="0"/>
          </a:p>
        </p:txBody>
      </p:sp>
      <p:sp>
        <p:nvSpPr>
          <p:cNvPr id="46" name="card"/>
          <p:cNvSpPr/>
          <p:nvPr/>
        </p:nvSpPr>
        <p:spPr>
          <a:xfrm>
            <a:off x="6210148" y="4901184"/>
            <a:ext cx="5432908" cy="1024128"/>
          </a:xfrm>
          <a:prstGeom prst="roundRect">
            <a:avLst>
              <a:gd name="adj" fmla="val 7143"/>
            </a:avLst>
          </a:prstGeom>
          <a:solidFill>
            <a:schemeClr val="bg2"/>
          </a:solidFill>
          <a:ln w="12700">
            <a:solidFill>
              <a:schemeClr val="bg2"/>
            </a:solidFill>
            <a:prstDash val="solid"/>
          </a:ln>
        </p:spPr>
      </p:sp>
      <p:sp>
        <p:nvSpPr>
          <p:cNvPr id="47" name="chip"/>
          <p:cNvSpPr/>
          <p:nvPr/>
        </p:nvSpPr>
        <p:spPr>
          <a:xfrm>
            <a:off x="6347308" y="5038344"/>
            <a:ext cx="329184" cy="329184"/>
          </a:xfrm>
          <a:prstGeom prst="ellipse">
            <a:avLst/>
          </a:prstGeom>
          <a:solidFill>
            <a:schemeClr val="accent4"/>
          </a:solidFill>
          <a:ln w="12700">
            <a:solidFill>
              <a:schemeClr val="accent4"/>
            </a:solidFill>
            <a:prstDash val="solid"/>
          </a:ln>
        </p:spPr>
      </p:sp>
      <p:sp>
        <p:nvSpPr>
          <p:cNvPr id="48" name="text"/>
          <p:cNvSpPr txBox="1"/>
          <p:nvPr/>
        </p:nvSpPr>
        <p:spPr>
          <a:xfrm>
            <a:off x="6347308" y="5038344"/>
            <a:ext cx="329184" cy="329184"/>
          </a:xfrm>
          <a:prstGeom prst="rect">
            <a:avLst/>
          </a:prstGeom>
          <a:noFill/>
          <a:ln/>
        </p:spPr>
        <p:txBody>
          <a:bodyPr wrap="square" lIns="0" tIns="0" rIns="0" bIns="0" rtlCol="0" anchor="ctr"/>
          <a:lstStyle/>
          <a:p>
            <a:pPr algn="ctr" indent="0" marL="0">
              <a:buNone/>
            </a:pPr>
            <a:r>
              <a:rPr lang="en-US" sz="1200" b="1" dirty="0">
                <a:solidFill>
                  <a:schemeClr val="bg1"/>
                </a:solidFill>
              </a:rPr>
              <a:t>8</a:t>
            </a:r>
            <a:endParaRPr lang="en-US" sz="1200" dirty="0"/>
          </a:p>
        </p:txBody>
      </p:sp>
      <p:sp>
        <p:nvSpPr>
          <p:cNvPr id="49" name="text"/>
          <p:cNvSpPr txBox="1"/>
          <p:nvPr/>
        </p:nvSpPr>
        <p:spPr>
          <a:xfrm>
            <a:off x="6786220" y="5020056"/>
            <a:ext cx="4792828" cy="365760"/>
          </a:xfrm>
          <a:prstGeom prst="rect">
            <a:avLst/>
          </a:prstGeom>
          <a:noFill/>
          <a:ln/>
        </p:spPr>
        <p:txBody>
          <a:bodyPr wrap="square" lIns="0" tIns="0" rIns="0" bIns="0" rtlCol="0" anchor="ctr"/>
          <a:lstStyle/>
          <a:p>
            <a:pPr indent="0" marL="0">
              <a:buNone/>
            </a:pPr>
            <a:r>
              <a:rPr lang="en-US" sz="1250" b="1" dirty="0">
                <a:solidFill>
                  <a:schemeClr val="tx1"/>
                </a:solidFill>
              </a:rPr>
              <a:t>Write for a business reader</a:t>
            </a:r>
            <a:endParaRPr lang="en-US" sz="1250" dirty="0"/>
          </a:p>
        </p:txBody>
      </p:sp>
      <p:sp>
        <p:nvSpPr>
          <p:cNvPr id="50" name="text"/>
          <p:cNvSpPr txBox="1"/>
          <p:nvPr/>
        </p:nvSpPr>
        <p:spPr>
          <a:xfrm>
            <a:off x="6347308" y="5404104"/>
            <a:ext cx="3329788" cy="502920"/>
          </a:xfrm>
          <a:prstGeom prst="rect">
            <a:avLst/>
          </a:prstGeom>
          <a:noFill/>
          <a:ln/>
        </p:spPr>
        <p:txBody>
          <a:bodyPr wrap="square" lIns="0" tIns="0" rIns="0" bIns="0" rtlCol="0" anchor="t"/>
          <a:lstStyle/>
          <a:p>
            <a:pPr indent="0" marL="0">
              <a:buNone/>
            </a:pPr>
            <a:r>
              <a:rPr lang="en-US" sz="1050" dirty="0">
                <a:solidFill>
                  <a:schemeClr val="tx1"/>
                </a:solidFill>
              </a:rPr>
              <a:t>US spelling, plain sentences, no marketing language, the taxonomy's terms</a:t>
            </a:r>
            <a:endParaRPr lang="en-US" sz="1050" dirty="0"/>
          </a:p>
        </p:txBody>
      </p:sp>
      <p:sp>
        <p:nvSpPr>
          <p:cNvPr id="51" name="text"/>
          <p:cNvSpPr txBox="1"/>
          <p:nvPr/>
        </p:nvSpPr>
        <p:spPr>
          <a:xfrm>
            <a:off x="9768535" y="5404104"/>
            <a:ext cx="1737360" cy="502920"/>
          </a:xfrm>
          <a:prstGeom prst="rect">
            <a:avLst/>
          </a:prstGeom>
          <a:noFill/>
          <a:ln/>
        </p:spPr>
        <p:txBody>
          <a:bodyPr wrap="square" lIns="0" tIns="0" rIns="0" bIns="0" rtlCol="0" anchor="t"/>
          <a:lstStyle/>
          <a:p>
            <a:pPr algn="r" indent="0" marL="0">
              <a:buNone/>
            </a:pPr>
            <a:r>
              <a:rPr lang="en-US" sz="1000" i="1" dirty="0">
                <a:solidFill>
                  <a:schemeClr val="accent6"/>
                </a:solidFill>
              </a:rPr>
              <a:t>Spec review</a:t>
            </a:r>
            <a:endParaRPr lang="en-US" sz="10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How a product lives: from a register entry to a product that reports its own state</a:t>
            </a:r>
            <a:endParaRPr lang="en-US" sz="2800" dirty="0"/>
          </a:p>
        </p:txBody>
      </p:sp>
      <p:sp>
        <p:nvSpPr>
          <p:cNvPr id="4" name="card"/>
          <p:cNvSpPr/>
          <p:nvPr/>
        </p:nvSpPr>
        <p:spPr>
          <a:xfrm>
            <a:off x="548640" y="1508760"/>
            <a:ext cx="2011680" cy="2103120"/>
          </a:xfrm>
          <a:prstGeom prst="roundRect">
            <a:avLst>
              <a:gd name="adj" fmla="val 3636"/>
            </a:avLst>
          </a:prstGeom>
          <a:solidFill>
            <a:schemeClr val="bg2"/>
          </a:solidFill>
          <a:ln w="12700">
            <a:solidFill>
              <a:schemeClr val="bg2"/>
            </a:solidFill>
            <a:prstDash val="solid"/>
          </a:ln>
        </p:spPr>
      </p:sp>
      <p:sp>
        <p:nvSpPr>
          <p:cNvPr id="5" name="chip"/>
          <p:cNvSpPr/>
          <p:nvPr/>
        </p:nvSpPr>
        <p:spPr>
          <a:xfrm>
            <a:off x="685800" y="1645920"/>
            <a:ext cx="365760" cy="365760"/>
          </a:xfrm>
          <a:prstGeom prst="ellipse">
            <a:avLst/>
          </a:prstGeom>
          <a:solidFill>
            <a:schemeClr val="accent1"/>
          </a:solidFill>
          <a:ln w="12700">
            <a:solidFill>
              <a:schemeClr val="accent1"/>
            </a:solidFill>
            <a:prstDash val="solid"/>
          </a:ln>
        </p:spPr>
      </p:sp>
      <p:sp>
        <p:nvSpPr>
          <p:cNvPr id="6" name="text"/>
          <p:cNvSpPr txBox="1"/>
          <p:nvPr/>
        </p:nvSpPr>
        <p:spPr>
          <a:xfrm>
            <a:off x="685800" y="164592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7" name="text"/>
          <p:cNvSpPr txBox="1"/>
          <p:nvPr/>
        </p:nvSpPr>
        <p:spPr>
          <a:xfrm>
            <a:off x="1161288" y="1627632"/>
            <a:ext cx="1325880" cy="402336"/>
          </a:xfrm>
          <a:prstGeom prst="rect">
            <a:avLst/>
          </a:prstGeom>
          <a:noFill/>
          <a:ln/>
        </p:spPr>
        <p:txBody>
          <a:bodyPr wrap="square" lIns="0" tIns="0" rIns="0" bIns="0" rtlCol="0" anchor="ctr"/>
          <a:lstStyle/>
          <a:p>
            <a:pPr indent="0" marL="0">
              <a:buNone/>
            </a:pPr>
            <a:r>
              <a:rPr lang="en-US" sz="1300" b="1" dirty="0">
                <a:solidFill>
                  <a:schemeClr val="tx1"/>
                </a:solidFill>
              </a:rPr>
              <a:t>Registered</a:t>
            </a:r>
            <a:endParaRPr lang="en-US" sz="1300" dirty="0"/>
          </a:p>
        </p:txBody>
      </p:sp>
      <p:sp>
        <p:nvSpPr>
          <p:cNvPr id="8" name="text"/>
          <p:cNvSpPr txBox="1"/>
          <p:nvPr/>
        </p:nvSpPr>
        <p:spPr>
          <a:xfrm>
            <a:off x="685800" y="2148840"/>
            <a:ext cx="1737360" cy="1325880"/>
          </a:xfrm>
          <a:prstGeom prst="rect">
            <a:avLst/>
          </a:prstGeom>
          <a:noFill/>
          <a:ln/>
        </p:spPr>
        <p:txBody>
          <a:bodyPr wrap="square" lIns="0" tIns="0" rIns="0" bIns="0" rtlCol="0" anchor="t"/>
          <a:lstStyle/>
          <a:p>
            <a:pPr indent="0" marL="0">
              <a:buNone/>
            </a:pPr>
            <a:r>
              <a:rPr lang="en-US" sz="1100" dirty="0">
                <a:solidFill>
                  <a:schemeClr val="tx1"/>
                </a:solidFill>
              </a:rPr>
              <a:t>Id, name, tier, type, owning domain, owner, functions served. Entered by the program lead from an accepted brief.</a:t>
            </a:r>
            <a:endParaRPr lang="en-US" sz="1100" dirty="0"/>
          </a:p>
        </p:txBody>
      </p:sp>
      <p:sp>
        <p:nvSpPr>
          <p:cNvPr id="9" name="arrow"/>
          <p:cNvSpPr/>
          <p:nvPr/>
        </p:nvSpPr>
        <p:spPr>
          <a:xfrm>
            <a:off x="2596896" y="1691640"/>
            <a:ext cx="185852" cy="274320"/>
          </a:xfrm>
          <a:prstGeom prst="rightArrow">
            <a:avLst/>
          </a:prstGeom>
          <a:solidFill>
            <a:schemeClr val="accent6"/>
          </a:solidFill>
          <a:ln w="12700">
            <a:solidFill>
              <a:schemeClr val="accent6"/>
            </a:solidFill>
            <a:prstDash val="solid"/>
          </a:ln>
        </p:spPr>
      </p:sp>
      <p:sp>
        <p:nvSpPr>
          <p:cNvPr id="10" name="card"/>
          <p:cNvSpPr/>
          <p:nvPr/>
        </p:nvSpPr>
        <p:spPr>
          <a:xfrm>
            <a:off x="2819324" y="1508760"/>
            <a:ext cx="2011680" cy="2103120"/>
          </a:xfrm>
          <a:prstGeom prst="roundRect">
            <a:avLst>
              <a:gd name="adj" fmla="val 3636"/>
            </a:avLst>
          </a:prstGeom>
          <a:solidFill>
            <a:schemeClr val="bg2"/>
          </a:solidFill>
          <a:ln w="12700">
            <a:solidFill>
              <a:schemeClr val="bg2"/>
            </a:solidFill>
            <a:prstDash val="solid"/>
          </a:ln>
        </p:spPr>
      </p:sp>
      <p:sp>
        <p:nvSpPr>
          <p:cNvPr id="11" name="chip"/>
          <p:cNvSpPr/>
          <p:nvPr/>
        </p:nvSpPr>
        <p:spPr>
          <a:xfrm>
            <a:off x="2956484" y="1645920"/>
            <a:ext cx="365760" cy="365760"/>
          </a:xfrm>
          <a:prstGeom prst="ellipse">
            <a:avLst/>
          </a:prstGeom>
          <a:solidFill>
            <a:schemeClr val="accent2"/>
          </a:solidFill>
          <a:ln w="12700">
            <a:solidFill>
              <a:schemeClr val="accent2"/>
            </a:solidFill>
            <a:prstDash val="solid"/>
          </a:ln>
        </p:spPr>
      </p:sp>
      <p:sp>
        <p:nvSpPr>
          <p:cNvPr id="12" name="text"/>
          <p:cNvSpPr txBox="1"/>
          <p:nvPr/>
        </p:nvSpPr>
        <p:spPr>
          <a:xfrm>
            <a:off x="2956484" y="164592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3" name="text"/>
          <p:cNvSpPr txBox="1"/>
          <p:nvPr/>
        </p:nvSpPr>
        <p:spPr>
          <a:xfrm>
            <a:off x="3431972" y="1627632"/>
            <a:ext cx="1325880" cy="402336"/>
          </a:xfrm>
          <a:prstGeom prst="rect">
            <a:avLst/>
          </a:prstGeom>
          <a:noFill/>
          <a:ln/>
        </p:spPr>
        <p:txBody>
          <a:bodyPr wrap="square" lIns="0" tIns="0" rIns="0" bIns="0" rtlCol="0" anchor="ctr"/>
          <a:lstStyle/>
          <a:p>
            <a:pPr indent="0" marL="0">
              <a:buNone/>
            </a:pPr>
            <a:r>
              <a:rPr lang="en-US" sz="1300" b="1" dirty="0">
                <a:solidFill>
                  <a:schemeClr val="tx1"/>
                </a:solidFill>
              </a:rPr>
              <a:t>Specified</a:t>
            </a:r>
            <a:endParaRPr lang="en-US" sz="1300" dirty="0"/>
          </a:p>
        </p:txBody>
      </p:sp>
      <p:sp>
        <p:nvSpPr>
          <p:cNvPr id="14" name="text"/>
          <p:cNvSpPr txBox="1"/>
          <p:nvPr/>
        </p:nvSpPr>
        <p:spPr>
          <a:xfrm>
            <a:off x="2956484" y="2148840"/>
            <a:ext cx="1737360" cy="1325880"/>
          </a:xfrm>
          <a:prstGeom prst="rect">
            <a:avLst/>
          </a:prstGeom>
          <a:noFill/>
          <a:ln/>
        </p:spPr>
        <p:txBody>
          <a:bodyPr wrap="square" lIns="0" tIns="0" rIns="0" bIns="0" rtlCol="0" anchor="t"/>
          <a:lstStyle/>
          <a:p>
            <a:pPr indent="0" marL="0">
              <a:buNone/>
            </a:pPr>
            <a:r>
              <a:rPr lang="en-US" sz="1100" dirty="0">
                <a:solidFill>
                  <a:schemeClr val="tx1"/>
                </a:solidFill>
              </a:rPr>
              <a:t>Every field of the anatomy written: grain, measures, inputs, upstream, service levels, quality rules.</a:t>
            </a:r>
            <a:endParaRPr lang="en-US" sz="1100" dirty="0"/>
          </a:p>
        </p:txBody>
      </p:sp>
      <p:sp>
        <p:nvSpPr>
          <p:cNvPr id="15" name="arrow"/>
          <p:cNvSpPr/>
          <p:nvPr/>
        </p:nvSpPr>
        <p:spPr>
          <a:xfrm>
            <a:off x="4867580" y="1691640"/>
            <a:ext cx="185852" cy="274320"/>
          </a:xfrm>
          <a:prstGeom prst="rightArrow">
            <a:avLst/>
          </a:prstGeom>
          <a:solidFill>
            <a:schemeClr val="accent6"/>
          </a:solidFill>
          <a:ln w="12700">
            <a:solidFill>
              <a:schemeClr val="accent6"/>
            </a:solidFill>
            <a:prstDash val="solid"/>
          </a:ln>
        </p:spPr>
      </p:sp>
      <p:sp>
        <p:nvSpPr>
          <p:cNvPr id="16" name="card"/>
          <p:cNvSpPr/>
          <p:nvPr/>
        </p:nvSpPr>
        <p:spPr>
          <a:xfrm>
            <a:off x="5090008" y="1508760"/>
            <a:ext cx="2011680" cy="2103120"/>
          </a:xfrm>
          <a:prstGeom prst="roundRect">
            <a:avLst>
              <a:gd name="adj" fmla="val 3636"/>
            </a:avLst>
          </a:prstGeom>
          <a:solidFill>
            <a:schemeClr val="bg2"/>
          </a:solidFill>
          <a:ln w="12700">
            <a:solidFill>
              <a:schemeClr val="bg2"/>
            </a:solidFill>
            <a:prstDash val="solid"/>
          </a:ln>
        </p:spPr>
      </p:sp>
      <p:sp>
        <p:nvSpPr>
          <p:cNvPr id="17" name="chip"/>
          <p:cNvSpPr/>
          <p:nvPr/>
        </p:nvSpPr>
        <p:spPr>
          <a:xfrm>
            <a:off x="5227168" y="1645920"/>
            <a:ext cx="365760" cy="365760"/>
          </a:xfrm>
          <a:prstGeom prst="ellipse">
            <a:avLst/>
          </a:prstGeom>
          <a:solidFill>
            <a:schemeClr val="accent5"/>
          </a:solidFill>
          <a:ln w="12700">
            <a:solidFill>
              <a:schemeClr val="accent5"/>
            </a:solidFill>
            <a:prstDash val="solid"/>
          </a:ln>
        </p:spPr>
      </p:sp>
      <p:sp>
        <p:nvSpPr>
          <p:cNvPr id="18" name="text"/>
          <p:cNvSpPr txBox="1"/>
          <p:nvPr/>
        </p:nvSpPr>
        <p:spPr>
          <a:xfrm>
            <a:off x="5227168" y="164592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9" name="text"/>
          <p:cNvSpPr txBox="1"/>
          <p:nvPr/>
        </p:nvSpPr>
        <p:spPr>
          <a:xfrm>
            <a:off x="5702656" y="1627632"/>
            <a:ext cx="1325880" cy="402336"/>
          </a:xfrm>
          <a:prstGeom prst="rect">
            <a:avLst/>
          </a:prstGeom>
          <a:noFill/>
          <a:ln/>
        </p:spPr>
        <p:txBody>
          <a:bodyPr wrap="square" lIns="0" tIns="0" rIns="0" bIns="0" rtlCol="0" anchor="ctr"/>
          <a:lstStyle/>
          <a:p>
            <a:pPr indent="0" marL="0">
              <a:buNone/>
            </a:pPr>
            <a:r>
              <a:rPr lang="en-US" sz="1300" b="1" dirty="0">
                <a:solidFill>
                  <a:schemeClr val="tx1"/>
                </a:solidFill>
              </a:rPr>
              <a:t>Validated</a:t>
            </a:r>
            <a:endParaRPr lang="en-US" sz="1300" dirty="0"/>
          </a:p>
        </p:txBody>
      </p:sp>
      <p:sp>
        <p:nvSpPr>
          <p:cNvPr id="20" name="text"/>
          <p:cNvSpPr txBox="1"/>
          <p:nvPr/>
        </p:nvSpPr>
        <p:spPr>
          <a:xfrm>
            <a:off x="5227168" y="2148840"/>
            <a:ext cx="1737360" cy="1325880"/>
          </a:xfrm>
          <a:prstGeom prst="rect">
            <a:avLst/>
          </a:prstGeom>
          <a:noFill/>
          <a:ln/>
        </p:spPr>
        <p:txBody>
          <a:bodyPr wrap="square" lIns="0" tIns="0" rIns="0" bIns="0" rtlCol="0" anchor="t"/>
          <a:lstStyle/>
          <a:p>
            <a:pPr indent="0" marL="0">
              <a:buNone/>
            </a:pPr>
            <a:r>
              <a:rPr lang="en-US" sz="1100" dirty="0">
                <a:solidFill>
                  <a:schemeClr val="tx1"/>
                </a:solidFill>
              </a:rPr>
              <a:t>Inputs against the taxonomy, uses against inputs, upstream against the tiers. Rejected until it passes.</a:t>
            </a:r>
            <a:endParaRPr lang="en-US" sz="1100" dirty="0"/>
          </a:p>
        </p:txBody>
      </p:sp>
      <p:sp>
        <p:nvSpPr>
          <p:cNvPr id="21" name="arrow"/>
          <p:cNvSpPr/>
          <p:nvPr/>
        </p:nvSpPr>
        <p:spPr>
          <a:xfrm>
            <a:off x="7138264" y="1691640"/>
            <a:ext cx="185852" cy="274320"/>
          </a:xfrm>
          <a:prstGeom prst="rightArrow">
            <a:avLst/>
          </a:prstGeom>
          <a:solidFill>
            <a:schemeClr val="accent6"/>
          </a:solidFill>
          <a:ln w="12700">
            <a:solidFill>
              <a:schemeClr val="accent6"/>
            </a:solidFill>
            <a:prstDash val="solid"/>
          </a:ln>
        </p:spPr>
      </p:sp>
      <p:sp>
        <p:nvSpPr>
          <p:cNvPr id="22" name="card"/>
          <p:cNvSpPr/>
          <p:nvPr/>
        </p:nvSpPr>
        <p:spPr>
          <a:xfrm>
            <a:off x="7360691" y="1508760"/>
            <a:ext cx="2011680" cy="2103120"/>
          </a:xfrm>
          <a:prstGeom prst="roundRect">
            <a:avLst>
              <a:gd name="adj" fmla="val 3636"/>
            </a:avLst>
          </a:prstGeom>
          <a:solidFill>
            <a:schemeClr val="bg2"/>
          </a:solidFill>
          <a:ln w="12700">
            <a:solidFill>
              <a:schemeClr val="bg2"/>
            </a:solidFill>
            <a:prstDash val="solid"/>
          </a:ln>
        </p:spPr>
      </p:sp>
      <p:sp>
        <p:nvSpPr>
          <p:cNvPr id="23" name="chip"/>
          <p:cNvSpPr/>
          <p:nvPr/>
        </p:nvSpPr>
        <p:spPr>
          <a:xfrm>
            <a:off x="7497851" y="1645920"/>
            <a:ext cx="365760" cy="365760"/>
          </a:xfrm>
          <a:prstGeom prst="ellipse">
            <a:avLst/>
          </a:prstGeom>
          <a:solidFill>
            <a:schemeClr val="accent3"/>
          </a:solidFill>
          <a:ln w="12700">
            <a:solidFill>
              <a:schemeClr val="accent3"/>
            </a:solidFill>
            <a:prstDash val="solid"/>
          </a:ln>
        </p:spPr>
      </p:sp>
      <p:sp>
        <p:nvSpPr>
          <p:cNvPr id="24" name="text"/>
          <p:cNvSpPr txBox="1"/>
          <p:nvPr/>
        </p:nvSpPr>
        <p:spPr>
          <a:xfrm>
            <a:off x="7497851" y="164592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25" name="text"/>
          <p:cNvSpPr txBox="1"/>
          <p:nvPr/>
        </p:nvSpPr>
        <p:spPr>
          <a:xfrm>
            <a:off x="7973339" y="1627632"/>
            <a:ext cx="1325880" cy="402336"/>
          </a:xfrm>
          <a:prstGeom prst="rect">
            <a:avLst/>
          </a:prstGeom>
          <a:noFill/>
          <a:ln/>
        </p:spPr>
        <p:txBody>
          <a:bodyPr wrap="square" lIns="0" tIns="0" rIns="0" bIns="0" rtlCol="0" anchor="ctr"/>
          <a:lstStyle/>
          <a:p>
            <a:pPr indent="0" marL="0">
              <a:buNone/>
            </a:pPr>
            <a:r>
              <a:rPr lang="en-US" sz="1300" b="1" dirty="0">
                <a:solidFill>
                  <a:schemeClr val="tx1"/>
                </a:solidFill>
              </a:rPr>
              <a:t>Published</a:t>
            </a:r>
            <a:endParaRPr lang="en-US" sz="1300" dirty="0"/>
          </a:p>
        </p:txBody>
      </p:sp>
      <p:sp>
        <p:nvSpPr>
          <p:cNvPr id="26" name="text"/>
          <p:cNvSpPr txBox="1"/>
          <p:nvPr/>
        </p:nvSpPr>
        <p:spPr>
          <a:xfrm>
            <a:off x="7497851" y="2148840"/>
            <a:ext cx="1737360" cy="1325880"/>
          </a:xfrm>
          <a:prstGeom prst="rect">
            <a:avLst/>
          </a:prstGeom>
          <a:noFill/>
          <a:ln/>
        </p:spPr>
        <p:txBody>
          <a:bodyPr wrap="square" lIns="0" tIns="0" rIns="0" bIns="0" rtlCol="0" anchor="t"/>
          <a:lstStyle/>
          <a:p>
            <a:pPr indent="0" marL="0">
              <a:buNone/>
            </a:pPr>
            <a:r>
              <a:rPr lang="en-US" sz="1100" dirty="0">
                <a:solidFill>
                  <a:schemeClr val="tx1"/>
                </a:solidFill>
              </a:rPr>
              <a:t>In the catalog and the explorer; bound by a semantic model to dashboards, Excel and AI assistants.</a:t>
            </a:r>
            <a:endParaRPr lang="en-US" sz="1100" dirty="0"/>
          </a:p>
        </p:txBody>
      </p:sp>
      <p:sp>
        <p:nvSpPr>
          <p:cNvPr id="27" name="arrow"/>
          <p:cNvSpPr/>
          <p:nvPr/>
        </p:nvSpPr>
        <p:spPr>
          <a:xfrm>
            <a:off x="9408947" y="1691640"/>
            <a:ext cx="185852" cy="274320"/>
          </a:xfrm>
          <a:prstGeom prst="rightArrow">
            <a:avLst/>
          </a:prstGeom>
          <a:solidFill>
            <a:schemeClr val="accent6"/>
          </a:solidFill>
          <a:ln w="12700">
            <a:solidFill>
              <a:schemeClr val="accent6"/>
            </a:solidFill>
            <a:prstDash val="solid"/>
          </a:ln>
        </p:spPr>
      </p:sp>
      <p:sp>
        <p:nvSpPr>
          <p:cNvPr id="28" name="card"/>
          <p:cNvSpPr/>
          <p:nvPr/>
        </p:nvSpPr>
        <p:spPr>
          <a:xfrm>
            <a:off x="9631375" y="1508760"/>
            <a:ext cx="2011680" cy="2103120"/>
          </a:xfrm>
          <a:prstGeom prst="roundRect">
            <a:avLst>
              <a:gd name="adj" fmla="val 3636"/>
            </a:avLst>
          </a:prstGeom>
          <a:solidFill>
            <a:schemeClr val="bg2"/>
          </a:solidFill>
          <a:ln w="12700">
            <a:solidFill>
              <a:schemeClr val="bg2"/>
            </a:solidFill>
            <a:prstDash val="solid"/>
          </a:ln>
        </p:spPr>
      </p:sp>
      <p:sp>
        <p:nvSpPr>
          <p:cNvPr id="29" name="chip"/>
          <p:cNvSpPr/>
          <p:nvPr/>
        </p:nvSpPr>
        <p:spPr>
          <a:xfrm>
            <a:off x="9768535" y="1645920"/>
            <a:ext cx="365760" cy="365760"/>
          </a:xfrm>
          <a:prstGeom prst="ellipse">
            <a:avLst/>
          </a:prstGeom>
          <a:solidFill>
            <a:schemeClr val="accent4"/>
          </a:solidFill>
          <a:ln w="12700">
            <a:solidFill>
              <a:schemeClr val="accent4"/>
            </a:solidFill>
            <a:prstDash val="solid"/>
          </a:ln>
        </p:spPr>
      </p:sp>
      <p:sp>
        <p:nvSpPr>
          <p:cNvPr id="30" name="text"/>
          <p:cNvSpPr txBox="1"/>
          <p:nvPr/>
        </p:nvSpPr>
        <p:spPr>
          <a:xfrm>
            <a:off x="9768535" y="1645920"/>
            <a:ext cx="365760" cy="365760"/>
          </a:xfrm>
          <a:prstGeom prst="rect">
            <a:avLst/>
          </a:prstGeom>
          <a:noFill/>
          <a:ln/>
        </p:spPr>
        <p:txBody>
          <a:bodyPr wrap="square" lIns="0" tIns="0" rIns="0" bIns="0" rtlCol="0" anchor="ctr"/>
          <a:lstStyle/>
          <a:p>
            <a:pPr algn="ctr" indent="0" marL="0">
              <a:buNone/>
            </a:pPr>
            <a:r>
              <a:rPr lang="en-US" sz="1200" b="1" dirty="0">
                <a:solidFill>
                  <a:schemeClr val="bg1"/>
                </a:solidFill>
              </a:rPr>
              <a:t>5</a:t>
            </a:r>
            <a:endParaRPr lang="en-US" sz="1200" dirty="0"/>
          </a:p>
        </p:txBody>
      </p:sp>
      <p:sp>
        <p:nvSpPr>
          <p:cNvPr id="31" name="text"/>
          <p:cNvSpPr txBox="1"/>
          <p:nvPr/>
        </p:nvSpPr>
        <p:spPr>
          <a:xfrm>
            <a:off x="10244023" y="1627632"/>
            <a:ext cx="1325880" cy="402336"/>
          </a:xfrm>
          <a:prstGeom prst="rect">
            <a:avLst/>
          </a:prstGeom>
          <a:noFill/>
          <a:ln/>
        </p:spPr>
        <p:txBody>
          <a:bodyPr wrap="square" lIns="0" tIns="0" rIns="0" bIns="0" rtlCol="0" anchor="ctr"/>
          <a:lstStyle/>
          <a:p>
            <a:pPr indent="0" marL="0">
              <a:buNone/>
            </a:pPr>
            <a:r>
              <a:rPr lang="en-US" sz="1300" b="1" dirty="0">
                <a:solidFill>
                  <a:schemeClr val="tx1"/>
                </a:solidFill>
              </a:rPr>
              <a:t>Activated</a:t>
            </a:r>
            <a:endParaRPr lang="en-US" sz="1300" dirty="0"/>
          </a:p>
        </p:txBody>
      </p:sp>
      <p:sp>
        <p:nvSpPr>
          <p:cNvPr id="32" name="text"/>
          <p:cNvSpPr txBox="1"/>
          <p:nvPr/>
        </p:nvSpPr>
        <p:spPr>
          <a:xfrm>
            <a:off x="9768535" y="2148840"/>
            <a:ext cx="1737360" cy="1325880"/>
          </a:xfrm>
          <a:prstGeom prst="rect">
            <a:avLst/>
          </a:prstGeom>
          <a:noFill/>
          <a:ln/>
        </p:spPr>
        <p:txBody>
          <a:bodyPr wrap="square" lIns="0" tIns="0" rIns="0" bIns="0" rtlCol="0" anchor="t"/>
          <a:lstStyle/>
          <a:p>
            <a:pPr indent="0" marL="0">
              <a:buNone/>
            </a:pPr>
            <a:r>
              <a:rPr lang="en-US" sz="1100" dirty="0">
                <a:solidFill>
                  <a:schemeClr val="tx1"/>
                </a:solidFill>
              </a:rPr>
              <a:t>Sources mapped; the product reports enabled, partial or not started, and names what nobody populates yet.</a:t>
            </a:r>
            <a:endParaRPr lang="en-US" sz="1100" dirty="0"/>
          </a:p>
        </p:txBody>
      </p:sp>
      <p:sp>
        <p:nvSpPr>
          <p:cNvPr id="33" name="card"/>
          <p:cNvSpPr/>
          <p:nvPr/>
        </p:nvSpPr>
        <p:spPr>
          <a:xfrm>
            <a:off x="548640" y="3886200"/>
            <a:ext cx="5422392" cy="777240"/>
          </a:xfrm>
          <a:prstGeom prst="roundRect">
            <a:avLst>
              <a:gd name="adj" fmla="val 9412"/>
            </a:avLst>
          </a:prstGeom>
          <a:solidFill>
            <a:schemeClr val="bg2"/>
          </a:solidFill>
          <a:ln w="12700">
            <a:solidFill>
              <a:schemeClr val="bg2"/>
            </a:solidFill>
            <a:prstDash val="solid"/>
          </a:ln>
        </p:spPr>
      </p:sp>
      <p:sp>
        <p:nvSpPr>
          <p:cNvPr id="34" name="text"/>
          <p:cNvSpPr txBox="1"/>
          <p:nvPr/>
        </p:nvSpPr>
        <p:spPr>
          <a:xfrm>
            <a:off x="731520" y="3995928"/>
            <a:ext cx="1188720" cy="548640"/>
          </a:xfrm>
          <a:prstGeom prst="rect">
            <a:avLst/>
          </a:prstGeom>
          <a:noFill/>
          <a:ln/>
        </p:spPr>
        <p:txBody>
          <a:bodyPr wrap="square" lIns="0" tIns="0" rIns="0" bIns="0" rtlCol="0" anchor="ctr"/>
          <a:lstStyle/>
          <a:p>
            <a:pPr indent="0" marL="0">
              <a:buNone/>
            </a:pPr>
            <a:r>
              <a:rPr lang="en-US" sz="1300" b="1" dirty="0">
                <a:solidFill>
                  <a:schemeClr val="accent6"/>
                </a:solidFill>
              </a:rPr>
              <a:t>Backlog</a:t>
            </a:r>
            <a:endParaRPr lang="en-US" sz="1300" dirty="0"/>
          </a:p>
        </p:txBody>
      </p:sp>
      <p:sp>
        <p:nvSpPr>
          <p:cNvPr id="35" name="text"/>
          <p:cNvSpPr txBox="1"/>
          <p:nvPr/>
        </p:nvSpPr>
        <p:spPr>
          <a:xfrm>
            <a:off x="1920240" y="3995928"/>
            <a:ext cx="3886200" cy="594360"/>
          </a:xfrm>
          <a:prstGeom prst="rect">
            <a:avLst/>
          </a:prstGeom>
          <a:noFill/>
          <a:ln/>
        </p:spPr>
        <p:txBody>
          <a:bodyPr wrap="square" lIns="0" tIns="0" rIns="0" bIns="0" rtlCol="0" anchor="ctr"/>
          <a:lstStyle/>
          <a:p>
            <a:pPr indent="0" marL="0">
              <a:buNone/>
            </a:pPr>
            <a:r>
              <a:rPr lang="en-US" sz="1100" dirty="0">
                <a:solidFill>
                  <a:schemeClr val="tx1"/>
                </a:solidFill>
              </a:rPr>
              <a:t>Registered as a candidate, not specified. Names the live product its scope folds into if picked up. 78 at WP2.</a:t>
            </a:r>
            <a:endParaRPr lang="en-US" sz="1100" dirty="0"/>
          </a:p>
        </p:txBody>
      </p:sp>
      <p:sp>
        <p:nvSpPr>
          <p:cNvPr id="36" name="card"/>
          <p:cNvSpPr/>
          <p:nvPr/>
        </p:nvSpPr>
        <p:spPr>
          <a:xfrm>
            <a:off x="6217920" y="3886200"/>
            <a:ext cx="5422392" cy="777240"/>
          </a:xfrm>
          <a:prstGeom prst="roundRect">
            <a:avLst>
              <a:gd name="adj" fmla="val 9412"/>
            </a:avLst>
          </a:prstGeom>
          <a:solidFill>
            <a:schemeClr val="bg2"/>
          </a:solidFill>
          <a:ln w="12700">
            <a:solidFill>
              <a:schemeClr val="bg2"/>
            </a:solidFill>
            <a:prstDash val="solid"/>
          </a:ln>
        </p:spPr>
      </p:sp>
      <p:sp>
        <p:nvSpPr>
          <p:cNvPr id="37" name="text"/>
          <p:cNvSpPr txBox="1"/>
          <p:nvPr/>
        </p:nvSpPr>
        <p:spPr>
          <a:xfrm>
            <a:off x="6400800" y="3995928"/>
            <a:ext cx="1188720" cy="548640"/>
          </a:xfrm>
          <a:prstGeom prst="rect">
            <a:avLst/>
          </a:prstGeom>
          <a:noFill/>
          <a:ln/>
        </p:spPr>
        <p:txBody>
          <a:bodyPr wrap="square" lIns="0" tIns="0" rIns="0" bIns="0" rtlCol="0" anchor="ctr"/>
          <a:lstStyle/>
          <a:p>
            <a:pPr indent="0" marL="0">
              <a:buNone/>
            </a:pPr>
            <a:r>
              <a:rPr lang="en-US" sz="1300" b="1" dirty="0">
                <a:solidFill>
                  <a:schemeClr val="accent6"/>
                </a:solidFill>
              </a:rPr>
              <a:t>Retired</a:t>
            </a:r>
            <a:endParaRPr lang="en-US" sz="1300" dirty="0"/>
          </a:p>
        </p:txBody>
      </p:sp>
      <p:sp>
        <p:nvSpPr>
          <p:cNvPr id="38" name="text"/>
          <p:cNvSpPr txBox="1"/>
          <p:nvPr/>
        </p:nvSpPr>
        <p:spPr>
          <a:xfrm>
            <a:off x="7589520" y="3995928"/>
            <a:ext cx="3886200" cy="594360"/>
          </a:xfrm>
          <a:prstGeom prst="rect">
            <a:avLst/>
          </a:prstGeom>
          <a:noFill/>
          <a:ln/>
        </p:spPr>
        <p:txBody>
          <a:bodyPr wrap="square" lIns="0" tIns="0" rIns="0" bIns="0" rtlCol="0" anchor="ctr"/>
          <a:lstStyle/>
          <a:p>
            <a:pPr indent="0" marL="0">
              <a:buNone/>
            </a:pPr>
            <a:r>
              <a:rPr lang="en-US" sz="1100" dirty="0">
                <a:solidFill>
                  <a:schemeClr val="tx1"/>
                </a:solidFill>
              </a:rPr>
              <a:t>Taken out with its decision recorded. The id is never reused. 77 at WP2.</a:t>
            </a:r>
            <a:endParaRPr lang="en-US" sz="1100" dirty="0"/>
          </a:p>
        </p:txBody>
      </p:sp>
      <p:sp>
        <p:nvSpPr>
          <p:cNvPr id="39" name="card"/>
          <p:cNvSpPr/>
          <p:nvPr/>
        </p:nvSpPr>
        <p:spPr>
          <a:xfrm>
            <a:off x="548640" y="4892040"/>
            <a:ext cx="11094415" cy="868680"/>
          </a:xfrm>
          <a:prstGeom prst="roundRect">
            <a:avLst>
              <a:gd name="adj" fmla="val 8421"/>
            </a:avLst>
          </a:prstGeom>
          <a:solidFill>
            <a:schemeClr val="tx2"/>
          </a:solidFill>
          <a:ln w="12700">
            <a:solidFill>
              <a:schemeClr val="tx2"/>
            </a:solidFill>
            <a:prstDash val="solid"/>
          </a:ln>
        </p:spPr>
      </p:sp>
      <p:sp>
        <p:nvSpPr>
          <p:cNvPr id="40" name="text"/>
          <p:cNvSpPr txBox="1"/>
          <p:nvPr/>
        </p:nvSpPr>
        <p:spPr>
          <a:xfrm>
            <a:off x="822960" y="5020056"/>
            <a:ext cx="4572000" cy="274320"/>
          </a:xfrm>
          <a:prstGeom prst="rect">
            <a:avLst/>
          </a:prstGeom>
          <a:noFill/>
          <a:ln/>
        </p:spPr>
        <p:txBody>
          <a:bodyPr wrap="square" lIns="0" tIns="0" rIns="0" bIns="0" rtlCol="0" anchor="t"/>
          <a:lstStyle/>
          <a:p>
            <a:pPr indent="0" marL="0">
              <a:buNone/>
            </a:pPr>
            <a:r>
              <a:rPr lang="en-US" sz="1100" b="1" dirty="0">
                <a:solidFill>
                  <a:schemeClr val="accent4"/>
                </a:solidFill>
              </a:rPr>
              <a:t>WHY ACTIVATION MATTERS</a:t>
            </a:r>
            <a:endParaRPr lang="en-US" sz="1100" dirty="0"/>
          </a:p>
        </p:txBody>
      </p:sp>
      <p:sp>
        <p:nvSpPr>
          <p:cNvPr id="41" name="text"/>
          <p:cNvSpPr txBox="1"/>
          <p:nvPr/>
        </p:nvSpPr>
        <p:spPr>
          <a:xfrm>
            <a:off x="822960" y="5276088"/>
            <a:ext cx="10545775" cy="411480"/>
          </a:xfrm>
          <a:prstGeom prst="rect">
            <a:avLst/>
          </a:prstGeom>
          <a:noFill/>
          <a:ln/>
        </p:spPr>
        <p:txBody>
          <a:bodyPr wrap="square" lIns="0" tIns="0" rIns="0" bIns="0" rtlCol="0" anchor="t"/>
          <a:lstStyle/>
          <a:p>
            <a:pPr indent="0" marL="0">
              <a:buNone/>
            </a:pPr>
            <a:r>
              <a:rPr lang="en-US" sz="1300" dirty="0">
                <a:solidFill>
                  <a:schemeClr val="bg1"/>
                </a:solidFill>
              </a:rPr>
              <a:t>The last state is the one most catalogs lack. A product that reports what is switched on and what is missing manages itself, and the list of what is missing is the data management backlog, generated.</a:t>
            </a:r>
            <a:endParaRPr lang="en-US" sz="130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94415" cy="868680"/>
          </a:xfrm>
          <a:prstGeom prst="rect">
            <a:avLst/>
          </a:prstGeom>
          <a:noFill/>
          <a:ln/>
        </p:spPr>
        <p:txBody>
          <a:bodyPr wrap="square" lIns="0" tIns="0" rIns="0" bIns="0" rtlCol="0" anchor="ctr"/>
          <a:lstStyle/>
          <a:p>
            <a:pPr algn="l" indent="0" marL="0">
              <a:buNone/>
            </a:pPr>
            <a:r>
              <a:rPr lang="en-US" sz="2800" b="1" dirty="0">
                <a:solidFill>
                  <a:schemeClr val="tx2"/>
                </a:solidFill>
              </a:rPr>
              <a:t>One product, read field by field: DP-008 Client Assets &amp; Net New Assets</a:t>
            </a:r>
            <a:endParaRPr lang="en-US" sz="2800" dirty="0"/>
          </a:p>
        </p:txBody>
      </p:sp>
      <p:sp>
        <p:nvSpPr>
          <p:cNvPr id="4" name="card"/>
          <p:cNvSpPr/>
          <p:nvPr/>
        </p:nvSpPr>
        <p:spPr>
          <a:xfrm>
            <a:off x="548640" y="1417320"/>
            <a:ext cx="3657600" cy="4608576"/>
          </a:xfrm>
          <a:prstGeom prst="roundRect">
            <a:avLst>
              <a:gd name="adj" fmla="val 2000"/>
            </a:avLst>
          </a:prstGeom>
          <a:solidFill>
            <a:schemeClr val="tx2"/>
          </a:solidFill>
          <a:ln w="12700">
            <a:solidFill>
              <a:schemeClr val="tx2"/>
            </a:solidFill>
            <a:prstDash val="solid"/>
          </a:ln>
        </p:spPr>
      </p:sp>
      <p:sp>
        <p:nvSpPr>
          <p:cNvPr id="5" name="text"/>
          <p:cNvSpPr txBox="1"/>
          <p:nvPr/>
        </p:nvSpPr>
        <p:spPr>
          <a:xfrm>
            <a:off x="749808" y="1581912"/>
            <a:ext cx="3200400" cy="274320"/>
          </a:xfrm>
          <a:prstGeom prst="rect">
            <a:avLst/>
          </a:prstGeom>
          <a:noFill/>
          <a:ln/>
        </p:spPr>
        <p:txBody>
          <a:bodyPr wrap="square" lIns="0" tIns="0" rIns="0" bIns="0" rtlCol="0" anchor="t"/>
          <a:lstStyle/>
          <a:p>
            <a:pPr indent="0" marL="0">
              <a:buNone/>
            </a:pPr>
            <a:r>
              <a:rPr lang="en-US" sz="1100" b="1" dirty="0">
                <a:solidFill>
                  <a:schemeClr val="accent4"/>
                </a:solidFill>
              </a:rPr>
              <a:t>IDENTITY</a:t>
            </a:r>
            <a:endParaRPr lang="en-US" sz="1100" dirty="0"/>
          </a:p>
        </p:txBody>
      </p:sp>
      <p:sp>
        <p:nvSpPr>
          <p:cNvPr id="6" name="text"/>
          <p:cNvSpPr txBox="1"/>
          <p:nvPr/>
        </p:nvSpPr>
        <p:spPr>
          <a:xfrm>
            <a:off x="749808" y="1892808"/>
            <a:ext cx="1188720" cy="384048"/>
          </a:xfrm>
          <a:prstGeom prst="rect">
            <a:avLst/>
          </a:prstGeom>
          <a:noFill/>
          <a:ln/>
        </p:spPr>
        <p:txBody>
          <a:bodyPr wrap="square" lIns="0" tIns="0" rIns="0" bIns="0" rtlCol="0" anchor="t"/>
          <a:lstStyle/>
          <a:p>
            <a:pPr indent="0" marL="0">
              <a:buNone/>
            </a:pPr>
            <a:r>
              <a:rPr lang="en-US" sz="1050" dirty="0">
                <a:solidFill>
                  <a:schemeClr val="bg2"/>
                </a:solidFill>
              </a:rPr>
              <a:t>Tier</a:t>
            </a:r>
            <a:endParaRPr lang="en-US" sz="1050" dirty="0"/>
          </a:p>
        </p:txBody>
      </p:sp>
      <p:sp>
        <p:nvSpPr>
          <p:cNvPr id="7" name="text"/>
          <p:cNvSpPr txBox="1"/>
          <p:nvPr/>
        </p:nvSpPr>
        <p:spPr>
          <a:xfrm>
            <a:off x="1920240" y="1892808"/>
            <a:ext cx="2103120" cy="384048"/>
          </a:xfrm>
          <a:prstGeom prst="rect">
            <a:avLst/>
          </a:prstGeom>
          <a:noFill/>
          <a:ln/>
        </p:spPr>
        <p:txBody>
          <a:bodyPr wrap="square" lIns="0" tIns="0" rIns="0" bIns="0" rtlCol="0" anchor="t"/>
          <a:lstStyle/>
          <a:p>
            <a:pPr indent="0" marL="0">
              <a:buNone/>
            </a:pPr>
            <a:r>
              <a:rPr lang="en-US" sz="1050" b="1" dirty="0">
                <a:solidFill>
                  <a:schemeClr val="bg1"/>
                </a:solidFill>
              </a:rPr>
              <a:t>Foundational</a:t>
            </a:r>
            <a:endParaRPr lang="en-US" sz="1050" dirty="0"/>
          </a:p>
        </p:txBody>
      </p:sp>
      <p:sp>
        <p:nvSpPr>
          <p:cNvPr id="8" name="text"/>
          <p:cNvSpPr txBox="1"/>
          <p:nvPr/>
        </p:nvSpPr>
        <p:spPr>
          <a:xfrm>
            <a:off x="749808" y="2295144"/>
            <a:ext cx="1188720" cy="384048"/>
          </a:xfrm>
          <a:prstGeom prst="rect">
            <a:avLst/>
          </a:prstGeom>
          <a:noFill/>
          <a:ln/>
        </p:spPr>
        <p:txBody>
          <a:bodyPr wrap="square" lIns="0" tIns="0" rIns="0" bIns="0" rtlCol="0" anchor="t"/>
          <a:lstStyle/>
          <a:p>
            <a:pPr indent="0" marL="0">
              <a:buNone/>
            </a:pPr>
            <a:r>
              <a:rPr lang="en-US" sz="1050" dirty="0">
                <a:solidFill>
                  <a:schemeClr val="bg2"/>
                </a:solidFill>
              </a:rPr>
              <a:t>Type</a:t>
            </a:r>
            <a:endParaRPr lang="en-US" sz="1050" dirty="0"/>
          </a:p>
        </p:txBody>
      </p:sp>
      <p:sp>
        <p:nvSpPr>
          <p:cNvPr id="9" name="text"/>
          <p:cNvSpPr txBox="1"/>
          <p:nvPr/>
        </p:nvSpPr>
        <p:spPr>
          <a:xfrm>
            <a:off x="1920240" y="2295144"/>
            <a:ext cx="2103120" cy="384048"/>
          </a:xfrm>
          <a:prstGeom prst="rect">
            <a:avLst/>
          </a:prstGeom>
          <a:noFill/>
          <a:ln/>
        </p:spPr>
        <p:txBody>
          <a:bodyPr wrap="square" lIns="0" tIns="0" rIns="0" bIns="0" rtlCol="0" anchor="t"/>
          <a:lstStyle/>
          <a:p>
            <a:pPr indent="0" marL="0">
              <a:buNone/>
            </a:pPr>
            <a:r>
              <a:rPr lang="en-US" sz="1050" b="1" dirty="0">
                <a:solidFill>
                  <a:schemeClr val="bg1"/>
                </a:solidFill>
              </a:rPr>
              <a:t>Conformed Facts</a:t>
            </a:r>
            <a:endParaRPr lang="en-US" sz="1050" dirty="0"/>
          </a:p>
        </p:txBody>
      </p:sp>
      <p:sp>
        <p:nvSpPr>
          <p:cNvPr id="10" name="text"/>
          <p:cNvSpPr txBox="1"/>
          <p:nvPr/>
        </p:nvSpPr>
        <p:spPr>
          <a:xfrm>
            <a:off x="749808" y="2697480"/>
            <a:ext cx="1188720" cy="384048"/>
          </a:xfrm>
          <a:prstGeom prst="rect">
            <a:avLst/>
          </a:prstGeom>
          <a:noFill/>
          <a:ln/>
        </p:spPr>
        <p:txBody>
          <a:bodyPr wrap="square" lIns="0" tIns="0" rIns="0" bIns="0" rtlCol="0" anchor="t"/>
          <a:lstStyle/>
          <a:p>
            <a:pPr indent="0" marL="0">
              <a:buNone/>
            </a:pPr>
            <a:r>
              <a:rPr lang="en-US" sz="1050" dirty="0">
                <a:solidFill>
                  <a:schemeClr val="bg2"/>
                </a:solidFill>
              </a:rPr>
              <a:t>Owning domain</a:t>
            </a:r>
            <a:endParaRPr lang="en-US" sz="1050" dirty="0"/>
          </a:p>
        </p:txBody>
      </p:sp>
      <p:sp>
        <p:nvSpPr>
          <p:cNvPr id="11" name="text"/>
          <p:cNvSpPr txBox="1"/>
          <p:nvPr/>
        </p:nvSpPr>
        <p:spPr>
          <a:xfrm>
            <a:off x="1920240" y="2697480"/>
            <a:ext cx="2103120" cy="384048"/>
          </a:xfrm>
          <a:prstGeom prst="rect">
            <a:avLst/>
          </a:prstGeom>
          <a:noFill/>
          <a:ln/>
        </p:spPr>
        <p:txBody>
          <a:bodyPr wrap="square" lIns="0" tIns="0" rIns="0" bIns="0" rtlCol="0" anchor="t"/>
          <a:lstStyle/>
          <a:p>
            <a:pPr indent="0" marL="0">
              <a:buNone/>
            </a:pPr>
            <a:r>
              <a:rPr lang="en-US" sz="1050" b="1" dirty="0">
                <a:solidFill>
                  <a:schemeClr val="bg1"/>
                </a:solidFill>
              </a:rPr>
              <a:t>06 Sales Transactions &amp; AUM Attribution</a:t>
            </a:r>
            <a:endParaRPr lang="en-US" sz="1050" dirty="0"/>
          </a:p>
        </p:txBody>
      </p:sp>
      <p:sp>
        <p:nvSpPr>
          <p:cNvPr id="12" name="text"/>
          <p:cNvSpPr txBox="1"/>
          <p:nvPr/>
        </p:nvSpPr>
        <p:spPr>
          <a:xfrm>
            <a:off x="749808" y="3099816"/>
            <a:ext cx="1188720" cy="384048"/>
          </a:xfrm>
          <a:prstGeom prst="rect">
            <a:avLst/>
          </a:prstGeom>
          <a:noFill/>
          <a:ln/>
        </p:spPr>
        <p:txBody>
          <a:bodyPr wrap="square" lIns="0" tIns="0" rIns="0" bIns="0" rtlCol="0" anchor="t"/>
          <a:lstStyle/>
          <a:p>
            <a:pPr indent="0" marL="0">
              <a:buNone/>
            </a:pPr>
            <a:r>
              <a:rPr lang="en-US" sz="1050" dirty="0">
                <a:solidFill>
                  <a:schemeClr val="bg2"/>
                </a:solidFill>
              </a:rPr>
              <a:t>Owner</a:t>
            </a:r>
            <a:endParaRPr lang="en-US" sz="1050" dirty="0"/>
          </a:p>
        </p:txBody>
      </p:sp>
      <p:sp>
        <p:nvSpPr>
          <p:cNvPr id="13" name="text"/>
          <p:cNvSpPr txBox="1"/>
          <p:nvPr/>
        </p:nvSpPr>
        <p:spPr>
          <a:xfrm>
            <a:off x="1920240" y="3099816"/>
            <a:ext cx="2103120" cy="384048"/>
          </a:xfrm>
          <a:prstGeom prst="rect">
            <a:avLst/>
          </a:prstGeom>
          <a:noFill/>
          <a:ln/>
        </p:spPr>
        <p:txBody>
          <a:bodyPr wrap="square" lIns="0" tIns="0" rIns="0" bIns="0" rtlCol="0" anchor="t"/>
          <a:lstStyle/>
          <a:p>
            <a:pPr indent="0" marL="0">
              <a:buNone/>
            </a:pPr>
            <a:r>
              <a:rPr lang="en-US" sz="1050" b="1" dirty="0">
                <a:solidFill>
                  <a:schemeClr val="bg1"/>
                </a:solidFill>
              </a:rPr>
              <a:t>Head of Client &amp; Channel Analytics</a:t>
            </a:r>
            <a:endParaRPr lang="en-US" sz="1050" dirty="0"/>
          </a:p>
        </p:txBody>
      </p:sp>
      <p:sp>
        <p:nvSpPr>
          <p:cNvPr id="14" name="text"/>
          <p:cNvSpPr txBox="1"/>
          <p:nvPr/>
        </p:nvSpPr>
        <p:spPr>
          <a:xfrm>
            <a:off x="749808" y="3502152"/>
            <a:ext cx="1188720" cy="384048"/>
          </a:xfrm>
          <a:prstGeom prst="rect">
            <a:avLst/>
          </a:prstGeom>
          <a:noFill/>
          <a:ln/>
        </p:spPr>
        <p:txBody>
          <a:bodyPr wrap="square" lIns="0" tIns="0" rIns="0" bIns="0" rtlCol="0" anchor="t"/>
          <a:lstStyle/>
          <a:p>
            <a:pPr indent="0" marL="0">
              <a:buNone/>
            </a:pPr>
            <a:r>
              <a:rPr lang="en-US" sz="1050" dirty="0">
                <a:solidFill>
                  <a:schemeClr val="bg2"/>
                </a:solidFill>
              </a:rPr>
              <a:t>Primary function</a:t>
            </a:r>
            <a:endParaRPr lang="en-US" sz="1050" dirty="0"/>
          </a:p>
        </p:txBody>
      </p:sp>
      <p:sp>
        <p:nvSpPr>
          <p:cNvPr id="15" name="text"/>
          <p:cNvSpPr txBox="1"/>
          <p:nvPr/>
        </p:nvSpPr>
        <p:spPr>
          <a:xfrm>
            <a:off x="1920240" y="3502152"/>
            <a:ext cx="2103120" cy="384048"/>
          </a:xfrm>
          <a:prstGeom prst="rect">
            <a:avLst/>
          </a:prstGeom>
          <a:noFill/>
          <a:ln/>
        </p:spPr>
        <p:txBody>
          <a:bodyPr wrap="square" lIns="0" tIns="0" rIns="0" bIns="0" rtlCol="0" anchor="t"/>
          <a:lstStyle/>
          <a:p>
            <a:pPr indent="0" marL="0">
              <a:buNone/>
            </a:pPr>
            <a:r>
              <a:rPr lang="en-US" sz="1050" b="1" dirty="0">
                <a:solidFill>
                  <a:schemeClr val="bg1"/>
                </a:solidFill>
              </a:rPr>
              <a:t>FN-77 Client &amp; Channel Analytics</a:t>
            </a:r>
            <a:endParaRPr lang="en-US" sz="1050" dirty="0"/>
          </a:p>
        </p:txBody>
      </p:sp>
      <p:sp>
        <p:nvSpPr>
          <p:cNvPr id="16" name="text"/>
          <p:cNvSpPr txBox="1"/>
          <p:nvPr/>
        </p:nvSpPr>
        <p:spPr>
          <a:xfrm>
            <a:off x="749808" y="3904488"/>
            <a:ext cx="1188720" cy="384048"/>
          </a:xfrm>
          <a:prstGeom prst="rect">
            <a:avLst/>
          </a:prstGeom>
          <a:noFill/>
          <a:ln/>
        </p:spPr>
        <p:txBody>
          <a:bodyPr wrap="square" lIns="0" tIns="0" rIns="0" bIns="0" rtlCol="0" anchor="t"/>
          <a:lstStyle/>
          <a:p>
            <a:pPr indent="0" marL="0">
              <a:buNone/>
            </a:pPr>
            <a:r>
              <a:rPr lang="en-US" sz="1050" dirty="0">
                <a:solidFill>
                  <a:schemeClr val="bg2"/>
                </a:solidFill>
              </a:rPr>
              <a:t>Published by</a:t>
            </a:r>
            <a:endParaRPr lang="en-US" sz="1050" dirty="0"/>
          </a:p>
        </p:txBody>
      </p:sp>
      <p:sp>
        <p:nvSpPr>
          <p:cNvPr id="17" name="text"/>
          <p:cNvSpPr txBox="1"/>
          <p:nvPr/>
        </p:nvSpPr>
        <p:spPr>
          <a:xfrm>
            <a:off x="1920240" y="3904488"/>
            <a:ext cx="2103120" cy="384048"/>
          </a:xfrm>
          <a:prstGeom prst="rect">
            <a:avLst/>
          </a:prstGeom>
          <a:noFill/>
          <a:ln/>
        </p:spPr>
        <p:txBody>
          <a:bodyPr wrap="square" lIns="0" tIns="0" rIns="0" bIns="0" rtlCol="0" anchor="t"/>
          <a:lstStyle/>
          <a:p>
            <a:pPr indent="0" marL="0">
              <a:buNone/>
            </a:pPr>
            <a:r>
              <a:rPr lang="en-US" sz="1050" b="1" dirty="0">
                <a:solidFill>
                  <a:schemeClr val="bg1"/>
                </a:solidFill>
              </a:rPr>
              <a:t>SM-20 Client Assets &amp; Flows</a:t>
            </a:r>
            <a:endParaRPr lang="en-US" sz="1050" dirty="0"/>
          </a:p>
        </p:txBody>
      </p:sp>
      <p:sp>
        <p:nvSpPr>
          <p:cNvPr id="18" name="text"/>
          <p:cNvSpPr txBox="1"/>
          <p:nvPr/>
        </p:nvSpPr>
        <p:spPr>
          <a:xfrm>
            <a:off x="749808" y="4306824"/>
            <a:ext cx="1188720" cy="384048"/>
          </a:xfrm>
          <a:prstGeom prst="rect">
            <a:avLst/>
          </a:prstGeom>
          <a:noFill/>
          <a:ln/>
        </p:spPr>
        <p:txBody>
          <a:bodyPr wrap="square" lIns="0" tIns="0" rIns="0" bIns="0" rtlCol="0" anchor="t"/>
          <a:lstStyle/>
          <a:p>
            <a:pPr indent="0" marL="0">
              <a:buNone/>
            </a:pPr>
            <a:r>
              <a:rPr lang="en-US" sz="1050" dirty="0">
                <a:solidFill>
                  <a:schemeClr val="bg2"/>
                </a:solidFill>
              </a:rPr>
              <a:t>Classification</a:t>
            </a:r>
            <a:endParaRPr lang="en-US" sz="1050" dirty="0"/>
          </a:p>
        </p:txBody>
      </p:sp>
      <p:sp>
        <p:nvSpPr>
          <p:cNvPr id="19" name="text"/>
          <p:cNvSpPr txBox="1"/>
          <p:nvPr/>
        </p:nvSpPr>
        <p:spPr>
          <a:xfrm>
            <a:off x="1920240" y="4306824"/>
            <a:ext cx="2103120" cy="384048"/>
          </a:xfrm>
          <a:prstGeom prst="rect">
            <a:avLst/>
          </a:prstGeom>
          <a:noFill/>
          <a:ln/>
        </p:spPr>
        <p:txBody>
          <a:bodyPr wrap="square" lIns="0" tIns="0" rIns="0" bIns="0" rtlCol="0" anchor="t"/>
          <a:lstStyle/>
          <a:p>
            <a:pPr indent="0" marL="0">
              <a:buNone/>
            </a:pPr>
            <a:r>
              <a:rPr lang="en-US" sz="1050" b="1" dirty="0">
                <a:solidFill>
                  <a:schemeClr val="bg1"/>
                </a:solidFill>
              </a:rPr>
              <a:t>Confidential - Client; personal data Y</a:t>
            </a:r>
            <a:endParaRPr lang="en-US" sz="1050" dirty="0"/>
          </a:p>
        </p:txBody>
      </p:sp>
      <p:sp>
        <p:nvSpPr>
          <p:cNvPr id="20" name="text"/>
          <p:cNvSpPr txBox="1"/>
          <p:nvPr/>
        </p:nvSpPr>
        <p:spPr>
          <a:xfrm>
            <a:off x="749808" y="4754880"/>
            <a:ext cx="3200400" cy="274320"/>
          </a:xfrm>
          <a:prstGeom prst="rect">
            <a:avLst/>
          </a:prstGeom>
          <a:noFill/>
          <a:ln/>
        </p:spPr>
        <p:txBody>
          <a:bodyPr wrap="square" lIns="0" tIns="0" rIns="0" bIns="0" rtlCol="0" anchor="t"/>
          <a:lstStyle/>
          <a:p>
            <a:pPr indent="0" marL="0">
              <a:buNone/>
            </a:pPr>
            <a:r>
              <a:rPr lang="en-US" sz="1100" b="1" dirty="0">
                <a:solidFill>
                  <a:schemeClr val="accent4"/>
                </a:solidFill>
              </a:rPr>
              <a:t>SIZE</a:t>
            </a:r>
            <a:endParaRPr lang="en-US" sz="1100" dirty="0"/>
          </a:p>
        </p:txBody>
      </p:sp>
      <p:sp>
        <p:nvSpPr>
          <p:cNvPr id="21" name="text"/>
          <p:cNvSpPr txBox="1"/>
          <p:nvPr/>
        </p:nvSpPr>
        <p:spPr>
          <a:xfrm>
            <a:off x="749808" y="5029200"/>
            <a:ext cx="640080" cy="365760"/>
          </a:xfrm>
          <a:prstGeom prst="rect">
            <a:avLst/>
          </a:prstGeom>
          <a:noFill/>
          <a:ln/>
        </p:spPr>
        <p:txBody>
          <a:bodyPr wrap="square" lIns="0" tIns="0" rIns="0" bIns="0" rtlCol="0" anchor="t"/>
          <a:lstStyle/>
          <a:p>
            <a:pPr indent="0" marL="0">
              <a:buNone/>
            </a:pPr>
            <a:r>
              <a:rPr lang="en-US" sz="1600" b="1" dirty="0">
                <a:solidFill>
                  <a:schemeClr val="bg1"/>
                </a:solidFill>
              </a:rPr>
              <a:t>18</a:t>
            </a:r>
            <a:endParaRPr lang="en-US" sz="1600" dirty="0"/>
          </a:p>
        </p:txBody>
      </p:sp>
      <p:sp>
        <p:nvSpPr>
          <p:cNvPr id="22" name="text"/>
          <p:cNvSpPr txBox="1"/>
          <p:nvPr/>
        </p:nvSpPr>
        <p:spPr>
          <a:xfrm>
            <a:off x="749808" y="5376672"/>
            <a:ext cx="658368" cy="274320"/>
          </a:xfrm>
          <a:prstGeom prst="rect">
            <a:avLst/>
          </a:prstGeom>
          <a:noFill/>
          <a:ln/>
        </p:spPr>
        <p:txBody>
          <a:bodyPr wrap="square" lIns="0" tIns="0" rIns="0" bIns="0" rtlCol="0" anchor="t"/>
          <a:lstStyle/>
          <a:p>
            <a:pPr indent="0" marL="0">
              <a:buNone/>
            </a:pPr>
            <a:r>
              <a:rPr lang="en-US" sz="850" dirty="0">
                <a:solidFill>
                  <a:schemeClr val="bg2"/>
                </a:solidFill>
              </a:rPr>
              <a:t>measures</a:t>
            </a:r>
            <a:endParaRPr lang="en-US" sz="850" dirty="0"/>
          </a:p>
        </p:txBody>
      </p:sp>
      <p:sp>
        <p:nvSpPr>
          <p:cNvPr id="23" name="text"/>
          <p:cNvSpPr txBox="1"/>
          <p:nvPr/>
        </p:nvSpPr>
        <p:spPr>
          <a:xfrm>
            <a:off x="1408176" y="5029200"/>
            <a:ext cx="640080" cy="365760"/>
          </a:xfrm>
          <a:prstGeom prst="rect">
            <a:avLst/>
          </a:prstGeom>
          <a:noFill/>
          <a:ln/>
        </p:spPr>
        <p:txBody>
          <a:bodyPr wrap="square" lIns="0" tIns="0" rIns="0" bIns="0" rtlCol="0" anchor="t"/>
          <a:lstStyle/>
          <a:p>
            <a:pPr indent="0" marL="0">
              <a:buNone/>
            </a:pPr>
            <a:r>
              <a:rPr lang="en-US" sz="1600" b="1" dirty="0">
                <a:solidFill>
                  <a:schemeClr val="bg1"/>
                </a:solidFill>
              </a:rPr>
              <a:t>178</a:t>
            </a:r>
            <a:endParaRPr lang="en-US" sz="1600" dirty="0"/>
          </a:p>
        </p:txBody>
      </p:sp>
      <p:sp>
        <p:nvSpPr>
          <p:cNvPr id="24" name="text"/>
          <p:cNvSpPr txBox="1"/>
          <p:nvPr/>
        </p:nvSpPr>
        <p:spPr>
          <a:xfrm>
            <a:off x="1408176" y="5376672"/>
            <a:ext cx="658368" cy="274320"/>
          </a:xfrm>
          <a:prstGeom prst="rect">
            <a:avLst/>
          </a:prstGeom>
          <a:noFill/>
          <a:ln/>
        </p:spPr>
        <p:txBody>
          <a:bodyPr wrap="square" lIns="0" tIns="0" rIns="0" bIns="0" rtlCol="0" anchor="t"/>
          <a:lstStyle/>
          <a:p>
            <a:pPr indent="0" marL="0">
              <a:buNone/>
            </a:pPr>
            <a:r>
              <a:rPr lang="en-US" sz="850" dirty="0">
                <a:solidFill>
                  <a:schemeClr val="bg2"/>
                </a:solidFill>
              </a:rPr>
              <a:t>attributes</a:t>
            </a:r>
            <a:endParaRPr lang="en-US" sz="850" dirty="0"/>
          </a:p>
        </p:txBody>
      </p:sp>
      <p:sp>
        <p:nvSpPr>
          <p:cNvPr id="25" name="text"/>
          <p:cNvSpPr txBox="1"/>
          <p:nvPr/>
        </p:nvSpPr>
        <p:spPr>
          <a:xfrm>
            <a:off x="2066544" y="5029200"/>
            <a:ext cx="640080" cy="365760"/>
          </a:xfrm>
          <a:prstGeom prst="rect">
            <a:avLst/>
          </a:prstGeom>
          <a:noFill/>
          <a:ln/>
        </p:spPr>
        <p:txBody>
          <a:bodyPr wrap="square" lIns="0" tIns="0" rIns="0" bIns="0" rtlCol="0" anchor="t"/>
          <a:lstStyle/>
          <a:p>
            <a:pPr indent="0" marL="0">
              <a:buNone/>
            </a:pPr>
            <a:r>
              <a:rPr lang="en-US" sz="1600" b="1" dirty="0">
                <a:solidFill>
                  <a:schemeClr val="bg1"/>
                </a:solidFill>
              </a:rPr>
              <a:t>40</a:t>
            </a:r>
            <a:endParaRPr lang="en-US" sz="1600" dirty="0"/>
          </a:p>
        </p:txBody>
      </p:sp>
      <p:sp>
        <p:nvSpPr>
          <p:cNvPr id="26" name="text"/>
          <p:cNvSpPr txBox="1"/>
          <p:nvPr/>
        </p:nvSpPr>
        <p:spPr>
          <a:xfrm>
            <a:off x="2066544" y="5376672"/>
            <a:ext cx="658368" cy="274320"/>
          </a:xfrm>
          <a:prstGeom prst="rect">
            <a:avLst/>
          </a:prstGeom>
          <a:noFill/>
          <a:ln/>
        </p:spPr>
        <p:txBody>
          <a:bodyPr wrap="square" lIns="0" tIns="0" rIns="0" bIns="0" rtlCol="0" anchor="t"/>
          <a:lstStyle/>
          <a:p>
            <a:pPr indent="0" marL="0">
              <a:buNone/>
            </a:pPr>
            <a:r>
              <a:rPr lang="en-US" sz="850" dirty="0">
                <a:solidFill>
                  <a:schemeClr val="bg2"/>
                </a:solidFill>
              </a:rPr>
              <a:t>objects</a:t>
            </a:r>
            <a:endParaRPr lang="en-US" sz="850" dirty="0"/>
          </a:p>
        </p:txBody>
      </p:sp>
      <p:sp>
        <p:nvSpPr>
          <p:cNvPr id="27" name="text"/>
          <p:cNvSpPr txBox="1"/>
          <p:nvPr/>
        </p:nvSpPr>
        <p:spPr>
          <a:xfrm>
            <a:off x="2724912" y="5029200"/>
            <a:ext cx="640080" cy="365760"/>
          </a:xfrm>
          <a:prstGeom prst="rect">
            <a:avLst/>
          </a:prstGeom>
          <a:noFill/>
          <a:ln/>
        </p:spPr>
        <p:txBody>
          <a:bodyPr wrap="square" lIns="0" tIns="0" rIns="0" bIns="0" rtlCol="0" anchor="t"/>
          <a:lstStyle/>
          <a:p>
            <a:pPr indent="0" marL="0">
              <a:buNone/>
            </a:pPr>
            <a:r>
              <a:rPr lang="en-US" sz="1600" b="1" dirty="0">
                <a:solidFill>
                  <a:schemeClr val="bg1"/>
                </a:solidFill>
              </a:rPr>
              <a:t>12</a:t>
            </a:r>
            <a:endParaRPr lang="en-US" sz="1600" dirty="0"/>
          </a:p>
        </p:txBody>
      </p:sp>
      <p:sp>
        <p:nvSpPr>
          <p:cNvPr id="28" name="text"/>
          <p:cNvSpPr txBox="1"/>
          <p:nvPr/>
        </p:nvSpPr>
        <p:spPr>
          <a:xfrm>
            <a:off x="2724912" y="5376672"/>
            <a:ext cx="658368" cy="274320"/>
          </a:xfrm>
          <a:prstGeom prst="rect">
            <a:avLst/>
          </a:prstGeom>
          <a:noFill/>
          <a:ln/>
        </p:spPr>
        <p:txBody>
          <a:bodyPr wrap="square" lIns="0" tIns="0" rIns="0" bIns="0" rtlCol="0" anchor="t"/>
          <a:lstStyle/>
          <a:p>
            <a:pPr indent="0" marL="0">
              <a:buNone/>
            </a:pPr>
            <a:r>
              <a:rPr lang="en-US" sz="850" dirty="0">
                <a:solidFill>
                  <a:schemeClr val="bg2"/>
                </a:solidFill>
              </a:rPr>
              <a:t>domains</a:t>
            </a:r>
            <a:endParaRPr lang="en-US" sz="850" dirty="0"/>
          </a:p>
        </p:txBody>
      </p:sp>
      <p:sp>
        <p:nvSpPr>
          <p:cNvPr id="29" name="text"/>
          <p:cNvSpPr txBox="1"/>
          <p:nvPr/>
        </p:nvSpPr>
        <p:spPr>
          <a:xfrm>
            <a:off x="3383280" y="5029200"/>
            <a:ext cx="640080" cy="365760"/>
          </a:xfrm>
          <a:prstGeom prst="rect">
            <a:avLst/>
          </a:prstGeom>
          <a:noFill/>
          <a:ln/>
        </p:spPr>
        <p:txBody>
          <a:bodyPr wrap="square" lIns="0" tIns="0" rIns="0" bIns="0" rtlCol="0" anchor="t"/>
          <a:lstStyle/>
          <a:p>
            <a:pPr indent="0" marL="0">
              <a:buNone/>
            </a:pPr>
            <a:r>
              <a:rPr lang="en-US" sz="1600" b="1" dirty="0">
                <a:solidFill>
                  <a:schemeClr val="bg1"/>
                </a:solidFill>
              </a:rPr>
              <a:t>14</a:t>
            </a:r>
            <a:endParaRPr lang="en-US" sz="1600" dirty="0"/>
          </a:p>
        </p:txBody>
      </p:sp>
      <p:sp>
        <p:nvSpPr>
          <p:cNvPr id="30" name="text"/>
          <p:cNvSpPr txBox="1"/>
          <p:nvPr/>
        </p:nvSpPr>
        <p:spPr>
          <a:xfrm>
            <a:off x="3383280" y="5376672"/>
            <a:ext cx="658368" cy="274320"/>
          </a:xfrm>
          <a:prstGeom prst="rect">
            <a:avLst/>
          </a:prstGeom>
          <a:noFill/>
          <a:ln/>
        </p:spPr>
        <p:txBody>
          <a:bodyPr wrap="square" lIns="0" tIns="0" rIns="0" bIns="0" rtlCol="0" anchor="t"/>
          <a:lstStyle/>
          <a:p>
            <a:pPr indent="0" marL="0">
              <a:buNone/>
            </a:pPr>
            <a:r>
              <a:rPr lang="en-US" sz="850" dirty="0">
                <a:solidFill>
                  <a:schemeClr val="bg2"/>
                </a:solidFill>
              </a:rPr>
              <a:t>upstream</a:t>
            </a:r>
            <a:endParaRPr lang="en-US" sz="850" dirty="0"/>
          </a:p>
        </p:txBody>
      </p:sp>
      <p:sp>
        <p:nvSpPr>
          <p:cNvPr id="31" name="card"/>
          <p:cNvSpPr/>
          <p:nvPr/>
        </p:nvSpPr>
        <p:spPr>
          <a:xfrm>
            <a:off x="4480560" y="1417320"/>
            <a:ext cx="7159752" cy="1463040"/>
          </a:xfrm>
          <a:prstGeom prst="roundRect">
            <a:avLst>
              <a:gd name="adj" fmla="val 5000"/>
            </a:avLst>
          </a:prstGeom>
          <a:solidFill>
            <a:schemeClr val="bg2"/>
          </a:solidFill>
          <a:ln w="12700">
            <a:solidFill>
              <a:schemeClr val="bg2"/>
            </a:solidFill>
            <a:prstDash val="solid"/>
          </a:ln>
        </p:spPr>
      </p:sp>
      <p:sp>
        <p:nvSpPr>
          <p:cNvPr id="32" name="text"/>
          <p:cNvSpPr txBox="1"/>
          <p:nvPr/>
        </p:nvSpPr>
        <p:spPr>
          <a:xfrm>
            <a:off x="4617720" y="1536192"/>
            <a:ext cx="6885432" cy="320040"/>
          </a:xfrm>
          <a:prstGeom prst="rect">
            <a:avLst/>
          </a:prstGeom>
          <a:noFill/>
          <a:ln/>
        </p:spPr>
        <p:txBody>
          <a:bodyPr wrap="square" lIns="0" tIns="0" rIns="0" bIns="0" rtlCol="0" anchor="t"/>
          <a:lstStyle/>
          <a:p>
            <a:pPr indent="0" marL="0">
              <a:buNone/>
            </a:pPr>
            <a:r>
              <a:rPr lang="en-US" sz="1300" b="1" dirty="0">
                <a:solidFill>
                  <a:schemeClr val="accent2"/>
                </a:solidFill>
              </a:rPr>
              <a:t>Shape</a:t>
            </a:r>
            <a:endParaRPr lang="en-US" sz="1300" dirty="0"/>
          </a:p>
        </p:txBody>
      </p:sp>
      <p:sp>
        <p:nvSpPr>
          <p:cNvPr id="33" name="card body"/>
          <p:cNvSpPr txBox="1"/>
          <p:nvPr/>
        </p:nvSpPr>
        <p:spPr>
          <a:xfrm>
            <a:off x="4617720" y="1874520"/>
            <a:ext cx="6885432" cy="8686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chemeClr val="tx1"/>
                </a:solidFill>
              </a:rPr>
              <a:t>Grain: one measure value, measure x period end x dimension type (Total, Channel, Holding Type, Business Line, Advisor, Campaign, Share Class, Segment) x dimension key x data basis x snapshot</a:t>
            </a:r>
            <a:endParaRPr lang="en-US" sz="1050" dirty="0"/>
          </a:p>
          <a:p>
            <a:pPr marL="152400" indent="-152400">
              <a:spcAft>
                <a:spcPts val="400"/>
              </a:spcAft>
              <a:buSzPct val="100000"/>
              <a:buChar char="•"/>
            </a:pPr>
            <a:r>
              <a:rPr lang="en-US" sz="1050" dirty="0">
                <a:solidFill>
                  <a:schemeClr val="tx1"/>
                </a:solidFill>
              </a:rPr>
              <a:t>Measures with formulas: Ending, Beginning and Average Client Assets; Net New Assets; Advised Assets; Market Movement and Other; Inter-Channel Transfers; Organic Growth Rate; Gross Sales, Redemptions, Net Flows; Funded Accounts, Clients, Households; Restatement Impact</a:t>
            </a:r>
            <a:endParaRPr lang="en-US" sz="1050" dirty="0"/>
          </a:p>
        </p:txBody>
      </p:sp>
      <p:sp>
        <p:nvSpPr>
          <p:cNvPr id="34" name="card"/>
          <p:cNvSpPr/>
          <p:nvPr/>
        </p:nvSpPr>
        <p:spPr>
          <a:xfrm>
            <a:off x="4480560" y="2990088"/>
            <a:ext cx="7159752" cy="1463040"/>
          </a:xfrm>
          <a:prstGeom prst="roundRect">
            <a:avLst>
              <a:gd name="adj" fmla="val 5000"/>
            </a:avLst>
          </a:prstGeom>
          <a:solidFill>
            <a:schemeClr val="bg2"/>
          </a:solidFill>
          <a:ln w="12700">
            <a:solidFill>
              <a:schemeClr val="bg2"/>
            </a:solidFill>
            <a:prstDash val="solid"/>
          </a:ln>
        </p:spPr>
      </p:sp>
      <p:sp>
        <p:nvSpPr>
          <p:cNvPr id="35" name="text"/>
          <p:cNvSpPr txBox="1"/>
          <p:nvPr/>
        </p:nvSpPr>
        <p:spPr>
          <a:xfrm>
            <a:off x="4617720" y="3108960"/>
            <a:ext cx="6885432" cy="320040"/>
          </a:xfrm>
          <a:prstGeom prst="rect">
            <a:avLst/>
          </a:prstGeom>
          <a:noFill/>
          <a:ln/>
        </p:spPr>
        <p:txBody>
          <a:bodyPr wrap="square" lIns="0" tIns="0" rIns="0" bIns="0" rtlCol="0" anchor="t"/>
          <a:lstStyle/>
          <a:p>
            <a:pPr indent="0" marL="0">
              <a:buNone/>
            </a:pPr>
            <a:r>
              <a:rPr lang="en-US" sz="1300" b="1" dirty="0">
                <a:solidFill>
                  <a:schemeClr val="accent5"/>
                </a:solidFill>
              </a:rPr>
              <a:t>Service</a:t>
            </a:r>
            <a:endParaRPr lang="en-US" sz="1300" dirty="0"/>
          </a:p>
        </p:txBody>
      </p:sp>
      <p:sp>
        <p:nvSpPr>
          <p:cNvPr id="36" name="card body"/>
          <p:cNvSpPr txBox="1"/>
          <p:nvPr/>
        </p:nvSpPr>
        <p:spPr>
          <a:xfrm>
            <a:off x="4617720" y="3447288"/>
            <a:ext cx="6885432" cy="8686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chemeClr val="tx1"/>
                </a:solidFill>
              </a:rPr>
              <a:t>Refresh daily. Flash by 9am ET on T+1; preliminary month-end by business day 3; final (locked) by business day 8</a:t>
            </a:r>
            <a:endParaRPr lang="en-US" sz="1050" dirty="0"/>
          </a:p>
          <a:p>
            <a:pPr marL="152400" indent="-152400">
              <a:spcAft>
                <a:spcPts val="400"/>
              </a:spcAft>
              <a:buSzPct val="100000"/>
              <a:buChar char="•"/>
            </a:pPr>
            <a:r>
              <a:rPr lang="en-US" sz="1050" dirty="0">
                <a:solidFill>
                  <a:schemeClr val="tx1"/>
                </a:solidFill>
              </a:rPr>
              <a:t>History: every locked snapshot kept indefinitely with its superseded versions and restatements; flash and preliminary kept 25 months</a:t>
            </a:r>
            <a:endParaRPr lang="en-US" sz="1050" dirty="0"/>
          </a:p>
          <a:p>
            <a:pPr marL="152400" indent="-152400">
              <a:spcAft>
                <a:spcPts val="400"/>
              </a:spcAft>
              <a:buSzPct val="100000"/>
              <a:buChar char="•"/>
            </a:pPr>
            <a:r>
              <a:rPr lang="en-US" sz="1050" dirty="0">
                <a:solidFill>
                  <a:schemeClr val="tx1"/>
                </a:solidFill>
              </a:rPr>
              <a:t>Delivered as warehouse table, BI semantic model, API and dashboard</a:t>
            </a:r>
            <a:endParaRPr lang="en-US" sz="1050" dirty="0"/>
          </a:p>
        </p:txBody>
      </p:sp>
      <p:sp>
        <p:nvSpPr>
          <p:cNvPr id="37" name="card"/>
          <p:cNvSpPr/>
          <p:nvPr/>
        </p:nvSpPr>
        <p:spPr>
          <a:xfrm>
            <a:off x="4480560" y="4562856"/>
            <a:ext cx="7159752" cy="1463040"/>
          </a:xfrm>
          <a:prstGeom prst="roundRect">
            <a:avLst>
              <a:gd name="adj" fmla="val 5000"/>
            </a:avLst>
          </a:prstGeom>
          <a:solidFill>
            <a:schemeClr val="bg2"/>
          </a:solidFill>
          <a:ln w="12700">
            <a:solidFill>
              <a:schemeClr val="bg2"/>
            </a:solidFill>
            <a:prstDash val="solid"/>
          </a:ln>
        </p:spPr>
      </p:sp>
      <p:sp>
        <p:nvSpPr>
          <p:cNvPr id="38" name="text"/>
          <p:cNvSpPr txBox="1"/>
          <p:nvPr/>
        </p:nvSpPr>
        <p:spPr>
          <a:xfrm>
            <a:off x="4617720" y="4681728"/>
            <a:ext cx="6885432" cy="320040"/>
          </a:xfrm>
          <a:prstGeom prst="rect">
            <a:avLst/>
          </a:prstGeom>
          <a:noFill/>
          <a:ln/>
        </p:spPr>
        <p:txBody>
          <a:bodyPr wrap="square" lIns="0" tIns="0" rIns="0" bIns="0" rtlCol="0" anchor="t"/>
          <a:lstStyle/>
          <a:p>
            <a:pPr indent="0" marL="0">
              <a:buNone/>
            </a:pPr>
            <a:r>
              <a:rPr lang="en-US" sz="1300" b="1" dirty="0">
                <a:solidFill>
                  <a:schemeClr val="accent4"/>
                </a:solidFill>
              </a:rPr>
              <a:t>Trust: six quality rules, among them</a:t>
            </a:r>
            <a:endParaRPr lang="en-US" sz="1300" dirty="0"/>
          </a:p>
        </p:txBody>
      </p:sp>
      <p:sp>
        <p:nvSpPr>
          <p:cNvPr id="39" name="card body"/>
          <p:cNvSpPr txBox="1"/>
          <p:nvPr/>
        </p:nvSpPr>
        <p:spPr>
          <a:xfrm>
            <a:off x="4617720" y="5020056"/>
            <a:ext cx="6885432" cy="868680"/>
          </a:xfrm>
          <a:prstGeom prst="rect">
            <a:avLst/>
          </a:prstGeom>
          <a:noFill/>
          <a:ln/>
        </p:spPr>
        <p:txBody>
          <a:bodyPr wrap="square" lIns="0" tIns="0" rIns="0" bIns="0" rtlCol="0" anchor="t"/>
          <a:lstStyle/>
          <a:p>
            <a:pPr marL="152400" indent="-152400">
              <a:spcAft>
                <a:spcPts val="400"/>
              </a:spcAft>
              <a:buSzPct val="100000"/>
              <a:buChar char="•"/>
            </a:pPr>
            <a:r>
              <a:rPr lang="en-US" sz="1050" dirty="0">
                <a:solidFill>
                  <a:schemeClr val="tx1"/>
                </a:solidFill>
              </a:rPr>
              <a:t>Ending Client Assets at Total equals the sum by Channel and by Holding Type, within USD 1.00</a:t>
            </a:r>
            <a:endParaRPr lang="en-US" sz="1050" dirty="0"/>
          </a:p>
          <a:p>
            <a:pPr marL="152400" indent="-152400">
              <a:spcAft>
                <a:spcPts val="400"/>
              </a:spcAft>
              <a:buSzPct val="100000"/>
              <a:buChar char="•"/>
            </a:pPr>
            <a:r>
              <a:rPr lang="en-US" sz="1050" dirty="0">
                <a:solidFill>
                  <a:schemeClr val="tx1"/>
                </a:solidFill>
              </a:rPr>
              <a:t>Each measure has a certified definition; a locked snapshot changes only by an approved restatement</a:t>
            </a:r>
            <a:endParaRPr lang="en-US" sz="1050" dirty="0"/>
          </a:p>
          <a:p>
            <a:pPr marL="152400" indent="-152400">
              <a:spcAft>
                <a:spcPts val="400"/>
              </a:spcAft>
              <a:buSzPct val="100000"/>
              <a:buChar char="•"/>
            </a:pPr>
            <a:r>
              <a:rPr lang="en-US" sz="1050" dirty="0">
                <a:solidFill>
                  <a:schemeClr val="tx1"/>
                </a:solidFill>
              </a:rPr>
              <a:t>Advisor and Campaign rows are restricted views; segments under 10 households are suppressed</a:t>
            </a:r>
            <a:endParaRPr lang="en-US" sz="1050" dirty="0"/>
          </a:p>
        </p:txBody>
      </p:sp>
      <p:sp>
        <p:nvSpPr>
          <p:cNvPr id="25" name="Slide Number Placeholder 0"/>
          <p:cNvSpPr>
            <a:spLocks noGrp="1"/>
          </p:cNvSpPr>
          <p:nvPr>
            <p:ph type="sldNum" sz="quarter" idx="4294967295"/>
          </p:nvPr>
        </p:nvSpPr>
        <p:spPr>
          <a:xfrm>
            <a:off x="11247120" y="6400800"/>
            <a:ext cx="41148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535E6C"/>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2011680"/>
            <a:ext cx="11094415" cy="1463040"/>
          </a:xfrm>
          <a:prstGeom prst="rect">
            <a:avLst/>
          </a:prstGeom>
          <a:noFill/>
          <a:ln/>
        </p:spPr>
        <p:txBody>
          <a:bodyPr wrap="square" lIns="0" tIns="0" rIns="0" bIns="0" rtlCol="0" anchor="b"/>
          <a:lstStyle/>
          <a:p>
            <a:pPr algn="l" indent="0" marL="0">
              <a:buNone/>
            </a:pPr>
            <a:r>
              <a:rPr lang="en-US" sz="4000" b="1" dirty="0">
                <a:solidFill>
                  <a:schemeClr val="bg1"/>
                </a:solidFill>
              </a:rPr>
              <a:t>Four questions to ask of anything called a data product</a:t>
            </a:r>
            <a:endParaRPr lang="en-US" sz="4000" dirty="0"/>
          </a:p>
        </p:txBody>
      </p:sp>
      <p:sp>
        <p:nvSpPr>
          <p:cNvPr id="3" name="text"/>
          <p:cNvSpPr txBox="1"/>
          <p:nvPr/>
        </p:nvSpPr>
        <p:spPr>
          <a:xfrm>
            <a:off x="548640" y="3611880"/>
            <a:ext cx="11094415" cy="548640"/>
          </a:xfrm>
          <a:prstGeom prst="rect">
            <a:avLst/>
          </a:prstGeom>
          <a:noFill/>
          <a:ln/>
        </p:spPr>
        <p:txBody>
          <a:bodyPr wrap="square" lIns="0" tIns="0" rIns="0" bIns="0" rtlCol="0" anchor="t"/>
          <a:lstStyle/>
          <a:p>
            <a:pPr indent="0" marL="0">
              <a:buNone/>
            </a:pPr>
            <a:r>
              <a:rPr lang="en-US" sz="1800" dirty="0">
                <a:solidFill>
                  <a:schemeClr val="bg2"/>
                </a:solidFill>
              </a:rPr>
              <a:t>If a candidate cannot answer all four, it is a table, a report or a copy, not yet a product.</a:t>
            </a:r>
            <a:endParaRPr lang="en-US" sz="1800" dirty="0"/>
          </a:p>
        </p:txBody>
      </p:sp>
      <p:sp>
        <p:nvSpPr>
          <p:cNvPr id="4" name="chip"/>
          <p:cNvSpPr/>
          <p:nvPr/>
        </p:nvSpPr>
        <p:spPr>
          <a:xfrm>
            <a:off x="548640" y="4434840"/>
            <a:ext cx="384048" cy="384048"/>
          </a:xfrm>
          <a:prstGeom prst="ellipse">
            <a:avLst/>
          </a:prstGeom>
          <a:solidFill>
            <a:schemeClr val="accent1"/>
          </a:solidFill>
          <a:ln w="12700">
            <a:solidFill>
              <a:schemeClr val="accent1"/>
            </a:solidFill>
            <a:prstDash val="solid"/>
          </a:ln>
        </p:spPr>
      </p:sp>
      <p:sp>
        <p:nvSpPr>
          <p:cNvPr id="5" name="text"/>
          <p:cNvSpPr txBox="1"/>
          <p:nvPr/>
        </p:nvSpPr>
        <p:spPr>
          <a:xfrm>
            <a:off x="548640" y="44348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1</a:t>
            </a:r>
            <a:endParaRPr lang="en-US" sz="1200" dirty="0"/>
          </a:p>
        </p:txBody>
      </p:sp>
      <p:sp>
        <p:nvSpPr>
          <p:cNvPr id="6" name="text"/>
          <p:cNvSpPr txBox="1"/>
          <p:nvPr/>
        </p:nvSpPr>
        <p:spPr>
          <a:xfrm>
            <a:off x="1042416" y="4416552"/>
            <a:ext cx="2103120" cy="420624"/>
          </a:xfrm>
          <a:prstGeom prst="rect">
            <a:avLst/>
          </a:prstGeom>
          <a:noFill/>
          <a:ln/>
        </p:spPr>
        <p:txBody>
          <a:bodyPr wrap="square" lIns="0" tIns="0" rIns="0" bIns="0" rtlCol="0" anchor="ctr"/>
          <a:lstStyle/>
          <a:p>
            <a:pPr indent="0" marL="0">
              <a:buNone/>
            </a:pPr>
            <a:r>
              <a:rPr lang="en-US" sz="1300" b="1" dirty="0">
                <a:solidFill>
                  <a:schemeClr val="bg1"/>
                </a:solidFill>
              </a:rPr>
              <a:t>Who owns it?</a:t>
            </a:r>
            <a:endParaRPr lang="en-US" sz="1300" dirty="0"/>
          </a:p>
        </p:txBody>
      </p:sp>
      <p:sp>
        <p:nvSpPr>
          <p:cNvPr id="7" name="text"/>
          <p:cNvSpPr txBox="1"/>
          <p:nvPr/>
        </p:nvSpPr>
        <p:spPr>
          <a:xfrm>
            <a:off x="548640" y="4937760"/>
            <a:ext cx="2651760" cy="1005840"/>
          </a:xfrm>
          <a:prstGeom prst="rect">
            <a:avLst/>
          </a:prstGeom>
          <a:noFill/>
          <a:ln/>
        </p:spPr>
        <p:txBody>
          <a:bodyPr wrap="square" lIns="0" tIns="0" rIns="0" bIns="0" rtlCol="0" anchor="t"/>
          <a:lstStyle/>
          <a:p>
            <a:pPr indent="0" marL="0">
              <a:buNone/>
            </a:pPr>
            <a:r>
              <a:rPr lang="en-US" sz="1150" dirty="0">
                <a:solidFill>
                  <a:schemeClr val="bg2"/>
                </a:solidFill>
              </a:rPr>
              <a:t>A named role, and the Data Domain whose concepts it assembles</a:t>
            </a:r>
            <a:endParaRPr lang="en-US" sz="1150" dirty="0"/>
          </a:p>
        </p:txBody>
      </p:sp>
      <p:sp>
        <p:nvSpPr>
          <p:cNvPr id="8" name="chip"/>
          <p:cNvSpPr/>
          <p:nvPr/>
        </p:nvSpPr>
        <p:spPr>
          <a:xfrm>
            <a:off x="3337560" y="4434840"/>
            <a:ext cx="384048" cy="384048"/>
          </a:xfrm>
          <a:prstGeom prst="ellipse">
            <a:avLst/>
          </a:prstGeom>
          <a:solidFill>
            <a:schemeClr val="accent2"/>
          </a:solidFill>
          <a:ln w="12700">
            <a:solidFill>
              <a:schemeClr val="accent2"/>
            </a:solidFill>
            <a:prstDash val="solid"/>
          </a:ln>
        </p:spPr>
      </p:sp>
      <p:sp>
        <p:nvSpPr>
          <p:cNvPr id="9" name="text"/>
          <p:cNvSpPr txBox="1"/>
          <p:nvPr/>
        </p:nvSpPr>
        <p:spPr>
          <a:xfrm>
            <a:off x="3337560" y="44348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2</a:t>
            </a:r>
            <a:endParaRPr lang="en-US" sz="1200" dirty="0"/>
          </a:p>
        </p:txBody>
      </p:sp>
      <p:sp>
        <p:nvSpPr>
          <p:cNvPr id="10" name="text"/>
          <p:cNvSpPr txBox="1"/>
          <p:nvPr/>
        </p:nvSpPr>
        <p:spPr>
          <a:xfrm>
            <a:off x="3831336" y="4416552"/>
            <a:ext cx="2103120" cy="420624"/>
          </a:xfrm>
          <a:prstGeom prst="rect">
            <a:avLst/>
          </a:prstGeom>
          <a:noFill/>
          <a:ln/>
        </p:spPr>
        <p:txBody>
          <a:bodyPr wrap="square" lIns="0" tIns="0" rIns="0" bIns="0" rtlCol="0" anchor="ctr"/>
          <a:lstStyle/>
          <a:p>
            <a:pPr indent="0" marL="0">
              <a:buNone/>
            </a:pPr>
            <a:r>
              <a:rPr lang="en-US" sz="1300" b="1" dirty="0">
                <a:solidFill>
                  <a:schemeClr val="bg1"/>
                </a:solidFill>
              </a:rPr>
              <a:t>What is one row?</a:t>
            </a:r>
            <a:endParaRPr lang="en-US" sz="1300" dirty="0"/>
          </a:p>
        </p:txBody>
      </p:sp>
      <p:sp>
        <p:nvSpPr>
          <p:cNvPr id="11" name="text"/>
          <p:cNvSpPr txBox="1"/>
          <p:nvPr/>
        </p:nvSpPr>
        <p:spPr>
          <a:xfrm>
            <a:off x="3337560" y="4937760"/>
            <a:ext cx="2651760" cy="1005840"/>
          </a:xfrm>
          <a:prstGeom prst="rect">
            <a:avLst/>
          </a:prstGeom>
          <a:noFill/>
          <a:ln/>
        </p:spPr>
        <p:txBody>
          <a:bodyPr wrap="square" lIns="0" tIns="0" rIns="0" bIns="0" rtlCol="0" anchor="t"/>
          <a:lstStyle/>
          <a:p>
            <a:pPr indent="0" marL="0">
              <a:buNone/>
            </a:pPr>
            <a:r>
              <a:rPr lang="en-US" sz="1150" dirty="0">
                <a:solidFill>
                  <a:schemeClr val="bg2"/>
                </a:solidFill>
              </a:rPr>
              <a:t>The grain, stated as the dimensions that identify it</a:t>
            </a:r>
            <a:endParaRPr lang="en-US" sz="1150" dirty="0"/>
          </a:p>
        </p:txBody>
      </p:sp>
      <p:sp>
        <p:nvSpPr>
          <p:cNvPr id="12" name="chip"/>
          <p:cNvSpPr/>
          <p:nvPr/>
        </p:nvSpPr>
        <p:spPr>
          <a:xfrm>
            <a:off x="6126480" y="4434840"/>
            <a:ext cx="384048" cy="384048"/>
          </a:xfrm>
          <a:prstGeom prst="ellipse">
            <a:avLst/>
          </a:prstGeom>
          <a:solidFill>
            <a:schemeClr val="accent5"/>
          </a:solidFill>
          <a:ln w="12700">
            <a:solidFill>
              <a:schemeClr val="accent5"/>
            </a:solidFill>
            <a:prstDash val="solid"/>
          </a:ln>
        </p:spPr>
      </p:sp>
      <p:sp>
        <p:nvSpPr>
          <p:cNvPr id="13" name="text"/>
          <p:cNvSpPr txBox="1"/>
          <p:nvPr/>
        </p:nvSpPr>
        <p:spPr>
          <a:xfrm>
            <a:off x="6126480" y="44348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3</a:t>
            </a:r>
            <a:endParaRPr lang="en-US" sz="1200" dirty="0"/>
          </a:p>
        </p:txBody>
      </p:sp>
      <p:sp>
        <p:nvSpPr>
          <p:cNvPr id="14" name="text"/>
          <p:cNvSpPr txBox="1"/>
          <p:nvPr/>
        </p:nvSpPr>
        <p:spPr>
          <a:xfrm>
            <a:off x="6620256" y="4416552"/>
            <a:ext cx="2103120" cy="420624"/>
          </a:xfrm>
          <a:prstGeom prst="rect">
            <a:avLst/>
          </a:prstGeom>
          <a:noFill/>
          <a:ln/>
        </p:spPr>
        <p:txBody>
          <a:bodyPr wrap="square" lIns="0" tIns="0" rIns="0" bIns="0" rtlCol="0" anchor="ctr"/>
          <a:lstStyle/>
          <a:p>
            <a:pPr indent="0" marL="0">
              <a:buNone/>
            </a:pPr>
            <a:r>
              <a:rPr lang="en-US" sz="1300" b="1" dirty="0">
                <a:solidFill>
                  <a:schemeClr val="bg1"/>
                </a:solidFill>
              </a:rPr>
              <a:t>Where does each field come from?</a:t>
            </a:r>
            <a:endParaRPr lang="en-US" sz="1300" dirty="0"/>
          </a:p>
        </p:txBody>
      </p:sp>
      <p:sp>
        <p:nvSpPr>
          <p:cNvPr id="15" name="text"/>
          <p:cNvSpPr txBox="1"/>
          <p:nvPr/>
        </p:nvSpPr>
        <p:spPr>
          <a:xfrm>
            <a:off x="6126480" y="4937760"/>
            <a:ext cx="2651760" cy="1005840"/>
          </a:xfrm>
          <a:prstGeom prst="rect">
            <a:avLst/>
          </a:prstGeom>
          <a:noFill/>
          <a:ln/>
        </p:spPr>
        <p:txBody>
          <a:bodyPr wrap="square" lIns="0" tIns="0" rIns="0" bIns="0" rtlCol="0" anchor="t"/>
          <a:lstStyle/>
          <a:p>
            <a:pPr indent="0" marL="0">
              <a:buNone/>
            </a:pPr>
            <a:r>
              <a:rPr lang="en-US" sz="1150" dirty="0">
                <a:solidFill>
                  <a:schemeClr val="bg2"/>
                </a:solidFill>
              </a:rPr>
              <a:t>Exact taxonomy objects and attributes, and the products upstream</a:t>
            </a:r>
            <a:endParaRPr lang="en-US" sz="1150" dirty="0"/>
          </a:p>
        </p:txBody>
      </p:sp>
      <p:sp>
        <p:nvSpPr>
          <p:cNvPr id="16" name="chip"/>
          <p:cNvSpPr/>
          <p:nvPr/>
        </p:nvSpPr>
        <p:spPr>
          <a:xfrm>
            <a:off x="8915400" y="4434840"/>
            <a:ext cx="384048" cy="384048"/>
          </a:xfrm>
          <a:prstGeom prst="ellipse">
            <a:avLst/>
          </a:prstGeom>
          <a:solidFill>
            <a:schemeClr val="accent4"/>
          </a:solidFill>
          <a:ln w="12700">
            <a:solidFill>
              <a:schemeClr val="accent4"/>
            </a:solidFill>
            <a:prstDash val="solid"/>
          </a:ln>
        </p:spPr>
      </p:sp>
      <p:sp>
        <p:nvSpPr>
          <p:cNvPr id="17" name="text"/>
          <p:cNvSpPr txBox="1"/>
          <p:nvPr/>
        </p:nvSpPr>
        <p:spPr>
          <a:xfrm>
            <a:off x="8915400" y="4434840"/>
            <a:ext cx="384048" cy="384048"/>
          </a:xfrm>
          <a:prstGeom prst="rect">
            <a:avLst/>
          </a:prstGeom>
          <a:noFill/>
          <a:ln/>
        </p:spPr>
        <p:txBody>
          <a:bodyPr wrap="square" lIns="0" tIns="0" rIns="0" bIns="0" rtlCol="0" anchor="ctr"/>
          <a:lstStyle/>
          <a:p>
            <a:pPr algn="ctr" indent="0" marL="0">
              <a:buNone/>
            </a:pPr>
            <a:r>
              <a:rPr lang="en-US" sz="1200" b="1" dirty="0">
                <a:solidFill>
                  <a:schemeClr val="bg1"/>
                </a:solidFill>
              </a:rPr>
              <a:t>4</a:t>
            </a:r>
            <a:endParaRPr lang="en-US" sz="1200" dirty="0"/>
          </a:p>
        </p:txBody>
      </p:sp>
      <p:sp>
        <p:nvSpPr>
          <p:cNvPr id="18" name="text"/>
          <p:cNvSpPr txBox="1"/>
          <p:nvPr/>
        </p:nvSpPr>
        <p:spPr>
          <a:xfrm>
            <a:off x="9409176" y="4416552"/>
            <a:ext cx="2103120" cy="420624"/>
          </a:xfrm>
          <a:prstGeom prst="rect">
            <a:avLst/>
          </a:prstGeom>
          <a:noFill/>
          <a:ln/>
        </p:spPr>
        <p:txBody>
          <a:bodyPr wrap="square" lIns="0" tIns="0" rIns="0" bIns="0" rtlCol="0" anchor="ctr"/>
          <a:lstStyle/>
          <a:p>
            <a:pPr indent="0" marL="0">
              <a:buNone/>
            </a:pPr>
            <a:r>
              <a:rPr lang="en-US" sz="1300" b="1" dirty="0">
                <a:solidFill>
                  <a:schemeClr val="bg1"/>
                </a:solidFill>
              </a:rPr>
              <a:t>Which number is it the source of?</a:t>
            </a:r>
            <a:endParaRPr lang="en-US" sz="1300" dirty="0"/>
          </a:p>
        </p:txBody>
      </p:sp>
      <p:sp>
        <p:nvSpPr>
          <p:cNvPr id="19" name="text"/>
          <p:cNvSpPr txBox="1"/>
          <p:nvPr/>
        </p:nvSpPr>
        <p:spPr>
          <a:xfrm>
            <a:off x="8915400" y="4937760"/>
            <a:ext cx="2651760" cy="1005840"/>
          </a:xfrm>
          <a:prstGeom prst="rect">
            <a:avLst/>
          </a:prstGeom>
          <a:noFill/>
          <a:ln/>
        </p:spPr>
        <p:txBody>
          <a:bodyPr wrap="square" lIns="0" tIns="0" rIns="0" bIns="0" rtlCol="0" anchor="t"/>
          <a:lstStyle/>
          <a:p>
            <a:pPr indent="0" marL="0">
              <a:buNone/>
            </a:pPr>
            <a:r>
              <a:rPr lang="en-US" sz="1150" dirty="0">
                <a:solidFill>
                  <a:schemeClr val="bg2"/>
                </a:solidFill>
              </a:rPr>
              <a:t>A certified number is defined in one product only, or it is read from the product that defines it</a:t>
            </a:r>
            <a:endParaRPr lang="en-US" sz="1150" dirty="0"/>
          </a:p>
        </p:txBody>
      </p:sp>
      <p:sp>
        <p:nvSpPr>
          <p:cNvPr id="20" name="text"/>
          <p:cNvSpPr txBox="1"/>
          <p:nvPr/>
        </p:nvSpPr>
        <p:spPr>
          <a:xfrm>
            <a:off x="548640" y="6172200"/>
            <a:ext cx="11094415" cy="320040"/>
          </a:xfrm>
          <a:prstGeom prst="rect">
            <a:avLst/>
          </a:prstGeom>
          <a:noFill/>
          <a:ln/>
        </p:spPr>
        <p:txBody>
          <a:bodyPr wrap="square" lIns="0" tIns="0" rIns="0" bIns="0" rtlCol="0" anchor="t"/>
          <a:lstStyle/>
          <a:p>
            <a:pPr indent="0" marL="0">
              <a:buNone/>
            </a:pPr>
            <a:r>
              <a:rPr lang="en-US" sz="1200" dirty="0">
                <a:solidFill>
                  <a:schemeClr val="bg2"/>
                </a:solidFill>
              </a:rPr>
              <a:t>Wealth Manager Reference Model  |  October 2026</a:t>
            </a:r>
            <a:endParaRPr lang="en-US" sz="1200" dirty="0"/>
          </a:p>
        </p:txBody>
      </p:sp>
      <p:sp>
        <p:nvSpPr>
          <p:cNvPr id="22" name="Text 0"/>
          <p:cNvSpPr/>
          <p:nvPr>
            <p:ph idx="101" type="body" hasCustomPrompt="1"/>
          </p:nvPr>
        </p:nvSpPr>
        <p:spPr>
          <a:xfrm>
            <a:off x="548640" y="3611880"/>
            <a:ext cx="11094415" cy="1463040"/>
          </a:xfrm>
          <a:prstGeom prst="rect">
            <a:avLst/>
          </a:prstGeom>
          <a:noFill/>
          <a:ln/>
        </p:spPr>
        <p:txBody>
          <a:bodyPr wrap="square" lIns="0" tIns="0" rIns="0" bIns="0" rtlCol="0" anchor="t"/>
          <a:lstStyle/>
          <a:p>
            <a:pPr indent="0" marL="0">
              <a:buNone/>
            </a:pPr>
            <a:endParaRPr lang="en-US" sz="1800" dirty="0"/>
          </a:p>
        </p:txBody>
      </p:sp>
    </p:spTree>
  </p:cSld>
  <p:clrMapOvr>
    <a:masterClrMapping/>
  </p:clrMapOvr>
</p:sld>
</file>

<file path=ppt/theme/theme1.xml><?xml version="1.0" encoding="utf-8"?>
<a:theme xmlns:a="http://schemas.openxmlformats.org/drawingml/2006/main" name="Wealth Reference Model">
  <a:themeElements>
    <a:clrScheme name="Wealth Reference Model">
      <a:dk1>
        <a:srgbClr val="1A2B3C"/>
      </a:dk1>
      <a:lt1>
        <a:srgbClr val="FFFFFF"/>
      </a:lt1>
      <a:dk2>
        <a:srgbClr val="0C233C"/>
      </a:dk2>
      <a:lt2>
        <a:srgbClr val="EEF1F8"/>
      </a:lt2>
      <a:accent1>
        <a:srgbClr val="1E49E2"/>
      </a:accent1>
      <a:accent2>
        <a:srgbClr val="00796F"/>
      </a:accent2>
      <a:accent3>
        <a:srgbClr val="7213EA"/>
      </a:accent3>
      <a:accent4>
        <a:srgbClr val="C8166F"/>
      </a:accent4>
      <a:accent5>
        <a:srgbClr val="0077A8"/>
      </a:accent5>
      <a:accent6>
        <a:srgbClr val="535E6C"/>
      </a:accent6>
      <a:hlink>
        <a:srgbClr val="1E49E2"/>
      </a:hlink>
      <a:folHlink>
        <a:srgbClr val="7213EA"/>
      </a:folHlink>
    </a:clrScheme>
    <a:fontScheme name="Wealth Reference Model">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is a data product?</dc:title>
  <dc:subject>A breakdown of the data product: definition, anatomy, tiers and types, rules, lifecycle and a worked example</dc:subject>
  <dc:creator>Program lead</dc:creator>
  <cp:lastModifiedBy>Program lead</cp:lastModifiedBy>
  <cp:revision>1</cp:revision>
  <dcterms:created xsi:type="dcterms:W3CDTF">2026-10-19T21:11:41Z</dcterms:created>
  <dcterms:modified xsi:type="dcterms:W3CDTF">2026-10-19T21:11:41Z</dcterms:modified>
</cp:coreProperties>
</file>